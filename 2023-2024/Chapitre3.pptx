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99"/>
  </p:notesMasterIdLst>
  <p:handoutMasterIdLst>
    <p:handoutMasterId r:id="rId100"/>
  </p:handoutMasterIdLst>
  <p:sldIdLst>
    <p:sldId id="357" r:id="rId2"/>
    <p:sldId id="358" r:id="rId3"/>
    <p:sldId id="443" r:id="rId4"/>
    <p:sldId id="397" r:id="rId5"/>
    <p:sldId id="420" r:id="rId6"/>
    <p:sldId id="361" r:id="rId7"/>
    <p:sldId id="362" r:id="rId8"/>
    <p:sldId id="364" r:id="rId9"/>
    <p:sldId id="370" r:id="rId10"/>
    <p:sldId id="403" r:id="rId11"/>
    <p:sldId id="405" r:id="rId12"/>
    <p:sldId id="401" r:id="rId13"/>
    <p:sldId id="375" r:id="rId14"/>
    <p:sldId id="377" r:id="rId15"/>
    <p:sldId id="406" r:id="rId16"/>
    <p:sldId id="378" r:id="rId17"/>
    <p:sldId id="379" r:id="rId18"/>
    <p:sldId id="407" r:id="rId19"/>
    <p:sldId id="444" r:id="rId20"/>
    <p:sldId id="392" r:id="rId21"/>
    <p:sldId id="394" r:id="rId22"/>
    <p:sldId id="446" r:id="rId23"/>
    <p:sldId id="423" r:id="rId24"/>
    <p:sldId id="424" r:id="rId25"/>
    <p:sldId id="425" r:id="rId26"/>
    <p:sldId id="433" r:id="rId27"/>
    <p:sldId id="427" r:id="rId28"/>
    <p:sldId id="428" r:id="rId29"/>
    <p:sldId id="430" r:id="rId30"/>
    <p:sldId id="431" r:id="rId31"/>
    <p:sldId id="434" r:id="rId32"/>
    <p:sldId id="435" r:id="rId33"/>
    <p:sldId id="440" r:id="rId34"/>
    <p:sldId id="442" r:id="rId35"/>
    <p:sldId id="447" r:id="rId36"/>
    <p:sldId id="448" r:id="rId37"/>
    <p:sldId id="449" r:id="rId38"/>
    <p:sldId id="450" r:id="rId39"/>
    <p:sldId id="451" r:id="rId40"/>
    <p:sldId id="452" r:id="rId41"/>
    <p:sldId id="453" r:id="rId42"/>
    <p:sldId id="454" r:id="rId43"/>
    <p:sldId id="436" r:id="rId44"/>
    <p:sldId id="438" r:id="rId45"/>
    <p:sldId id="345" r:id="rId46"/>
    <p:sldId id="400" r:id="rId47"/>
    <p:sldId id="393" r:id="rId48"/>
    <p:sldId id="412" r:id="rId49"/>
    <p:sldId id="342" r:id="rId50"/>
    <p:sldId id="348" r:id="rId51"/>
    <p:sldId id="349" r:id="rId52"/>
    <p:sldId id="411" r:id="rId53"/>
    <p:sldId id="399" r:id="rId54"/>
    <p:sldId id="408" r:id="rId55"/>
    <p:sldId id="410" r:id="rId56"/>
    <p:sldId id="351" r:id="rId57"/>
    <p:sldId id="380" r:id="rId58"/>
    <p:sldId id="381" r:id="rId59"/>
    <p:sldId id="384" r:id="rId60"/>
    <p:sldId id="314" r:id="rId61"/>
    <p:sldId id="259" r:id="rId62"/>
    <p:sldId id="260" r:id="rId63"/>
    <p:sldId id="289" r:id="rId64"/>
    <p:sldId id="290" r:id="rId65"/>
    <p:sldId id="263" r:id="rId66"/>
    <p:sldId id="296" r:id="rId67"/>
    <p:sldId id="413" r:id="rId68"/>
    <p:sldId id="414" r:id="rId69"/>
    <p:sldId id="415" r:id="rId70"/>
    <p:sldId id="416" r:id="rId71"/>
    <p:sldId id="417" r:id="rId72"/>
    <p:sldId id="291" r:id="rId73"/>
    <p:sldId id="292" r:id="rId74"/>
    <p:sldId id="293" r:id="rId75"/>
    <p:sldId id="303" r:id="rId76"/>
    <p:sldId id="295" r:id="rId77"/>
    <p:sldId id="297" r:id="rId78"/>
    <p:sldId id="298" r:id="rId79"/>
    <p:sldId id="354" r:id="rId80"/>
    <p:sldId id="304" r:id="rId81"/>
    <p:sldId id="319" r:id="rId82"/>
    <p:sldId id="321" r:id="rId83"/>
    <p:sldId id="421" r:id="rId84"/>
    <p:sldId id="315" r:id="rId85"/>
    <p:sldId id="326" r:id="rId86"/>
    <p:sldId id="327" r:id="rId87"/>
    <p:sldId id="317" r:id="rId88"/>
    <p:sldId id="331" r:id="rId89"/>
    <p:sldId id="318" r:id="rId90"/>
    <p:sldId id="337" r:id="rId91"/>
    <p:sldId id="320" r:id="rId92"/>
    <p:sldId id="335" r:id="rId93"/>
    <p:sldId id="336" r:id="rId94"/>
    <p:sldId id="333" r:id="rId95"/>
    <p:sldId id="338" r:id="rId96"/>
    <p:sldId id="340" r:id="rId97"/>
    <p:sldId id="339" r:id="rId98"/>
  </p:sldIdLst>
  <p:sldSz cx="9144000" cy="6858000" type="screen4x3"/>
  <p:notesSz cx="7099300" cy="10234613"/>
  <p:defaultTextStyle>
    <a:defPPr>
      <a:defRPr lang="fr-FR"/>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003399"/>
    <a:srgbClr val="34B9FF"/>
    <a:srgbClr val="0066FF"/>
    <a:srgbClr val="1EC5E7"/>
    <a:srgbClr val="43E6E7"/>
    <a:srgbClr val="00CE00"/>
    <a:srgbClr val="F4FF00"/>
    <a:srgbClr val="00669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473"/>
    <p:restoredTop sz="87785" autoAdjust="0"/>
  </p:normalViewPr>
  <p:slideViewPr>
    <p:cSldViewPr snapToGrid="0">
      <p:cViewPr varScale="1">
        <p:scale>
          <a:sx n="71" d="100"/>
          <a:sy n="71" d="100"/>
        </p:scale>
        <p:origin x="456"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47" d="100"/>
          <a:sy n="47" d="100"/>
        </p:scale>
        <p:origin x="-2716" y="-60"/>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Espace réservé de la date 2"/>
          <p:cNvSpPr>
            <a:spLocks noGrp="1"/>
          </p:cNvSpPr>
          <p:nvPr>
            <p:ph type="dt" sz="quarter" idx="1"/>
          </p:nvPr>
        </p:nvSpPr>
        <p:spPr>
          <a:xfrm>
            <a:off x="4021139" y="1"/>
            <a:ext cx="3076575" cy="511175"/>
          </a:xfrm>
          <a:prstGeom prst="rect">
            <a:avLst/>
          </a:prstGeom>
        </p:spPr>
        <p:txBody>
          <a:bodyPr vert="horz" wrap="square" lIns="99048" tIns="49524" rIns="99048" bIns="49524" numCol="1" anchor="t" anchorCtr="0" compatLnSpc="1">
            <a:prstTxWarp prst="textNoShape">
              <a:avLst/>
            </a:prstTxWarp>
          </a:bodyPr>
          <a:lstStyle>
            <a:lvl1pPr algn="r">
              <a:defRPr sz="1400">
                <a:latin typeface="Calibri" charset="0"/>
              </a:defRPr>
            </a:lvl1pPr>
          </a:lstStyle>
          <a:p>
            <a:pPr>
              <a:defRPr/>
            </a:pPr>
            <a:fld id="{EA27EB80-F867-5F44-A070-A5805C9E0803}" type="datetime1">
              <a:rPr lang="fr-FR"/>
              <a:pPr>
                <a:defRPr/>
              </a:pPr>
              <a:t>13/09/2024</a:t>
            </a:fld>
            <a:endParaRPr lang="fr-FR"/>
          </a:p>
        </p:txBody>
      </p:sp>
      <p:sp>
        <p:nvSpPr>
          <p:cNvPr id="4" name="Espace réservé du pied de page 3"/>
          <p:cNvSpPr>
            <a:spLocks noGrp="1"/>
          </p:cNvSpPr>
          <p:nvPr>
            <p:ph type="ftr" sz="quarter" idx="2"/>
          </p:nvPr>
        </p:nvSpPr>
        <p:spPr>
          <a:xfrm>
            <a:off x="0" y="9721850"/>
            <a:ext cx="3076575" cy="511175"/>
          </a:xfrm>
          <a:prstGeom prst="rect">
            <a:avLst/>
          </a:prstGeom>
        </p:spPr>
        <p:txBody>
          <a:bodyPr vert="horz" lIns="99048" tIns="49524" rIns="99048" bIns="49524" rtlCol="0" anchor="b"/>
          <a:lstStyle>
            <a:lvl1pPr algn="l" fontAlgn="auto">
              <a:spcBef>
                <a:spcPts val="0"/>
              </a:spcBef>
              <a:spcAft>
                <a:spcPts val="0"/>
              </a:spcAft>
              <a:defRPr sz="1400">
                <a:latin typeface="+mn-lt"/>
                <a:ea typeface="+mn-ea"/>
                <a:cs typeface="+mn-cs"/>
              </a:defRPr>
            </a:lvl1pPr>
          </a:lstStyle>
          <a:p>
            <a:pPr>
              <a:defRPr/>
            </a:pPr>
            <a:r>
              <a:rPr lang="fr-FR"/>
              <a:t>/35</a:t>
            </a:r>
          </a:p>
        </p:txBody>
      </p:sp>
      <p:sp>
        <p:nvSpPr>
          <p:cNvPr id="5" name="Espace réservé du numéro de diapositive 4"/>
          <p:cNvSpPr>
            <a:spLocks noGrp="1"/>
          </p:cNvSpPr>
          <p:nvPr>
            <p:ph type="sldNum" sz="quarter" idx="3"/>
          </p:nvPr>
        </p:nvSpPr>
        <p:spPr>
          <a:xfrm>
            <a:off x="4021139" y="9721850"/>
            <a:ext cx="3076575" cy="511175"/>
          </a:xfrm>
          <a:prstGeom prst="rect">
            <a:avLst/>
          </a:prstGeom>
        </p:spPr>
        <p:txBody>
          <a:bodyPr vert="horz" wrap="square" lIns="99048" tIns="49524" rIns="99048" bIns="49524" numCol="1" anchor="b" anchorCtr="0" compatLnSpc="1">
            <a:prstTxWarp prst="textNoShape">
              <a:avLst/>
            </a:prstTxWarp>
          </a:bodyPr>
          <a:lstStyle>
            <a:lvl1pPr algn="r">
              <a:defRPr sz="1400">
                <a:latin typeface="Calibri" charset="0"/>
              </a:defRPr>
            </a:lvl1pPr>
          </a:lstStyle>
          <a:p>
            <a:pPr>
              <a:defRPr/>
            </a:pPr>
            <a:fld id="{D2EB5FCC-AA47-4A4C-B058-1E78B82D596A}" type="slidenum">
              <a:rPr lang="fr-FR"/>
              <a:pPr>
                <a:defRPr/>
              </a:pPr>
              <a:t>‹#›</a:t>
            </a:fld>
            <a:endParaRPr lang="fr-FR"/>
          </a:p>
        </p:txBody>
      </p:sp>
      <p:sp>
        <p:nvSpPr>
          <p:cNvPr id="6" name="Espace réservé de l'en-tête 5"/>
          <p:cNvSpPr>
            <a:spLocks noGrp="1"/>
          </p:cNvSpPr>
          <p:nvPr>
            <p:ph type="hdr" sz="quarter"/>
          </p:nvPr>
        </p:nvSpPr>
        <p:spPr>
          <a:xfrm>
            <a:off x="0" y="1"/>
            <a:ext cx="3076575" cy="511175"/>
          </a:xfrm>
          <a:prstGeom prst="rect">
            <a:avLst/>
          </a:prstGeom>
        </p:spPr>
        <p:txBody>
          <a:bodyPr vert="horz" lIns="91438" tIns="45719" rIns="91438" bIns="45719" rtlCol="0"/>
          <a:lstStyle>
            <a:lvl1pPr algn="l">
              <a:defRPr sz="1200"/>
            </a:lvl1pPr>
          </a:lstStyle>
          <a:p>
            <a:endParaRPr lang="fr-FR"/>
          </a:p>
        </p:txBody>
      </p:sp>
    </p:spTree>
    <p:extLst>
      <p:ext uri="{BB962C8B-B14F-4D97-AF65-F5344CB8AC3E}">
        <p14:creationId xmlns:p14="http://schemas.microsoft.com/office/powerpoint/2010/main" val="145926211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1"/>
            <a:ext cx="3076575" cy="511175"/>
          </a:xfrm>
          <a:prstGeom prst="rect">
            <a:avLst/>
          </a:prstGeom>
        </p:spPr>
        <p:txBody>
          <a:bodyPr vert="horz" lIns="99048" tIns="49524" rIns="99048" bIns="49524" rtlCol="0"/>
          <a:lstStyle>
            <a:lvl1pPr algn="l" fontAlgn="auto">
              <a:spcBef>
                <a:spcPts val="0"/>
              </a:spcBef>
              <a:spcAft>
                <a:spcPts val="0"/>
              </a:spcAft>
              <a:defRPr sz="1400">
                <a:latin typeface="+mn-lt"/>
                <a:ea typeface="+mn-ea"/>
                <a:cs typeface="+mn-cs"/>
              </a:defRPr>
            </a:lvl1pPr>
          </a:lstStyle>
          <a:p>
            <a:pPr>
              <a:defRPr/>
            </a:pPr>
            <a:endParaRPr lang="fr-FR"/>
          </a:p>
        </p:txBody>
      </p:sp>
      <p:sp>
        <p:nvSpPr>
          <p:cNvPr id="3" name="Espace réservé de la date 2"/>
          <p:cNvSpPr>
            <a:spLocks noGrp="1"/>
          </p:cNvSpPr>
          <p:nvPr>
            <p:ph type="dt" idx="1"/>
          </p:nvPr>
        </p:nvSpPr>
        <p:spPr>
          <a:xfrm>
            <a:off x="4021139" y="1"/>
            <a:ext cx="3076575" cy="511175"/>
          </a:xfrm>
          <a:prstGeom prst="rect">
            <a:avLst/>
          </a:prstGeom>
        </p:spPr>
        <p:txBody>
          <a:bodyPr vert="horz" wrap="square" lIns="99048" tIns="49524" rIns="99048" bIns="49524" numCol="1" anchor="t" anchorCtr="0" compatLnSpc="1">
            <a:prstTxWarp prst="textNoShape">
              <a:avLst/>
            </a:prstTxWarp>
          </a:bodyPr>
          <a:lstStyle>
            <a:lvl1pPr algn="r">
              <a:defRPr sz="1400">
                <a:latin typeface="Calibri" charset="0"/>
              </a:defRPr>
            </a:lvl1pPr>
          </a:lstStyle>
          <a:p>
            <a:pPr>
              <a:defRPr/>
            </a:pPr>
            <a:fld id="{0632E1A7-B3CA-D644-B468-FEF6D3AEFCB1}" type="datetime1">
              <a:rPr lang="fr-FR"/>
              <a:pPr>
                <a:defRPr/>
              </a:pPr>
              <a:t>13/09/2024</a:t>
            </a:fld>
            <a:endParaRPr lang="fr-FR"/>
          </a:p>
        </p:txBody>
      </p:sp>
      <p:sp>
        <p:nvSpPr>
          <p:cNvPr id="4" name="Espace réservé de l'image des diapositives 3"/>
          <p:cNvSpPr>
            <a:spLocks noGrp="1" noRot="1" noChangeAspect="1"/>
          </p:cNvSpPr>
          <p:nvPr>
            <p:ph type="sldImg" idx="2"/>
          </p:nvPr>
        </p:nvSpPr>
        <p:spPr>
          <a:xfrm>
            <a:off x="992188" y="769938"/>
            <a:ext cx="5114925" cy="3835400"/>
          </a:xfrm>
          <a:prstGeom prst="rect">
            <a:avLst/>
          </a:prstGeom>
          <a:noFill/>
          <a:ln w="12700">
            <a:solidFill>
              <a:prstClr val="black"/>
            </a:solidFill>
          </a:ln>
        </p:spPr>
        <p:txBody>
          <a:bodyPr vert="horz" lIns="99048" tIns="49524" rIns="99048" bIns="49524" rtlCol="0" anchor="ctr"/>
          <a:lstStyle/>
          <a:p>
            <a:pPr lvl="0"/>
            <a:endParaRPr lang="fr-FR" noProof="0"/>
          </a:p>
        </p:txBody>
      </p:sp>
      <p:sp>
        <p:nvSpPr>
          <p:cNvPr id="5" name="Espace réservé des commentaires 4"/>
          <p:cNvSpPr>
            <a:spLocks noGrp="1"/>
          </p:cNvSpPr>
          <p:nvPr>
            <p:ph type="body" sz="quarter" idx="3"/>
          </p:nvPr>
        </p:nvSpPr>
        <p:spPr>
          <a:xfrm>
            <a:off x="709613" y="4860926"/>
            <a:ext cx="5680075" cy="4603750"/>
          </a:xfrm>
          <a:prstGeom prst="rect">
            <a:avLst/>
          </a:prstGeom>
        </p:spPr>
        <p:txBody>
          <a:bodyPr vert="horz" wrap="square" lIns="99048" tIns="49524" rIns="99048" bIns="49524" numCol="1" anchor="t" anchorCtr="0" compatLnSpc="1">
            <a:prstTxWarp prst="textNoShape">
              <a:avLst/>
            </a:prstTxWarp>
            <a:normAutofit/>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6" name="Espace réservé du pied de page 5"/>
          <p:cNvSpPr>
            <a:spLocks noGrp="1"/>
          </p:cNvSpPr>
          <p:nvPr>
            <p:ph type="ftr" sz="quarter" idx="4"/>
          </p:nvPr>
        </p:nvSpPr>
        <p:spPr>
          <a:xfrm>
            <a:off x="0" y="9721850"/>
            <a:ext cx="3076575" cy="511175"/>
          </a:xfrm>
          <a:prstGeom prst="rect">
            <a:avLst/>
          </a:prstGeom>
        </p:spPr>
        <p:txBody>
          <a:bodyPr vert="horz" lIns="99048" tIns="49524" rIns="99048" bIns="49524" rtlCol="0" anchor="b"/>
          <a:lstStyle>
            <a:lvl1pPr algn="l" fontAlgn="auto">
              <a:spcBef>
                <a:spcPts val="0"/>
              </a:spcBef>
              <a:spcAft>
                <a:spcPts val="0"/>
              </a:spcAft>
              <a:defRPr sz="1400">
                <a:latin typeface="+mn-lt"/>
                <a:ea typeface="+mn-ea"/>
                <a:cs typeface="+mn-cs"/>
              </a:defRPr>
            </a:lvl1pPr>
          </a:lstStyle>
          <a:p>
            <a:pPr>
              <a:defRPr/>
            </a:pPr>
            <a:r>
              <a:rPr lang="fr-FR"/>
              <a:t>/35</a:t>
            </a:r>
          </a:p>
        </p:txBody>
      </p:sp>
      <p:sp>
        <p:nvSpPr>
          <p:cNvPr id="7" name="Espace réservé du numéro de diapositive 6"/>
          <p:cNvSpPr>
            <a:spLocks noGrp="1"/>
          </p:cNvSpPr>
          <p:nvPr>
            <p:ph type="sldNum" sz="quarter" idx="5"/>
          </p:nvPr>
        </p:nvSpPr>
        <p:spPr>
          <a:xfrm>
            <a:off x="4021139" y="9721850"/>
            <a:ext cx="3076575" cy="511175"/>
          </a:xfrm>
          <a:prstGeom prst="rect">
            <a:avLst/>
          </a:prstGeom>
        </p:spPr>
        <p:txBody>
          <a:bodyPr vert="horz" wrap="square" lIns="99048" tIns="49524" rIns="99048" bIns="49524" numCol="1" anchor="b" anchorCtr="0" compatLnSpc="1">
            <a:prstTxWarp prst="textNoShape">
              <a:avLst/>
            </a:prstTxWarp>
          </a:bodyPr>
          <a:lstStyle>
            <a:lvl1pPr algn="r">
              <a:defRPr sz="1400">
                <a:latin typeface="Calibri" charset="0"/>
              </a:defRPr>
            </a:lvl1pPr>
          </a:lstStyle>
          <a:p>
            <a:pPr>
              <a:defRPr/>
            </a:pPr>
            <a:fld id="{59B6037E-4516-2147-A5A3-8736BCAF17D8}" type="slidenum">
              <a:rPr lang="fr-FR"/>
              <a:pPr>
                <a:defRPr/>
              </a:pPr>
              <a:t>‹#›</a:t>
            </a:fld>
            <a:endParaRPr lang="fr-FR"/>
          </a:p>
        </p:txBody>
      </p:sp>
    </p:spTree>
    <p:extLst>
      <p:ext uri="{BB962C8B-B14F-4D97-AF65-F5344CB8AC3E}">
        <p14:creationId xmlns:p14="http://schemas.microsoft.com/office/powerpoint/2010/main" val="2536066071"/>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6386"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spcBef>
                <a:spcPct val="0"/>
              </a:spcBef>
            </a:pPr>
            <a:endParaRPr lang="fr-FR" dirty="0">
              <a:latin typeface="Calibri" charset="0"/>
              <a:ea typeface="ＭＳ Ｐゴシック" charset="0"/>
              <a:cs typeface="ＭＳ Ｐゴシック" charset="0"/>
            </a:endParaRPr>
          </a:p>
        </p:txBody>
      </p:sp>
      <p:sp>
        <p:nvSpPr>
          <p:cNvPr id="16387"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37" indent="-285745" eaLnBrk="0" hangingPunct="0">
              <a:defRPr sz="2400">
                <a:solidFill>
                  <a:schemeClr val="tx1"/>
                </a:solidFill>
                <a:latin typeface="Arial" charset="0"/>
                <a:ea typeface="ＭＳ Ｐゴシック" charset="0"/>
              </a:defRPr>
            </a:lvl2pPr>
            <a:lvl3pPr marL="1142981" indent="-228596" eaLnBrk="0" hangingPunct="0">
              <a:defRPr sz="2400">
                <a:solidFill>
                  <a:schemeClr val="tx1"/>
                </a:solidFill>
                <a:latin typeface="Arial" charset="0"/>
                <a:ea typeface="ＭＳ Ｐゴシック" charset="0"/>
              </a:defRPr>
            </a:lvl3pPr>
            <a:lvl4pPr marL="1600173" indent="-228596" eaLnBrk="0" hangingPunct="0">
              <a:defRPr sz="2400">
                <a:solidFill>
                  <a:schemeClr val="tx1"/>
                </a:solidFill>
                <a:latin typeface="Arial" charset="0"/>
                <a:ea typeface="ＭＳ Ｐゴシック" charset="0"/>
              </a:defRPr>
            </a:lvl4pPr>
            <a:lvl5pPr marL="2057366" indent="-228596" eaLnBrk="0" hangingPunct="0">
              <a:defRPr sz="2400">
                <a:solidFill>
                  <a:schemeClr val="tx1"/>
                </a:solidFill>
                <a:latin typeface="Arial" charset="0"/>
                <a:ea typeface="ＭＳ Ｐゴシック" charset="0"/>
              </a:defRPr>
            </a:lvl5pPr>
            <a:lvl6pPr marL="2514558" indent="-228596" eaLnBrk="0" fontAlgn="base" hangingPunct="0">
              <a:spcBef>
                <a:spcPct val="0"/>
              </a:spcBef>
              <a:spcAft>
                <a:spcPct val="0"/>
              </a:spcAft>
              <a:defRPr sz="2400">
                <a:solidFill>
                  <a:schemeClr val="tx1"/>
                </a:solidFill>
                <a:latin typeface="Arial" charset="0"/>
                <a:ea typeface="ＭＳ Ｐゴシック" charset="0"/>
              </a:defRPr>
            </a:lvl6pPr>
            <a:lvl7pPr marL="2971751" indent="-228596" eaLnBrk="0" fontAlgn="base" hangingPunct="0">
              <a:spcBef>
                <a:spcPct val="0"/>
              </a:spcBef>
              <a:spcAft>
                <a:spcPct val="0"/>
              </a:spcAft>
              <a:defRPr sz="2400">
                <a:solidFill>
                  <a:schemeClr val="tx1"/>
                </a:solidFill>
                <a:latin typeface="Arial" charset="0"/>
                <a:ea typeface="ＭＳ Ｐゴシック" charset="0"/>
              </a:defRPr>
            </a:lvl7pPr>
            <a:lvl8pPr marL="3428943" indent="-228596" eaLnBrk="0" fontAlgn="base" hangingPunct="0">
              <a:spcBef>
                <a:spcPct val="0"/>
              </a:spcBef>
              <a:spcAft>
                <a:spcPct val="0"/>
              </a:spcAft>
              <a:defRPr sz="2400">
                <a:solidFill>
                  <a:schemeClr val="tx1"/>
                </a:solidFill>
                <a:latin typeface="Arial" charset="0"/>
                <a:ea typeface="ＭＳ Ｐゴシック" charset="0"/>
              </a:defRPr>
            </a:lvl8pPr>
            <a:lvl9pPr marL="3886136" indent="-228596"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B4F8238C-5DC2-8D48-B200-C8B9D50F43CD}" type="slidenum">
              <a:rPr lang="fr-FR" sz="1400">
                <a:latin typeface="Calibri" charset="0"/>
              </a:rPr>
              <a:pPr eaLnBrk="1" hangingPunct="1"/>
              <a:t>1</a:t>
            </a:fld>
            <a:endParaRPr lang="fr-FR" sz="1400" dirty="0">
              <a:latin typeface="Calibri" charset="0"/>
            </a:endParaRPr>
          </a:p>
        </p:txBody>
      </p:sp>
      <p:sp>
        <p:nvSpPr>
          <p:cNvPr id="2" name="Espace réservé du pied de page 1"/>
          <p:cNvSpPr>
            <a:spLocks noGrp="1"/>
          </p:cNvSpPr>
          <p:nvPr>
            <p:ph type="ftr" sz="quarter" idx="10"/>
          </p:nvPr>
        </p:nvSpPr>
        <p:spPr/>
        <p:txBody>
          <a:bodyPr/>
          <a:lstStyle/>
          <a:p>
            <a:pPr>
              <a:defRPr/>
            </a:pPr>
            <a:r>
              <a:rPr lang="fr-FR" dirty="0"/>
              <a:t>/35</a:t>
            </a:r>
          </a:p>
        </p:txBody>
      </p:sp>
      <p:sp>
        <p:nvSpPr>
          <p:cNvPr id="3" name="Espace réservé de l'en-tête 2"/>
          <p:cNvSpPr>
            <a:spLocks noGrp="1"/>
          </p:cNvSpPr>
          <p:nvPr>
            <p:ph type="hdr" sz="quarter" idx="11"/>
          </p:nvPr>
        </p:nvSpPr>
        <p:spPr/>
        <p:txBody>
          <a:bodyPr/>
          <a:lstStyle/>
          <a:p>
            <a:pPr>
              <a:defRPr/>
            </a:pPr>
            <a:endParaRPr lang="fr-FR" dirty="0"/>
          </a:p>
        </p:txBody>
      </p:sp>
    </p:spTree>
    <p:extLst>
      <p:ext uri="{BB962C8B-B14F-4D97-AF65-F5344CB8AC3E}">
        <p14:creationId xmlns:p14="http://schemas.microsoft.com/office/powerpoint/2010/main" val="4220151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2</a:t>
            </a:fld>
            <a:endParaRPr lang="fr-FR"/>
          </a:p>
        </p:txBody>
      </p:sp>
    </p:spTree>
    <p:extLst>
      <p:ext uri="{BB962C8B-B14F-4D97-AF65-F5344CB8AC3E}">
        <p14:creationId xmlns:p14="http://schemas.microsoft.com/office/powerpoint/2010/main" val="902939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3</a:t>
            </a:fld>
            <a:endParaRPr lang="fr-FR"/>
          </a:p>
        </p:txBody>
      </p:sp>
    </p:spTree>
    <p:extLst>
      <p:ext uri="{BB962C8B-B14F-4D97-AF65-F5344CB8AC3E}">
        <p14:creationId xmlns:p14="http://schemas.microsoft.com/office/powerpoint/2010/main" val="23750543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4</a:t>
            </a:fld>
            <a:endParaRPr lang="fr-FR"/>
          </a:p>
        </p:txBody>
      </p:sp>
    </p:spTree>
    <p:extLst>
      <p:ext uri="{BB962C8B-B14F-4D97-AF65-F5344CB8AC3E}">
        <p14:creationId xmlns:p14="http://schemas.microsoft.com/office/powerpoint/2010/main" val="1879757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5</a:t>
            </a:fld>
            <a:endParaRPr lang="fr-FR"/>
          </a:p>
        </p:txBody>
      </p:sp>
    </p:spTree>
    <p:extLst>
      <p:ext uri="{BB962C8B-B14F-4D97-AF65-F5344CB8AC3E}">
        <p14:creationId xmlns:p14="http://schemas.microsoft.com/office/powerpoint/2010/main" val="3306627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6</a:t>
            </a:fld>
            <a:endParaRPr lang="fr-FR"/>
          </a:p>
        </p:txBody>
      </p:sp>
    </p:spTree>
    <p:extLst>
      <p:ext uri="{BB962C8B-B14F-4D97-AF65-F5344CB8AC3E}">
        <p14:creationId xmlns:p14="http://schemas.microsoft.com/office/powerpoint/2010/main" val="9240220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7</a:t>
            </a:fld>
            <a:endParaRPr lang="fr-FR"/>
          </a:p>
        </p:txBody>
      </p:sp>
    </p:spTree>
    <p:extLst>
      <p:ext uri="{BB962C8B-B14F-4D97-AF65-F5344CB8AC3E}">
        <p14:creationId xmlns:p14="http://schemas.microsoft.com/office/powerpoint/2010/main" val="11271910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8</a:t>
            </a:fld>
            <a:endParaRPr lang="fr-FR"/>
          </a:p>
        </p:txBody>
      </p:sp>
    </p:spTree>
    <p:extLst>
      <p:ext uri="{BB962C8B-B14F-4D97-AF65-F5344CB8AC3E}">
        <p14:creationId xmlns:p14="http://schemas.microsoft.com/office/powerpoint/2010/main" val="12950267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9</a:t>
            </a:fld>
            <a:endParaRPr lang="fr-FR"/>
          </a:p>
        </p:txBody>
      </p:sp>
    </p:spTree>
    <p:extLst>
      <p:ext uri="{BB962C8B-B14F-4D97-AF65-F5344CB8AC3E}">
        <p14:creationId xmlns:p14="http://schemas.microsoft.com/office/powerpoint/2010/main" val="4042331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10</a:t>
            </a:fld>
            <a:endParaRPr lang="fr-FR"/>
          </a:p>
        </p:txBody>
      </p:sp>
    </p:spTree>
    <p:extLst>
      <p:ext uri="{BB962C8B-B14F-4D97-AF65-F5344CB8AC3E}">
        <p14:creationId xmlns:p14="http://schemas.microsoft.com/office/powerpoint/2010/main" val="14333148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11</a:t>
            </a:fld>
            <a:endParaRPr lang="fr-FR"/>
          </a:p>
        </p:txBody>
      </p:sp>
    </p:spTree>
    <p:extLst>
      <p:ext uri="{BB962C8B-B14F-4D97-AF65-F5344CB8AC3E}">
        <p14:creationId xmlns:p14="http://schemas.microsoft.com/office/powerpoint/2010/main" val="42680375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12</a:t>
            </a:fld>
            <a:endParaRPr lang="fr-FR"/>
          </a:p>
        </p:txBody>
      </p:sp>
    </p:spTree>
    <p:extLst>
      <p:ext uri="{BB962C8B-B14F-4D97-AF65-F5344CB8AC3E}">
        <p14:creationId xmlns:p14="http://schemas.microsoft.com/office/powerpoint/2010/main" val="36509263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13</a:t>
            </a:fld>
            <a:endParaRPr lang="fr-FR"/>
          </a:p>
        </p:txBody>
      </p:sp>
    </p:spTree>
    <p:extLst>
      <p:ext uri="{BB962C8B-B14F-4D97-AF65-F5344CB8AC3E}">
        <p14:creationId xmlns:p14="http://schemas.microsoft.com/office/powerpoint/2010/main" val="36674157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14</a:t>
            </a:fld>
            <a:endParaRPr lang="fr-FR"/>
          </a:p>
        </p:txBody>
      </p:sp>
    </p:spTree>
    <p:extLst>
      <p:ext uri="{BB962C8B-B14F-4D97-AF65-F5344CB8AC3E}">
        <p14:creationId xmlns:p14="http://schemas.microsoft.com/office/powerpoint/2010/main" val="19614991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15</a:t>
            </a:fld>
            <a:endParaRPr lang="fr-FR"/>
          </a:p>
        </p:txBody>
      </p:sp>
    </p:spTree>
    <p:extLst>
      <p:ext uri="{BB962C8B-B14F-4D97-AF65-F5344CB8AC3E}">
        <p14:creationId xmlns:p14="http://schemas.microsoft.com/office/powerpoint/2010/main" val="5313508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16</a:t>
            </a:fld>
            <a:endParaRPr lang="fr-FR"/>
          </a:p>
        </p:txBody>
      </p:sp>
    </p:spTree>
    <p:extLst>
      <p:ext uri="{BB962C8B-B14F-4D97-AF65-F5344CB8AC3E}">
        <p14:creationId xmlns:p14="http://schemas.microsoft.com/office/powerpoint/2010/main" val="23231425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17</a:t>
            </a:fld>
            <a:endParaRPr lang="fr-FR"/>
          </a:p>
        </p:txBody>
      </p:sp>
    </p:spTree>
    <p:extLst>
      <p:ext uri="{BB962C8B-B14F-4D97-AF65-F5344CB8AC3E}">
        <p14:creationId xmlns:p14="http://schemas.microsoft.com/office/powerpoint/2010/main" val="191524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18</a:t>
            </a:fld>
            <a:endParaRPr lang="fr-FR"/>
          </a:p>
        </p:txBody>
      </p:sp>
    </p:spTree>
    <p:extLst>
      <p:ext uri="{BB962C8B-B14F-4D97-AF65-F5344CB8AC3E}">
        <p14:creationId xmlns:p14="http://schemas.microsoft.com/office/powerpoint/2010/main" val="6925003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19</a:t>
            </a:fld>
            <a:endParaRPr lang="fr-FR"/>
          </a:p>
        </p:txBody>
      </p:sp>
    </p:spTree>
    <p:extLst>
      <p:ext uri="{BB962C8B-B14F-4D97-AF65-F5344CB8AC3E}">
        <p14:creationId xmlns:p14="http://schemas.microsoft.com/office/powerpoint/2010/main" val="6781892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20</a:t>
            </a:fld>
            <a:endParaRPr lang="fr-FR"/>
          </a:p>
        </p:txBody>
      </p:sp>
    </p:spTree>
    <p:extLst>
      <p:ext uri="{BB962C8B-B14F-4D97-AF65-F5344CB8AC3E}">
        <p14:creationId xmlns:p14="http://schemas.microsoft.com/office/powerpoint/2010/main" val="9346828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21</a:t>
            </a:fld>
            <a:endParaRPr lang="fr-FR"/>
          </a:p>
        </p:txBody>
      </p:sp>
    </p:spTree>
    <p:extLst>
      <p:ext uri="{BB962C8B-B14F-4D97-AF65-F5344CB8AC3E}">
        <p14:creationId xmlns:p14="http://schemas.microsoft.com/office/powerpoint/2010/main" val="6801885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22</a:t>
            </a:fld>
            <a:endParaRPr lang="fr-FR"/>
          </a:p>
        </p:txBody>
      </p:sp>
    </p:spTree>
    <p:extLst>
      <p:ext uri="{BB962C8B-B14F-4D97-AF65-F5344CB8AC3E}">
        <p14:creationId xmlns:p14="http://schemas.microsoft.com/office/powerpoint/2010/main" val="25501297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e l'en-tête 3"/>
          <p:cNvSpPr>
            <a:spLocks noGrp="1"/>
          </p:cNvSpPr>
          <p:nvPr>
            <p:ph type="hdr" sz="quarter"/>
          </p:nvPr>
        </p:nvSpPr>
        <p:spPr/>
        <p:txBody>
          <a:bodyPr/>
          <a:lstStyle/>
          <a:p>
            <a:pPr>
              <a:defRPr/>
            </a:pPr>
            <a:endParaRPr lang="fr-FR"/>
          </a:p>
        </p:txBody>
      </p:sp>
      <p:sp>
        <p:nvSpPr>
          <p:cNvPr id="5" name="Espace réservé du pied de page 4"/>
          <p:cNvSpPr>
            <a:spLocks noGrp="1"/>
          </p:cNvSpPr>
          <p:nvPr>
            <p:ph type="ftr" sz="quarter" idx="4"/>
          </p:nvPr>
        </p:nvSpPr>
        <p:spPr/>
        <p:txBody>
          <a:bodyPr/>
          <a:lstStyle/>
          <a:p>
            <a:pPr>
              <a:defRPr/>
            </a:pPr>
            <a:r>
              <a:rPr lang="fr-FR"/>
              <a:t>/35</a:t>
            </a:r>
          </a:p>
        </p:txBody>
      </p:sp>
      <p:sp>
        <p:nvSpPr>
          <p:cNvPr id="6" name="Espace réservé du numéro de diapositive 5"/>
          <p:cNvSpPr>
            <a:spLocks noGrp="1"/>
          </p:cNvSpPr>
          <p:nvPr>
            <p:ph type="sldNum" sz="quarter" idx="5"/>
          </p:nvPr>
        </p:nvSpPr>
        <p:spPr/>
        <p:txBody>
          <a:bodyPr/>
          <a:lstStyle/>
          <a:p>
            <a:pPr>
              <a:defRPr/>
            </a:pPr>
            <a:fld id="{59B6037E-4516-2147-A5A3-8736BCAF17D8}" type="slidenum">
              <a:rPr lang="fr-FR" smtClean="0"/>
              <a:pPr>
                <a:defRPr/>
              </a:pPr>
              <a:t>34</a:t>
            </a:fld>
            <a:endParaRPr lang="fr-FR"/>
          </a:p>
        </p:txBody>
      </p:sp>
    </p:spTree>
    <p:extLst>
      <p:ext uri="{BB962C8B-B14F-4D97-AF65-F5344CB8AC3E}">
        <p14:creationId xmlns:p14="http://schemas.microsoft.com/office/powerpoint/2010/main" val="36521798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R" noProof="0" dirty="0"/>
          </a:p>
        </p:txBody>
      </p:sp>
      <p:sp>
        <p:nvSpPr>
          <p:cNvPr id="4" name="Header Placeholder 3"/>
          <p:cNvSpPr>
            <a:spLocks noGrp="1"/>
          </p:cNvSpPr>
          <p:nvPr>
            <p:ph type="hdr" sz="quarter"/>
          </p:nvPr>
        </p:nvSpPr>
        <p:spPr/>
        <p:txBody>
          <a:bodyPr/>
          <a:lstStyle/>
          <a:p>
            <a:pPr>
              <a:defRPr/>
            </a:pPr>
            <a:endParaRPr lang="fr-FR"/>
          </a:p>
        </p:txBody>
      </p:sp>
      <p:sp>
        <p:nvSpPr>
          <p:cNvPr id="5" name="Footer Placeholder 4"/>
          <p:cNvSpPr>
            <a:spLocks noGrp="1"/>
          </p:cNvSpPr>
          <p:nvPr>
            <p:ph type="ftr" sz="quarter" idx="4"/>
          </p:nvPr>
        </p:nvSpPr>
        <p:spPr/>
        <p:txBody>
          <a:bodyPr/>
          <a:lstStyle/>
          <a:p>
            <a:pPr>
              <a:defRPr/>
            </a:pPr>
            <a:r>
              <a:rPr lang="fr-FR"/>
              <a:t>/35</a:t>
            </a:r>
          </a:p>
        </p:txBody>
      </p:sp>
      <p:sp>
        <p:nvSpPr>
          <p:cNvPr id="6" name="Slide Number Placeholder 5"/>
          <p:cNvSpPr>
            <a:spLocks noGrp="1"/>
          </p:cNvSpPr>
          <p:nvPr>
            <p:ph type="sldNum" sz="quarter" idx="5"/>
          </p:nvPr>
        </p:nvSpPr>
        <p:spPr/>
        <p:txBody>
          <a:bodyPr/>
          <a:lstStyle/>
          <a:p>
            <a:pPr>
              <a:defRPr/>
            </a:pPr>
            <a:fld id="{59B6037E-4516-2147-A5A3-8736BCAF17D8}" type="slidenum">
              <a:rPr lang="fr-FR" smtClean="0"/>
              <a:pPr>
                <a:defRPr/>
              </a:pPr>
              <a:t>36</a:t>
            </a:fld>
            <a:endParaRPr lang="fr-FR"/>
          </a:p>
        </p:txBody>
      </p:sp>
    </p:spTree>
    <p:extLst>
      <p:ext uri="{BB962C8B-B14F-4D97-AF65-F5344CB8AC3E}">
        <p14:creationId xmlns:p14="http://schemas.microsoft.com/office/powerpoint/2010/main" val="17698228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e l'en-tête 3"/>
          <p:cNvSpPr>
            <a:spLocks noGrp="1"/>
          </p:cNvSpPr>
          <p:nvPr>
            <p:ph type="hdr" sz="quarter"/>
          </p:nvPr>
        </p:nvSpPr>
        <p:spPr/>
        <p:txBody>
          <a:bodyPr/>
          <a:lstStyle/>
          <a:p>
            <a:pPr>
              <a:defRPr/>
            </a:pPr>
            <a:endParaRPr lang="fr-FR"/>
          </a:p>
        </p:txBody>
      </p:sp>
      <p:sp>
        <p:nvSpPr>
          <p:cNvPr id="5" name="Espace réservé du pied de page 4"/>
          <p:cNvSpPr>
            <a:spLocks noGrp="1"/>
          </p:cNvSpPr>
          <p:nvPr>
            <p:ph type="ftr" sz="quarter" idx="4"/>
          </p:nvPr>
        </p:nvSpPr>
        <p:spPr/>
        <p:txBody>
          <a:bodyPr/>
          <a:lstStyle/>
          <a:p>
            <a:pPr>
              <a:defRPr/>
            </a:pPr>
            <a:r>
              <a:rPr lang="fr-FR"/>
              <a:t>/35</a:t>
            </a:r>
          </a:p>
        </p:txBody>
      </p:sp>
      <p:sp>
        <p:nvSpPr>
          <p:cNvPr id="6" name="Espace réservé du numéro de diapositive 5"/>
          <p:cNvSpPr>
            <a:spLocks noGrp="1"/>
          </p:cNvSpPr>
          <p:nvPr>
            <p:ph type="sldNum" sz="quarter" idx="5"/>
          </p:nvPr>
        </p:nvSpPr>
        <p:spPr/>
        <p:txBody>
          <a:bodyPr/>
          <a:lstStyle/>
          <a:p>
            <a:pPr>
              <a:defRPr/>
            </a:pPr>
            <a:fld id="{59B6037E-4516-2147-A5A3-8736BCAF17D8}" type="slidenum">
              <a:rPr lang="fr-FR" smtClean="0"/>
              <a:pPr>
                <a:defRPr/>
              </a:pPr>
              <a:t>39</a:t>
            </a:fld>
            <a:endParaRPr lang="fr-FR"/>
          </a:p>
        </p:txBody>
      </p:sp>
    </p:spTree>
    <p:extLst>
      <p:ext uri="{BB962C8B-B14F-4D97-AF65-F5344CB8AC3E}">
        <p14:creationId xmlns:p14="http://schemas.microsoft.com/office/powerpoint/2010/main" val="23948553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45</a:t>
            </a:fld>
            <a:endParaRPr lang="fr-FR"/>
          </a:p>
        </p:txBody>
      </p:sp>
    </p:spTree>
    <p:extLst>
      <p:ext uri="{BB962C8B-B14F-4D97-AF65-F5344CB8AC3E}">
        <p14:creationId xmlns:p14="http://schemas.microsoft.com/office/powerpoint/2010/main" val="22188245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46</a:t>
            </a:fld>
            <a:endParaRPr lang="fr-FR"/>
          </a:p>
        </p:txBody>
      </p:sp>
    </p:spTree>
    <p:extLst>
      <p:ext uri="{BB962C8B-B14F-4D97-AF65-F5344CB8AC3E}">
        <p14:creationId xmlns:p14="http://schemas.microsoft.com/office/powerpoint/2010/main" val="16372089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47</a:t>
            </a:fld>
            <a:endParaRPr lang="fr-FR"/>
          </a:p>
        </p:txBody>
      </p:sp>
    </p:spTree>
    <p:extLst>
      <p:ext uri="{BB962C8B-B14F-4D97-AF65-F5344CB8AC3E}">
        <p14:creationId xmlns:p14="http://schemas.microsoft.com/office/powerpoint/2010/main" val="25501297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48</a:t>
            </a:fld>
            <a:endParaRPr lang="fr-FR"/>
          </a:p>
        </p:txBody>
      </p:sp>
    </p:spTree>
    <p:extLst>
      <p:ext uri="{BB962C8B-B14F-4D97-AF65-F5344CB8AC3E}">
        <p14:creationId xmlns:p14="http://schemas.microsoft.com/office/powerpoint/2010/main" val="41595092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49</a:t>
            </a:fld>
            <a:endParaRPr lang="fr-FR"/>
          </a:p>
        </p:txBody>
      </p:sp>
    </p:spTree>
    <p:extLst>
      <p:ext uri="{BB962C8B-B14F-4D97-AF65-F5344CB8AC3E}">
        <p14:creationId xmlns:p14="http://schemas.microsoft.com/office/powerpoint/2010/main" val="1302276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50</a:t>
            </a:fld>
            <a:endParaRPr lang="fr-FR"/>
          </a:p>
        </p:txBody>
      </p:sp>
    </p:spTree>
    <p:extLst>
      <p:ext uri="{BB962C8B-B14F-4D97-AF65-F5344CB8AC3E}">
        <p14:creationId xmlns:p14="http://schemas.microsoft.com/office/powerpoint/2010/main" val="22654496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51</a:t>
            </a:fld>
            <a:endParaRPr lang="fr-FR"/>
          </a:p>
        </p:txBody>
      </p:sp>
    </p:spTree>
    <p:extLst>
      <p:ext uri="{BB962C8B-B14F-4D97-AF65-F5344CB8AC3E}">
        <p14:creationId xmlns:p14="http://schemas.microsoft.com/office/powerpoint/2010/main" val="31438798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52</a:t>
            </a:fld>
            <a:endParaRPr lang="fr-FR"/>
          </a:p>
        </p:txBody>
      </p:sp>
    </p:spTree>
    <p:extLst>
      <p:ext uri="{BB962C8B-B14F-4D97-AF65-F5344CB8AC3E}">
        <p14:creationId xmlns:p14="http://schemas.microsoft.com/office/powerpoint/2010/main" val="6089330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53</a:t>
            </a:fld>
            <a:endParaRPr lang="fr-FR"/>
          </a:p>
        </p:txBody>
      </p:sp>
    </p:spTree>
    <p:extLst>
      <p:ext uri="{BB962C8B-B14F-4D97-AF65-F5344CB8AC3E}">
        <p14:creationId xmlns:p14="http://schemas.microsoft.com/office/powerpoint/2010/main" val="12850593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54</a:t>
            </a:fld>
            <a:endParaRPr lang="fr-FR"/>
          </a:p>
        </p:txBody>
      </p:sp>
    </p:spTree>
    <p:extLst>
      <p:ext uri="{BB962C8B-B14F-4D97-AF65-F5344CB8AC3E}">
        <p14:creationId xmlns:p14="http://schemas.microsoft.com/office/powerpoint/2010/main" val="1049051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55</a:t>
            </a:fld>
            <a:endParaRPr lang="fr-FR"/>
          </a:p>
        </p:txBody>
      </p:sp>
    </p:spTree>
    <p:extLst>
      <p:ext uri="{BB962C8B-B14F-4D97-AF65-F5344CB8AC3E}">
        <p14:creationId xmlns:p14="http://schemas.microsoft.com/office/powerpoint/2010/main" val="6439205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56</a:t>
            </a:fld>
            <a:endParaRPr lang="fr-FR"/>
          </a:p>
        </p:txBody>
      </p:sp>
    </p:spTree>
    <p:extLst>
      <p:ext uri="{BB962C8B-B14F-4D97-AF65-F5344CB8AC3E}">
        <p14:creationId xmlns:p14="http://schemas.microsoft.com/office/powerpoint/2010/main" val="267524023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57</a:t>
            </a:fld>
            <a:endParaRPr lang="fr-FR"/>
          </a:p>
        </p:txBody>
      </p:sp>
    </p:spTree>
    <p:extLst>
      <p:ext uri="{BB962C8B-B14F-4D97-AF65-F5344CB8AC3E}">
        <p14:creationId xmlns:p14="http://schemas.microsoft.com/office/powerpoint/2010/main" val="26782931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58</a:t>
            </a:fld>
            <a:endParaRPr lang="fr-FR"/>
          </a:p>
        </p:txBody>
      </p:sp>
    </p:spTree>
    <p:extLst>
      <p:ext uri="{BB962C8B-B14F-4D97-AF65-F5344CB8AC3E}">
        <p14:creationId xmlns:p14="http://schemas.microsoft.com/office/powerpoint/2010/main" val="9503886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59</a:t>
            </a:fld>
            <a:endParaRPr lang="fr-FR"/>
          </a:p>
        </p:txBody>
      </p:sp>
    </p:spTree>
    <p:extLst>
      <p:ext uri="{BB962C8B-B14F-4D97-AF65-F5344CB8AC3E}">
        <p14:creationId xmlns:p14="http://schemas.microsoft.com/office/powerpoint/2010/main" val="28542473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60</a:t>
            </a:fld>
            <a:endParaRPr lang="fr-FR"/>
          </a:p>
        </p:txBody>
      </p:sp>
    </p:spTree>
    <p:extLst>
      <p:ext uri="{BB962C8B-B14F-4D97-AF65-F5344CB8AC3E}">
        <p14:creationId xmlns:p14="http://schemas.microsoft.com/office/powerpoint/2010/main" val="395559823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61</a:t>
            </a:fld>
            <a:endParaRPr lang="fr-FR"/>
          </a:p>
        </p:txBody>
      </p:sp>
    </p:spTree>
    <p:extLst>
      <p:ext uri="{BB962C8B-B14F-4D97-AF65-F5344CB8AC3E}">
        <p14:creationId xmlns:p14="http://schemas.microsoft.com/office/powerpoint/2010/main" val="80353212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62</a:t>
            </a:fld>
            <a:endParaRPr lang="fr-FR"/>
          </a:p>
        </p:txBody>
      </p:sp>
    </p:spTree>
    <p:extLst>
      <p:ext uri="{BB962C8B-B14F-4D97-AF65-F5344CB8AC3E}">
        <p14:creationId xmlns:p14="http://schemas.microsoft.com/office/powerpoint/2010/main" val="364223464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63</a:t>
            </a:fld>
            <a:endParaRPr lang="fr-FR"/>
          </a:p>
        </p:txBody>
      </p:sp>
    </p:spTree>
    <p:extLst>
      <p:ext uri="{BB962C8B-B14F-4D97-AF65-F5344CB8AC3E}">
        <p14:creationId xmlns:p14="http://schemas.microsoft.com/office/powerpoint/2010/main" val="344772467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64</a:t>
            </a:fld>
            <a:endParaRPr lang="fr-FR"/>
          </a:p>
        </p:txBody>
      </p:sp>
    </p:spTree>
    <p:extLst>
      <p:ext uri="{BB962C8B-B14F-4D97-AF65-F5344CB8AC3E}">
        <p14:creationId xmlns:p14="http://schemas.microsoft.com/office/powerpoint/2010/main" val="1943235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65</a:t>
            </a:fld>
            <a:endParaRPr lang="fr-FR"/>
          </a:p>
        </p:txBody>
      </p:sp>
    </p:spTree>
    <p:extLst>
      <p:ext uri="{BB962C8B-B14F-4D97-AF65-F5344CB8AC3E}">
        <p14:creationId xmlns:p14="http://schemas.microsoft.com/office/powerpoint/2010/main" val="22923209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66</a:t>
            </a:fld>
            <a:endParaRPr lang="fr-FR"/>
          </a:p>
        </p:txBody>
      </p:sp>
    </p:spTree>
    <p:extLst>
      <p:ext uri="{BB962C8B-B14F-4D97-AF65-F5344CB8AC3E}">
        <p14:creationId xmlns:p14="http://schemas.microsoft.com/office/powerpoint/2010/main" val="34171166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67</a:t>
            </a:fld>
            <a:endParaRPr lang="fr-FR"/>
          </a:p>
        </p:txBody>
      </p:sp>
    </p:spTree>
    <p:extLst>
      <p:ext uri="{BB962C8B-B14F-4D97-AF65-F5344CB8AC3E}">
        <p14:creationId xmlns:p14="http://schemas.microsoft.com/office/powerpoint/2010/main" val="235808851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68</a:t>
            </a:fld>
            <a:endParaRPr lang="fr-FR"/>
          </a:p>
        </p:txBody>
      </p:sp>
    </p:spTree>
    <p:extLst>
      <p:ext uri="{BB962C8B-B14F-4D97-AF65-F5344CB8AC3E}">
        <p14:creationId xmlns:p14="http://schemas.microsoft.com/office/powerpoint/2010/main" val="369115903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69</a:t>
            </a:fld>
            <a:endParaRPr lang="fr-FR"/>
          </a:p>
        </p:txBody>
      </p:sp>
    </p:spTree>
    <p:extLst>
      <p:ext uri="{BB962C8B-B14F-4D97-AF65-F5344CB8AC3E}">
        <p14:creationId xmlns:p14="http://schemas.microsoft.com/office/powerpoint/2010/main" val="301705808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70</a:t>
            </a:fld>
            <a:endParaRPr lang="fr-FR"/>
          </a:p>
        </p:txBody>
      </p:sp>
    </p:spTree>
    <p:extLst>
      <p:ext uri="{BB962C8B-B14F-4D97-AF65-F5344CB8AC3E}">
        <p14:creationId xmlns:p14="http://schemas.microsoft.com/office/powerpoint/2010/main" val="39038853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71</a:t>
            </a:fld>
            <a:endParaRPr lang="fr-FR"/>
          </a:p>
        </p:txBody>
      </p:sp>
    </p:spTree>
    <p:extLst>
      <p:ext uri="{BB962C8B-B14F-4D97-AF65-F5344CB8AC3E}">
        <p14:creationId xmlns:p14="http://schemas.microsoft.com/office/powerpoint/2010/main" val="139248907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72</a:t>
            </a:fld>
            <a:endParaRPr lang="fr-FR"/>
          </a:p>
        </p:txBody>
      </p:sp>
    </p:spTree>
    <p:extLst>
      <p:ext uri="{BB962C8B-B14F-4D97-AF65-F5344CB8AC3E}">
        <p14:creationId xmlns:p14="http://schemas.microsoft.com/office/powerpoint/2010/main" val="206275242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73</a:t>
            </a:fld>
            <a:endParaRPr lang="fr-FR"/>
          </a:p>
        </p:txBody>
      </p:sp>
    </p:spTree>
    <p:extLst>
      <p:ext uri="{BB962C8B-B14F-4D97-AF65-F5344CB8AC3E}">
        <p14:creationId xmlns:p14="http://schemas.microsoft.com/office/powerpoint/2010/main" val="419629586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dirty="0"/>
              <a:t>Intéressante si nous disposons pas de capteur d’effort (application chirurgie</a:t>
            </a:r>
            <a:r>
              <a:rPr lang="fr-FR" baseline="0" dirty="0"/>
              <a:t> minimalement invasive</a:t>
            </a:r>
            <a:r>
              <a:rPr lang="fr-FR" dirty="0"/>
              <a:t>)</a:t>
            </a: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74</a:t>
            </a:fld>
            <a:endParaRPr lang="fr-FR"/>
          </a:p>
        </p:txBody>
      </p:sp>
    </p:spTree>
    <p:extLst>
      <p:ext uri="{BB962C8B-B14F-4D97-AF65-F5344CB8AC3E}">
        <p14:creationId xmlns:p14="http://schemas.microsoft.com/office/powerpoint/2010/main" val="283578416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75</a:t>
            </a:fld>
            <a:endParaRPr lang="fr-FR"/>
          </a:p>
        </p:txBody>
      </p:sp>
    </p:spTree>
    <p:extLst>
      <p:ext uri="{BB962C8B-B14F-4D97-AF65-F5344CB8AC3E}">
        <p14:creationId xmlns:p14="http://schemas.microsoft.com/office/powerpoint/2010/main" val="265669035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76</a:t>
            </a:fld>
            <a:endParaRPr lang="fr-FR"/>
          </a:p>
        </p:txBody>
      </p:sp>
    </p:spTree>
    <p:extLst>
      <p:ext uri="{BB962C8B-B14F-4D97-AF65-F5344CB8AC3E}">
        <p14:creationId xmlns:p14="http://schemas.microsoft.com/office/powerpoint/2010/main" val="369115903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77</a:t>
            </a:fld>
            <a:endParaRPr lang="fr-FR"/>
          </a:p>
        </p:txBody>
      </p:sp>
    </p:spTree>
    <p:extLst>
      <p:ext uri="{BB962C8B-B14F-4D97-AF65-F5344CB8AC3E}">
        <p14:creationId xmlns:p14="http://schemas.microsoft.com/office/powerpoint/2010/main" val="329378548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78</a:t>
            </a:fld>
            <a:endParaRPr lang="fr-FR"/>
          </a:p>
        </p:txBody>
      </p:sp>
    </p:spTree>
    <p:extLst>
      <p:ext uri="{BB962C8B-B14F-4D97-AF65-F5344CB8AC3E}">
        <p14:creationId xmlns:p14="http://schemas.microsoft.com/office/powerpoint/2010/main" val="101106973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79</a:t>
            </a:fld>
            <a:endParaRPr lang="fr-FR"/>
          </a:p>
        </p:txBody>
      </p:sp>
    </p:spTree>
    <p:extLst>
      <p:ext uri="{BB962C8B-B14F-4D97-AF65-F5344CB8AC3E}">
        <p14:creationId xmlns:p14="http://schemas.microsoft.com/office/powerpoint/2010/main" val="146088077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80</a:t>
            </a:fld>
            <a:endParaRPr lang="fr-FR"/>
          </a:p>
        </p:txBody>
      </p:sp>
    </p:spTree>
    <p:extLst>
      <p:ext uri="{BB962C8B-B14F-4D97-AF65-F5344CB8AC3E}">
        <p14:creationId xmlns:p14="http://schemas.microsoft.com/office/powerpoint/2010/main" val="354221956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81</a:t>
            </a:fld>
            <a:endParaRPr lang="fr-FR"/>
          </a:p>
        </p:txBody>
      </p:sp>
    </p:spTree>
    <p:extLst>
      <p:ext uri="{BB962C8B-B14F-4D97-AF65-F5344CB8AC3E}">
        <p14:creationId xmlns:p14="http://schemas.microsoft.com/office/powerpoint/2010/main" val="287292836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82</a:t>
            </a:fld>
            <a:endParaRPr lang="fr-FR"/>
          </a:p>
        </p:txBody>
      </p:sp>
    </p:spTree>
    <p:extLst>
      <p:ext uri="{BB962C8B-B14F-4D97-AF65-F5344CB8AC3E}">
        <p14:creationId xmlns:p14="http://schemas.microsoft.com/office/powerpoint/2010/main" val="97674242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83</a:t>
            </a:fld>
            <a:endParaRPr lang="fr-FR"/>
          </a:p>
        </p:txBody>
      </p:sp>
    </p:spTree>
    <p:extLst>
      <p:ext uri="{BB962C8B-B14F-4D97-AF65-F5344CB8AC3E}">
        <p14:creationId xmlns:p14="http://schemas.microsoft.com/office/powerpoint/2010/main" val="244027882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84</a:t>
            </a:fld>
            <a:endParaRPr lang="fr-FR"/>
          </a:p>
        </p:txBody>
      </p:sp>
    </p:spTree>
    <p:extLst>
      <p:ext uri="{BB962C8B-B14F-4D97-AF65-F5344CB8AC3E}">
        <p14:creationId xmlns:p14="http://schemas.microsoft.com/office/powerpoint/2010/main" val="177363053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85</a:t>
            </a:fld>
            <a:endParaRPr lang="fr-FR"/>
          </a:p>
        </p:txBody>
      </p:sp>
    </p:spTree>
    <p:extLst>
      <p:ext uri="{BB962C8B-B14F-4D97-AF65-F5344CB8AC3E}">
        <p14:creationId xmlns:p14="http://schemas.microsoft.com/office/powerpoint/2010/main" val="291365066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86</a:t>
            </a:fld>
            <a:endParaRPr lang="fr-FR"/>
          </a:p>
        </p:txBody>
      </p:sp>
    </p:spTree>
    <p:extLst>
      <p:ext uri="{BB962C8B-B14F-4D97-AF65-F5344CB8AC3E}">
        <p14:creationId xmlns:p14="http://schemas.microsoft.com/office/powerpoint/2010/main" val="44449514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87</a:t>
            </a:fld>
            <a:endParaRPr lang="fr-FR"/>
          </a:p>
        </p:txBody>
      </p:sp>
    </p:spTree>
    <p:extLst>
      <p:ext uri="{BB962C8B-B14F-4D97-AF65-F5344CB8AC3E}">
        <p14:creationId xmlns:p14="http://schemas.microsoft.com/office/powerpoint/2010/main" val="332324321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88</a:t>
            </a:fld>
            <a:endParaRPr lang="fr-FR"/>
          </a:p>
        </p:txBody>
      </p:sp>
    </p:spTree>
    <p:extLst>
      <p:ext uri="{BB962C8B-B14F-4D97-AF65-F5344CB8AC3E}">
        <p14:creationId xmlns:p14="http://schemas.microsoft.com/office/powerpoint/2010/main" val="369905527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89</a:t>
            </a:fld>
            <a:endParaRPr lang="fr-FR"/>
          </a:p>
        </p:txBody>
      </p:sp>
    </p:spTree>
    <p:extLst>
      <p:ext uri="{BB962C8B-B14F-4D97-AF65-F5344CB8AC3E}">
        <p14:creationId xmlns:p14="http://schemas.microsoft.com/office/powerpoint/2010/main" val="296407593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90</a:t>
            </a:fld>
            <a:endParaRPr lang="fr-FR"/>
          </a:p>
        </p:txBody>
      </p:sp>
    </p:spTree>
    <p:extLst>
      <p:ext uri="{BB962C8B-B14F-4D97-AF65-F5344CB8AC3E}">
        <p14:creationId xmlns:p14="http://schemas.microsoft.com/office/powerpoint/2010/main" val="81079322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91</a:t>
            </a:fld>
            <a:endParaRPr lang="fr-FR"/>
          </a:p>
        </p:txBody>
      </p:sp>
    </p:spTree>
    <p:extLst>
      <p:ext uri="{BB962C8B-B14F-4D97-AF65-F5344CB8AC3E}">
        <p14:creationId xmlns:p14="http://schemas.microsoft.com/office/powerpoint/2010/main" val="123939586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92</a:t>
            </a:fld>
            <a:endParaRPr lang="fr-FR"/>
          </a:p>
        </p:txBody>
      </p:sp>
    </p:spTree>
    <p:extLst>
      <p:ext uri="{BB962C8B-B14F-4D97-AF65-F5344CB8AC3E}">
        <p14:creationId xmlns:p14="http://schemas.microsoft.com/office/powerpoint/2010/main" val="314441427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93</a:t>
            </a:fld>
            <a:endParaRPr lang="fr-FR"/>
          </a:p>
        </p:txBody>
      </p:sp>
    </p:spTree>
    <p:extLst>
      <p:ext uri="{BB962C8B-B14F-4D97-AF65-F5344CB8AC3E}">
        <p14:creationId xmlns:p14="http://schemas.microsoft.com/office/powerpoint/2010/main" val="98352839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94</a:t>
            </a:fld>
            <a:endParaRPr lang="fr-FR"/>
          </a:p>
        </p:txBody>
      </p:sp>
    </p:spTree>
    <p:extLst>
      <p:ext uri="{BB962C8B-B14F-4D97-AF65-F5344CB8AC3E}">
        <p14:creationId xmlns:p14="http://schemas.microsoft.com/office/powerpoint/2010/main" val="366684056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95</a:t>
            </a:fld>
            <a:endParaRPr lang="fr-FR"/>
          </a:p>
        </p:txBody>
      </p:sp>
    </p:spTree>
    <p:extLst>
      <p:ext uri="{BB962C8B-B14F-4D97-AF65-F5344CB8AC3E}">
        <p14:creationId xmlns:p14="http://schemas.microsoft.com/office/powerpoint/2010/main" val="115760392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96</a:t>
            </a:fld>
            <a:endParaRPr lang="fr-FR"/>
          </a:p>
        </p:txBody>
      </p:sp>
    </p:spTree>
    <p:extLst>
      <p:ext uri="{BB962C8B-B14F-4D97-AF65-F5344CB8AC3E}">
        <p14:creationId xmlns:p14="http://schemas.microsoft.com/office/powerpoint/2010/main" val="208339111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e l'en-tête 3"/>
          <p:cNvSpPr>
            <a:spLocks noGrp="1"/>
          </p:cNvSpPr>
          <p:nvPr>
            <p:ph type="hdr" sz="quarter" idx="10"/>
          </p:nvPr>
        </p:nvSpPr>
        <p:spPr/>
        <p:txBody>
          <a:bodyPr/>
          <a:lstStyle/>
          <a:p>
            <a:pPr>
              <a:defRPr/>
            </a:pPr>
            <a:endParaRPr lang="fr-FR"/>
          </a:p>
        </p:txBody>
      </p:sp>
      <p:sp>
        <p:nvSpPr>
          <p:cNvPr id="5" name="Espace réservé du pied de page 4"/>
          <p:cNvSpPr>
            <a:spLocks noGrp="1"/>
          </p:cNvSpPr>
          <p:nvPr>
            <p:ph type="ftr" sz="quarter" idx="11"/>
          </p:nvPr>
        </p:nvSpPr>
        <p:spPr/>
        <p:txBody>
          <a:bodyPr/>
          <a:lstStyle/>
          <a:p>
            <a:pPr>
              <a:defRPr/>
            </a:pPr>
            <a:r>
              <a:rPr lang="fr-FR"/>
              <a:t>/35</a:t>
            </a:r>
          </a:p>
        </p:txBody>
      </p:sp>
      <p:sp>
        <p:nvSpPr>
          <p:cNvPr id="6" name="Espace réservé du numéro de diapositive 5"/>
          <p:cNvSpPr>
            <a:spLocks noGrp="1"/>
          </p:cNvSpPr>
          <p:nvPr>
            <p:ph type="sldNum" sz="quarter" idx="12"/>
          </p:nvPr>
        </p:nvSpPr>
        <p:spPr/>
        <p:txBody>
          <a:bodyPr/>
          <a:lstStyle/>
          <a:p>
            <a:pPr>
              <a:defRPr/>
            </a:pPr>
            <a:fld id="{59B6037E-4516-2147-A5A3-8736BCAF17D8}" type="slidenum">
              <a:rPr lang="fr-FR" smtClean="0"/>
              <a:pPr>
                <a:defRPr/>
              </a:pPr>
              <a:t>97</a:t>
            </a:fld>
            <a:endParaRPr lang="fr-FR"/>
          </a:p>
        </p:txBody>
      </p:sp>
    </p:spTree>
    <p:extLst>
      <p:ext uri="{BB962C8B-B14F-4D97-AF65-F5344CB8AC3E}">
        <p14:creationId xmlns:p14="http://schemas.microsoft.com/office/powerpoint/2010/main" val="876528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4" name="Rectangle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5" name="Rectangle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 name="Rectangle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7" name="Rectangle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 name="Connecteur droit 9"/>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a typeface="+mn-ea"/>
              <a:cs typeface="+mn-cs"/>
            </a:endParaRPr>
          </a:p>
        </p:txBody>
      </p:sp>
      <p:sp>
        <p:nvSpPr>
          <p:cNvPr id="11" name="Connecteur droit 10"/>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a typeface="+mn-ea"/>
              <a:cs typeface="+mn-cs"/>
            </a:endParaRPr>
          </a:p>
        </p:txBody>
      </p:sp>
      <p:sp>
        <p:nvSpPr>
          <p:cNvPr id="12" name="Connecteur droit 11"/>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a typeface="+mn-ea"/>
              <a:cs typeface="+mn-cs"/>
            </a:endParaRPr>
          </a:p>
        </p:txBody>
      </p:sp>
      <p:sp>
        <p:nvSpPr>
          <p:cNvPr id="13" name="Connecteur droit 12"/>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a typeface="+mn-ea"/>
              <a:cs typeface="+mn-cs"/>
            </a:endParaRPr>
          </a:p>
        </p:txBody>
      </p:sp>
      <p:sp>
        <p:nvSpPr>
          <p:cNvPr id="14" name="Connecteur droit 13"/>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a typeface="+mn-ea"/>
              <a:cs typeface="+mn-cs"/>
            </a:endParaRPr>
          </a:p>
        </p:txBody>
      </p:sp>
      <p:sp>
        <p:nvSpPr>
          <p:cNvPr id="15" name="Connecteur droit 14"/>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a typeface="+mn-ea"/>
              <a:cs typeface="+mn-cs"/>
            </a:endParaRPr>
          </a:p>
        </p:txBody>
      </p:sp>
      <p:sp>
        <p:nvSpPr>
          <p:cNvPr id="16" name="Rectangle 15"/>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 name="Ellipse 16"/>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 name="Ellipse 17"/>
          <p:cNvSpPr/>
          <p:nvPr userDrawn="1"/>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 name="Ellipse 18"/>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0" name="Ellipse 19"/>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1" name="Ellipse 20"/>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Titre 7"/>
          <p:cNvSpPr>
            <a:spLocks noGrp="1"/>
          </p:cNvSpPr>
          <p:nvPr>
            <p:ph type="ctrTitle"/>
          </p:nvPr>
        </p:nvSpPr>
        <p:spPr>
          <a:xfrm>
            <a:off x="2286000" y="3124200"/>
            <a:ext cx="6172200" cy="1894362"/>
          </a:xfrm>
          <a:prstGeom prst="rect">
            <a:avLst/>
          </a:prstGeom>
        </p:spPr>
        <p:txBody>
          <a:bodyPr/>
          <a:lstStyle>
            <a:lvl1pPr>
              <a:defRPr b="1"/>
            </a:lvl1pPr>
          </a:lstStyle>
          <a:p>
            <a:r>
              <a:rPr lang="fr-FR"/>
              <a:t>Cliquez pour modifier le style du titre</a:t>
            </a:r>
            <a:endParaRPr lang="en-US"/>
          </a:p>
        </p:txBody>
      </p:sp>
      <p:sp>
        <p:nvSpPr>
          <p:cNvPr id="9" name="Sous-titre 8"/>
          <p:cNvSpPr>
            <a:spLocks noGrp="1"/>
          </p:cNvSpPr>
          <p:nvPr>
            <p:ph type="subTitle" idx="1"/>
          </p:nvPr>
        </p:nvSpPr>
        <p:spPr>
          <a:xfrm>
            <a:off x="2286000" y="5003322"/>
            <a:ext cx="6172200" cy="1371600"/>
          </a:xfrm>
          <a:prstGeom prst="rect">
            <a:avLst/>
          </a:prstGeo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fr-FR"/>
              <a:t>Cliquez pour modifier le style des sous-titres du masque</a:t>
            </a:r>
            <a:endParaRPr lang="en-US"/>
          </a:p>
        </p:txBody>
      </p:sp>
    </p:spTree>
    <p:extLst>
      <p:ext uri="{BB962C8B-B14F-4D97-AF65-F5344CB8AC3E}">
        <p14:creationId xmlns:p14="http://schemas.microsoft.com/office/powerpoint/2010/main" val="103684344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cxnSp>
        <p:nvCxnSpPr>
          <p:cNvPr id="4" name="Connecteur droit 3"/>
          <p:cNvCxnSpPr/>
          <p:nvPr userDrawn="1"/>
        </p:nvCxnSpPr>
        <p:spPr>
          <a:xfrm rot="5400000">
            <a:off x="-3286918" y="3429794"/>
            <a:ext cx="6858000" cy="1587"/>
          </a:xfrm>
          <a:prstGeom prst="line">
            <a:avLst/>
          </a:prstGeom>
          <a:ln w="158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 name="Connecteur droit 4"/>
          <p:cNvCxnSpPr/>
          <p:nvPr userDrawn="1"/>
        </p:nvCxnSpPr>
        <p:spPr>
          <a:xfrm rot="5400000">
            <a:off x="-3428206" y="3428206"/>
            <a:ext cx="6858000" cy="1588"/>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 name="Connecteur droit 5"/>
          <p:cNvCxnSpPr>
            <a:cxnSpLocks noChangeShapeType="1"/>
          </p:cNvCxnSpPr>
          <p:nvPr userDrawn="1"/>
        </p:nvCxnSpPr>
        <p:spPr bwMode="auto">
          <a:xfrm rot="10800000" flipV="1">
            <a:off x="2000250" y="785813"/>
            <a:ext cx="6429375" cy="9525"/>
          </a:xfrm>
          <a:prstGeom prst="line">
            <a:avLst/>
          </a:prstGeom>
          <a:noFill/>
          <a:ln w="15875" cap="rnd">
            <a:solidFill>
              <a:srgbClr val="F88631"/>
            </a:solidFill>
            <a:round/>
            <a:headEnd/>
            <a:tailEnd/>
          </a:ln>
          <a:effectLst>
            <a:outerShdw blurRad="63500" dist="50800" dir="5400000" algn="ctr" rotWithShape="0">
              <a:srgbClr val="000000">
                <a:alpha val="75000"/>
              </a:srgbClr>
            </a:outerShdw>
          </a:effectLst>
          <a:extLst>
            <a:ext uri="{909E8E84-426E-40DD-AFC4-6F175D3DCCD1}">
              <a14:hiddenFill xmlns:a14="http://schemas.microsoft.com/office/drawing/2010/main">
                <a:noFill/>
              </a14:hiddenFill>
            </a:ext>
          </a:extLst>
        </p:spPr>
      </p:cxnSp>
      <p:cxnSp>
        <p:nvCxnSpPr>
          <p:cNvPr id="7" name="Connecteur droit 6"/>
          <p:cNvCxnSpPr>
            <a:cxnSpLocks noChangeShapeType="1"/>
          </p:cNvCxnSpPr>
          <p:nvPr userDrawn="1"/>
        </p:nvCxnSpPr>
        <p:spPr bwMode="auto">
          <a:xfrm rot="10800000">
            <a:off x="2000250" y="857250"/>
            <a:ext cx="6429375" cy="1588"/>
          </a:xfrm>
          <a:prstGeom prst="line">
            <a:avLst/>
          </a:prstGeom>
          <a:noFill/>
          <a:ln w="15875" cap="rnd">
            <a:solidFill>
              <a:srgbClr val="C00000"/>
            </a:solidFill>
            <a:round/>
            <a:headEnd/>
            <a:tailEnd/>
          </a:ln>
          <a:effectLst>
            <a:outerShdw blurRad="63500" dist="50800" dir="5400000" algn="ctr" rotWithShape="0">
              <a:srgbClr val="000000">
                <a:alpha val="75000"/>
              </a:srgbClr>
            </a:outerShdw>
          </a:effectLst>
          <a:extLst>
            <a:ext uri="{909E8E84-426E-40DD-AFC4-6F175D3DCCD1}">
              <a14:hiddenFill xmlns:a14="http://schemas.microsoft.com/office/drawing/2010/main">
                <a:noFill/>
              </a14:hiddenFill>
            </a:ext>
          </a:extLst>
        </p:spPr>
      </p:cxnSp>
      <p:sp>
        <p:nvSpPr>
          <p:cNvPr id="9" name="Organigramme : Connecteur 18"/>
          <p:cNvSpPr/>
          <p:nvPr userDrawn="1"/>
        </p:nvSpPr>
        <p:spPr>
          <a:xfrm>
            <a:off x="8072438" y="5643563"/>
            <a:ext cx="642937" cy="714375"/>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fr-FR" dirty="0"/>
          </a:p>
        </p:txBody>
      </p:sp>
      <p:sp>
        <p:nvSpPr>
          <p:cNvPr id="8" name="Espace réservé du contenu 7"/>
          <p:cNvSpPr>
            <a:spLocks noGrp="1"/>
          </p:cNvSpPr>
          <p:nvPr>
            <p:ph sz="quarter" idx="1"/>
          </p:nvPr>
        </p:nvSpPr>
        <p:spPr>
          <a:xfrm>
            <a:off x="280656" y="959667"/>
            <a:ext cx="8347295" cy="5514285"/>
          </a:xfrm>
          <a:prstGeom prst="rect">
            <a:avLst/>
          </a:prstGeom>
          <a:effectLst/>
        </p:spPr>
        <p:txBody>
          <a:bodyPr/>
          <a:lstStyle>
            <a:lvl1pPr marL="273050" indent="-273050">
              <a:buFont typeface="Wingdings" panose="05000000000000000000" pitchFamily="2" charset="2"/>
              <a:buChar char="v"/>
              <a:defRPr sz="1800">
                <a:solidFill>
                  <a:schemeClr val="tx1"/>
                </a:solidFill>
              </a:defRPr>
            </a:lvl1pPr>
            <a:lvl2pPr>
              <a:defRPr sz="1700">
                <a:solidFill>
                  <a:schemeClr val="tx1"/>
                </a:solidFill>
              </a:defRPr>
            </a:lvl2pPr>
            <a:lvl3pPr>
              <a:defRPr sz="1600">
                <a:solidFill>
                  <a:schemeClr val="tx1"/>
                </a:solidFill>
              </a:defRPr>
            </a:lvl3pPr>
            <a:lvl4pPr>
              <a:defRPr sz="1500">
                <a:solidFill>
                  <a:schemeClr val="tx1"/>
                </a:solidFill>
              </a:defRPr>
            </a:lvl4pPr>
            <a:lvl5pPr>
              <a:defRPr sz="1400">
                <a:solidFill>
                  <a:schemeClr val="tx1"/>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3" name="Titre 12"/>
          <p:cNvSpPr>
            <a:spLocks noGrp="1"/>
          </p:cNvSpPr>
          <p:nvPr>
            <p:ph type="title"/>
          </p:nvPr>
        </p:nvSpPr>
        <p:spPr>
          <a:xfrm>
            <a:off x="300790" y="0"/>
            <a:ext cx="8229600" cy="785812"/>
          </a:xfrm>
          <a:prstGeom prst="rect">
            <a:avLst/>
          </a:prstGeom>
        </p:spPr>
        <p:txBody>
          <a:bodyPr/>
          <a:lstStyle>
            <a:lvl1pPr>
              <a:defRPr sz="2800"/>
            </a:lvl1pPr>
          </a:lstStyle>
          <a:p>
            <a:r>
              <a:rPr lang="fr-FR" dirty="0"/>
              <a:t>Modifiez le style du titre</a:t>
            </a:r>
          </a:p>
        </p:txBody>
      </p:sp>
      <p:sp>
        <p:nvSpPr>
          <p:cNvPr id="15" name="ZoneTexte 14"/>
          <p:cNvSpPr txBox="1"/>
          <p:nvPr userDrawn="1"/>
        </p:nvSpPr>
        <p:spPr>
          <a:xfrm>
            <a:off x="8085225" y="6488670"/>
            <a:ext cx="553449" cy="276999"/>
          </a:xfrm>
          <a:prstGeom prst="rect">
            <a:avLst/>
          </a:prstGeom>
          <a:noFill/>
        </p:spPr>
        <p:txBody>
          <a:bodyPr wrap="square" rtlCol="0">
            <a:spAutoFit/>
          </a:bodyPr>
          <a:lstStyle/>
          <a:p>
            <a:fld id="{22DA6014-21FC-41C2-87A2-E7E17F715B76}" type="slidenum">
              <a:rPr lang="fr-FR" sz="1200" smtClean="0"/>
              <a:t>‹#›</a:t>
            </a:fld>
            <a:endParaRPr lang="fr-FR" sz="1200" dirty="0"/>
          </a:p>
        </p:txBody>
      </p:sp>
      <p:cxnSp>
        <p:nvCxnSpPr>
          <p:cNvPr id="17" name="Connecteur droit 16"/>
          <p:cNvCxnSpPr>
            <a:cxnSpLocks noChangeShapeType="1"/>
          </p:cNvCxnSpPr>
          <p:nvPr userDrawn="1"/>
        </p:nvCxnSpPr>
        <p:spPr bwMode="auto">
          <a:xfrm flipH="1">
            <a:off x="276726" y="6493902"/>
            <a:ext cx="8349916" cy="0"/>
          </a:xfrm>
          <a:prstGeom prst="line">
            <a:avLst/>
          </a:prstGeom>
          <a:noFill/>
          <a:ln w="15875" cap="rnd">
            <a:solidFill>
              <a:srgbClr val="C00000"/>
            </a:solidFill>
            <a:round/>
            <a:headEnd/>
            <a:tailEnd/>
          </a:ln>
          <a:effectLst>
            <a:outerShdw blurRad="63500" dist="50800" dir="5400000" algn="ctr" rotWithShape="0">
              <a:srgbClr val="000000">
                <a:alpha val="75000"/>
              </a:srgbClr>
            </a:outerShdw>
          </a:effectLst>
          <a:extLst>
            <a:ext uri="{909E8E84-426E-40DD-AFC4-6F175D3DCCD1}">
              <a14:hiddenFill xmlns:a14="http://schemas.microsoft.com/office/drawing/2010/main">
                <a:noFill/>
              </a14:hiddenFill>
            </a:ext>
          </a:extLst>
        </p:spPr>
      </p:cxnSp>
      <p:sp>
        <p:nvSpPr>
          <p:cNvPr id="19" name="ZoneTexte 18"/>
          <p:cNvSpPr txBox="1"/>
          <p:nvPr userDrawn="1"/>
        </p:nvSpPr>
        <p:spPr>
          <a:xfrm>
            <a:off x="3681671" y="6493902"/>
            <a:ext cx="1533266" cy="276999"/>
          </a:xfrm>
          <a:prstGeom prst="rect">
            <a:avLst/>
          </a:prstGeom>
          <a:noFill/>
        </p:spPr>
        <p:txBody>
          <a:bodyPr wrap="square" rtlCol="0">
            <a:spAutoFit/>
          </a:bodyPr>
          <a:lstStyle/>
          <a:p>
            <a:r>
              <a:rPr lang="fr-FR" sz="1200" dirty="0" err="1"/>
              <a:t>Salih</a:t>
            </a:r>
            <a:r>
              <a:rPr lang="fr-FR" sz="1200" dirty="0"/>
              <a:t> ABDELAZIZ</a:t>
            </a:r>
          </a:p>
        </p:txBody>
      </p:sp>
      <p:sp>
        <p:nvSpPr>
          <p:cNvPr id="20" name="ZoneTexte 19"/>
          <p:cNvSpPr txBox="1"/>
          <p:nvPr userDrawn="1"/>
        </p:nvSpPr>
        <p:spPr>
          <a:xfrm>
            <a:off x="178972" y="6488669"/>
            <a:ext cx="1000124" cy="276999"/>
          </a:xfrm>
          <a:prstGeom prst="rect">
            <a:avLst/>
          </a:prstGeom>
          <a:noFill/>
        </p:spPr>
        <p:txBody>
          <a:bodyPr wrap="square" rtlCol="0">
            <a:spAutoFit/>
          </a:bodyPr>
          <a:lstStyle/>
          <a:p>
            <a:fld id="{5C834C60-111E-49D1-9426-89F2D1F85068}" type="datetime1">
              <a:rPr lang="fr-FR" sz="1200" smtClean="0"/>
              <a:t>13/09/2024</a:t>
            </a:fld>
            <a:endParaRPr lang="fr-FR" sz="1200" dirty="0"/>
          </a:p>
        </p:txBody>
      </p:sp>
    </p:spTree>
    <p:extLst>
      <p:ext uri="{BB962C8B-B14F-4D97-AF65-F5344CB8AC3E}">
        <p14:creationId xmlns:p14="http://schemas.microsoft.com/office/powerpoint/2010/main" val="31635431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Connecteur droit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a typeface="+mn-ea"/>
              <a:cs typeface="+mn-cs"/>
            </a:endParaRPr>
          </a:p>
        </p:txBody>
      </p:sp>
      <p:sp>
        <p:nvSpPr>
          <p:cNvPr id="7" name="Connecteur droit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a typeface="+mn-ea"/>
              <a:cs typeface="+mn-cs"/>
            </a:endParaRPr>
          </a:p>
        </p:txBody>
      </p:sp>
      <p:sp>
        <p:nvSpPr>
          <p:cNvPr id="1031" name="Connecteur droit 8"/>
          <p:cNvSpPr>
            <a:spLocks noChangeShapeType="1"/>
          </p:cNvSpPr>
          <p:nvPr/>
        </p:nvSpPr>
        <p:spPr bwMode="auto">
          <a:xfrm>
            <a:off x="8991600" y="0"/>
            <a:ext cx="0" cy="685800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fr-FR" dirty="0"/>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33" name="Connecteur droit 10"/>
          <p:cNvSpPr>
            <a:spLocks noChangeShapeType="1"/>
          </p:cNvSpPr>
          <p:nvPr/>
        </p:nvSpPr>
        <p:spPr bwMode="auto">
          <a:xfrm>
            <a:off x="8915400" y="0"/>
            <a:ext cx="0" cy="6858000"/>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a:lstStyle/>
          <a:p>
            <a:endParaRPr lang="fr-FR" dirty="0"/>
          </a:p>
        </p:txBody>
      </p:sp>
    </p:spTree>
  </p:cSld>
  <p:clrMap bg1="lt1" tx1="dk1" bg2="lt2" tx2="dk2" accent1="accent1" accent2="accent2" accent3="accent3" accent4="accent4" accent5="accent5" accent6="accent6" hlink="hlink" folHlink="folHlink"/>
  <p:sldLayoutIdLst>
    <p:sldLayoutId id="2147485740" r:id="rId1"/>
    <p:sldLayoutId id="2147485741" r:id="rId2"/>
  </p:sldLayoutIdLst>
  <p:hf sldNum="0" hdr="0" ftr="0" dt="0"/>
  <p:txStyles>
    <p:titleStyle>
      <a:lvl1pPr algn="l" rtl="0" eaLnBrk="0" fontAlgn="base" hangingPunct="0">
        <a:spcBef>
          <a:spcPct val="0"/>
        </a:spcBef>
        <a:spcAft>
          <a:spcPct val="0"/>
        </a:spcAft>
        <a:defRPr sz="3000" kern="1200" cap="small">
          <a:solidFill>
            <a:schemeClr val="tx2"/>
          </a:solidFill>
          <a:latin typeface="+mj-lt"/>
          <a:ea typeface="ＭＳ Ｐゴシック" charset="-128"/>
          <a:cs typeface="ＭＳ Ｐゴシック" charset="-128"/>
        </a:defRPr>
      </a:lvl1pPr>
      <a:lvl2pPr algn="l" rtl="0" eaLnBrk="0" fontAlgn="base" hangingPunct="0">
        <a:spcBef>
          <a:spcPct val="0"/>
        </a:spcBef>
        <a:spcAft>
          <a:spcPct val="0"/>
        </a:spcAft>
        <a:defRPr sz="3000">
          <a:solidFill>
            <a:schemeClr val="tx2"/>
          </a:solidFill>
          <a:latin typeface="Calibri" pitchFamily="34" charset="0"/>
          <a:ea typeface="ＭＳ Ｐゴシック" charset="-128"/>
          <a:cs typeface="ＭＳ Ｐゴシック" charset="-128"/>
        </a:defRPr>
      </a:lvl2pPr>
      <a:lvl3pPr algn="l" rtl="0" eaLnBrk="0" fontAlgn="base" hangingPunct="0">
        <a:spcBef>
          <a:spcPct val="0"/>
        </a:spcBef>
        <a:spcAft>
          <a:spcPct val="0"/>
        </a:spcAft>
        <a:defRPr sz="3000">
          <a:solidFill>
            <a:schemeClr val="tx2"/>
          </a:solidFill>
          <a:latin typeface="Calibri" pitchFamily="34" charset="0"/>
          <a:ea typeface="ＭＳ Ｐゴシック" charset="-128"/>
          <a:cs typeface="ＭＳ Ｐゴシック" charset="-128"/>
        </a:defRPr>
      </a:lvl3pPr>
      <a:lvl4pPr algn="l" rtl="0" eaLnBrk="0" fontAlgn="base" hangingPunct="0">
        <a:spcBef>
          <a:spcPct val="0"/>
        </a:spcBef>
        <a:spcAft>
          <a:spcPct val="0"/>
        </a:spcAft>
        <a:defRPr sz="3000">
          <a:solidFill>
            <a:schemeClr val="tx2"/>
          </a:solidFill>
          <a:latin typeface="Calibri" pitchFamily="34" charset="0"/>
          <a:ea typeface="ＭＳ Ｐゴシック" charset="-128"/>
          <a:cs typeface="ＭＳ Ｐゴシック" charset="-128"/>
        </a:defRPr>
      </a:lvl4pPr>
      <a:lvl5pPr algn="l" rtl="0" eaLnBrk="0" fontAlgn="base" hangingPunct="0">
        <a:spcBef>
          <a:spcPct val="0"/>
        </a:spcBef>
        <a:spcAft>
          <a:spcPct val="0"/>
        </a:spcAft>
        <a:defRPr sz="3000">
          <a:solidFill>
            <a:schemeClr val="tx2"/>
          </a:solidFill>
          <a:latin typeface="Calibri" pitchFamily="34" charset="0"/>
          <a:ea typeface="ＭＳ Ｐゴシック" charset="-128"/>
          <a:cs typeface="ＭＳ Ｐゴシック" charset="-128"/>
        </a:defRPr>
      </a:lvl5pPr>
      <a:lvl6pPr marL="457200" algn="l" rtl="0" fontAlgn="base">
        <a:spcBef>
          <a:spcPct val="0"/>
        </a:spcBef>
        <a:spcAft>
          <a:spcPct val="0"/>
        </a:spcAft>
        <a:defRPr sz="3000">
          <a:solidFill>
            <a:schemeClr val="tx2"/>
          </a:solidFill>
          <a:latin typeface="Calibri" pitchFamily="34" charset="0"/>
        </a:defRPr>
      </a:lvl6pPr>
      <a:lvl7pPr marL="914400" algn="l" rtl="0" fontAlgn="base">
        <a:spcBef>
          <a:spcPct val="0"/>
        </a:spcBef>
        <a:spcAft>
          <a:spcPct val="0"/>
        </a:spcAft>
        <a:defRPr sz="3000">
          <a:solidFill>
            <a:schemeClr val="tx2"/>
          </a:solidFill>
          <a:latin typeface="Calibri" pitchFamily="34" charset="0"/>
        </a:defRPr>
      </a:lvl7pPr>
      <a:lvl8pPr marL="1371600" algn="l" rtl="0" fontAlgn="base">
        <a:spcBef>
          <a:spcPct val="0"/>
        </a:spcBef>
        <a:spcAft>
          <a:spcPct val="0"/>
        </a:spcAft>
        <a:defRPr sz="3000">
          <a:solidFill>
            <a:schemeClr val="tx2"/>
          </a:solidFill>
          <a:latin typeface="Calibri" pitchFamily="34" charset="0"/>
        </a:defRPr>
      </a:lvl8pPr>
      <a:lvl9pPr marL="1828800" algn="l" rtl="0" fontAlgn="base">
        <a:spcBef>
          <a:spcPct val="0"/>
        </a:spcBef>
        <a:spcAft>
          <a:spcPct val="0"/>
        </a:spcAft>
        <a:defRPr sz="3000">
          <a:solidFill>
            <a:schemeClr val="tx2"/>
          </a:solidFill>
          <a:latin typeface="Calibri" pitchFamily="34" charset="0"/>
        </a:defRPr>
      </a:lvl9pPr>
    </p:titleStyle>
    <p:bodyStyle>
      <a:lvl1pPr marL="273050" indent="-273050" algn="l" rtl="0" eaLnBrk="0" fontAlgn="base" hangingPunct="0">
        <a:spcBef>
          <a:spcPts val="600"/>
        </a:spcBef>
        <a:spcAft>
          <a:spcPct val="0"/>
        </a:spcAft>
        <a:buClr>
          <a:schemeClr val="accent1"/>
        </a:buClr>
        <a:buSzPct val="70000"/>
        <a:buFont typeface="Wingdings" charset="0"/>
        <a:buChar char=""/>
        <a:defRPr sz="2400" kern="1200">
          <a:solidFill>
            <a:schemeClr val="tx1"/>
          </a:solidFill>
          <a:latin typeface="+mn-lt"/>
          <a:ea typeface="ＭＳ Ｐゴシック" charset="-128"/>
          <a:cs typeface="ＭＳ Ｐゴシック" charset="-128"/>
        </a:defRPr>
      </a:lvl1pPr>
      <a:lvl2pPr marL="639763" indent="-273050" algn="l" rtl="0" eaLnBrk="0" fontAlgn="base" hangingPunct="0">
        <a:spcBef>
          <a:spcPct val="20000"/>
        </a:spcBef>
        <a:spcAft>
          <a:spcPct val="0"/>
        </a:spcAft>
        <a:buClr>
          <a:schemeClr val="accent1"/>
        </a:buClr>
        <a:buSzPct val="80000"/>
        <a:buFont typeface="Wingdings 2" charset="0"/>
        <a:buChar char=""/>
        <a:defRPr sz="2100" kern="1200">
          <a:solidFill>
            <a:schemeClr val="tx1"/>
          </a:solidFill>
          <a:latin typeface="+mn-lt"/>
          <a:ea typeface="ＭＳ Ｐゴシック" charset="-128"/>
          <a:cs typeface="+mn-cs"/>
        </a:defRPr>
      </a:lvl2pPr>
      <a:lvl3pPr marL="914400" indent="-182563" algn="l" rtl="0" eaLnBrk="0" fontAlgn="base" hangingPunct="0">
        <a:spcBef>
          <a:spcPct val="20000"/>
        </a:spcBef>
        <a:spcAft>
          <a:spcPct val="0"/>
        </a:spcAft>
        <a:buClr>
          <a:srgbClr val="307F93"/>
        </a:buClr>
        <a:buSzPct val="60000"/>
        <a:buFont typeface="Wingdings" charset="0"/>
        <a:buChar char=""/>
        <a:defRPr sz="2400" kern="1200">
          <a:solidFill>
            <a:schemeClr val="tx1"/>
          </a:solidFill>
          <a:latin typeface="+mn-lt"/>
          <a:ea typeface="ＭＳ Ｐゴシック" charset="-128"/>
          <a:cs typeface="+mn-cs"/>
        </a:defRPr>
      </a:lvl3pPr>
      <a:lvl4pPr marL="1187450" indent="-182563" algn="l" rtl="0" eaLnBrk="0" fontAlgn="base" hangingPunct="0">
        <a:spcBef>
          <a:spcPct val="20000"/>
        </a:spcBef>
        <a:spcAft>
          <a:spcPct val="0"/>
        </a:spcAft>
        <a:buClr>
          <a:srgbClr val="AEC7D0"/>
        </a:buClr>
        <a:buSzPct val="60000"/>
        <a:buFont typeface="Wingdings" charset="0"/>
        <a:buChar char=""/>
        <a:defRPr sz="2000" kern="1200">
          <a:solidFill>
            <a:schemeClr val="tx1"/>
          </a:solidFill>
          <a:latin typeface="+mn-lt"/>
          <a:ea typeface="ＭＳ Ｐゴシック" charset="-128"/>
          <a:cs typeface="+mn-cs"/>
        </a:defRPr>
      </a:lvl4pPr>
      <a:lvl5pPr marL="1462088" indent="-182563" algn="l" rtl="0" eaLnBrk="0" fontAlgn="base" hangingPunct="0">
        <a:spcBef>
          <a:spcPct val="20000"/>
        </a:spcBef>
        <a:spcAft>
          <a:spcPct val="0"/>
        </a:spcAft>
        <a:buClr>
          <a:srgbClr val="FED8AA"/>
        </a:buClr>
        <a:buSzPct val="68000"/>
        <a:buFont typeface="Wingdings 2" charset="0"/>
        <a:buChar char=""/>
        <a:defRPr sz="1600" kern="1200">
          <a:solidFill>
            <a:schemeClr val="tx1"/>
          </a:solidFill>
          <a:latin typeface="+mn-lt"/>
          <a:ea typeface="ＭＳ Ｐゴシック" charset="-128"/>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7.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91.png"/><Relationship Id="rId3" Type="http://schemas.openxmlformats.org/officeDocument/2006/relationships/image" Target="../media/image20.png"/><Relationship Id="rId7" Type="http://schemas.openxmlformats.org/officeDocument/2006/relationships/image" Target="../media/image183.png"/><Relationship Id="rId12"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9.png"/><Relationship Id="rId11" Type="http://schemas.openxmlformats.org/officeDocument/2006/relationships/image" Target="../media/image22.png"/><Relationship Id="rId5" Type="http://schemas.openxmlformats.org/officeDocument/2006/relationships/image" Target="../media/image1611.png"/><Relationship Id="rId10" Type="http://schemas.openxmlformats.org/officeDocument/2006/relationships/image" Target="../media/image21.png"/><Relationship Id="rId4" Type="http://schemas.openxmlformats.org/officeDocument/2006/relationships/image" Target="../media/image1511.png"/><Relationship Id="rId9" Type="http://schemas.openxmlformats.org/officeDocument/2006/relationships/image" Target="../media/image201.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4.png"/><Relationship Id="rId7"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2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7.png"/><Relationship Id="rId9" Type="http://schemas.openxmlformats.org/officeDocument/2006/relationships/image" Target="../media/image50.png"/></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362.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52.png"/><Relationship Id="rId5" Type="http://schemas.openxmlformats.org/officeDocument/2006/relationships/image" Target="../media/image343.png"/><Relationship Id="rId4" Type="http://schemas.openxmlformats.org/officeDocument/2006/relationships/image" Target="../media/image52.png"/></Relationships>
</file>

<file path=ppt/slides/_rels/slide23.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12" Type="http://schemas.openxmlformats.org/officeDocument/2006/relationships/image" Target="../media/image84.png"/><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78.png"/><Relationship Id="rId11" Type="http://schemas.openxmlformats.org/officeDocument/2006/relationships/image" Target="../media/image83.png"/><Relationship Id="rId5" Type="http://schemas.openxmlformats.org/officeDocument/2006/relationships/image" Target="../media/image7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s>
</file>

<file path=ppt/slides/_rels/slide24.xml.rels><?xml version="1.0" encoding="UTF-8" standalone="yes"?>
<Relationships xmlns="http://schemas.openxmlformats.org/package/2006/relationships"><Relationship Id="rId13" Type="http://schemas.openxmlformats.org/officeDocument/2006/relationships/image" Target="../media/image107.png"/><Relationship Id="rId18" Type="http://schemas.openxmlformats.org/officeDocument/2006/relationships/image" Target="../media/image112.png"/><Relationship Id="rId3" Type="http://schemas.openxmlformats.org/officeDocument/2006/relationships/image" Target="../media/image97.png"/><Relationship Id="rId7" Type="http://schemas.openxmlformats.org/officeDocument/2006/relationships/image" Target="../media/image101.png"/><Relationship Id="rId12" Type="http://schemas.openxmlformats.org/officeDocument/2006/relationships/image" Target="../media/image106.png"/><Relationship Id="rId2" Type="http://schemas.openxmlformats.org/officeDocument/2006/relationships/image" Target="../media/image96.png"/><Relationship Id="rId1" Type="http://schemas.openxmlformats.org/officeDocument/2006/relationships/slideLayout" Target="../slideLayouts/slideLayout2.xml"/><Relationship Id="rId6" Type="http://schemas.openxmlformats.org/officeDocument/2006/relationships/image" Target="../media/image100.png"/><Relationship Id="rId11" Type="http://schemas.openxmlformats.org/officeDocument/2006/relationships/image" Target="../media/image105.png"/><Relationship Id="rId5" Type="http://schemas.openxmlformats.org/officeDocument/2006/relationships/image" Target="../media/image99.png"/><Relationship Id="rId15" Type="http://schemas.openxmlformats.org/officeDocument/2006/relationships/image" Target="../media/image109.png"/><Relationship Id="rId10" Type="http://schemas.openxmlformats.org/officeDocument/2006/relationships/image" Target="../media/image104.png"/><Relationship Id="rId19" Type="http://schemas.openxmlformats.org/officeDocument/2006/relationships/image" Target="../media/image102.png"/><Relationship Id="rId4" Type="http://schemas.openxmlformats.org/officeDocument/2006/relationships/image" Target="../media/image98.png"/><Relationship Id="rId14" Type="http://schemas.openxmlformats.org/officeDocument/2006/relationships/image" Target="../media/image108.png"/></Relationships>
</file>

<file path=ppt/slides/_rels/slide25.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25.png"/><Relationship Id="rId18" Type="http://schemas.openxmlformats.org/officeDocument/2006/relationships/image" Target="../media/image113.png"/><Relationship Id="rId3" Type="http://schemas.openxmlformats.org/officeDocument/2006/relationships/image" Target="../media/image110.png"/><Relationship Id="rId7" Type="http://schemas.openxmlformats.org/officeDocument/2006/relationships/image" Target="../media/image119.png"/><Relationship Id="rId12" Type="http://schemas.openxmlformats.org/officeDocument/2006/relationships/image" Target="../media/image124.png"/><Relationship Id="rId17" Type="http://schemas.openxmlformats.org/officeDocument/2006/relationships/image" Target="../media/image111.png"/><Relationship Id="rId2" Type="http://schemas.openxmlformats.org/officeDocument/2006/relationships/image" Target="../media/image103.png"/><Relationship Id="rId16" Type="http://schemas.openxmlformats.org/officeDocument/2006/relationships/image" Target="../media/image128.png"/><Relationship Id="rId1" Type="http://schemas.openxmlformats.org/officeDocument/2006/relationships/slideLayout" Target="../slideLayouts/slideLayout2.xml"/><Relationship Id="rId6" Type="http://schemas.openxmlformats.org/officeDocument/2006/relationships/image" Target="../media/image118.png"/><Relationship Id="rId11" Type="http://schemas.openxmlformats.org/officeDocument/2006/relationships/image" Target="../media/image123.png"/><Relationship Id="rId5" Type="http://schemas.openxmlformats.org/officeDocument/2006/relationships/image" Target="../media/image117.png"/><Relationship Id="rId15" Type="http://schemas.openxmlformats.org/officeDocument/2006/relationships/image" Target="../media/image127.png"/><Relationship Id="rId10" Type="http://schemas.openxmlformats.org/officeDocument/2006/relationships/image" Target="../media/image122.png"/><Relationship Id="rId4" Type="http://schemas.openxmlformats.org/officeDocument/2006/relationships/image" Target="../media/image116.png"/><Relationship Id="rId9" Type="http://schemas.openxmlformats.org/officeDocument/2006/relationships/image" Target="../media/image121.png"/><Relationship Id="rId14" Type="http://schemas.openxmlformats.org/officeDocument/2006/relationships/image" Target="../media/image126.png"/></Relationships>
</file>

<file path=ppt/slides/_rels/slide26.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53.png"/><Relationship Id="rId7" Type="http://schemas.openxmlformats.org/officeDocument/2006/relationships/image" Target="../media/image141.png"/><Relationship Id="rId2" Type="http://schemas.openxmlformats.org/officeDocument/2006/relationships/image" Target="../media/image114.png"/><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 Id="rId9" Type="http://schemas.openxmlformats.org/officeDocument/2006/relationships/image" Target="../media/image143.png"/></Relationships>
</file>

<file path=ppt/slides/_rels/slide2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9.png"/><Relationship Id="rId7" Type="http://schemas.openxmlformats.org/officeDocument/2006/relationships/image" Target="../media/image153.png"/><Relationship Id="rId12" Type="http://schemas.openxmlformats.org/officeDocument/2006/relationships/image" Target="../media/image158.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152.png"/><Relationship Id="rId11" Type="http://schemas.openxmlformats.org/officeDocument/2006/relationships/image" Target="../media/image157.png"/><Relationship Id="rId5" Type="http://schemas.openxmlformats.org/officeDocument/2006/relationships/image" Target="../media/image151.png"/><Relationship Id="rId4" Type="http://schemas.openxmlformats.org/officeDocument/2006/relationships/image" Target="../media/image60.png"/></Relationships>
</file>

<file path=ppt/slides/_rels/slide32.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167.png"/><Relationship Id="rId3" Type="http://schemas.openxmlformats.org/officeDocument/2006/relationships/image" Target="../media/image62.png"/><Relationship Id="rId7" Type="http://schemas.openxmlformats.org/officeDocument/2006/relationships/image" Target="../media/image161.png"/><Relationship Id="rId12" Type="http://schemas.openxmlformats.org/officeDocument/2006/relationships/image" Target="../media/image166.png"/><Relationship Id="rId2" Type="http://schemas.openxmlformats.org/officeDocument/2006/relationships/image" Target="../media/image1582.png"/><Relationship Id="rId1" Type="http://schemas.openxmlformats.org/officeDocument/2006/relationships/slideLayout" Target="../slideLayouts/slideLayout2.xml"/><Relationship Id="rId6" Type="http://schemas.openxmlformats.org/officeDocument/2006/relationships/image" Target="../media/image152.png"/><Relationship Id="rId11" Type="http://schemas.openxmlformats.org/officeDocument/2006/relationships/image" Target="../media/image165.png"/><Relationship Id="rId5" Type="http://schemas.openxmlformats.org/officeDocument/2006/relationships/image" Target="../media/image151.png"/><Relationship Id="rId4" Type="http://schemas.openxmlformats.org/officeDocument/2006/relationships/image" Target="../media/image63.png"/></Relationships>
</file>

<file path=ppt/slides/_rels/slide33.xml.rels><?xml version="1.0" encoding="UTF-8" standalone="yes"?>
<Relationships xmlns="http://schemas.openxmlformats.org/package/2006/relationships"><Relationship Id="rId8" Type="http://schemas.openxmlformats.org/officeDocument/2006/relationships/image" Target="../media/image1622.png"/><Relationship Id="rId3" Type="http://schemas.openxmlformats.org/officeDocument/2006/relationships/image" Target="../media/image1592.png"/><Relationship Id="rId7" Type="http://schemas.openxmlformats.org/officeDocument/2006/relationships/image" Target="../media/image100.png"/><Relationship Id="rId12" Type="http://schemas.openxmlformats.org/officeDocument/2006/relationships/image" Target="../media/image1661.png"/><Relationship Id="rId2" Type="http://schemas.openxmlformats.org/officeDocument/2006/relationships/image" Target="../media/image630.png"/><Relationship Id="rId1" Type="http://schemas.openxmlformats.org/officeDocument/2006/relationships/slideLayout" Target="../slideLayouts/slideLayout2.xml"/><Relationship Id="rId6" Type="http://schemas.openxmlformats.org/officeDocument/2006/relationships/image" Target="../media/image1613.png"/><Relationship Id="rId5" Type="http://schemas.openxmlformats.org/officeDocument/2006/relationships/image" Target="../media/image1130.png"/><Relationship Id="rId10" Type="http://schemas.openxmlformats.org/officeDocument/2006/relationships/image" Target="../media/image1641.png"/><Relationship Id="rId4" Type="http://schemas.openxmlformats.org/officeDocument/2006/relationships/image" Target="../media/image65.png"/><Relationship Id="rId9" Type="http://schemas.openxmlformats.org/officeDocument/2006/relationships/image" Target="../media/image66.png"/></Relationships>
</file>

<file path=ppt/slides/_rels/slide34.xml.rels><?xml version="1.0" encoding="UTF-8" standalone="yes"?>
<Relationships xmlns="http://schemas.openxmlformats.org/package/2006/relationships"><Relationship Id="rId18" Type="http://schemas.openxmlformats.org/officeDocument/2006/relationships/image" Target="../media/image72.png"/><Relationship Id="rId3" Type="http://schemas.openxmlformats.org/officeDocument/2006/relationships/image" Target="../media/image650.png"/><Relationship Id="rId7" Type="http://schemas.openxmlformats.org/officeDocument/2006/relationships/image" Target="../media/image68.png"/><Relationship Id="rId12" Type="http://schemas.openxmlformats.org/officeDocument/2006/relationships/image" Target="../media/image70.png"/><Relationship Id="rId17" Type="http://schemas.openxmlformats.org/officeDocument/2006/relationships/image" Target="../media/image71.png"/><Relationship Id="rId2" Type="http://schemas.openxmlformats.org/officeDocument/2006/relationships/notesSlide" Target="../notesSlides/notesSlide23.xml"/><Relationship Id="rId16" Type="http://schemas.openxmlformats.org/officeDocument/2006/relationships/image" Target="../media/image700.png"/><Relationship Id="rId1" Type="http://schemas.openxmlformats.org/officeDocument/2006/relationships/slideLayout" Target="../slideLayouts/slideLayout2.xml"/><Relationship Id="rId6" Type="http://schemas.openxmlformats.org/officeDocument/2006/relationships/image" Target="../media/image67.png"/><Relationship Id="rId11" Type="http://schemas.openxmlformats.org/officeDocument/2006/relationships/image" Target="../media/image69.png"/><Relationship Id="rId5" Type="http://schemas.openxmlformats.org/officeDocument/2006/relationships/image" Target="../media/image169.png"/><Relationship Id="rId15" Type="http://schemas.openxmlformats.org/officeDocument/2006/relationships/image" Target="../media/image690.png"/><Relationship Id="rId10" Type="http://schemas.openxmlformats.org/officeDocument/2006/relationships/image" Target="../media/image680.png"/><Relationship Id="rId4" Type="http://schemas.openxmlformats.org/officeDocument/2006/relationships/image" Target="../media/image168.png"/></Relationships>
</file>

<file path=ppt/slides/_rels/slide35.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88.png"/><Relationship Id="rId2" Type="http://schemas.openxmlformats.org/officeDocument/2006/relationships/image" Target="../media/image721.png"/><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3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37.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7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60.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01.png"/><Relationship Id="rId5" Type="http://schemas.openxmlformats.org/officeDocument/2006/relationships/image" Target="../media/image392.png"/><Relationship Id="rId4" Type="http://schemas.openxmlformats.org/officeDocument/2006/relationships/image" Target="../media/image382.png"/></Relationships>
</file>

<file path=ppt/slides/_rels/slide46.xml.rels><?xml version="1.0" encoding="UTF-8" standalone="yes"?>
<Relationships xmlns="http://schemas.openxmlformats.org/package/2006/relationships"><Relationship Id="rId8" Type="http://schemas.openxmlformats.org/officeDocument/2006/relationships/image" Target="../media/image392.png"/><Relationship Id="rId3" Type="http://schemas.openxmlformats.org/officeDocument/2006/relationships/image" Target="../media/image412.png"/><Relationship Id="rId7" Type="http://schemas.openxmlformats.org/officeDocument/2006/relationships/image" Target="../media/image45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41.png"/><Relationship Id="rId5" Type="http://schemas.openxmlformats.org/officeDocument/2006/relationships/image" Target="../media/image431.png"/><Relationship Id="rId4" Type="http://schemas.openxmlformats.org/officeDocument/2006/relationships/image" Target="../media/image421.png"/><Relationship Id="rId9" Type="http://schemas.openxmlformats.org/officeDocument/2006/relationships/image" Target="../media/image461.png"/></Relationships>
</file>

<file path=ppt/slides/_rels/slide47.xml.rels><?xml version="1.0" encoding="UTF-8" standalone="yes"?>
<Relationships xmlns="http://schemas.openxmlformats.org/package/2006/relationships"><Relationship Id="rId3" Type="http://schemas.openxmlformats.org/officeDocument/2006/relationships/image" Target="../media/image741.png"/><Relationship Id="rId7" Type="http://schemas.openxmlformats.org/officeDocument/2006/relationships/image" Target="../media/image3620.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520.png"/><Relationship Id="rId5" Type="http://schemas.openxmlformats.org/officeDocument/2006/relationships/image" Target="../media/image3430.png"/><Relationship Id="rId4" Type="http://schemas.openxmlformats.org/officeDocument/2006/relationships/image" Target="../media/image52.png"/></Relationships>
</file>

<file path=ppt/slides/_rels/slide48.xml.rels><?xml version="1.0" encoding="UTF-8" standalone="yes"?>
<Relationships xmlns="http://schemas.openxmlformats.org/package/2006/relationships"><Relationship Id="rId3" Type="http://schemas.openxmlformats.org/officeDocument/2006/relationships/image" Target="../media/image74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371.png"/><Relationship Id="rId13" Type="http://schemas.openxmlformats.org/officeDocument/2006/relationships/oleObject" Target="../embeddings/oleObject1.bin"/><Relationship Id="rId18" Type="http://schemas.openxmlformats.org/officeDocument/2006/relationships/oleObject" Target="../embeddings/oleObject210.bin"/><Relationship Id="rId26" Type="http://schemas.openxmlformats.org/officeDocument/2006/relationships/image" Target="../media/image74.wmf"/><Relationship Id="rId21" Type="http://schemas.openxmlformats.org/officeDocument/2006/relationships/oleObject" Target="../embeddings/oleObject310.bin"/><Relationship Id="rId7" Type="http://schemas.openxmlformats.org/officeDocument/2006/relationships/image" Target="../media/image361.png"/><Relationship Id="rId12" Type="http://schemas.openxmlformats.org/officeDocument/2006/relationships/image" Target="../media/image411.png"/><Relationship Id="rId17" Type="http://schemas.openxmlformats.org/officeDocument/2006/relationships/oleObject" Target="../embeddings/oleObject2.bin"/><Relationship Id="rId25" Type="http://schemas.openxmlformats.org/officeDocument/2006/relationships/oleObject" Target="../embeddings/oleObject410.bin"/><Relationship Id="rId33" Type="http://schemas.openxmlformats.org/officeDocument/2006/relationships/oleObject" Target="../embeddings/oleObject710.bin"/><Relationship Id="rId2" Type="http://schemas.openxmlformats.org/officeDocument/2006/relationships/notesSlide" Target="../notesSlides/notesSlide30.xml"/><Relationship Id="rId16" Type="http://schemas.openxmlformats.org/officeDocument/2006/relationships/image" Target="../media/image73.wmf"/><Relationship Id="rId29" Type="http://schemas.openxmlformats.org/officeDocument/2006/relationships/image" Target="../media/image74.wmf"/><Relationship Id="rId1" Type="http://schemas.openxmlformats.org/officeDocument/2006/relationships/slideLayout" Target="../slideLayouts/slideLayout2.xml"/><Relationship Id="rId6" Type="http://schemas.openxmlformats.org/officeDocument/2006/relationships/image" Target="../media/image351.png"/><Relationship Id="rId11" Type="http://schemas.openxmlformats.org/officeDocument/2006/relationships/image" Target="../media/image400.png"/><Relationship Id="rId32" Type="http://schemas.openxmlformats.org/officeDocument/2006/relationships/oleObject" Target="../embeddings/oleObject7.bin"/><Relationship Id="rId5" Type="http://schemas.openxmlformats.org/officeDocument/2006/relationships/image" Target="../media/image342.png"/><Relationship Id="rId15" Type="http://schemas.openxmlformats.org/officeDocument/2006/relationships/oleObject" Target="../embeddings/oleObject111.bin"/><Relationship Id="rId23" Type="http://schemas.openxmlformats.org/officeDocument/2006/relationships/oleObject" Target="../embeddings/oleObject4.bin"/><Relationship Id="rId28" Type="http://schemas.openxmlformats.org/officeDocument/2006/relationships/oleObject" Target="../embeddings/oleObject510.bin"/><Relationship Id="rId10" Type="http://schemas.openxmlformats.org/officeDocument/2006/relationships/image" Target="../media/image391.png"/><Relationship Id="rId19" Type="http://schemas.openxmlformats.org/officeDocument/2006/relationships/oleObject" Target="../embeddings/oleObject3.bin"/><Relationship Id="rId31" Type="http://schemas.openxmlformats.org/officeDocument/2006/relationships/oleObject" Target="../embeddings/oleObject610.bin"/><Relationship Id="rId4" Type="http://schemas.openxmlformats.org/officeDocument/2006/relationships/image" Target="../media/image791.png"/><Relationship Id="rId9" Type="http://schemas.openxmlformats.org/officeDocument/2006/relationships/image" Target="../media/image381.png"/><Relationship Id="rId14" Type="http://schemas.openxmlformats.org/officeDocument/2006/relationships/image" Target="../media/image73.wmf"/><Relationship Id="rId22" Type="http://schemas.openxmlformats.org/officeDocument/2006/relationships/image" Target="../media/image75.wmf"/><Relationship Id="rId27" Type="http://schemas.openxmlformats.org/officeDocument/2006/relationships/oleObject" Target="../embeddings/oleObject5.bin"/><Relationship Id="rId30" Type="http://schemas.openxmlformats.org/officeDocument/2006/relationships/oleObject" Target="../embeddings/oleObject6.bin"/></Relationships>
</file>

<file path=ppt/slides/_rels/slide50.xml.rels><?xml version="1.0" encoding="UTF-8" standalone="yes"?>
<Relationships xmlns="http://schemas.openxmlformats.org/package/2006/relationships"><Relationship Id="rId3" Type="http://schemas.openxmlformats.org/officeDocument/2006/relationships/image" Target="../media/image26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7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7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830.png"/><Relationship Id="rId7" Type="http://schemas.openxmlformats.org/officeDocument/2006/relationships/image" Target="../media/image810.png"/><Relationship Id="rId12" Type="http://schemas.openxmlformats.org/officeDocument/2006/relationships/image" Target="../media/image820.png"/><Relationship Id="rId2" Type="http://schemas.openxmlformats.org/officeDocument/2006/relationships/notesSlide" Target="../notesSlides/notesSlide35.xml"/><Relationship Id="rId16" Type="http://schemas.openxmlformats.org/officeDocument/2006/relationships/image" Target="../media/image860.png"/><Relationship Id="rId1" Type="http://schemas.openxmlformats.org/officeDocument/2006/relationships/slideLayout" Target="../slideLayouts/slideLayout2.xml"/><Relationship Id="rId6" Type="http://schemas.openxmlformats.org/officeDocument/2006/relationships/image" Target="../media/image800.png"/><Relationship Id="rId11" Type="http://schemas.openxmlformats.org/officeDocument/2006/relationships/image" Target="../media/image74.wmf"/><Relationship Id="rId5" Type="http://schemas.openxmlformats.org/officeDocument/2006/relationships/image" Target="../media/image790.png"/><Relationship Id="rId15" Type="http://schemas.openxmlformats.org/officeDocument/2006/relationships/image" Target="../media/image850.png"/><Relationship Id="rId10" Type="http://schemas.openxmlformats.org/officeDocument/2006/relationships/oleObject" Target="../embeddings/oleObject9.bin"/><Relationship Id="rId4" Type="http://schemas.openxmlformats.org/officeDocument/2006/relationships/image" Target="../media/image780.png"/><Relationship Id="rId9" Type="http://schemas.openxmlformats.org/officeDocument/2006/relationships/image" Target="../media/image73.wmf"/><Relationship Id="rId14" Type="http://schemas.openxmlformats.org/officeDocument/2006/relationships/image" Target="../media/image840.png"/></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880.png"/><Relationship Id="rId7" Type="http://schemas.openxmlformats.org/officeDocument/2006/relationships/image" Target="../media/image810.png"/><Relationship Id="rId12" Type="http://schemas.openxmlformats.org/officeDocument/2006/relationships/image" Target="../media/image820.png"/><Relationship Id="rId2" Type="http://schemas.openxmlformats.org/officeDocument/2006/relationships/notesSlide" Target="../notesSlides/notesSlide36.xml"/><Relationship Id="rId16" Type="http://schemas.openxmlformats.org/officeDocument/2006/relationships/image" Target="../media/image900.png"/><Relationship Id="rId1" Type="http://schemas.openxmlformats.org/officeDocument/2006/relationships/slideLayout" Target="../slideLayouts/slideLayout2.xml"/><Relationship Id="rId6" Type="http://schemas.openxmlformats.org/officeDocument/2006/relationships/image" Target="../media/image800.png"/><Relationship Id="rId11" Type="http://schemas.openxmlformats.org/officeDocument/2006/relationships/image" Target="../media/image74.wmf"/><Relationship Id="rId5" Type="http://schemas.openxmlformats.org/officeDocument/2006/relationships/image" Target="../media/image790.png"/><Relationship Id="rId15" Type="http://schemas.openxmlformats.org/officeDocument/2006/relationships/image" Target="../media/image860.png"/><Relationship Id="rId10" Type="http://schemas.openxmlformats.org/officeDocument/2006/relationships/oleObject" Target="../embeddings/oleObject11.bin"/><Relationship Id="rId4" Type="http://schemas.openxmlformats.org/officeDocument/2006/relationships/image" Target="../media/image870.png"/><Relationship Id="rId9" Type="http://schemas.openxmlformats.org/officeDocument/2006/relationships/image" Target="../media/image73.wmf"/><Relationship Id="rId14" Type="http://schemas.openxmlformats.org/officeDocument/2006/relationships/image" Target="../media/image890.png"/></Relationships>
</file>

<file path=ppt/slides/_rels/slide56.xml.rels><?xml version="1.0" encoding="UTF-8" standalone="yes"?>
<Relationships xmlns="http://schemas.openxmlformats.org/package/2006/relationships"><Relationship Id="rId8" Type="http://schemas.openxmlformats.org/officeDocument/2006/relationships/image" Target="../media/image940.png"/><Relationship Id="rId13" Type="http://schemas.openxmlformats.org/officeDocument/2006/relationships/oleObject" Target="../embeddings/oleObject12.bin"/><Relationship Id="rId18" Type="http://schemas.openxmlformats.org/officeDocument/2006/relationships/oleObject" Target="../embeddings/oleObject15.bin"/><Relationship Id="rId26" Type="http://schemas.openxmlformats.org/officeDocument/2006/relationships/image" Target="../media/image1020.png"/><Relationship Id="rId21" Type="http://schemas.openxmlformats.org/officeDocument/2006/relationships/oleObject" Target="../embeddings/oleObject17.bin"/><Relationship Id="rId7" Type="http://schemas.openxmlformats.org/officeDocument/2006/relationships/image" Target="../media/image930.png"/><Relationship Id="rId12" Type="http://schemas.openxmlformats.org/officeDocument/2006/relationships/image" Target="../media/image980.png"/><Relationship Id="rId17" Type="http://schemas.openxmlformats.org/officeDocument/2006/relationships/image" Target="../media/image75.wmf"/><Relationship Id="rId25" Type="http://schemas.openxmlformats.org/officeDocument/2006/relationships/image" Target="../media/image1010.png"/><Relationship Id="rId2" Type="http://schemas.openxmlformats.org/officeDocument/2006/relationships/notesSlide" Target="../notesSlides/notesSlide37.xml"/><Relationship Id="rId16" Type="http://schemas.openxmlformats.org/officeDocument/2006/relationships/oleObject" Target="../embeddings/oleObject14.bin"/><Relationship Id="rId20" Type="http://schemas.openxmlformats.org/officeDocument/2006/relationships/oleObject" Target="../embeddings/oleObject16.bin"/><Relationship Id="rId1" Type="http://schemas.openxmlformats.org/officeDocument/2006/relationships/slideLayout" Target="../slideLayouts/slideLayout2.xml"/><Relationship Id="rId6" Type="http://schemas.openxmlformats.org/officeDocument/2006/relationships/image" Target="../media/image800.png"/><Relationship Id="rId11" Type="http://schemas.openxmlformats.org/officeDocument/2006/relationships/image" Target="../media/image970.png"/><Relationship Id="rId24" Type="http://schemas.openxmlformats.org/officeDocument/2006/relationships/image" Target="../media/image1000.png"/><Relationship Id="rId5" Type="http://schemas.openxmlformats.org/officeDocument/2006/relationships/image" Target="../media/image920.png"/><Relationship Id="rId15" Type="http://schemas.openxmlformats.org/officeDocument/2006/relationships/oleObject" Target="../embeddings/oleObject13.bin"/><Relationship Id="rId23" Type="http://schemas.openxmlformats.org/officeDocument/2006/relationships/image" Target="../media/image990.png"/><Relationship Id="rId10" Type="http://schemas.openxmlformats.org/officeDocument/2006/relationships/image" Target="../media/image960.png"/><Relationship Id="rId19" Type="http://schemas.openxmlformats.org/officeDocument/2006/relationships/image" Target="../media/image74.wmf"/><Relationship Id="rId4" Type="http://schemas.openxmlformats.org/officeDocument/2006/relationships/image" Target="../media/image910.png"/><Relationship Id="rId9" Type="http://schemas.openxmlformats.org/officeDocument/2006/relationships/image" Target="../media/image950.png"/><Relationship Id="rId14" Type="http://schemas.openxmlformats.org/officeDocument/2006/relationships/image" Target="../media/image73.wmf"/><Relationship Id="rId22" Type="http://schemas.openxmlformats.org/officeDocument/2006/relationships/oleObject" Target="../embeddings/oleObject18.bin"/></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31.png"/></Relationships>
</file>

<file path=ppt/slides/_rels/slide60.xml.rels><?xml version="1.0" encoding="UTF-8" standalone="yes"?>
<Relationships xmlns="http://schemas.openxmlformats.org/package/2006/relationships"><Relationship Id="rId8" Type="http://schemas.openxmlformats.org/officeDocument/2006/relationships/image" Target="../media/image1252.png"/><Relationship Id="rId3" Type="http://schemas.openxmlformats.org/officeDocument/2006/relationships/image" Target="../media/image132.png"/><Relationship Id="rId7" Type="http://schemas.openxmlformats.org/officeDocument/2006/relationships/image" Target="../media/image1242.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1232.png"/><Relationship Id="rId11" Type="http://schemas.openxmlformats.org/officeDocument/2006/relationships/image" Target="../media/image130.png"/><Relationship Id="rId5" Type="http://schemas.openxmlformats.org/officeDocument/2006/relationships/image" Target="../media/image1221.png"/><Relationship Id="rId10" Type="http://schemas.openxmlformats.org/officeDocument/2006/relationships/image" Target="../media/image1272.png"/><Relationship Id="rId4" Type="http://schemas.openxmlformats.org/officeDocument/2006/relationships/image" Target="../media/image1211.png"/><Relationship Id="rId9" Type="http://schemas.openxmlformats.org/officeDocument/2006/relationships/image" Target="../media/image1262.png"/></Relationships>
</file>

<file path=ppt/slides/_rels/slide61.xml.rels><?xml version="1.0" encoding="UTF-8" standalone="yes"?>
<Relationships xmlns="http://schemas.openxmlformats.org/package/2006/relationships"><Relationship Id="rId3" Type="http://schemas.openxmlformats.org/officeDocument/2006/relationships/image" Target="../media/image120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image" Target="../media/image1660.png"/><Relationship Id="rId13" Type="http://schemas.openxmlformats.org/officeDocument/2006/relationships/image" Target="../media/image220.png"/><Relationship Id="rId7" Type="http://schemas.openxmlformats.org/officeDocument/2006/relationships/image" Target="../media/image131.png"/><Relationship Id="rId12" Type="http://schemas.openxmlformats.org/officeDocument/2006/relationships/image" Target="../media/image210.png"/><Relationship Id="rId2" Type="http://schemas.openxmlformats.org/officeDocument/2006/relationships/notesSlide" Target="../notesSlides/notesSlide43.xml"/><Relationship Id="rId16" Type="http://schemas.openxmlformats.org/officeDocument/2006/relationships/image" Target="../media/image250.png"/><Relationship Id="rId1" Type="http://schemas.openxmlformats.org/officeDocument/2006/relationships/slideLayout" Target="../slideLayouts/slideLayout2.xml"/><Relationship Id="rId6" Type="http://schemas.openxmlformats.org/officeDocument/2006/relationships/image" Target="../media/image73.wmf"/><Relationship Id="rId11" Type="http://schemas.openxmlformats.org/officeDocument/2006/relationships/image" Target="../media/image200.png"/><Relationship Id="rId5" Type="http://schemas.openxmlformats.org/officeDocument/2006/relationships/oleObject" Target="../embeddings/oleObject19.bin"/><Relationship Id="rId15" Type="http://schemas.openxmlformats.org/officeDocument/2006/relationships/image" Target="../media/image240.png"/><Relationship Id="rId10" Type="http://schemas.openxmlformats.org/officeDocument/2006/relationships/image" Target="../media/image190.png"/><Relationship Id="rId4" Type="http://schemas.openxmlformats.org/officeDocument/2006/relationships/image" Target="../media/image620.png"/><Relationship Id="rId9" Type="http://schemas.openxmlformats.org/officeDocument/2006/relationships/image" Target="../media/image1800.png"/><Relationship Id="rId14" Type="http://schemas.openxmlformats.org/officeDocument/2006/relationships/image" Target="../media/image230.png"/></Relationships>
</file>

<file path=ppt/slides/_rels/slide63.xml.rels><?xml version="1.0" encoding="UTF-8" standalone="yes"?>
<Relationships xmlns="http://schemas.openxmlformats.org/package/2006/relationships"><Relationship Id="rId8" Type="http://schemas.openxmlformats.org/officeDocument/2006/relationships/image" Target="../media/image290.png"/><Relationship Id="rId3" Type="http://schemas.openxmlformats.org/officeDocument/2006/relationships/image" Target="../media/image1282.png"/><Relationship Id="rId7" Type="http://schemas.openxmlformats.org/officeDocument/2006/relationships/image" Target="../media/image280.png"/><Relationship Id="rId12" Type="http://schemas.openxmlformats.org/officeDocument/2006/relationships/image" Target="../media/image331.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270.png"/><Relationship Id="rId11" Type="http://schemas.openxmlformats.org/officeDocument/2006/relationships/image" Target="../media/image320.png"/><Relationship Id="rId5" Type="http://schemas.openxmlformats.org/officeDocument/2006/relationships/image" Target="../media/image261.png"/><Relationship Id="rId10" Type="http://schemas.openxmlformats.org/officeDocument/2006/relationships/image" Target="../media/image1302.png"/><Relationship Id="rId4" Type="http://schemas.openxmlformats.org/officeDocument/2006/relationships/image" Target="../media/image1710.png"/><Relationship Id="rId9" Type="http://schemas.openxmlformats.org/officeDocument/2006/relationships/image" Target="../media/image1292.png"/></Relationships>
</file>

<file path=ppt/slides/_rels/slide64.xml.rels><?xml version="1.0" encoding="UTF-8" standalone="yes"?>
<Relationships xmlns="http://schemas.openxmlformats.org/package/2006/relationships"><Relationship Id="rId8" Type="http://schemas.openxmlformats.org/officeDocument/2006/relationships/image" Target="../media/image330.png"/><Relationship Id="rId13" Type="http://schemas.openxmlformats.org/officeDocument/2006/relationships/image" Target="../media/image380.png"/><Relationship Id="rId7" Type="http://schemas.openxmlformats.org/officeDocument/2006/relationships/image" Target="../media/image1700.png"/><Relationship Id="rId12" Type="http://schemas.openxmlformats.org/officeDocument/2006/relationships/image" Target="../media/image370.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73.wmf"/><Relationship Id="rId11" Type="http://schemas.openxmlformats.org/officeDocument/2006/relationships/image" Target="../media/image360.png"/><Relationship Id="rId5" Type="http://schemas.openxmlformats.org/officeDocument/2006/relationships/oleObject" Target="../embeddings/oleObject20.bin"/><Relationship Id="rId15" Type="http://schemas.openxmlformats.org/officeDocument/2006/relationships/oleObject" Target="../embeddings/oleObject21.bin"/><Relationship Id="rId10" Type="http://schemas.openxmlformats.org/officeDocument/2006/relationships/image" Target="../media/image350.png"/><Relationship Id="rId4" Type="http://schemas.openxmlformats.org/officeDocument/2006/relationships/image" Target="../media/image260.png"/><Relationship Id="rId9" Type="http://schemas.openxmlformats.org/officeDocument/2006/relationships/image" Target="../media/image340.png"/><Relationship Id="rId14" Type="http://schemas.openxmlformats.org/officeDocument/2006/relationships/image" Target="../media/image390.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image" Target="../media/image1261.png"/><Relationship Id="rId13" Type="http://schemas.openxmlformats.org/officeDocument/2006/relationships/image" Target="../media/image1281.png"/><Relationship Id="rId7" Type="http://schemas.openxmlformats.org/officeDocument/2006/relationships/image" Target="../media/image1251.png"/><Relationship Id="rId12" Type="http://schemas.openxmlformats.org/officeDocument/2006/relationships/oleObject" Target="../embeddings/oleObject24.bin"/><Relationship Id="rId17" Type="http://schemas.openxmlformats.org/officeDocument/2006/relationships/image" Target="../media/image1320.png"/><Relationship Id="rId2" Type="http://schemas.openxmlformats.org/officeDocument/2006/relationships/notesSlide" Target="../notesSlides/notesSlide48.xml"/><Relationship Id="rId16" Type="http://schemas.openxmlformats.org/officeDocument/2006/relationships/image" Target="../media/image1311.png"/><Relationship Id="rId1" Type="http://schemas.openxmlformats.org/officeDocument/2006/relationships/slideLayout" Target="../slideLayouts/slideLayout2.xml"/><Relationship Id="rId6" Type="http://schemas.openxmlformats.org/officeDocument/2006/relationships/image" Target="../media/image73.wmf"/><Relationship Id="rId11" Type="http://schemas.openxmlformats.org/officeDocument/2006/relationships/image" Target="../media/image133.wmf"/><Relationship Id="rId5" Type="http://schemas.openxmlformats.org/officeDocument/2006/relationships/oleObject" Target="../embeddings/oleObject22.bin"/><Relationship Id="rId15" Type="http://schemas.openxmlformats.org/officeDocument/2006/relationships/image" Target="../media/image1301.png"/><Relationship Id="rId10" Type="http://schemas.openxmlformats.org/officeDocument/2006/relationships/oleObject" Target="../embeddings/oleObject23.bin"/><Relationship Id="rId4" Type="http://schemas.openxmlformats.org/officeDocument/2006/relationships/image" Target="../media/image1241.png"/><Relationship Id="rId9" Type="http://schemas.openxmlformats.org/officeDocument/2006/relationships/image" Target="../media/image1271.png"/><Relationship Id="rId14" Type="http://schemas.openxmlformats.org/officeDocument/2006/relationships/image" Target="../media/image1291.png"/></Relationships>
</file>

<file path=ppt/slides/_rels/slide68.xml.rels><?xml version="1.0" encoding="UTF-8" standalone="yes"?>
<Relationships xmlns="http://schemas.openxmlformats.org/package/2006/relationships"><Relationship Id="rId8" Type="http://schemas.openxmlformats.org/officeDocument/2006/relationships/image" Target="../media/image540.png"/><Relationship Id="rId3" Type="http://schemas.openxmlformats.org/officeDocument/2006/relationships/image" Target="../media/image1331.png"/><Relationship Id="rId7" Type="http://schemas.openxmlformats.org/officeDocument/2006/relationships/image" Target="../media/image530.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520.png"/><Relationship Id="rId5" Type="http://schemas.openxmlformats.org/officeDocument/2006/relationships/image" Target="../media/image511.png"/><Relationship Id="rId4" Type="http://schemas.openxmlformats.org/officeDocument/2006/relationships/image" Target="../media/image134.png"/></Relationships>
</file>

<file path=ppt/slides/_rels/slide69.xml.rels><?xml version="1.0" encoding="UTF-8" standalone="yes"?>
<Relationships xmlns="http://schemas.openxmlformats.org/package/2006/relationships"><Relationship Id="rId8" Type="http://schemas.openxmlformats.org/officeDocument/2006/relationships/image" Target="../media/image1371.png"/><Relationship Id="rId13" Type="http://schemas.openxmlformats.org/officeDocument/2006/relationships/image" Target="../media/image133.wmf"/><Relationship Id="rId18" Type="http://schemas.openxmlformats.org/officeDocument/2006/relationships/image" Target="../media/image1441.png"/><Relationship Id="rId21" Type="http://schemas.openxmlformats.org/officeDocument/2006/relationships/oleObject" Target="../embeddings/oleObject29.bin"/><Relationship Id="rId7" Type="http://schemas.openxmlformats.org/officeDocument/2006/relationships/image" Target="../media/image73.wmf"/><Relationship Id="rId12" Type="http://schemas.openxmlformats.org/officeDocument/2006/relationships/oleObject" Target="../embeddings/oleObject26.bin"/><Relationship Id="rId17" Type="http://schemas.openxmlformats.org/officeDocument/2006/relationships/image" Target="../media/image1431.png"/><Relationship Id="rId2" Type="http://schemas.openxmlformats.org/officeDocument/2006/relationships/notesSlide" Target="../notesSlides/notesSlide50.xml"/><Relationship Id="rId16" Type="http://schemas.openxmlformats.org/officeDocument/2006/relationships/image" Target="../media/image1421.png"/><Relationship Id="rId20" Type="http://schemas.openxmlformats.org/officeDocument/2006/relationships/oleObject" Target="../embeddings/oleObject28.bin"/><Relationship Id="rId1" Type="http://schemas.openxmlformats.org/officeDocument/2006/relationships/slideLayout" Target="../slideLayouts/slideLayout2.xml"/><Relationship Id="rId6" Type="http://schemas.openxmlformats.org/officeDocument/2006/relationships/oleObject" Target="../embeddings/oleObject25.bin"/><Relationship Id="rId11" Type="http://schemas.openxmlformats.org/officeDocument/2006/relationships/image" Target="../media/image1401.png"/><Relationship Id="rId5" Type="http://schemas.openxmlformats.org/officeDocument/2006/relationships/image" Target="../media/image1361.png"/><Relationship Id="rId15" Type="http://schemas.openxmlformats.org/officeDocument/2006/relationships/image" Target="../media/image1412.png"/><Relationship Id="rId23" Type="http://schemas.openxmlformats.org/officeDocument/2006/relationships/oleObject" Target="../embeddings/oleObject31.bin"/><Relationship Id="rId10" Type="http://schemas.openxmlformats.org/officeDocument/2006/relationships/image" Target="../media/image1391.png"/><Relationship Id="rId19" Type="http://schemas.openxmlformats.org/officeDocument/2006/relationships/image" Target="../media/image1451.png"/><Relationship Id="rId4" Type="http://schemas.openxmlformats.org/officeDocument/2006/relationships/image" Target="../media/image1351.png"/><Relationship Id="rId9" Type="http://schemas.openxmlformats.org/officeDocument/2006/relationships/image" Target="../media/image1381.png"/><Relationship Id="rId14" Type="http://schemas.openxmlformats.org/officeDocument/2006/relationships/oleObject" Target="../embeddings/oleObject27.bin"/><Relationship Id="rId22" Type="http://schemas.openxmlformats.org/officeDocument/2006/relationships/oleObject" Target="../embeddings/oleObject30.bin"/></Relationships>
</file>

<file path=ppt/slides/_rels/slide70.xml.rels><?xml version="1.0" encoding="UTF-8" standalone="yes"?>
<Relationships xmlns="http://schemas.openxmlformats.org/package/2006/relationships"><Relationship Id="rId3" Type="http://schemas.openxmlformats.org/officeDocument/2006/relationships/image" Target="../media/image146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47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48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49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image" Target="../media/image871.png"/><Relationship Id="rId13" Type="http://schemas.openxmlformats.org/officeDocument/2006/relationships/oleObject" Target="../embeddings/oleObject33.bin"/><Relationship Id="rId18" Type="http://schemas.openxmlformats.org/officeDocument/2006/relationships/image" Target="../media/image1512.png"/><Relationship Id="rId7" Type="http://schemas.openxmlformats.org/officeDocument/2006/relationships/image" Target="../media/image73.wmf"/><Relationship Id="rId12" Type="http://schemas.openxmlformats.org/officeDocument/2006/relationships/image" Target="../media/image912.png"/><Relationship Id="rId17" Type="http://schemas.openxmlformats.org/officeDocument/2006/relationships/image" Target="../media/image1501.png"/><Relationship Id="rId2" Type="http://schemas.openxmlformats.org/officeDocument/2006/relationships/notesSlide" Target="../notesSlides/notesSlide55.xml"/><Relationship Id="rId16" Type="http://schemas.openxmlformats.org/officeDocument/2006/relationships/image" Target="../media/image941.png"/><Relationship Id="rId1" Type="http://schemas.openxmlformats.org/officeDocument/2006/relationships/slideLayout" Target="../slideLayouts/slideLayout2.xml"/><Relationship Id="rId6" Type="http://schemas.openxmlformats.org/officeDocument/2006/relationships/oleObject" Target="../embeddings/oleObject32.bin"/><Relationship Id="rId11" Type="http://schemas.openxmlformats.org/officeDocument/2006/relationships/image" Target="../media/image901.png"/><Relationship Id="rId5" Type="http://schemas.openxmlformats.org/officeDocument/2006/relationships/image" Target="../media/image861.png"/><Relationship Id="rId15" Type="http://schemas.openxmlformats.org/officeDocument/2006/relationships/image" Target="../media/image931.png"/><Relationship Id="rId10" Type="http://schemas.openxmlformats.org/officeDocument/2006/relationships/image" Target="../media/image891.png"/><Relationship Id="rId4" Type="http://schemas.openxmlformats.org/officeDocument/2006/relationships/image" Target="../media/image851.png"/><Relationship Id="rId9" Type="http://schemas.openxmlformats.org/officeDocument/2006/relationships/image" Target="../media/image881.png"/><Relationship Id="rId14" Type="http://schemas.openxmlformats.org/officeDocument/2006/relationships/image" Target="../media/image921.png"/></Relationships>
</file>

<file path=ppt/slides/_rels/slide75.xml.rels><?xml version="1.0" encoding="UTF-8" standalone="yes"?>
<Relationships xmlns="http://schemas.openxmlformats.org/package/2006/relationships"><Relationship Id="rId3" Type="http://schemas.openxmlformats.org/officeDocument/2006/relationships/image" Target="../media/image152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8" Type="http://schemas.openxmlformats.org/officeDocument/2006/relationships/image" Target="../media/image540.png"/><Relationship Id="rId3" Type="http://schemas.openxmlformats.org/officeDocument/2006/relationships/image" Target="../media/image1081.png"/><Relationship Id="rId7" Type="http://schemas.openxmlformats.org/officeDocument/2006/relationships/image" Target="../media/image530.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520.png"/><Relationship Id="rId5" Type="http://schemas.openxmlformats.org/officeDocument/2006/relationships/image" Target="../media/image511.png"/><Relationship Id="rId4" Type="http://schemas.openxmlformats.org/officeDocument/2006/relationships/image" Target="../media/image134.png"/></Relationships>
</file>

<file path=ppt/slides/_rels/slide77.xml.rels><?xml version="1.0" encoding="UTF-8" standalone="yes"?>
<Relationships xmlns="http://schemas.openxmlformats.org/package/2006/relationships"><Relationship Id="rId3" Type="http://schemas.openxmlformats.org/officeDocument/2006/relationships/image" Target="../media/image1531.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137.png"/><Relationship Id="rId5" Type="http://schemas.openxmlformats.org/officeDocument/2006/relationships/image" Target="../media/image136.png"/><Relationship Id="rId4" Type="http://schemas.openxmlformats.org/officeDocument/2006/relationships/image" Target="../media/image135.png"/></Relationships>
</file>

<file path=ppt/slides/_rels/slide78.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1600.png"/><Relationship Id="rId5" Type="http://schemas.openxmlformats.org/officeDocument/2006/relationships/image" Target="../media/image145.png"/><Relationship Id="rId4" Type="http://schemas.openxmlformats.org/officeDocument/2006/relationships/image" Target="../media/image144.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8" Type="http://schemas.openxmlformats.org/officeDocument/2006/relationships/image" Target="../media/image73.wmf"/><Relationship Id="rId13" Type="http://schemas.openxmlformats.org/officeDocument/2006/relationships/image" Target="../media/image1341.png"/><Relationship Id="rId7" Type="http://schemas.openxmlformats.org/officeDocument/2006/relationships/oleObject" Target="../embeddings/oleObject34.bin"/><Relationship Id="rId12" Type="http://schemas.openxmlformats.org/officeDocument/2006/relationships/oleObject" Target="../embeddings/oleObject35.bin"/><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1171.png"/><Relationship Id="rId11" Type="http://schemas.openxmlformats.org/officeDocument/2006/relationships/image" Target="../media/image1201.png"/><Relationship Id="rId5" Type="http://schemas.openxmlformats.org/officeDocument/2006/relationships/image" Target="../media/image1160.png"/><Relationship Id="rId10" Type="http://schemas.openxmlformats.org/officeDocument/2006/relationships/image" Target="../media/image1191.png"/><Relationship Id="rId4" Type="http://schemas.openxmlformats.org/officeDocument/2006/relationships/image" Target="../media/image1151.png"/><Relationship Id="rId9" Type="http://schemas.openxmlformats.org/officeDocument/2006/relationships/image" Target="../media/image1181.png"/><Relationship Id="rId14" Type="http://schemas.openxmlformats.org/officeDocument/2006/relationships/image" Target="../media/image1541.png"/></Relationships>
</file>

<file path=ppt/slides/_rels/slide82.xml.rels><?xml version="1.0" encoding="UTF-8" standalone="yes"?>
<Relationships xmlns="http://schemas.openxmlformats.org/package/2006/relationships"><Relationship Id="rId8" Type="http://schemas.openxmlformats.org/officeDocument/2006/relationships/image" Target="../media/image1571.png"/><Relationship Id="rId13" Type="http://schemas.openxmlformats.org/officeDocument/2006/relationships/image" Target="../media/image1621.png"/><Relationship Id="rId7" Type="http://schemas.openxmlformats.org/officeDocument/2006/relationships/image" Target="../media/image73.wmf"/><Relationship Id="rId12" Type="http://schemas.openxmlformats.org/officeDocument/2006/relationships/image" Target="../media/image1612.png"/><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oleObject" Target="../embeddings/oleObject36.bin"/><Relationship Id="rId11" Type="http://schemas.openxmlformats.org/officeDocument/2006/relationships/oleObject" Target="../embeddings/oleObject37.bin"/><Relationship Id="rId5" Type="http://schemas.openxmlformats.org/officeDocument/2006/relationships/image" Target="../media/image1561.png"/><Relationship Id="rId10" Type="http://schemas.openxmlformats.org/officeDocument/2006/relationships/image" Target="../media/image1591.png"/><Relationship Id="rId4" Type="http://schemas.openxmlformats.org/officeDocument/2006/relationships/image" Target="../media/image1551.png"/><Relationship Id="rId9" Type="http://schemas.openxmlformats.org/officeDocument/2006/relationships/image" Target="../media/image1581.png"/><Relationship Id="rId14" Type="http://schemas.openxmlformats.org/officeDocument/2006/relationships/image" Target="../media/image1631.png"/></Relationships>
</file>

<file path=ppt/slides/_rels/slide83.xml.rels><?xml version="1.0" encoding="UTF-8" standalone="yes"?>
<Relationships xmlns="http://schemas.openxmlformats.org/package/2006/relationships"><Relationship Id="rId8" Type="http://schemas.openxmlformats.org/officeDocument/2006/relationships/image" Target="../media/image1720.png"/><Relationship Id="rId3" Type="http://schemas.openxmlformats.org/officeDocument/2006/relationships/image" Target="../media/image147.png"/><Relationship Id="rId7" Type="http://schemas.openxmlformats.org/officeDocument/2006/relationships/image" Target="../media/image1690.png"/><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1680.png"/><Relationship Id="rId5" Type="http://schemas.openxmlformats.org/officeDocument/2006/relationships/image" Target="../media/image1670.png"/><Relationship Id="rId4" Type="http://schemas.openxmlformats.org/officeDocument/2006/relationships/image" Target="../media/image1650.png"/></Relationships>
</file>

<file path=ppt/slides/_rels/slide84.xml.rels><?xml version="1.0" encoding="UTF-8" standalone="yes"?>
<Relationships xmlns="http://schemas.openxmlformats.org/package/2006/relationships"><Relationship Id="rId8" Type="http://schemas.openxmlformats.org/officeDocument/2006/relationships/image" Target="../media/image1231.png"/><Relationship Id="rId13" Type="http://schemas.openxmlformats.org/officeDocument/2006/relationships/image" Target="../media/image1210.png"/><Relationship Id="rId18" Type="http://schemas.openxmlformats.org/officeDocument/2006/relationships/image" Target="../media/image1250.png"/><Relationship Id="rId21" Type="http://schemas.openxmlformats.org/officeDocument/2006/relationships/image" Target="../media/image1270.png"/><Relationship Id="rId7" Type="http://schemas.openxmlformats.org/officeDocument/2006/relationships/image" Target="../media/image73.wmf"/><Relationship Id="rId12" Type="http://schemas.openxmlformats.org/officeDocument/2006/relationships/image" Target="../media/image1200.png"/><Relationship Id="rId17" Type="http://schemas.openxmlformats.org/officeDocument/2006/relationships/image" Target="../media/image1240.png"/><Relationship Id="rId2" Type="http://schemas.openxmlformats.org/officeDocument/2006/relationships/notesSlide" Target="../notesSlides/notesSlide65.xml"/><Relationship Id="rId16" Type="http://schemas.openxmlformats.org/officeDocument/2006/relationships/image" Target="../media/image1230.png"/><Relationship Id="rId20" Type="http://schemas.openxmlformats.org/officeDocument/2006/relationships/image" Target="../media/image1260.png"/><Relationship Id="rId1" Type="http://schemas.openxmlformats.org/officeDocument/2006/relationships/slideLayout" Target="../slideLayouts/slideLayout2.xml"/><Relationship Id="rId6" Type="http://schemas.openxmlformats.org/officeDocument/2006/relationships/oleObject" Target="../embeddings/oleObject38.bin"/><Relationship Id="rId11" Type="http://schemas.openxmlformats.org/officeDocument/2006/relationships/image" Target="../media/image1190.png"/><Relationship Id="rId5" Type="http://schemas.openxmlformats.org/officeDocument/2006/relationships/image" Target="../media/image1150.png"/><Relationship Id="rId15" Type="http://schemas.openxmlformats.org/officeDocument/2006/relationships/oleObject" Target="../embeddings/oleObject39.bin"/><Relationship Id="rId10" Type="http://schemas.openxmlformats.org/officeDocument/2006/relationships/image" Target="../media/image1180.png"/><Relationship Id="rId19" Type="http://schemas.openxmlformats.org/officeDocument/2006/relationships/oleObject" Target="../embeddings/oleObject40.bin"/><Relationship Id="rId4" Type="http://schemas.openxmlformats.org/officeDocument/2006/relationships/image" Target="../media/image1140.png"/><Relationship Id="rId9" Type="http://schemas.openxmlformats.org/officeDocument/2006/relationships/image" Target="../media/image1170.png"/><Relationship Id="rId14" Type="http://schemas.openxmlformats.org/officeDocument/2006/relationships/image" Target="../media/image1220.png"/></Relationships>
</file>

<file path=ppt/slides/_rels/slide85.xml.rels><?xml version="1.0" encoding="UTF-8" standalone="yes"?>
<Relationships xmlns="http://schemas.openxmlformats.org/package/2006/relationships"><Relationship Id="rId3" Type="http://schemas.openxmlformats.org/officeDocument/2006/relationships/image" Target="../media/image1280.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290.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300.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780.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148.png"/></Relationships>
</file>

<file path=ppt/slides/_rels/slide89.xml.rels><?xml version="1.0" encoding="UTF-8" standalone="yes"?>
<Relationships xmlns="http://schemas.openxmlformats.org/package/2006/relationships"><Relationship Id="rId8" Type="http://schemas.openxmlformats.org/officeDocument/2006/relationships/image" Target="../media/image73.wmf"/><Relationship Id="rId13" Type="http://schemas.openxmlformats.org/officeDocument/2006/relationships/oleObject" Target="../embeddings/oleObject42.bin"/><Relationship Id="rId18" Type="http://schemas.openxmlformats.org/officeDocument/2006/relationships/image" Target="../media/image150.wmf"/><Relationship Id="rId7" Type="http://schemas.openxmlformats.org/officeDocument/2006/relationships/oleObject" Target="../embeddings/oleObject41.bin"/><Relationship Id="rId12" Type="http://schemas.openxmlformats.org/officeDocument/2006/relationships/image" Target="../media/image1400.png"/><Relationship Id="rId17" Type="http://schemas.openxmlformats.org/officeDocument/2006/relationships/oleObject" Target="../embeddings/oleObject44.bin"/><Relationship Id="rId2" Type="http://schemas.openxmlformats.org/officeDocument/2006/relationships/notesSlide" Target="../notesSlides/notesSlide70.xml"/><Relationship Id="rId16" Type="http://schemas.openxmlformats.org/officeDocument/2006/relationships/image" Target="../media/image149.wmf"/><Relationship Id="rId1" Type="http://schemas.openxmlformats.org/officeDocument/2006/relationships/slideLayout" Target="../slideLayouts/slideLayout2.xml"/><Relationship Id="rId6" Type="http://schemas.openxmlformats.org/officeDocument/2006/relationships/image" Target="../media/image1350.png"/><Relationship Id="rId11" Type="http://schemas.openxmlformats.org/officeDocument/2006/relationships/image" Target="../media/image1380.png"/><Relationship Id="rId5" Type="http://schemas.openxmlformats.org/officeDocument/2006/relationships/image" Target="../media/image1340.png"/><Relationship Id="rId15" Type="http://schemas.openxmlformats.org/officeDocument/2006/relationships/oleObject" Target="../embeddings/oleObject43.bin"/><Relationship Id="rId10" Type="http://schemas.openxmlformats.org/officeDocument/2006/relationships/image" Target="../media/image1360.png"/><Relationship Id="rId19" Type="http://schemas.openxmlformats.org/officeDocument/2006/relationships/oleObject" Target="../embeddings/oleObject45.bin"/><Relationship Id="rId4" Type="http://schemas.openxmlformats.org/officeDocument/2006/relationships/image" Target="../media/image1330.png"/><Relationship Id="rId9" Type="http://schemas.openxmlformats.org/officeDocument/2006/relationships/image" Target="../media/image1370.png"/><Relationship Id="rId14" Type="http://schemas.openxmlformats.org/officeDocument/2006/relationships/image" Target="../media/image1410.png"/></Relationships>
</file>

<file path=ppt/slides/_rels/slide90.xml.rels><?xml version="1.0" encoding="UTF-8" standalone="yes"?>
<Relationships xmlns="http://schemas.openxmlformats.org/package/2006/relationships"><Relationship Id="rId8" Type="http://schemas.openxmlformats.org/officeDocument/2006/relationships/image" Target="../media/image1420.png"/><Relationship Id="rId3" Type="http://schemas.openxmlformats.org/officeDocument/2006/relationships/image" Target="../media/image147.png"/><Relationship Id="rId7" Type="http://schemas.openxmlformats.org/officeDocument/2006/relationships/image" Target="../media/image1080.png"/><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image" Target="../media/image1070.png"/><Relationship Id="rId5" Type="http://schemas.openxmlformats.org/officeDocument/2006/relationships/image" Target="../media/image1060.png"/><Relationship Id="rId4" Type="http://schemas.openxmlformats.org/officeDocument/2006/relationships/image" Target="../media/image1390.png"/><Relationship Id="rId9" Type="http://schemas.openxmlformats.org/officeDocument/2006/relationships/image" Target="../media/image1430.png"/></Relationships>
</file>

<file path=ppt/slides/_rels/slide91.xml.rels><?xml version="1.0" encoding="UTF-8" standalone="yes"?>
<Relationships xmlns="http://schemas.openxmlformats.org/package/2006/relationships"><Relationship Id="rId8" Type="http://schemas.openxmlformats.org/officeDocument/2006/relationships/image" Target="../media/image1460.png"/><Relationship Id="rId13" Type="http://schemas.openxmlformats.org/officeDocument/2006/relationships/oleObject" Target="../embeddings/oleObject47.bin"/><Relationship Id="rId18" Type="http://schemas.openxmlformats.org/officeDocument/2006/relationships/image" Target="../media/image1540.png"/><Relationship Id="rId21" Type="http://schemas.openxmlformats.org/officeDocument/2006/relationships/image" Target="../media/image1570.png"/><Relationship Id="rId7" Type="http://schemas.openxmlformats.org/officeDocument/2006/relationships/image" Target="../media/image73.wmf"/><Relationship Id="rId12" Type="http://schemas.openxmlformats.org/officeDocument/2006/relationships/image" Target="../media/image1500.png"/><Relationship Id="rId17" Type="http://schemas.openxmlformats.org/officeDocument/2006/relationships/image" Target="../media/image1530.png"/><Relationship Id="rId2" Type="http://schemas.openxmlformats.org/officeDocument/2006/relationships/notesSlide" Target="../notesSlides/notesSlide72.xml"/><Relationship Id="rId16" Type="http://schemas.openxmlformats.org/officeDocument/2006/relationships/oleObject" Target="../embeddings/oleObject48.bin"/><Relationship Id="rId20" Type="http://schemas.openxmlformats.org/officeDocument/2006/relationships/image" Target="../media/image1560.png"/><Relationship Id="rId1" Type="http://schemas.openxmlformats.org/officeDocument/2006/relationships/slideLayout" Target="../slideLayouts/slideLayout2.xml"/><Relationship Id="rId6" Type="http://schemas.openxmlformats.org/officeDocument/2006/relationships/oleObject" Target="../embeddings/oleObject46.bin"/><Relationship Id="rId11" Type="http://schemas.openxmlformats.org/officeDocument/2006/relationships/image" Target="../media/image1490.png"/><Relationship Id="rId5" Type="http://schemas.openxmlformats.org/officeDocument/2006/relationships/image" Target="../media/image1450.png"/><Relationship Id="rId15" Type="http://schemas.openxmlformats.org/officeDocument/2006/relationships/image" Target="../media/image1520.png"/><Relationship Id="rId23" Type="http://schemas.openxmlformats.org/officeDocument/2006/relationships/oleObject" Target="../embeddings/oleObject49.bin"/><Relationship Id="rId10" Type="http://schemas.openxmlformats.org/officeDocument/2006/relationships/image" Target="../media/image1480.png"/><Relationship Id="rId19" Type="http://schemas.openxmlformats.org/officeDocument/2006/relationships/image" Target="../media/image1550.png"/><Relationship Id="rId4" Type="http://schemas.openxmlformats.org/officeDocument/2006/relationships/image" Target="../media/image1440.png"/><Relationship Id="rId9" Type="http://schemas.openxmlformats.org/officeDocument/2006/relationships/image" Target="../media/image1470.png"/><Relationship Id="rId14" Type="http://schemas.openxmlformats.org/officeDocument/2006/relationships/image" Target="../media/image1510.png"/><Relationship Id="rId22" Type="http://schemas.openxmlformats.org/officeDocument/2006/relationships/image" Target="../media/image1580.png"/></Relationships>
</file>

<file path=ppt/slides/_rels/slide92.xml.rels><?xml version="1.0" encoding="UTF-8" standalone="yes"?>
<Relationships xmlns="http://schemas.openxmlformats.org/package/2006/relationships"><Relationship Id="rId3" Type="http://schemas.openxmlformats.org/officeDocument/2006/relationships/image" Target="../media/image1590.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610.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620.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630.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640.png"/><Relationship Id="rId2" Type="http://schemas.openxmlformats.org/officeDocument/2006/relationships/notesSlide" Target="../notesSlides/notesSlide77.xml"/><Relationship Id="rId1" Type="http://schemas.openxmlformats.org/officeDocument/2006/relationships/slideLayout" Target="../slideLayouts/slideLayout2.xml"/><Relationship Id="rId5" Type="http://schemas.openxmlformats.org/officeDocument/2006/relationships/image" Target="../media/image155.png"/><Relationship Id="rId4" Type="http://schemas.openxmlformats.org/officeDocument/2006/relationships/image" Target="../media/image154.png"/></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ous-titre 2"/>
          <p:cNvSpPr>
            <a:spLocks noGrp="1"/>
          </p:cNvSpPr>
          <p:nvPr>
            <p:ph type="subTitle" idx="1"/>
          </p:nvPr>
        </p:nvSpPr>
        <p:spPr>
          <a:xfrm>
            <a:off x="2714625" y="1892300"/>
            <a:ext cx="6429375" cy="4189413"/>
          </a:xfrm>
        </p:spPr>
        <p:txBody>
          <a:bodyPr/>
          <a:lstStyle/>
          <a:p>
            <a:pPr algn="ctr">
              <a:defRPr/>
            </a:pPr>
            <a:r>
              <a:rPr lang="fr-FR" sz="3200" dirty="0">
                <a:solidFill>
                  <a:srgbClr val="FF0000"/>
                </a:solidFill>
              </a:rPr>
              <a:t>Motion planning and robots control</a:t>
            </a:r>
          </a:p>
          <a:p>
            <a:pPr>
              <a:defRPr/>
            </a:pPr>
            <a:endParaRPr lang="fr-FR" dirty="0"/>
          </a:p>
          <a:p>
            <a:pPr>
              <a:defRPr/>
            </a:pPr>
            <a:endParaRPr lang="fr-FR" dirty="0"/>
          </a:p>
          <a:p>
            <a:pPr>
              <a:defRPr/>
            </a:pPr>
            <a:r>
              <a:rPr lang="fr-FR" dirty="0"/>
              <a:t>Salih ABDELAZIZ</a:t>
            </a:r>
          </a:p>
          <a:p>
            <a:pPr>
              <a:defRPr/>
            </a:pPr>
            <a:r>
              <a:rPr lang="fr-FR" dirty="0"/>
              <a:t>Maître de Conférences à l’UM2</a:t>
            </a:r>
          </a:p>
          <a:p>
            <a:pPr>
              <a:defRPr/>
            </a:pPr>
            <a:r>
              <a:rPr lang="fr-FR" dirty="0"/>
              <a:t>LIRMM, Département robotique</a:t>
            </a:r>
          </a:p>
          <a:p>
            <a:pPr>
              <a:defRPr/>
            </a:pPr>
            <a:r>
              <a:rPr lang="fr-FR" dirty="0"/>
              <a:t>Montpellier, France</a:t>
            </a:r>
          </a:p>
          <a:p>
            <a:pPr>
              <a:defRPr/>
            </a:pPr>
            <a:endParaRPr lang="fr-FR" dirty="0"/>
          </a:p>
          <a:p>
            <a:pPr>
              <a:defRPr/>
            </a:pPr>
            <a:r>
              <a:rPr lang="fr-FR" dirty="0">
                <a:solidFill>
                  <a:srgbClr val="1EC5E7"/>
                </a:solidFill>
              </a:rPr>
              <a:t>abdelaziz@lirmm.fr</a:t>
            </a:r>
          </a:p>
          <a:p>
            <a:pPr>
              <a:defRPr/>
            </a:pPr>
            <a:endParaRPr lang="fr-FR" dirty="0"/>
          </a:p>
          <a:p>
            <a:pPr>
              <a:defRPr/>
            </a:pPr>
            <a:endParaRPr lang="fr-FR" dirty="0"/>
          </a:p>
          <a:p>
            <a:pPr eaLnBrk="1" hangingPunct="1">
              <a:buFont typeface="Wingdings" charset="2"/>
              <a:buNone/>
              <a:defRPr/>
            </a:pPr>
            <a:endParaRPr lang="fr-FR" dirty="0"/>
          </a:p>
          <a:p>
            <a:pPr eaLnBrk="1" hangingPunct="1">
              <a:buFont typeface="Wingdings" charset="2"/>
              <a:buNone/>
              <a:defRPr/>
            </a:pPr>
            <a:endParaRPr lang="fr-FR" dirty="0">
              <a:solidFill>
                <a:schemeClr val="tx1">
                  <a:lumMod val="65000"/>
                  <a:lumOff val="35000"/>
                </a:schemeClr>
              </a:solidFill>
            </a:endParaRPr>
          </a:p>
          <a:p>
            <a:pPr eaLnBrk="1" hangingPunct="1">
              <a:buFont typeface="Wingdings" charset="2"/>
              <a:buNone/>
              <a:defRPr/>
            </a:pPr>
            <a:endParaRPr lang="fr-FR" dirty="0">
              <a:solidFill>
                <a:schemeClr val="tx1">
                  <a:lumMod val="65000"/>
                  <a:lumOff val="35000"/>
                </a:schemeClr>
              </a:solidFill>
            </a:endParaRPr>
          </a:p>
        </p:txBody>
      </p:sp>
      <p:cxnSp>
        <p:nvCxnSpPr>
          <p:cNvPr id="9" name="Connecteur droit 8"/>
          <p:cNvCxnSpPr/>
          <p:nvPr/>
        </p:nvCxnSpPr>
        <p:spPr>
          <a:xfrm rot="5400000">
            <a:off x="-3215481" y="3429794"/>
            <a:ext cx="6858000" cy="1588"/>
          </a:xfrm>
          <a:prstGeom prst="line">
            <a:avLst/>
          </a:prstGeom>
          <a:ln w="158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 name="Connecteur droit 9"/>
          <p:cNvCxnSpPr/>
          <p:nvPr/>
        </p:nvCxnSpPr>
        <p:spPr>
          <a:xfrm rot="5400000">
            <a:off x="-3071018" y="3428206"/>
            <a:ext cx="6858000" cy="1587"/>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Connecteur droit 10"/>
          <p:cNvCxnSpPr/>
          <p:nvPr/>
        </p:nvCxnSpPr>
        <p:spPr>
          <a:xfrm rot="5400000">
            <a:off x="-3142456" y="3428206"/>
            <a:ext cx="6858000" cy="1588"/>
          </a:xfrm>
          <a:prstGeom prst="line">
            <a:avLst/>
          </a:prstGeom>
          <a:ln w="158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Connecteur droit 13"/>
          <p:cNvCxnSpPr/>
          <p:nvPr/>
        </p:nvCxnSpPr>
        <p:spPr>
          <a:xfrm rot="5400000">
            <a:off x="-3428206" y="3428206"/>
            <a:ext cx="6858000" cy="1588"/>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Organigramme : Connecteur 14"/>
          <p:cNvSpPr/>
          <p:nvPr/>
        </p:nvSpPr>
        <p:spPr>
          <a:xfrm>
            <a:off x="571500" y="4929188"/>
            <a:ext cx="214313" cy="214312"/>
          </a:xfrm>
          <a:prstGeom prst="flowChartConnector">
            <a:avLst/>
          </a:prstGeom>
          <a:solidFill>
            <a:srgbClr val="C00000"/>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fr-FR" dirty="0"/>
          </a:p>
        </p:txBody>
      </p:sp>
      <p:sp>
        <p:nvSpPr>
          <p:cNvPr id="16" name="Organigramme : Connecteur 15"/>
          <p:cNvSpPr/>
          <p:nvPr/>
        </p:nvSpPr>
        <p:spPr>
          <a:xfrm>
            <a:off x="714375" y="2571750"/>
            <a:ext cx="285750" cy="285750"/>
          </a:xfrm>
          <a:prstGeom prst="flowChartConnector">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fr-FR" dirty="0">
              <a:solidFill>
                <a:schemeClr val="accent3">
                  <a:lumMod val="75000"/>
                </a:schemeClr>
              </a:solidFill>
            </a:endParaRPr>
          </a:p>
        </p:txBody>
      </p:sp>
      <p:sp>
        <p:nvSpPr>
          <p:cNvPr id="17" name="Ellipse 16"/>
          <p:cNvSpPr/>
          <p:nvPr/>
        </p:nvSpPr>
        <p:spPr>
          <a:xfrm>
            <a:off x="1500188" y="2857500"/>
            <a:ext cx="357187" cy="357188"/>
          </a:xfrm>
          <a:prstGeom prst="ellipse">
            <a:avLst/>
          </a:prstGeom>
          <a:solidFill>
            <a:schemeClr val="accent5">
              <a:lumMod val="60000"/>
              <a:lumOff val="4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fr-FR" dirty="0">
              <a:solidFill>
                <a:schemeClr val="accent3">
                  <a:lumMod val="75000"/>
                </a:schemeClr>
              </a:solidFill>
            </a:endParaRPr>
          </a:p>
        </p:txBody>
      </p:sp>
      <p:sp>
        <p:nvSpPr>
          <p:cNvPr id="18" name="Ellipse 17"/>
          <p:cNvSpPr/>
          <p:nvPr/>
        </p:nvSpPr>
        <p:spPr>
          <a:xfrm>
            <a:off x="714375" y="6072188"/>
            <a:ext cx="285750" cy="285750"/>
          </a:xfrm>
          <a:prstGeom prst="ellipse">
            <a:avLst/>
          </a:prstGeom>
          <a:solidFill>
            <a:srgbClr val="C00000"/>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fr-FR" dirty="0">
              <a:solidFill>
                <a:schemeClr val="accent3">
                  <a:lumMod val="75000"/>
                </a:schemeClr>
              </a:solidFill>
            </a:endParaRPr>
          </a:p>
        </p:txBody>
      </p:sp>
      <p:pic>
        <p:nvPicPr>
          <p:cNvPr id="19" name="Image 18" descr="logo cnrs standard.JPG"/>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66450" y="208675"/>
            <a:ext cx="766321" cy="7644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 name="Image 18"/>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111710" y="78757"/>
            <a:ext cx="1638300" cy="936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1" name="Image 20" descr="Logo_LIRMM.pn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1821428" y="177203"/>
            <a:ext cx="2307815" cy="837367"/>
          </a:xfrm>
          <a:prstGeom prst="rect">
            <a:avLst/>
          </a:prstGeom>
        </p:spPr>
      </p:pic>
      <p:pic>
        <p:nvPicPr>
          <p:cNvPr id="22" name="Image 21" descr="LOGO_original_RVB_grand.png"/>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4587999" y="137244"/>
            <a:ext cx="870413" cy="870413"/>
          </a:xfrm>
          <a:prstGeom prst="rect">
            <a:avLst/>
          </a:prstGeom>
        </p:spPr>
      </p:pic>
    </p:spTree>
    <p:extLst>
      <p:ext uri="{BB962C8B-B14F-4D97-AF65-F5344CB8AC3E}">
        <p14:creationId xmlns:p14="http://schemas.microsoft.com/office/powerpoint/2010/main" val="225626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
          </p:nvPr>
        </p:nvSpPr>
        <p:spPr/>
        <p:txBody>
          <a:bodyPr/>
          <a:lstStyle/>
          <a:p>
            <a:r>
              <a:rPr lang="en-GB" dirty="0"/>
              <a:t>Motion planning</a:t>
            </a:r>
          </a:p>
          <a:p>
            <a:pPr lvl="1"/>
            <a:r>
              <a:rPr lang="en-GB" dirty="0"/>
              <a:t>Joint space</a:t>
            </a:r>
          </a:p>
          <a:p>
            <a:pPr lvl="1"/>
            <a:r>
              <a:rPr lang="en-GB" dirty="0"/>
              <a:t>Cartesian space</a:t>
            </a:r>
          </a:p>
          <a:p>
            <a:pPr marL="366713" lvl="1" indent="0">
              <a:buNone/>
            </a:pPr>
            <a:endParaRPr lang="en-GB" dirty="0"/>
          </a:p>
          <a:p>
            <a:r>
              <a:rPr lang="en-GB" dirty="0"/>
              <a:t>Motion control</a:t>
            </a:r>
          </a:p>
          <a:p>
            <a:pPr lvl="1"/>
            <a:r>
              <a:rPr lang="en-GB" dirty="0"/>
              <a:t>Pose control based only on kinematics</a:t>
            </a:r>
          </a:p>
          <a:p>
            <a:pPr lvl="1"/>
            <a:r>
              <a:rPr lang="en-GB" dirty="0"/>
              <a:t>Pose control based on dynamics (computed torque)</a:t>
            </a:r>
          </a:p>
          <a:p>
            <a:pPr marL="366713" lvl="1" indent="0">
              <a:buNone/>
            </a:pPr>
            <a:endParaRPr lang="en-GB" dirty="0"/>
          </a:p>
          <a:p>
            <a:r>
              <a:rPr lang="en-GB" dirty="0"/>
              <a:t>Force control</a:t>
            </a:r>
          </a:p>
          <a:p>
            <a:pPr lvl="1"/>
            <a:r>
              <a:rPr lang="en-GB" dirty="0"/>
              <a:t>Implicit force control</a:t>
            </a:r>
          </a:p>
          <a:p>
            <a:pPr lvl="1"/>
            <a:r>
              <a:rPr lang="en-GB" dirty="0"/>
              <a:t>Explicit force control</a:t>
            </a:r>
          </a:p>
        </p:txBody>
      </p:sp>
      <p:sp>
        <p:nvSpPr>
          <p:cNvPr id="3" name="Titre 2"/>
          <p:cNvSpPr>
            <a:spLocks noGrp="1"/>
          </p:cNvSpPr>
          <p:nvPr>
            <p:ph type="title"/>
          </p:nvPr>
        </p:nvSpPr>
        <p:spPr/>
        <p:txBody>
          <a:bodyPr/>
          <a:lstStyle/>
          <a:p>
            <a:r>
              <a:rPr lang="en-GB" dirty="0"/>
              <a:t>outline</a:t>
            </a:r>
          </a:p>
        </p:txBody>
      </p:sp>
    </p:spTree>
    <p:extLst>
      <p:ext uri="{BB962C8B-B14F-4D97-AF65-F5344CB8AC3E}">
        <p14:creationId xmlns:p14="http://schemas.microsoft.com/office/powerpoint/2010/main" val="646089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
          </p:nvPr>
        </p:nvSpPr>
        <p:spPr/>
        <p:txBody>
          <a:bodyPr/>
          <a:lstStyle/>
          <a:p>
            <a:r>
              <a:rPr lang="en-GB" dirty="0"/>
              <a:t>Motion planning</a:t>
            </a:r>
          </a:p>
          <a:p>
            <a:pPr lvl="1"/>
            <a:r>
              <a:rPr lang="en-GB" dirty="0"/>
              <a:t>Joint space</a:t>
            </a:r>
          </a:p>
          <a:p>
            <a:pPr lvl="1"/>
            <a:r>
              <a:rPr lang="en-GB" dirty="0"/>
              <a:t>Cartesian space</a:t>
            </a:r>
          </a:p>
          <a:p>
            <a:pPr marL="366713" lvl="1" indent="0">
              <a:buNone/>
            </a:pPr>
            <a:endParaRPr lang="en-GB" dirty="0"/>
          </a:p>
          <a:p>
            <a:r>
              <a:rPr lang="en-GB" dirty="0">
                <a:solidFill>
                  <a:schemeClr val="bg1">
                    <a:lumMod val="75000"/>
                  </a:schemeClr>
                </a:solidFill>
              </a:rPr>
              <a:t>Motion control</a:t>
            </a:r>
          </a:p>
          <a:p>
            <a:pPr lvl="1"/>
            <a:r>
              <a:rPr lang="en-GB" dirty="0">
                <a:solidFill>
                  <a:schemeClr val="bg1">
                    <a:lumMod val="75000"/>
                  </a:schemeClr>
                </a:solidFill>
              </a:rPr>
              <a:t>Pose control based only on kinematics</a:t>
            </a:r>
          </a:p>
          <a:p>
            <a:pPr lvl="1"/>
            <a:r>
              <a:rPr lang="en-GB" dirty="0">
                <a:solidFill>
                  <a:schemeClr val="bg1">
                    <a:lumMod val="75000"/>
                  </a:schemeClr>
                </a:solidFill>
              </a:rPr>
              <a:t>Pose control based on dynamics (computed torque)</a:t>
            </a:r>
          </a:p>
          <a:p>
            <a:pPr marL="366713" lvl="1" indent="0">
              <a:buNone/>
            </a:pPr>
            <a:endParaRPr lang="en-GB" dirty="0">
              <a:solidFill>
                <a:schemeClr val="bg1">
                  <a:lumMod val="75000"/>
                </a:schemeClr>
              </a:solidFill>
            </a:endParaRPr>
          </a:p>
          <a:p>
            <a:r>
              <a:rPr lang="en-GB" dirty="0">
                <a:solidFill>
                  <a:schemeClr val="bg1">
                    <a:lumMod val="75000"/>
                  </a:schemeClr>
                </a:solidFill>
              </a:rPr>
              <a:t>Force control</a:t>
            </a:r>
          </a:p>
          <a:p>
            <a:pPr lvl="1"/>
            <a:r>
              <a:rPr lang="en-GB" dirty="0">
                <a:solidFill>
                  <a:schemeClr val="bg1">
                    <a:lumMod val="75000"/>
                  </a:schemeClr>
                </a:solidFill>
              </a:rPr>
              <a:t>Implicit force control</a:t>
            </a:r>
          </a:p>
          <a:p>
            <a:pPr lvl="1"/>
            <a:r>
              <a:rPr lang="en-GB" dirty="0">
                <a:solidFill>
                  <a:schemeClr val="bg1">
                    <a:lumMod val="75000"/>
                  </a:schemeClr>
                </a:solidFill>
              </a:rPr>
              <a:t>Explicit force control</a:t>
            </a:r>
          </a:p>
        </p:txBody>
      </p:sp>
      <p:sp>
        <p:nvSpPr>
          <p:cNvPr id="3" name="Titre 2"/>
          <p:cNvSpPr>
            <a:spLocks noGrp="1"/>
          </p:cNvSpPr>
          <p:nvPr>
            <p:ph type="title"/>
          </p:nvPr>
        </p:nvSpPr>
        <p:spPr/>
        <p:txBody>
          <a:bodyPr/>
          <a:lstStyle/>
          <a:p>
            <a:r>
              <a:rPr lang="en-GB" dirty="0"/>
              <a:t>outline</a:t>
            </a:r>
          </a:p>
        </p:txBody>
      </p:sp>
    </p:spTree>
    <p:extLst>
      <p:ext uri="{BB962C8B-B14F-4D97-AF65-F5344CB8AC3E}">
        <p14:creationId xmlns:p14="http://schemas.microsoft.com/office/powerpoint/2010/main" val="3565204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a:xfrm>
                <a:off x="280656" y="959667"/>
                <a:ext cx="8456944" cy="5514285"/>
              </a:xfrm>
            </p:spPr>
            <p:txBody>
              <a:bodyPr/>
              <a:lstStyle/>
              <a:p>
                <a:pPr marL="0" indent="0">
                  <a:buNone/>
                </a:pPr>
                <a:r>
                  <a:rPr lang="en-GB" dirty="0"/>
                  <a:t>Let be a robot with </a:t>
                </a:r>
                <a14:m>
                  <m:oMath xmlns:m="http://schemas.openxmlformats.org/officeDocument/2006/math">
                    <m:r>
                      <m:rPr>
                        <m:sty m:val="p"/>
                      </m:rPr>
                      <a:rPr lang="en-GB" b="0" i="0" smtClean="0">
                        <a:latin typeface="Cambria Math"/>
                      </a:rPr>
                      <m:t>m</m:t>
                    </m:r>
                  </m:oMath>
                </a14:m>
                <a:r>
                  <a:rPr lang="en-GB" dirty="0"/>
                  <a:t> degrees of freedom and </a:t>
                </a:r>
                <a14:m>
                  <m:oMath xmlns:m="http://schemas.openxmlformats.org/officeDocument/2006/math">
                    <m:r>
                      <m:rPr>
                        <m:sty m:val="p"/>
                      </m:rPr>
                      <a:rPr lang="en-GB" b="0" i="0" smtClean="0">
                        <a:latin typeface="Cambria Math"/>
                      </a:rPr>
                      <m:t>n</m:t>
                    </m:r>
                  </m:oMath>
                </a14:m>
                <a:r>
                  <a:rPr lang="en-GB" dirty="0"/>
                  <a:t> joints </a:t>
                </a:r>
              </a:p>
              <a:p>
                <a:pPr marL="0" indent="0">
                  <a:buNone/>
                </a:pPr>
                <a:endParaRPr lang="en-GB" dirty="0">
                  <a:latin typeface="Cambria Math"/>
                </a:endParaRPr>
              </a:p>
              <a:p>
                <a:pPr marL="0" indent="0">
                  <a:buNone/>
                </a:pPr>
                <a:endParaRPr lang="en-GB" dirty="0">
                  <a:latin typeface="Cambria Math"/>
                </a:endParaRPr>
              </a:p>
              <a:p>
                <a:pPr marL="0" indent="0">
                  <a:buNone/>
                </a:pPr>
                <a:endParaRPr lang="en-GB" dirty="0">
                  <a:latin typeface="Cambria Math"/>
                </a:endParaRPr>
              </a:p>
              <a:p>
                <a:pPr marL="0" indent="0">
                  <a:buNone/>
                </a:pPr>
                <a:endParaRPr lang="en-GB" dirty="0">
                  <a:latin typeface="Cambria Math"/>
                </a:endParaRPr>
              </a:p>
              <a:p>
                <a:pPr marL="0" indent="0">
                  <a:buNone/>
                </a:pPr>
                <a:endParaRPr lang="en-GB" dirty="0">
                  <a:latin typeface="Cambria Math"/>
                </a:endParaRPr>
              </a:p>
              <a:p>
                <a:pPr marL="0" indent="0">
                  <a:buNone/>
                </a:pPr>
                <a:endParaRPr lang="en-GB" dirty="0">
                  <a:latin typeface="Cambria Math"/>
                </a:endParaRPr>
              </a:p>
              <a:p>
                <a:pPr marL="0" indent="0">
                  <a:buNone/>
                </a:pPr>
                <a:endParaRPr lang="en-GB" dirty="0">
                  <a:latin typeface="Cambria Math"/>
                </a:endParaRPr>
              </a:p>
              <a:p>
                <a:pPr marL="0" indent="0">
                  <a:buNone/>
                </a:pPr>
                <a:endParaRPr lang="en-GB" dirty="0">
                  <a:latin typeface="Cambria Math"/>
                </a:endParaRPr>
              </a:p>
              <a:p>
                <a:pPr marL="0" indent="0">
                  <a:buNone/>
                </a:pPr>
                <a:r>
                  <a:rPr lang="en-GB" u="sng" dirty="0">
                    <a:latin typeface="Cambria Math"/>
                  </a:rPr>
                  <a:t>Joint space :</a:t>
                </a:r>
              </a:p>
              <a:p>
                <a:pPr marL="0" indent="0">
                  <a:buNone/>
                </a:pPr>
                <a:r>
                  <a:rPr lang="en-GB" dirty="0"/>
                  <a:t>Vector of generalized coordinates: 	</a:t>
                </a:r>
                <a14:m>
                  <m:oMath xmlns:m="http://schemas.openxmlformats.org/officeDocument/2006/math">
                    <m:r>
                      <a:rPr lang="en-GB">
                        <a:latin typeface="Cambria Math"/>
                      </a:rPr>
                      <m:t>𝐪</m:t>
                    </m:r>
                    <m:r>
                      <a:rPr lang="en-GB">
                        <a:latin typeface="Cambria Math"/>
                      </a:rPr>
                      <m:t>=</m:t>
                    </m:r>
                    <m:sSup>
                      <m:sSupPr>
                        <m:ctrlPr>
                          <a:rPr lang="en-GB" i="1">
                            <a:latin typeface="Cambria Math" panose="02040503050406030204" pitchFamily="18" charset="0"/>
                          </a:rPr>
                        </m:ctrlPr>
                      </m:sSupPr>
                      <m:e>
                        <m:d>
                          <m:dPr>
                            <m:begChr m:val="["/>
                            <m:endChr m:val="]"/>
                            <m:ctrlPr>
                              <a:rPr lang="en-GB" i="1">
                                <a:latin typeface="Cambria Math" panose="02040503050406030204" pitchFamily="18" charset="0"/>
                              </a:rPr>
                            </m:ctrlPr>
                          </m:dPr>
                          <m:e>
                            <m:m>
                              <m:mPr>
                                <m:mcs>
                                  <m:mc>
                                    <m:mcPr>
                                      <m:count m:val="2"/>
                                      <m:mcJc m:val="center"/>
                                    </m:mcPr>
                                  </m:mc>
                                </m:mcs>
                                <m:ctrlPr>
                                  <a:rPr lang="en-GB" i="1">
                                    <a:latin typeface="Cambria Math" panose="02040503050406030204" pitchFamily="18" charset="0"/>
                                  </a:rPr>
                                </m:ctrlPr>
                              </m:mPr>
                              <m:mr>
                                <m:e>
                                  <m:m>
                                    <m:mPr>
                                      <m:mcs>
                                        <m:mc>
                                          <m:mcPr>
                                            <m:count m:val="2"/>
                                            <m:mcJc m:val="center"/>
                                          </m:mcPr>
                                        </m:mc>
                                      </m:mcs>
                                      <m:ctrlPr>
                                        <a:rPr lang="en-GB" i="1">
                                          <a:latin typeface="Cambria Math" panose="02040503050406030204" pitchFamily="18" charset="0"/>
                                        </a:rPr>
                                      </m:ctrlPr>
                                    </m:mPr>
                                    <m:mr>
                                      <m:e>
                                        <m:sSub>
                                          <m:sSubPr>
                                            <m:ctrlPr>
                                              <a:rPr lang="en-GB" i="1">
                                                <a:latin typeface="Cambria Math" panose="02040503050406030204" pitchFamily="18" charset="0"/>
                                              </a:rPr>
                                            </m:ctrlPr>
                                          </m:sSubPr>
                                          <m:e>
                                            <m:r>
                                              <a:rPr lang="en-GB">
                                                <a:latin typeface="Cambria Math"/>
                                              </a:rPr>
                                              <m:t>𝑞</m:t>
                                            </m:r>
                                          </m:e>
                                          <m:sub>
                                            <m:r>
                                              <a:rPr lang="en-GB">
                                                <a:latin typeface="Cambria Math"/>
                                              </a:rPr>
                                              <m:t>1</m:t>
                                            </m:r>
                                          </m:sub>
                                        </m:sSub>
                                      </m:e>
                                      <m:e>
                                        <m:sSub>
                                          <m:sSubPr>
                                            <m:ctrlPr>
                                              <a:rPr lang="en-GB" i="1">
                                                <a:latin typeface="Cambria Math" panose="02040503050406030204" pitchFamily="18" charset="0"/>
                                              </a:rPr>
                                            </m:ctrlPr>
                                          </m:sSubPr>
                                          <m:e>
                                            <m:r>
                                              <a:rPr lang="en-GB">
                                                <a:latin typeface="Cambria Math"/>
                                              </a:rPr>
                                              <m:t>𝑞</m:t>
                                            </m:r>
                                          </m:e>
                                          <m:sub>
                                            <m:r>
                                              <a:rPr lang="en-GB">
                                                <a:latin typeface="Cambria Math"/>
                                              </a:rPr>
                                              <m:t>2</m:t>
                                            </m:r>
                                          </m:sub>
                                        </m:sSub>
                                      </m:e>
                                    </m:mr>
                                  </m:m>
                                </m:e>
                                <m:e>
                                  <m:m>
                                    <m:mPr>
                                      <m:mcs>
                                        <m:mc>
                                          <m:mcPr>
                                            <m:count m:val="2"/>
                                            <m:mcJc m:val="center"/>
                                          </m:mcPr>
                                        </m:mc>
                                      </m:mcs>
                                      <m:ctrlPr>
                                        <a:rPr lang="en-GB" i="1">
                                          <a:latin typeface="Cambria Math" panose="02040503050406030204" pitchFamily="18" charset="0"/>
                                        </a:rPr>
                                      </m:ctrlPr>
                                    </m:mPr>
                                    <m:mr>
                                      <m:e>
                                        <m:r>
                                          <m:rPr>
                                            <m:brk m:alnAt="7"/>
                                          </m:rPr>
                                          <a:rPr lang="fr-FR" b="0" i="1" smtClean="0">
                                            <a:latin typeface="Cambria Math" panose="02040503050406030204" pitchFamily="18" charset="0"/>
                                          </a:rPr>
                                          <m:t>.</m:t>
                                        </m:r>
                                        <m:r>
                                          <a:rPr lang="fr-FR" b="0" i="1" smtClean="0">
                                            <a:latin typeface="Cambria Math" panose="02040503050406030204" pitchFamily="18" charset="0"/>
                                          </a:rPr>
                                          <m:t>.</m:t>
                                        </m:r>
                                        <m:r>
                                          <m:rPr>
                                            <m:brk m:alnAt="7"/>
                                          </m:rPr>
                                          <a:rPr lang="en-GB">
                                            <a:latin typeface="Cambria Math"/>
                                          </a:rPr>
                                          <m:t>.</m:t>
                                        </m:r>
                                      </m:e>
                                      <m:e>
                                        <m:sSub>
                                          <m:sSubPr>
                                            <m:ctrlPr>
                                              <a:rPr lang="en-GB" i="1">
                                                <a:latin typeface="Cambria Math" panose="02040503050406030204" pitchFamily="18" charset="0"/>
                                              </a:rPr>
                                            </m:ctrlPr>
                                          </m:sSubPr>
                                          <m:e>
                                            <m:r>
                                              <a:rPr lang="en-GB">
                                                <a:latin typeface="Cambria Math"/>
                                              </a:rPr>
                                              <m:t>𝑞</m:t>
                                            </m:r>
                                          </m:e>
                                          <m:sub>
                                            <m:r>
                                              <m:rPr>
                                                <m:sty m:val="p"/>
                                              </m:rPr>
                                              <a:rPr lang="en-GB" b="0" i="0" smtClean="0">
                                                <a:latin typeface="Cambria Math"/>
                                              </a:rPr>
                                              <m:t>n</m:t>
                                            </m:r>
                                          </m:sub>
                                        </m:sSub>
                                      </m:e>
                                    </m:mr>
                                  </m:m>
                                </m:e>
                              </m:mr>
                            </m:m>
                          </m:e>
                        </m:d>
                      </m:e>
                      <m:sup>
                        <m:r>
                          <a:rPr lang="en-GB">
                            <a:latin typeface="Cambria Math"/>
                          </a:rPr>
                          <m:t>𝑇</m:t>
                        </m:r>
                      </m:sup>
                    </m:sSup>
                  </m:oMath>
                </a14:m>
                <a:endParaRPr lang="en-GB" dirty="0"/>
              </a:p>
              <a:p>
                <a:pPr marL="0" indent="0">
                  <a:buNone/>
                </a:pPr>
                <a:r>
                  <a:rPr lang="en-GB" dirty="0"/>
                  <a:t>Joint speed vector: 	</a:t>
                </a:r>
                <a14:m>
                  <m:oMath xmlns:m="http://schemas.openxmlformats.org/officeDocument/2006/math">
                    <m:acc>
                      <m:accPr>
                        <m:chr m:val="̇"/>
                        <m:ctrlPr>
                          <a:rPr lang="en-GB" i="1">
                            <a:latin typeface="Cambria Math" panose="02040503050406030204" pitchFamily="18" charset="0"/>
                          </a:rPr>
                        </m:ctrlPr>
                      </m:accPr>
                      <m:e>
                        <m:r>
                          <a:rPr lang="en-GB">
                            <a:latin typeface="Cambria Math"/>
                          </a:rPr>
                          <m:t>𝐪</m:t>
                        </m:r>
                      </m:e>
                    </m:acc>
                    <m:r>
                      <a:rPr lang="en-GB">
                        <a:latin typeface="Cambria Math"/>
                      </a:rPr>
                      <m:t>=</m:t>
                    </m:r>
                    <m:sSup>
                      <m:sSupPr>
                        <m:ctrlPr>
                          <a:rPr lang="en-GB" i="1">
                            <a:latin typeface="Cambria Math" panose="02040503050406030204" pitchFamily="18" charset="0"/>
                          </a:rPr>
                        </m:ctrlPr>
                      </m:sSupPr>
                      <m:e>
                        <m:d>
                          <m:dPr>
                            <m:begChr m:val="["/>
                            <m:endChr m:val="]"/>
                            <m:ctrlPr>
                              <a:rPr lang="en-GB" i="1">
                                <a:latin typeface="Cambria Math" panose="02040503050406030204" pitchFamily="18" charset="0"/>
                              </a:rPr>
                            </m:ctrlPr>
                          </m:dPr>
                          <m:e>
                            <m:m>
                              <m:mPr>
                                <m:mcs>
                                  <m:mc>
                                    <m:mcPr>
                                      <m:count m:val="2"/>
                                      <m:mcJc m:val="center"/>
                                    </m:mcPr>
                                  </m:mc>
                                </m:mcs>
                                <m:ctrlPr>
                                  <a:rPr lang="en-GB" i="1">
                                    <a:latin typeface="Cambria Math" panose="02040503050406030204" pitchFamily="18" charset="0"/>
                                  </a:rPr>
                                </m:ctrlPr>
                              </m:mPr>
                              <m:mr>
                                <m:e>
                                  <m:m>
                                    <m:mPr>
                                      <m:mcs>
                                        <m:mc>
                                          <m:mcPr>
                                            <m:count m:val="2"/>
                                            <m:mcJc m:val="center"/>
                                          </m:mcPr>
                                        </m:mc>
                                      </m:mcs>
                                      <m:ctrlPr>
                                        <a:rPr lang="en-GB" i="1">
                                          <a:latin typeface="Cambria Math" panose="02040503050406030204" pitchFamily="18" charset="0"/>
                                        </a:rPr>
                                      </m:ctrlPr>
                                    </m:mPr>
                                    <m:mr>
                                      <m:e>
                                        <m:sSub>
                                          <m:sSubPr>
                                            <m:ctrlPr>
                                              <a:rPr lang="en-GB" i="1">
                                                <a:latin typeface="Cambria Math" panose="02040503050406030204" pitchFamily="18" charset="0"/>
                                              </a:rPr>
                                            </m:ctrlPr>
                                          </m:sSubPr>
                                          <m:e>
                                            <m:acc>
                                              <m:accPr>
                                                <m:chr m:val="̇"/>
                                                <m:ctrlPr>
                                                  <a:rPr lang="en-GB" i="1">
                                                    <a:latin typeface="Cambria Math" panose="02040503050406030204" pitchFamily="18" charset="0"/>
                                                  </a:rPr>
                                                </m:ctrlPr>
                                              </m:accPr>
                                              <m:e>
                                                <m:r>
                                                  <a:rPr lang="en-GB">
                                                    <a:latin typeface="Cambria Math"/>
                                                  </a:rPr>
                                                  <m:t>𝑞</m:t>
                                                </m:r>
                                              </m:e>
                                            </m:acc>
                                          </m:e>
                                          <m:sub>
                                            <m:r>
                                              <a:rPr lang="en-GB">
                                                <a:latin typeface="Cambria Math"/>
                                              </a:rPr>
                                              <m:t>1</m:t>
                                            </m:r>
                                          </m:sub>
                                        </m:sSub>
                                      </m:e>
                                      <m:e>
                                        <m:sSub>
                                          <m:sSubPr>
                                            <m:ctrlPr>
                                              <a:rPr lang="en-GB" i="1">
                                                <a:latin typeface="Cambria Math" panose="02040503050406030204" pitchFamily="18" charset="0"/>
                                              </a:rPr>
                                            </m:ctrlPr>
                                          </m:sSubPr>
                                          <m:e>
                                            <m:acc>
                                              <m:accPr>
                                                <m:chr m:val="̇"/>
                                                <m:ctrlPr>
                                                  <a:rPr lang="en-GB" i="1">
                                                    <a:latin typeface="Cambria Math" panose="02040503050406030204" pitchFamily="18" charset="0"/>
                                                  </a:rPr>
                                                </m:ctrlPr>
                                              </m:accPr>
                                              <m:e>
                                                <m:r>
                                                  <a:rPr lang="en-GB">
                                                    <a:latin typeface="Cambria Math"/>
                                                  </a:rPr>
                                                  <m:t>𝑞</m:t>
                                                </m:r>
                                              </m:e>
                                            </m:acc>
                                          </m:e>
                                          <m:sub>
                                            <m:r>
                                              <a:rPr lang="en-GB">
                                                <a:latin typeface="Cambria Math"/>
                                              </a:rPr>
                                              <m:t>2</m:t>
                                            </m:r>
                                          </m:sub>
                                        </m:sSub>
                                      </m:e>
                                    </m:mr>
                                  </m:m>
                                </m:e>
                                <m:e>
                                  <m:m>
                                    <m:mPr>
                                      <m:mcs>
                                        <m:mc>
                                          <m:mcPr>
                                            <m:count m:val="2"/>
                                            <m:mcJc m:val="center"/>
                                          </m:mcPr>
                                        </m:mc>
                                      </m:mcs>
                                      <m:ctrlPr>
                                        <a:rPr lang="en-GB" i="1">
                                          <a:latin typeface="Cambria Math" panose="02040503050406030204" pitchFamily="18" charset="0"/>
                                        </a:rPr>
                                      </m:ctrlPr>
                                    </m:mPr>
                                    <m:mr>
                                      <m:e>
                                        <m:r>
                                          <m:rPr>
                                            <m:brk m:alnAt="7"/>
                                          </m:rPr>
                                          <a:rPr lang="en-GB">
                                            <a:latin typeface="Cambria Math"/>
                                          </a:rPr>
                                          <m:t>⋅</m:t>
                                        </m:r>
                                      </m:e>
                                      <m:e>
                                        <m:sSub>
                                          <m:sSubPr>
                                            <m:ctrlPr>
                                              <a:rPr lang="en-GB" i="1">
                                                <a:latin typeface="Cambria Math" panose="02040503050406030204" pitchFamily="18" charset="0"/>
                                              </a:rPr>
                                            </m:ctrlPr>
                                          </m:sSubPr>
                                          <m:e>
                                            <m:acc>
                                              <m:accPr>
                                                <m:chr m:val="̇"/>
                                                <m:ctrlPr>
                                                  <a:rPr lang="en-GB" i="1">
                                                    <a:latin typeface="Cambria Math" panose="02040503050406030204" pitchFamily="18" charset="0"/>
                                                  </a:rPr>
                                                </m:ctrlPr>
                                              </m:accPr>
                                              <m:e>
                                                <m:r>
                                                  <a:rPr lang="en-GB">
                                                    <a:latin typeface="Cambria Math"/>
                                                  </a:rPr>
                                                  <m:t>𝑞</m:t>
                                                </m:r>
                                              </m:e>
                                            </m:acc>
                                          </m:e>
                                          <m:sub>
                                            <m:r>
                                              <m:rPr>
                                                <m:sty m:val="p"/>
                                              </m:rPr>
                                              <a:rPr lang="en-GB" b="0" i="0" smtClean="0">
                                                <a:latin typeface="Cambria Math"/>
                                              </a:rPr>
                                              <m:t>n</m:t>
                                            </m:r>
                                          </m:sub>
                                        </m:sSub>
                                      </m:e>
                                    </m:mr>
                                  </m:m>
                                </m:e>
                              </m:mr>
                            </m:m>
                          </m:e>
                        </m:d>
                      </m:e>
                      <m:sup>
                        <m:r>
                          <a:rPr lang="en-GB">
                            <a:latin typeface="Cambria Math"/>
                          </a:rPr>
                          <m:t>𝑇</m:t>
                        </m:r>
                      </m:sup>
                    </m:sSup>
                  </m:oMath>
                </a14:m>
                <a:endParaRPr lang="en-GB" dirty="0"/>
              </a:p>
              <a:p>
                <a:pPr marL="0" indent="0">
                  <a:buNone/>
                </a:pPr>
                <a:r>
                  <a:rPr lang="en-GB" dirty="0"/>
                  <a:t>Vector of joint accelerations:	 </a:t>
                </a:r>
                <a14:m>
                  <m:oMath xmlns:m="http://schemas.openxmlformats.org/officeDocument/2006/math">
                    <m:acc>
                      <m:accPr>
                        <m:chr m:val="̈"/>
                        <m:ctrlPr>
                          <a:rPr lang="en-GB" i="1">
                            <a:latin typeface="Cambria Math" panose="02040503050406030204" pitchFamily="18" charset="0"/>
                          </a:rPr>
                        </m:ctrlPr>
                      </m:accPr>
                      <m:e>
                        <m:r>
                          <a:rPr lang="en-GB" b="1">
                            <a:latin typeface="Cambria Math"/>
                          </a:rPr>
                          <m:t>𝐪</m:t>
                        </m:r>
                      </m:e>
                    </m:acc>
                    <m:r>
                      <a:rPr lang="en-GB" i="1">
                        <a:latin typeface="Cambria Math"/>
                      </a:rPr>
                      <m:t>=</m:t>
                    </m:r>
                    <m:sSup>
                      <m:sSupPr>
                        <m:ctrlPr>
                          <a:rPr lang="en-GB" i="1">
                            <a:latin typeface="Cambria Math" panose="02040503050406030204" pitchFamily="18" charset="0"/>
                          </a:rPr>
                        </m:ctrlPr>
                      </m:sSupPr>
                      <m:e>
                        <m:d>
                          <m:dPr>
                            <m:begChr m:val="["/>
                            <m:endChr m:val="]"/>
                            <m:ctrlPr>
                              <a:rPr lang="en-GB" i="1">
                                <a:latin typeface="Cambria Math" panose="02040503050406030204" pitchFamily="18" charset="0"/>
                              </a:rPr>
                            </m:ctrlPr>
                          </m:dPr>
                          <m:e>
                            <m:m>
                              <m:mPr>
                                <m:mcs>
                                  <m:mc>
                                    <m:mcPr>
                                      <m:count m:val="2"/>
                                      <m:mcJc m:val="center"/>
                                    </m:mcPr>
                                  </m:mc>
                                </m:mcs>
                                <m:ctrlPr>
                                  <a:rPr lang="en-GB" i="1">
                                    <a:latin typeface="Cambria Math" panose="02040503050406030204" pitchFamily="18" charset="0"/>
                                  </a:rPr>
                                </m:ctrlPr>
                              </m:mPr>
                              <m:mr>
                                <m:e>
                                  <m:m>
                                    <m:mPr>
                                      <m:mcs>
                                        <m:mc>
                                          <m:mcPr>
                                            <m:count m:val="2"/>
                                            <m:mcJc m:val="center"/>
                                          </m:mcPr>
                                        </m:mc>
                                      </m:mcs>
                                      <m:ctrlPr>
                                        <a:rPr lang="en-GB" i="1">
                                          <a:latin typeface="Cambria Math" panose="02040503050406030204" pitchFamily="18" charset="0"/>
                                        </a:rPr>
                                      </m:ctrlPr>
                                    </m:mPr>
                                    <m:mr>
                                      <m:e>
                                        <m:sSub>
                                          <m:sSubPr>
                                            <m:ctrlPr>
                                              <a:rPr lang="en-GB" i="1">
                                                <a:latin typeface="Cambria Math" panose="02040503050406030204" pitchFamily="18" charset="0"/>
                                              </a:rPr>
                                            </m:ctrlPr>
                                          </m:sSubPr>
                                          <m:e>
                                            <m:acc>
                                              <m:accPr>
                                                <m:chr m:val="̈"/>
                                                <m:ctrlPr>
                                                  <a:rPr lang="en-GB" i="1">
                                                    <a:latin typeface="Cambria Math" panose="02040503050406030204" pitchFamily="18" charset="0"/>
                                                  </a:rPr>
                                                </m:ctrlPr>
                                              </m:accPr>
                                              <m:e>
                                                <m:r>
                                                  <a:rPr lang="en-GB" i="1">
                                                    <a:latin typeface="Cambria Math"/>
                                                  </a:rPr>
                                                  <m:t>𝑞</m:t>
                                                </m:r>
                                              </m:e>
                                            </m:acc>
                                          </m:e>
                                          <m:sub>
                                            <m:r>
                                              <a:rPr lang="en-GB" i="1">
                                                <a:latin typeface="Cambria Math"/>
                                              </a:rPr>
                                              <m:t>1</m:t>
                                            </m:r>
                                          </m:sub>
                                        </m:sSub>
                                      </m:e>
                                      <m:e>
                                        <m:sSub>
                                          <m:sSubPr>
                                            <m:ctrlPr>
                                              <a:rPr lang="en-GB" i="1">
                                                <a:latin typeface="Cambria Math" panose="02040503050406030204" pitchFamily="18" charset="0"/>
                                              </a:rPr>
                                            </m:ctrlPr>
                                          </m:sSubPr>
                                          <m:e>
                                            <m:acc>
                                              <m:accPr>
                                                <m:chr m:val="̈"/>
                                                <m:ctrlPr>
                                                  <a:rPr lang="en-GB" i="1">
                                                    <a:latin typeface="Cambria Math" panose="02040503050406030204" pitchFamily="18" charset="0"/>
                                                  </a:rPr>
                                                </m:ctrlPr>
                                              </m:accPr>
                                              <m:e>
                                                <m:r>
                                                  <a:rPr lang="en-GB" i="1">
                                                    <a:latin typeface="Cambria Math"/>
                                                  </a:rPr>
                                                  <m:t>𝑞</m:t>
                                                </m:r>
                                              </m:e>
                                            </m:acc>
                                          </m:e>
                                          <m:sub>
                                            <m:r>
                                              <a:rPr lang="en-GB" i="1">
                                                <a:latin typeface="Cambria Math"/>
                                              </a:rPr>
                                              <m:t>2</m:t>
                                            </m:r>
                                          </m:sub>
                                        </m:sSub>
                                      </m:e>
                                    </m:mr>
                                  </m:m>
                                </m:e>
                                <m:e>
                                  <m:m>
                                    <m:mPr>
                                      <m:mcs>
                                        <m:mc>
                                          <m:mcPr>
                                            <m:count m:val="2"/>
                                            <m:mcJc m:val="center"/>
                                          </m:mcPr>
                                        </m:mc>
                                      </m:mcs>
                                      <m:ctrlPr>
                                        <a:rPr lang="en-GB" i="1">
                                          <a:latin typeface="Cambria Math" panose="02040503050406030204" pitchFamily="18" charset="0"/>
                                        </a:rPr>
                                      </m:ctrlPr>
                                    </m:mPr>
                                    <m:mr>
                                      <m:e>
                                        <m:r>
                                          <m:rPr>
                                            <m:brk m:alnAt="7"/>
                                          </m:rPr>
                                          <a:rPr lang="fr-FR" b="0" i="1" smtClean="0">
                                            <a:latin typeface="Cambria Math" panose="02040503050406030204" pitchFamily="18" charset="0"/>
                                          </a:rPr>
                                          <m:t>.</m:t>
                                        </m:r>
                                        <m:r>
                                          <a:rPr lang="fr-FR" b="0" i="1" smtClean="0">
                                            <a:latin typeface="Cambria Math" panose="02040503050406030204" pitchFamily="18" charset="0"/>
                                          </a:rPr>
                                          <m:t>.</m:t>
                                        </m:r>
                                        <m:r>
                                          <m:rPr>
                                            <m:brk m:alnAt="7"/>
                                          </m:rPr>
                                          <a:rPr lang="en-GB">
                                            <a:latin typeface="Cambria Math"/>
                                          </a:rPr>
                                          <m:t>.</m:t>
                                        </m:r>
                                      </m:e>
                                      <m:e>
                                        <m:sSub>
                                          <m:sSubPr>
                                            <m:ctrlPr>
                                              <a:rPr lang="en-GB" i="1">
                                                <a:latin typeface="Cambria Math" panose="02040503050406030204" pitchFamily="18" charset="0"/>
                                              </a:rPr>
                                            </m:ctrlPr>
                                          </m:sSubPr>
                                          <m:e>
                                            <m:acc>
                                              <m:accPr>
                                                <m:chr m:val="̈"/>
                                                <m:ctrlPr>
                                                  <a:rPr lang="en-GB" i="1">
                                                    <a:latin typeface="Cambria Math" panose="02040503050406030204" pitchFamily="18" charset="0"/>
                                                  </a:rPr>
                                                </m:ctrlPr>
                                              </m:accPr>
                                              <m:e>
                                                <m:r>
                                                  <a:rPr lang="en-GB" i="1">
                                                    <a:latin typeface="Cambria Math"/>
                                                  </a:rPr>
                                                  <m:t>𝑞</m:t>
                                                </m:r>
                                              </m:e>
                                            </m:acc>
                                          </m:e>
                                          <m:sub>
                                            <m:r>
                                              <m:rPr>
                                                <m:sty m:val="p"/>
                                              </m:rPr>
                                              <a:rPr lang="en-GB" b="0" i="0" smtClean="0">
                                                <a:latin typeface="Cambria Math"/>
                                              </a:rPr>
                                              <m:t>n</m:t>
                                            </m:r>
                                          </m:sub>
                                        </m:sSub>
                                      </m:e>
                                    </m:mr>
                                  </m:m>
                                </m:e>
                              </m:mr>
                            </m:m>
                          </m:e>
                        </m:d>
                      </m:e>
                      <m:sup>
                        <m:r>
                          <a:rPr lang="en-GB" i="1">
                            <a:latin typeface="Cambria Math"/>
                          </a:rPr>
                          <m:t>𝑇</m:t>
                        </m:r>
                      </m:sup>
                    </m:sSup>
                  </m:oMath>
                </a14:m>
                <a:endParaRPr lang="en-GB" dirty="0">
                  <a:latin typeface="Cambria Math"/>
                </a:endParaRPr>
              </a:p>
              <a:p>
                <a:pPr marL="0" indent="0">
                  <a:buNone/>
                </a:pPr>
                <a:endParaRPr lang="en-GB" dirty="0"/>
              </a:p>
              <a:p>
                <a:pPr marL="0" indent="0">
                  <a:buNone/>
                </a:pPr>
                <a:endParaRPr lang="en-GB"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xfrm>
                <a:off x="280656" y="959667"/>
                <a:ext cx="8456944" cy="5514285"/>
              </a:xfrm>
              <a:blipFill>
                <a:blip r:embed="rId3"/>
                <a:stretch>
                  <a:fillRect l="-601" t="-460"/>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en-GB" dirty="0"/>
              <a:t>Definitions</a:t>
            </a:r>
          </a:p>
        </p:txBody>
      </p:sp>
      <p:pic>
        <p:nvPicPr>
          <p:cNvPr id="5" name="Image 4"/>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177201" y="1728434"/>
            <a:ext cx="6073499" cy="2362232"/>
          </a:xfrm>
          <a:prstGeom prst="rect">
            <a:avLst/>
          </a:prstGeom>
        </p:spPr>
      </p:pic>
      <p:sp>
        <p:nvSpPr>
          <p:cNvPr id="6" name="Ellipse 5"/>
          <p:cNvSpPr/>
          <p:nvPr/>
        </p:nvSpPr>
        <p:spPr>
          <a:xfrm>
            <a:off x="5551199" y="2438949"/>
            <a:ext cx="1065601" cy="678651"/>
          </a:xfrm>
          <a:prstGeom prst="ellipse">
            <a:avLst/>
          </a:prstGeom>
          <a:noFill/>
          <a:ln w="38100">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p:cNvSpPr txBox="1"/>
          <p:nvPr/>
        </p:nvSpPr>
        <p:spPr>
          <a:xfrm>
            <a:off x="5383675" y="1578969"/>
            <a:ext cx="2012650" cy="369332"/>
          </a:xfrm>
          <a:prstGeom prst="rect">
            <a:avLst/>
          </a:prstGeom>
          <a:noFill/>
        </p:spPr>
        <p:txBody>
          <a:bodyPr wrap="square" rtlCol="0">
            <a:spAutoFit/>
          </a:bodyPr>
          <a:lstStyle/>
          <a:p>
            <a:r>
              <a:rPr lang="en-GB" dirty="0">
                <a:solidFill>
                  <a:srgbClr val="003399"/>
                </a:solidFill>
                <a:latin typeface="+mn-lt"/>
              </a:rPr>
              <a:t>Operational space</a:t>
            </a:r>
          </a:p>
        </p:txBody>
      </p:sp>
      <mc:AlternateContent xmlns:mc="http://schemas.openxmlformats.org/markup-compatibility/2006" xmlns:a14="http://schemas.microsoft.com/office/drawing/2010/main">
        <mc:Choice Requires="a14">
          <p:sp>
            <p:nvSpPr>
              <p:cNvPr id="8" name="ZoneTexte 7"/>
              <p:cNvSpPr txBox="1"/>
              <p:nvPr/>
            </p:nvSpPr>
            <p:spPr>
              <a:xfrm>
                <a:off x="2074333" y="3639744"/>
                <a:ext cx="381600"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200" b="0" i="1" dirty="0" smtClean="0">
                              <a:solidFill>
                                <a:srgbClr val="003399"/>
                              </a:solidFill>
                              <a:latin typeface="Cambria Math" panose="02040503050406030204" pitchFamily="18" charset="0"/>
                            </a:rPr>
                          </m:ctrlPr>
                        </m:sSubPr>
                        <m:e>
                          <m:r>
                            <a:rPr lang="fr-FR" sz="1200" b="0" i="1" dirty="0" smtClean="0">
                              <a:solidFill>
                                <a:srgbClr val="003399"/>
                              </a:solidFill>
                              <a:latin typeface="Cambria Math"/>
                            </a:rPr>
                            <m:t>𝑥</m:t>
                          </m:r>
                        </m:e>
                        <m:sub>
                          <m:r>
                            <a:rPr lang="fr-FR" sz="1200" b="0" i="1" dirty="0" smtClean="0">
                              <a:solidFill>
                                <a:srgbClr val="003399"/>
                              </a:solidFill>
                              <a:latin typeface="Cambria Math"/>
                            </a:rPr>
                            <m:t>0</m:t>
                          </m:r>
                        </m:sub>
                      </m:sSub>
                    </m:oMath>
                  </m:oMathPara>
                </a14:m>
                <a:endParaRPr lang="fr-FR" sz="1200" dirty="0">
                  <a:solidFill>
                    <a:srgbClr val="FF0000"/>
                  </a:solidFill>
                  <a:latin typeface="+mn-lt"/>
                </a:endParaRPr>
              </a:p>
            </p:txBody>
          </p:sp>
        </mc:Choice>
        <mc:Fallback xmlns="">
          <p:sp>
            <p:nvSpPr>
              <p:cNvPr id="8" name="ZoneTexte 7"/>
              <p:cNvSpPr txBox="1">
                <a:spLocks noRot="1" noChangeAspect="1" noMove="1" noResize="1" noEditPoints="1" noAdjustHandles="1" noChangeArrowheads="1" noChangeShapeType="1" noTextEdit="1"/>
              </p:cNvSpPr>
              <p:nvPr/>
            </p:nvSpPr>
            <p:spPr>
              <a:xfrm>
                <a:off x="2074333" y="3639744"/>
                <a:ext cx="381600" cy="276999"/>
              </a:xfrm>
              <a:prstGeom prst="rect">
                <a:avLst/>
              </a:prstGeom>
              <a:blipFill rotWithShape="1">
                <a:blip r:embed="rId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9" name="ZoneTexte 8"/>
              <p:cNvSpPr txBox="1"/>
              <p:nvPr/>
            </p:nvSpPr>
            <p:spPr>
              <a:xfrm>
                <a:off x="6163200" y="2593608"/>
                <a:ext cx="4536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0" i="1" dirty="0" smtClean="0">
                          <a:solidFill>
                            <a:srgbClr val="003399"/>
                          </a:solidFill>
                          <a:latin typeface="Cambria Math"/>
                        </a:rPr>
                        <m:t>𝑃</m:t>
                      </m:r>
                    </m:oMath>
                  </m:oMathPara>
                </a14:m>
                <a:endParaRPr lang="fr-FR" dirty="0">
                  <a:solidFill>
                    <a:srgbClr val="003399"/>
                  </a:solidFill>
                  <a:latin typeface="+mn-lt"/>
                </a:endParaRPr>
              </a:p>
            </p:txBody>
          </p:sp>
        </mc:Choice>
        <mc:Fallback xmlns="">
          <p:sp>
            <p:nvSpPr>
              <p:cNvPr id="9" name="ZoneTexte 8"/>
              <p:cNvSpPr txBox="1">
                <a:spLocks noRot="1" noChangeAspect="1" noMove="1" noResize="1" noEditPoints="1" noAdjustHandles="1" noChangeArrowheads="1" noChangeShapeType="1" noTextEdit="1"/>
              </p:cNvSpPr>
              <p:nvPr/>
            </p:nvSpPr>
            <p:spPr>
              <a:xfrm>
                <a:off x="6163200" y="2593608"/>
                <a:ext cx="453600" cy="369332"/>
              </a:xfrm>
              <a:prstGeom prst="rect">
                <a:avLst/>
              </a:prstGeom>
              <a:blipFill rotWithShape="1">
                <a:blip r:embed="rId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0" name="ZoneTexte 9"/>
              <p:cNvSpPr txBox="1"/>
              <p:nvPr/>
            </p:nvSpPr>
            <p:spPr>
              <a:xfrm>
                <a:off x="2926582" y="3438554"/>
                <a:ext cx="378301"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200" b="0" i="1" dirty="0" smtClean="0">
                              <a:solidFill>
                                <a:srgbClr val="003399"/>
                              </a:solidFill>
                              <a:latin typeface="Cambria Math" panose="02040503050406030204" pitchFamily="18" charset="0"/>
                            </a:rPr>
                          </m:ctrlPr>
                        </m:sSubPr>
                        <m:e>
                          <m:r>
                            <a:rPr lang="fr-FR" sz="1200" b="0" i="1" dirty="0" smtClean="0">
                              <a:solidFill>
                                <a:srgbClr val="003399"/>
                              </a:solidFill>
                              <a:latin typeface="Cambria Math"/>
                            </a:rPr>
                            <m:t>𝑦</m:t>
                          </m:r>
                        </m:e>
                        <m:sub>
                          <m:r>
                            <a:rPr lang="fr-FR" sz="1200" b="0" i="1" dirty="0" smtClean="0">
                              <a:solidFill>
                                <a:srgbClr val="003399"/>
                              </a:solidFill>
                              <a:latin typeface="Cambria Math"/>
                            </a:rPr>
                            <m:t>0</m:t>
                          </m:r>
                        </m:sub>
                      </m:sSub>
                    </m:oMath>
                  </m:oMathPara>
                </a14:m>
                <a:endParaRPr lang="fr-FR" sz="1200" dirty="0">
                  <a:solidFill>
                    <a:srgbClr val="003399"/>
                  </a:solidFill>
                  <a:latin typeface="+mn-lt"/>
                </a:endParaRPr>
              </a:p>
            </p:txBody>
          </p:sp>
        </mc:Choice>
        <mc:Fallback xmlns="">
          <p:sp>
            <p:nvSpPr>
              <p:cNvPr id="10" name="ZoneTexte 9"/>
              <p:cNvSpPr txBox="1">
                <a:spLocks noRot="1" noChangeAspect="1" noMove="1" noResize="1" noEditPoints="1" noAdjustHandles="1" noChangeArrowheads="1" noChangeShapeType="1" noTextEdit="1"/>
              </p:cNvSpPr>
              <p:nvPr/>
            </p:nvSpPr>
            <p:spPr>
              <a:xfrm>
                <a:off x="2926582" y="3438554"/>
                <a:ext cx="378301" cy="276999"/>
              </a:xfrm>
              <a:prstGeom prst="rect">
                <a:avLst/>
              </a:prstGeom>
              <a:blipFill rotWithShape="1">
                <a:blip r:embed="rId7"/>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 name="ZoneTexte 10"/>
              <p:cNvSpPr txBox="1"/>
              <p:nvPr/>
            </p:nvSpPr>
            <p:spPr>
              <a:xfrm>
                <a:off x="1177201" y="3368640"/>
                <a:ext cx="381600"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200" b="0" i="1" dirty="0" smtClean="0">
                              <a:solidFill>
                                <a:schemeClr val="bg1"/>
                              </a:solidFill>
                              <a:latin typeface="Cambria Math" panose="02040503050406030204" pitchFamily="18" charset="0"/>
                            </a:rPr>
                          </m:ctrlPr>
                        </m:sSubPr>
                        <m:e>
                          <m:r>
                            <a:rPr lang="fr-FR" sz="1200" b="0" i="1" dirty="0" smtClean="0">
                              <a:solidFill>
                                <a:schemeClr val="bg1"/>
                              </a:solidFill>
                              <a:latin typeface="Cambria Math"/>
                            </a:rPr>
                            <m:t>𝑧</m:t>
                          </m:r>
                        </m:e>
                        <m:sub>
                          <m:r>
                            <a:rPr lang="fr-FR" sz="1200" b="0" i="1" dirty="0" smtClean="0">
                              <a:solidFill>
                                <a:schemeClr val="bg1"/>
                              </a:solidFill>
                              <a:latin typeface="Cambria Math"/>
                            </a:rPr>
                            <m:t>0</m:t>
                          </m:r>
                        </m:sub>
                      </m:sSub>
                    </m:oMath>
                  </m:oMathPara>
                </a14:m>
                <a:endParaRPr lang="fr-FR" sz="1200" dirty="0">
                  <a:solidFill>
                    <a:srgbClr val="FF0000"/>
                  </a:solidFill>
                  <a:latin typeface="+mn-lt"/>
                </a:endParaRPr>
              </a:p>
            </p:txBody>
          </p:sp>
        </mc:Choice>
        <mc:Fallback xmlns="">
          <p:sp>
            <p:nvSpPr>
              <p:cNvPr id="11" name="ZoneTexte 10"/>
              <p:cNvSpPr txBox="1">
                <a:spLocks noRot="1" noChangeAspect="1" noMove="1" noResize="1" noEditPoints="1" noAdjustHandles="1" noChangeArrowheads="1" noChangeShapeType="1" noTextEdit="1"/>
              </p:cNvSpPr>
              <p:nvPr/>
            </p:nvSpPr>
            <p:spPr>
              <a:xfrm>
                <a:off x="1177201" y="3368640"/>
                <a:ext cx="381600" cy="276999"/>
              </a:xfrm>
              <a:prstGeom prst="rect">
                <a:avLst/>
              </a:prstGeom>
              <a:blipFill rotWithShape="1">
                <a:blip r:embed="rId8"/>
                <a:stretch>
                  <a:fillRect/>
                </a:stretch>
              </a:blipFill>
            </p:spPr>
            <p:txBody>
              <a:bodyPr/>
              <a:lstStyle/>
              <a:p>
                <a:r>
                  <a:rPr lang="fr-FR">
                    <a:noFill/>
                  </a:rPr>
                  <a:t> </a:t>
                </a:r>
              </a:p>
            </p:txBody>
          </p:sp>
        </mc:Fallback>
      </mc:AlternateContent>
      <p:sp>
        <p:nvSpPr>
          <p:cNvPr id="12" name="Ellipse 11"/>
          <p:cNvSpPr/>
          <p:nvPr/>
        </p:nvSpPr>
        <p:spPr>
          <a:xfrm>
            <a:off x="6003925" y="2700000"/>
            <a:ext cx="219075" cy="209550"/>
          </a:xfrm>
          <a:prstGeom prst="ellipse">
            <a:avLst/>
          </a:prstGeom>
          <a:solidFill>
            <a:srgbClr val="003399"/>
          </a:solidFill>
          <a:ln>
            <a:solidFill>
              <a:srgbClr val="00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3" name="Connecteur droit avec flèche 12"/>
          <p:cNvCxnSpPr/>
          <p:nvPr/>
        </p:nvCxnSpPr>
        <p:spPr>
          <a:xfrm>
            <a:off x="2498951" y="3458633"/>
            <a:ext cx="578682" cy="0"/>
          </a:xfrm>
          <a:prstGeom prst="straightConnector1">
            <a:avLst/>
          </a:prstGeom>
          <a:ln w="28575">
            <a:solidFill>
              <a:srgbClr val="003399"/>
            </a:solidFill>
            <a:tailEnd type="arrow"/>
          </a:ln>
        </p:spPr>
        <p:style>
          <a:lnRef idx="1">
            <a:schemeClr val="accent1"/>
          </a:lnRef>
          <a:fillRef idx="0">
            <a:schemeClr val="accent1"/>
          </a:fillRef>
          <a:effectRef idx="0">
            <a:schemeClr val="accent1"/>
          </a:effectRef>
          <a:fontRef idx="minor">
            <a:schemeClr val="tx1"/>
          </a:fontRef>
        </p:style>
      </p:cxnSp>
      <p:cxnSp>
        <p:nvCxnSpPr>
          <p:cNvPr id="14" name="Connecteur droit avec flèche 13"/>
          <p:cNvCxnSpPr/>
          <p:nvPr/>
        </p:nvCxnSpPr>
        <p:spPr>
          <a:xfrm flipV="1">
            <a:off x="2503184" y="2958707"/>
            <a:ext cx="0" cy="495693"/>
          </a:xfrm>
          <a:prstGeom prst="straightConnector1">
            <a:avLst/>
          </a:prstGeom>
          <a:ln w="28575">
            <a:solidFill>
              <a:srgbClr val="003399"/>
            </a:solidFill>
            <a:tailEnd type="arrow"/>
          </a:ln>
        </p:spPr>
        <p:style>
          <a:lnRef idx="1">
            <a:schemeClr val="accent1"/>
          </a:lnRef>
          <a:fillRef idx="0">
            <a:schemeClr val="accent1"/>
          </a:fillRef>
          <a:effectRef idx="0">
            <a:schemeClr val="accent1"/>
          </a:effectRef>
          <a:fontRef idx="minor">
            <a:schemeClr val="tx1"/>
          </a:fontRef>
        </p:style>
      </p:cxnSp>
      <p:cxnSp>
        <p:nvCxnSpPr>
          <p:cNvPr id="15" name="Connecteur droit avec flèche 14"/>
          <p:cNvCxnSpPr/>
          <p:nvPr/>
        </p:nvCxnSpPr>
        <p:spPr>
          <a:xfrm flipH="1">
            <a:off x="2077092" y="3459691"/>
            <a:ext cx="428852" cy="287867"/>
          </a:xfrm>
          <a:prstGeom prst="straightConnector1">
            <a:avLst/>
          </a:prstGeom>
          <a:ln w="28575">
            <a:solidFill>
              <a:srgbClr val="003399"/>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ZoneTexte 15"/>
              <p:cNvSpPr txBox="1"/>
              <p:nvPr/>
            </p:nvSpPr>
            <p:spPr>
              <a:xfrm>
                <a:off x="2455933" y="2850204"/>
                <a:ext cx="378301"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200" b="0" i="1" dirty="0" smtClean="0">
                              <a:solidFill>
                                <a:srgbClr val="003399"/>
                              </a:solidFill>
                              <a:latin typeface="Cambria Math" panose="02040503050406030204" pitchFamily="18" charset="0"/>
                            </a:rPr>
                          </m:ctrlPr>
                        </m:sSubPr>
                        <m:e>
                          <m:r>
                            <a:rPr lang="fr-FR" sz="1200" b="0" i="1" dirty="0" smtClean="0">
                              <a:solidFill>
                                <a:srgbClr val="003399"/>
                              </a:solidFill>
                              <a:latin typeface="Cambria Math"/>
                            </a:rPr>
                            <m:t>𝑧</m:t>
                          </m:r>
                        </m:e>
                        <m:sub>
                          <m:r>
                            <a:rPr lang="fr-FR" sz="1200" b="0" i="1" dirty="0" smtClean="0">
                              <a:solidFill>
                                <a:srgbClr val="003399"/>
                              </a:solidFill>
                              <a:latin typeface="Cambria Math"/>
                            </a:rPr>
                            <m:t>0</m:t>
                          </m:r>
                        </m:sub>
                      </m:sSub>
                    </m:oMath>
                  </m:oMathPara>
                </a14:m>
                <a:endParaRPr lang="fr-FR" sz="1200" dirty="0">
                  <a:solidFill>
                    <a:srgbClr val="003399"/>
                  </a:solidFill>
                  <a:latin typeface="+mn-lt"/>
                </a:endParaRPr>
              </a:p>
            </p:txBody>
          </p:sp>
        </mc:Choice>
        <mc:Fallback xmlns="">
          <p:sp>
            <p:nvSpPr>
              <p:cNvPr id="16" name="ZoneTexte 15"/>
              <p:cNvSpPr txBox="1">
                <a:spLocks noRot="1" noChangeAspect="1" noMove="1" noResize="1" noEditPoints="1" noAdjustHandles="1" noChangeArrowheads="1" noChangeShapeType="1" noTextEdit="1"/>
              </p:cNvSpPr>
              <p:nvPr/>
            </p:nvSpPr>
            <p:spPr>
              <a:xfrm>
                <a:off x="2455933" y="2850204"/>
                <a:ext cx="378301" cy="276999"/>
              </a:xfrm>
              <a:prstGeom prst="rect">
                <a:avLst/>
              </a:prstGeom>
              <a:blipFill rotWithShape="1">
                <a:blip r:embed="rId9"/>
                <a:stretch>
                  <a:fillRect/>
                </a:stretch>
              </a:blipFill>
            </p:spPr>
            <p:txBody>
              <a:bodyPr/>
              <a:lstStyle/>
              <a:p>
                <a:r>
                  <a:rPr lang="fr-FR">
                    <a:noFill/>
                  </a:rPr>
                  <a:t> </a:t>
                </a:r>
              </a:p>
            </p:txBody>
          </p:sp>
        </mc:Fallback>
      </mc:AlternateContent>
      <p:sp>
        <p:nvSpPr>
          <p:cNvPr id="17" name="ZoneTexte 16"/>
          <p:cNvSpPr txBox="1"/>
          <p:nvPr/>
        </p:nvSpPr>
        <p:spPr>
          <a:xfrm>
            <a:off x="1822851" y="1394303"/>
            <a:ext cx="1908000" cy="369332"/>
          </a:xfrm>
          <a:prstGeom prst="rect">
            <a:avLst/>
          </a:prstGeom>
          <a:noFill/>
        </p:spPr>
        <p:txBody>
          <a:bodyPr wrap="square" rtlCol="0">
            <a:spAutoFit/>
          </a:bodyPr>
          <a:lstStyle/>
          <a:p>
            <a:r>
              <a:rPr lang="en-GB" dirty="0">
                <a:solidFill>
                  <a:srgbClr val="FF0000"/>
                </a:solidFill>
                <a:latin typeface="+mn-lt"/>
              </a:rPr>
              <a:t>Joint space</a:t>
            </a:r>
          </a:p>
        </p:txBody>
      </p:sp>
    </p:spTree>
    <p:extLst>
      <p:ext uri="{BB962C8B-B14F-4D97-AF65-F5344CB8AC3E}">
        <p14:creationId xmlns:p14="http://schemas.microsoft.com/office/powerpoint/2010/main" val="837579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pPr marL="0" indent="0">
                  <a:buNone/>
                </a:pPr>
                <a:endParaRPr lang="en-GB" u="sng" dirty="0">
                  <a:latin typeface="Cambria Math"/>
                </a:endParaRPr>
              </a:p>
              <a:p>
                <a:pPr marL="0" indent="0">
                  <a:buNone/>
                </a:pPr>
                <a:r>
                  <a:rPr lang="en-GB" u="sng" dirty="0">
                    <a:latin typeface="Cambria Math"/>
                  </a:rPr>
                  <a:t>Operational space :</a:t>
                </a:r>
              </a:p>
              <a:p>
                <a:pPr marL="0" indent="0">
                  <a:buNone/>
                </a:pPr>
                <a:r>
                  <a:rPr lang="en-GB" dirty="0">
                    <a:latin typeface="Cambria Math"/>
                  </a:rPr>
                  <a:t>End effector pose:  </a:t>
                </a:r>
                <a14:m>
                  <m:oMath xmlns:m="http://schemas.openxmlformats.org/officeDocument/2006/math">
                    <m:r>
                      <a:rPr lang="en-GB" b="1" smtClean="0">
                        <a:latin typeface="Cambria Math"/>
                      </a:rPr>
                      <m:t>𝐱</m:t>
                    </m:r>
                    <m:r>
                      <a:rPr lang="en-GB" b="1" i="1" smtClean="0">
                        <a:latin typeface="Cambria Math"/>
                      </a:rPr>
                      <m:t> </m:t>
                    </m:r>
                    <m:r>
                      <a:rPr lang="en-GB" i="1" smtClean="0">
                        <a:latin typeface="Cambria Math"/>
                        <a:ea typeface="Cambria Math"/>
                      </a:rPr>
                      <m:t>≡</m:t>
                    </m:r>
                  </m:oMath>
                </a14:m>
                <a:r>
                  <a:rPr lang="en-GB" dirty="0">
                    <a:latin typeface="Cambria Math"/>
                  </a:rPr>
                  <a:t> position + orientation de </a:t>
                </a:r>
                <a:r>
                  <a:rPr lang="en-GB" i="1" dirty="0">
                    <a:latin typeface="Cambria Math"/>
                  </a:rPr>
                  <a:t>P</a:t>
                </a:r>
                <a:r>
                  <a:rPr lang="en-GB" dirty="0">
                    <a:latin typeface="Cambria Math"/>
                  </a:rPr>
                  <a:t>  dans le </a:t>
                </a:r>
                <a:r>
                  <a:rPr lang="en-GB" dirty="0" err="1">
                    <a:latin typeface="Cambria Math"/>
                  </a:rPr>
                  <a:t>repère</a:t>
                </a:r>
                <a:r>
                  <a:rPr lang="en-GB" dirty="0">
                    <a:latin typeface="Cambria Math"/>
                  </a:rPr>
                  <a:t> </a:t>
                </a:r>
                <a14:m>
                  <m:oMath xmlns:m="http://schemas.openxmlformats.org/officeDocument/2006/math">
                    <m:sSub>
                      <m:sSubPr>
                        <m:ctrlPr>
                          <a:rPr lang="en-GB" i="1" smtClean="0">
                            <a:latin typeface="Cambria Math" panose="02040503050406030204" pitchFamily="18" charset="0"/>
                          </a:rPr>
                        </m:ctrlPr>
                      </m:sSubPr>
                      <m:e>
                        <m:r>
                          <a:rPr lang="en-GB" i="1" smtClean="0">
                            <a:latin typeface="Cambria Math"/>
                            <a:ea typeface="Cambria Math"/>
                          </a:rPr>
                          <m:t>ℛ</m:t>
                        </m:r>
                      </m:e>
                      <m:sub>
                        <m:r>
                          <a:rPr lang="en-GB" i="1" smtClean="0">
                            <a:latin typeface="Cambria Math"/>
                          </a:rPr>
                          <m:t>0</m:t>
                        </m:r>
                      </m:sub>
                    </m:sSub>
                    <m:d>
                      <m:dPr>
                        <m:ctrlPr>
                          <a:rPr lang="en-GB" i="1" smtClean="0">
                            <a:latin typeface="Cambria Math" panose="02040503050406030204" pitchFamily="18" charset="0"/>
                          </a:rPr>
                        </m:ctrlPr>
                      </m:dPr>
                      <m:e>
                        <m:sSub>
                          <m:sSubPr>
                            <m:ctrlPr>
                              <a:rPr lang="en-GB" i="1" smtClean="0">
                                <a:latin typeface="Cambria Math" panose="02040503050406030204" pitchFamily="18" charset="0"/>
                              </a:rPr>
                            </m:ctrlPr>
                          </m:sSubPr>
                          <m:e>
                            <m:r>
                              <a:rPr lang="en-GB" i="1" smtClean="0">
                                <a:latin typeface="Cambria Math"/>
                              </a:rPr>
                              <m:t>𝑥</m:t>
                            </m:r>
                          </m:e>
                          <m:sub>
                            <m:r>
                              <a:rPr lang="en-GB" i="1" smtClean="0">
                                <a:latin typeface="Cambria Math"/>
                              </a:rPr>
                              <m:t>0</m:t>
                            </m:r>
                          </m:sub>
                        </m:sSub>
                        <m:r>
                          <a:rPr lang="en-GB" i="1" smtClean="0">
                            <a:latin typeface="Cambria Math"/>
                          </a:rPr>
                          <m:t>,</m:t>
                        </m:r>
                        <m:sSub>
                          <m:sSubPr>
                            <m:ctrlPr>
                              <a:rPr lang="en-GB" i="1" smtClean="0">
                                <a:latin typeface="Cambria Math" panose="02040503050406030204" pitchFamily="18" charset="0"/>
                              </a:rPr>
                            </m:ctrlPr>
                          </m:sSubPr>
                          <m:e>
                            <m:r>
                              <a:rPr lang="en-GB" i="1" smtClean="0">
                                <a:latin typeface="Cambria Math"/>
                              </a:rPr>
                              <m:t>𝑦</m:t>
                            </m:r>
                          </m:e>
                          <m:sub>
                            <m:r>
                              <a:rPr lang="en-GB" i="1" smtClean="0">
                                <a:latin typeface="Cambria Math"/>
                              </a:rPr>
                              <m:t>0</m:t>
                            </m:r>
                          </m:sub>
                        </m:sSub>
                        <m:r>
                          <a:rPr lang="en-GB" i="1" smtClean="0">
                            <a:latin typeface="Cambria Math"/>
                          </a:rPr>
                          <m:t>,</m:t>
                        </m:r>
                        <m:sSub>
                          <m:sSubPr>
                            <m:ctrlPr>
                              <a:rPr lang="en-GB" i="1" smtClean="0">
                                <a:latin typeface="Cambria Math" panose="02040503050406030204" pitchFamily="18" charset="0"/>
                              </a:rPr>
                            </m:ctrlPr>
                          </m:sSubPr>
                          <m:e>
                            <m:r>
                              <a:rPr lang="en-GB" i="1" smtClean="0">
                                <a:latin typeface="Cambria Math"/>
                              </a:rPr>
                              <m:t>𝑧</m:t>
                            </m:r>
                          </m:e>
                          <m:sub>
                            <m:r>
                              <a:rPr lang="en-GB" i="1" smtClean="0">
                                <a:latin typeface="Cambria Math"/>
                              </a:rPr>
                              <m:t>0</m:t>
                            </m:r>
                          </m:sub>
                        </m:sSub>
                      </m:e>
                    </m:d>
                  </m:oMath>
                </a14:m>
                <a:endParaRPr lang="en-GB" dirty="0">
                  <a:latin typeface="Cambria Math"/>
                </a:endParaRPr>
              </a:p>
              <a:p>
                <a:pPr marL="0" indent="0">
                  <a:buNone/>
                </a:pPr>
                <a:r>
                  <a:rPr lang="en-GB" dirty="0">
                    <a:latin typeface="Cambria Math"/>
                  </a:rPr>
                  <a:t>Velocity of the end effector : </a:t>
                </a:r>
                <a14:m>
                  <m:oMath xmlns:m="http://schemas.openxmlformats.org/officeDocument/2006/math">
                    <m:acc>
                      <m:accPr>
                        <m:chr m:val="̇"/>
                        <m:ctrlPr>
                          <a:rPr lang="en-GB" i="1" smtClean="0">
                            <a:latin typeface="Cambria Math" panose="02040503050406030204" pitchFamily="18" charset="0"/>
                          </a:rPr>
                        </m:ctrlPr>
                      </m:accPr>
                      <m:e>
                        <m:r>
                          <a:rPr lang="en-GB" b="1" smtClean="0">
                            <a:latin typeface="Cambria Math"/>
                          </a:rPr>
                          <m:t>𝐱</m:t>
                        </m:r>
                      </m:e>
                    </m:acc>
                    <m:r>
                      <a:rPr lang="en-GB" i="1" smtClean="0">
                        <a:latin typeface="Cambria Math"/>
                      </a:rPr>
                      <m:t>=</m:t>
                    </m:r>
                    <m:sSup>
                      <m:sSupPr>
                        <m:ctrlPr>
                          <a:rPr lang="en-GB" i="1" smtClean="0">
                            <a:latin typeface="Cambria Math" panose="02040503050406030204" pitchFamily="18" charset="0"/>
                          </a:rPr>
                        </m:ctrlPr>
                      </m:sSupPr>
                      <m:e>
                        <m:d>
                          <m:dPr>
                            <m:begChr m:val="["/>
                            <m:endChr m:val="]"/>
                            <m:ctrlPr>
                              <a:rPr lang="en-GB" i="1" smtClean="0">
                                <a:latin typeface="Cambria Math" panose="02040503050406030204" pitchFamily="18" charset="0"/>
                              </a:rPr>
                            </m:ctrlPr>
                          </m:dPr>
                          <m:e>
                            <m:m>
                              <m:mPr>
                                <m:mcs>
                                  <m:mc>
                                    <m:mcPr>
                                      <m:count m:val="3"/>
                                      <m:mcJc m:val="center"/>
                                    </m:mcPr>
                                  </m:mc>
                                </m:mcs>
                                <m:ctrlPr>
                                  <a:rPr lang="en-GB" i="1" smtClean="0">
                                    <a:latin typeface="Cambria Math" panose="02040503050406030204" pitchFamily="18" charset="0"/>
                                  </a:rPr>
                                </m:ctrlPr>
                              </m:mPr>
                              <m:mr>
                                <m:e>
                                  <m:acc>
                                    <m:accPr>
                                      <m:chr m:val="̇"/>
                                      <m:ctrlPr>
                                        <a:rPr lang="en-GB" i="1" smtClean="0">
                                          <a:latin typeface="Cambria Math" panose="02040503050406030204" pitchFamily="18" charset="0"/>
                                        </a:rPr>
                                      </m:ctrlPr>
                                    </m:accPr>
                                    <m:e>
                                      <m:r>
                                        <a:rPr lang="en-GB" i="1" smtClean="0">
                                          <a:latin typeface="Cambria Math"/>
                                        </a:rPr>
                                        <m:t>𝑥</m:t>
                                      </m:r>
                                    </m:e>
                                  </m:acc>
                                </m:e>
                                <m:e>
                                  <m:acc>
                                    <m:accPr>
                                      <m:chr m:val="̇"/>
                                      <m:ctrlPr>
                                        <a:rPr lang="en-GB" i="1" smtClean="0">
                                          <a:latin typeface="Cambria Math" panose="02040503050406030204" pitchFamily="18" charset="0"/>
                                        </a:rPr>
                                      </m:ctrlPr>
                                    </m:accPr>
                                    <m:e>
                                      <m:r>
                                        <a:rPr lang="en-GB" i="1" smtClean="0">
                                          <a:latin typeface="Cambria Math"/>
                                        </a:rPr>
                                        <m:t>𝑦</m:t>
                                      </m:r>
                                    </m:e>
                                  </m:acc>
                                </m:e>
                                <m:e>
                                  <m:m>
                                    <m:mPr>
                                      <m:mcs>
                                        <m:mc>
                                          <m:mcPr>
                                            <m:count m:val="3"/>
                                            <m:mcJc m:val="center"/>
                                          </m:mcPr>
                                        </m:mc>
                                      </m:mcs>
                                      <m:ctrlPr>
                                        <a:rPr lang="en-GB" i="1" smtClean="0">
                                          <a:latin typeface="Cambria Math" panose="02040503050406030204" pitchFamily="18" charset="0"/>
                                        </a:rPr>
                                      </m:ctrlPr>
                                    </m:mPr>
                                    <m:mr>
                                      <m:e>
                                        <m:m>
                                          <m:mPr>
                                            <m:mcs>
                                              <m:mc>
                                                <m:mcPr>
                                                  <m:count m:val="2"/>
                                                  <m:mcJc m:val="center"/>
                                                </m:mcPr>
                                              </m:mc>
                                            </m:mcs>
                                            <m:ctrlPr>
                                              <a:rPr lang="en-GB" i="1" smtClean="0">
                                                <a:latin typeface="Cambria Math" panose="02040503050406030204" pitchFamily="18" charset="0"/>
                                              </a:rPr>
                                            </m:ctrlPr>
                                          </m:mPr>
                                          <m:mr>
                                            <m:e>
                                              <m:acc>
                                                <m:accPr>
                                                  <m:chr m:val="̇"/>
                                                  <m:ctrlPr>
                                                    <a:rPr lang="en-GB" i="1" smtClean="0">
                                                      <a:latin typeface="Cambria Math" panose="02040503050406030204" pitchFamily="18" charset="0"/>
                                                    </a:rPr>
                                                  </m:ctrlPr>
                                                </m:accPr>
                                                <m:e>
                                                  <m:r>
                                                    <a:rPr lang="en-GB" i="1" smtClean="0">
                                                      <a:latin typeface="Cambria Math"/>
                                                    </a:rPr>
                                                    <m:t>𝑧</m:t>
                                                  </m:r>
                                                </m:e>
                                              </m:acc>
                                            </m:e>
                                            <m:e>
                                              <m:sSub>
                                                <m:sSubPr>
                                                  <m:ctrlPr>
                                                    <a:rPr lang="en-GB" i="1" smtClean="0">
                                                      <a:latin typeface="Cambria Math" panose="02040503050406030204" pitchFamily="18" charset="0"/>
                                                    </a:rPr>
                                                  </m:ctrlPr>
                                                </m:sSubPr>
                                                <m:e>
                                                  <m:r>
                                                    <a:rPr lang="en-GB" i="1" smtClean="0">
                                                      <a:latin typeface="Cambria Math"/>
                                                      <a:ea typeface="Cambria Math"/>
                                                    </a:rPr>
                                                    <m:t>𝜔</m:t>
                                                  </m:r>
                                                </m:e>
                                                <m:sub>
                                                  <m:r>
                                                    <a:rPr lang="en-GB" i="1" smtClean="0">
                                                      <a:latin typeface="Cambria Math"/>
                                                    </a:rPr>
                                                    <m:t>𝑥</m:t>
                                                  </m:r>
                                                </m:sub>
                                              </m:sSub>
                                            </m:e>
                                          </m:mr>
                                        </m:m>
                                      </m:e>
                                      <m:e>
                                        <m:sSub>
                                          <m:sSubPr>
                                            <m:ctrlPr>
                                              <a:rPr lang="en-GB" i="1" smtClean="0">
                                                <a:latin typeface="Cambria Math" panose="02040503050406030204" pitchFamily="18" charset="0"/>
                                              </a:rPr>
                                            </m:ctrlPr>
                                          </m:sSubPr>
                                          <m:e>
                                            <m:r>
                                              <a:rPr lang="en-GB" i="1" smtClean="0">
                                                <a:latin typeface="Cambria Math"/>
                                                <a:ea typeface="Cambria Math"/>
                                              </a:rPr>
                                              <m:t>𝜔</m:t>
                                            </m:r>
                                          </m:e>
                                          <m:sub>
                                            <m:r>
                                              <a:rPr lang="en-GB" i="1" smtClean="0">
                                                <a:latin typeface="Cambria Math"/>
                                              </a:rPr>
                                              <m:t>𝑦</m:t>
                                            </m:r>
                                          </m:sub>
                                        </m:sSub>
                                      </m:e>
                                      <m:e>
                                        <m:sSub>
                                          <m:sSubPr>
                                            <m:ctrlPr>
                                              <a:rPr lang="en-GB" i="1" smtClean="0">
                                                <a:latin typeface="Cambria Math" panose="02040503050406030204" pitchFamily="18" charset="0"/>
                                              </a:rPr>
                                            </m:ctrlPr>
                                          </m:sSubPr>
                                          <m:e>
                                            <m:r>
                                              <a:rPr lang="en-GB" i="1" smtClean="0">
                                                <a:latin typeface="Cambria Math"/>
                                                <a:ea typeface="Cambria Math"/>
                                              </a:rPr>
                                              <m:t>𝜔</m:t>
                                            </m:r>
                                          </m:e>
                                          <m:sub>
                                            <m:r>
                                              <a:rPr lang="en-GB" i="1" smtClean="0">
                                                <a:latin typeface="Cambria Math"/>
                                              </a:rPr>
                                              <m:t>𝑧</m:t>
                                            </m:r>
                                          </m:sub>
                                        </m:sSub>
                                      </m:e>
                                    </m:mr>
                                  </m:m>
                                </m:e>
                              </m:mr>
                            </m:m>
                          </m:e>
                        </m:d>
                      </m:e>
                      <m:sup>
                        <m:r>
                          <a:rPr lang="en-GB" i="1" smtClean="0">
                            <a:latin typeface="Cambria Math"/>
                          </a:rPr>
                          <m:t>𝑇</m:t>
                        </m:r>
                      </m:sup>
                    </m:sSup>
                  </m:oMath>
                </a14:m>
                <a:endParaRPr lang="en-GB" dirty="0">
                  <a:latin typeface="Cambria Math"/>
                </a:endParaRPr>
              </a:p>
              <a:p>
                <a:endParaRPr lang="en-GB"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a:blip r:embed="rId3"/>
                <a:stretch>
                  <a:fillRect l="-608"/>
                </a:stretch>
              </a:blipFill>
            </p:spPr>
            <p:txBody>
              <a:bodyPr/>
              <a:lstStyle/>
              <a:p>
                <a:r>
                  <a:rPr lang="fr-FR">
                    <a:noFill/>
                  </a:rPr>
                  <a:t> </a:t>
                </a:r>
              </a:p>
            </p:txBody>
          </p:sp>
        </mc:Fallback>
      </mc:AlternateContent>
      <p:pic>
        <p:nvPicPr>
          <p:cNvPr id="4" name="Image 3"/>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177201" y="1728434"/>
            <a:ext cx="6073499" cy="2362232"/>
          </a:xfrm>
          <a:prstGeom prst="rect">
            <a:avLst/>
          </a:prstGeom>
        </p:spPr>
      </p:pic>
      <p:sp>
        <p:nvSpPr>
          <p:cNvPr id="5" name="Ellipse 4"/>
          <p:cNvSpPr/>
          <p:nvPr/>
        </p:nvSpPr>
        <p:spPr>
          <a:xfrm>
            <a:off x="5551199" y="2438949"/>
            <a:ext cx="1065601" cy="678651"/>
          </a:xfrm>
          <a:prstGeom prst="ellipse">
            <a:avLst/>
          </a:prstGeom>
          <a:noFill/>
          <a:ln w="38100">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6" name="ZoneTexte 5"/>
              <p:cNvSpPr txBox="1"/>
              <p:nvPr/>
            </p:nvSpPr>
            <p:spPr>
              <a:xfrm>
                <a:off x="2074333" y="3639744"/>
                <a:ext cx="381600"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200" b="0" i="1" dirty="0" smtClean="0">
                              <a:solidFill>
                                <a:srgbClr val="003399"/>
                              </a:solidFill>
                              <a:latin typeface="Cambria Math" panose="02040503050406030204" pitchFamily="18" charset="0"/>
                            </a:rPr>
                          </m:ctrlPr>
                        </m:sSubPr>
                        <m:e>
                          <m:r>
                            <a:rPr lang="fr-FR" sz="1200" b="0" i="1" dirty="0" smtClean="0">
                              <a:solidFill>
                                <a:srgbClr val="003399"/>
                              </a:solidFill>
                              <a:latin typeface="Cambria Math"/>
                            </a:rPr>
                            <m:t>𝑥</m:t>
                          </m:r>
                        </m:e>
                        <m:sub>
                          <m:r>
                            <a:rPr lang="fr-FR" sz="1200" b="0" i="1" dirty="0" smtClean="0">
                              <a:solidFill>
                                <a:srgbClr val="003399"/>
                              </a:solidFill>
                              <a:latin typeface="Cambria Math"/>
                            </a:rPr>
                            <m:t>0</m:t>
                          </m:r>
                        </m:sub>
                      </m:sSub>
                    </m:oMath>
                  </m:oMathPara>
                </a14:m>
                <a:endParaRPr lang="fr-FR" sz="1200" dirty="0">
                  <a:solidFill>
                    <a:srgbClr val="FF0000"/>
                  </a:solidFill>
                  <a:latin typeface="+mn-lt"/>
                </a:endParaRPr>
              </a:p>
            </p:txBody>
          </p:sp>
        </mc:Choice>
        <mc:Fallback xmlns="">
          <p:sp>
            <p:nvSpPr>
              <p:cNvPr id="6" name="ZoneTexte 5"/>
              <p:cNvSpPr txBox="1">
                <a:spLocks noRot="1" noChangeAspect="1" noMove="1" noResize="1" noEditPoints="1" noAdjustHandles="1" noChangeArrowheads="1" noChangeShapeType="1" noTextEdit="1"/>
              </p:cNvSpPr>
              <p:nvPr/>
            </p:nvSpPr>
            <p:spPr>
              <a:xfrm>
                <a:off x="2074333" y="3639744"/>
                <a:ext cx="381600" cy="276999"/>
              </a:xfrm>
              <a:prstGeom prst="rect">
                <a:avLst/>
              </a:prstGeom>
              <a:blipFill rotWithShape="1">
                <a:blip r:embed="rId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 name="ZoneTexte 6"/>
              <p:cNvSpPr txBox="1"/>
              <p:nvPr/>
            </p:nvSpPr>
            <p:spPr>
              <a:xfrm>
                <a:off x="6163200" y="2593608"/>
                <a:ext cx="4536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0" i="1" dirty="0" smtClean="0">
                          <a:solidFill>
                            <a:srgbClr val="003399"/>
                          </a:solidFill>
                          <a:latin typeface="Cambria Math"/>
                        </a:rPr>
                        <m:t>𝑃</m:t>
                      </m:r>
                    </m:oMath>
                  </m:oMathPara>
                </a14:m>
                <a:endParaRPr lang="fr-FR" dirty="0">
                  <a:solidFill>
                    <a:srgbClr val="003399"/>
                  </a:solidFill>
                  <a:latin typeface="+mn-lt"/>
                </a:endParaRPr>
              </a:p>
            </p:txBody>
          </p:sp>
        </mc:Choice>
        <mc:Fallback xmlns="">
          <p:sp>
            <p:nvSpPr>
              <p:cNvPr id="7" name="ZoneTexte 6"/>
              <p:cNvSpPr txBox="1">
                <a:spLocks noRot="1" noChangeAspect="1" noMove="1" noResize="1" noEditPoints="1" noAdjustHandles="1" noChangeArrowheads="1" noChangeShapeType="1" noTextEdit="1"/>
              </p:cNvSpPr>
              <p:nvPr/>
            </p:nvSpPr>
            <p:spPr>
              <a:xfrm>
                <a:off x="6163200" y="2593608"/>
                <a:ext cx="453600" cy="369332"/>
              </a:xfrm>
              <a:prstGeom prst="rect">
                <a:avLst/>
              </a:prstGeom>
              <a:blipFill rotWithShape="1">
                <a:blip r:embed="rId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 name="ZoneTexte 7"/>
              <p:cNvSpPr txBox="1"/>
              <p:nvPr/>
            </p:nvSpPr>
            <p:spPr>
              <a:xfrm>
                <a:off x="2926582" y="3438554"/>
                <a:ext cx="378301"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200" b="0" i="1" dirty="0" smtClean="0">
                              <a:solidFill>
                                <a:srgbClr val="003399"/>
                              </a:solidFill>
                              <a:latin typeface="Cambria Math" panose="02040503050406030204" pitchFamily="18" charset="0"/>
                            </a:rPr>
                          </m:ctrlPr>
                        </m:sSubPr>
                        <m:e>
                          <m:r>
                            <a:rPr lang="fr-FR" sz="1200" b="0" i="1" dirty="0" smtClean="0">
                              <a:solidFill>
                                <a:srgbClr val="003399"/>
                              </a:solidFill>
                              <a:latin typeface="Cambria Math"/>
                            </a:rPr>
                            <m:t>𝑦</m:t>
                          </m:r>
                        </m:e>
                        <m:sub>
                          <m:r>
                            <a:rPr lang="fr-FR" sz="1200" b="0" i="1" dirty="0" smtClean="0">
                              <a:solidFill>
                                <a:srgbClr val="003399"/>
                              </a:solidFill>
                              <a:latin typeface="Cambria Math"/>
                            </a:rPr>
                            <m:t>0</m:t>
                          </m:r>
                        </m:sub>
                      </m:sSub>
                    </m:oMath>
                  </m:oMathPara>
                </a14:m>
                <a:endParaRPr lang="fr-FR" sz="1200" dirty="0">
                  <a:solidFill>
                    <a:srgbClr val="003399"/>
                  </a:solidFill>
                  <a:latin typeface="+mn-lt"/>
                </a:endParaRPr>
              </a:p>
            </p:txBody>
          </p:sp>
        </mc:Choice>
        <mc:Fallback xmlns="">
          <p:sp>
            <p:nvSpPr>
              <p:cNvPr id="8" name="ZoneTexte 7"/>
              <p:cNvSpPr txBox="1">
                <a:spLocks noRot="1" noChangeAspect="1" noMove="1" noResize="1" noEditPoints="1" noAdjustHandles="1" noChangeArrowheads="1" noChangeShapeType="1" noTextEdit="1"/>
              </p:cNvSpPr>
              <p:nvPr/>
            </p:nvSpPr>
            <p:spPr>
              <a:xfrm>
                <a:off x="2926582" y="3438554"/>
                <a:ext cx="378301" cy="276999"/>
              </a:xfrm>
              <a:prstGeom prst="rect">
                <a:avLst/>
              </a:prstGeom>
              <a:blipFill rotWithShape="1">
                <a:blip r:embed="rId7"/>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9" name="ZoneTexte 8"/>
              <p:cNvSpPr txBox="1"/>
              <p:nvPr/>
            </p:nvSpPr>
            <p:spPr>
              <a:xfrm>
                <a:off x="1177201" y="3368640"/>
                <a:ext cx="381600"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200" b="0" i="1" dirty="0" smtClean="0">
                              <a:solidFill>
                                <a:schemeClr val="bg1"/>
                              </a:solidFill>
                              <a:latin typeface="Cambria Math" panose="02040503050406030204" pitchFamily="18" charset="0"/>
                            </a:rPr>
                          </m:ctrlPr>
                        </m:sSubPr>
                        <m:e>
                          <m:r>
                            <a:rPr lang="fr-FR" sz="1200" b="0" i="1" dirty="0" smtClean="0">
                              <a:solidFill>
                                <a:schemeClr val="bg1"/>
                              </a:solidFill>
                              <a:latin typeface="Cambria Math"/>
                            </a:rPr>
                            <m:t>𝑧</m:t>
                          </m:r>
                        </m:e>
                        <m:sub>
                          <m:r>
                            <a:rPr lang="fr-FR" sz="1200" b="0" i="1" dirty="0" smtClean="0">
                              <a:solidFill>
                                <a:schemeClr val="bg1"/>
                              </a:solidFill>
                              <a:latin typeface="Cambria Math"/>
                            </a:rPr>
                            <m:t>0</m:t>
                          </m:r>
                        </m:sub>
                      </m:sSub>
                    </m:oMath>
                  </m:oMathPara>
                </a14:m>
                <a:endParaRPr lang="fr-FR" sz="1200" dirty="0">
                  <a:solidFill>
                    <a:srgbClr val="FF0000"/>
                  </a:solidFill>
                  <a:latin typeface="+mn-lt"/>
                </a:endParaRPr>
              </a:p>
            </p:txBody>
          </p:sp>
        </mc:Choice>
        <mc:Fallback xmlns="">
          <p:sp>
            <p:nvSpPr>
              <p:cNvPr id="9" name="ZoneTexte 8"/>
              <p:cNvSpPr txBox="1">
                <a:spLocks noRot="1" noChangeAspect="1" noMove="1" noResize="1" noEditPoints="1" noAdjustHandles="1" noChangeArrowheads="1" noChangeShapeType="1" noTextEdit="1"/>
              </p:cNvSpPr>
              <p:nvPr/>
            </p:nvSpPr>
            <p:spPr>
              <a:xfrm>
                <a:off x="1177201" y="3368640"/>
                <a:ext cx="381600" cy="276999"/>
              </a:xfrm>
              <a:prstGeom prst="rect">
                <a:avLst/>
              </a:prstGeom>
              <a:blipFill rotWithShape="1">
                <a:blip r:embed="rId8"/>
                <a:stretch>
                  <a:fillRect/>
                </a:stretch>
              </a:blipFill>
            </p:spPr>
            <p:txBody>
              <a:bodyPr/>
              <a:lstStyle/>
              <a:p>
                <a:r>
                  <a:rPr lang="fr-FR">
                    <a:noFill/>
                  </a:rPr>
                  <a:t> </a:t>
                </a:r>
              </a:p>
            </p:txBody>
          </p:sp>
        </mc:Fallback>
      </mc:AlternateContent>
      <p:sp>
        <p:nvSpPr>
          <p:cNvPr id="10" name="Ellipse 9"/>
          <p:cNvSpPr/>
          <p:nvPr/>
        </p:nvSpPr>
        <p:spPr>
          <a:xfrm>
            <a:off x="6003925" y="2700000"/>
            <a:ext cx="219075" cy="209550"/>
          </a:xfrm>
          <a:prstGeom prst="ellipse">
            <a:avLst/>
          </a:prstGeom>
          <a:solidFill>
            <a:srgbClr val="003399"/>
          </a:solidFill>
          <a:ln>
            <a:solidFill>
              <a:srgbClr val="00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1" name="Connecteur droit avec flèche 10"/>
          <p:cNvCxnSpPr/>
          <p:nvPr/>
        </p:nvCxnSpPr>
        <p:spPr>
          <a:xfrm>
            <a:off x="2498951" y="3458633"/>
            <a:ext cx="578682" cy="0"/>
          </a:xfrm>
          <a:prstGeom prst="straightConnector1">
            <a:avLst/>
          </a:prstGeom>
          <a:ln w="28575">
            <a:solidFill>
              <a:srgbClr val="003399"/>
            </a:solidFill>
            <a:tailEnd type="arrow"/>
          </a:ln>
        </p:spPr>
        <p:style>
          <a:lnRef idx="1">
            <a:schemeClr val="accent1"/>
          </a:lnRef>
          <a:fillRef idx="0">
            <a:schemeClr val="accent1"/>
          </a:fillRef>
          <a:effectRef idx="0">
            <a:schemeClr val="accent1"/>
          </a:effectRef>
          <a:fontRef idx="minor">
            <a:schemeClr val="tx1"/>
          </a:fontRef>
        </p:style>
      </p:cxnSp>
      <p:cxnSp>
        <p:nvCxnSpPr>
          <p:cNvPr id="12" name="Connecteur droit avec flèche 11"/>
          <p:cNvCxnSpPr/>
          <p:nvPr/>
        </p:nvCxnSpPr>
        <p:spPr>
          <a:xfrm flipV="1">
            <a:off x="2503184" y="2958707"/>
            <a:ext cx="0" cy="495693"/>
          </a:xfrm>
          <a:prstGeom prst="straightConnector1">
            <a:avLst/>
          </a:prstGeom>
          <a:ln w="28575">
            <a:solidFill>
              <a:srgbClr val="003399"/>
            </a:solidFill>
            <a:tailEnd type="arrow"/>
          </a:ln>
        </p:spPr>
        <p:style>
          <a:lnRef idx="1">
            <a:schemeClr val="accent1"/>
          </a:lnRef>
          <a:fillRef idx="0">
            <a:schemeClr val="accent1"/>
          </a:fillRef>
          <a:effectRef idx="0">
            <a:schemeClr val="accent1"/>
          </a:effectRef>
          <a:fontRef idx="minor">
            <a:schemeClr val="tx1"/>
          </a:fontRef>
        </p:style>
      </p:cxnSp>
      <p:cxnSp>
        <p:nvCxnSpPr>
          <p:cNvPr id="13" name="Connecteur droit avec flèche 12"/>
          <p:cNvCxnSpPr/>
          <p:nvPr/>
        </p:nvCxnSpPr>
        <p:spPr>
          <a:xfrm flipH="1">
            <a:off x="2077092" y="3459691"/>
            <a:ext cx="428852" cy="287867"/>
          </a:xfrm>
          <a:prstGeom prst="straightConnector1">
            <a:avLst/>
          </a:prstGeom>
          <a:ln w="28575">
            <a:solidFill>
              <a:srgbClr val="003399"/>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ZoneTexte 13"/>
              <p:cNvSpPr txBox="1"/>
              <p:nvPr/>
            </p:nvSpPr>
            <p:spPr>
              <a:xfrm>
                <a:off x="2455933" y="2850204"/>
                <a:ext cx="378301"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200" b="0" i="1" dirty="0" smtClean="0">
                              <a:solidFill>
                                <a:srgbClr val="003399"/>
                              </a:solidFill>
                              <a:latin typeface="Cambria Math" panose="02040503050406030204" pitchFamily="18" charset="0"/>
                            </a:rPr>
                          </m:ctrlPr>
                        </m:sSubPr>
                        <m:e>
                          <m:r>
                            <a:rPr lang="fr-FR" sz="1200" b="0" i="1" dirty="0" smtClean="0">
                              <a:solidFill>
                                <a:srgbClr val="003399"/>
                              </a:solidFill>
                              <a:latin typeface="Cambria Math"/>
                            </a:rPr>
                            <m:t>𝑧</m:t>
                          </m:r>
                        </m:e>
                        <m:sub>
                          <m:r>
                            <a:rPr lang="fr-FR" sz="1200" b="0" i="1" dirty="0" smtClean="0">
                              <a:solidFill>
                                <a:srgbClr val="003399"/>
                              </a:solidFill>
                              <a:latin typeface="Cambria Math"/>
                            </a:rPr>
                            <m:t>0</m:t>
                          </m:r>
                        </m:sub>
                      </m:sSub>
                    </m:oMath>
                  </m:oMathPara>
                </a14:m>
                <a:endParaRPr lang="fr-FR" sz="1200" dirty="0">
                  <a:solidFill>
                    <a:srgbClr val="003399"/>
                  </a:solidFill>
                  <a:latin typeface="+mn-lt"/>
                </a:endParaRPr>
              </a:p>
            </p:txBody>
          </p:sp>
        </mc:Choice>
        <mc:Fallback xmlns="">
          <p:sp>
            <p:nvSpPr>
              <p:cNvPr id="14" name="ZoneTexte 13"/>
              <p:cNvSpPr txBox="1">
                <a:spLocks noRot="1" noChangeAspect="1" noMove="1" noResize="1" noEditPoints="1" noAdjustHandles="1" noChangeArrowheads="1" noChangeShapeType="1" noTextEdit="1"/>
              </p:cNvSpPr>
              <p:nvPr/>
            </p:nvSpPr>
            <p:spPr>
              <a:xfrm>
                <a:off x="2455933" y="2850204"/>
                <a:ext cx="378301" cy="276999"/>
              </a:xfrm>
              <a:prstGeom prst="rect">
                <a:avLst/>
              </a:prstGeom>
              <a:blipFill rotWithShape="1">
                <a:blip r:embed="rId9"/>
                <a:stretch>
                  <a:fillRect/>
                </a:stretch>
              </a:blipFill>
            </p:spPr>
            <p:txBody>
              <a:bodyPr/>
              <a:lstStyle/>
              <a:p>
                <a:r>
                  <a:rPr lang="fr-FR">
                    <a:noFill/>
                  </a:rPr>
                  <a:t> </a:t>
                </a:r>
              </a:p>
            </p:txBody>
          </p:sp>
        </mc:Fallback>
      </mc:AlternateContent>
      <p:sp>
        <p:nvSpPr>
          <p:cNvPr id="21" name="Titre 2">
            <a:extLst>
              <a:ext uri="{FF2B5EF4-FFF2-40B4-BE49-F238E27FC236}">
                <a16:creationId xmlns:a16="http://schemas.microsoft.com/office/drawing/2014/main" id="{15AF9D45-B2BC-854C-8A50-861C3709B4EF}"/>
              </a:ext>
            </a:extLst>
          </p:cNvPr>
          <p:cNvSpPr>
            <a:spLocks noGrp="1"/>
          </p:cNvSpPr>
          <p:nvPr>
            <p:ph type="title"/>
          </p:nvPr>
        </p:nvSpPr>
        <p:spPr>
          <a:xfrm>
            <a:off x="300790" y="0"/>
            <a:ext cx="8229600" cy="785812"/>
          </a:xfrm>
        </p:spPr>
        <p:txBody>
          <a:bodyPr/>
          <a:lstStyle/>
          <a:p>
            <a:r>
              <a:rPr lang="en-GB" dirty="0"/>
              <a:t>Definitions</a:t>
            </a:r>
          </a:p>
        </p:txBody>
      </p:sp>
      <p:sp>
        <p:nvSpPr>
          <p:cNvPr id="22" name="ZoneTexte 21">
            <a:extLst>
              <a:ext uri="{FF2B5EF4-FFF2-40B4-BE49-F238E27FC236}">
                <a16:creationId xmlns:a16="http://schemas.microsoft.com/office/drawing/2014/main" id="{046423DB-12BD-D544-89BE-6A7F983DAA88}"/>
              </a:ext>
            </a:extLst>
          </p:cNvPr>
          <p:cNvSpPr txBox="1"/>
          <p:nvPr/>
        </p:nvSpPr>
        <p:spPr>
          <a:xfrm>
            <a:off x="5383675" y="1578969"/>
            <a:ext cx="2012650" cy="369332"/>
          </a:xfrm>
          <a:prstGeom prst="rect">
            <a:avLst/>
          </a:prstGeom>
          <a:noFill/>
        </p:spPr>
        <p:txBody>
          <a:bodyPr wrap="square" rtlCol="0">
            <a:spAutoFit/>
          </a:bodyPr>
          <a:lstStyle/>
          <a:p>
            <a:r>
              <a:rPr lang="en-GB" dirty="0">
                <a:solidFill>
                  <a:srgbClr val="003399"/>
                </a:solidFill>
                <a:latin typeface="+mn-lt"/>
              </a:rPr>
              <a:t>Operational space</a:t>
            </a:r>
          </a:p>
        </p:txBody>
      </p:sp>
      <p:sp>
        <p:nvSpPr>
          <p:cNvPr id="23" name="ZoneTexte 22">
            <a:extLst>
              <a:ext uri="{FF2B5EF4-FFF2-40B4-BE49-F238E27FC236}">
                <a16:creationId xmlns:a16="http://schemas.microsoft.com/office/drawing/2014/main" id="{AD4D20EE-B3B0-A24B-AD2F-902B3F7EEA9F}"/>
              </a:ext>
            </a:extLst>
          </p:cNvPr>
          <p:cNvSpPr txBox="1"/>
          <p:nvPr/>
        </p:nvSpPr>
        <p:spPr>
          <a:xfrm>
            <a:off x="1822851" y="1394303"/>
            <a:ext cx="1908000" cy="369332"/>
          </a:xfrm>
          <a:prstGeom prst="rect">
            <a:avLst/>
          </a:prstGeom>
          <a:noFill/>
        </p:spPr>
        <p:txBody>
          <a:bodyPr wrap="square" rtlCol="0">
            <a:spAutoFit/>
          </a:bodyPr>
          <a:lstStyle/>
          <a:p>
            <a:r>
              <a:rPr lang="en-GB" dirty="0">
                <a:solidFill>
                  <a:srgbClr val="FF0000"/>
                </a:solidFill>
                <a:latin typeface="+mn-lt"/>
              </a:rPr>
              <a:t>Joint space</a:t>
            </a:r>
          </a:p>
        </p:txBody>
      </p:sp>
    </p:spTree>
    <p:extLst>
      <p:ext uri="{BB962C8B-B14F-4D97-AF65-F5344CB8AC3E}">
        <p14:creationId xmlns:p14="http://schemas.microsoft.com/office/powerpoint/2010/main" val="1397224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r>
                  <a:rPr lang="en-GB" dirty="0"/>
                  <a:t>Motion planning = function for calculating the robot's instructions in the form of successive positions of the end effector or the joints
</a:t>
                </a:r>
              </a:p>
              <a:p>
                <a:r>
                  <a:rPr lang="en-GB" dirty="0"/>
                  <a:t>Motion class: movement between 2 points </a:t>
                </a:r>
              </a:p>
              <a:p>
                <a:pPr lvl="1"/>
                <a:r>
                  <a:rPr lang="en-GB" dirty="0"/>
                  <a:t>via a free trajectory between points</a:t>
                </a:r>
                <a14:m>
                  <m:oMath xmlns:m="http://schemas.openxmlformats.org/officeDocument/2006/math">
                    <m:sSup>
                      <m:sSupPr>
                        <m:ctrlPr>
                          <a:rPr lang="en-GB" i="1" smtClean="0">
                            <a:latin typeface="Cambria Math" panose="02040503050406030204" pitchFamily="18" charset="0"/>
                          </a:rPr>
                        </m:ctrlPr>
                      </m:sSupPr>
                      <m:e>
                        <m:r>
                          <a:rPr lang="en-GB" b="0" i="1" smtClean="0">
                            <a:latin typeface="Cambria Math" panose="02040503050406030204" pitchFamily="18" charset="0"/>
                          </a:rPr>
                          <m:t>.</m:t>
                        </m:r>
                        <m:r>
                          <a:rPr lang="en-GB" b="0" i="0" smtClean="0">
                            <a:latin typeface="Cambria Math" panose="02040503050406030204" pitchFamily="18" charset="0"/>
                          </a:rPr>
                          <m:t> </m:t>
                        </m:r>
                      </m:e>
                      <m:sup>
                        <m:r>
                          <a:rPr lang="en-GB" b="0" i="1" smtClean="0">
                            <a:latin typeface="Cambria Math"/>
                          </a:rPr>
                          <m:t>∗</m:t>
                        </m:r>
                      </m:sup>
                    </m:sSup>
                  </m:oMath>
                </a14:m>
                <a:endParaRPr lang="en-GB" dirty="0"/>
              </a:p>
              <a:p>
                <a:pPr lvl="1"/>
                <a:r>
                  <a:rPr lang="en-GB" dirty="0"/>
                  <a:t>With a constrained trajectory between the points (e.g. straight line </a:t>
                </a:r>
                <a14:m>
                  <m:oMath xmlns:m="http://schemas.openxmlformats.org/officeDocument/2006/math">
                    <m:sSup>
                      <m:sSupPr>
                        <m:ctrlPr>
                          <a:rPr lang="en-GB" i="1" smtClean="0">
                            <a:latin typeface="Cambria Math" panose="02040503050406030204" pitchFamily="18" charset="0"/>
                          </a:rPr>
                        </m:ctrlPr>
                      </m:sSupPr>
                      <m:e>
                        <m:r>
                          <a:rPr lang="en-GB" b="0" i="0" smtClean="0">
                            <a:latin typeface="Cambria Math"/>
                          </a:rPr>
                          <m:t>)</m:t>
                        </m:r>
                      </m:e>
                      <m:sup>
                        <m:r>
                          <m:rPr>
                            <m:sty m:val="p"/>
                          </m:rPr>
                          <a:rPr lang="en-GB" i="1" smtClean="0">
                            <a:latin typeface="Cambria Math"/>
                            <a:ea typeface="Cambria Math"/>
                          </a:rPr>
                          <m:t>Δ</m:t>
                        </m:r>
                      </m:sup>
                    </m:sSup>
                  </m:oMath>
                </a14:m>
                <a:endParaRPr lang="en-GB" i="1" dirty="0">
                  <a:latin typeface="Cambria Math"/>
                </a:endParaRPr>
              </a:p>
              <a:p>
                <a:pPr marL="366713" lvl="1" indent="0">
                  <a:buNone/>
                </a:pPr>
                <a:endParaRPr lang="en-GB" dirty="0"/>
              </a:p>
              <a:p>
                <a:pPr marL="366713" lvl="1" indent="0">
                  <a:buNone/>
                </a:pPr>
                <a14:m>
                  <m:oMath xmlns:m="http://schemas.openxmlformats.org/officeDocument/2006/math">
                    <m:sSup>
                      <m:sSupPr>
                        <m:ctrlPr>
                          <a:rPr lang="en-GB" i="1" smtClean="0">
                            <a:latin typeface="Cambria Math" panose="02040503050406030204" pitchFamily="18" charset="0"/>
                          </a:rPr>
                        </m:ctrlPr>
                      </m:sSupPr>
                      <m:e/>
                      <m:sup>
                        <m:r>
                          <a:rPr lang="en-GB" b="0" i="1" smtClean="0">
                            <a:latin typeface="Cambria Math"/>
                          </a:rPr>
                          <m:t>∗</m:t>
                        </m:r>
                      </m:sup>
                    </m:sSup>
                  </m:oMath>
                </a14:m>
                <a:r>
                  <a:rPr lang="en-GB" dirty="0"/>
                  <a:t> can be performed in the joint space</a:t>
                </a:r>
              </a:p>
              <a:p>
                <a:pPr marL="366713" lvl="1" indent="0">
                  <a:buNone/>
                </a:pPr>
                <a14:m>
                  <m:oMath xmlns:m="http://schemas.openxmlformats.org/officeDocument/2006/math">
                    <m:sSup>
                      <m:sSupPr>
                        <m:ctrlPr>
                          <a:rPr lang="en-GB" i="1" smtClean="0">
                            <a:latin typeface="Cambria Math" panose="02040503050406030204" pitchFamily="18" charset="0"/>
                          </a:rPr>
                        </m:ctrlPr>
                      </m:sSupPr>
                      <m:e/>
                      <m:sup>
                        <m:r>
                          <m:rPr>
                            <m:sty m:val="p"/>
                          </m:rPr>
                          <a:rPr lang="en-GB" i="1" smtClean="0">
                            <a:latin typeface="Cambria Math"/>
                            <a:ea typeface="Cambria Math"/>
                          </a:rPr>
                          <m:t>Δ</m:t>
                        </m:r>
                      </m:sup>
                    </m:sSup>
                  </m:oMath>
                </a14:m>
                <a:r>
                  <a:rPr lang="en-GB" dirty="0"/>
                  <a:t> can be done directly in the operational space</a:t>
                </a:r>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a:blip r:embed="rId3"/>
                <a:stretch>
                  <a:fillRect t="-460"/>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Introduction to motion planning
</a:t>
            </a:r>
          </a:p>
        </p:txBody>
      </p:sp>
    </p:spTree>
    <p:extLst>
      <p:ext uri="{BB962C8B-B14F-4D97-AF65-F5344CB8AC3E}">
        <p14:creationId xmlns:p14="http://schemas.microsoft.com/office/powerpoint/2010/main" val="2739537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en-GB" dirty="0"/>
              <a:t>Motion planning : joint space vs operational space</a:t>
            </a:r>
          </a:p>
        </p:txBody>
      </p:sp>
      <p:grpSp>
        <p:nvGrpSpPr>
          <p:cNvPr id="5" name="Groupe 4"/>
          <p:cNvGrpSpPr>
            <a:grpSpLocks noChangeAspect="1"/>
          </p:cNvGrpSpPr>
          <p:nvPr/>
        </p:nvGrpSpPr>
        <p:grpSpPr>
          <a:xfrm>
            <a:off x="1116371" y="1039433"/>
            <a:ext cx="6882847" cy="1481395"/>
            <a:chOff x="203001" y="1146468"/>
            <a:chExt cx="8336730" cy="1794313"/>
          </a:xfrm>
        </p:grpSpPr>
        <mc:AlternateContent xmlns:mc="http://schemas.openxmlformats.org/markup-compatibility/2006" xmlns:a14="http://schemas.microsoft.com/office/drawing/2010/main">
          <mc:Choice Requires="a14">
            <p:sp>
              <p:nvSpPr>
                <p:cNvPr id="4" name="Rectangle 3"/>
                <p:cNvSpPr/>
                <p:nvPr/>
              </p:nvSpPr>
              <p:spPr>
                <a:xfrm>
                  <a:off x="988629" y="1146468"/>
                  <a:ext cx="1618593" cy="935420"/>
                </a:xfrm>
                <a:prstGeom prst="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Trajectory generation in </a:t>
                  </a:r>
                  <a14:m>
                    <m:oMath xmlns:m="http://schemas.openxmlformats.org/officeDocument/2006/math">
                      <m:r>
                        <a:rPr lang="en-GB" sz="1400" b="1" i="0" smtClean="0">
                          <a:solidFill>
                            <a:schemeClr val="tx1"/>
                          </a:solidFill>
                          <a:latin typeface="Cambria Math"/>
                        </a:rPr>
                        <m:t>𝐪</m:t>
                      </m:r>
                    </m:oMath>
                  </a14:m>
                  <a:endParaRPr lang="en-GB" sz="1400" b="1" dirty="0">
                    <a:solidFill>
                      <a:schemeClr val="tx1"/>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988629" y="1146468"/>
                  <a:ext cx="1618593" cy="935420"/>
                </a:xfrm>
                <a:prstGeom prst="rect">
                  <a:avLst/>
                </a:prstGeom>
                <a:blipFill>
                  <a:blip r:embed="rId3"/>
                  <a:stretch>
                    <a:fillRect/>
                  </a:stretch>
                </a:blipFill>
                <a:ln w="31750">
                  <a:solidFill>
                    <a:schemeClr val="tx1"/>
                  </a:solidFill>
                </a:ln>
              </p:spPr>
              <p:txBody>
                <a:bodyPr/>
                <a:lstStyle/>
                <a:p>
                  <a:r>
                    <a:rPr lang="fr-FR">
                      <a:noFill/>
                    </a:rPr>
                    <a:t> </a:t>
                  </a:r>
                </a:p>
              </p:txBody>
            </p:sp>
          </mc:Fallback>
        </mc:AlternateContent>
        <p:sp>
          <p:nvSpPr>
            <p:cNvPr id="7" name="Ellipse 6"/>
            <p:cNvSpPr/>
            <p:nvPr/>
          </p:nvSpPr>
          <p:spPr>
            <a:xfrm>
              <a:off x="4935592" y="1444688"/>
              <a:ext cx="360000" cy="360000"/>
            </a:xfrm>
            <a:prstGeom prst="ellipse">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9" name="Connecteur droit avec flèche 8"/>
            <p:cNvCxnSpPr/>
            <p:nvPr/>
          </p:nvCxnSpPr>
          <p:spPr>
            <a:xfrm>
              <a:off x="5314642" y="1614178"/>
              <a:ext cx="785628"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p:nvPr/>
          </p:nvCxnSpPr>
          <p:spPr>
            <a:xfrm>
              <a:off x="203001" y="1603668"/>
              <a:ext cx="785628"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Connecteur droit avec flèche 10"/>
            <p:cNvCxnSpPr/>
            <p:nvPr/>
          </p:nvCxnSpPr>
          <p:spPr>
            <a:xfrm>
              <a:off x="7754102" y="1635200"/>
              <a:ext cx="785629" cy="0"/>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Connecteur droit 12"/>
            <p:cNvCxnSpPr>
              <a:stCxn id="4" idx="3"/>
            </p:cNvCxnSpPr>
            <p:nvPr/>
          </p:nvCxnSpPr>
          <p:spPr>
            <a:xfrm flipV="1">
              <a:off x="2607222" y="1603668"/>
              <a:ext cx="1126578" cy="0"/>
            </a:xfrm>
            <a:prstGeom prst="line">
              <a:avLst/>
            </a:prstGeom>
            <a:ln w="31750"/>
          </p:spPr>
          <p:style>
            <a:lnRef idx="1">
              <a:schemeClr val="dk1"/>
            </a:lnRef>
            <a:fillRef idx="0">
              <a:schemeClr val="dk1"/>
            </a:fillRef>
            <a:effectRef idx="0">
              <a:schemeClr val="dk1"/>
            </a:effectRef>
            <a:fontRef idx="minor">
              <a:schemeClr val="tx1"/>
            </a:fontRef>
          </p:style>
        </p:cxnSp>
        <p:cxnSp>
          <p:nvCxnSpPr>
            <p:cNvPr id="15" name="Connecteur droit 14"/>
            <p:cNvCxnSpPr/>
            <p:nvPr/>
          </p:nvCxnSpPr>
          <p:spPr>
            <a:xfrm flipV="1">
              <a:off x="3733800" y="1256826"/>
              <a:ext cx="498112" cy="346842"/>
            </a:xfrm>
            <a:prstGeom prst="line">
              <a:avLst/>
            </a:prstGeom>
            <a:ln w="317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6" name="ZoneTexte 15"/>
                <p:cNvSpPr txBox="1"/>
                <p:nvPr/>
              </p:nvSpPr>
              <p:spPr>
                <a:xfrm>
                  <a:off x="255891" y="1221127"/>
                  <a:ext cx="473274" cy="3852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400" i="1" smtClean="0">
                                <a:latin typeface="Cambria Math" panose="02040503050406030204" pitchFamily="18" charset="0"/>
                              </a:rPr>
                            </m:ctrlPr>
                          </m:sSupPr>
                          <m:e>
                            <m:r>
                              <a:rPr lang="fr-FR" sz="1400" b="1" i="0" smtClean="0">
                                <a:latin typeface="Cambria Math"/>
                              </a:rPr>
                              <m:t>𝐪</m:t>
                            </m:r>
                          </m:e>
                          <m:sup>
                            <m:r>
                              <m:rPr>
                                <m:sty m:val="p"/>
                              </m:rPr>
                              <a:rPr lang="fr-FR" sz="1400" b="0" i="0" smtClean="0">
                                <a:latin typeface="Cambria Math"/>
                              </a:rPr>
                              <m:t>f</m:t>
                            </m:r>
                          </m:sup>
                        </m:sSup>
                      </m:oMath>
                    </m:oMathPara>
                  </a14:m>
                  <a:endParaRPr lang="fr-FR" sz="1400" dirty="0"/>
                </a:p>
              </p:txBody>
            </p:sp>
          </mc:Choice>
          <mc:Fallback xmlns="">
            <p:sp>
              <p:nvSpPr>
                <p:cNvPr id="16" name="ZoneTexte 15"/>
                <p:cNvSpPr txBox="1">
                  <a:spLocks noRot="1" noChangeAspect="1" noMove="1" noResize="1" noEditPoints="1" noAdjustHandles="1" noChangeArrowheads="1" noChangeShapeType="1" noTextEdit="1"/>
                </p:cNvSpPr>
                <p:nvPr/>
              </p:nvSpPr>
              <p:spPr>
                <a:xfrm>
                  <a:off x="255891" y="1221127"/>
                  <a:ext cx="473274" cy="385215"/>
                </a:xfrm>
                <a:prstGeom prst="rect">
                  <a:avLst/>
                </a:prstGeom>
                <a:blipFill rotWithShape="1">
                  <a:blip r:embed="rId4"/>
                  <a:stretch>
                    <a:fillRect b="-3846"/>
                  </a:stretch>
                </a:blipFill>
              </p:spPr>
              <p:txBody>
                <a:bodyPr/>
                <a:lstStyle/>
                <a:p>
                  <a:r>
                    <a:rPr lang="fr-FR">
                      <a:noFill/>
                    </a:rPr>
                    <a:t> </a:t>
                  </a:r>
                </a:p>
              </p:txBody>
            </p:sp>
          </mc:Fallback>
        </mc:AlternateContent>
        <p:sp>
          <p:nvSpPr>
            <p:cNvPr id="6" name="Rectangle 5"/>
            <p:cNvSpPr/>
            <p:nvPr/>
          </p:nvSpPr>
          <p:spPr>
            <a:xfrm>
              <a:off x="6119319" y="1256826"/>
              <a:ext cx="1615301" cy="735724"/>
            </a:xfrm>
            <a:prstGeom prst="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Actuators</a:t>
              </a:r>
              <a:endParaRPr lang="en-GB" sz="1400" b="1" dirty="0">
                <a:solidFill>
                  <a:schemeClr val="tx1"/>
                </a:solidFill>
              </a:endParaRPr>
            </a:p>
          </p:txBody>
        </p:sp>
        <p:cxnSp>
          <p:nvCxnSpPr>
            <p:cNvPr id="18" name="Connecteur droit 17"/>
            <p:cNvCxnSpPr/>
            <p:nvPr/>
          </p:nvCxnSpPr>
          <p:spPr>
            <a:xfrm flipH="1">
              <a:off x="8307432" y="1635200"/>
              <a:ext cx="2" cy="657881"/>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necteur droit 19"/>
            <p:cNvCxnSpPr/>
            <p:nvPr/>
          </p:nvCxnSpPr>
          <p:spPr>
            <a:xfrm flipH="1">
              <a:off x="5115591" y="2293081"/>
              <a:ext cx="3191841"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Connecteur droit 21"/>
            <p:cNvCxnSpPr>
              <a:endCxn id="7" idx="4"/>
            </p:cNvCxnSpPr>
            <p:nvPr/>
          </p:nvCxnSpPr>
          <p:spPr>
            <a:xfrm flipV="1">
              <a:off x="5115592" y="1804688"/>
              <a:ext cx="0" cy="488393"/>
            </a:xfrm>
            <a:prstGeom prst="line">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Connecteur droit avec flèche 27"/>
            <p:cNvCxnSpPr/>
            <p:nvPr/>
          </p:nvCxnSpPr>
          <p:spPr>
            <a:xfrm>
              <a:off x="4238625" y="1614178"/>
              <a:ext cx="696967" cy="0"/>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Arc 30"/>
            <p:cNvSpPr/>
            <p:nvPr/>
          </p:nvSpPr>
          <p:spPr>
            <a:xfrm>
              <a:off x="3511912" y="1254178"/>
              <a:ext cx="720000" cy="720000"/>
            </a:xfrm>
            <a:prstGeom prst="arc">
              <a:avLst/>
            </a:prstGeom>
            <a:ln w="3175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33" name="ZoneTexte 32"/>
                <p:cNvSpPr txBox="1"/>
                <p:nvPr/>
              </p:nvSpPr>
              <p:spPr>
                <a:xfrm>
                  <a:off x="2933874" y="1178758"/>
                  <a:ext cx="473274" cy="3742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400" i="1" smtClean="0">
                                <a:latin typeface="Cambria Math" panose="02040503050406030204" pitchFamily="18" charset="0"/>
                              </a:rPr>
                            </m:ctrlPr>
                          </m:sSupPr>
                          <m:e>
                            <m:r>
                              <a:rPr lang="fr-FR" sz="1400" b="1" i="0" smtClean="0">
                                <a:latin typeface="Cambria Math"/>
                              </a:rPr>
                              <m:t>𝐪</m:t>
                            </m:r>
                          </m:e>
                          <m:sup>
                            <m:r>
                              <a:rPr lang="fr-FR" sz="1400" b="0" i="1" smtClean="0">
                                <a:latin typeface="Cambria Math"/>
                              </a:rPr>
                              <m:t>𝑑</m:t>
                            </m:r>
                          </m:sup>
                        </m:sSup>
                        <m:d>
                          <m:dPr>
                            <m:ctrlPr>
                              <a:rPr lang="fr-FR" sz="1400" i="1" smtClean="0">
                                <a:latin typeface="Cambria Math" panose="02040503050406030204" pitchFamily="18" charset="0"/>
                              </a:rPr>
                            </m:ctrlPr>
                          </m:dPr>
                          <m:e>
                            <m:r>
                              <m:rPr>
                                <m:sty m:val="p"/>
                              </m:rPr>
                              <a:rPr lang="fr-FR" sz="1400" b="0" i="0" smtClean="0">
                                <a:latin typeface="Cambria Math"/>
                              </a:rPr>
                              <m:t>t</m:t>
                            </m:r>
                          </m:e>
                        </m:d>
                      </m:oMath>
                    </m:oMathPara>
                  </a14:m>
                  <a:endParaRPr lang="fr-FR" sz="1400" dirty="0"/>
                </a:p>
              </p:txBody>
            </p:sp>
          </mc:Choice>
          <mc:Fallback xmlns="">
            <p:sp>
              <p:nvSpPr>
                <p:cNvPr id="33" name="ZoneTexte 32"/>
                <p:cNvSpPr txBox="1">
                  <a:spLocks noRot="1" noChangeAspect="1" noMove="1" noResize="1" noEditPoints="1" noAdjustHandles="1" noChangeArrowheads="1" noChangeShapeType="1" noTextEdit="1"/>
                </p:cNvSpPr>
                <p:nvPr/>
              </p:nvSpPr>
              <p:spPr>
                <a:xfrm>
                  <a:off x="2933874" y="1178758"/>
                  <a:ext cx="473274" cy="374270"/>
                </a:xfrm>
                <a:prstGeom prst="rect">
                  <a:avLst/>
                </a:prstGeom>
                <a:blipFill rotWithShape="1">
                  <a:blip r:embed="rId5"/>
                  <a:stretch>
                    <a:fillRect r="-25000" b="-3922"/>
                  </a:stretch>
                </a:blipFill>
              </p:spPr>
              <p:txBody>
                <a:bodyPr/>
                <a:lstStyle/>
                <a:p>
                  <a:r>
                    <a:rPr lang="fr-FR">
                      <a:noFill/>
                    </a:rPr>
                    <a:t> </a:t>
                  </a:r>
                </a:p>
              </p:txBody>
            </p:sp>
          </mc:Fallback>
        </mc:AlternateContent>
        <p:sp>
          <p:nvSpPr>
            <p:cNvPr id="34" name="ZoneTexte 33"/>
            <p:cNvSpPr txBox="1"/>
            <p:nvPr/>
          </p:nvSpPr>
          <p:spPr>
            <a:xfrm>
              <a:off x="4493348" y="1232180"/>
              <a:ext cx="348484" cy="369332"/>
            </a:xfrm>
            <a:prstGeom prst="rect">
              <a:avLst/>
            </a:prstGeom>
            <a:noFill/>
          </p:spPr>
          <p:txBody>
            <a:bodyPr wrap="square" rtlCol="0">
              <a:spAutoFit/>
            </a:bodyPr>
            <a:lstStyle/>
            <a:p>
              <a:r>
                <a:rPr lang="fr-FR" dirty="0"/>
                <a:t>+</a:t>
              </a:r>
            </a:p>
          </p:txBody>
        </p:sp>
        <p:sp>
          <p:nvSpPr>
            <p:cNvPr id="35" name="ZoneTexte 34"/>
            <p:cNvSpPr txBox="1"/>
            <p:nvPr/>
          </p:nvSpPr>
          <p:spPr>
            <a:xfrm>
              <a:off x="4801800" y="1750331"/>
              <a:ext cx="348484" cy="369332"/>
            </a:xfrm>
            <a:prstGeom prst="rect">
              <a:avLst/>
            </a:prstGeom>
            <a:noFill/>
          </p:spPr>
          <p:txBody>
            <a:bodyPr wrap="square" rtlCol="0">
              <a:spAutoFit/>
            </a:bodyPr>
            <a:lstStyle/>
            <a:p>
              <a:r>
                <a:rPr lang="fr-FR" dirty="0"/>
                <a:t>-</a:t>
              </a:r>
            </a:p>
          </p:txBody>
        </p:sp>
        <p:cxnSp>
          <p:nvCxnSpPr>
            <p:cNvPr id="38" name="Connecteur droit 37"/>
            <p:cNvCxnSpPr/>
            <p:nvPr/>
          </p:nvCxnSpPr>
          <p:spPr>
            <a:xfrm flipH="1" flipV="1">
              <a:off x="1797925" y="2928632"/>
              <a:ext cx="6509510" cy="12149"/>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Connecteur droit 38"/>
            <p:cNvCxnSpPr/>
            <p:nvPr/>
          </p:nvCxnSpPr>
          <p:spPr>
            <a:xfrm flipH="1">
              <a:off x="8309066" y="2270751"/>
              <a:ext cx="2" cy="657881"/>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Connecteur droit 40"/>
            <p:cNvCxnSpPr>
              <a:stCxn id="4" idx="2"/>
            </p:cNvCxnSpPr>
            <p:nvPr/>
          </p:nvCxnSpPr>
          <p:spPr>
            <a:xfrm>
              <a:off x="1797926" y="2081888"/>
              <a:ext cx="3265" cy="846743"/>
            </a:xfrm>
            <a:prstGeom prst="line">
              <a:avLst/>
            </a:prstGeom>
            <a:ln w="31750">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ZoneTexte 42"/>
                <p:cNvSpPr txBox="1"/>
                <p:nvPr/>
              </p:nvSpPr>
              <p:spPr>
                <a:xfrm>
                  <a:off x="1301341" y="2505259"/>
                  <a:ext cx="473274" cy="3929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400" i="1" smtClean="0">
                                <a:latin typeface="Cambria Math" panose="02040503050406030204" pitchFamily="18" charset="0"/>
                              </a:rPr>
                            </m:ctrlPr>
                          </m:sSupPr>
                          <m:e>
                            <m:r>
                              <a:rPr lang="fr-FR" sz="1400" b="1" i="0" smtClean="0">
                                <a:latin typeface="Cambria Math"/>
                              </a:rPr>
                              <m:t>𝐪</m:t>
                            </m:r>
                          </m:e>
                          <m:sup>
                            <m:r>
                              <m:rPr>
                                <m:sty m:val="p"/>
                              </m:rPr>
                              <a:rPr lang="fr-FR" sz="1400" b="0" i="0" smtClean="0">
                                <a:latin typeface="Cambria Math"/>
                              </a:rPr>
                              <m:t>i</m:t>
                            </m:r>
                          </m:sup>
                        </m:sSup>
                      </m:oMath>
                    </m:oMathPara>
                  </a14:m>
                  <a:endParaRPr lang="fr-FR" sz="1400" dirty="0"/>
                </a:p>
              </p:txBody>
            </p:sp>
          </mc:Choice>
          <mc:Fallback xmlns="">
            <p:sp>
              <p:nvSpPr>
                <p:cNvPr id="43" name="ZoneTexte 42"/>
                <p:cNvSpPr txBox="1">
                  <a:spLocks noRot="1" noChangeAspect="1" noMove="1" noResize="1" noEditPoints="1" noAdjustHandles="1" noChangeArrowheads="1" noChangeShapeType="1" noTextEdit="1"/>
                </p:cNvSpPr>
                <p:nvPr/>
              </p:nvSpPr>
              <p:spPr>
                <a:xfrm>
                  <a:off x="1301341" y="2505259"/>
                  <a:ext cx="473274" cy="392993"/>
                </a:xfrm>
                <a:prstGeom prst="rect">
                  <a:avLst/>
                </a:prstGeom>
                <a:blipFill rotWithShape="1">
                  <a:blip r:embed="rId6"/>
                  <a:stretch>
                    <a:fillRect b="-1887"/>
                  </a:stretch>
                </a:blipFill>
              </p:spPr>
              <p:txBody>
                <a:bodyPr/>
                <a:lstStyle/>
                <a:p>
                  <a:r>
                    <a:rPr lang="fr-FR">
                      <a:noFill/>
                    </a:rPr>
                    <a:t> </a:t>
                  </a:r>
                </a:p>
              </p:txBody>
            </p:sp>
          </mc:Fallback>
        </mc:AlternateContent>
      </p:grpSp>
      <p:sp>
        <p:nvSpPr>
          <p:cNvPr id="14" name="ZoneTexte 13"/>
          <p:cNvSpPr txBox="1"/>
          <p:nvPr/>
        </p:nvSpPr>
        <p:spPr>
          <a:xfrm>
            <a:off x="1826209" y="2793986"/>
            <a:ext cx="5336026" cy="338554"/>
          </a:xfrm>
          <a:prstGeom prst="rect">
            <a:avLst/>
          </a:prstGeom>
          <a:noFill/>
        </p:spPr>
        <p:txBody>
          <a:bodyPr wrap="square" rtlCol="0">
            <a:spAutoFit/>
          </a:bodyPr>
          <a:lstStyle/>
          <a:p>
            <a:pPr algn="ctr"/>
            <a:r>
              <a:rPr lang="en-GB" sz="1600" dirty="0"/>
              <a:t>Motion planning in the joint space</a:t>
            </a:r>
          </a:p>
        </p:txBody>
      </p:sp>
      <p:sp>
        <p:nvSpPr>
          <p:cNvPr id="60" name="ZoneTexte 59"/>
          <p:cNvSpPr txBox="1"/>
          <p:nvPr/>
        </p:nvSpPr>
        <p:spPr>
          <a:xfrm>
            <a:off x="2022674" y="6072975"/>
            <a:ext cx="5556034" cy="338554"/>
          </a:xfrm>
          <a:prstGeom prst="rect">
            <a:avLst/>
          </a:prstGeom>
          <a:noFill/>
        </p:spPr>
        <p:txBody>
          <a:bodyPr wrap="square" rtlCol="0">
            <a:spAutoFit/>
          </a:bodyPr>
          <a:lstStyle/>
          <a:p>
            <a:pPr algn="ctr"/>
            <a:r>
              <a:rPr lang="en-GB" sz="1600" dirty="0"/>
              <a:t>Motion planning in the operational space</a:t>
            </a:r>
          </a:p>
        </p:txBody>
      </p:sp>
      <p:grpSp>
        <p:nvGrpSpPr>
          <p:cNvPr id="2" name="Groupe 1"/>
          <p:cNvGrpSpPr>
            <a:grpSpLocks noChangeAspect="1"/>
          </p:cNvGrpSpPr>
          <p:nvPr/>
        </p:nvGrpSpPr>
        <p:grpSpPr>
          <a:xfrm>
            <a:off x="964552" y="4208398"/>
            <a:ext cx="6959551" cy="1733424"/>
            <a:chOff x="-112359" y="4007267"/>
            <a:chExt cx="8957818" cy="2231134"/>
          </a:xfrm>
        </p:grpSpPr>
        <p:sp>
          <p:nvSpPr>
            <p:cNvPr id="24" name="Ellipse 23"/>
            <p:cNvSpPr/>
            <p:nvPr/>
          </p:nvSpPr>
          <p:spPr>
            <a:xfrm>
              <a:off x="5705960" y="4325524"/>
              <a:ext cx="360000" cy="360000"/>
            </a:xfrm>
            <a:prstGeom prst="ellipse">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5" name="Connecteur droit avec flèche 24"/>
            <p:cNvCxnSpPr/>
            <p:nvPr/>
          </p:nvCxnSpPr>
          <p:spPr>
            <a:xfrm>
              <a:off x="6065960" y="4484502"/>
              <a:ext cx="392814" cy="0"/>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Connecteur droit avec flèche 25"/>
            <p:cNvCxnSpPr/>
            <p:nvPr/>
          </p:nvCxnSpPr>
          <p:spPr>
            <a:xfrm flipV="1">
              <a:off x="-112359" y="4473992"/>
              <a:ext cx="626761" cy="0"/>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Connecteur droit avec flèche 26"/>
            <p:cNvCxnSpPr/>
            <p:nvPr/>
          </p:nvCxnSpPr>
          <p:spPr>
            <a:xfrm>
              <a:off x="8254252" y="4505524"/>
              <a:ext cx="591207"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Connecteur droit 28"/>
            <p:cNvCxnSpPr/>
            <p:nvPr/>
          </p:nvCxnSpPr>
          <p:spPr>
            <a:xfrm>
              <a:off x="4123834" y="4477939"/>
              <a:ext cx="563289" cy="0"/>
            </a:xfrm>
            <a:prstGeom prst="line">
              <a:avLst/>
            </a:prstGeom>
            <a:ln w="31750"/>
          </p:spPr>
          <p:style>
            <a:lnRef idx="1">
              <a:schemeClr val="dk1"/>
            </a:lnRef>
            <a:fillRef idx="0">
              <a:schemeClr val="dk1"/>
            </a:fillRef>
            <a:effectRef idx="0">
              <a:schemeClr val="dk1"/>
            </a:effectRef>
            <a:fontRef idx="minor">
              <a:schemeClr val="tx1"/>
            </a:fontRef>
          </p:style>
        </p:cxnSp>
        <p:cxnSp>
          <p:nvCxnSpPr>
            <p:cNvPr id="30" name="Connecteur droit 29"/>
            <p:cNvCxnSpPr/>
            <p:nvPr/>
          </p:nvCxnSpPr>
          <p:spPr>
            <a:xfrm flipV="1">
              <a:off x="4687123" y="4127150"/>
              <a:ext cx="498112" cy="346842"/>
            </a:xfrm>
            <a:prstGeom prst="line">
              <a:avLst/>
            </a:prstGeom>
            <a:ln w="3175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2" name="ZoneTexte 31"/>
                <p:cNvSpPr txBox="1"/>
                <p:nvPr/>
              </p:nvSpPr>
              <p:spPr>
                <a:xfrm>
                  <a:off x="-112359" y="4081925"/>
                  <a:ext cx="473274" cy="4093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400" i="1" smtClean="0">
                                <a:latin typeface="Cambria Math" panose="02040503050406030204" pitchFamily="18" charset="0"/>
                              </a:rPr>
                            </m:ctrlPr>
                          </m:sSupPr>
                          <m:e>
                            <m:r>
                              <a:rPr lang="fr-FR" sz="1400" b="1" i="0" smtClean="0">
                                <a:latin typeface="Cambria Math"/>
                              </a:rPr>
                              <m:t>𝐱</m:t>
                            </m:r>
                          </m:e>
                          <m:sup>
                            <m:r>
                              <m:rPr>
                                <m:sty m:val="p"/>
                              </m:rPr>
                              <a:rPr lang="fr-FR" sz="1400" b="0" i="0" smtClean="0">
                                <a:latin typeface="Cambria Math"/>
                              </a:rPr>
                              <m:t>f</m:t>
                            </m:r>
                          </m:sup>
                        </m:sSup>
                      </m:oMath>
                    </m:oMathPara>
                  </a14:m>
                  <a:endParaRPr lang="fr-FR" sz="1400" dirty="0"/>
                </a:p>
              </p:txBody>
            </p:sp>
          </mc:Choice>
          <mc:Fallback xmlns="">
            <p:sp>
              <p:nvSpPr>
                <p:cNvPr id="32" name="ZoneTexte 31"/>
                <p:cNvSpPr txBox="1">
                  <a:spLocks noRot="1" noChangeAspect="1" noMove="1" noResize="1" noEditPoints="1" noAdjustHandles="1" noChangeArrowheads="1" noChangeShapeType="1" noTextEdit="1"/>
                </p:cNvSpPr>
                <p:nvPr/>
              </p:nvSpPr>
              <p:spPr>
                <a:xfrm>
                  <a:off x="-112359" y="4081925"/>
                  <a:ext cx="473274" cy="409352"/>
                </a:xfrm>
                <a:prstGeom prst="rect">
                  <a:avLst/>
                </a:prstGeom>
                <a:blipFill rotWithShape="1">
                  <a:blip r:embed="rId7"/>
                  <a:stretch>
                    <a:fillRect/>
                  </a:stretch>
                </a:blipFill>
              </p:spPr>
              <p:txBody>
                <a:bodyPr/>
                <a:lstStyle/>
                <a:p>
                  <a:r>
                    <a:rPr lang="fr-FR">
                      <a:noFill/>
                    </a:rPr>
                    <a:t> </a:t>
                  </a:r>
                </a:p>
              </p:txBody>
            </p:sp>
          </mc:Fallback>
        </mc:AlternateContent>
        <p:sp>
          <p:nvSpPr>
            <p:cNvPr id="36" name="Rectangle 35"/>
            <p:cNvSpPr/>
            <p:nvPr/>
          </p:nvSpPr>
          <p:spPr>
            <a:xfrm>
              <a:off x="6458774" y="4127150"/>
              <a:ext cx="1798606" cy="735724"/>
            </a:xfrm>
            <a:prstGeom prst="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Actuators</a:t>
              </a:r>
              <a:endParaRPr lang="en-GB" sz="1400" b="1" dirty="0">
                <a:solidFill>
                  <a:schemeClr val="tx1"/>
                </a:solidFill>
              </a:endParaRPr>
            </a:p>
          </p:txBody>
        </p:sp>
        <p:cxnSp>
          <p:nvCxnSpPr>
            <p:cNvPr id="37" name="Connecteur droit 36"/>
            <p:cNvCxnSpPr/>
            <p:nvPr/>
          </p:nvCxnSpPr>
          <p:spPr>
            <a:xfrm flipH="1">
              <a:off x="8447406" y="4505524"/>
              <a:ext cx="2" cy="657881"/>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Connecteur droit 39"/>
            <p:cNvCxnSpPr/>
            <p:nvPr/>
          </p:nvCxnSpPr>
          <p:spPr>
            <a:xfrm flipH="1">
              <a:off x="5885962" y="5163405"/>
              <a:ext cx="2561444"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Connecteur droit 41"/>
            <p:cNvCxnSpPr>
              <a:endCxn id="24" idx="4"/>
            </p:cNvCxnSpPr>
            <p:nvPr/>
          </p:nvCxnSpPr>
          <p:spPr>
            <a:xfrm flipH="1" flipV="1">
              <a:off x="5885960" y="4685524"/>
              <a:ext cx="2" cy="477881"/>
            </a:xfrm>
            <a:prstGeom prst="line">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Connecteur droit avec flèche 43"/>
            <p:cNvCxnSpPr/>
            <p:nvPr/>
          </p:nvCxnSpPr>
          <p:spPr>
            <a:xfrm>
              <a:off x="5196377" y="4473992"/>
              <a:ext cx="500888" cy="0"/>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5" name="Arc 44"/>
            <p:cNvSpPr/>
            <p:nvPr/>
          </p:nvSpPr>
          <p:spPr>
            <a:xfrm>
              <a:off x="4465235" y="4124502"/>
              <a:ext cx="720000" cy="720000"/>
            </a:xfrm>
            <a:prstGeom prst="arc">
              <a:avLst/>
            </a:prstGeom>
            <a:ln w="31750">
              <a:solidFill>
                <a:schemeClr val="tx1"/>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46" name="ZoneTexte 45"/>
                <p:cNvSpPr txBox="1"/>
                <p:nvPr/>
              </p:nvSpPr>
              <p:spPr>
                <a:xfrm>
                  <a:off x="4099966" y="4054468"/>
                  <a:ext cx="473274" cy="4010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400" i="1" smtClean="0">
                                <a:latin typeface="Cambria Math" panose="02040503050406030204" pitchFamily="18" charset="0"/>
                              </a:rPr>
                            </m:ctrlPr>
                          </m:sSupPr>
                          <m:e>
                            <m:r>
                              <a:rPr lang="fr-FR" sz="1400" b="1" i="0" smtClean="0">
                                <a:latin typeface="Cambria Math"/>
                              </a:rPr>
                              <m:t>𝐪</m:t>
                            </m:r>
                          </m:e>
                          <m:sup>
                            <m:r>
                              <a:rPr lang="fr-FR" sz="1400" b="0" i="1" smtClean="0">
                                <a:latin typeface="Cambria Math"/>
                              </a:rPr>
                              <m:t>𝑑</m:t>
                            </m:r>
                          </m:sup>
                        </m:sSup>
                        <m:d>
                          <m:dPr>
                            <m:ctrlPr>
                              <a:rPr lang="fr-FR" sz="1400" i="1" smtClean="0">
                                <a:latin typeface="Cambria Math" panose="02040503050406030204" pitchFamily="18" charset="0"/>
                              </a:rPr>
                            </m:ctrlPr>
                          </m:dPr>
                          <m:e>
                            <m:r>
                              <m:rPr>
                                <m:sty m:val="p"/>
                              </m:rPr>
                              <a:rPr lang="fr-FR" sz="1400" b="0" i="0" smtClean="0">
                                <a:latin typeface="Cambria Math"/>
                              </a:rPr>
                              <m:t>t</m:t>
                            </m:r>
                          </m:e>
                        </m:d>
                      </m:oMath>
                    </m:oMathPara>
                  </a14:m>
                  <a:endParaRPr lang="fr-FR" sz="1400" dirty="0"/>
                </a:p>
              </p:txBody>
            </p:sp>
          </mc:Choice>
          <mc:Fallback xmlns="">
            <p:sp>
              <p:nvSpPr>
                <p:cNvPr id="46" name="ZoneTexte 45"/>
                <p:cNvSpPr txBox="1">
                  <a:spLocks noRot="1" noChangeAspect="1" noMove="1" noResize="1" noEditPoints="1" noAdjustHandles="1" noChangeArrowheads="1" noChangeShapeType="1" noTextEdit="1"/>
                </p:cNvSpPr>
                <p:nvPr/>
              </p:nvSpPr>
              <p:spPr>
                <a:xfrm>
                  <a:off x="4099966" y="4054468"/>
                  <a:ext cx="473274" cy="401017"/>
                </a:xfrm>
                <a:prstGeom prst="rect">
                  <a:avLst/>
                </a:prstGeom>
                <a:blipFill rotWithShape="1">
                  <a:blip r:embed="rId8"/>
                  <a:stretch>
                    <a:fillRect r="-33333" b="-3922"/>
                  </a:stretch>
                </a:blipFill>
              </p:spPr>
              <p:txBody>
                <a:bodyPr/>
                <a:lstStyle/>
                <a:p>
                  <a:r>
                    <a:rPr lang="fr-FR">
                      <a:noFill/>
                    </a:rPr>
                    <a:t> </a:t>
                  </a:r>
                </a:p>
              </p:txBody>
            </p:sp>
          </mc:Fallback>
        </mc:AlternateContent>
        <p:sp>
          <p:nvSpPr>
            <p:cNvPr id="47" name="ZoneTexte 46"/>
            <p:cNvSpPr txBox="1"/>
            <p:nvPr/>
          </p:nvSpPr>
          <p:spPr>
            <a:xfrm>
              <a:off x="5228902" y="4076209"/>
              <a:ext cx="348484" cy="369332"/>
            </a:xfrm>
            <a:prstGeom prst="rect">
              <a:avLst/>
            </a:prstGeom>
            <a:noFill/>
          </p:spPr>
          <p:txBody>
            <a:bodyPr wrap="square" rtlCol="0">
              <a:spAutoFit/>
            </a:bodyPr>
            <a:lstStyle/>
            <a:p>
              <a:r>
                <a:rPr lang="fr-FR" dirty="0"/>
                <a:t>+</a:t>
              </a:r>
            </a:p>
          </p:txBody>
        </p:sp>
        <p:sp>
          <p:nvSpPr>
            <p:cNvPr id="48" name="ZoneTexte 47"/>
            <p:cNvSpPr txBox="1"/>
            <p:nvPr/>
          </p:nvSpPr>
          <p:spPr>
            <a:xfrm>
              <a:off x="5567338" y="4631072"/>
              <a:ext cx="348484" cy="369332"/>
            </a:xfrm>
            <a:prstGeom prst="rect">
              <a:avLst/>
            </a:prstGeom>
            <a:noFill/>
          </p:spPr>
          <p:txBody>
            <a:bodyPr wrap="square" rtlCol="0">
              <a:spAutoFit/>
            </a:bodyPr>
            <a:lstStyle/>
            <a:p>
              <a:r>
                <a:rPr lang="fr-FR" dirty="0"/>
                <a:t>-</a:t>
              </a:r>
            </a:p>
          </p:txBody>
        </p:sp>
        <p:cxnSp>
          <p:nvCxnSpPr>
            <p:cNvPr id="49" name="Connecteur droit 48"/>
            <p:cNvCxnSpPr/>
            <p:nvPr/>
          </p:nvCxnSpPr>
          <p:spPr>
            <a:xfrm flipH="1">
              <a:off x="5596423" y="5831798"/>
              <a:ext cx="2850982" cy="5646"/>
            </a:xfrm>
            <a:prstGeom prst="line">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Connecteur droit 49"/>
            <p:cNvCxnSpPr/>
            <p:nvPr/>
          </p:nvCxnSpPr>
          <p:spPr>
            <a:xfrm flipH="1">
              <a:off x="8447405" y="5173917"/>
              <a:ext cx="2" cy="657881"/>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necteur droit 50"/>
            <p:cNvCxnSpPr/>
            <p:nvPr/>
          </p:nvCxnSpPr>
          <p:spPr>
            <a:xfrm>
              <a:off x="1395278" y="4990701"/>
              <a:ext cx="3265" cy="846743"/>
            </a:xfrm>
            <a:prstGeom prst="line">
              <a:avLst/>
            </a:prstGeom>
            <a:ln w="31750">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ZoneTexte 51"/>
                <p:cNvSpPr txBox="1"/>
                <p:nvPr/>
              </p:nvSpPr>
              <p:spPr>
                <a:xfrm>
                  <a:off x="6238385" y="5833340"/>
                  <a:ext cx="473274" cy="4050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400" i="1" smtClean="0">
                                <a:latin typeface="Cambria Math" panose="02040503050406030204" pitchFamily="18" charset="0"/>
                              </a:rPr>
                            </m:ctrlPr>
                          </m:sSupPr>
                          <m:e>
                            <m:r>
                              <a:rPr lang="fr-FR" sz="1400" b="1" i="0" smtClean="0">
                                <a:latin typeface="Cambria Math"/>
                              </a:rPr>
                              <m:t>𝐪</m:t>
                            </m:r>
                          </m:e>
                          <m:sup>
                            <m:r>
                              <m:rPr>
                                <m:sty m:val="p"/>
                              </m:rPr>
                              <a:rPr lang="fr-FR" sz="1400" b="0" i="0" smtClean="0">
                                <a:latin typeface="Cambria Math"/>
                              </a:rPr>
                              <m:t>i</m:t>
                            </m:r>
                          </m:sup>
                        </m:sSup>
                      </m:oMath>
                    </m:oMathPara>
                  </a14:m>
                  <a:endParaRPr lang="fr-FR" sz="1400" dirty="0"/>
                </a:p>
              </p:txBody>
            </p:sp>
          </mc:Choice>
          <mc:Fallback xmlns="">
            <p:sp>
              <p:nvSpPr>
                <p:cNvPr id="52" name="ZoneTexte 51"/>
                <p:cNvSpPr txBox="1">
                  <a:spLocks noRot="1" noChangeAspect="1" noMove="1" noResize="1" noEditPoints="1" noAdjustHandles="1" noChangeArrowheads="1" noChangeShapeType="1" noTextEdit="1"/>
                </p:cNvSpPr>
                <p:nvPr/>
              </p:nvSpPr>
              <p:spPr>
                <a:xfrm>
                  <a:off x="6238385" y="5833340"/>
                  <a:ext cx="473274" cy="405061"/>
                </a:xfrm>
                <a:prstGeom prst="rect">
                  <a:avLst/>
                </a:prstGeom>
                <a:blipFill rotWithShape="1">
                  <a:blip r:embed="rId9"/>
                  <a:stretch>
                    <a:fillRect b="-3846"/>
                  </a:stretch>
                </a:blipFill>
              </p:spPr>
              <p:txBody>
                <a:bodyPr/>
                <a:lstStyle/>
                <a:p>
                  <a:r>
                    <a:rPr lang="fr-FR">
                      <a:noFill/>
                    </a:rPr>
                    <a:t> </a:t>
                  </a:r>
                </a:p>
              </p:txBody>
            </p:sp>
          </mc:Fallback>
        </mc:AlternateContent>
        <p:sp>
          <p:nvSpPr>
            <p:cNvPr id="53" name="Rectangle 52"/>
            <p:cNvSpPr/>
            <p:nvPr/>
          </p:nvSpPr>
          <p:spPr>
            <a:xfrm>
              <a:off x="4652626" y="5555265"/>
              <a:ext cx="943303" cy="564358"/>
            </a:xfrm>
            <a:prstGeom prst="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DKM</a:t>
              </a:r>
              <a:endParaRPr lang="fr-FR" sz="1400" b="1" dirty="0">
                <a:solidFill>
                  <a:schemeClr val="tx1"/>
                </a:solidFill>
              </a:endParaRPr>
            </a:p>
          </p:txBody>
        </p:sp>
        <p:sp>
          <p:nvSpPr>
            <p:cNvPr id="54" name="Rectangle 53"/>
            <p:cNvSpPr/>
            <p:nvPr/>
          </p:nvSpPr>
          <p:spPr>
            <a:xfrm>
              <a:off x="3170511" y="4191813"/>
              <a:ext cx="943303" cy="564358"/>
            </a:xfrm>
            <a:prstGeom prst="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solidFill>
                    <a:schemeClr val="tx1"/>
                  </a:solidFill>
                </a:rPr>
                <a:t>IKM</a:t>
              </a:r>
              <a:endParaRPr lang="fr-FR" sz="1400" b="1" dirty="0">
                <a:solidFill>
                  <a:schemeClr val="tx1"/>
                </a:solidFill>
              </a:endParaRPr>
            </a:p>
          </p:txBody>
        </p:sp>
        <p:cxnSp>
          <p:nvCxnSpPr>
            <p:cNvPr id="55" name="Connecteur droit 54"/>
            <p:cNvCxnSpPr>
              <a:stCxn id="56" idx="3"/>
              <a:endCxn id="54" idx="1"/>
            </p:cNvCxnSpPr>
            <p:nvPr/>
          </p:nvCxnSpPr>
          <p:spPr>
            <a:xfrm flipV="1">
              <a:off x="2274671" y="4473992"/>
              <a:ext cx="895840" cy="986"/>
            </a:xfrm>
            <a:prstGeom prst="line">
              <a:avLst/>
            </a:prstGeom>
            <a:ln w="31750">
              <a:tailEnd type="arrow"/>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6" name="Rectangle 55"/>
                <p:cNvSpPr/>
                <p:nvPr/>
              </p:nvSpPr>
              <p:spPr>
                <a:xfrm>
                  <a:off x="510596" y="4007267"/>
                  <a:ext cx="1764075" cy="935420"/>
                </a:xfrm>
                <a:prstGeom prst="rect">
                  <a:avLst/>
                </a:prstGeom>
                <a:no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Trajectory generation in</a:t>
                  </a:r>
                  <a:r>
                    <a:rPr lang="fr-FR" sz="1400" dirty="0">
                      <a:solidFill>
                        <a:schemeClr val="tx1"/>
                      </a:solidFill>
                    </a:rPr>
                    <a:t> </a:t>
                  </a:r>
                  <a14:m>
                    <m:oMath xmlns:m="http://schemas.openxmlformats.org/officeDocument/2006/math">
                      <m:r>
                        <a:rPr lang="fr-FR" sz="1400" b="1" i="0" smtClean="0">
                          <a:solidFill>
                            <a:schemeClr val="tx1"/>
                          </a:solidFill>
                          <a:latin typeface="Cambria Math"/>
                        </a:rPr>
                        <m:t>𝐱</m:t>
                      </m:r>
                    </m:oMath>
                  </a14:m>
                  <a:endParaRPr lang="fr-FR" sz="1400" b="1" dirty="0">
                    <a:solidFill>
                      <a:schemeClr val="tx1"/>
                    </a:solidFill>
                  </a:endParaRPr>
                </a:p>
              </p:txBody>
            </p:sp>
          </mc:Choice>
          <mc:Fallback xmlns="">
            <p:sp>
              <p:nvSpPr>
                <p:cNvPr id="56" name="Rectangle 55"/>
                <p:cNvSpPr>
                  <a:spLocks noRot="1" noChangeAspect="1" noMove="1" noResize="1" noEditPoints="1" noAdjustHandles="1" noChangeArrowheads="1" noChangeShapeType="1" noTextEdit="1"/>
                </p:cNvSpPr>
                <p:nvPr/>
              </p:nvSpPr>
              <p:spPr>
                <a:xfrm>
                  <a:off x="510596" y="4007267"/>
                  <a:ext cx="1764075" cy="935420"/>
                </a:xfrm>
                <a:prstGeom prst="rect">
                  <a:avLst/>
                </a:prstGeom>
                <a:blipFill>
                  <a:blip r:embed="rId10"/>
                  <a:stretch>
                    <a:fillRect/>
                  </a:stretch>
                </a:blipFill>
                <a:ln w="31750">
                  <a:solidFill>
                    <a:schemeClr val="tx1"/>
                  </a:solidFill>
                </a:ln>
              </p:spPr>
              <p:txBody>
                <a:bodyPr/>
                <a:lstStyle/>
                <a:p>
                  <a:r>
                    <a:rPr lang="fr-FR">
                      <a:noFill/>
                    </a:rPr>
                    <a:t> </a:t>
                  </a:r>
                </a:p>
              </p:txBody>
            </p:sp>
          </mc:Fallback>
        </mc:AlternateContent>
        <p:cxnSp>
          <p:nvCxnSpPr>
            <p:cNvPr id="57" name="Connecteur droit 56"/>
            <p:cNvCxnSpPr/>
            <p:nvPr/>
          </p:nvCxnSpPr>
          <p:spPr>
            <a:xfrm flipH="1" flipV="1">
              <a:off x="1398543" y="5837444"/>
              <a:ext cx="3210563" cy="0"/>
            </a:xfrm>
            <a:prstGeom prst="line">
              <a:avLst/>
            </a:prstGeom>
            <a:ln w="3175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ZoneTexte 57"/>
                <p:cNvSpPr txBox="1"/>
                <p:nvPr/>
              </p:nvSpPr>
              <p:spPr>
                <a:xfrm>
                  <a:off x="2629927" y="5831798"/>
                  <a:ext cx="473274" cy="4050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400" i="1" smtClean="0">
                                <a:latin typeface="Cambria Math" panose="02040503050406030204" pitchFamily="18" charset="0"/>
                              </a:rPr>
                            </m:ctrlPr>
                          </m:sSupPr>
                          <m:e>
                            <m:r>
                              <a:rPr lang="fr-FR" sz="1400" b="1" i="0" smtClean="0">
                                <a:latin typeface="Cambria Math"/>
                              </a:rPr>
                              <m:t>𝐱</m:t>
                            </m:r>
                          </m:e>
                          <m:sup>
                            <m:r>
                              <m:rPr>
                                <m:sty m:val="p"/>
                              </m:rPr>
                              <a:rPr lang="fr-FR" sz="1400" b="0" i="0" smtClean="0">
                                <a:latin typeface="Cambria Math"/>
                              </a:rPr>
                              <m:t>i</m:t>
                            </m:r>
                          </m:sup>
                        </m:sSup>
                      </m:oMath>
                    </m:oMathPara>
                  </a14:m>
                  <a:endParaRPr lang="fr-FR" sz="1400" dirty="0"/>
                </a:p>
              </p:txBody>
            </p:sp>
          </mc:Choice>
          <mc:Fallback xmlns="">
            <p:sp>
              <p:nvSpPr>
                <p:cNvPr id="58" name="ZoneTexte 57"/>
                <p:cNvSpPr txBox="1">
                  <a:spLocks noRot="1" noChangeAspect="1" noMove="1" noResize="1" noEditPoints="1" noAdjustHandles="1" noChangeArrowheads="1" noChangeShapeType="1" noTextEdit="1"/>
                </p:cNvSpPr>
                <p:nvPr/>
              </p:nvSpPr>
              <p:spPr>
                <a:xfrm>
                  <a:off x="2629927" y="5831798"/>
                  <a:ext cx="473274" cy="405061"/>
                </a:xfrm>
                <a:prstGeom prst="rect">
                  <a:avLst/>
                </a:prstGeom>
                <a:blipFill rotWithShape="1">
                  <a:blip r:embed="rId11"/>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9" name="ZoneTexte 58"/>
                <p:cNvSpPr txBox="1"/>
                <p:nvPr/>
              </p:nvSpPr>
              <p:spPr>
                <a:xfrm>
                  <a:off x="2365831" y="4056673"/>
                  <a:ext cx="610534" cy="4010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400" i="1" smtClean="0">
                                <a:latin typeface="Cambria Math" panose="02040503050406030204" pitchFamily="18" charset="0"/>
                              </a:rPr>
                            </m:ctrlPr>
                          </m:sSupPr>
                          <m:e>
                            <m:r>
                              <a:rPr lang="fr-FR" sz="1400" b="1" i="0" smtClean="0">
                                <a:latin typeface="Cambria Math"/>
                              </a:rPr>
                              <m:t>𝐱</m:t>
                            </m:r>
                          </m:e>
                          <m:sup>
                            <m:r>
                              <a:rPr lang="fr-FR" sz="1400" b="0" i="1" smtClean="0">
                                <a:latin typeface="Cambria Math"/>
                              </a:rPr>
                              <m:t>𝑑</m:t>
                            </m:r>
                          </m:sup>
                        </m:sSup>
                        <m:d>
                          <m:dPr>
                            <m:ctrlPr>
                              <a:rPr lang="fr-FR" sz="1400" i="1" smtClean="0">
                                <a:latin typeface="Cambria Math" panose="02040503050406030204" pitchFamily="18" charset="0"/>
                              </a:rPr>
                            </m:ctrlPr>
                          </m:dPr>
                          <m:e>
                            <m:r>
                              <m:rPr>
                                <m:sty m:val="p"/>
                              </m:rPr>
                              <a:rPr lang="fr-FR" sz="1400" b="0" i="0" smtClean="0">
                                <a:latin typeface="Cambria Math"/>
                              </a:rPr>
                              <m:t>t</m:t>
                            </m:r>
                          </m:e>
                        </m:d>
                      </m:oMath>
                    </m:oMathPara>
                  </a14:m>
                  <a:endParaRPr lang="fr-FR" sz="1400" dirty="0"/>
                </a:p>
              </p:txBody>
            </p:sp>
          </mc:Choice>
          <mc:Fallback xmlns="">
            <p:sp>
              <p:nvSpPr>
                <p:cNvPr id="59" name="ZoneTexte 58"/>
                <p:cNvSpPr txBox="1">
                  <a:spLocks noRot="1" noChangeAspect="1" noMove="1" noResize="1" noEditPoints="1" noAdjustHandles="1" noChangeArrowheads="1" noChangeShapeType="1" noTextEdit="1"/>
                </p:cNvSpPr>
                <p:nvPr/>
              </p:nvSpPr>
              <p:spPr>
                <a:xfrm>
                  <a:off x="2365831" y="4056673"/>
                  <a:ext cx="610534" cy="401017"/>
                </a:xfrm>
                <a:prstGeom prst="rect">
                  <a:avLst/>
                </a:prstGeom>
                <a:blipFill rotWithShape="1">
                  <a:blip r:embed="rId12"/>
                  <a:stretch>
                    <a:fillRect r="-1282"/>
                  </a:stretch>
                </a:blipFill>
              </p:spPr>
              <p:txBody>
                <a:bodyPr/>
                <a:lstStyle/>
                <a:p>
                  <a:r>
                    <a:rPr lang="fr-FR">
                      <a:noFill/>
                    </a:rPr>
                    <a:t> </a:t>
                  </a:r>
                </a:p>
              </p:txBody>
            </p:sp>
          </mc:Fallback>
        </mc:AlternateContent>
      </p:grpSp>
    </p:spTree>
    <p:extLst>
      <p:ext uri="{BB962C8B-B14F-4D97-AF65-F5344CB8AC3E}">
        <p14:creationId xmlns:p14="http://schemas.microsoft.com/office/powerpoint/2010/main" val="3099751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a:buFont typeface="Wingdings" panose="05000000000000000000" pitchFamily="2" charset="2"/>
                  <a:buChar char="v"/>
                </a:pPr>
                <a:r>
                  <a:rPr lang="en-GB" dirty="0"/>
                  <a:t>Motion between </a:t>
                </a:r>
                <a14:m>
                  <m:oMath xmlns:m="http://schemas.openxmlformats.org/officeDocument/2006/math">
                    <m:sSup>
                      <m:sSupPr>
                        <m:ctrlPr>
                          <a:rPr lang="en-GB" i="1" smtClean="0">
                            <a:latin typeface="Cambria Math" panose="02040503050406030204" pitchFamily="18" charset="0"/>
                          </a:rPr>
                        </m:ctrlPr>
                      </m:sSupPr>
                      <m:e>
                        <m:r>
                          <a:rPr lang="en-GB" b="1" i="0" smtClean="0">
                            <a:latin typeface="Cambria Math"/>
                          </a:rPr>
                          <m:t>𝐪</m:t>
                        </m:r>
                      </m:e>
                      <m:sup>
                        <m:r>
                          <m:rPr>
                            <m:sty m:val="p"/>
                          </m:rPr>
                          <a:rPr lang="en-GB" b="0" i="0" smtClean="0">
                            <a:latin typeface="Cambria Math"/>
                          </a:rPr>
                          <m:t>i</m:t>
                        </m:r>
                      </m:sup>
                    </m:sSup>
                  </m:oMath>
                </a14:m>
                <a:r>
                  <a:rPr lang="en-GB" dirty="0"/>
                  <a:t> and </a:t>
                </a:r>
                <a14:m>
                  <m:oMath xmlns:m="http://schemas.openxmlformats.org/officeDocument/2006/math">
                    <m:sSup>
                      <m:sSupPr>
                        <m:ctrlPr>
                          <a:rPr lang="en-GB" i="1" smtClean="0">
                            <a:latin typeface="Cambria Math" panose="02040503050406030204" pitchFamily="18" charset="0"/>
                          </a:rPr>
                        </m:ctrlPr>
                      </m:sSupPr>
                      <m:e>
                        <m:r>
                          <a:rPr lang="en-GB" b="1" i="0" smtClean="0">
                            <a:latin typeface="Cambria Math"/>
                          </a:rPr>
                          <m:t>𝐪</m:t>
                        </m:r>
                      </m:e>
                      <m:sup>
                        <m:r>
                          <m:rPr>
                            <m:sty m:val="p"/>
                          </m:rPr>
                          <a:rPr lang="en-GB" b="0" i="0" smtClean="0">
                            <a:latin typeface="Cambria Math"/>
                          </a:rPr>
                          <m:t>f</m:t>
                        </m:r>
                      </m:sup>
                    </m:sSup>
                  </m:oMath>
                </a14:m>
                <a:r>
                  <a:rPr lang="en-GB" dirty="0"/>
                  <a:t> can be described as:</a:t>
                </a:r>
              </a:p>
              <a:p>
                <a:endParaRPr lang="en-GB" dirty="0"/>
              </a:p>
              <a:p>
                <a:pPr marL="0" indent="0" algn="ctr">
                  <a:buNone/>
                </a:pPr>
                <a14:m>
                  <m:oMath xmlns:m="http://schemas.openxmlformats.org/officeDocument/2006/math">
                    <m:r>
                      <a:rPr lang="en-GB" b="1" i="0" smtClean="0">
                        <a:latin typeface="Cambria Math"/>
                      </a:rPr>
                      <m:t>𝐪</m:t>
                    </m:r>
                    <m:d>
                      <m:dPr>
                        <m:ctrlPr>
                          <a:rPr lang="en-GB" i="1" smtClean="0">
                            <a:latin typeface="Cambria Math" panose="02040503050406030204" pitchFamily="18" charset="0"/>
                          </a:rPr>
                        </m:ctrlPr>
                      </m:dPr>
                      <m:e>
                        <m:r>
                          <m:rPr>
                            <m:sty m:val="p"/>
                          </m:rPr>
                          <a:rPr lang="en-GB" b="0" i="0" smtClean="0">
                            <a:latin typeface="Cambria Math"/>
                          </a:rPr>
                          <m:t>t</m:t>
                        </m:r>
                      </m:e>
                    </m:d>
                    <m:r>
                      <a:rPr lang="en-GB" b="0" i="1" smtClean="0">
                        <a:latin typeface="Cambria Math"/>
                      </a:rPr>
                      <m:t>=</m:t>
                    </m:r>
                    <m:sSup>
                      <m:sSupPr>
                        <m:ctrlPr>
                          <a:rPr lang="en-GB" b="0" i="1" smtClean="0">
                            <a:latin typeface="Cambria Math" panose="02040503050406030204" pitchFamily="18" charset="0"/>
                          </a:rPr>
                        </m:ctrlPr>
                      </m:sSupPr>
                      <m:e>
                        <m:r>
                          <a:rPr lang="en-GB" b="1" i="0" smtClean="0">
                            <a:latin typeface="Cambria Math"/>
                          </a:rPr>
                          <m:t>𝐪</m:t>
                        </m:r>
                      </m:e>
                      <m:sup>
                        <m:r>
                          <m:rPr>
                            <m:sty m:val="p"/>
                          </m:rPr>
                          <a:rPr lang="en-GB" b="0" i="0" smtClean="0">
                            <a:latin typeface="Cambria Math"/>
                          </a:rPr>
                          <m:t>i</m:t>
                        </m:r>
                      </m:sup>
                    </m:sSup>
                    <m:r>
                      <a:rPr lang="en-GB" b="0" i="1" smtClean="0">
                        <a:latin typeface="Cambria Math"/>
                      </a:rPr>
                      <m:t>+</m:t>
                    </m:r>
                    <m:r>
                      <m:rPr>
                        <m:sty m:val="p"/>
                      </m:rPr>
                      <a:rPr lang="en-GB" b="0" i="0" smtClean="0">
                        <a:latin typeface="Cambria Math"/>
                      </a:rPr>
                      <m:t>r</m:t>
                    </m:r>
                    <m:d>
                      <m:dPr>
                        <m:ctrlPr>
                          <a:rPr lang="en-GB" b="0" i="1" smtClean="0">
                            <a:latin typeface="Cambria Math" panose="02040503050406030204" pitchFamily="18" charset="0"/>
                          </a:rPr>
                        </m:ctrlPr>
                      </m:dPr>
                      <m:e>
                        <m:r>
                          <m:rPr>
                            <m:sty m:val="p"/>
                          </m:rPr>
                          <a:rPr lang="en-GB" b="0" i="0" smtClean="0">
                            <a:latin typeface="Cambria Math"/>
                          </a:rPr>
                          <m:t>t</m:t>
                        </m:r>
                      </m:e>
                    </m:d>
                    <m:r>
                      <a:rPr lang="en-GB" b="1" i="0" smtClean="0">
                        <a:latin typeface="Cambria Math"/>
                      </a:rPr>
                      <m:t>𝐃</m:t>
                    </m:r>
                  </m:oMath>
                </a14:m>
                <a:r>
                  <a:rPr lang="en-GB" b="1" dirty="0"/>
                  <a:t>	</a:t>
                </a:r>
                <a:r>
                  <a:rPr lang="en-GB" dirty="0"/>
                  <a:t> </a:t>
                </a:r>
                <a14:m>
                  <m:oMath xmlns:m="http://schemas.openxmlformats.org/officeDocument/2006/math">
                    <m:r>
                      <a:rPr lang="en-GB" b="0" i="1" smtClean="0">
                        <a:latin typeface="Cambria Math"/>
                      </a:rPr>
                      <m:t>0</m:t>
                    </m:r>
                    <m:r>
                      <a:rPr lang="en-GB" b="0" i="1" smtClean="0">
                        <a:latin typeface="Cambria Math"/>
                        <a:ea typeface="Cambria Math"/>
                      </a:rPr>
                      <m:t>≤</m:t>
                    </m:r>
                    <m:r>
                      <m:rPr>
                        <m:sty m:val="p"/>
                      </m:rPr>
                      <a:rPr lang="en-GB" b="0" i="0" smtClean="0">
                        <a:latin typeface="Cambria Math"/>
                        <a:ea typeface="Cambria Math"/>
                      </a:rPr>
                      <m:t>t</m:t>
                    </m:r>
                    <m:r>
                      <a:rPr lang="en-GB" b="0" i="1" smtClean="0">
                        <a:latin typeface="Cambria Math"/>
                        <a:ea typeface="Cambria Math"/>
                      </a:rPr>
                      <m:t>≤</m:t>
                    </m:r>
                    <m:sSub>
                      <m:sSubPr>
                        <m:ctrlPr>
                          <a:rPr lang="en-GB" i="1" smtClean="0">
                            <a:latin typeface="Cambria Math" panose="02040503050406030204" pitchFamily="18" charset="0"/>
                            <a:ea typeface="Cambria Math"/>
                          </a:rPr>
                        </m:ctrlPr>
                      </m:sSubPr>
                      <m:e>
                        <m:r>
                          <m:rPr>
                            <m:sty m:val="p"/>
                          </m:rPr>
                          <a:rPr lang="en-GB" b="0" i="0" smtClean="0">
                            <a:latin typeface="Cambria Math"/>
                            <a:ea typeface="Cambria Math"/>
                          </a:rPr>
                          <m:t>t</m:t>
                        </m:r>
                      </m:e>
                      <m:sub>
                        <m:r>
                          <m:rPr>
                            <m:sty m:val="p"/>
                          </m:rPr>
                          <a:rPr lang="en-GB" b="0" i="0" smtClean="0">
                            <a:latin typeface="Cambria Math"/>
                            <a:ea typeface="Cambria Math"/>
                          </a:rPr>
                          <m:t>f</m:t>
                        </m:r>
                      </m:sub>
                    </m:sSub>
                  </m:oMath>
                </a14:m>
                <a:r>
                  <a:rPr lang="en-GB" b="1" dirty="0"/>
                  <a:t>       </a:t>
                </a:r>
              </a:p>
              <a:p>
                <a:pPr marL="0" indent="0">
                  <a:buNone/>
                </a:pPr>
                <a:r>
                  <a:rPr lang="en-GB" b="1" dirty="0"/>
                  <a:t>                            </a:t>
                </a:r>
              </a:p>
              <a:p>
                <a:pPr marL="0" indent="0">
                  <a:buNone/>
                </a:pPr>
                <a:r>
                  <a:rPr lang="en-GB" b="1" dirty="0"/>
                  <a:t>                                           </a:t>
                </a:r>
                <a:r>
                  <a:rPr lang="en-GB" dirty="0"/>
                  <a:t>with</a:t>
                </a:r>
                <a:r>
                  <a:rPr lang="en-GB" b="1" dirty="0"/>
                  <a:t>      </a:t>
                </a:r>
                <a14:m>
                  <m:oMath xmlns:m="http://schemas.openxmlformats.org/officeDocument/2006/math">
                    <m:r>
                      <a:rPr lang="en-GB" b="1" i="0" smtClean="0">
                        <a:latin typeface="Cambria Math"/>
                      </a:rPr>
                      <m:t>𝐃</m:t>
                    </m:r>
                    <m:r>
                      <a:rPr lang="en-GB" b="0" i="1" smtClean="0">
                        <a:latin typeface="Cambria Math"/>
                      </a:rPr>
                      <m:t>=</m:t>
                    </m:r>
                    <m:sSup>
                      <m:sSupPr>
                        <m:ctrlPr>
                          <a:rPr lang="en-GB" i="1">
                            <a:latin typeface="Cambria Math" panose="02040503050406030204" pitchFamily="18" charset="0"/>
                          </a:rPr>
                        </m:ctrlPr>
                      </m:sSupPr>
                      <m:e>
                        <m:r>
                          <a:rPr lang="en-GB" b="1">
                            <a:latin typeface="Cambria Math"/>
                          </a:rPr>
                          <m:t>𝐪</m:t>
                        </m:r>
                      </m:e>
                      <m:sup>
                        <m:r>
                          <m:rPr>
                            <m:sty m:val="p"/>
                          </m:rPr>
                          <a:rPr lang="en-GB" b="0" i="0" smtClean="0">
                            <a:latin typeface="Cambria Math"/>
                          </a:rPr>
                          <m:t>f</m:t>
                        </m:r>
                      </m:sup>
                    </m:sSup>
                    <m:r>
                      <a:rPr lang="en-GB" b="0" i="1" smtClean="0">
                        <a:latin typeface="Cambria Math"/>
                      </a:rPr>
                      <m:t>−</m:t>
                    </m:r>
                    <m:sSup>
                      <m:sSupPr>
                        <m:ctrlPr>
                          <a:rPr lang="en-GB" i="1">
                            <a:latin typeface="Cambria Math" panose="02040503050406030204" pitchFamily="18" charset="0"/>
                          </a:rPr>
                        </m:ctrlPr>
                      </m:sSupPr>
                      <m:e>
                        <m:r>
                          <a:rPr lang="en-GB" b="1">
                            <a:latin typeface="Cambria Math"/>
                          </a:rPr>
                          <m:t>𝐪</m:t>
                        </m:r>
                      </m:e>
                      <m:sup>
                        <m:r>
                          <m:rPr>
                            <m:sty m:val="p"/>
                          </m:rPr>
                          <a:rPr lang="en-GB" i="0">
                            <a:latin typeface="Cambria Math"/>
                          </a:rPr>
                          <m:t>i</m:t>
                        </m:r>
                      </m:sup>
                    </m:sSup>
                  </m:oMath>
                </a14:m>
                <a:endParaRPr lang="en-GB" dirty="0"/>
              </a:p>
              <a:p>
                <a:pPr marL="0" indent="0">
                  <a:buNone/>
                </a:pPr>
                <a:endParaRPr lang="en-GB" b="1" dirty="0">
                  <a:latin typeface="Cambria Math"/>
                </a:endParaRPr>
              </a:p>
              <a:p>
                <a:pPr marL="0" indent="0">
                  <a:buNone/>
                </a:pPr>
                <a14:m>
                  <m:oMath xmlns:m="http://schemas.openxmlformats.org/officeDocument/2006/math">
                    <m:r>
                      <a:rPr lang="en-GB" b="1">
                        <a:latin typeface="Cambria Math"/>
                      </a:rPr>
                      <m:t>𝐪</m:t>
                    </m:r>
                    <m:d>
                      <m:dPr>
                        <m:ctrlPr>
                          <a:rPr lang="en-GB" i="1">
                            <a:latin typeface="Cambria Math" panose="02040503050406030204" pitchFamily="18" charset="0"/>
                          </a:rPr>
                        </m:ctrlPr>
                      </m:dPr>
                      <m:e>
                        <m:r>
                          <m:rPr>
                            <m:sty m:val="p"/>
                          </m:rPr>
                          <a:rPr lang="en-GB">
                            <a:latin typeface="Cambria Math"/>
                          </a:rPr>
                          <m:t>t</m:t>
                        </m:r>
                      </m:e>
                    </m:d>
                    <m:r>
                      <a:rPr lang="en-GB">
                        <a:latin typeface="Cambria Math"/>
                      </a:rPr>
                      <m:t>=</m:t>
                    </m:r>
                    <m:sSup>
                      <m:sSupPr>
                        <m:ctrlPr>
                          <a:rPr lang="en-GB" i="1">
                            <a:latin typeface="Cambria Math" panose="02040503050406030204" pitchFamily="18" charset="0"/>
                          </a:rPr>
                        </m:ctrlPr>
                      </m:sSupPr>
                      <m:e>
                        <m:r>
                          <a:rPr lang="en-GB" b="1">
                            <a:latin typeface="Cambria Math"/>
                          </a:rPr>
                          <m:t>𝐪</m:t>
                        </m:r>
                      </m:e>
                      <m:sup>
                        <m:r>
                          <m:rPr>
                            <m:sty m:val="p"/>
                          </m:rPr>
                          <a:rPr lang="en-GB">
                            <a:latin typeface="Cambria Math"/>
                          </a:rPr>
                          <m:t>d</m:t>
                        </m:r>
                      </m:sup>
                    </m:sSup>
                    <m:d>
                      <m:dPr>
                        <m:ctrlPr>
                          <a:rPr lang="en-GB" i="1">
                            <a:latin typeface="Cambria Math" panose="02040503050406030204" pitchFamily="18" charset="0"/>
                          </a:rPr>
                        </m:ctrlPr>
                      </m:dPr>
                      <m:e>
                        <m:r>
                          <m:rPr>
                            <m:sty m:val="p"/>
                          </m:rPr>
                          <a:rPr lang="en-GB">
                            <a:latin typeface="Cambria Math"/>
                          </a:rPr>
                          <m:t>t</m:t>
                        </m:r>
                      </m:e>
                    </m:d>
                  </m:oMath>
                </a14:m>
                <a:r>
                  <a:rPr lang="en-GB" dirty="0"/>
                  <a:t> for simplicity</a:t>
                </a:r>
              </a:p>
              <a:p>
                <a:pPr marL="0" indent="0">
                  <a:buNone/>
                </a:pPr>
                <a:endParaRPr lang="en-GB" b="1" dirty="0"/>
              </a:p>
              <a:p>
                <a:pPr marL="0" indent="0">
                  <a:buNone/>
                </a:pPr>
                <a14:m>
                  <m:oMath xmlns:m="http://schemas.openxmlformats.org/officeDocument/2006/math">
                    <m:sSup>
                      <m:sSupPr>
                        <m:ctrlPr>
                          <a:rPr lang="en-GB" i="1">
                            <a:latin typeface="Cambria Math" panose="02040503050406030204" pitchFamily="18" charset="0"/>
                          </a:rPr>
                        </m:ctrlPr>
                      </m:sSupPr>
                      <m:e>
                        <m:r>
                          <a:rPr lang="en-GB" b="1">
                            <a:latin typeface="Cambria Math"/>
                          </a:rPr>
                          <m:t>𝐪</m:t>
                        </m:r>
                      </m:e>
                      <m:sup>
                        <m:r>
                          <m:rPr>
                            <m:sty m:val="p"/>
                          </m:rPr>
                          <a:rPr lang="en-GB">
                            <a:latin typeface="Cambria Math"/>
                          </a:rPr>
                          <m:t>i</m:t>
                        </m:r>
                      </m:sup>
                    </m:sSup>
                  </m:oMath>
                </a14:m>
                <a:r>
                  <a:rPr lang="en-GB" dirty="0"/>
                  <a:t>: vector of the generalized coordinates corresponding to an initial configuration</a:t>
                </a:r>
              </a:p>
              <a:p>
                <a:pPr marL="0" indent="0">
                  <a:buNone/>
                </a:pPr>
                <a14:m>
                  <m:oMath xmlns:m="http://schemas.openxmlformats.org/officeDocument/2006/math">
                    <m:sSup>
                      <m:sSupPr>
                        <m:ctrlPr>
                          <a:rPr lang="en-GB" i="1" smtClean="0">
                            <a:latin typeface="Cambria Math" panose="02040503050406030204" pitchFamily="18" charset="0"/>
                          </a:rPr>
                        </m:ctrlPr>
                      </m:sSupPr>
                      <m:e>
                        <m:r>
                          <a:rPr lang="en-GB" b="1">
                            <a:latin typeface="Cambria Math"/>
                          </a:rPr>
                          <m:t>𝐪</m:t>
                        </m:r>
                      </m:e>
                      <m:sup>
                        <m:r>
                          <m:rPr>
                            <m:sty m:val="p"/>
                          </m:rPr>
                          <a:rPr lang="en-GB">
                            <a:latin typeface="Cambria Math"/>
                          </a:rPr>
                          <m:t>f</m:t>
                        </m:r>
                      </m:sup>
                    </m:sSup>
                  </m:oMath>
                </a14:m>
                <a:r>
                  <a:rPr lang="en-GB" dirty="0"/>
                  <a:t>: vector of the generalized coordinates corresponding to a final configuration </a:t>
                </a:r>
              </a:p>
              <a:p>
                <a:pPr marL="0" indent="0">
                  <a:buNone/>
                </a:pPr>
                <a:endParaRPr lang="en-GB" dirty="0"/>
              </a:p>
              <a:p>
                <a:pPr marL="0" indent="0">
                  <a:buNone/>
                </a:pPr>
                <a:r>
                  <a:rPr lang="en-GB" dirty="0"/>
                  <a:t>The values at the limits of the function </a:t>
                </a:r>
                <a14:m>
                  <m:oMath xmlns:m="http://schemas.openxmlformats.org/officeDocument/2006/math">
                    <m:r>
                      <m:rPr>
                        <m:sty m:val="p"/>
                      </m:rPr>
                      <a:rPr lang="en-GB" b="0" i="0" smtClean="0">
                        <a:latin typeface="Cambria Math"/>
                      </a:rPr>
                      <m:t>r</m:t>
                    </m:r>
                    <m:r>
                      <a:rPr lang="en-GB" b="0" i="1" smtClean="0">
                        <a:latin typeface="Cambria Math"/>
                      </a:rPr>
                      <m:t>(</m:t>
                    </m:r>
                    <m:r>
                      <m:rPr>
                        <m:sty m:val="p"/>
                      </m:rPr>
                      <a:rPr lang="en-GB" b="0" i="0" smtClean="0">
                        <a:latin typeface="Cambria Math"/>
                      </a:rPr>
                      <m:t>t</m:t>
                    </m:r>
                    <m:r>
                      <a:rPr lang="en-GB" b="0" i="1" smtClean="0">
                        <a:latin typeface="Cambria Math"/>
                      </a:rPr>
                      <m:t>)</m:t>
                    </m:r>
                  </m:oMath>
                </a14:m>
                <a:r>
                  <a:rPr lang="en-GB" dirty="0"/>
                  <a:t>:</a:t>
                </a:r>
              </a:p>
              <a:p>
                <a:endParaRPr lang="en-GB"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n-GB" i="1" smtClean="0">
                              <a:latin typeface="Cambria Math" panose="02040503050406030204" pitchFamily="18" charset="0"/>
                            </a:rPr>
                          </m:ctrlPr>
                        </m:dPr>
                        <m:e>
                          <m:eqArr>
                            <m:eqArrPr>
                              <m:ctrlPr>
                                <a:rPr lang="en-GB" i="1" smtClean="0">
                                  <a:latin typeface="Cambria Math" panose="02040503050406030204" pitchFamily="18" charset="0"/>
                                </a:rPr>
                              </m:ctrlPr>
                            </m:eqArrPr>
                            <m:e>
                              <m:r>
                                <m:rPr>
                                  <m:sty m:val="p"/>
                                </m:rPr>
                                <a:rPr lang="en-GB" b="0" i="0" smtClean="0">
                                  <a:latin typeface="Cambria Math"/>
                                </a:rPr>
                                <m:t>r</m:t>
                              </m:r>
                              <m:d>
                                <m:dPr>
                                  <m:ctrlPr>
                                    <a:rPr lang="en-GB" b="0" i="1" smtClean="0">
                                      <a:latin typeface="Cambria Math" panose="02040503050406030204" pitchFamily="18" charset="0"/>
                                    </a:rPr>
                                  </m:ctrlPr>
                                </m:dPr>
                                <m:e>
                                  <m:r>
                                    <a:rPr lang="en-GB" b="0" i="1" smtClean="0">
                                      <a:latin typeface="Cambria Math"/>
                                    </a:rPr>
                                    <m:t>0</m:t>
                                  </m:r>
                                </m:e>
                              </m:d>
                              <m:r>
                                <a:rPr lang="en-GB" b="0" i="1" smtClean="0">
                                  <a:latin typeface="Cambria Math"/>
                                </a:rPr>
                                <m:t>=0</m:t>
                              </m:r>
                            </m:e>
                            <m:e>
                              <m:r>
                                <m:rPr>
                                  <m:sty m:val="p"/>
                                </m:rPr>
                                <a:rPr lang="en-GB" b="0" i="0" smtClean="0">
                                  <a:latin typeface="Cambria Math"/>
                                </a:rPr>
                                <m:t>r</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m:rPr>
                                          <m:sty m:val="p"/>
                                        </m:rPr>
                                        <a:rPr lang="en-GB" b="0" i="0" smtClean="0">
                                          <a:latin typeface="Cambria Math"/>
                                        </a:rPr>
                                        <m:t>t</m:t>
                                      </m:r>
                                    </m:e>
                                    <m:sub>
                                      <m:r>
                                        <m:rPr>
                                          <m:sty m:val="p"/>
                                        </m:rPr>
                                        <a:rPr lang="en-GB" b="0" i="0" smtClean="0">
                                          <a:latin typeface="Cambria Math"/>
                                        </a:rPr>
                                        <m:t>f</m:t>
                                      </m:r>
                                    </m:sub>
                                  </m:sSub>
                                </m:e>
                              </m:d>
                              <m:r>
                                <a:rPr lang="en-GB" b="0" i="1" smtClean="0">
                                  <a:latin typeface="Cambria Math"/>
                                </a:rPr>
                                <m:t>=1</m:t>
                              </m:r>
                            </m:e>
                          </m:eqArr>
                        </m:e>
                      </m:d>
                    </m:oMath>
                  </m:oMathPara>
                </a14:m>
                <a:endParaRPr lang="en-GB"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a:blip r:embed="rId3"/>
                <a:stretch>
                  <a:fillRect l="-608" t="-230" b="-31724"/>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en-GB" dirty="0"/>
              <a:t>movement between 2 points in the joint space
</a:t>
            </a:r>
          </a:p>
        </p:txBody>
      </p:sp>
    </p:spTree>
    <p:extLst>
      <p:ext uri="{BB962C8B-B14F-4D97-AF65-F5344CB8AC3E}">
        <p14:creationId xmlns:p14="http://schemas.microsoft.com/office/powerpoint/2010/main" val="3597472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r>
                  <a:rPr lang="en-GB" b="1" u="sng" dirty="0"/>
                  <a:t>5</a:t>
                </a:r>
                <a:r>
                  <a:rPr lang="en-GB" b="1" u="sng" baseline="30000" dirty="0"/>
                  <a:t>th</a:t>
                </a:r>
                <a:r>
                  <a:rPr lang="en-GB" b="1" u="sng" dirty="0"/>
                  <a:t> order polynomial equation:</a:t>
                </a:r>
              </a:p>
              <a:p>
                <a:pPr marL="0" indent="0">
                  <a:buNone/>
                </a:pPr>
                <a:endParaRPr lang="en-GB" dirty="0"/>
              </a:p>
              <a:p>
                <a:pPr marL="0" indent="0">
                  <a:buNone/>
                </a:pPr>
                <a:endParaRPr lang="en-GB" dirty="0"/>
              </a:p>
              <a:p>
                <a:r>
                  <a:rPr lang="en-GB" dirty="0"/>
                  <a:t>Adapted for high-speed robots or ones carrying large loads
</a:t>
                </a:r>
                <a:r>
                  <a:rPr lang="en-GB" dirty="0">
                    <a:sym typeface="Wingdings" panose="05000000000000000000" pitchFamily="2" charset="2"/>
                  </a:rPr>
                  <a:t>ensure the continuity of acceleration in order to avoid exciting the mechanics</a:t>
                </a:r>
              </a:p>
              <a:p>
                <a:r>
                  <a:rPr lang="en-GB" dirty="0">
                    <a:sym typeface="Wingdings" panose="05000000000000000000" pitchFamily="2" charset="2"/>
                  </a:rPr>
                  <a:t>Motion of class </a:t>
                </a:r>
                <a14:m>
                  <m:oMath xmlns:m="http://schemas.openxmlformats.org/officeDocument/2006/math">
                    <m:sSup>
                      <m:sSupPr>
                        <m:ctrlPr>
                          <a:rPr lang="en-GB" i="1" smtClean="0">
                            <a:latin typeface="Cambria Math" panose="02040503050406030204" pitchFamily="18" charset="0"/>
                            <a:sym typeface="Wingdings" panose="05000000000000000000" pitchFamily="2" charset="2"/>
                          </a:rPr>
                        </m:ctrlPr>
                      </m:sSupPr>
                      <m:e>
                        <m:r>
                          <a:rPr lang="en-GB" b="0" i="1" smtClean="0">
                            <a:latin typeface="Cambria Math"/>
                            <a:sym typeface="Wingdings" panose="05000000000000000000" pitchFamily="2" charset="2"/>
                          </a:rPr>
                          <m:t>𝐶</m:t>
                        </m:r>
                      </m:e>
                      <m:sup>
                        <m:r>
                          <a:rPr lang="en-GB" b="0" i="1" smtClean="0">
                            <a:latin typeface="Cambria Math"/>
                            <a:sym typeface="Wingdings" panose="05000000000000000000" pitchFamily="2" charset="2"/>
                          </a:rPr>
                          <m:t>2</m:t>
                        </m:r>
                      </m:sup>
                    </m:sSup>
                  </m:oMath>
                </a14:m>
                <a:endParaRPr lang="en-GB" dirty="0"/>
              </a:p>
              <a:p>
                <a:pPr marL="0" indent="0">
                  <a:buNone/>
                </a:pPr>
                <a:r>
                  <a:rPr lang="en-GB" dirty="0"/>
                  <a:t>Six constraints to satisfy (2 in position, 2 in velocity and 2 for acceleration)</a:t>
                </a:r>
              </a:p>
              <a:p>
                <a:pPr marL="0" indent="0">
                  <a:buNone/>
                </a:pPr>
                <a:endParaRPr lang="en-GB" dirty="0"/>
              </a:p>
              <a:p>
                <a:pPr marL="0" indent="0">
                  <a:buNone/>
                </a:pPr>
                <a14:m>
                  <m:oMathPara xmlns:m="http://schemas.openxmlformats.org/officeDocument/2006/math">
                    <m:oMathParaPr>
                      <m:jc m:val="left"/>
                    </m:oMathParaPr>
                    <m:oMath xmlns:m="http://schemas.openxmlformats.org/officeDocument/2006/math">
                      <m:sSub>
                        <m:sSubPr>
                          <m:ctrlPr>
                            <a:rPr lang="en-GB" i="1" smtClean="0">
                              <a:latin typeface="Cambria Math" panose="02040503050406030204" pitchFamily="18" charset="0"/>
                            </a:rPr>
                          </m:ctrlPr>
                        </m:sSubPr>
                        <m:e>
                          <m:r>
                            <a:rPr lang="en-GB" b="1" smtClean="0">
                              <a:latin typeface="Cambria Math"/>
                            </a:rPr>
                            <m:t>𝐚</m:t>
                          </m:r>
                        </m:e>
                        <m:sub>
                          <m:r>
                            <a:rPr lang="en-GB" i="1" smtClean="0">
                              <a:latin typeface="Cambria Math"/>
                            </a:rPr>
                            <m:t>0</m:t>
                          </m:r>
                        </m:sub>
                      </m:sSub>
                      <m:r>
                        <a:rPr lang="en-GB" i="1" smtClean="0">
                          <a:latin typeface="Cambria Math"/>
                        </a:rPr>
                        <m:t>=</m:t>
                      </m:r>
                      <m:sSup>
                        <m:sSupPr>
                          <m:ctrlPr>
                            <a:rPr lang="en-GB" i="1" smtClean="0">
                              <a:latin typeface="Cambria Math" panose="02040503050406030204" pitchFamily="18" charset="0"/>
                            </a:rPr>
                          </m:ctrlPr>
                        </m:sSupPr>
                        <m:e>
                          <m:r>
                            <a:rPr lang="en-GB" b="1" smtClean="0">
                              <a:latin typeface="Cambria Math"/>
                            </a:rPr>
                            <m:t>𝐪</m:t>
                          </m:r>
                        </m:e>
                        <m:sup>
                          <m:r>
                            <a:rPr lang="en-GB" i="1" smtClean="0">
                              <a:latin typeface="Cambria Math"/>
                            </a:rPr>
                            <m:t>𝑖</m:t>
                          </m:r>
                        </m:sup>
                      </m:sSup>
                      <m:r>
                        <a:rPr lang="en-GB" b="0" i="1" smtClean="0">
                          <a:latin typeface="Cambria Math"/>
                        </a:rPr>
                        <m:t>     ;     </m:t>
                      </m:r>
                      <m:sSub>
                        <m:sSubPr>
                          <m:ctrlPr>
                            <a:rPr lang="en-GB" i="1" smtClean="0">
                              <a:latin typeface="Cambria Math" panose="02040503050406030204" pitchFamily="18" charset="0"/>
                            </a:rPr>
                          </m:ctrlPr>
                        </m:sSubPr>
                        <m:e>
                          <m:r>
                            <a:rPr lang="en-GB" b="1" smtClean="0">
                              <a:latin typeface="Cambria Math"/>
                            </a:rPr>
                            <m:t>𝐚</m:t>
                          </m:r>
                        </m:e>
                        <m:sub>
                          <m:r>
                            <a:rPr lang="en-GB" i="1" smtClean="0">
                              <a:latin typeface="Cambria Math"/>
                            </a:rPr>
                            <m:t>1</m:t>
                          </m:r>
                        </m:sub>
                      </m:sSub>
                      <m:r>
                        <a:rPr lang="en-GB" i="1" smtClean="0">
                          <a:latin typeface="Cambria Math"/>
                        </a:rPr>
                        <m:t>=</m:t>
                      </m:r>
                      <m:sSub>
                        <m:sSubPr>
                          <m:ctrlPr>
                            <a:rPr lang="en-GB" i="1" smtClean="0">
                              <a:latin typeface="Cambria Math" panose="02040503050406030204" pitchFamily="18" charset="0"/>
                            </a:rPr>
                          </m:ctrlPr>
                        </m:sSubPr>
                        <m:e>
                          <m:r>
                            <a:rPr lang="en-GB" b="1" smtClean="0">
                              <a:latin typeface="Cambria Math"/>
                            </a:rPr>
                            <m:t>𝐚</m:t>
                          </m:r>
                        </m:e>
                        <m:sub>
                          <m:r>
                            <a:rPr lang="en-GB" i="1" smtClean="0">
                              <a:latin typeface="Cambria Math"/>
                            </a:rPr>
                            <m:t>2</m:t>
                          </m:r>
                        </m:sub>
                      </m:sSub>
                      <m:r>
                        <a:rPr lang="en-GB" i="1" smtClean="0">
                          <a:latin typeface="Cambria Math"/>
                        </a:rPr>
                        <m:t>=</m:t>
                      </m:r>
                      <m:r>
                        <a:rPr lang="en-GB" b="1" smtClean="0">
                          <a:latin typeface="Cambria Math"/>
                        </a:rPr>
                        <m:t>𝟎</m:t>
                      </m:r>
                      <m:r>
                        <a:rPr lang="en-GB" b="1" i="1" smtClean="0">
                          <a:latin typeface="Cambria Math"/>
                        </a:rPr>
                        <m:t>     ;     </m:t>
                      </m:r>
                      <m:sSub>
                        <m:sSubPr>
                          <m:ctrlPr>
                            <a:rPr lang="en-GB" i="1" smtClean="0">
                              <a:latin typeface="Cambria Math" panose="02040503050406030204" pitchFamily="18" charset="0"/>
                            </a:rPr>
                          </m:ctrlPr>
                        </m:sSubPr>
                        <m:e>
                          <m:r>
                            <a:rPr lang="en-GB" b="1" smtClean="0">
                              <a:latin typeface="Cambria Math"/>
                            </a:rPr>
                            <m:t>𝐚</m:t>
                          </m:r>
                        </m:e>
                        <m:sub>
                          <m:r>
                            <a:rPr lang="en-GB" b="0" i="1" smtClean="0">
                              <a:latin typeface="Cambria Math"/>
                            </a:rPr>
                            <m:t>3</m:t>
                          </m:r>
                        </m:sub>
                      </m:sSub>
                      <m:r>
                        <a:rPr lang="en-GB" i="1" smtClean="0">
                          <a:latin typeface="Cambria Math"/>
                        </a:rPr>
                        <m:t>=</m:t>
                      </m:r>
                      <m:f>
                        <m:fPr>
                          <m:ctrlPr>
                            <a:rPr lang="en-GB" i="1" smtClean="0">
                              <a:latin typeface="Cambria Math" panose="02040503050406030204" pitchFamily="18" charset="0"/>
                            </a:rPr>
                          </m:ctrlPr>
                        </m:fPr>
                        <m:num>
                          <m:r>
                            <a:rPr lang="en-GB" b="0" i="1" smtClean="0">
                              <a:latin typeface="Cambria Math"/>
                            </a:rPr>
                            <m:t>10</m:t>
                          </m:r>
                        </m:num>
                        <m:den>
                          <m:sSup>
                            <m:sSupPr>
                              <m:ctrlPr>
                                <a:rPr lang="en-GB" i="1" smtClean="0">
                                  <a:latin typeface="Cambria Math" panose="02040503050406030204" pitchFamily="18" charset="0"/>
                                </a:rPr>
                              </m:ctrlPr>
                            </m:sSupPr>
                            <m:e>
                              <m:sSub>
                                <m:sSubPr>
                                  <m:ctrlPr>
                                    <a:rPr lang="en-GB" i="1" smtClean="0">
                                      <a:latin typeface="Cambria Math" panose="02040503050406030204" pitchFamily="18" charset="0"/>
                                    </a:rPr>
                                  </m:ctrlPr>
                                </m:sSubPr>
                                <m:e>
                                  <m:r>
                                    <m:rPr>
                                      <m:sty m:val="p"/>
                                    </m:rPr>
                                    <a:rPr lang="en-GB" smtClean="0">
                                      <a:latin typeface="Cambria Math"/>
                                    </a:rPr>
                                    <m:t>t</m:t>
                                  </m:r>
                                </m:e>
                                <m:sub>
                                  <m:r>
                                    <m:rPr>
                                      <m:sty m:val="p"/>
                                    </m:rPr>
                                    <a:rPr lang="en-GB" i="0" smtClean="0">
                                      <a:latin typeface="Cambria Math"/>
                                    </a:rPr>
                                    <m:t>f</m:t>
                                  </m:r>
                                </m:sub>
                              </m:sSub>
                            </m:e>
                            <m:sup>
                              <m:r>
                                <a:rPr lang="en-GB" b="0" i="1" smtClean="0">
                                  <a:latin typeface="Cambria Math"/>
                                </a:rPr>
                                <m:t>3</m:t>
                              </m:r>
                            </m:sup>
                          </m:sSup>
                        </m:den>
                      </m:f>
                      <m:r>
                        <a:rPr lang="en-GB" b="1" smtClean="0">
                          <a:latin typeface="Cambria Math"/>
                        </a:rPr>
                        <m:t>𝐃</m:t>
                      </m:r>
                      <m:r>
                        <a:rPr lang="en-GB" b="1" i="1" smtClean="0">
                          <a:latin typeface="Cambria Math"/>
                        </a:rPr>
                        <m:t>     ;     </m:t>
                      </m:r>
                      <m:sSub>
                        <m:sSubPr>
                          <m:ctrlPr>
                            <a:rPr lang="en-GB" b="1" i="1" smtClean="0">
                              <a:latin typeface="Cambria Math" panose="02040503050406030204" pitchFamily="18" charset="0"/>
                            </a:rPr>
                          </m:ctrlPr>
                        </m:sSubPr>
                        <m:e>
                          <m:r>
                            <a:rPr lang="en-GB" b="1" smtClean="0">
                              <a:latin typeface="Cambria Math"/>
                            </a:rPr>
                            <m:t>𝐚</m:t>
                          </m:r>
                        </m:e>
                        <m:sub>
                          <m:r>
                            <a:rPr lang="en-GB" b="0" i="0" smtClean="0">
                              <a:latin typeface="Cambria Math"/>
                            </a:rPr>
                            <m:t>4</m:t>
                          </m:r>
                        </m:sub>
                      </m:sSub>
                      <m:r>
                        <a:rPr lang="en-GB" b="1" i="1" smtClean="0">
                          <a:latin typeface="Cambria Math"/>
                        </a:rPr>
                        <m:t>=</m:t>
                      </m:r>
                      <m:f>
                        <m:fPr>
                          <m:ctrlPr>
                            <a:rPr lang="en-GB" b="1" i="1" smtClean="0">
                              <a:latin typeface="Cambria Math" panose="02040503050406030204" pitchFamily="18" charset="0"/>
                            </a:rPr>
                          </m:ctrlPr>
                        </m:fPr>
                        <m:num>
                          <m:r>
                            <a:rPr lang="en-GB" smtClean="0">
                              <a:latin typeface="Cambria Math"/>
                            </a:rPr>
                            <m:t>−</m:t>
                          </m:r>
                          <m:r>
                            <a:rPr lang="en-GB" b="0" i="1" smtClean="0">
                              <a:latin typeface="Cambria Math"/>
                            </a:rPr>
                            <m:t>15</m:t>
                          </m:r>
                        </m:num>
                        <m:den>
                          <m:sSup>
                            <m:sSupPr>
                              <m:ctrlPr>
                                <a:rPr lang="en-GB" b="1" i="1" smtClean="0">
                                  <a:latin typeface="Cambria Math" panose="02040503050406030204" pitchFamily="18" charset="0"/>
                                </a:rPr>
                              </m:ctrlPr>
                            </m:sSupPr>
                            <m:e>
                              <m:sSub>
                                <m:sSubPr>
                                  <m:ctrlPr>
                                    <a:rPr lang="en-GB" b="1" i="1" smtClean="0">
                                      <a:latin typeface="Cambria Math" panose="02040503050406030204" pitchFamily="18" charset="0"/>
                                    </a:rPr>
                                  </m:ctrlPr>
                                </m:sSubPr>
                                <m:e>
                                  <m:r>
                                    <a:rPr lang="en-GB" i="1" smtClean="0">
                                      <a:latin typeface="Cambria Math"/>
                                    </a:rPr>
                                    <m:t>𝑡</m:t>
                                  </m:r>
                                </m:e>
                                <m:sub>
                                  <m:r>
                                    <m:rPr>
                                      <m:sty m:val="p"/>
                                    </m:rPr>
                                    <a:rPr lang="en-GB" i="0" smtClean="0">
                                      <a:latin typeface="Cambria Math"/>
                                    </a:rPr>
                                    <m:t>f</m:t>
                                  </m:r>
                                </m:sub>
                              </m:sSub>
                            </m:e>
                            <m:sup>
                              <m:r>
                                <a:rPr lang="en-GB" b="0" i="1" smtClean="0">
                                  <a:latin typeface="Cambria Math"/>
                                </a:rPr>
                                <m:t>4</m:t>
                              </m:r>
                            </m:sup>
                          </m:sSup>
                        </m:den>
                      </m:f>
                      <m:r>
                        <a:rPr lang="en-GB" b="1" smtClean="0">
                          <a:latin typeface="Cambria Math"/>
                        </a:rPr>
                        <m:t>𝐃</m:t>
                      </m:r>
                      <m:r>
                        <a:rPr lang="en-GB" b="1" i="1" smtClean="0">
                          <a:latin typeface="Cambria Math"/>
                        </a:rPr>
                        <m:t>     ;     </m:t>
                      </m:r>
                      <m:sSub>
                        <m:sSubPr>
                          <m:ctrlPr>
                            <a:rPr lang="en-GB" b="1" i="1" smtClean="0">
                              <a:latin typeface="Cambria Math" panose="02040503050406030204" pitchFamily="18" charset="0"/>
                            </a:rPr>
                          </m:ctrlPr>
                        </m:sSubPr>
                        <m:e>
                          <m:r>
                            <a:rPr lang="en-GB" b="1" smtClean="0">
                              <a:latin typeface="Cambria Math"/>
                            </a:rPr>
                            <m:t>𝐚</m:t>
                          </m:r>
                        </m:e>
                        <m:sub>
                          <m:r>
                            <a:rPr lang="en-GB" b="0" i="0" smtClean="0">
                              <a:latin typeface="Cambria Math"/>
                            </a:rPr>
                            <m:t>5</m:t>
                          </m:r>
                        </m:sub>
                      </m:sSub>
                      <m:r>
                        <a:rPr lang="en-GB" b="1" i="1" smtClean="0">
                          <a:latin typeface="Cambria Math"/>
                        </a:rPr>
                        <m:t>=</m:t>
                      </m:r>
                      <m:f>
                        <m:fPr>
                          <m:ctrlPr>
                            <a:rPr lang="en-GB" b="1" i="1" smtClean="0">
                              <a:latin typeface="Cambria Math" panose="02040503050406030204" pitchFamily="18" charset="0"/>
                            </a:rPr>
                          </m:ctrlPr>
                        </m:fPr>
                        <m:num>
                          <m:r>
                            <a:rPr lang="en-GB" b="0" i="0" smtClean="0">
                              <a:latin typeface="Cambria Math"/>
                            </a:rPr>
                            <m:t>6</m:t>
                          </m:r>
                        </m:num>
                        <m:den>
                          <m:sSup>
                            <m:sSupPr>
                              <m:ctrlPr>
                                <a:rPr lang="en-GB" b="1" i="1" smtClean="0">
                                  <a:latin typeface="Cambria Math" panose="02040503050406030204" pitchFamily="18" charset="0"/>
                                </a:rPr>
                              </m:ctrlPr>
                            </m:sSupPr>
                            <m:e>
                              <m:sSub>
                                <m:sSubPr>
                                  <m:ctrlPr>
                                    <a:rPr lang="en-GB" b="1" i="1" smtClean="0">
                                      <a:latin typeface="Cambria Math" panose="02040503050406030204" pitchFamily="18" charset="0"/>
                                    </a:rPr>
                                  </m:ctrlPr>
                                </m:sSubPr>
                                <m:e>
                                  <m:r>
                                    <a:rPr lang="en-GB" i="1" smtClean="0">
                                      <a:latin typeface="Cambria Math"/>
                                    </a:rPr>
                                    <m:t>𝑡</m:t>
                                  </m:r>
                                </m:e>
                                <m:sub>
                                  <m:r>
                                    <m:rPr>
                                      <m:sty m:val="p"/>
                                    </m:rPr>
                                    <a:rPr lang="en-GB" i="0" smtClean="0">
                                      <a:latin typeface="Cambria Math"/>
                                    </a:rPr>
                                    <m:t>f</m:t>
                                  </m:r>
                                </m:sub>
                              </m:sSub>
                            </m:e>
                            <m:sup>
                              <m:r>
                                <a:rPr lang="en-GB" b="0" i="1" smtClean="0">
                                  <a:latin typeface="Cambria Math"/>
                                </a:rPr>
                                <m:t>5</m:t>
                              </m:r>
                            </m:sup>
                          </m:sSup>
                        </m:den>
                      </m:f>
                      <m:r>
                        <a:rPr lang="en-GB" b="1" smtClean="0">
                          <a:latin typeface="Cambria Math"/>
                        </a:rPr>
                        <m:t>𝐃</m:t>
                      </m:r>
                    </m:oMath>
                  </m:oMathPara>
                </a14:m>
                <a:endParaRPr lang="en-GB" b="1" dirty="0"/>
              </a:p>
              <a:p>
                <a:pPr marL="0" indent="0">
                  <a:buNone/>
                </a:pPr>
                <a:endParaRPr lang="en-GB" dirty="0">
                  <a:latin typeface="Cambria Math"/>
                </a:endParaRPr>
              </a:p>
              <a:p>
                <a:pPr marL="0" indent="0">
                  <a:buNone/>
                </a:pPr>
                <a14:m>
                  <m:oMathPara xmlns:m="http://schemas.openxmlformats.org/officeDocument/2006/math">
                    <m:oMathParaPr>
                      <m:jc m:val="center"/>
                    </m:oMathParaPr>
                    <m:oMath xmlns:m="http://schemas.openxmlformats.org/officeDocument/2006/math">
                      <m:r>
                        <m:rPr>
                          <m:sty m:val="p"/>
                        </m:rPr>
                        <a:rPr lang="en-GB" smtClean="0">
                          <a:latin typeface="Cambria Math"/>
                        </a:rPr>
                        <m:t>r</m:t>
                      </m:r>
                      <m:d>
                        <m:dPr>
                          <m:ctrlPr>
                            <a:rPr lang="en-GB" i="1" smtClean="0">
                              <a:latin typeface="Cambria Math" panose="02040503050406030204" pitchFamily="18" charset="0"/>
                            </a:rPr>
                          </m:ctrlPr>
                        </m:dPr>
                        <m:e>
                          <m:r>
                            <m:rPr>
                              <m:sty m:val="p"/>
                            </m:rPr>
                            <a:rPr lang="en-GB" smtClean="0">
                              <a:latin typeface="Cambria Math"/>
                            </a:rPr>
                            <m:t>t</m:t>
                          </m:r>
                        </m:e>
                      </m:d>
                      <m:r>
                        <a:rPr lang="en-GB" smtClean="0">
                          <a:latin typeface="Cambria Math"/>
                        </a:rPr>
                        <m:t>=</m:t>
                      </m:r>
                      <m:r>
                        <a:rPr lang="en-GB" b="0" i="1" smtClean="0">
                          <a:latin typeface="Cambria Math"/>
                        </a:rPr>
                        <m:t>10</m:t>
                      </m:r>
                      <m:sSup>
                        <m:sSupPr>
                          <m:ctrlPr>
                            <a:rPr lang="en-GB" i="1" smtClean="0">
                              <a:latin typeface="Cambria Math" panose="02040503050406030204" pitchFamily="18" charset="0"/>
                            </a:rPr>
                          </m:ctrlPr>
                        </m:sSupPr>
                        <m:e>
                          <m:d>
                            <m:dPr>
                              <m:ctrlPr>
                                <a:rPr lang="en-GB" i="1" smtClean="0">
                                  <a:latin typeface="Cambria Math" panose="02040503050406030204" pitchFamily="18" charset="0"/>
                                </a:rPr>
                              </m:ctrlPr>
                            </m:dPr>
                            <m:e>
                              <m:f>
                                <m:fPr>
                                  <m:ctrlPr>
                                    <a:rPr lang="en-GB" i="1" smtClean="0">
                                      <a:latin typeface="Cambria Math" panose="02040503050406030204" pitchFamily="18" charset="0"/>
                                    </a:rPr>
                                  </m:ctrlPr>
                                </m:fPr>
                                <m:num>
                                  <m:r>
                                    <m:rPr>
                                      <m:sty m:val="p"/>
                                    </m:rPr>
                                    <a:rPr lang="en-GB" smtClean="0">
                                      <a:latin typeface="Cambria Math"/>
                                    </a:rPr>
                                    <m:t>t</m:t>
                                  </m:r>
                                </m:num>
                                <m:den>
                                  <m:sSub>
                                    <m:sSubPr>
                                      <m:ctrlPr>
                                        <a:rPr lang="en-GB" i="1" smtClean="0">
                                          <a:latin typeface="Cambria Math" panose="02040503050406030204" pitchFamily="18" charset="0"/>
                                        </a:rPr>
                                      </m:ctrlPr>
                                    </m:sSubPr>
                                    <m:e>
                                      <m:r>
                                        <a:rPr lang="en-GB" i="1" smtClean="0">
                                          <a:latin typeface="Cambria Math"/>
                                        </a:rPr>
                                        <m:t>𝑡</m:t>
                                      </m:r>
                                    </m:e>
                                    <m:sub>
                                      <m:r>
                                        <m:rPr>
                                          <m:sty m:val="p"/>
                                        </m:rPr>
                                        <a:rPr lang="en-GB" smtClean="0">
                                          <a:latin typeface="Cambria Math"/>
                                        </a:rPr>
                                        <m:t>f</m:t>
                                      </m:r>
                                    </m:sub>
                                  </m:sSub>
                                </m:den>
                              </m:f>
                            </m:e>
                          </m:d>
                        </m:e>
                        <m:sup>
                          <m:r>
                            <a:rPr lang="en-GB" b="0" i="1" smtClean="0">
                              <a:latin typeface="Cambria Math"/>
                            </a:rPr>
                            <m:t>3</m:t>
                          </m:r>
                        </m:sup>
                      </m:sSup>
                      <m:r>
                        <a:rPr lang="en-GB" i="1" smtClean="0">
                          <a:latin typeface="Cambria Math"/>
                        </a:rPr>
                        <m:t>−</m:t>
                      </m:r>
                      <m:r>
                        <a:rPr lang="en-GB" b="0" i="1" smtClean="0">
                          <a:latin typeface="Cambria Math"/>
                        </a:rPr>
                        <m:t>15</m:t>
                      </m:r>
                      <m:sSup>
                        <m:sSupPr>
                          <m:ctrlPr>
                            <a:rPr lang="en-GB" i="1" smtClean="0">
                              <a:latin typeface="Cambria Math" panose="02040503050406030204" pitchFamily="18" charset="0"/>
                            </a:rPr>
                          </m:ctrlPr>
                        </m:sSupPr>
                        <m:e>
                          <m:d>
                            <m:dPr>
                              <m:ctrlPr>
                                <a:rPr lang="en-GB" i="1" smtClean="0">
                                  <a:latin typeface="Cambria Math" panose="02040503050406030204" pitchFamily="18" charset="0"/>
                                </a:rPr>
                              </m:ctrlPr>
                            </m:dPr>
                            <m:e>
                              <m:f>
                                <m:fPr>
                                  <m:ctrlPr>
                                    <a:rPr lang="en-GB" i="1" smtClean="0">
                                      <a:latin typeface="Cambria Math" panose="02040503050406030204" pitchFamily="18" charset="0"/>
                                    </a:rPr>
                                  </m:ctrlPr>
                                </m:fPr>
                                <m:num>
                                  <m:r>
                                    <m:rPr>
                                      <m:sty m:val="p"/>
                                    </m:rPr>
                                    <a:rPr lang="en-GB" smtClean="0">
                                      <a:latin typeface="Cambria Math"/>
                                    </a:rPr>
                                    <m:t>t</m:t>
                                  </m:r>
                                </m:num>
                                <m:den>
                                  <m:sSub>
                                    <m:sSubPr>
                                      <m:ctrlPr>
                                        <a:rPr lang="en-GB" i="1" smtClean="0">
                                          <a:latin typeface="Cambria Math" panose="02040503050406030204" pitchFamily="18" charset="0"/>
                                        </a:rPr>
                                      </m:ctrlPr>
                                    </m:sSubPr>
                                    <m:e>
                                      <m:r>
                                        <m:rPr>
                                          <m:sty m:val="p"/>
                                        </m:rPr>
                                        <a:rPr lang="en-GB" smtClean="0">
                                          <a:latin typeface="Cambria Math"/>
                                        </a:rPr>
                                        <m:t>t</m:t>
                                      </m:r>
                                    </m:e>
                                    <m:sub>
                                      <m:r>
                                        <m:rPr>
                                          <m:sty m:val="p"/>
                                        </m:rPr>
                                        <a:rPr lang="en-GB" smtClean="0">
                                          <a:latin typeface="Cambria Math"/>
                                        </a:rPr>
                                        <m:t>f</m:t>
                                      </m:r>
                                    </m:sub>
                                  </m:sSub>
                                </m:den>
                              </m:f>
                            </m:e>
                          </m:d>
                        </m:e>
                        <m:sup>
                          <m:r>
                            <a:rPr lang="en-GB" b="0" i="1" smtClean="0">
                              <a:latin typeface="Cambria Math"/>
                            </a:rPr>
                            <m:t>4</m:t>
                          </m:r>
                        </m:sup>
                      </m:sSup>
                      <m:r>
                        <a:rPr lang="en-GB" b="0" i="1" smtClean="0">
                          <a:latin typeface="Cambria Math"/>
                        </a:rPr>
                        <m:t>+6</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m:rPr>
                                      <m:sty m:val="p"/>
                                    </m:rPr>
                                    <a:rPr lang="en-GB" b="0" i="0" smtClean="0">
                                      <a:latin typeface="Cambria Math"/>
                                    </a:rPr>
                                    <m:t>t</m:t>
                                  </m:r>
                                </m:num>
                                <m:den>
                                  <m:sSub>
                                    <m:sSubPr>
                                      <m:ctrlPr>
                                        <a:rPr lang="en-GB" b="0" i="1" smtClean="0">
                                          <a:latin typeface="Cambria Math" panose="02040503050406030204" pitchFamily="18" charset="0"/>
                                        </a:rPr>
                                      </m:ctrlPr>
                                    </m:sSubPr>
                                    <m:e>
                                      <m:r>
                                        <m:rPr>
                                          <m:sty m:val="p"/>
                                        </m:rPr>
                                        <a:rPr lang="en-GB" b="0" i="0" smtClean="0">
                                          <a:latin typeface="Cambria Math"/>
                                        </a:rPr>
                                        <m:t>t</m:t>
                                      </m:r>
                                    </m:e>
                                    <m:sub>
                                      <m:r>
                                        <m:rPr>
                                          <m:sty m:val="p"/>
                                        </m:rPr>
                                        <a:rPr lang="en-GB" b="0" i="0" smtClean="0">
                                          <a:latin typeface="Cambria Math"/>
                                        </a:rPr>
                                        <m:t>f</m:t>
                                      </m:r>
                                    </m:sub>
                                  </m:sSub>
                                </m:den>
                              </m:f>
                            </m:e>
                          </m:d>
                        </m:e>
                        <m:sup>
                          <m:r>
                            <a:rPr lang="en-GB" b="0" i="1" smtClean="0">
                              <a:latin typeface="Cambria Math"/>
                            </a:rPr>
                            <m:t>5</m:t>
                          </m:r>
                        </m:sup>
                      </m:sSup>
                    </m:oMath>
                  </m:oMathPara>
                </a14:m>
                <a:endParaRPr lang="en-GB" dirty="0"/>
              </a:p>
              <a:p>
                <a:pPr marL="0" indent="0">
                  <a:buNone/>
                </a:pPr>
                <a:endParaRPr lang="en-GB" b="1" dirty="0"/>
              </a:p>
              <a:p>
                <a:pPr marL="0" indent="0">
                  <a:buNone/>
                </a:pPr>
                <a:endParaRPr lang="en-GB"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a:blip r:embed="rId3"/>
                <a:stretch>
                  <a:fillRect l="-608" t="-460"/>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en-GB" dirty="0"/>
              <a:t>Motion between 2 points in the joint space
</a:t>
            </a:r>
          </a:p>
        </p:txBody>
      </p:sp>
    </p:spTree>
    <p:extLst>
      <p:ext uri="{BB962C8B-B14F-4D97-AF65-F5344CB8AC3E}">
        <p14:creationId xmlns:p14="http://schemas.microsoft.com/office/powerpoint/2010/main" val="1264307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Espace réservé du contenu 1"/>
          <p:cNvSpPr>
            <a:spLocks noGrp="1"/>
          </p:cNvSpPr>
          <p:nvPr>
            <p:ph sz="quarter" idx="1"/>
          </p:nvPr>
        </p:nvSpPr>
        <p:spPr>
          <a:xfrm>
            <a:off x="241942" y="921616"/>
            <a:ext cx="8347295" cy="5514285"/>
          </a:xfrm>
        </p:spPr>
        <p:txBody>
          <a:bodyPr/>
          <a:lstStyle/>
          <a:p>
            <a:pPr marL="0" indent="0">
              <a:buNone/>
            </a:pPr>
            <a:r>
              <a:rPr lang="en-GB" b="1" u="sng" dirty="0"/>
              <a:t>5</a:t>
            </a:r>
            <a:r>
              <a:rPr lang="en-GB" b="1" u="sng" baseline="30000" dirty="0"/>
              <a:t>th</a:t>
            </a:r>
            <a:r>
              <a:rPr lang="en-GB" b="1" u="sng" dirty="0"/>
              <a:t> order polynomial equation:</a:t>
            </a:r>
          </a:p>
          <a:p>
            <a:endParaRPr lang="fr-FR" dirty="0"/>
          </a:p>
          <a:p>
            <a:pPr marL="0" indent="0">
              <a:buNone/>
            </a:pPr>
            <a:endParaRPr lang="fr-FR" dirty="0"/>
          </a:p>
        </p:txBody>
      </p:sp>
      <p:sp>
        <p:nvSpPr>
          <p:cNvPr id="4" name="object 4"/>
          <p:cNvSpPr/>
          <p:nvPr/>
        </p:nvSpPr>
        <p:spPr>
          <a:xfrm>
            <a:off x="6147524" y="1581304"/>
            <a:ext cx="621122" cy="58441"/>
          </a:xfrm>
          <a:custGeom>
            <a:avLst/>
            <a:gdLst/>
            <a:ahLst/>
            <a:cxnLst/>
            <a:rect l="l" t="t" r="r" b="b"/>
            <a:pathLst>
              <a:path w="526414" h="49530">
                <a:moveTo>
                  <a:pt x="0" y="49076"/>
                </a:moveTo>
                <a:lnTo>
                  <a:pt x="5286" y="47026"/>
                </a:lnTo>
                <a:lnTo>
                  <a:pt x="10606" y="47026"/>
                </a:lnTo>
                <a:lnTo>
                  <a:pt x="15926" y="45006"/>
                </a:lnTo>
                <a:lnTo>
                  <a:pt x="21245" y="42956"/>
                </a:lnTo>
                <a:lnTo>
                  <a:pt x="26566" y="42956"/>
                </a:lnTo>
                <a:lnTo>
                  <a:pt x="31852" y="40913"/>
                </a:lnTo>
                <a:lnTo>
                  <a:pt x="37172" y="40913"/>
                </a:lnTo>
                <a:lnTo>
                  <a:pt x="42493" y="38863"/>
                </a:lnTo>
                <a:lnTo>
                  <a:pt x="47813" y="38863"/>
                </a:lnTo>
                <a:lnTo>
                  <a:pt x="53132" y="36819"/>
                </a:lnTo>
                <a:lnTo>
                  <a:pt x="58419" y="34769"/>
                </a:lnTo>
                <a:lnTo>
                  <a:pt x="63739" y="34769"/>
                </a:lnTo>
                <a:lnTo>
                  <a:pt x="69059" y="32726"/>
                </a:lnTo>
                <a:lnTo>
                  <a:pt x="74379" y="32726"/>
                </a:lnTo>
                <a:lnTo>
                  <a:pt x="79699" y="30675"/>
                </a:lnTo>
                <a:lnTo>
                  <a:pt x="84986" y="30675"/>
                </a:lnTo>
                <a:lnTo>
                  <a:pt x="90305" y="28632"/>
                </a:lnTo>
                <a:lnTo>
                  <a:pt x="95626" y="28632"/>
                </a:lnTo>
                <a:lnTo>
                  <a:pt x="100946" y="26582"/>
                </a:lnTo>
                <a:lnTo>
                  <a:pt x="106266" y="26582"/>
                </a:lnTo>
                <a:lnTo>
                  <a:pt x="111552" y="24538"/>
                </a:lnTo>
                <a:lnTo>
                  <a:pt x="122192" y="24538"/>
                </a:lnTo>
                <a:lnTo>
                  <a:pt x="127512" y="22494"/>
                </a:lnTo>
                <a:lnTo>
                  <a:pt x="132832" y="22494"/>
                </a:lnTo>
                <a:lnTo>
                  <a:pt x="138118" y="20444"/>
                </a:lnTo>
                <a:lnTo>
                  <a:pt x="143439" y="20444"/>
                </a:lnTo>
                <a:lnTo>
                  <a:pt x="148759" y="18400"/>
                </a:lnTo>
                <a:lnTo>
                  <a:pt x="159399" y="18400"/>
                </a:lnTo>
                <a:lnTo>
                  <a:pt x="164685" y="16350"/>
                </a:lnTo>
                <a:lnTo>
                  <a:pt x="175325" y="16350"/>
                </a:lnTo>
                <a:lnTo>
                  <a:pt x="180645" y="14307"/>
                </a:lnTo>
                <a:lnTo>
                  <a:pt x="191251" y="14307"/>
                </a:lnTo>
                <a:lnTo>
                  <a:pt x="196572" y="12280"/>
                </a:lnTo>
                <a:lnTo>
                  <a:pt x="207212" y="12280"/>
                </a:lnTo>
                <a:lnTo>
                  <a:pt x="212532" y="10237"/>
                </a:lnTo>
                <a:lnTo>
                  <a:pt x="228458" y="10237"/>
                </a:lnTo>
                <a:lnTo>
                  <a:pt x="233778" y="8187"/>
                </a:lnTo>
                <a:lnTo>
                  <a:pt x="249705" y="8187"/>
                </a:lnTo>
                <a:lnTo>
                  <a:pt x="255024" y="6143"/>
                </a:lnTo>
                <a:lnTo>
                  <a:pt x="276271" y="6143"/>
                </a:lnTo>
                <a:lnTo>
                  <a:pt x="281591" y="4093"/>
                </a:lnTo>
                <a:lnTo>
                  <a:pt x="308158" y="4093"/>
                </a:lnTo>
                <a:lnTo>
                  <a:pt x="313478" y="2050"/>
                </a:lnTo>
                <a:lnTo>
                  <a:pt x="355970" y="2050"/>
                </a:lnTo>
                <a:lnTo>
                  <a:pt x="361291" y="0"/>
                </a:lnTo>
                <a:lnTo>
                  <a:pt x="526009" y="0"/>
                </a:lnTo>
              </a:path>
            </a:pathLst>
          </a:custGeom>
          <a:ln w="12930">
            <a:solidFill>
              <a:srgbClr val="000000"/>
            </a:solidFill>
          </a:ln>
        </p:spPr>
        <p:txBody>
          <a:bodyPr wrap="square" lIns="0" tIns="0" rIns="0" bIns="0" rtlCol="0">
            <a:spAutoFit/>
          </a:bodyPr>
          <a:lstStyle/>
          <a:p>
            <a:endParaRPr/>
          </a:p>
        </p:txBody>
      </p:sp>
      <p:sp>
        <p:nvSpPr>
          <p:cNvPr id="5" name="object 5"/>
          <p:cNvSpPr/>
          <p:nvPr/>
        </p:nvSpPr>
        <p:spPr>
          <a:xfrm>
            <a:off x="5526839" y="1639210"/>
            <a:ext cx="621122" cy="248749"/>
          </a:xfrm>
          <a:custGeom>
            <a:avLst/>
            <a:gdLst/>
            <a:ahLst/>
            <a:cxnLst/>
            <a:rect l="l" t="t" r="r" b="b"/>
            <a:pathLst>
              <a:path w="526414" h="210819">
                <a:moveTo>
                  <a:pt x="0" y="210666"/>
                </a:moveTo>
                <a:lnTo>
                  <a:pt x="10640" y="206573"/>
                </a:lnTo>
                <a:lnTo>
                  <a:pt x="10640" y="204523"/>
                </a:lnTo>
                <a:lnTo>
                  <a:pt x="15959" y="202479"/>
                </a:lnTo>
                <a:lnTo>
                  <a:pt x="26566" y="198385"/>
                </a:lnTo>
                <a:lnTo>
                  <a:pt x="26566" y="196336"/>
                </a:lnTo>
                <a:lnTo>
                  <a:pt x="31886" y="194292"/>
                </a:lnTo>
                <a:lnTo>
                  <a:pt x="37207" y="192265"/>
                </a:lnTo>
                <a:lnTo>
                  <a:pt x="47846" y="188171"/>
                </a:lnTo>
                <a:lnTo>
                  <a:pt x="47846" y="186128"/>
                </a:lnTo>
                <a:lnTo>
                  <a:pt x="53133" y="184077"/>
                </a:lnTo>
                <a:lnTo>
                  <a:pt x="63773" y="179984"/>
                </a:lnTo>
                <a:lnTo>
                  <a:pt x="63773" y="177941"/>
                </a:lnTo>
                <a:lnTo>
                  <a:pt x="74413" y="173847"/>
                </a:lnTo>
                <a:lnTo>
                  <a:pt x="85019" y="169753"/>
                </a:lnTo>
                <a:lnTo>
                  <a:pt x="85019" y="167710"/>
                </a:lnTo>
                <a:lnTo>
                  <a:pt x="95660" y="163617"/>
                </a:lnTo>
                <a:lnTo>
                  <a:pt x="106266" y="159545"/>
                </a:lnTo>
                <a:lnTo>
                  <a:pt x="106266" y="157496"/>
                </a:lnTo>
                <a:lnTo>
                  <a:pt x="127546" y="149309"/>
                </a:lnTo>
                <a:lnTo>
                  <a:pt x="127546" y="147265"/>
                </a:lnTo>
                <a:lnTo>
                  <a:pt x="132832" y="145215"/>
                </a:lnTo>
                <a:lnTo>
                  <a:pt x="154113" y="137028"/>
                </a:lnTo>
                <a:lnTo>
                  <a:pt x="154113" y="134984"/>
                </a:lnTo>
                <a:lnTo>
                  <a:pt x="159399" y="132941"/>
                </a:lnTo>
                <a:lnTo>
                  <a:pt x="170039" y="128847"/>
                </a:lnTo>
                <a:lnTo>
                  <a:pt x="180678" y="124776"/>
                </a:lnTo>
                <a:lnTo>
                  <a:pt x="180678" y="122726"/>
                </a:lnTo>
                <a:lnTo>
                  <a:pt x="185965" y="120682"/>
                </a:lnTo>
                <a:lnTo>
                  <a:pt x="207246" y="112495"/>
                </a:lnTo>
                <a:lnTo>
                  <a:pt x="217852" y="108402"/>
                </a:lnTo>
                <a:lnTo>
                  <a:pt x="217852" y="106352"/>
                </a:lnTo>
                <a:lnTo>
                  <a:pt x="233812" y="100214"/>
                </a:lnTo>
                <a:lnTo>
                  <a:pt x="239098" y="98165"/>
                </a:lnTo>
                <a:lnTo>
                  <a:pt x="244419" y="96121"/>
                </a:lnTo>
                <a:lnTo>
                  <a:pt x="249738" y="94094"/>
                </a:lnTo>
                <a:lnTo>
                  <a:pt x="260379" y="90006"/>
                </a:lnTo>
                <a:lnTo>
                  <a:pt x="270985" y="85913"/>
                </a:lnTo>
                <a:lnTo>
                  <a:pt x="270985" y="83863"/>
                </a:lnTo>
                <a:lnTo>
                  <a:pt x="286945" y="77726"/>
                </a:lnTo>
                <a:lnTo>
                  <a:pt x="292231" y="75676"/>
                </a:lnTo>
                <a:lnTo>
                  <a:pt x="313511" y="67489"/>
                </a:lnTo>
                <a:lnTo>
                  <a:pt x="318798" y="65445"/>
                </a:lnTo>
                <a:lnTo>
                  <a:pt x="324118" y="63395"/>
                </a:lnTo>
                <a:lnTo>
                  <a:pt x="329438" y="61374"/>
                </a:lnTo>
                <a:lnTo>
                  <a:pt x="340078" y="57280"/>
                </a:lnTo>
                <a:lnTo>
                  <a:pt x="345365" y="55231"/>
                </a:lnTo>
                <a:lnTo>
                  <a:pt x="361325" y="49093"/>
                </a:lnTo>
                <a:lnTo>
                  <a:pt x="366645" y="49093"/>
                </a:lnTo>
                <a:lnTo>
                  <a:pt x="371931" y="47050"/>
                </a:lnTo>
                <a:lnTo>
                  <a:pt x="393211" y="38863"/>
                </a:lnTo>
                <a:lnTo>
                  <a:pt x="398497" y="36813"/>
                </a:lnTo>
                <a:lnTo>
                  <a:pt x="409138" y="32719"/>
                </a:lnTo>
                <a:lnTo>
                  <a:pt x="414457" y="32719"/>
                </a:lnTo>
                <a:lnTo>
                  <a:pt x="419778" y="30676"/>
                </a:lnTo>
                <a:lnTo>
                  <a:pt x="425064" y="28649"/>
                </a:lnTo>
                <a:lnTo>
                  <a:pt x="435704" y="24555"/>
                </a:lnTo>
                <a:lnTo>
                  <a:pt x="441024" y="24555"/>
                </a:lnTo>
                <a:lnTo>
                  <a:pt x="446344" y="22511"/>
                </a:lnTo>
                <a:lnTo>
                  <a:pt x="451630" y="20462"/>
                </a:lnTo>
                <a:lnTo>
                  <a:pt x="462271" y="16368"/>
                </a:lnTo>
                <a:lnTo>
                  <a:pt x="467591" y="16368"/>
                </a:lnTo>
                <a:lnTo>
                  <a:pt x="472911" y="14324"/>
                </a:lnTo>
                <a:lnTo>
                  <a:pt x="478198" y="12280"/>
                </a:lnTo>
                <a:lnTo>
                  <a:pt x="483517" y="10230"/>
                </a:lnTo>
                <a:lnTo>
                  <a:pt x="488837" y="10230"/>
                </a:lnTo>
                <a:lnTo>
                  <a:pt x="499477" y="6136"/>
                </a:lnTo>
                <a:lnTo>
                  <a:pt x="504763" y="6136"/>
                </a:lnTo>
                <a:lnTo>
                  <a:pt x="515403" y="2043"/>
                </a:lnTo>
                <a:lnTo>
                  <a:pt x="520724" y="2043"/>
                </a:lnTo>
                <a:lnTo>
                  <a:pt x="526044" y="0"/>
                </a:lnTo>
              </a:path>
            </a:pathLst>
          </a:custGeom>
          <a:ln w="13187">
            <a:solidFill>
              <a:srgbClr val="000000"/>
            </a:solidFill>
          </a:ln>
        </p:spPr>
        <p:txBody>
          <a:bodyPr wrap="square" lIns="0" tIns="0" rIns="0" bIns="0" rtlCol="0">
            <a:spAutoFit/>
          </a:bodyPr>
          <a:lstStyle/>
          <a:p>
            <a:endParaRPr/>
          </a:p>
        </p:txBody>
      </p:sp>
      <p:sp>
        <p:nvSpPr>
          <p:cNvPr id="6" name="object 6"/>
          <p:cNvSpPr/>
          <p:nvPr/>
        </p:nvSpPr>
        <p:spPr>
          <a:xfrm>
            <a:off x="4906194" y="1887778"/>
            <a:ext cx="621122" cy="294451"/>
          </a:xfrm>
          <a:custGeom>
            <a:avLst/>
            <a:gdLst/>
            <a:ahLst/>
            <a:cxnLst/>
            <a:rect l="l" t="t" r="r" b="b"/>
            <a:pathLst>
              <a:path w="526414" h="249555">
                <a:moveTo>
                  <a:pt x="0" y="249506"/>
                </a:moveTo>
                <a:lnTo>
                  <a:pt x="5320" y="247457"/>
                </a:lnTo>
                <a:lnTo>
                  <a:pt x="10639" y="245430"/>
                </a:lnTo>
                <a:lnTo>
                  <a:pt x="15959" y="243386"/>
                </a:lnTo>
                <a:lnTo>
                  <a:pt x="21246" y="241343"/>
                </a:lnTo>
                <a:lnTo>
                  <a:pt x="42526" y="233155"/>
                </a:lnTo>
                <a:lnTo>
                  <a:pt x="47813" y="231105"/>
                </a:lnTo>
                <a:lnTo>
                  <a:pt x="63773" y="224968"/>
                </a:lnTo>
                <a:lnTo>
                  <a:pt x="63773" y="222919"/>
                </a:lnTo>
                <a:lnTo>
                  <a:pt x="69093" y="220874"/>
                </a:lnTo>
                <a:lnTo>
                  <a:pt x="74380" y="218825"/>
                </a:lnTo>
                <a:lnTo>
                  <a:pt x="85019" y="214731"/>
                </a:lnTo>
                <a:lnTo>
                  <a:pt x="90340" y="212710"/>
                </a:lnTo>
                <a:lnTo>
                  <a:pt x="95660" y="210660"/>
                </a:lnTo>
                <a:lnTo>
                  <a:pt x="100946" y="208616"/>
                </a:lnTo>
                <a:lnTo>
                  <a:pt x="116905" y="202480"/>
                </a:lnTo>
                <a:lnTo>
                  <a:pt x="116905" y="200429"/>
                </a:lnTo>
                <a:lnTo>
                  <a:pt x="122226" y="198385"/>
                </a:lnTo>
                <a:lnTo>
                  <a:pt x="127512" y="196335"/>
                </a:lnTo>
                <a:lnTo>
                  <a:pt x="148792" y="188148"/>
                </a:lnTo>
                <a:lnTo>
                  <a:pt x="148792" y="186105"/>
                </a:lnTo>
                <a:lnTo>
                  <a:pt x="154079" y="184056"/>
                </a:lnTo>
                <a:lnTo>
                  <a:pt x="159399" y="182011"/>
                </a:lnTo>
                <a:lnTo>
                  <a:pt x="164719" y="179984"/>
                </a:lnTo>
                <a:lnTo>
                  <a:pt x="175358" y="175891"/>
                </a:lnTo>
                <a:lnTo>
                  <a:pt x="175358" y="173847"/>
                </a:lnTo>
                <a:lnTo>
                  <a:pt x="180645" y="171797"/>
                </a:lnTo>
                <a:lnTo>
                  <a:pt x="201926" y="163617"/>
                </a:lnTo>
                <a:lnTo>
                  <a:pt x="201926" y="161566"/>
                </a:lnTo>
                <a:lnTo>
                  <a:pt x="207212" y="159522"/>
                </a:lnTo>
                <a:lnTo>
                  <a:pt x="223172" y="153379"/>
                </a:lnTo>
                <a:lnTo>
                  <a:pt x="223172" y="151335"/>
                </a:lnTo>
                <a:lnTo>
                  <a:pt x="228492" y="149285"/>
                </a:lnTo>
                <a:lnTo>
                  <a:pt x="233778" y="147265"/>
                </a:lnTo>
                <a:lnTo>
                  <a:pt x="244418" y="143172"/>
                </a:lnTo>
                <a:lnTo>
                  <a:pt x="244418" y="141121"/>
                </a:lnTo>
                <a:lnTo>
                  <a:pt x="255059" y="137028"/>
                </a:lnTo>
                <a:lnTo>
                  <a:pt x="265665" y="132934"/>
                </a:lnTo>
                <a:lnTo>
                  <a:pt x="265665" y="130891"/>
                </a:lnTo>
                <a:lnTo>
                  <a:pt x="276305" y="126797"/>
                </a:lnTo>
                <a:lnTo>
                  <a:pt x="286911" y="122703"/>
                </a:lnTo>
                <a:lnTo>
                  <a:pt x="286911" y="120659"/>
                </a:lnTo>
                <a:lnTo>
                  <a:pt x="302872" y="114515"/>
                </a:lnTo>
                <a:lnTo>
                  <a:pt x="302872" y="112496"/>
                </a:lnTo>
                <a:lnTo>
                  <a:pt x="308191" y="110445"/>
                </a:lnTo>
                <a:lnTo>
                  <a:pt x="318798" y="106352"/>
                </a:lnTo>
                <a:lnTo>
                  <a:pt x="318798" y="104309"/>
                </a:lnTo>
                <a:lnTo>
                  <a:pt x="334758" y="98165"/>
                </a:lnTo>
                <a:lnTo>
                  <a:pt x="334758" y="96121"/>
                </a:lnTo>
                <a:lnTo>
                  <a:pt x="340045" y="94071"/>
                </a:lnTo>
                <a:lnTo>
                  <a:pt x="356005" y="87934"/>
                </a:lnTo>
                <a:lnTo>
                  <a:pt x="356005" y="85890"/>
                </a:lnTo>
                <a:lnTo>
                  <a:pt x="361325" y="83840"/>
                </a:lnTo>
                <a:lnTo>
                  <a:pt x="371931" y="79770"/>
                </a:lnTo>
                <a:lnTo>
                  <a:pt x="371931" y="77726"/>
                </a:lnTo>
                <a:lnTo>
                  <a:pt x="387891" y="71582"/>
                </a:lnTo>
                <a:lnTo>
                  <a:pt x="387891" y="69539"/>
                </a:lnTo>
                <a:lnTo>
                  <a:pt x="393177" y="67489"/>
                </a:lnTo>
                <a:lnTo>
                  <a:pt x="403818" y="63395"/>
                </a:lnTo>
                <a:lnTo>
                  <a:pt x="403818" y="61352"/>
                </a:lnTo>
                <a:lnTo>
                  <a:pt x="409137" y="59302"/>
                </a:lnTo>
                <a:lnTo>
                  <a:pt x="419744" y="55208"/>
                </a:lnTo>
                <a:lnTo>
                  <a:pt x="419744" y="53165"/>
                </a:lnTo>
                <a:lnTo>
                  <a:pt x="425064" y="51115"/>
                </a:lnTo>
                <a:lnTo>
                  <a:pt x="435704" y="47044"/>
                </a:lnTo>
                <a:lnTo>
                  <a:pt x="435704" y="45000"/>
                </a:lnTo>
                <a:lnTo>
                  <a:pt x="441024" y="42950"/>
                </a:lnTo>
                <a:lnTo>
                  <a:pt x="451630" y="38863"/>
                </a:lnTo>
                <a:lnTo>
                  <a:pt x="451630" y="36813"/>
                </a:lnTo>
                <a:lnTo>
                  <a:pt x="467591" y="30675"/>
                </a:lnTo>
                <a:lnTo>
                  <a:pt x="467591" y="28626"/>
                </a:lnTo>
                <a:lnTo>
                  <a:pt x="472878" y="26582"/>
                </a:lnTo>
                <a:lnTo>
                  <a:pt x="483517" y="22488"/>
                </a:lnTo>
                <a:lnTo>
                  <a:pt x="483517" y="20439"/>
                </a:lnTo>
                <a:lnTo>
                  <a:pt x="494157" y="16345"/>
                </a:lnTo>
                <a:lnTo>
                  <a:pt x="504764" y="12274"/>
                </a:lnTo>
                <a:lnTo>
                  <a:pt x="504764" y="10231"/>
                </a:lnTo>
                <a:lnTo>
                  <a:pt x="520724" y="4087"/>
                </a:lnTo>
                <a:lnTo>
                  <a:pt x="520724" y="2043"/>
                </a:lnTo>
                <a:lnTo>
                  <a:pt x="526010" y="0"/>
                </a:lnTo>
              </a:path>
            </a:pathLst>
          </a:custGeom>
          <a:ln w="13277">
            <a:solidFill>
              <a:srgbClr val="000000"/>
            </a:solidFill>
          </a:ln>
        </p:spPr>
        <p:txBody>
          <a:bodyPr wrap="square" lIns="0" tIns="0" rIns="0" bIns="0" rtlCol="0">
            <a:spAutoFit/>
          </a:bodyPr>
          <a:lstStyle/>
          <a:p>
            <a:endParaRPr/>
          </a:p>
        </p:txBody>
      </p:sp>
      <p:sp>
        <p:nvSpPr>
          <p:cNvPr id="7" name="object 7"/>
          <p:cNvSpPr/>
          <p:nvPr/>
        </p:nvSpPr>
        <p:spPr>
          <a:xfrm>
            <a:off x="4285549" y="2182173"/>
            <a:ext cx="621122" cy="135613"/>
          </a:xfrm>
          <a:custGeom>
            <a:avLst/>
            <a:gdLst/>
            <a:ahLst/>
            <a:cxnLst/>
            <a:rect l="l" t="t" r="r" b="b"/>
            <a:pathLst>
              <a:path w="526414" h="114935">
                <a:moveTo>
                  <a:pt x="0" y="114539"/>
                </a:moveTo>
                <a:lnTo>
                  <a:pt x="5319" y="112496"/>
                </a:lnTo>
                <a:lnTo>
                  <a:pt x="31886" y="112496"/>
                </a:lnTo>
                <a:lnTo>
                  <a:pt x="37205" y="110445"/>
                </a:lnTo>
                <a:lnTo>
                  <a:pt x="58452" y="110445"/>
                </a:lnTo>
                <a:lnTo>
                  <a:pt x="63772" y="108402"/>
                </a:lnTo>
                <a:lnTo>
                  <a:pt x="79698" y="108402"/>
                </a:lnTo>
                <a:lnTo>
                  <a:pt x="85018" y="106352"/>
                </a:lnTo>
                <a:lnTo>
                  <a:pt x="100945" y="106352"/>
                </a:lnTo>
                <a:lnTo>
                  <a:pt x="106265" y="104308"/>
                </a:lnTo>
                <a:lnTo>
                  <a:pt x="116905" y="104308"/>
                </a:lnTo>
                <a:lnTo>
                  <a:pt x="122192" y="102258"/>
                </a:lnTo>
                <a:lnTo>
                  <a:pt x="132832" y="102258"/>
                </a:lnTo>
                <a:lnTo>
                  <a:pt x="138151" y="100214"/>
                </a:lnTo>
                <a:lnTo>
                  <a:pt x="148758" y="100214"/>
                </a:lnTo>
                <a:lnTo>
                  <a:pt x="154078" y="98165"/>
                </a:lnTo>
                <a:lnTo>
                  <a:pt x="164719" y="98165"/>
                </a:lnTo>
                <a:lnTo>
                  <a:pt x="170038" y="96121"/>
                </a:lnTo>
                <a:lnTo>
                  <a:pt x="175325" y="96121"/>
                </a:lnTo>
                <a:lnTo>
                  <a:pt x="180645" y="94094"/>
                </a:lnTo>
                <a:lnTo>
                  <a:pt x="185964" y="94094"/>
                </a:lnTo>
                <a:lnTo>
                  <a:pt x="191285" y="92050"/>
                </a:lnTo>
                <a:lnTo>
                  <a:pt x="201891" y="92050"/>
                </a:lnTo>
                <a:lnTo>
                  <a:pt x="207212" y="90001"/>
                </a:lnTo>
                <a:lnTo>
                  <a:pt x="212531" y="90001"/>
                </a:lnTo>
                <a:lnTo>
                  <a:pt x="217851" y="87957"/>
                </a:lnTo>
                <a:lnTo>
                  <a:pt x="223172" y="87957"/>
                </a:lnTo>
                <a:lnTo>
                  <a:pt x="228458" y="85906"/>
                </a:lnTo>
                <a:lnTo>
                  <a:pt x="233778" y="85906"/>
                </a:lnTo>
                <a:lnTo>
                  <a:pt x="239098" y="83863"/>
                </a:lnTo>
                <a:lnTo>
                  <a:pt x="244417" y="83863"/>
                </a:lnTo>
                <a:lnTo>
                  <a:pt x="249737" y="81813"/>
                </a:lnTo>
                <a:lnTo>
                  <a:pt x="255024" y="81813"/>
                </a:lnTo>
                <a:lnTo>
                  <a:pt x="260344" y="79770"/>
                </a:lnTo>
                <a:lnTo>
                  <a:pt x="265665" y="79770"/>
                </a:lnTo>
                <a:lnTo>
                  <a:pt x="276304" y="75676"/>
                </a:lnTo>
                <a:lnTo>
                  <a:pt x="281591" y="75676"/>
                </a:lnTo>
                <a:lnTo>
                  <a:pt x="286911" y="73633"/>
                </a:lnTo>
                <a:lnTo>
                  <a:pt x="292231" y="73633"/>
                </a:lnTo>
                <a:lnTo>
                  <a:pt x="302870" y="69539"/>
                </a:lnTo>
                <a:lnTo>
                  <a:pt x="308158" y="69539"/>
                </a:lnTo>
                <a:lnTo>
                  <a:pt x="318797" y="65445"/>
                </a:lnTo>
                <a:lnTo>
                  <a:pt x="324118" y="65445"/>
                </a:lnTo>
                <a:lnTo>
                  <a:pt x="329438" y="63395"/>
                </a:lnTo>
                <a:lnTo>
                  <a:pt x="334724" y="61374"/>
                </a:lnTo>
                <a:lnTo>
                  <a:pt x="340044" y="61374"/>
                </a:lnTo>
                <a:lnTo>
                  <a:pt x="350684" y="57281"/>
                </a:lnTo>
                <a:lnTo>
                  <a:pt x="356004" y="57281"/>
                </a:lnTo>
                <a:lnTo>
                  <a:pt x="361290" y="55231"/>
                </a:lnTo>
                <a:lnTo>
                  <a:pt x="371930" y="51138"/>
                </a:lnTo>
                <a:lnTo>
                  <a:pt x="377250" y="51138"/>
                </a:lnTo>
                <a:lnTo>
                  <a:pt x="382570" y="49094"/>
                </a:lnTo>
                <a:lnTo>
                  <a:pt x="387857" y="47044"/>
                </a:lnTo>
                <a:lnTo>
                  <a:pt x="393177" y="45000"/>
                </a:lnTo>
                <a:lnTo>
                  <a:pt x="398497" y="45000"/>
                </a:lnTo>
                <a:lnTo>
                  <a:pt x="409137" y="40906"/>
                </a:lnTo>
                <a:lnTo>
                  <a:pt x="414423" y="38863"/>
                </a:lnTo>
                <a:lnTo>
                  <a:pt x="425063" y="34770"/>
                </a:lnTo>
                <a:lnTo>
                  <a:pt x="430384" y="34770"/>
                </a:lnTo>
                <a:lnTo>
                  <a:pt x="435703" y="32719"/>
                </a:lnTo>
                <a:lnTo>
                  <a:pt x="440990" y="30676"/>
                </a:lnTo>
                <a:lnTo>
                  <a:pt x="446310" y="28649"/>
                </a:lnTo>
                <a:lnTo>
                  <a:pt x="462270" y="22511"/>
                </a:lnTo>
                <a:lnTo>
                  <a:pt x="467556" y="20462"/>
                </a:lnTo>
                <a:lnTo>
                  <a:pt x="472876" y="18418"/>
                </a:lnTo>
                <a:lnTo>
                  <a:pt x="478196" y="18418"/>
                </a:lnTo>
                <a:lnTo>
                  <a:pt x="488837" y="14324"/>
                </a:lnTo>
                <a:lnTo>
                  <a:pt x="494123" y="12275"/>
                </a:lnTo>
                <a:lnTo>
                  <a:pt x="515403" y="4087"/>
                </a:lnTo>
                <a:lnTo>
                  <a:pt x="520689" y="2043"/>
                </a:lnTo>
                <a:lnTo>
                  <a:pt x="526009" y="0"/>
                </a:lnTo>
              </a:path>
            </a:pathLst>
          </a:custGeom>
          <a:ln w="13003">
            <a:solidFill>
              <a:srgbClr val="000000"/>
            </a:solidFill>
          </a:ln>
        </p:spPr>
        <p:txBody>
          <a:bodyPr wrap="square" lIns="0" tIns="0" rIns="0" bIns="0" rtlCol="0">
            <a:spAutoFit/>
          </a:bodyPr>
          <a:lstStyle/>
          <a:p>
            <a:endParaRPr/>
          </a:p>
        </p:txBody>
      </p:sp>
      <p:sp>
        <p:nvSpPr>
          <p:cNvPr id="8" name="object 8"/>
          <p:cNvSpPr/>
          <p:nvPr/>
        </p:nvSpPr>
        <p:spPr>
          <a:xfrm>
            <a:off x="4047335" y="2317320"/>
            <a:ext cx="238259" cy="2997"/>
          </a:xfrm>
          <a:custGeom>
            <a:avLst/>
            <a:gdLst/>
            <a:ahLst/>
            <a:cxnLst/>
            <a:rect l="l" t="t" r="r" b="b"/>
            <a:pathLst>
              <a:path w="201929" h="2539">
                <a:moveTo>
                  <a:pt x="5286" y="2049"/>
                </a:moveTo>
                <a:lnTo>
                  <a:pt x="0" y="2049"/>
                </a:lnTo>
                <a:lnTo>
                  <a:pt x="154078" y="2049"/>
                </a:lnTo>
                <a:lnTo>
                  <a:pt x="159398" y="0"/>
                </a:lnTo>
                <a:lnTo>
                  <a:pt x="201892" y="0"/>
                </a:lnTo>
              </a:path>
            </a:pathLst>
          </a:custGeom>
          <a:ln w="12913">
            <a:solidFill>
              <a:srgbClr val="000000"/>
            </a:solidFill>
          </a:ln>
        </p:spPr>
        <p:txBody>
          <a:bodyPr wrap="square" lIns="0" tIns="0" rIns="0" bIns="0" rtlCol="0">
            <a:spAutoFit/>
          </a:bodyPr>
          <a:lstStyle/>
          <a:p>
            <a:endParaRPr/>
          </a:p>
        </p:txBody>
      </p:sp>
      <p:sp>
        <p:nvSpPr>
          <p:cNvPr id="9" name="object 9"/>
          <p:cNvSpPr/>
          <p:nvPr/>
        </p:nvSpPr>
        <p:spPr>
          <a:xfrm>
            <a:off x="6147767" y="3761111"/>
            <a:ext cx="621122" cy="297449"/>
          </a:xfrm>
          <a:custGeom>
            <a:avLst/>
            <a:gdLst/>
            <a:ahLst/>
            <a:cxnLst/>
            <a:rect l="l" t="t" r="r" b="b"/>
            <a:pathLst>
              <a:path w="526414" h="252095">
                <a:moveTo>
                  <a:pt x="0" y="0"/>
                </a:moveTo>
                <a:lnTo>
                  <a:pt x="10632" y="3598"/>
                </a:lnTo>
                <a:lnTo>
                  <a:pt x="10632" y="7196"/>
                </a:lnTo>
                <a:lnTo>
                  <a:pt x="21273" y="10818"/>
                </a:lnTo>
                <a:lnTo>
                  <a:pt x="21273" y="14416"/>
                </a:lnTo>
                <a:lnTo>
                  <a:pt x="31886" y="18015"/>
                </a:lnTo>
                <a:lnTo>
                  <a:pt x="31886" y="21613"/>
                </a:lnTo>
                <a:lnTo>
                  <a:pt x="42519" y="25212"/>
                </a:lnTo>
                <a:lnTo>
                  <a:pt x="42519" y="28810"/>
                </a:lnTo>
                <a:lnTo>
                  <a:pt x="53132" y="32408"/>
                </a:lnTo>
                <a:lnTo>
                  <a:pt x="53132" y="36007"/>
                </a:lnTo>
                <a:lnTo>
                  <a:pt x="63765" y="39605"/>
                </a:lnTo>
                <a:lnTo>
                  <a:pt x="63765" y="43204"/>
                </a:lnTo>
                <a:lnTo>
                  <a:pt x="74406" y="46802"/>
                </a:lnTo>
                <a:lnTo>
                  <a:pt x="74406" y="50424"/>
                </a:lnTo>
                <a:lnTo>
                  <a:pt x="85019" y="54022"/>
                </a:lnTo>
                <a:lnTo>
                  <a:pt x="85019" y="57620"/>
                </a:lnTo>
                <a:lnTo>
                  <a:pt x="95652" y="61219"/>
                </a:lnTo>
                <a:lnTo>
                  <a:pt x="95652" y="64817"/>
                </a:lnTo>
                <a:lnTo>
                  <a:pt x="106265" y="68416"/>
                </a:lnTo>
                <a:lnTo>
                  <a:pt x="106265" y="72014"/>
                </a:lnTo>
                <a:lnTo>
                  <a:pt x="116899" y="75613"/>
                </a:lnTo>
                <a:lnTo>
                  <a:pt x="116899" y="79211"/>
                </a:lnTo>
                <a:lnTo>
                  <a:pt x="127538" y="82810"/>
                </a:lnTo>
                <a:lnTo>
                  <a:pt x="127538" y="86431"/>
                </a:lnTo>
                <a:lnTo>
                  <a:pt x="138151" y="90029"/>
                </a:lnTo>
                <a:lnTo>
                  <a:pt x="138151" y="93628"/>
                </a:lnTo>
                <a:lnTo>
                  <a:pt x="148785" y="97226"/>
                </a:lnTo>
                <a:lnTo>
                  <a:pt x="148785" y="100825"/>
                </a:lnTo>
                <a:lnTo>
                  <a:pt x="159398" y="104423"/>
                </a:lnTo>
                <a:lnTo>
                  <a:pt x="159398" y="108022"/>
                </a:lnTo>
                <a:lnTo>
                  <a:pt x="170031" y="111620"/>
                </a:lnTo>
                <a:lnTo>
                  <a:pt x="170031" y="115218"/>
                </a:lnTo>
                <a:lnTo>
                  <a:pt x="180672" y="118817"/>
                </a:lnTo>
                <a:lnTo>
                  <a:pt x="180672" y="122415"/>
                </a:lnTo>
                <a:lnTo>
                  <a:pt x="191285" y="126037"/>
                </a:lnTo>
                <a:lnTo>
                  <a:pt x="191285" y="127833"/>
                </a:lnTo>
                <a:lnTo>
                  <a:pt x="201918" y="131432"/>
                </a:lnTo>
                <a:lnTo>
                  <a:pt x="201918" y="135030"/>
                </a:lnTo>
                <a:lnTo>
                  <a:pt x="212531" y="138628"/>
                </a:lnTo>
                <a:lnTo>
                  <a:pt x="212531" y="142227"/>
                </a:lnTo>
                <a:lnTo>
                  <a:pt x="223164" y="145825"/>
                </a:lnTo>
                <a:lnTo>
                  <a:pt x="223164" y="147627"/>
                </a:lnTo>
                <a:lnTo>
                  <a:pt x="233805" y="151226"/>
                </a:lnTo>
                <a:lnTo>
                  <a:pt x="233805" y="154824"/>
                </a:lnTo>
                <a:lnTo>
                  <a:pt x="244418" y="158423"/>
                </a:lnTo>
                <a:lnTo>
                  <a:pt x="244418" y="160219"/>
                </a:lnTo>
                <a:lnTo>
                  <a:pt x="255051" y="163840"/>
                </a:lnTo>
                <a:lnTo>
                  <a:pt x="255051" y="167439"/>
                </a:lnTo>
                <a:lnTo>
                  <a:pt x="260371" y="169241"/>
                </a:lnTo>
                <a:lnTo>
                  <a:pt x="270984" y="172839"/>
                </a:lnTo>
                <a:lnTo>
                  <a:pt x="270984" y="176438"/>
                </a:lnTo>
                <a:lnTo>
                  <a:pt x="286937" y="181833"/>
                </a:lnTo>
                <a:lnTo>
                  <a:pt x="286937" y="183635"/>
                </a:lnTo>
                <a:lnTo>
                  <a:pt x="297551" y="187233"/>
                </a:lnTo>
                <a:lnTo>
                  <a:pt x="297551" y="189030"/>
                </a:lnTo>
                <a:lnTo>
                  <a:pt x="308184" y="192628"/>
                </a:lnTo>
                <a:lnTo>
                  <a:pt x="308184" y="194430"/>
                </a:lnTo>
                <a:lnTo>
                  <a:pt x="318797" y="198028"/>
                </a:lnTo>
                <a:lnTo>
                  <a:pt x="318797" y="199848"/>
                </a:lnTo>
                <a:lnTo>
                  <a:pt x="334751" y="205248"/>
                </a:lnTo>
                <a:lnTo>
                  <a:pt x="334751" y="207045"/>
                </a:lnTo>
                <a:lnTo>
                  <a:pt x="340071" y="208847"/>
                </a:lnTo>
                <a:lnTo>
                  <a:pt x="350684" y="212445"/>
                </a:lnTo>
                <a:lnTo>
                  <a:pt x="350684" y="214242"/>
                </a:lnTo>
                <a:lnTo>
                  <a:pt x="361317" y="217840"/>
                </a:lnTo>
                <a:lnTo>
                  <a:pt x="371930" y="221438"/>
                </a:lnTo>
                <a:lnTo>
                  <a:pt x="371930" y="223241"/>
                </a:lnTo>
                <a:lnTo>
                  <a:pt x="393204" y="230437"/>
                </a:lnTo>
                <a:lnTo>
                  <a:pt x="398497" y="232234"/>
                </a:lnTo>
                <a:lnTo>
                  <a:pt x="414450" y="237634"/>
                </a:lnTo>
                <a:lnTo>
                  <a:pt x="419770" y="237634"/>
                </a:lnTo>
                <a:lnTo>
                  <a:pt x="425064" y="239454"/>
                </a:lnTo>
                <a:lnTo>
                  <a:pt x="435696" y="243052"/>
                </a:lnTo>
                <a:lnTo>
                  <a:pt x="441017" y="243052"/>
                </a:lnTo>
                <a:lnTo>
                  <a:pt x="446337" y="244854"/>
                </a:lnTo>
                <a:lnTo>
                  <a:pt x="451630" y="246650"/>
                </a:lnTo>
                <a:lnTo>
                  <a:pt x="456950" y="246650"/>
                </a:lnTo>
                <a:lnTo>
                  <a:pt x="462263" y="248453"/>
                </a:lnTo>
                <a:lnTo>
                  <a:pt x="467584" y="248453"/>
                </a:lnTo>
                <a:lnTo>
                  <a:pt x="472903" y="250249"/>
                </a:lnTo>
                <a:lnTo>
                  <a:pt x="483517" y="250249"/>
                </a:lnTo>
                <a:lnTo>
                  <a:pt x="488829" y="252051"/>
                </a:lnTo>
                <a:lnTo>
                  <a:pt x="526037" y="252051"/>
                </a:lnTo>
              </a:path>
            </a:pathLst>
          </a:custGeom>
          <a:ln w="14214">
            <a:solidFill>
              <a:srgbClr val="000000"/>
            </a:solidFill>
          </a:ln>
        </p:spPr>
        <p:txBody>
          <a:bodyPr wrap="square" lIns="0" tIns="0" rIns="0" bIns="0" rtlCol="0">
            <a:spAutoFit/>
          </a:bodyPr>
          <a:lstStyle/>
          <a:p>
            <a:endParaRPr/>
          </a:p>
        </p:txBody>
      </p:sp>
      <p:sp>
        <p:nvSpPr>
          <p:cNvPr id="10" name="object 10"/>
          <p:cNvSpPr/>
          <p:nvPr/>
        </p:nvSpPr>
        <p:spPr>
          <a:xfrm>
            <a:off x="5527121" y="3459500"/>
            <a:ext cx="621122" cy="301944"/>
          </a:xfrm>
          <a:custGeom>
            <a:avLst/>
            <a:gdLst/>
            <a:ahLst/>
            <a:cxnLst/>
            <a:rect l="l" t="t" r="r" b="b"/>
            <a:pathLst>
              <a:path w="526414" h="255904">
                <a:moveTo>
                  <a:pt x="0" y="0"/>
                </a:moveTo>
                <a:lnTo>
                  <a:pt x="5313" y="0"/>
                </a:lnTo>
                <a:lnTo>
                  <a:pt x="10633" y="1796"/>
                </a:lnTo>
                <a:lnTo>
                  <a:pt x="15953" y="1796"/>
                </a:lnTo>
                <a:lnTo>
                  <a:pt x="21246" y="3598"/>
                </a:lnTo>
                <a:lnTo>
                  <a:pt x="26567" y="3598"/>
                </a:lnTo>
                <a:lnTo>
                  <a:pt x="37199" y="7196"/>
                </a:lnTo>
                <a:lnTo>
                  <a:pt x="42520" y="7196"/>
                </a:lnTo>
                <a:lnTo>
                  <a:pt x="47813" y="8993"/>
                </a:lnTo>
                <a:lnTo>
                  <a:pt x="53133" y="10795"/>
                </a:lnTo>
                <a:lnTo>
                  <a:pt x="58446" y="10795"/>
                </a:lnTo>
                <a:lnTo>
                  <a:pt x="69086" y="14393"/>
                </a:lnTo>
                <a:lnTo>
                  <a:pt x="74379" y="16190"/>
                </a:lnTo>
                <a:lnTo>
                  <a:pt x="79700" y="16190"/>
                </a:lnTo>
                <a:lnTo>
                  <a:pt x="95653" y="21590"/>
                </a:lnTo>
                <a:lnTo>
                  <a:pt x="100946" y="23386"/>
                </a:lnTo>
                <a:lnTo>
                  <a:pt x="122219" y="30583"/>
                </a:lnTo>
                <a:lnTo>
                  <a:pt x="127513" y="32385"/>
                </a:lnTo>
                <a:lnTo>
                  <a:pt x="132832" y="34182"/>
                </a:lnTo>
                <a:lnTo>
                  <a:pt x="138145" y="36007"/>
                </a:lnTo>
                <a:lnTo>
                  <a:pt x="148786" y="39605"/>
                </a:lnTo>
                <a:lnTo>
                  <a:pt x="154079" y="41402"/>
                </a:lnTo>
                <a:lnTo>
                  <a:pt x="170032" y="46802"/>
                </a:lnTo>
                <a:lnTo>
                  <a:pt x="170032" y="48598"/>
                </a:lnTo>
                <a:lnTo>
                  <a:pt x="175352" y="50401"/>
                </a:lnTo>
                <a:lnTo>
                  <a:pt x="180645" y="52197"/>
                </a:lnTo>
                <a:lnTo>
                  <a:pt x="196598" y="57597"/>
                </a:lnTo>
                <a:lnTo>
                  <a:pt x="196598" y="59394"/>
                </a:lnTo>
                <a:lnTo>
                  <a:pt x="201919" y="61196"/>
                </a:lnTo>
                <a:lnTo>
                  <a:pt x="212532" y="64794"/>
                </a:lnTo>
                <a:lnTo>
                  <a:pt x="212532" y="66591"/>
                </a:lnTo>
                <a:lnTo>
                  <a:pt x="228486" y="71991"/>
                </a:lnTo>
                <a:lnTo>
                  <a:pt x="228486" y="73811"/>
                </a:lnTo>
                <a:lnTo>
                  <a:pt x="239099" y="77409"/>
                </a:lnTo>
                <a:lnTo>
                  <a:pt x="239099" y="79211"/>
                </a:lnTo>
                <a:lnTo>
                  <a:pt x="255051" y="84606"/>
                </a:lnTo>
                <a:lnTo>
                  <a:pt x="255051" y="86408"/>
                </a:lnTo>
                <a:lnTo>
                  <a:pt x="265665" y="90006"/>
                </a:lnTo>
                <a:lnTo>
                  <a:pt x="265665" y="91803"/>
                </a:lnTo>
                <a:lnTo>
                  <a:pt x="276298" y="95401"/>
                </a:lnTo>
                <a:lnTo>
                  <a:pt x="276298" y="99000"/>
                </a:lnTo>
                <a:lnTo>
                  <a:pt x="281619" y="100802"/>
                </a:lnTo>
                <a:lnTo>
                  <a:pt x="292232" y="104400"/>
                </a:lnTo>
                <a:lnTo>
                  <a:pt x="292232" y="106196"/>
                </a:lnTo>
                <a:lnTo>
                  <a:pt x="302864" y="109795"/>
                </a:lnTo>
                <a:lnTo>
                  <a:pt x="302864" y="113416"/>
                </a:lnTo>
                <a:lnTo>
                  <a:pt x="308185" y="115218"/>
                </a:lnTo>
                <a:lnTo>
                  <a:pt x="318798" y="118817"/>
                </a:lnTo>
                <a:lnTo>
                  <a:pt x="318798" y="122415"/>
                </a:lnTo>
                <a:lnTo>
                  <a:pt x="334752" y="127810"/>
                </a:lnTo>
                <a:lnTo>
                  <a:pt x="334752" y="131409"/>
                </a:lnTo>
                <a:lnTo>
                  <a:pt x="340044" y="133211"/>
                </a:lnTo>
                <a:lnTo>
                  <a:pt x="350678" y="136809"/>
                </a:lnTo>
                <a:lnTo>
                  <a:pt x="350678" y="140407"/>
                </a:lnTo>
                <a:lnTo>
                  <a:pt x="361318" y="144006"/>
                </a:lnTo>
                <a:lnTo>
                  <a:pt x="361318" y="147604"/>
                </a:lnTo>
                <a:lnTo>
                  <a:pt x="366611" y="149401"/>
                </a:lnTo>
                <a:lnTo>
                  <a:pt x="377244" y="153022"/>
                </a:lnTo>
                <a:lnTo>
                  <a:pt x="377244" y="156621"/>
                </a:lnTo>
                <a:lnTo>
                  <a:pt x="387884" y="160219"/>
                </a:lnTo>
                <a:lnTo>
                  <a:pt x="387884" y="163817"/>
                </a:lnTo>
                <a:lnTo>
                  <a:pt x="398497" y="167416"/>
                </a:lnTo>
                <a:lnTo>
                  <a:pt x="398497" y="169212"/>
                </a:lnTo>
                <a:lnTo>
                  <a:pt x="409131" y="172811"/>
                </a:lnTo>
                <a:lnTo>
                  <a:pt x="409131" y="176409"/>
                </a:lnTo>
                <a:lnTo>
                  <a:pt x="419744" y="180008"/>
                </a:lnTo>
                <a:lnTo>
                  <a:pt x="419744" y="183606"/>
                </a:lnTo>
                <a:lnTo>
                  <a:pt x="430377" y="187204"/>
                </a:lnTo>
                <a:lnTo>
                  <a:pt x="430377" y="190826"/>
                </a:lnTo>
                <a:lnTo>
                  <a:pt x="441018" y="194424"/>
                </a:lnTo>
                <a:lnTo>
                  <a:pt x="441018" y="198023"/>
                </a:lnTo>
                <a:lnTo>
                  <a:pt x="451631" y="201621"/>
                </a:lnTo>
                <a:lnTo>
                  <a:pt x="451631" y="205220"/>
                </a:lnTo>
                <a:lnTo>
                  <a:pt x="462264" y="208818"/>
                </a:lnTo>
                <a:lnTo>
                  <a:pt x="462264" y="212416"/>
                </a:lnTo>
                <a:lnTo>
                  <a:pt x="472877" y="216015"/>
                </a:lnTo>
                <a:lnTo>
                  <a:pt x="472877" y="219613"/>
                </a:lnTo>
                <a:lnTo>
                  <a:pt x="483511" y="223212"/>
                </a:lnTo>
                <a:lnTo>
                  <a:pt x="483511" y="226833"/>
                </a:lnTo>
                <a:lnTo>
                  <a:pt x="494151" y="230432"/>
                </a:lnTo>
                <a:lnTo>
                  <a:pt x="494151" y="234030"/>
                </a:lnTo>
                <a:lnTo>
                  <a:pt x="504764" y="237629"/>
                </a:lnTo>
                <a:lnTo>
                  <a:pt x="504764" y="241227"/>
                </a:lnTo>
                <a:lnTo>
                  <a:pt x="515397" y="244825"/>
                </a:lnTo>
                <a:lnTo>
                  <a:pt x="515397" y="248424"/>
                </a:lnTo>
                <a:lnTo>
                  <a:pt x="526011" y="252022"/>
                </a:lnTo>
                <a:lnTo>
                  <a:pt x="526011" y="255621"/>
                </a:lnTo>
              </a:path>
            </a:pathLst>
          </a:custGeom>
          <a:ln w="14223">
            <a:solidFill>
              <a:srgbClr val="000000"/>
            </a:solidFill>
          </a:ln>
        </p:spPr>
        <p:txBody>
          <a:bodyPr wrap="square" lIns="0" tIns="0" rIns="0" bIns="0" rtlCol="0">
            <a:spAutoFit/>
          </a:bodyPr>
          <a:lstStyle/>
          <a:p>
            <a:endParaRPr/>
          </a:p>
        </p:txBody>
      </p:sp>
      <p:sp>
        <p:nvSpPr>
          <p:cNvPr id="11" name="object 11"/>
          <p:cNvSpPr/>
          <p:nvPr/>
        </p:nvSpPr>
        <p:spPr>
          <a:xfrm>
            <a:off x="4912746" y="3448856"/>
            <a:ext cx="614379" cy="151347"/>
          </a:xfrm>
          <a:custGeom>
            <a:avLst/>
            <a:gdLst/>
            <a:ahLst/>
            <a:cxnLst/>
            <a:rect l="l" t="t" r="r" b="b"/>
            <a:pathLst>
              <a:path w="520700" h="128270">
                <a:moveTo>
                  <a:pt x="0" y="127839"/>
                </a:moveTo>
                <a:lnTo>
                  <a:pt x="0" y="124240"/>
                </a:lnTo>
                <a:lnTo>
                  <a:pt x="5320" y="122438"/>
                </a:lnTo>
                <a:lnTo>
                  <a:pt x="15933" y="118817"/>
                </a:lnTo>
                <a:lnTo>
                  <a:pt x="15933" y="115218"/>
                </a:lnTo>
                <a:lnTo>
                  <a:pt x="31886" y="109824"/>
                </a:lnTo>
                <a:lnTo>
                  <a:pt x="31886" y="108022"/>
                </a:lnTo>
                <a:lnTo>
                  <a:pt x="42500" y="104423"/>
                </a:lnTo>
                <a:lnTo>
                  <a:pt x="42500" y="100825"/>
                </a:lnTo>
                <a:lnTo>
                  <a:pt x="58452" y="95430"/>
                </a:lnTo>
                <a:lnTo>
                  <a:pt x="58452" y="93628"/>
                </a:lnTo>
                <a:lnTo>
                  <a:pt x="63746" y="91832"/>
                </a:lnTo>
                <a:lnTo>
                  <a:pt x="74380" y="88233"/>
                </a:lnTo>
                <a:lnTo>
                  <a:pt x="74380" y="86431"/>
                </a:lnTo>
                <a:lnTo>
                  <a:pt x="85019" y="82833"/>
                </a:lnTo>
                <a:lnTo>
                  <a:pt x="85019" y="81013"/>
                </a:lnTo>
                <a:lnTo>
                  <a:pt x="95632" y="77415"/>
                </a:lnTo>
                <a:lnTo>
                  <a:pt x="95632" y="75613"/>
                </a:lnTo>
                <a:lnTo>
                  <a:pt x="111586" y="70218"/>
                </a:lnTo>
                <a:lnTo>
                  <a:pt x="111586" y="68416"/>
                </a:lnTo>
                <a:lnTo>
                  <a:pt x="116879" y="66619"/>
                </a:lnTo>
                <a:lnTo>
                  <a:pt x="132832" y="61219"/>
                </a:lnTo>
                <a:lnTo>
                  <a:pt x="132832" y="59423"/>
                </a:lnTo>
                <a:lnTo>
                  <a:pt x="138153" y="57620"/>
                </a:lnTo>
                <a:lnTo>
                  <a:pt x="143445" y="55824"/>
                </a:lnTo>
                <a:lnTo>
                  <a:pt x="159399" y="50424"/>
                </a:lnTo>
                <a:lnTo>
                  <a:pt x="159399" y="48627"/>
                </a:lnTo>
                <a:lnTo>
                  <a:pt x="164719" y="46825"/>
                </a:lnTo>
                <a:lnTo>
                  <a:pt x="170012" y="45029"/>
                </a:lnTo>
                <a:lnTo>
                  <a:pt x="175333" y="43204"/>
                </a:lnTo>
                <a:lnTo>
                  <a:pt x="191285" y="37809"/>
                </a:lnTo>
                <a:lnTo>
                  <a:pt x="196578" y="36007"/>
                </a:lnTo>
                <a:lnTo>
                  <a:pt x="217852" y="28810"/>
                </a:lnTo>
                <a:lnTo>
                  <a:pt x="223146" y="27014"/>
                </a:lnTo>
                <a:lnTo>
                  <a:pt x="228465" y="27014"/>
                </a:lnTo>
                <a:lnTo>
                  <a:pt x="244418" y="21613"/>
                </a:lnTo>
                <a:lnTo>
                  <a:pt x="249712" y="19817"/>
                </a:lnTo>
                <a:lnTo>
                  <a:pt x="255031" y="19817"/>
                </a:lnTo>
                <a:lnTo>
                  <a:pt x="265665" y="16218"/>
                </a:lnTo>
                <a:lnTo>
                  <a:pt x="270985" y="16218"/>
                </a:lnTo>
                <a:lnTo>
                  <a:pt x="276278" y="14416"/>
                </a:lnTo>
                <a:lnTo>
                  <a:pt x="281599" y="12620"/>
                </a:lnTo>
                <a:lnTo>
                  <a:pt x="286911" y="12620"/>
                </a:lnTo>
                <a:lnTo>
                  <a:pt x="292231" y="10818"/>
                </a:lnTo>
                <a:lnTo>
                  <a:pt x="297552" y="10818"/>
                </a:lnTo>
                <a:lnTo>
                  <a:pt x="302845" y="9021"/>
                </a:lnTo>
                <a:lnTo>
                  <a:pt x="308165" y="9021"/>
                </a:lnTo>
                <a:lnTo>
                  <a:pt x="313478" y="7219"/>
                </a:lnTo>
                <a:lnTo>
                  <a:pt x="318798" y="7219"/>
                </a:lnTo>
                <a:lnTo>
                  <a:pt x="324118" y="5400"/>
                </a:lnTo>
                <a:lnTo>
                  <a:pt x="329411" y="5400"/>
                </a:lnTo>
                <a:lnTo>
                  <a:pt x="334732" y="3598"/>
                </a:lnTo>
                <a:lnTo>
                  <a:pt x="345364" y="3598"/>
                </a:lnTo>
                <a:lnTo>
                  <a:pt x="350685" y="1802"/>
                </a:lnTo>
                <a:lnTo>
                  <a:pt x="366611" y="1802"/>
                </a:lnTo>
                <a:lnTo>
                  <a:pt x="371931" y="0"/>
                </a:lnTo>
                <a:lnTo>
                  <a:pt x="456951" y="0"/>
                </a:lnTo>
                <a:lnTo>
                  <a:pt x="462244" y="1802"/>
                </a:lnTo>
                <a:lnTo>
                  <a:pt x="478197" y="1802"/>
                </a:lnTo>
                <a:lnTo>
                  <a:pt x="483517" y="3598"/>
                </a:lnTo>
                <a:lnTo>
                  <a:pt x="494130" y="3598"/>
                </a:lnTo>
                <a:lnTo>
                  <a:pt x="499443" y="5400"/>
                </a:lnTo>
                <a:lnTo>
                  <a:pt x="504764" y="5400"/>
                </a:lnTo>
                <a:lnTo>
                  <a:pt x="510083" y="7219"/>
                </a:lnTo>
                <a:lnTo>
                  <a:pt x="515377" y="7219"/>
                </a:lnTo>
                <a:lnTo>
                  <a:pt x="520697" y="9021"/>
                </a:lnTo>
              </a:path>
            </a:pathLst>
          </a:custGeom>
          <a:ln w="13938">
            <a:solidFill>
              <a:srgbClr val="000000"/>
            </a:solidFill>
          </a:ln>
        </p:spPr>
        <p:txBody>
          <a:bodyPr wrap="square" lIns="0" tIns="0" rIns="0" bIns="0" rtlCol="0">
            <a:spAutoFit/>
          </a:bodyPr>
          <a:lstStyle/>
          <a:p>
            <a:endParaRPr/>
          </a:p>
        </p:txBody>
      </p:sp>
      <p:sp>
        <p:nvSpPr>
          <p:cNvPr id="12" name="object 12"/>
          <p:cNvSpPr/>
          <p:nvPr/>
        </p:nvSpPr>
        <p:spPr>
          <a:xfrm>
            <a:off x="4285823" y="3599695"/>
            <a:ext cx="627116" cy="395600"/>
          </a:xfrm>
          <a:custGeom>
            <a:avLst/>
            <a:gdLst/>
            <a:ahLst/>
            <a:cxnLst/>
            <a:rect l="l" t="t" r="r" b="b"/>
            <a:pathLst>
              <a:path w="531495" h="335279">
                <a:moveTo>
                  <a:pt x="0" y="334832"/>
                </a:moveTo>
                <a:lnTo>
                  <a:pt x="10613" y="331234"/>
                </a:lnTo>
                <a:lnTo>
                  <a:pt x="10613" y="329432"/>
                </a:lnTo>
                <a:lnTo>
                  <a:pt x="21246" y="325833"/>
                </a:lnTo>
                <a:lnTo>
                  <a:pt x="21246" y="324037"/>
                </a:lnTo>
                <a:lnTo>
                  <a:pt x="31887" y="320439"/>
                </a:lnTo>
                <a:lnTo>
                  <a:pt x="31887" y="318636"/>
                </a:lnTo>
                <a:lnTo>
                  <a:pt x="42499" y="315038"/>
                </a:lnTo>
                <a:lnTo>
                  <a:pt x="42499" y="313242"/>
                </a:lnTo>
                <a:lnTo>
                  <a:pt x="53133" y="309643"/>
                </a:lnTo>
                <a:lnTo>
                  <a:pt x="53133" y="306045"/>
                </a:lnTo>
                <a:lnTo>
                  <a:pt x="58452" y="304243"/>
                </a:lnTo>
                <a:lnTo>
                  <a:pt x="69066" y="300644"/>
                </a:lnTo>
                <a:lnTo>
                  <a:pt x="69066" y="297023"/>
                </a:lnTo>
                <a:lnTo>
                  <a:pt x="85019" y="291628"/>
                </a:lnTo>
                <a:lnTo>
                  <a:pt x="85019" y="288030"/>
                </a:lnTo>
                <a:lnTo>
                  <a:pt x="95632" y="284431"/>
                </a:lnTo>
                <a:lnTo>
                  <a:pt x="95632" y="282629"/>
                </a:lnTo>
                <a:lnTo>
                  <a:pt x="106266" y="279031"/>
                </a:lnTo>
                <a:lnTo>
                  <a:pt x="106266" y="275432"/>
                </a:lnTo>
                <a:lnTo>
                  <a:pt x="116879" y="271834"/>
                </a:lnTo>
                <a:lnTo>
                  <a:pt x="116879" y="268235"/>
                </a:lnTo>
                <a:lnTo>
                  <a:pt x="132832" y="262841"/>
                </a:lnTo>
                <a:lnTo>
                  <a:pt x="132832" y="259219"/>
                </a:lnTo>
                <a:lnTo>
                  <a:pt x="143445" y="255621"/>
                </a:lnTo>
                <a:lnTo>
                  <a:pt x="143445" y="252022"/>
                </a:lnTo>
                <a:lnTo>
                  <a:pt x="154079" y="248424"/>
                </a:lnTo>
                <a:lnTo>
                  <a:pt x="154079" y="244825"/>
                </a:lnTo>
                <a:lnTo>
                  <a:pt x="164719" y="241227"/>
                </a:lnTo>
                <a:lnTo>
                  <a:pt x="164719" y="237629"/>
                </a:lnTo>
                <a:lnTo>
                  <a:pt x="175332" y="234030"/>
                </a:lnTo>
                <a:lnTo>
                  <a:pt x="175332" y="230432"/>
                </a:lnTo>
                <a:lnTo>
                  <a:pt x="185965" y="226833"/>
                </a:lnTo>
                <a:lnTo>
                  <a:pt x="185965" y="223235"/>
                </a:lnTo>
                <a:lnTo>
                  <a:pt x="196578" y="219613"/>
                </a:lnTo>
                <a:lnTo>
                  <a:pt x="196578" y="216015"/>
                </a:lnTo>
                <a:lnTo>
                  <a:pt x="207212" y="212416"/>
                </a:lnTo>
                <a:lnTo>
                  <a:pt x="207212" y="208818"/>
                </a:lnTo>
                <a:lnTo>
                  <a:pt x="217852" y="205220"/>
                </a:lnTo>
                <a:lnTo>
                  <a:pt x="217852" y="201621"/>
                </a:lnTo>
                <a:lnTo>
                  <a:pt x="228465" y="198023"/>
                </a:lnTo>
                <a:lnTo>
                  <a:pt x="228465" y="194424"/>
                </a:lnTo>
                <a:lnTo>
                  <a:pt x="239098" y="190826"/>
                </a:lnTo>
                <a:lnTo>
                  <a:pt x="239098" y="187227"/>
                </a:lnTo>
                <a:lnTo>
                  <a:pt x="249712" y="183606"/>
                </a:lnTo>
                <a:lnTo>
                  <a:pt x="249712" y="180008"/>
                </a:lnTo>
                <a:lnTo>
                  <a:pt x="260345" y="176409"/>
                </a:lnTo>
                <a:lnTo>
                  <a:pt x="260345" y="172811"/>
                </a:lnTo>
                <a:lnTo>
                  <a:pt x="270985" y="169212"/>
                </a:lnTo>
                <a:lnTo>
                  <a:pt x="270985" y="165614"/>
                </a:lnTo>
                <a:lnTo>
                  <a:pt x="281599" y="162015"/>
                </a:lnTo>
                <a:lnTo>
                  <a:pt x="281599" y="158417"/>
                </a:lnTo>
                <a:lnTo>
                  <a:pt x="292231" y="154818"/>
                </a:lnTo>
                <a:lnTo>
                  <a:pt x="292231" y="151220"/>
                </a:lnTo>
                <a:lnTo>
                  <a:pt x="302845" y="147622"/>
                </a:lnTo>
                <a:lnTo>
                  <a:pt x="302845" y="144000"/>
                </a:lnTo>
                <a:lnTo>
                  <a:pt x="313478" y="140402"/>
                </a:lnTo>
                <a:lnTo>
                  <a:pt x="313478" y="136803"/>
                </a:lnTo>
                <a:lnTo>
                  <a:pt x="324118" y="133205"/>
                </a:lnTo>
                <a:lnTo>
                  <a:pt x="324118" y="129606"/>
                </a:lnTo>
                <a:lnTo>
                  <a:pt x="334731" y="126008"/>
                </a:lnTo>
                <a:lnTo>
                  <a:pt x="334731" y="122410"/>
                </a:lnTo>
                <a:lnTo>
                  <a:pt x="345365" y="118811"/>
                </a:lnTo>
                <a:lnTo>
                  <a:pt x="345365" y="115213"/>
                </a:lnTo>
                <a:lnTo>
                  <a:pt x="355978" y="111614"/>
                </a:lnTo>
                <a:lnTo>
                  <a:pt x="355978" y="108016"/>
                </a:lnTo>
                <a:lnTo>
                  <a:pt x="366611" y="104394"/>
                </a:lnTo>
                <a:lnTo>
                  <a:pt x="366611" y="100796"/>
                </a:lnTo>
                <a:lnTo>
                  <a:pt x="377251" y="97197"/>
                </a:lnTo>
                <a:lnTo>
                  <a:pt x="377251" y="93599"/>
                </a:lnTo>
                <a:lnTo>
                  <a:pt x="387864" y="90001"/>
                </a:lnTo>
                <a:lnTo>
                  <a:pt x="387864" y="86402"/>
                </a:lnTo>
                <a:lnTo>
                  <a:pt x="398497" y="82804"/>
                </a:lnTo>
                <a:lnTo>
                  <a:pt x="398497" y="79205"/>
                </a:lnTo>
                <a:lnTo>
                  <a:pt x="409111" y="75607"/>
                </a:lnTo>
                <a:lnTo>
                  <a:pt x="409111" y="72008"/>
                </a:lnTo>
                <a:lnTo>
                  <a:pt x="419744" y="68387"/>
                </a:lnTo>
                <a:lnTo>
                  <a:pt x="419744" y="64789"/>
                </a:lnTo>
                <a:lnTo>
                  <a:pt x="430384" y="61190"/>
                </a:lnTo>
                <a:lnTo>
                  <a:pt x="430384" y="57592"/>
                </a:lnTo>
                <a:lnTo>
                  <a:pt x="440998" y="53993"/>
                </a:lnTo>
                <a:lnTo>
                  <a:pt x="440998" y="50395"/>
                </a:lnTo>
                <a:lnTo>
                  <a:pt x="456950" y="45000"/>
                </a:lnTo>
                <a:lnTo>
                  <a:pt x="456950" y="41402"/>
                </a:lnTo>
                <a:lnTo>
                  <a:pt x="467564" y="37803"/>
                </a:lnTo>
                <a:lnTo>
                  <a:pt x="467564" y="34205"/>
                </a:lnTo>
                <a:lnTo>
                  <a:pt x="478197" y="30583"/>
                </a:lnTo>
                <a:lnTo>
                  <a:pt x="478197" y="28787"/>
                </a:lnTo>
                <a:lnTo>
                  <a:pt x="488811" y="25189"/>
                </a:lnTo>
                <a:lnTo>
                  <a:pt x="488811" y="21590"/>
                </a:lnTo>
                <a:lnTo>
                  <a:pt x="499443" y="17992"/>
                </a:lnTo>
                <a:lnTo>
                  <a:pt x="499443" y="16190"/>
                </a:lnTo>
                <a:lnTo>
                  <a:pt x="510083" y="12591"/>
                </a:lnTo>
                <a:lnTo>
                  <a:pt x="510083" y="8993"/>
                </a:lnTo>
                <a:lnTo>
                  <a:pt x="520697" y="5394"/>
                </a:lnTo>
                <a:lnTo>
                  <a:pt x="520697" y="3598"/>
                </a:lnTo>
                <a:lnTo>
                  <a:pt x="531330" y="0"/>
                </a:lnTo>
              </a:path>
            </a:pathLst>
          </a:custGeom>
          <a:ln w="14421">
            <a:solidFill>
              <a:srgbClr val="000000"/>
            </a:solidFill>
          </a:ln>
        </p:spPr>
        <p:txBody>
          <a:bodyPr wrap="square" lIns="0" tIns="0" rIns="0" bIns="0" rtlCol="0">
            <a:spAutoFit/>
          </a:bodyPr>
          <a:lstStyle/>
          <a:p>
            <a:endParaRPr/>
          </a:p>
        </p:txBody>
      </p:sp>
      <p:sp>
        <p:nvSpPr>
          <p:cNvPr id="13" name="object 13"/>
          <p:cNvSpPr/>
          <p:nvPr/>
        </p:nvSpPr>
        <p:spPr>
          <a:xfrm>
            <a:off x="4047578" y="3994767"/>
            <a:ext cx="238259" cy="64435"/>
          </a:xfrm>
          <a:custGeom>
            <a:avLst/>
            <a:gdLst/>
            <a:ahLst/>
            <a:cxnLst/>
            <a:rect l="l" t="t" r="r" b="b"/>
            <a:pathLst>
              <a:path w="201929" h="54610">
                <a:moveTo>
                  <a:pt x="5319" y="54022"/>
                </a:moveTo>
                <a:lnTo>
                  <a:pt x="0" y="54022"/>
                </a:lnTo>
                <a:lnTo>
                  <a:pt x="26566" y="54022"/>
                </a:lnTo>
                <a:lnTo>
                  <a:pt x="31886" y="52220"/>
                </a:lnTo>
                <a:lnTo>
                  <a:pt x="42519" y="52220"/>
                </a:lnTo>
                <a:lnTo>
                  <a:pt x="47839" y="50424"/>
                </a:lnTo>
                <a:lnTo>
                  <a:pt x="53133" y="50424"/>
                </a:lnTo>
                <a:lnTo>
                  <a:pt x="58452" y="48622"/>
                </a:lnTo>
                <a:lnTo>
                  <a:pt x="63766" y="48622"/>
                </a:lnTo>
                <a:lnTo>
                  <a:pt x="74406" y="45023"/>
                </a:lnTo>
                <a:lnTo>
                  <a:pt x="79699" y="45023"/>
                </a:lnTo>
                <a:lnTo>
                  <a:pt x="90332" y="41425"/>
                </a:lnTo>
                <a:lnTo>
                  <a:pt x="95652" y="39605"/>
                </a:lnTo>
                <a:lnTo>
                  <a:pt x="100973" y="39605"/>
                </a:lnTo>
                <a:lnTo>
                  <a:pt x="106266" y="37803"/>
                </a:lnTo>
                <a:lnTo>
                  <a:pt x="127539" y="30606"/>
                </a:lnTo>
                <a:lnTo>
                  <a:pt x="132832" y="28810"/>
                </a:lnTo>
                <a:lnTo>
                  <a:pt x="148786" y="23409"/>
                </a:lnTo>
                <a:lnTo>
                  <a:pt x="159399" y="19811"/>
                </a:lnTo>
                <a:lnTo>
                  <a:pt x="159399" y="18015"/>
                </a:lnTo>
                <a:lnTo>
                  <a:pt x="175352" y="12614"/>
                </a:lnTo>
                <a:lnTo>
                  <a:pt x="185965" y="9016"/>
                </a:lnTo>
                <a:lnTo>
                  <a:pt x="185965" y="7219"/>
                </a:lnTo>
                <a:lnTo>
                  <a:pt x="201918" y="1819"/>
                </a:lnTo>
                <a:lnTo>
                  <a:pt x="201918" y="0"/>
                </a:lnTo>
              </a:path>
            </a:pathLst>
          </a:custGeom>
          <a:ln w="13959">
            <a:solidFill>
              <a:srgbClr val="000000"/>
            </a:solidFill>
          </a:ln>
        </p:spPr>
        <p:txBody>
          <a:bodyPr wrap="square" lIns="0" tIns="0" rIns="0" bIns="0" rtlCol="0">
            <a:spAutoFit/>
          </a:bodyPr>
          <a:lstStyle/>
          <a:p>
            <a:endParaRPr/>
          </a:p>
        </p:txBody>
      </p:sp>
      <p:sp>
        <p:nvSpPr>
          <p:cNvPr id="14" name="object 14"/>
          <p:cNvSpPr/>
          <p:nvPr/>
        </p:nvSpPr>
        <p:spPr>
          <a:xfrm>
            <a:off x="4171152" y="939335"/>
            <a:ext cx="2721250" cy="1858871"/>
          </a:xfrm>
          <a:custGeom>
            <a:avLst/>
            <a:gdLst/>
            <a:ahLst/>
            <a:cxnLst/>
            <a:rect l="l" t="t" r="r" b="b"/>
            <a:pathLst>
              <a:path w="2306320" h="1575435">
                <a:moveTo>
                  <a:pt x="0" y="1575239"/>
                </a:moveTo>
                <a:lnTo>
                  <a:pt x="0" y="0"/>
                </a:lnTo>
                <a:lnTo>
                  <a:pt x="2305973" y="0"/>
                </a:lnTo>
                <a:lnTo>
                  <a:pt x="2305973" y="1575239"/>
                </a:lnTo>
                <a:lnTo>
                  <a:pt x="0" y="1575239"/>
                </a:lnTo>
              </a:path>
            </a:pathLst>
          </a:custGeom>
          <a:ln w="3175">
            <a:solidFill>
              <a:srgbClr val="FFFFFF"/>
            </a:solidFill>
          </a:ln>
        </p:spPr>
        <p:txBody>
          <a:bodyPr wrap="square" lIns="0" tIns="0" rIns="0" bIns="0" rtlCol="0">
            <a:spAutoFit/>
          </a:bodyPr>
          <a:lstStyle/>
          <a:p>
            <a:endParaRPr/>
          </a:p>
        </p:txBody>
      </p:sp>
      <p:sp>
        <p:nvSpPr>
          <p:cNvPr id="15" name="object 15"/>
          <p:cNvSpPr/>
          <p:nvPr/>
        </p:nvSpPr>
        <p:spPr>
          <a:xfrm>
            <a:off x="6293291" y="5768518"/>
            <a:ext cx="470524" cy="434561"/>
          </a:xfrm>
          <a:custGeom>
            <a:avLst/>
            <a:gdLst/>
            <a:ahLst/>
            <a:cxnLst/>
            <a:rect l="l" t="t" r="r" b="b"/>
            <a:pathLst>
              <a:path w="398779" h="368300">
                <a:moveTo>
                  <a:pt x="0" y="367892"/>
                </a:moveTo>
                <a:lnTo>
                  <a:pt x="5319" y="365462"/>
                </a:lnTo>
                <a:lnTo>
                  <a:pt x="10639" y="365462"/>
                </a:lnTo>
                <a:lnTo>
                  <a:pt x="15953" y="363015"/>
                </a:lnTo>
                <a:lnTo>
                  <a:pt x="21245" y="360586"/>
                </a:lnTo>
                <a:lnTo>
                  <a:pt x="26565" y="358156"/>
                </a:lnTo>
                <a:lnTo>
                  <a:pt x="31886" y="358156"/>
                </a:lnTo>
                <a:lnTo>
                  <a:pt x="37205" y="355703"/>
                </a:lnTo>
                <a:lnTo>
                  <a:pt x="42519" y="353274"/>
                </a:lnTo>
                <a:lnTo>
                  <a:pt x="47812" y="350844"/>
                </a:lnTo>
                <a:lnTo>
                  <a:pt x="53132" y="348391"/>
                </a:lnTo>
                <a:lnTo>
                  <a:pt x="63772" y="343538"/>
                </a:lnTo>
                <a:lnTo>
                  <a:pt x="69085" y="341085"/>
                </a:lnTo>
                <a:lnTo>
                  <a:pt x="74378" y="338655"/>
                </a:lnTo>
                <a:lnTo>
                  <a:pt x="79698" y="336226"/>
                </a:lnTo>
                <a:lnTo>
                  <a:pt x="85019" y="333773"/>
                </a:lnTo>
                <a:lnTo>
                  <a:pt x="95652" y="328919"/>
                </a:lnTo>
                <a:lnTo>
                  <a:pt x="100946" y="326467"/>
                </a:lnTo>
                <a:lnTo>
                  <a:pt x="111586" y="321607"/>
                </a:lnTo>
                <a:lnTo>
                  <a:pt x="111586" y="319155"/>
                </a:lnTo>
                <a:lnTo>
                  <a:pt x="116905" y="316725"/>
                </a:lnTo>
                <a:lnTo>
                  <a:pt x="127511" y="311848"/>
                </a:lnTo>
                <a:lnTo>
                  <a:pt x="127511" y="309419"/>
                </a:lnTo>
                <a:lnTo>
                  <a:pt x="132832" y="306989"/>
                </a:lnTo>
                <a:lnTo>
                  <a:pt x="143472" y="302107"/>
                </a:lnTo>
                <a:lnTo>
                  <a:pt x="143472" y="297230"/>
                </a:lnTo>
                <a:lnTo>
                  <a:pt x="148785" y="294800"/>
                </a:lnTo>
                <a:lnTo>
                  <a:pt x="159398" y="289918"/>
                </a:lnTo>
                <a:lnTo>
                  <a:pt x="159398" y="287488"/>
                </a:lnTo>
                <a:lnTo>
                  <a:pt x="170038" y="282612"/>
                </a:lnTo>
                <a:lnTo>
                  <a:pt x="170038" y="277753"/>
                </a:lnTo>
                <a:lnTo>
                  <a:pt x="180645" y="272870"/>
                </a:lnTo>
                <a:lnTo>
                  <a:pt x="180645" y="270441"/>
                </a:lnTo>
                <a:lnTo>
                  <a:pt x="191285" y="265564"/>
                </a:lnTo>
                <a:lnTo>
                  <a:pt x="191285" y="260681"/>
                </a:lnTo>
                <a:lnTo>
                  <a:pt x="201918" y="255822"/>
                </a:lnTo>
                <a:lnTo>
                  <a:pt x="201918" y="250946"/>
                </a:lnTo>
                <a:lnTo>
                  <a:pt x="212531" y="246063"/>
                </a:lnTo>
                <a:lnTo>
                  <a:pt x="212531" y="241204"/>
                </a:lnTo>
                <a:lnTo>
                  <a:pt x="217852" y="238757"/>
                </a:lnTo>
                <a:lnTo>
                  <a:pt x="217852" y="236327"/>
                </a:lnTo>
                <a:lnTo>
                  <a:pt x="223172" y="233898"/>
                </a:lnTo>
                <a:lnTo>
                  <a:pt x="223172" y="229015"/>
                </a:lnTo>
                <a:lnTo>
                  <a:pt x="233778" y="224133"/>
                </a:lnTo>
                <a:lnTo>
                  <a:pt x="233778" y="219279"/>
                </a:lnTo>
                <a:lnTo>
                  <a:pt x="244418" y="214397"/>
                </a:lnTo>
                <a:lnTo>
                  <a:pt x="244418" y="207091"/>
                </a:lnTo>
                <a:lnTo>
                  <a:pt x="255051" y="202209"/>
                </a:lnTo>
                <a:lnTo>
                  <a:pt x="255051" y="194896"/>
                </a:lnTo>
                <a:lnTo>
                  <a:pt x="265665" y="190043"/>
                </a:lnTo>
                <a:lnTo>
                  <a:pt x="265665" y="182731"/>
                </a:lnTo>
                <a:lnTo>
                  <a:pt x="276305" y="177848"/>
                </a:lnTo>
                <a:lnTo>
                  <a:pt x="276305" y="170542"/>
                </a:lnTo>
                <a:lnTo>
                  <a:pt x="281618" y="168113"/>
                </a:lnTo>
                <a:lnTo>
                  <a:pt x="281618" y="165660"/>
                </a:lnTo>
                <a:lnTo>
                  <a:pt x="286911" y="163230"/>
                </a:lnTo>
                <a:lnTo>
                  <a:pt x="286911" y="158354"/>
                </a:lnTo>
                <a:lnTo>
                  <a:pt x="292231" y="155924"/>
                </a:lnTo>
                <a:lnTo>
                  <a:pt x="292231" y="151042"/>
                </a:lnTo>
                <a:lnTo>
                  <a:pt x="297551" y="148612"/>
                </a:lnTo>
                <a:lnTo>
                  <a:pt x="297551" y="143735"/>
                </a:lnTo>
                <a:lnTo>
                  <a:pt x="302870" y="141306"/>
                </a:lnTo>
                <a:lnTo>
                  <a:pt x="302870" y="136423"/>
                </a:lnTo>
                <a:lnTo>
                  <a:pt x="308184" y="133994"/>
                </a:lnTo>
                <a:lnTo>
                  <a:pt x="308184" y="131564"/>
                </a:lnTo>
                <a:lnTo>
                  <a:pt x="313477" y="129117"/>
                </a:lnTo>
                <a:lnTo>
                  <a:pt x="313477" y="124258"/>
                </a:lnTo>
                <a:lnTo>
                  <a:pt x="318797" y="121805"/>
                </a:lnTo>
                <a:lnTo>
                  <a:pt x="318797" y="116946"/>
                </a:lnTo>
                <a:lnTo>
                  <a:pt x="324118" y="114493"/>
                </a:lnTo>
                <a:lnTo>
                  <a:pt x="324118" y="109639"/>
                </a:lnTo>
                <a:lnTo>
                  <a:pt x="329438" y="107187"/>
                </a:lnTo>
                <a:lnTo>
                  <a:pt x="329438" y="102327"/>
                </a:lnTo>
                <a:lnTo>
                  <a:pt x="334750" y="99875"/>
                </a:lnTo>
                <a:lnTo>
                  <a:pt x="334750" y="92568"/>
                </a:lnTo>
                <a:lnTo>
                  <a:pt x="340044" y="90139"/>
                </a:lnTo>
                <a:lnTo>
                  <a:pt x="340044" y="85256"/>
                </a:lnTo>
                <a:lnTo>
                  <a:pt x="345364" y="82827"/>
                </a:lnTo>
                <a:lnTo>
                  <a:pt x="345364" y="77950"/>
                </a:lnTo>
                <a:lnTo>
                  <a:pt x="350684" y="75521"/>
                </a:lnTo>
                <a:lnTo>
                  <a:pt x="350684" y="70638"/>
                </a:lnTo>
                <a:lnTo>
                  <a:pt x="356004" y="68209"/>
                </a:lnTo>
                <a:lnTo>
                  <a:pt x="356004" y="60902"/>
                </a:lnTo>
                <a:lnTo>
                  <a:pt x="361317" y="58473"/>
                </a:lnTo>
                <a:lnTo>
                  <a:pt x="361317" y="53590"/>
                </a:lnTo>
                <a:lnTo>
                  <a:pt x="366611" y="51161"/>
                </a:lnTo>
                <a:lnTo>
                  <a:pt x="366611" y="46284"/>
                </a:lnTo>
                <a:lnTo>
                  <a:pt x="371930" y="43854"/>
                </a:lnTo>
                <a:lnTo>
                  <a:pt x="371930" y="36542"/>
                </a:lnTo>
                <a:lnTo>
                  <a:pt x="377251" y="34095"/>
                </a:lnTo>
                <a:lnTo>
                  <a:pt x="377251" y="29236"/>
                </a:lnTo>
                <a:lnTo>
                  <a:pt x="382571" y="26783"/>
                </a:lnTo>
                <a:lnTo>
                  <a:pt x="382571" y="19477"/>
                </a:lnTo>
                <a:lnTo>
                  <a:pt x="387883" y="17047"/>
                </a:lnTo>
                <a:lnTo>
                  <a:pt x="387883" y="9735"/>
                </a:lnTo>
                <a:lnTo>
                  <a:pt x="393177" y="7306"/>
                </a:lnTo>
                <a:lnTo>
                  <a:pt x="393177" y="2429"/>
                </a:lnTo>
                <a:lnTo>
                  <a:pt x="398497" y="0"/>
                </a:lnTo>
              </a:path>
            </a:pathLst>
          </a:custGeom>
          <a:ln w="14794">
            <a:solidFill>
              <a:srgbClr val="000000"/>
            </a:solidFill>
          </a:ln>
        </p:spPr>
        <p:txBody>
          <a:bodyPr wrap="square" lIns="0" tIns="0" rIns="0" bIns="0" rtlCol="0">
            <a:spAutoFit/>
          </a:bodyPr>
          <a:lstStyle/>
          <a:p>
            <a:endParaRPr/>
          </a:p>
        </p:txBody>
      </p:sp>
      <p:sp>
        <p:nvSpPr>
          <p:cNvPr id="16" name="object 16"/>
          <p:cNvSpPr/>
          <p:nvPr/>
        </p:nvSpPr>
        <p:spPr>
          <a:xfrm>
            <a:off x="5678924" y="5995611"/>
            <a:ext cx="614379" cy="221776"/>
          </a:xfrm>
          <a:custGeom>
            <a:avLst/>
            <a:gdLst/>
            <a:ahLst/>
            <a:cxnLst/>
            <a:rect l="l" t="t" r="r" b="b"/>
            <a:pathLst>
              <a:path w="520700" h="187960">
                <a:moveTo>
                  <a:pt x="0" y="0"/>
                </a:moveTo>
                <a:lnTo>
                  <a:pt x="0" y="2429"/>
                </a:lnTo>
                <a:lnTo>
                  <a:pt x="10606" y="7312"/>
                </a:lnTo>
                <a:lnTo>
                  <a:pt x="10606" y="12194"/>
                </a:lnTo>
                <a:lnTo>
                  <a:pt x="15925" y="14624"/>
                </a:lnTo>
                <a:lnTo>
                  <a:pt x="26565" y="19500"/>
                </a:lnTo>
                <a:lnTo>
                  <a:pt x="26565" y="21930"/>
                </a:lnTo>
                <a:lnTo>
                  <a:pt x="37172" y="26812"/>
                </a:lnTo>
                <a:lnTo>
                  <a:pt x="37172" y="29242"/>
                </a:lnTo>
                <a:lnTo>
                  <a:pt x="47813" y="34118"/>
                </a:lnTo>
                <a:lnTo>
                  <a:pt x="47813" y="38978"/>
                </a:lnTo>
                <a:lnTo>
                  <a:pt x="53133" y="41430"/>
                </a:lnTo>
                <a:lnTo>
                  <a:pt x="63739" y="46290"/>
                </a:lnTo>
                <a:lnTo>
                  <a:pt x="63739" y="48737"/>
                </a:lnTo>
                <a:lnTo>
                  <a:pt x="69059" y="51166"/>
                </a:lnTo>
                <a:lnTo>
                  <a:pt x="79699" y="56049"/>
                </a:lnTo>
                <a:lnTo>
                  <a:pt x="79699" y="58478"/>
                </a:lnTo>
                <a:lnTo>
                  <a:pt x="90306" y="63355"/>
                </a:lnTo>
                <a:lnTo>
                  <a:pt x="90306" y="65785"/>
                </a:lnTo>
                <a:lnTo>
                  <a:pt x="100946" y="70667"/>
                </a:lnTo>
                <a:lnTo>
                  <a:pt x="100946" y="73097"/>
                </a:lnTo>
                <a:lnTo>
                  <a:pt x="106266" y="75526"/>
                </a:lnTo>
                <a:lnTo>
                  <a:pt x="116872" y="80403"/>
                </a:lnTo>
                <a:lnTo>
                  <a:pt x="116872" y="82833"/>
                </a:lnTo>
                <a:lnTo>
                  <a:pt x="122192" y="85285"/>
                </a:lnTo>
                <a:lnTo>
                  <a:pt x="132832" y="90145"/>
                </a:lnTo>
                <a:lnTo>
                  <a:pt x="132832" y="92592"/>
                </a:lnTo>
                <a:lnTo>
                  <a:pt x="138145" y="95021"/>
                </a:lnTo>
                <a:lnTo>
                  <a:pt x="143438" y="97451"/>
                </a:lnTo>
                <a:lnTo>
                  <a:pt x="154079" y="102333"/>
                </a:lnTo>
                <a:lnTo>
                  <a:pt x="154079" y="104763"/>
                </a:lnTo>
                <a:lnTo>
                  <a:pt x="159398" y="107216"/>
                </a:lnTo>
                <a:lnTo>
                  <a:pt x="164711" y="109639"/>
                </a:lnTo>
                <a:lnTo>
                  <a:pt x="170005" y="112069"/>
                </a:lnTo>
                <a:lnTo>
                  <a:pt x="180645" y="116952"/>
                </a:lnTo>
                <a:lnTo>
                  <a:pt x="180645" y="119381"/>
                </a:lnTo>
                <a:lnTo>
                  <a:pt x="185965" y="121834"/>
                </a:lnTo>
                <a:lnTo>
                  <a:pt x="191278" y="124258"/>
                </a:lnTo>
                <a:lnTo>
                  <a:pt x="196571" y="126687"/>
                </a:lnTo>
                <a:lnTo>
                  <a:pt x="201891" y="129140"/>
                </a:lnTo>
                <a:lnTo>
                  <a:pt x="212532" y="133999"/>
                </a:lnTo>
                <a:lnTo>
                  <a:pt x="217844" y="136452"/>
                </a:lnTo>
                <a:lnTo>
                  <a:pt x="223138" y="138882"/>
                </a:lnTo>
                <a:lnTo>
                  <a:pt x="228458" y="141306"/>
                </a:lnTo>
                <a:lnTo>
                  <a:pt x="233778" y="143758"/>
                </a:lnTo>
                <a:lnTo>
                  <a:pt x="244411" y="148618"/>
                </a:lnTo>
                <a:lnTo>
                  <a:pt x="249704" y="151070"/>
                </a:lnTo>
                <a:lnTo>
                  <a:pt x="255025" y="151070"/>
                </a:lnTo>
                <a:lnTo>
                  <a:pt x="265665" y="155924"/>
                </a:lnTo>
                <a:lnTo>
                  <a:pt x="270978" y="158377"/>
                </a:lnTo>
                <a:lnTo>
                  <a:pt x="276271" y="160806"/>
                </a:lnTo>
                <a:lnTo>
                  <a:pt x="281591" y="160806"/>
                </a:lnTo>
                <a:lnTo>
                  <a:pt x="286911" y="163236"/>
                </a:lnTo>
                <a:lnTo>
                  <a:pt x="292231" y="165689"/>
                </a:lnTo>
                <a:lnTo>
                  <a:pt x="297544" y="165689"/>
                </a:lnTo>
                <a:lnTo>
                  <a:pt x="302837" y="168118"/>
                </a:lnTo>
                <a:lnTo>
                  <a:pt x="308157" y="170548"/>
                </a:lnTo>
                <a:lnTo>
                  <a:pt x="313478" y="170548"/>
                </a:lnTo>
                <a:lnTo>
                  <a:pt x="318798" y="172995"/>
                </a:lnTo>
                <a:lnTo>
                  <a:pt x="324110" y="172995"/>
                </a:lnTo>
                <a:lnTo>
                  <a:pt x="329404" y="175425"/>
                </a:lnTo>
                <a:lnTo>
                  <a:pt x="334724" y="175425"/>
                </a:lnTo>
                <a:lnTo>
                  <a:pt x="340044" y="177854"/>
                </a:lnTo>
                <a:lnTo>
                  <a:pt x="345364" y="177854"/>
                </a:lnTo>
                <a:lnTo>
                  <a:pt x="350677" y="180307"/>
                </a:lnTo>
                <a:lnTo>
                  <a:pt x="361290" y="180307"/>
                </a:lnTo>
                <a:lnTo>
                  <a:pt x="366611" y="182737"/>
                </a:lnTo>
                <a:lnTo>
                  <a:pt x="377244" y="182737"/>
                </a:lnTo>
                <a:lnTo>
                  <a:pt x="382537" y="185166"/>
                </a:lnTo>
                <a:lnTo>
                  <a:pt x="409103" y="185166"/>
                </a:lnTo>
                <a:lnTo>
                  <a:pt x="414423" y="187613"/>
                </a:lnTo>
                <a:lnTo>
                  <a:pt x="435670" y="187613"/>
                </a:lnTo>
                <a:lnTo>
                  <a:pt x="440990" y="185166"/>
                </a:lnTo>
                <a:lnTo>
                  <a:pt x="467556" y="185166"/>
                </a:lnTo>
                <a:lnTo>
                  <a:pt x="472877" y="182737"/>
                </a:lnTo>
                <a:lnTo>
                  <a:pt x="483509" y="182737"/>
                </a:lnTo>
                <a:lnTo>
                  <a:pt x="488804" y="180307"/>
                </a:lnTo>
                <a:lnTo>
                  <a:pt x="499443" y="180307"/>
                </a:lnTo>
                <a:lnTo>
                  <a:pt x="504763" y="177854"/>
                </a:lnTo>
                <a:lnTo>
                  <a:pt x="510077" y="177854"/>
                </a:lnTo>
                <a:lnTo>
                  <a:pt x="515369" y="175425"/>
                </a:lnTo>
                <a:lnTo>
                  <a:pt x="520690" y="175425"/>
                </a:lnTo>
              </a:path>
            </a:pathLst>
          </a:custGeom>
          <a:ln w="14061">
            <a:solidFill>
              <a:srgbClr val="000000"/>
            </a:solidFill>
          </a:ln>
        </p:spPr>
        <p:txBody>
          <a:bodyPr wrap="square" lIns="0" tIns="0" rIns="0" bIns="0" rtlCol="0">
            <a:spAutoFit/>
          </a:bodyPr>
          <a:lstStyle/>
          <a:p>
            <a:endParaRPr/>
          </a:p>
        </p:txBody>
      </p:sp>
      <p:sp>
        <p:nvSpPr>
          <p:cNvPr id="17" name="object 17"/>
          <p:cNvSpPr/>
          <p:nvPr/>
        </p:nvSpPr>
        <p:spPr>
          <a:xfrm>
            <a:off x="5058270" y="5495406"/>
            <a:ext cx="621122" cy="500494"/>
          </a:xfrm>
          <a:custGeom>
            <a:avLst/>
            <a:gdLst/>
            <a:ahLst/>
            <a:cxnLst/>
            <a:rect l="l" t="t" r="r" b="b"/>
            <a:pathLst>
              <a:path w="526414" h="424179">
                <a:moveTo>
                  <a:pt x="0" y="0"/>
                </a:moveTo>
                <a:lnTo>
                  <a:pt x="0" y="2446"/>
                </a:lnTo>
                <a:lnTo>
                  <a:pt x="10613" y="7306"/>
                </a:lnTo>
                <a:lnTo>
                  <a:pt x="10613" y="9758"/>
                </a:lnTo>
                <a:lnTo>
                  <a:pt x="21253" y="14618"/>
                </a:lnTo>
                <a:lnTo>
                  <a:pt x="21253" y="19494"/>
                </a:lnTo>
                <a:lnTo>
                  <a:pt x="26566" y="21924"/>
                </a:lnTo>
                <a:lnTo>
                  <a:pt x="37179" y="26806"/>
                </a:lnTo>
                <a:lnTo>
                  <a:pt x="37179" y="29236"/>
                </a:lnTo>
                <a:lnTo>
                  <a:pt x="47820" y="34113"/>
                </a:lnTo>
                <a:lnTo>
                  <a:pt x="47820" y="38995"/>
                </a:lnTo>
                <a:lnTo>
                  <a:pt x="53133" y="41425"/>
                </a:lnTo>
                <a:lnTo>
                  <a:pt x="63746" y="46284"/>
                </a:lnTo>
                <a:lnTo>
                  <a:pt x="63746" y="48731"/>
                </a:lnTo>
                <a:lnTo>
                  <a:pt x="74386" y="53590"/>
                </a:lnTo>
                <a:lnTo>
                  <a:pt x="74386" y="58473"/>
                </a:lnTo>
                <a:lnTo>
                  <a:pt x="79699" y="60902"/>
                </a:lnTo>
                <a:lnTo>
                  <a:pt x="90313" y="65779"/>
                </a:lnTo>
                <a:lnTo>
                  <a:pt x="90313" y="70661"/>
                </a:lnTo>
                <a:lnTo>
                  <a:pt x="95632" y="73091"/>
                </a:lnTo>
                <a:lnTo>
                  <a:pt x="106266" y="77973"/>
                </a:lnTo>
                <a:lnTo>
                  <a:pt x="106266" y="82827"/>
                </a:lnTo>
                <a:lnTo>
                  <a:pt x="116879" y="87709"/>
                </a:lnTo>
                <a:lnTo>
                  <a:pt x="116879" y="90139"/>
                </a:lnTo>
                <a:lnTo>
                  <a:pt x="127519" y="95021"/>
                </a:lnTo>
                <a:lnTo>
                  <a:pt x="127519" y="99898"/>
                </a:lnTo>
                <a:lnTo>
                  <a:pt x="138125" y="104757"/>
                </a:lnTo>
                <a:lnTo>
                  <a:pt x="138125" y="107210"/>
                </a:lnTo>
                <a:lnTo>
                  <a:pt x="148766" y="112063"/>
                </a:lnTo>
                <a:lnTo>
                  <a:pt x="148766" y="116946"/>
                </a:lnTo>
                <a:lnTo>
                  <a:pt x="159399" y="121828"/>
                </a:lnTo>
                <a:lnTo>
                  <a:pt x="159399" y="124258"/>
                </a:lnTo>
                <a:lnTo>
                  <a:pt x="170012" y="129134"/>
                </a:lnTo>
                <a:lnTo>
                  <a:pt x="170012" y="133994"/>
                </a:lnTo>
                <a:lnTo>
                  <a:pt x="180652" y="138876"/>
                </a:lnTo>
                <a:lnTo>
                  <a:pt x="180652" y="143753"/>
                </a:lnTo>
                <a:lnTo>
                  <a:pt x="185965" y="146182"/>
                </a:lnTo>
                <a:lnTo>
                  <a:pt x="196578" y="151065"/>
                </a:lnTo>
                <a:lnTo>
                  <a:pt x="196578" y="155924"/>
                </a:lnTo>
                <a:lnTo>
                  <a:pt x="207219" y="160801"/>
                </a:lnTo>
                <a:lnTo>
                  <a:pt x="207219" y="165683"/>
                </a:lnTo>
                <a:lnTo>
                  <a:pt x="217826" y="170542"/>
                </a:lnTo>
                <a:lnTo>
                  <a:pt x="217826" y="172989"/>
                </a:lnTo>
                <a:lnTo>
                  <a:pt x="228465" y="177848"/>
                </a:lnTo>
                <a:lnTo>
                  <a:pt x="228465" y="182731"/>
                </a:lnTo>
                <a:lnTo>
                  <a:pt x="239099" y="187613"/>
                </a:lnTo>
                <a:lnTo>
                  <a:pt x="239099" y="192467"/>
                </a:lnTo>
                <a:lnTo>
                  <a:pt x="249712" y="197349"/>
                </a:lnTo>
                <a:lnTo>
                  <a:pt x="249712" y="199779"/>
                </a:lnTo>
                <a:lnTo>
                  <a:pt x="260351" y="204655"/>
                </a:lnTo>
                <a:lnTo>
                  <a:pt x="260351" y="209538"/>
                </a:lnTo>
                <a:lnTo>
                  <a:pt x="270958" y="214397"/>
                </a:lnTo>
                <a:lnTo>
                  <a:pt x="270958" y="219279"/>
                </a:lnTo>
                <a:lnTo>
                  <a:pt x="281599" y="224156"/>
                </a:lnTo>
                <a:lnTo>
                  <a:pt x="281599" y="229015"/>
                </a:lnTo>
                <a:lnTo>
                  <a:pt x="286918" y="231468"/>
                </a:lnTo>
                <a:lnTo>
                  <a:pt x="297525" y="236322"/>
                </a:lnTo>
                <a:lnTo>
                  <a:pt x="297525" y="241204"/>
                </a:lnTo>
                <a:lnTo>
                  <a:pt x="308165" y="246086"/>
                </a:lnTo>
                <a:lnTo>
                  <a:pt x="308165" y="250946"/>
                </a:lnTo>
                <a:lnTo>
                  <a:pt x="318798" y="255822"/>
                </a:lnTo>
                <a:lnTo>
                  <a:pt x="318798" y="260705"/>
                </a:lnTo>
                <a:lnTo>
                  <a:pt x="324091" y="263134"/>
                </a:lnTo>
                <a:lnTo>
                  <a:pt x="334732" y="268011"/>
                </a:lnTo>
                <a:lnTo>
                  <a:pt x="334732" y="272870"/>
                </a:lnTo>
                <a:lnTo>
                  <a:pt x="345364" y="277752"/>
                </a:lnTo>
                <a:lnTo>
                  <a:pt x="345364" y="282629"/>
                </a:lnTo>
                <a:lnTo>
                  <a:pt x="355978" y="287488"/>
                </a:lnTo>
                <a:lnTo>
                  <a:pt x="355978" y="292371"/>
                </a:lnTo>
                <a:lnTo>
                  <a:pt x="361298" y="294800"/>
                </a:lnTo>
                <a:lnTo>
                  <a:pt x="371931" y="299677"/>
                </a:lnTo>
                <a:lnTo>
                  <a:pt x="371931" y="304559"/>
                </a:lnTo>
                <a:lnTo>
                  <a:pt x="382545" y="309419"/>
                </a:lnTo>
                <a:lnTo>
                  <a:pt x="382545" y="314295"/>
                </a:lnTo>
                <a:lnTo>
                  <a:pt x="387864" y="316725"/>
                </a:lnTo>
                <a:lnTo>
                  <a:pt x="398497" y="321607"/>
                </a:lnTo>
                <a:lnTo>
                  <a:pt x="398497" y="326490"/>
                </a:lnTo>
                <a:lnTo>
                  <a:pt x="409111" y="331343"/>
                </a:lnTo>
                <a:lnTo>
                  <a:pt x="409111" y="336226"/>
                </a:lnTo>
                <a:lnTo>
                  <a:pt x="414431" y="338655"/>
                </a:lnTo>
                <a:lnTo>
                  <a:pt x="425064" y="343538"/>
                </a:lnTo>
                <a:lnTo>
                  <a:pt x="425064" y="348414"/>
                </a:lnTo>
                <a:lnTo>
                  <a:pt x="435677" y="353274"/>
                </a:lnTo>
                <a:lnTo>
                  <a:pt x="435677" y="358156"/>
                </a:lnTo>
                <a:lnTo>
                  <a:pt x="440998" y="360586"/>
                </a:lnTo>
                <a:lnTo>
                  <a:pt x="451630" y="365462"/>
                </a:lnTo>
                <a:lnTo>
                  <a:pt x="451630" y="370344"/>
                </a:lnTo>
                <a:lnTo>
                  <a:pt x="462244" y="375204"/>
                </a:lnTo>
                <a:lnTo>
                  <a:pt x="462244" y="377651"/>
                </a:lnTo>
                <a:lnTo>
                  <a:pt x="472884" y="382510"/>
                </a:lnTo>
                <a:lnTo>
                  <a:pt x="472884" y="387392"/>
                </a:lnTo>
                <a:lnTo>
                  <a:pt x="478197" y="389822"/>
                </a:lnTo>
                <a:lnTo>
                  <a:pt x="488810" y="394699"/>
                </a:lnTo>
                <a:lnTo>
                  <a:pt x="488810" y="399581"/>
                </a:lnTo>
                <a:lnTo>
                  <a:pt x="499451" y="404440"/>
                </a:lnTo>
                <a:lnTo>
                  <a:pt x="499451" y="406893"/>
                </a:lnTo>
                <a:lnTo>
                  <a:pt x="510057" y="411747"/>
                </a:lnTo>
                <a:lnTo>
                  <a:pt x="510057" y="416629"/>
                </a:lnTo>
                <a:lnTo>
                  <a:pt x="515377" y="419059"/>
                </a:lnTo>
                <a:lnTo>
                  <a:pt x="526017" y="423935"/>
                </a:lnTo>
              </a:path>
            </a:pathLst>
          </a:custGeom>
          <a:ln w="14653">
            <a:solidFill>
              <a:srgbClr val="000000"/>
            </a:solidFill>
          </a:ln>
        </p:spPr>
        <p:txBody>
          <a:bodyPr wrap="square" lIns="0" tIns="0" rIns="0" bIns="0" rtlCol="0">
            <a:spAutoFit/>
          </a:bodyPr>
          <a:lstStyle/>
          <a:p>
            <a:endParaRPr/>
          </a:p>
        </p:txBody>
      </p:sp>
      <p:sp>
        <p:nvSpPr>
          <p:cNvPr id="18" name="object 18"/>
          <p:cNvSpPr/>
          <p:nvPr/>
        </p:nvSpPr>
        <p:spPr>
          <a:xfrm>
            <a:off x="4431347" y="5322916"/>
            <a:ext cx="627116" cy="173075"/>
          </a:xfrm>
          <a:custGeom>
            <a:avLst/>
            <a:gdLst/>
            <a:ahLst/>
            <a:cxnLst/>
            <a:rect l="l" t="t" r="r" b="b"/>
            <a:pathLst>
              <a:path w="531495" h="146685">
                <a:moveTo>
                  <a:pt x="0" y="34118"/>
                </a:moveTo>
                <a:lnTo>
                  <a:pt x="5293" y="31689"/>
                </a:lnTo>
                <a:lnTo>
                  <a:pt x="10613" y="29236"/>
                </a:lnTo>
                <a:lnTo>
                  <a:pt x="21253" y="24377"/>
                </a:lnTo>
                <a:lnTo>
                  <a:pt x="26566" y="21930"/>
                </a:lnTo>
                <a:lnTo>
                  <a:pt x="31860" y="21930"/>
                </a:lnTo>
                <a:lnTo>
                  <a:pt x="42499" y="17070"/>
                </a:lnTo>
                <a:lnTo>
                  <a:pt x="47820" y="17070"/>
                </a:lnTo>
                <a:lnTo>
                  <a:pt x="53133" y="14618"/>
                </a:lnTo>
                <a:lnTo>
                  <a:pt x="58427" y="12188"/>
                </a:lnTo>
                <a:lnTo>
                  <a:pt x="63746" y="12188"/>
                </a:lnTo>
                <a:lnTo>
                  <a:pt x="69066" y="9758"/>
                </a:lnTo>
                <a:lnTo>
                  <a:pt x="74386" y="9758"/>
                </a:lnTo>
                <a:lnTo>
                  <a:pt x="79700" y="7312"/>
                </a:lnTo>
                <a:lnTo>
                  <a:pt x="90312" y="7312"/>
                </a:lnTo>
                <a:lnTo>
                  <a:pt x="95632" y="4882"/>
                </a:lnTo>
                <a:lnTo>
                  <a:pt x="106266" y="4882"/>
                </a:lnTo>
                <a:lnTo>
                  <a:pt x="111559" y="2452"/>
                </a:lnTo>
                <a:lnTo>
                  <a:pt x="138125" y="2452"/>
                </a:lnTo>
                <a:lnTo>
                  <a:pt x="143445" y="0"/>
                </a:lnTo>
                <a:lnTo>
                  <a:pt x="164692" y="0"/>
                </a:lnTo>
                <a:lnTo>
                  <a:pt x="170012" y="2452"/>
                </a:lnTo>
                <a:lnTo>
                  <a:pt x="196578" y="2452"/>
                </a:lnTo>
                <a:lnTo>
                  <a:pt x="201898" y="4882"/>
                </a:lnTo>
                <a:lnTo>
                  <a:pt x="212532" y="4882"/>
                </a:lnTo>
                <a:lnTo>
                  <a:pt x="217825" y="7312"/>
                </a:lnTo>
                <a:lnTo>
                  <a:pt x="228465" y="7312"/>
                </a:lnTo>
                <a:lnTo>
                  <a:pt x="233785" y="9758"/>
                </a:lnTo>
                <a:lnTo>
                  <a:pt x="239099" y="9758"/>
                </a:lnTo>
                <a:lnTo>
                  <a:pt x="244392" y="12188"/>
                </a:lnTo>
                <a:lnTo>
                  <a:pt x="249712" y="12188"/>
                </a:lnTo>
                <a:lnTo>
                  <a:pt x="255031" y="14618"/>
                </a:lnTo>
                <a:lnTo>
                  <a:pt x="260351" y="14618"/>
                </a:lnTo>
                <a:lnTo>
                  <a:pt x="265665" y="17070"/>
                </a:lnTo>
                <a:lnTo>
                  <a:pt x="270958" y="17070"/>
                </a:lnTo>
                <a:lnTo>
                  <a:pt x="281598" y="21930"/>
                </a:lnTo>
                <a:lnTo>
                  <a:pt x="286919" y="21930"/>
                </a:lnTo>
                <a:lnTo>
                  <a:pt x="292231" y="24377"/>
                </a:lnTo>
                <a:lnTo>
                  <a:pt x="297525" y="26806"/>
                </a:lnTo>
                <a:lnTo>
                  <a:pt x="302845" y="26806"/>
                </a:lnTo>
                <a:lnTo>
                  <a:pt x="308164" y="29236"/>
                </a:lnTo>
                <a:lnTo>
                  <a:pt x="313485" y="31689"/>
                </a:lnTo>
                <a:lnTo>
                  <a:pt x="318798" y="34118"/>
                </a:lnTo>
                <a:lnTo>
                  <a:pt x="324092" y="36548"/>
                </a:lnTo>
                <a:lnTo>
                  <a:pt x="329411" y="36548"/>
                </a:lnTo>
                <a:lnTo>
                  <a:pt x="334731" y="38995"/>
                </a:lnTo>
                <a:lnTo>
                  <a:pt x="345364" y="43854"/>
                </a:lnTo>
                <a:lnTo>
                  <a:pt x="350658" y="46307"/>
                </a:lnTo>
                <a:lnTo>
                  <a:pt x="361298" y="51166"/>
                </a:lnTo>
                <a:lnTo>
                  <a:pt x="366618" y="53619"/>
                </a:lnTo>
                <a:lnTo>
                  <a:pt x="371931" y="56043"/>
                </a:lnTo>
                <a:lnTo>
                  <a:pt x="377224" y="58473"/>
                </a:lnTo>
                <a:lnTo>
                  <a:pt x="382544" y="60925"/>
                </a:lnTo>
                <a:lnTo>
                  <a:pt x="393184" y="65785"/>
                </a:lnTo>
                <a:lnTo>
                  <a:pt x="398497" y="68237"/>
                </a:lnTo>
                <a:lnTo>
                  <a:pt x="403791" y="70661"/>
                </a:lnTo>
                <a:lnTo>
                  <a:pt x="409111" y="73091"/>
                </a:lnTo>
                <a:lnTo>
                  <a:pt x="419751" y="77973"/>
                </a:lnTo>
                <a:lnTo>
                  <a:pt x="419751" y="80403"/>
                </a:lnTo>
                <a:lnTo>
                  <a:pt x="425064" y="82856"/>
                </a:lnTo>
                <a:lnTo>
                  <a:pt x="430357" y="85285"/>
                </a:lnTo>
                <a:lnTo>
                  <a:pt x="440997" y="90162"/>
                </a:lnTo>
                <a:lnTo>
                  <a:pt x="440997" y="92592"/>
                </a:lnTo>
                <a:lnTo>
                  <a:pt x="446318" y="95021"/>
                </a:lnTo>
                <a:lnTo>
                  <a:pt x="451630" y="97474"/>
                </a:lnTo>
                <a:lnTo>
                  <a:pt x="462244" y="102327"/>
                </a:lnTo>
                <a:lnTo>
                  <a:pt x="462244" y="104780"/>
                </a:lnTo>
                <a:lnTo>
                  <a:pt x="467564" y="107210"/>
                </a:lnTo>
                <a:lnTo>
                  <a:pt x="478197" y="112092"/>
                </a:lnTo>
                <a:lnTo>
                  <a:pt x="478197" y="114522"/>
                </a:lnTo>
                <a:lnTo>
                  <a:pt x="483490" y="116951"/>
                </a:lnTo>
                <a:lnTo>
                  <a:pt x="494130" y="121828"/>
                </a:lnTo>
                <a:lnTo>
                  <a:pt x="494130" y="124258"/>
                </a:lnTo>
                <a:lnTo>
                  <a:pt x="504764" y="129140"/>
                </a:lnTo>
                <a:lnTo>
                  <a:pt x="504764" y="131570"/>
                </a:lnTo>
                <a:lnTo>
                  <a:pt x="510057" y="134017"/>
                </a:lnTo>
                <a:lnTo>
                  <a:pt x="520697" y="138876"/>
                </a:lnTo>
                <a:lnTo>
                  <a:pt x="520697" y="141329"/>
                </a:lnTo>
                <a:lnTo>
                  <a:pt x="531330" y="146188"/>
                </a:lnTo>
              </a:path>
            </a:pathLst>
          </a:custGeom>
          <a:ln w="13967">
            <a:solidFill>
              <a:srgbClr val="000000"/>
            </a:solidFill>
          </a:ln>
        </p:spPr>
        <p:txBody>
          <a:bodyPr wrap="square" lIns="0" tIns="0" rIns="0" bIns="0" rtlCol="0">
            <a:spAutoFit/>
          </a:bodyPr>
          <a:lstStyle/>
          <a:p>
            <a:endParaRPr/>
          </a:p>
        </p:txBody>
      </p:sp>
      <p:sp>
        <p:nvSpPr>
          <p:cNvPr id="19" name="object 19"/>
          <p:cNvSpPr/>
          <p:nvPr/>
        </p:nvSpPr>
        <p:spPr>
          <a:xfrm>
            <a:off x="4042648" y="5363174"/>
            <a:ext cx="388857" cy="408337"/>
          </a:xfrm>
          <a:custGeom>
            <a:avLst/>
            <a:gdLst/>
            <a:ahLst/>
            <a:cxnLst/>
            <a:rect l="l" t="t" r="r" b="b"/>
            <a:pathLst>
              <a:path w="329564" h="346075">
                <a:moveTo>
                  <a:pt x="0" y="345967"/>
                </a:moveTo>
                <a:lnTo>
                  <a:pt x="0" y="336226"/>
                </a:lnTo>
                <a:lnTo>
                  <a:pt x="5319" y="333773"/>
                </a:lnTo>
                <a:lnTo>
                  <a:pt x="5319" y="326467"/>
                </a:lnTo>
                <a:lnTo>
                  <a:pt x="10633" y="324037"/>
                </a:lnTo>
                <a:lnTo>
                  <a:pt x="10633" y="319155"/>
                </a:lnTo>
                <a:lnTo>
                  <a:pt x="15926" y="316725"/>
                </a:lnTo>
                <a:lnTo>
                  <a:pt x="15926" y="309419"/>
                </a:lnTo>
                <a:lnTo>
                  <a:pt x="21246" y="306989"/>
                </a:lnTo>
                <a:lnTo>
                  <a:pt x="21246" y="302107"/>
                </a:lnTo>
                <a:lnTo>
                  <a:pt x="26566" y="299683"/>
                </a:lnTo>
                <a:lnTo>
                  <a:pt x="26566" y="292371"/>
                </a:lnTo>
                <a:lnTo>
                  <a:pt x="31886" y="289918"/>
                </a:lnTo>
                <a:lnTo>
                  <a:pt x="31886" y="285059"/>
                </a:lnTo>
                <a:lnTo>
                  <a:pt x="37199" y="282612"/>
                </a:lnTo>
                <a:lnTo>
                  <a:pt x="37199" y="275300"/>
                </a:lnTo>
                <a:lnTo>
                  <a:pt x="42493" y="272870"/>
                </a:lnTo>
                <a:lnTo>
                  <a:pt x="42493" y="267994"/>
                </a:lnTo>
                <a:lnTo>
                  <a:pt x="47813" y="265564"/>
                </a:lnTo>
                <a:lnTo>
                  <a:pt x="47813" y="260682"/>
                </a:lnTo>
                <a:lnTo>
                  <a:pt x="53133" y="258252"/>
                </a:lnTo>
                <a:lnTo>
                  <a:pt x="53133" y="253375"/>
                </a:lnTo>
                <a:lnTo>
                  <a:pt x="58452" y="250946"/>
                </a:lnTo>
                <a:lnTo>
                  <a:pt x="58452" y="246063"/>
                </a:lnTo>
                <a:lnTo>
                  <a:pt x="63766" y="243634"/>
                </a:lnTo>
                <a:lnTo>
                  <a:pt x="63766" y="238757"/>
                </a:lnTo>
                <a:lnTo>
                  <a:pt x="69059" y="236327"/>
                </a:lnTo>
                <a:lnTo>
                  <a:pt x="69059" y="231445"/>
                </a:lnTo>
                <a:lnTo>
                  <a:pt x="74379" y="229015"/>
                </a:lnTo>
                <a:lnTo>
                  <a:pt x="74379" y="224133"/>
                </a:lnTo>
                <a:lnTo>
                  <a:pt x="79700" y="221709"/>
                </a:lnTo>
                <a:lnTo>
                  <a:pt x="79700" y="216827"/>
                </a:lnTo>
                <a:lnTo>
                  <a:pt x="85019" y="214397"/>
                </a:lnTo>
                <a:lnTo>
                  <a:pt x="85019" y="209515"/>
                </a:lnTo>
                <a:lnTo>
                  <a:pt x="90332" y="207091"/>
                </a:lnTo>
                <a:lnTo>
                  <a:pt x="90332" y="202208"/>
                </a:lnTo>
                <a:lnTo>
                  <a:pt x="95626" y="199779"/>
                </a:lnTo>
                <a:lnTo>
                  <a:pt x="95626" y="194896"/>
                </a:lnTo>
                <a:lnTo>
                  <a:pt x="100946" y="192467"/>
                </a:lnTo>
                <a:lnTo>
                  <a:pt x="100946" y="187590"/>
                </a:lnTo>
                <a:lnTo>
                  <a:pt x="106266" y="185160"/>
                </a:lnTo>
                <a:lnTo>
                  <a:pt x="106266" y="182731"/>
                </a:lnTo>
                <a:lnTo>
                  <a:pt x="111586" y="180278"/>
                </a:lnTo>
                <a:lnTo>
                  <a:pt x="111586" y="175425"/>
                </a:lnTo>
                <a:lnTo>
                  <a:pt x="116899" y="172972"/>
                </a:lnTo>
                <a:lnTo>
                  <a:pt x="116899" y="168113"/>
                </a:lnTo>
                <a:lnTo>
                  <a:pt x="127512" y="163230"/>
                </a:lnTo>
                <a:lnTo>
                  <a:pt x="127512" y="155924"/>
                </a:lnTo>
                <a:lnTo>
                  <a:pt x="138152" y="151065"/>
                </a:lnTo>
                <a:lnTo>
                  <a:pt x="138152" y="143758"/>
                </a:lnTo>
                <a:lnTo>
                  <a:pt x="148759" y="138876"/>
                </a:lnTo>
                <a:lnTo>
                  <a:pt x="148759" y="131564"/>
                </a:lnTo>
                <a:lnTo>
                  <a:pt x="159399" y="126687"/>
                </a:lnTo>
                <a:lnTo>
                  <a:pt x="159399" y="121828"/>
                </a:lnTo>
                <a:lnTo>
                  <a:pt x="170032" y="116946"/>
                </a:lnTo>
                <a:lnTo>
                  <a:pt x="170032" y="112069"/>
                </a:lnTo>
                <a:lnTo>
                  <a:pt x="175325" y="109639"/>
                </a:lnTo>
                <a:lnTo>
                  <a:pt x="175325" y="104757"/>
                </a:lnTo>
                <a:lnTo>
                  <a:pt x="185965" y="99898"/>
                </a:lnTo>
                <a:lnTo>
                  <a:pt x="185965" y="95021"/>
                </a:lnTo>
                <a:lnTo>
                  <a:pt x="196598" y="90139"/>
                </a:lnTo>
                <a:lnTo>
                  <a:pt x="196598" y="85279"/>
                </a:lnTo>
                <a:lnTo>
                  <a:pt x="207212" y="80403"/>
                </a:lnTo>
                <a:lnTo>
                  <a:pt x="207212" y="77973"/>
                </a:lnTo>
                <a:lnTo>
                  <a:pt x="217852" y="73091"/>
                </a:lnTo>
                <a:lnTo>
                  <a:pt x="217852" y="68209"/>
                </a:lnTo>
                <a:lnTo>
                  <a:pt x="228459" y="63355"/>
                </a:lnTo>
                <a:lnTo>
                  <a:pt x="228459" y="60902"/>
                </a:lnTo>
                <a:lnTo>
                  <a:pt x="239098" y="56043"/>
                </a:lnTo>
                <a:lnTo>
                  <a:pt x="239098" y="51166"/>
                </a:lnTo>
                <a:lnTo>
                  <a:pt x="244419" y="48737"/>
                </a:lnTo>
                <a:lnTo>
                  <a:pt x="255025" y="43854"/>
                </a:lnTo>
                <a:lnTo>
                  <a:pt x="255025" y="41425"/>
                </a:lnTo>
                <a:lnTo>
                  <a:pt x="265665" y="36542"/>
                </a:lnTo>
                <a:lnTo>
                  <a:pt x="265665" y="34118"/>
                </a:lnTo>
                <a:lnTo>
                  <a:pt x="276299" y="29236"/>
                </a:lnTo>
                <a:lnTo>
                  <a:pt x="276299" y="26806"/>
                </a:lnTo>
                <a:lnTo>
                  <a:pt x="281591" y="24354"/>
                </a:lnTo>
                <a:lnTo>
                  <a:pt x="292231" y="19500"/>
                </a:lnTo>
                <a:lnTo>
                  <a:pt x="292231" y="17047"/>
                </a:lnTo>
                <a:lnTo>
                  <a:pt x="302864" y="12188"/>
                </a:lnTo>
                <a:lnTo>
                  <a:pt x="308158" y="9735"/>
                </a:lnTo>
                <a:lnTo>
                  <a:pt x="318798" y="4876"/>
                </a:lnTo>
                <a:lnTo>
                  <a:pt x="324118" y="2429"/>
                </a:lnTo>
                <a:lnTo>
                  <a:pt x="329431" y="0"/>
                </a:lnTo>
              </a:path>
            </a:pathLst>
          </a:custGeom>
          <a:ln w="14930">
            <a:solidFill>
              <a:srgbClr val="000000"/>
            </a:solidFill>
          </a:ln>
        </p:spPr>
        <p:txBody>
          <a:bodyPr wrap="square" lIns="0" tIns="0" rIns="0" bIns="0" rtlCol="0">
            <a:spAutoFit/>
          </a:bodyPr>
          <a:lstStyle/>
          <a:p>
            <a:endParaRPr/>
          </a:p>
        </p:txBody>
      </p:sp>
      <p:sp>
        <p:nvSpPr>
          <p:cNvPr id="20" name="object 20"/>
          <p:cNvSpPr/>
          <p:nvPr/>
        </p:nvSpPr>
        <p:spPr>
          <a:xfrm>
            <a:off x="4041237" y="5770427"/>
            <a:ext cx="3089877" cy="1498"/>
          </a:xfrm>
          <a:custGeom>
            <a:avLst/>
            <a:gdLst/>
            <a:ahLst/>
            <a:cxnLst/>
            <a:rect l="l" t="t" r="r" b="b"/>
            <a:pathLst>
              <a:path w="2618740" h="1270">
                <a:moveTo>
                  <a:pt x="0" y="788"/>
                </a:moveTo>
                <a:lnTo>
                  <a:pt x="2618595" y="0"/>
                </a:lnTo>
              </a:path>
            </a:pathLst>
          </a:custGeom>
          <a:ln w="13817">
            <a:solidFill>
              <a:srgbClr val="000000"/>
            </a:solidFill>
          </a:ln>
        </p:spPr>
        <p:txBody>
          <a:bodyPr wrap="square" lIns="0" tIns="0" rIns="0" bIns="0" rtlCol="0">
            <a:spAutoFit/>
          </a:bodyPr>
          <a:lstStyle/>
          <a:p>
            <a:endParaRPr/>
          </a:p>
        </p:txBody>
      </p:sp>
      <p:sp>
        <p:nvSpPr>
          <p:cNvPr id="21" name="object 21"/>
          <p:cNvSpPr/>
          <p:nvPr/>
        </p:nvSpPr>
        <p:spPr>
          <a:xfrm>
            <a:off x="7018075" y="5737839"/>
            <a:ext cx="131867" cy="65933"/>
          </a:xfrm>
          <a:custGeom>
            <a:avLst/>
            <a:gdLst/>
            <a:ahLst/>
            <a:cxnLst/>
            <a:rect l="l" t="t" r="r" b="b"/>
            <a:pathLst>
              <a:path w="111760" h="55879">
                <a:moveTo>
                  <a:pt x="28" y="55284"/>
                </a:moveTo>
                <a:lnTo>
                  <a:pt x="111583" y="27619"/>
                </a:lnTo>
                <a:lnTo>
                  <a:pt x="0" y="0"/>
                </a:lnTo>
                <a:lnTo>
                  <a:pt x="31884" y="27643"/>
                </a:lnTo>
                <a:lnTo>
                  <a:pt x="28" y="55284"/>
                </a:lnTo>
                <a:close/>
              </a:path>
            </a:pathLst>
          </a:custGeom>
          <a:solidFill>
            <a:srgbClr val="000000"/>
          </a:solidFill>
        </p:spPr>
        <p:txBody>
          <a:bodyPr wrap="square" lIns="0" tIns="0" rIns="0" bIns="0" rtlCol="0">
            <a:spAutoFit/>
          </a:bodyPr>
          <a:lstStyle/>
          <a:p>
            <a:endParaRPr/>
          </a:p>
        </p:txBody>
      </p:sp>
      <p:sp>
        <p:nvSpPr>
          <p:cNvPr id="22" name="object 22"/>
          <p:cNvSpPr/>
          <p:nvPr/>
        </p:nvSpPr>
        <p:spPr>
          <a:xfrm>
            <a:off x="7018075" y="5737839"/>
            <a:ext cx="131867" cy="65933"/>
          </a:xfrm>
          <a:custGeom>
            <a:avLst/>
            <a:gdLst/>
            <a:ahLst/>
            <a:cxnLst/>
            <a:rect l="l" t="t" r="r" b="b"/>
            <a:pathLst>
              <a:path w="111760" h="55879">
                <a:moveTo>
                  <a:pt x="31884" y="27643"/>
                </a:moveTo>
                <a:lnTo>
                  <a:pt x="0" y="0"/>
                </a:lnTo>
                <a:lnTo>
                  <a:pt x="111583" y="27619"/>
                </a:lnTo>
                <a:lnTo>
                  <a:pt x="28" y="55284"/>
                </a:lnTo>
                <a:lnTo>
                  <a:pt x="31884" y="27643"/>
                </a:lnTo>
                <a:close/>
              </a:path>
            </a:pathLst>
          </a:custGeom>
          <a:ln w="7118">
            <a:solidFill>
              <a:srgbClr val="000000"/>
            </a:solidFill>
          </a:ln>
        </p:spPr>
        <p:txBody>
          <a:bodyPr wrap="square" lIns="0" tIns="0" rIns="0" bIns="0" rtlCol="0">
            <a:spAutoFit/>
          </a:bodyPr>
          <a:lstStyle/>
          <a:p>
            <a:endParaRPr/>
          </a:p>
        </p:txBody>
      </p:sp>
      <p:sp>
        <p:nvSpPr>
          <p:cNvPr id="23" name="object 23"/>
          <p:cNvSpPr/>
          <p:nvPr/>
        </p:nvSpPr>
        <p:spPr>
          <a:xfrm>
            <a:off x="4038487" y="4065193"/>
            <a:ext cx="3089877" cy="1498"/>
          </a:xfrm>
          <a:custGeom>
            <a:avLst/>
            <a:gdLst/>
            <a:ahLst/>
            <a:cxnLst/>
            <a:rect l="l" t="t" r="r" b="b"/>
            <a:pathLst>
              <a:path w="2618740" h="1270">
                <a:moveTo>
                  <a:pt x="0" y="788"/>
                </a:moveTo>
                <a:lnTo>
                  <a:pt x="2618589" y="0"/>
                </a:lnTo>
              </a:path>
            </a:pathLst>
          </a:custGeom>
          <a:ln w="13817">
            <a:solidFill>
              <a:srgbClr val="000000"/>
            </a:solidFill>
          </a:ln>
        </p:spPr>
        <p:txBody>
          <a:bodyPr wrap="square" lIns="0" tIns="0" rIns="0" bIns="0" rtlCol="0">
            <a:spAutoFit/>
          </a:bodyPr>
          <a:lstStyle/>
          <a:p>
            <a:endParaRPr/>
          </a:p>
        </p:txBody>
      </p:sp>
      <p:sp>
        <p:nvSpPr>
          <p:cNvPr id="24" name="object 24"/>
          <p:cNvSpPr/>
          <p:nvPr/>
        </p:nvSpPr>
        <p:spPr>
          <a:xfrm>
            <a:off x="7015321" y="4032606"/>
            <a:ext cx="131867" cy="65933"/>
          </a:xfrm>
          <a:custGeom>
            <a:avLst/>
            <a:gdLst/>
            <a:ahLst/>
            <a:cxnLst/>
            <a:rect l="l" t="t" r="r" b="b"/>
            <a:pathLst>
              <a:path w="111760" h="55879">
                <a:moveTo>
                  <a:pt x="28" y="55282"/>
                </a:moveTo>
                <a:lnTo>
                  <a:pt x="111609" y="27618"/>
                </a:lnTo>
                <a:lnTo>
                  <a:pt x="0" y="0"/>
                </a:lnTo>
                <a:lnTo>
                  <a:pt x="31910" y="27643"/>
                </a:lnTo>
                <a:lnTo>
                  <a:pt x="28" y="55282"/>
                </a:lnTo>
                <a:close/>
              </a:path>
            </a:pathLst>
          </a:custGeom>
          <a:solidFill>
            <a:srgbClr val="000000"/>
          </a:solidFill>
        </p:spPr>
        <p:txBody>
          <a:bodyPr wrap="square" lIns="0" tIns="0" rIns="0" bIns="0" rtlCol="0">
            <a:spAutoFit/>
          </a:bodyPr>
          <a:lstStyle/>
          <a:p>
            <a:endParaRPr/>
          </a:p>
        </p:txBody>
      </p:sp>
      <p:sp>
        <p:nvSpPr>
          <p:cNvPr id="25" name="object 25"/>
          <p:cNvSpPr/>
          <p:nvPr/>
        </p:nvSpPr>
        <p:spPr>
          <a:xfrm>
            <a:off x="7015321" y="4032606"/>
            <a:ext cx="131867" cy="65933"/>
          </a:xfrm>
          <a:custGeom>
            <a:avLst/>
            <a:gdLst/>
            <a:ahLst/>
            <a:cxnLst/>
            <a:rect l="l" t="t" r="r" b="b"/>
            <a:pathLst>
              <a:path w="111760" h="55879">
                <a:moveTo>
                  <a:pt x="31910" y="27643"/>
                </a:moveTo>
                <a:lnTo>
                  <a:pt x="0" y="0"/>
                </a:lnTo>
                <a:lnTo>
                  <a:pt x="111609" y="27618"/>
                </a:lnTo>
                <a:lnTo>
                  <a:pt x="28" y="55282"/>
                </a:lnTo>
                <a:lnTo>
                  <a:pt x="31910" y="27643"/>
                </a:lnTo>
                <a:close/>
              </a:path>
            </a:pathLst>
          </a:custGeom>
          <a:ln w="7118">
            <a:solidFill>
              <a:srgbClr val="000000"/>
            </a:solidFill>
          </a:ln>
        </p:spPr>
        <p:txBody>
          <a:bodyPr wrap="square" lIns="0" tIns="0" rIns="0" bIns="0" rtlCol="0">
            <a:spAutoFit/>
          </a:bodyPr>
          <a:lstStyle/>
          <a:p>
            <a:endParaRPr/>
          </a:p>
        </p:txBody>
      </p:sp>
      <p:sp>
        <p:nvSpPr>
          <p:cNvPr id="26" name="object 26"/>
          <p:cNvSpPr/>
          <p:nvPr/>
        </p:nvSpPr>
        <p:spPr>
          <a:xfrm>
            <a:off x="4038487" y="2315219"/>
            <a:ext cx="3089877" cy="1498"/>
          </a:xfrm>
          <a:custGeom>
            <a:avLst/>
            <a:gdLst/>
            <a:ahLst/>
            <a:cxnLst/>
            <a:rect l="l" t="t" r="r" b="b"/>
            <a:pathLst>
              <a:path w="2618740" h="1269">
                <a:moveTo>
                  <a:pt x="0" y="812"/>
                </a:moveTo>
                <a:lnTo>
                  <a:pt x="2618589" y="0"/>
                </a:lnTo>
              </a:path>
            </a:pathLst>
          </a:custGeom>
          <a:ln w="13817">
            <a:solidFill>
              <a:srgbClr val="000000"/>
            </a:solidFill>
          </a:ln>
        </p:spPr>
        <p:txBody>
          <a:bodyPr wrap="square" lIns="0" tIns="0" rIns="0" bIns="0" rtlCol="0">
            <a:spAutoFit/>
          </a:bodyPr>
          <a:lstStyle/>
          <a:p>
            <a:endParaRPr/>
          </a:p>
        </p:txBody>
      </p:sp>
      <p:sp>
        <p:nvSpPr>
          <p:cNvPr id="27" name="object 27"/>
          <p:cNvSpPr/>
          <p:nvPr/>
        </p:nvSpPr>
        <p:spPr>
          <a:xfrm>
            <a:off x="7015324" y="2282667"/>
            <a:ext cx="131867" cy="65183"/>
          </a:xfrm>
          <a:custGeom>
            <a:avLst/>
            <a:gdLst/>
            <a:ahLst/>
            <a:cxnLst/>
            <a:rect l="l" t="t" r="r" b="b"/>
            <a:pathLst>
              <a:path w="111760" h="55244">
                <a:moveTo>
                  <a:pt x="28" y="55255"/>
                </a:moveTo>
                <a:lnTo>
                  <a:pt x="111609" y="27591"/>
                </a:lnTo>
                <a:lnTo>
                  <a:pt x="0" y="0"/>
                </a:lnTo>
                <a:lnTo>
                  <a:pt x="31910" y="27615"/>
                </a:lnTo>
                <a:lnTo>
                  <a:pt x="28" y="55255"/>
                </a:lnTo>
                <a:close/>
              </a:path>
            </a:pathLst>
          </a:custGeom>
          <a:solidFill>
            <a:srgbClr val="000000"/>
          </a:solidFill>
        </p:spPr>
        <p:txBody>
          <a:bodyPr wrap="square" lIns="0" tIns="0" rIns="0" bIns="0" rtlCol="0">
            <a:spAutoFit/>
          </a:bodyPr>
          <a:lstStyle/>
          <a:p>
            <a:endParaRPr/>
          </a:p>
        </p:txBody>
      </p:sp>
      <p:sp>
        <p:nvSpPr>
          <p:cNvPr id="28" name="object 28"/>
          <p:cNvSpPr/>
          <p:nvPr/>
        </p:nvSpPr>
        <p:spPr>
          <a:xfrm>
            <a:off x="7015324" y="2282667"/>
            <a:ext cx="131867" cy="65183"/>
          </a:xfrm>
          <a:custGeom>
            <a:avLst/>
            <a:gdLst/>
            <a:ahLst/>
            <a:cxnLst/>
            <a:rect l="l" t="t" r="r" b="b"/>
            <a:pathLst>
              <a:path w="111760" h="55244">
                <a:moveTo>
                  <a:pt x="31910" y="27615"/>
                </a:moveTo>
                <a:lnTo>
                  <a:pt x="0" y="0"/>
                </a:lnTo>
                <a:lnTo>
                  <a:pt x="111609" y="27591"/>
                </a:lnTo>
                <a:lnTo>
                  <a:pt x="28" y="55255"/>
                </a:lnTo>
                <a:lnTo>
                  <a:pt x="31910" y="27615"/>
                </a:lnTo>
                <a:close/>
              </a:path>
            </a:pathLst>
          </a:custGeom>
          <a:ln w="7117">
            <a:solidFill>
              <a:srgbClr val="000000"/>
            </a:solidFill>
          </a:ln>
        </p:spPr>
        <p:txBody>
          <a:bodyPr wrap="square" lIns="0" tIns="0" rIns="0" bIns="0" rtlCol="0">
            <a:spAutoFit/>
          </a:bodyPr>
          <a:lstStyle/>
          <a:p>
            <a:endParaRPr/>
          </a:p>
        </p:txBody>
      </p:sp>
      <p:sp>
        <p:nvSpPr>
          <p:cNvPr id="29" name="object 29"/>
          <p:cNvSpPr/>
          <p:nvPr/>
        </p:nvSpPr>
        <p:spPr>
          <a:xfrm>
            <a:off x="4004463" y="1119117"/>
            <a:ext cx="2997" cy="1228009"/>
          </a:xfrm>
          <a:custGeom>
            <a:avLst/>
            <a:gdLst/>
            <a:ahLst/>
            <a:cxnLst/>
            <a:rect l="l" t="t" r="r" b="b"/>
            <a:pathLst>
              <a:path w="2539" h="1040764">
                <a:moveTo>
                  <a:pt x="2098" y="1040621"/>
                </a:moveTo>
                <a:lnTo>
                  <a:pt x="0" y="0"/>
                </a:lnTo>
              </a:path>
            </a:pathLst>
          </a:custGeom>
          <a:ln w="19072">
            <a:solidFill>
              <a:srgbClr val="000000"/>
            </a:solidFill>
          </a:ln>
        </p:spPr>
        <p:txBody>
          <a:bodyPr wrap="square" lIns="0" tIns="0" rIns="0" bIns="0" rtlCol="0">
            <a:spAutoFit/>
          </a:bodyPr>
          <a:lstStyle/>
          <a:p>
            <a:endParaRPr/>
          </a:p>
        </p:txBody>
      </p:sp>
      <p:sp>
        <p:nvSpPr>
          <p:cNvPr id="30" name="object 30"/>
          <p:cNvSpPr/>
          <p:nvPr/>
        </p:nvSpPr>
        <p:spPr>
          <a:xfrm>
            <a:off x="3990731" y="1079479"/>
            <a:ext cx="90658" cy="137111"/>
          </a:xfrm>
          <a:custGeom>
            <a:avLst/>
            <a:gdLst/>
            <a:ahLst/>
            <a:cxnLst/>
            <a:rect l="l" t="t" r="r" b="b"/>
            <a:pathLst>
              <a:path w="76835" h="116205">
                <a:moveTo>
                  <a:pt x="76299" y="115684"/>
                </a:moveTo>
                <a:lnTo>
                  <a:pt x="37927" y="0"/>
                </a:lnTo>
                <a:lnTo>
                  <a:pt x="0" y="115801"/>
                </a:lnTo>
                <a:lnTo>
                  <a:pt x="38088" y="82671"/>
                </a:lnTo>
                <a:lnTo>
                  <a:pt x="76299" y="115684"/>
                </a:lnTo>
                <a:close/>
              </a:path>
            </a:pathLst>
          </a:custGeom>
          <a:solidFill>
            <a:srgbClr val="000000"/>
          </a:solidFill>
        </p:spPr>
        <p:txBody>
          <a:bodyPr wrap="square" lIns="0" tIns="0" rIns="0" bIns="0" rtlCol="0">
            <a:spAutoFit/>
          </a:bodyPr>
          <a:lstStyle/>
          <a:p>
            <a:endParaRPr/>
          </a:p>
        </p:txBody>
      </p:sp>
      <p:sp>
        <p:nvSpPr>
          <p:cNvPr id="31" name="object 31"/>
          <p:cNvSpPr/>
          <p:nvPr/>
        </p:nvSpPr>
        <p:spPr>
          <a:xfrm>
            <a:off x="3990731" y="1079479"/>
            <a:ext cx="90658" cy="137111"/>
          </a:xfrm>
          <a:custGeom>
            <a:avLst/>
            <a:gdLst/>
            <a:ahLst/>
            <a:cxnLst/>
            <a:rect l="l" t="t" r="r" b="b"/>
            <a:pathLst>
              <a:path w="76835" h="116205">
                <a:moveTo>
                  <a:pt x="38088" y="82671"/>
                </a:moveTo>
                <a:lnTo>
                  <a:pt x="0" y="115801"/>
                </a:lnTo>
                <a:lnTo>
                  <a:pt x="37927" y="0"/>
                </a:lnTo>
                <a:lnTo>
                  <a:pt x="76299" y="115684"/>
                </a:lnTo>
                <a:lnTo>
                  <a:pt x="38088" y="82671"/>
                </a:lnTo>
                <a:close/>
              </a:path>
            </a:pathLst>
          </a:custGeom>
          <a:ln w="8651">
            <a:solidFill>
              <a:srgbClr val="000000"/>
            </a:solidFill>
          </a:ln>
        </p:spPr>
        <p:txBody>
          <a:bodyPr wrap="square" lIns="0" tIns="0" rIns="0" bIns="0" rtlCol="0">
            <a:spAutoFit/>
          </a:bodyPr>
          <a:lstStyle/>
          <a:p>
            <a:endParaRPr/>
          </a:p>
        </p:txBody>
      </p:sp>
      <p:sp>
        <p:nvSpPr>
          <p:cNvPr id="32" name="object 32"/>
          <p:cNvSpPr/>
          <p:nvPr/>
        </p:nvSpPr>
        <p:spPr>
          <a:xfrm>
            <a:off x="4038487" y="1576135"/>
            <a:ext cx="2723497" cy="1498"/>
          </a:xfrm>
          <a:custGeom>
            <a:avLst/>
            <a:gdLst/>
            <a:ahLst/>
            <a:cxnLst/>
            <a:rect l="l" t="t" r="r" b="b"/>
            <a:pathLst>
              <a:path w="2308225" h="1269">
                <a:moveTo>
                  <a:pt x="0" y="783"/>
                </a:moveTo>
                <a:lnTo>
                  <a:pt x="2308119" y="0"/>
                </a:lnTo>
              </a:path>
            </a:pathLst>
          </a:custGeom>
          <a:ln w="13817">
            <a:solidFill>
              <a:srgbClr val="000000"/>
            </a:solidFill>
            <a:prstDash val="dash"/>
          </a:ln>
        </p:spPr>
        <p:txBody>
          <a:bodyPr wrap="square" lIns="0" tIns="0" rIns="0" bIns="0" rtlCol="0">
            <a:spAutoFit/>
          </a:bodyPr>
          <a:lstStyle/>
          <a:p>
            <a:endParaRPr/>
          </a:p>
        </p:txBody>
      </p:sp>
      <p:sp>
        <p:nvSpPr>
          <p:cNvPr id="33" name="object 33"/>
          <p:cNvSpPr/>
          <p:nvPr/>
        </p:nvSpPr>
        <p:spPr>
          <a:xfrm>
            <a:off x="6757236" y="1589000"/>
            <a:ext cx="0" cy="4179518"/>
          </a:xfrm>
          <a:custGeom>
            <a:avLst/>
            <a:gdLst/>
            <a:ahLst/>
            <a:cxnLst/>
            <a:rect l="l" t="t" r="r" b="b"/>
            <a:pathLst>
              <a:path w="1270" h="3315335">
                <a:moveTo>
                  <a:pt x="0" y="0"/>
                </a:moveTo>
                <a:lnTo>
                  <a:pt x="909" y="3315302"/>
                </a:lnTo>
              </a:path>
            </a:pathLst>
          </a:custGeom>
          <a:ln w="15563">
            <a:solidFill>
              <a:srgbClr val="000000"/>
            </a:solidFill>
            <a:prstDash val="dash"/>
          </a:ln>
        </p:spPr>
        <p:txBody>
          <a:bodyPr wrap="square" lIns="0" tIns="0" rIns="0" bIns="0" rtlCol="0">
            <a:spAutoFit/>
          </a:bodyPr>
          <a:lstStyle/>
          <a:p>
            <a:endParaRPr/>
          </a:p>
        </p:txBody>
      </p:sp>
      <p:sp>
        <p:nvSpPr>
          <p:cNvPr id="34" name="object 34"/>
          <p:cNvSpPr>
            <a:spLocks/>
          </p:cNvSpPr>
          <p:nvPr/>
        </p:nvSpPr>
        <p:spPr>
          <a:xfrm>
            <a:off x="5390562" y="1970541"/>
            <a:ext cx="0" cy="3797977"/>
          </a:xfrm>
          <a:custGeom>
            <a:avLst/>
            <a:gdLst/>
            <a:ahLst/>
            <a:cxnLst/>
            <a:rect l="l" t="t" r="r" b="b"/>
            <a:pathLst>
              <a:path w="1270" h="2992120">
                <a:moveTo>
                  <a:pt x="0" y="0"/>
                </a:moveTo>
                <a:lnTo>
                  <a:pt x="909" y="2991938"/>
                </a:lnTo>
              </a:path>
            </a:pathLst>
          </a:custGeom>
          <a:ln w="15462">
            <a:solidFill>
              <a:srgbClr val="000000"/>
            </a:solidFill>
            <a:prstDash val="dash"/>
          </a:ln>
        </p:spPr>
        <p:txBody>
          <a:bodyPr wrap="square" lIns="0" tIns="0" rIns="0" bIns="0" rtlCol="0">
            <a:spAutoFit/>
          </a:bodyPr>
          <a:lstStyle/>
          <a:p>
            <a:endParaRPr/>
          </a:p>
        </p:txBody>
      </p:sp>
      <p:sp>
        <p:nvSpPr>
          <p:cNvPr id="35" name="object 35"/>
          <p:cNvSpPr/>
          <p:nvPr/>
        </p:nvSpPr>
        <p:spPr>
          <a:xfrm>
            <a:off x="4035517" y="2827220"/>
            <a:ext cx="2997" cy="1228009"/>
          </a:xfrm>
          <a:custGeom>
            <a:avLst/>
            <a:gdLst/>
            <a:ahLst/>
            <a:cxnLst/>
            <a:rect l="l" t="t" r="r" b="b"/>
            <a:pathLst>
              <a:path w="2539" h="1040764">
                <a:moveTo>
                  <a:pt x="2098" y="1040597"/>
                </a:moveTo>
                <a:lnTo>
                  <a:pt x="0" y="0"/>
                </a:lnTo>
              </a:path>
            </a:pathLst>
          </a:custGeom>
          <a:ln w="19072">
            <a:solidFill>
              <a:srgbClr val="000000"/>
            </a:solidFill>
          </a:ln>
        </p:spPr>
        <p:txBody>
          <a:bodyPr wrap="square" lIns="0" tIns="0" rIns="0" bIns="0" rtlCol="0">
            <a:spAutoFit/>
          </a:bodyPr>
          <a:lstStyle/>
          <a:p>
            <a:endParaRPr/>
          </a:p>
        </p:txBody>
      </p:sp>
      <p:sp>
        <p:nvSpPr>
          <p:cNvPr id="36" name="object 36"/>
          <p:cNvSpPr/>
          <p:nvPr/>
        </p:nvSpPr>
        <p:spPr>
          <a:xfrm>
            <a:off x="3990735" y="2807685"/>
            <a:ext cx="90658" cy="137111"/>
          </a:xfrm>
          <a:custGeom>
            <a:avLst/>
            <a:gdLst/>
            <a:ahLst/>
            <a:cxnLst/>
            <a:rect l="l" t="t" r="r" b="b"/>
            <a:pathLst>
              <a:path w="76835" h="116204">
                <a:moveTo>
                  <a:pt x="76299" y="115690"/>
                </a:moveTo>
                <a:lnTo>
                  <a:pt x="37927" y="0"/>
                </a:lnTo>
                <a:lnTo>
                  <a:pt x="0" y="115801"/>
                </a:lnTo>
                <a:lnTo>
                  <a:pt x="38082" y="82677"/>
                </a:lnTo>
                <a:lnTo>
                  <a:pt x="76299" y="115690"/>
                </a:lnTo>
                <a:close/>
              </a:path>
            </a:pathLst>
          </a:custGeom>
          <a:solidFill>
            <a:srgbClr val="000000"/>
          </a:solidFill>
        </p:spPr>
        <p:txBody>
          <a:bodyPr wrap="square" lIns="0" tIns="0" rIns="0" bIns="0" rtlCol="0">
            <a:spAutoFit/>
          </a:bodyPr>
          <a:lstStyle/>
          <a:p>
            <a:endParaRPr/>
          </a:p>
        </p:txBody>
      </p:sp>
      <p:sp>
        <p:nvSpPr>
          <p:cNvPr id="37" name="object 37"/>
          <p:cNvSpPr/>
          <p:nvPr/>
        </p:nvSpPr>
        <p:spPr>
          <a:xfrm>
            <a:off x="3990735" y="2807685"/>
            <a:ext cx="90658" cy="137111"/>
          </a:xfrm>
          <a:custGeom>
            <a:avLst/>
            <a:gdLst/>
            <a:ahLst/>
            <a:cxnLst/>
            <a:rect l="l" t="t" r="r" b="b"/>
            <a:pathLst>
              <a:path w="76835" h="116204">
                <a:moveTo>
                  <a:pt x="38082" y="82677"/>
                </a:moveTo>
                <a:lnTo>
                  <a:pt x="0" y="115801"/>
                </a:lnTo>
                <a:lnTo>
                  <a:pt x="37927" y="0"/>
                </a:lnTo>
                <a:lnTo>
                  <a:pt x="76299" y="115690"/>
                </a:lnTo>
                <a:lnTo>
                  <a:pt x="38082" y="82677"/>
                </a:lnTo>
                <a:close/>
              </a:path>
            </a:pathLst>
          </a:custGeom>
          <a:ln w="8651">
            <a:solidFill>
              <a:srgbClr val="000000"/>
            </a:solidFill>
          </a:ln>
        </p:spPr>
        <p:txBody>
          <a:bodyPr wrap="square" lIns="0" tIns="0" rIns="0" bIns="0" rtlCol="0">
            <a:spAutoFit/>
          </a:bodyPr>
          <a:lstStyle/>
          <a:p>
            <a:endParaRPr/>
          </a:p>
        </p:txBody>
      </p:sp>
      <p:sp>
        <p:nvSpPr>
          <p:cNvPr id="38" name="object 38"/>
          <p:cNvSpPr/>
          <p:nvPr/>
        </p:nvSpPr>
        <p:spPr>
          <a:xfrm>
            <a:off x="4035517" y="4548587"/>
            <a:ext cx="2997" cy="1228009"/>
          </a:xfrm>
          <a:custGeom>
            <a:avLst/>
            <a:gdLst/>
            <a:ahLst/>
            <a:cxnLst/>
            <a:rect l="l" t="t" r="r" b="b"/>
            <a:pathLst>
              <a:path w="2539" h="1040764">
                <a:moveTo>
                  <a:pt x="2098" y="1040597"/>
                </a:moveTo>
                <a:lnTo>
                  <a:pt x="0" y="0"/>
                </a:lnTo>
              </a:path>
            </a:pathLst>
          </a:custGeom>
          <a:ln w="19072">
            <a:solidFill>
              <a:srgbClr val="000000"/>
            </a:solidFill>
          </a:ln>
        </p:spPr>
        <p:txBody>
          <a:bodyPr wrap="square" lIns="0" tIns="0" rIns="0" bIns="0" rtlCol="0">
            <a:spAutoFit/>
          </a:bodyPr>
          <a:lstStyle/>
          <a:p>
            <a:endParaRPr/>
          </a:p>
        </p:txBody>
      </p:sp>
      <p:sp>
        <p:nvSpPr>
          <p:cNvPr id="39" name="object 39"/>
          <p:cNvSpPr/>
          <p:nvPr/>
        </p:nvSpPr>
        <p:spPr>
          <a:xfrm>
            <a:off x="3990733" y="4529058"/>
            <a:ext cx="90658" cy="137111"/>
          </a:xfrm>
          <a:custGeom>
            <a:avLst/>
            <a:gdLst/>
            <a:ahLst/>
            <a:cxnLst/>
            <a:rect l="l" t="t" r="r" b="b"/>
            <a:pathLst>
              <a:path w="76835" h="116204">
                <a:moveTo>
                  <a:pt x="76299" y="115684"/>
                </a:moveTo>
                <a:lnTo>
                  <a:pt x="37927" y="0"/>
                </a:lnTo>
                <a:lnTo>
                  <a:pt x="0" y="115800"/>
                </a:lnTo>
                <a:lnTo>
                  <a:pt x="38082" y="82671"/>
                </a:lnTo>
                <a:lnTo>
                  <a:pt x="76299" y="115684"/>
                </a:lnTo>
                <a:close/>
              </a:path>
            </a:pathLst>
          </a:custGeom>
          <a:solidFill>
            <a:srgbClr val="000000"/>
          </a:solidFill>
        </p:spPr>
        <p:txBody>
          <a:bodyPr wrap="square" lIns="0" tIns="0" rIns="0" bIns="0" rtlCol="0">
            <a:spAutoFit/>
          </a:bodyPr>
          <a:lstStyle/>
          <a:p>
            <a:endParaRPr/>
          </a:p>
        </p:txBody>
      </p:sp>
      <p:sp>
        <p:nvSpPr>
          <p:cNvPr id="40" name="object 40"/>
          <p:cNvSpPr/>
          <p:nvPr/>
        </p:nvSpPr>
        <p:spPr>
          <a:xfrm>
            <a:off x="3990733" y="4529058"/>
            <a:ext cx="90658" cy="137111"/>
          </a:xfrm>
          <a:custGeom>
            <a:avLst/>
            <a:gdLst/>
            <a:ahLst/>
            <a:cxnLst/>
            <a:rect l="l" t="t" r="r" b="b"/>
            <a:pathLst>
              <a:path w="76835" h="116204">
                <a:moveTo>
                  <a:pt x="38082" y="82671"/>
                </a:moveTo>
                <a:lnTo>
                  <a:pt x="0" y="115800"/>
                </a:lnTo>
                <a:lnTo>
                  <a:pt x="37927" y="0"/>
                </a:lnTo>
                <a:lnTo>
                  <a:pt x="76299" y="115684"/>
                </a:lnTo>
                <a:lnTo>
                  <a:pt x="38082" y="82671"/>
                </a:lnTo>
                <a:close/>
              </a:path>
            </a:pathLst>
          </a:custGeom>
          <a:ln w="8651">
            <a:solidFill>
              <a:srgbClr val="000000"/>
            </a:solidFill>
          </a:ln>
        </p:spPr>
        <p:txBody>
          <a:bodyPr wrap="square" lIns="0" tIns="0" rIns="0" bIns="0" rtlCol="0">
            <a:spAutoFit/>
          </a:bodyPr>
          <a:lstStyle/>
          <a:p>
            <a:endParaRPr/>
          </a:p>
        </p:txBody>
      </p:sp>
      <p:sp>
        <p:nvSpPr>
          <p:cNvPr id="55" name="object 55"/>
          <p:cNvSpPr/>
          <p:nvPr/>
        </p:nvSpPr>
        <p:spPr>
          <a:xfrm>
            <a:off x="4038487" y="3445649"/>
            <a:ext cx="1266970" cy="1498"/>
          </a:xfrm>
          <a:custGeom>
            <a:avLst/>
            <a:gdLst/>
            <a:ahLst/>
            <a:cxnLst/>
            <a:rect l="l" t="t" r="r" b="b"/>
            <a:pathLst>
              <a:path w="1073785" h="1270">
                <a:moveTo>
                  <a:pt x="0" y="783"/>
                </a:moveTo>
                <a:lnTo>
                  <a:pt x="1073480" y="0"/>
                </a:lnTo>
              </a:path>
            </a:pathLst>
          </a:custGeom>
          <a:ln w="13817">
            <a:solidFill>
              <a:srgbClr val="000000"/>
            </a:solidFill>
            <a:prstDash val="dash"/>
          </a:ln>
        </p:spPr>
        <p:txBody>
          <a:bodyPr wrap="square" lIns="0" tIns="0" rIns="0" bIns="0" rtlCol="0">
            <a:spAutoFit/>
          </a:bodyPr>
          <a:lstStyle/>
          <a:p>
            <a:endParaRPr/>
          </a:p>
        </p:txBody>
      </p:sp>
      <p:sp>
        <p:nvSpPr>
          <p:cNvPr id="56" name="object 56"/>
          <p:cNvSpPr/>
          <p:nvPr/>
        </p:nvSpPr>
        <p:spPr>
          <a:xfrm>
            <a:off x="4038487" y="5319174"/>
            <a:ext cx="513231" cy="1498"/>
          </a:xfrm>
          <a:custGeom>
            <a:avLst/>
            <a:gdLst/>
            <a:ahLst/>
            <a:cxnLst/>
            <a:rect l="l" t="t" r="r" b="b"/>
            <a:pathLst>
              <a:path w="434975" h="1270">
                <a:moveTo>
                  <a:pt x="0" y="788"/>
                </a:moveTo>
                <a:lnTo>
                  <a:pt x="434402" y="0"/>
                </a:lnTo>
              </a:path>
            </a:pathLst>
          </a:custGeom>
          <a:ln w="13817">
            <a:solidFill>
              <a:srgbClr val="000000"/>
            </a:solidFill>
            <a:prstDash val="dash"/>
          </a:ln>
        </p:spPr>
        <p:txBody>
          <a:bodyPr wrap="square" lIns="0" tIns="0" rIns="0" bIns="0" rtlCol="0">
            <a:spAutoFit/>
          </a:bodyPr>
          <a:lstStyle/>
          <a:p>
            <a:endParaRPr/>
          </a:p>
        </p:txBody>
      </p:sp>
      <mc:AlternateContent xmlns:mc="http://schemas.openxmlformats.org/markup-compatibility/2006" xmlns:a14="http://schemas.microsoft.com/office/drawing/2010/main">
        <mc:Choice Requires="a14">
          <p:sp>
            <p:nvSpPr>
              <p:cNvPr id="65" name="ZoneTexte 64"/>
              <p:cNvSpPr txBox="1"/>
              <p:nvPr/>
            </p:nvSpPr>
            <p:spPr>
              <a:xfrm>
                <a:off x="3730952" y="812862"/>
                <a:ext cx="355600" cy="3583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rPr>
                          </m:ctrlPr>
                        </m:sSubPr>
                        <m:e>
                          <m:r>
                            <a:rPr lang="fr-FR" sz="1600" b="0" i="1" smtClean="0">
                              <a:latin typeface="Cambria Math"/>
                            </a:rPr>
                            <m:t>𝑞</m:t>
                          </m:r>
                        </m:e>
                        <m:sub>
                          <m:r>
                            <a:rPr lang="fr-FR" sz="1600" b="0" i="1" smtClean="0">
                              <a:latin typeface="Cambria Math"/>
                            </a:rPr>
                            <m:t>𝑗</m:t>
                          </m:r>
                        </m:sub>
                      </m:sSub>
                    </m:oMath>
                  </m:oMathPara>
                </a14:m>
                <a:endParaRPr lang="fr-FR" sz="1600" dirty="0"/>
              </a:p>
            </p:txBody>
          </p:sp>
        </mc:Choice>
        <mc:Fallback xmlns="">
          <p:sp>
            <p:nvSpPr>
              <p:cNvPr id="65" name="ZoneTexte 64"/>
              <p:cNvSpPr txBox="1">
                <a:spLocks noRot="1" noChangeAspect="1" noMove="1" noResize="1" noEditPoints="1" noAdjustHandles="1" noChangeArrowheads="1" noChangeShapeType="1" noTextEdit="1"/>
              </p:cNvSpPr>
              <p:nvPr/>
            </p:nvSpPr>
            <p:spPr>
              <a:xfrm>
                <a:off x="3730952" y="812862"/>
                <a:ext cx="355600" cy="358368"/>
              </a:xfrm>
              <a:prstGeom prst="rect">
                <a:avLst/>
              </a:prstGeom>
              <a:blipFill>
                <a:blip r:embed="rId3"/>
                <a:stretch>
                  <a:fillRect b="-333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6" name="ZoneTexte 65"/>
              <p:cNvSpPr txBox="1"/>
              <p:nvPr/>
            </p:nvSpPr>
            <p:spPr>
              <a:xfrm>
                <a:off x="6677783" y="2232712"/>
                <a:ext cx="355600"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400" i="1" smtClean="0">
                              <a:latin typeface="Cambria Math" panose="02040503050406030204" pitchFamily="18" charset="0"/>
                            </a:rPr>
                          </m:ctrlPr>
                        </m:sSubPr>
                        <m:e>
                          <m:r>
                            <m:rPr>
                              <m:sty m:val="p"/>
                            </m:rPr>
                            <a:rPr lang="fr-FR" sz="1400" b="0" i="0" smtClean="0">
                              <a:latin typeface="Cambria Math"/>
                            </a:rPr>
                            <m:t>t</m:t>
                          </m:r>
                        </m:e>
                        <m:sub>
                          <m:r>
                            <m:rPr>
                              <m:sty m:val="p"/>
                            </m:rPr>
                            <a:rPr lang="fr-FR" sz="1400" b="0" i="0" smtClean="0">
                              <a:latin typeface="Cambria Math"/>
                            </a:rPr>
                            <m:t>f</m:t>
                          </m:r>
                        </m:sub>
                      </m:sSub>
                    </m:oMath>
                  </m:oMathPara>
                </a14:m>
                <a:endParaRPr lang="fr-FR" sz="1400" dirty="0"/>
              </a:p>
            </p:txBody>
          </p:sp>
        </mc:Choice>
        <mc:Fallback xmlns="">
          <p:sp>
            <p:nvSpPr>
              <p:cNvPr id="66" name="ZoneTexte 65"/>
              <p:cNvSpPr txBox="1">
                <a:spLocks noRot="1" noChangeAspect="1" noMove="1" noResize="1" noEditPoints="1" noAdjustHandles="1" noChangeArrowheads="1" noChangeShapeType="1" noTextEdit="1"/>
              </p:cNvSpPr>
              <p:nvPr/>
            </p:nvSpPr>
            <p:spPr>
              <a:xfrm>
                <a:off x="6677783" y="2232712"/>
                <a:ext cx="355600" cy="307777"/>
              </a:xfrm>
              <a:prstGeom prst="rect">
                <a:avLst/>
              </a:prstGeom>
              <a:blipFill>
                <a:blip r:embed="rId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7" name="ZoneTexte 66"/>
              <p:cNvSpPr txBox="1"/>
              <p:nvPr/>
            </p:nvSpPr>
            <p:spPr>
              <a:xfrm>
                <a:off x="3682121" y="1301789"/>
                <a:ext cx="355600" cy="3402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400" i="1" smtClean="0">
                              <a:latin typeface="Cambria Math" panose="02040503050406030204" pitchFamily="18" charset="0"/>
                            </a:rPr>
                          </m:ctrlPr>
                        </m:sSupPr>
                        <m:e>
                          <m:sSub>
                            <m:sSubPr>
                              <m:ctrlPr>
                                <a:rPr lang="fr-FR" sz="1400" i="1" smtClean="0">
                                  <a:latin typeface="Cambria Math" panose="02040503050406030204" pitchFamily="18" charset="0"/>
                                </a:rPr>
                              </m:ctrlPr>
                            </m:sSubPr>
                            <m:e>
                              <m:r>
                                <a:rPr lang="fr-FR" sz="1400" b="0" i="1" smtClean="0">
                                  <a:latin typeface="Cambria Math"/>
                                </a:rPr>
                                <m:t>𝑞</m:t>
                              </m:r>
                            </m:e>
                            <m:sub>
                              <m:r>
                                <a:rPr lang="fr-FR" sz="1400" b="0" i="1" smtClean="0">
                                  <a:latin typeface="Cambria Math"/>
                                </a:rPr>
                                <m:t>𝑗</m:t>
                              </m:r>
                            </m:sub>
                          </m:sSub>
                        </m:e>
                        <m:sup>
                          <m:r>
                            <m:rPr>
                              <m:sty m:val="p"/>
                            </m:rPr>
                            <a:rPr lang="fr-FR" sz="1400" b="0" i="0" smtClean="0">
                              <a:latin typeface="Cambria Math"/>
                            </a:rPr>
                            <m:t>f</m:t>
                          </m:r>
                        </m:sup>
                      </m:sSup>
                    </m:oMath>
                  </m:oMathPara>
                </a14:m>
                <a:endParaRPr lang="fr-FR" sz="1400" dirty="0"/>
              </a:p>
            </p:txBody>
          </p:sp>
        </mc:Choice>
        <mc:Fallback xmlns="">
          <p:sp>
            <p:nvSpPr>
              <p:cNvPr id="67" name="ZoneTexte 66"/>
              <p:cNvSpPr txBox="1">
                <a:spLocks noRot="1" noChangeAspect="1" noMove="1" noResize="1" noEditPoints="1" noAdjustHandles="1" noChangeArrowheads="1" noChangeShapeType="1" noTextEdit="1"/>
              </p:cNvSpPr>
              <p:nvPr/>
            </p:nvSpPr>
            <p:spPr>
              <a:xfrm>
                <a:off x="3682121" y="1301789"/>
                <a:ext cx="355600" cy="340286"/>
              </a:xfrm>
              <a:prstGeom prst="rect">
                <a:avLst/>
              </a:prstGeom>
              <a:blipFill>
                <a:blip r:embed="rId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8" name="ZoneTexte 67"/>
              <p:cNvSpPr txBox="1"/>
              <p:nvPr/>
            </p:nvSpPr>
            <p:spPr>
              <a:xfrm>
                <a:off x="3664817" y="2061741"/>
                <a:ext cx="355600" cy="33695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400" i="1" smtClean="0">
                              <a:latin typeface="Cambria Math" panose="02040503050406030204" pitchFamily="18" charset="0"/>
                            </a:rPr>
                          </m:ctrlPr>
                        </m:sSupPr>
                        <m:e>
                          <m:sSub>
                            <m:sSubPr>
                              <m:ctrlPr>
                                <a:rPr lang="fr-FR" sz="1400" i="1" smtClean="0">
                                  <a:latin typeface="Cambria Math" panose="02040503050406030204" pitchFamily="18" charset="0"/>
                                </a:rPr>
                              </m:ctrlPr>
                            </m:sSubPr>
                            <m:e>
                              <m:r>
                                <a:rPr lang="fr-FR" sz="1400" b="0" i="1" smtClean="0">
                                  <a:latin typeface="Cambria Math"/>
                                </a:rPr>
                                <m:t>𝑞</m:t>
                              </m:r>
                            </m:e>
                            <m:sub>
                              <m:r>
                                <a:rPr lang="fr-FR" sz="1400" b="0" i="1" smtClean="0">
                                  <a:latin typeface="Cambria Math"/>
                                </a:rPr>
                                <m:t>𝑗</m:t>
                              </m:r>
                            </m:sub>
                          </m:sSub>
                        </m:e>
                        <m:sup>
                          <m:r>
                            <m:rPr>
                              <m:sty m:val="p"/>
                            </m:rPr>
                            <a:rPr lang="fr-FR" sz="1400" b="0" i="0" smtClean="0">
                              <a:latin typeface="Cambria Math"/>
                            </a:rPr>
                            <m:t>i</m:t>
                          </m:r>
                        </m:sup>
                      </m:sSup>
                    </m:oMath>
                  </m:oMathPara>
                </a14:m>
                <a:endParaRPr lang="fr-FR" sz="1400" dirty="0"/>
              </a:p>
            </p:txBody>
          </p:sp>
        </mc:Choice>
        <mc:Fallback xmlns="">
          <p:sp>
            <p:nvSpPr>
              <p:cNvPr id="68" name="ZoneTexte 67"/>
              <p:cNvSpPr txBox="1">
                <a:spLocks noRot="1" noChangeAspect="1" noMove="1" noResize="1" noEditPoints="1" noAdjustHandles="1" noChangeArrowheads="1" noChangeShapeType="1" noTextEdit="1"/>
              </p:cNvSpPr>
              <p:nvPr/>
            </p:nvSpPr>
            <p:spPr>
              <a:xfrm>
                <a:off x="3664817" y="2061741"/>
                <a:ext cx="355600" cy="336952"/>
              </a:xfrm>
              <a:prstGeom prst="rect">
                <a:avLst/>
              </a:prstGeom>
              <a:blipFill>
                <a:blip r:embed="rId6"/>
                <a:stretch>
                  <a:fillRect b="-3704"/>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9" name="ZoneTexte 68"/>
              <p:cNvSpPr txBox="1"/>
              <p:nvPr/>
            </p:nvSpPr>
            <p:spPr>
              <a:xfrm>
                <a:off x="3069046" y="3253828"/>
                <a:ext cx="920897" cy="34047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type m:val="lin"/>
                          <m:ctrlPr>
                            <a:rPr lang="fr-FR" sz="1400" i="1" smtClean="0">
                              <a:latin typeface="Cambria Math" panose="02040503050406030204" pitchFamily="18" charset="0"/>
                            </a:rPr>
                          </m:ctrlPr>
                        </m:fPr>
                        <m:num>
                          <m:r>
                            <a:rPr lang="fr-FR" sz="1400" b="0" i="1" smtClean="0">
                              <a:latin typeface="Cambria Math"/>
                            </a:rPr>
                            <m:t>15</m:t>
                          </m:r>
                          <m:d>
                            <m:dPr>
                              <m:begChr m:val="|"/>
                              <m:endChr m:val="|"/>
                              <m:ctrlPr>
                                <a:rPr lang="fr-FR" sz="1400" i="1">
                                  <a:latin typeface="Cambria Math" panose="02040503050406030204" pitchFamily="18" charset="0"/>
                                </a:rPr>
                              </m:ctrlPr>
                            </m:dPr>
                            <m:e>
                              <m:sSub>
                                <m:sSubPr>
                                  <m:ctrlPr>
                                    <a:rPr lang="fr-FR" sz="1400" i="1">
                                      <a:latin typeface="Cambria Math" panose="02040503050406030204" pitchFamily="18" charset="0"/>
                                    </a:rPr>
                                  </m:ctrlPr>
                                </m:sSubPr>
                                <m:e>
                                  <m:r>
                                    <a:rPr lang="fr-FR" sz="1400" i="1">
                                      <a:latin typeface="Cambria Math"/>
                                    </a:rPr>
                                    <m:t>𝐷</m:t>
                                  </m:r>
                                </m:e>
                                <m:sub>
                                  <m:r>
                                    <a:rPr lang="fr-FR" sz="1400" i="1">
                                      <a:latin typeface="Cambria Math"/>
                                    </a:rPr>
                                    <m:t>𝑗</m:t>
                                  </m:r>
                                </m:sub>
                              </m:sSub>
                            </m:e>
                          </m:d>
                          <m:r>
                            <m:rPr>
                              <m:nor/>
                            </m:rPr>
                            <a:rPr lang="fr-FR" sz="1400" dirty="0"/>
                            <m:t> </m:t>
                          </m:r>
                        </m:num>
                        <m:den>
                          <m:r>
                            <a:rPr lang="fr-FR" sz="1400" b="0" i="1" smtClean="0">
                              <a:latin typeface="Cambria Math"/>
                            </a:rPr>
                            <m:t>8</m:t>
                          </m:r>
                          <m:sSub>
                            <m:sSubPr>
                              <m:ctrlPr>
                                <a:rPr lang="fr-FR" sz="1400" b="0" i="1" smtClean="0">
                                  <a:latin typeface="Cambria Math" panose="02040503050406030204" pitchFamily="18" charset="0"/>
                                </a:rPr>
                              </m:ctrlPr>
                            </m:sSubPr>
                            <m:e>
                              <m:r>
                                <m:rPr>
                                  <m:sty m:val="p"/>
                                </m:rPr>
                                <a:rPr lang="fr-FR" sz="1400" b="0" i="0" smtClean="0">
                                  <a:latin typeface="Cambria Math"/>
                                </a:rPr>
                                <m:t>t</m:t>
                              </m:r>
                            </m:e>
                            <m:sub>
                              <m:r>
                                <m:rPr>
                                  <m:sty m:val="p"/>
                                </m:rPr>
                                <a:rPr lang="fr-FR" sz="1400" b="0" i="0" smtClean="0">
                                  <a:latin typeface="Cambria Math"/>
                                </a:rPr>
                                <m:t>f</m:t>
                              </m:r>
                            </m:sub>
                          </m:sSub>
                        </m:den>
                      </m:f>
                    </m:oMath>
                  </m:oMathPara>
                </a14:m>
                <a:endParaRPr lang="fr-FR" sz="1400" dirty="0"/>
              </a:p>
            </p:txBody>
          </p:sp>
        </mc:Choice>
        <mc:Fallback xmlns="">
          <p:sp>
            <p:nvSpPr>
              <p:cNvPr id="69" name="ZoneTexte 68"/>
              <p:cNvSpPr txBox="1">
                <a:spLocks noRot="1" noChangeAspect="1" noMove="1" noResize="1" noEditPoints="1" noAdjustHandles="1" noChangeArrowheads="1" noChangeShapeType="1" noTextEdit="1"/>
              </p:cNvSpPr>
              <p:nvPr/>
            </p:nvSpPr>
            <p:spPr>
              <a:xfrm>
                <a:off x="3069046" y="3253828"/>
                <a:ext cx="920897" cy="340478"/>
              </a:xfrm>
              <a:prstGeom prst="rect">
                <a:avLst/>
              </a:prstGeom>
              <a:blipFill>
                <a:blip r:embed="rId7"/>
                <a:stretch>
                  <a:fillRect t="-89286" r="-5405" b="-14285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0" name="ZoneTexte 69"/>
              <p:cNvSpPr txBox="1"/>
              <p:nvPr/>
            </p:nvSpPr>
            <p:spPr>
              <a:xfrm>
                <a:off x="3698685" y="4334886"/>
                <a:ext cx="355600" cy="3583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600" i="1" smtClean="0">
                              <a:latin typeface="Cambria Math" panose="02040503050406030204" pitchFamily="18" charset="0"/>
                            </a:rPr>
                          </m:ctrlPr>
                        </m:sSubPr>
                        <m:e>
                          <m:acc>
                            <m:accPr>
                              <m:chr m:val="̈"/>
                              <m:ctrlPr>
                                <a:rPr lang="fr-FR" sz="1600" i="1" smtClean="0">
                                  <a:latin typeface="Cambria Math" panose="02040503050406030204" pitchFamily="18" charset="0"/>
                                </a:rPr>
                              </m:ctrlPr>
                            </m:accPr>
                            <m:e>
                              <m:r>
                                <a:rPr lang="fr-FR" sz="1600" b="0" i="1" smtClean="0">
                                  <a:latin typeface="Cambria Math"/>
                                </a:rPr>
                                <m:t>𝑞</m:t>
                              </m:r>
                            </m:e>
                          </m:acc>
                        </m:e>
                        <m:sub>
                          <m:r>
                            <a:rPr lang="fr-FR" sz="1600" b="0" i="1" smtClean="0">
                              <a:latin typeface="Cambria Math"/>
                            </a:rPr>
                            <m:t>𝑗</m:t>
                          </m:r>
                        </m:sub>
                      </m:sSub>
                    </m:oMath>
                  </m:oMathPara>
                </a14:m>
                <a:endParaRPr lang="fr-FR" sz="1600" dirty="0"/>
              </a:p>
            </p:txBody>
          </p:sp>
        </mc:Choice>
        <mc:Fallback xmlns="">
          <p:sp>
            <p:nvSpPr>
              <p:cNvPr id="70" name="ZoneTexte 69"/>
              <p:cNvSpPr txBox="1">
                <a:spLocks noRot="1" noChangeAspect="1" noMove="1" noResize="1" noEditPoints="1" noAdjustHandles="1" noChangeArrowheads="1" noChangeShapeType="1" noTextEdit="1"/>
              </p:cNvSpPr>
              <p:nvPr/>
            </p:nvSpPr>
            <p:spPr>
              <a:xfrm>
                <a:off x="3698685" y="4334886"/>
                <a:ext cx="355600" cy="358368"/>
              </a:xfrm>
              <a:prstGeom prst="rect">
                <a:avLst/>
              </a:prstGeom>
              <a:blipFill>
                <a:blip r:embed="rId8"/>
                <a:stretch>
                  <a:fillRect b="-3448"/>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1" name="ZoneTexte 70"/>
              <p:cNvSpPr txBox="1"/>
              <p:nvPr/>
            </p:nvSpPr>
            <p:spPr>
              <a:xfrm>
                <a:off x="2882771" y="5079317"/>
                <a:ext cx="920897" cy="35541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type m:val="lin"/>
                          <m:ctrlPr>
                            <a:rPr lang="fr-FR" sz="1400" i="1" smtClean="0">
                              <a:latin typeface="Cambria Math" panose="02040503050406030204" pitchFamily="18" charset="0"/>
                            </a:rPr>
                          </m:ctrlPr>
                        </m:fPr>
                        <m:num>
                          <m:r>
                            <a:rPr lang="fr-FR" sz="1400" b="0" i="1" smtClean="0">
                              <a:latin typeface="Cambria Math"/>
                            </a:rPr>
                            <m:t>10</m:t>
                          </m:r>
                          <m:d>
                            <m:dPr>
                              <m:begChr m:val="|"/>
                              <m:endChr m:val="|"/>
                              <m:ctrlPr>
                                <a:rPr lang="fr-FR" sz="1400" i="1">
                                  <a:latin typeface="Cambria Math" panose="02040503050406030204" pitchFamily="18" charset="0"/>
                                </a:rPr>
                              </m:ctrlPr>
                            </m:dPr>
                            <m:e>
                              <m:sSub>
                                <m:sSubPr>
                                  <m:ctrlPr>
                                    <a:rPr lang="fr-FR" sz="1400" i="1">
                                      <a:latin typeface="Cambria Math" panose="02040503050406030204" pitchFamily="18" charset="0"/>
                                    </a:rPr>
                                  </m:ctrlPr>
                                </m:sSubPr>
                                <m:e>
                                  <m:r>
                                    <a:rPr lang="fr-FR" sz="1400" i="1">
                                      <a:latin typeface="Cambria Math"/>
                                    </a:rPr>
                                    <m:t>𝐷</m:t>
                                  </m:r>
                                </m:e>
                                <m:sub>
                                  <m:r>
                                    <a:rPr lang="fr-FR" sz="1400" i="1">
                                      <a:latin typeface="Cambria Math"/>
                                    </a:rPr>
                                    <m:t>𝑗</m:t>
                                  </m:r>
                                </m:sub>
                              </m:sSub>
                            </m:e>
                          </m:d>
                          <m:r>
                            <m:rPr>
                              <m:nor/>
                            </m:rPr>
                            <a:rPr lang="fr-FR" sz="1400" dirty="0"/>
                            <m:t> </m:t>
                          </m:r>
                        </m:num>
                        <m:den>
                          <m:rad>
                            <m:radPr>
                              <m:degHide m:val="on"/>
                              <m:ctrlPr>
                                <a:rPr lang="fr-FR" sz="1400" i="1" smtClean="0">
                                  <a:latin typeface="Cambria Math" panose="02040503050406030204" pitchFamily="18" charset="0"/>
                                </a:rPr>
                              </m:ctrlPr>
                            </m:radPr>
                            <m:deg/>
                            <m:e>
                              <m:r>
                                <a:rPr lang="fr-FR" sz="1400" b="0" i="1" smtClean="0">
                                  <a:latin typeface="Cambria Math"/>
                                </a:rPr>
                                <m:t>3</m:t>
                              </m:r>
                            </m:e>
                          </m:rad>
                          <m:sSup>
                            <m:sSupPr>
                              <m:ctrlPr>
                                <a:rPr lang="fr-FR" sz="1400" i="1" smtClean="0">
                                  <a:latin typeface="Cambria Math" panose="02040503050406030204" pitchFamily="18" charset="0"/>
                                </a:rPr>
                              </m:ctrlPr>
                            </m:sSupPr>
                            <m:e>
                              <m:sSub>
                                <m:sSubPr>
                                  <m:ctrlPr>
                                    <a:rPr lang="fr-FR" sz="1400" i="1">
                                      <a:latin typeface="Cambria Math" panose="02040503050406030204" pitchFamily="18" charset="0"/>
                                    </a:rPr>
                                  </m:ctrlPr>
                                </m:sSubPr>
                                <m:e>
                                  <m:r>
                                    <m:rPr>
                                      <m:sty m:val="p"/>
                                    </m:rPr>
                                    <a:rPr lang="fr-FR" sz="1400">
                                      <a:latin typeface="Cambria Math"/>
                                    </a:rPr>
                                    <m:t>t</m:t>
                                  </m:r>
                                </m:e>
                                <m:sub>
                                  <m:r>
                                    <m:rPr>
                                      <m:sty m:val="p"/>
                                    </m:rPr>
                                    <a:rPr lang="fr-FR" sz="1400">
                                      <a:latin typeface="Cambria Math"/>
                                    </a:rPr>
                                    <m:t>f</m:t>
                                  </m:r>
                                </m:sub>
                              </m:sSub>
                            </m:e>
                            <m:sup>
                              <m:r>
                                <a:rPr lang="fr-FR" sz="1400" b="0" i="1" smtClean="0">
                                  <a:latin typeface="Cambria Math"/>
                                </a:rPr>
                                <m:t>2</m:t>
                              </m:r>
                            </m:sup>
                          </m:sSup>
                        </m:den>
                      </m:f>
                    </m:oMath>
                  </m:oMathPara>
                </a14:m>
                <a:endParaRPr lang="fr-FR" sz="1400" dirty="0"/>
              </a:p>
            </p:txBody>
          </p:sp>
        </mc:Choice>
        <mc:Fallback xmlns="">
          <p:sp>
            <p:nvSpPr>
              <p:cNvPr id="71" name="ZoneTexte 70"/>
              <p:cNvSpPr txBox="1">
                <a:spLocks noRot="1" noChangeAspect="1" noMove="1" noResize="1" noEditPoints="1" noAdjustHandles="1" noChangeArrowheads="1" noChangeShapeType="1" noTextEdit="1"/>
              </p:cNvSpPr>
              <p:nvPr/>
            </p:nvSpPr>
            <p:spPr>
              <a:xfrm>
                <a:off x="2882771" y="5079317"/>
                <a:ext cx="920897" cy="355418"/>
              </a:xfrm>
              <a:prstGeom prst="rect">
                <a:avLst/>
              </a:prstGeom>
              <a:blipFill>
                <a:blip r:embed="rId9"/>
                <a:stretch>
                  <a:fillRect t="-76667" r="-27397" b="-13333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2" name="ZoneTexte 71"/>
              <p:cNvSpPr txBox="1"/>
              <p:nvPr/>
            </p:nvSpPr>
            <p:spPr>
              <a:xfrm>
                <a:off x="5110815" y="5782216"/>
                <a:ext cx="520700" cy="307777"/>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type m:val="lin"/>
                          <m:ctrlPr>
                            <a:rPr lang="fr-FR" sz="1400" i="1" smtClean="0">
                              <a:latin typeface="Cambria Math" panose="02040503050406030204" pitchFamily="18" charset="0"/>
                            </a:rPr>
                          </m:ctrlPr>
                        </m:fPr>
                        <m:num>
                          <m:sSub>
                            <m:sSubPr>
                              <m:ctrlPr>
                                <a:rPr lang="fr-FR" sz="1400" i="1" smtClean="0">
                                  <a:latin typeface="Cambria Math" panose="02040503050406030204" pitchFamily="18" charset="0"/>
                                </a:rPr>
                              </m:ctrlPr>
                            </m:sSubPr>
                            <m:e>
                              <m:r>
                                <m:rPr>
                                  <m:sty m:val="p"/>
                                </m:rPr>
                                <a:rPr lang="fr-FR" sz="1400" b="0" i="0" smtClean="0">
                                  <a:latin typeface="Cambria Math"/>
                                </a:rPr>
                                <m:t>t</m:t>
                              </m:r>
                            </m:e>
                            <m:sub>
                              <m:r>
                                <m:rPr>
                                  <m:sty m:val="p"/>
                                </m:rPr>
                                <a:rPr lang="fr-FR" sz="1400" b="0" i="0" smtClean="0">
                                  <a:latin typeface="Cambria Math"/>
                                </a:rPr>
                                <m:t>f</m:t>
                              </m:r>
                            </m:sub>
                          </m:sSub>
                        </m:num>
                        <m:den>
                          <m:r>
                            <a:rPr lang="fr-FR" sz="1400" b="0" i="1" smtClean="0">
                              <a:latin typeface="Cambria Math"/>
                            </a:rPr>
                            <m:t>2</m:t>
                          </m:r>
                        </m:den>
                      </m:f>
                    </m:oMath>
                  </m:oMathPara>
                </a14:m>
                <a:endParaRPr lang="fr-FR" sz="1400" dirty="0"/>
              </a:p>
            </p:txBody>
          </p:sp>
        </mc:Choice>
        <mc:Fallback xmlns="">
          <p:sp>
            <p:nvSpPr>
              <p:cNvPr id="72" name="ZoneTexte 71"/>
              <p:cNvSpPr txBox="1">
                <a:spLocks noRot="1" noChangeAspect="1" noMove="1" noResize="1" noEditPoints="1" noAdjustHandles="1" noChangeArrowheads="1" noChangeShapeType="1" noTextEdit="1"/>
              </p:cNvSpPr>
              <p:nvPr/>
            </p:nvSpPr>
            <p:spPr>
              <a:xfrm>
                <a:off x="5110815" y="5782216"/>
                <a:ext cx="520700" cy="307777"/>
              </a:xfrm>
              <a:prstGeom prst="rect">
                <a:avLst/>
              </a:prstGeom>
              <a:blipFill>
                <a:blip r:embed="rId10"/>
                <a:stretch>
                  <a:fillRect l="-21429" t="-100000" r="-4762" b="-168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3" name="ZoneTexte 72"/>
              <p:cNvSpPr txBox="1"/>
              <p:nvPr/>
            </p:nvSpPr>
            <p:spPr>
              <a:xfrm>
                <a:off x="3702190" y="2602105"/>
                <a:ext cx="406436" cy="35836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fr-FR" sz="1600" i="1" smtClean="0">
                              <a:latin typeface="Cambria Math" panose="02040503050406030204" pitchFamily="18" charset="0"/>
                            </a:rPr>
                          </m:ctrlPr>
                        </m:sSubPr>
                        <m:e>
                          <m:acc>
                            <m:accPr>
                              <m:chr m:val="̇"/>
                              <m:ctrlPr>
                                <a:rPr lang="fr-FR" sz="1600" i="1" smtClean="0">
                                  <a:latin typeface="Cambria Math" panose="02040503050406030204" pitchFamily="18" charset="0"/>
                                </a:rPr>
                              </m:ctrlPr>
                            </m:accPr>
                            <m:e>
                              <m:r>
                                <a:rPr lang="fr-FR" sz="1600" b="0" i="1" smtClean="0">
                                  <a:latin typeface="Cambria Math"/>
                                </a:rPr>
                                <m:t>𝑞</m:t>
                              </m:r>
                            </m:e>
                          </m:acc>
                        </m:e>
                        <m:sub>
                          <m:r>
                            <a:rPr lang="fr-FR" sz="1600" b="0" i="1" smtClean="0">
                              <a:latin typeface="Cambria Math"/>
                            </a:rPr>
                            <m:t>𝑗</m:t>
                          </m:r>
                        </m:sub>
                      </m:sSub>
                    </m:oMath>
                  </m:oMathPara>
                </a14:m>
                <a:endParaRPr lang="fr-FR" sz="1600" dirty="0"/>
              </a:p>
            </p:txBody>
          </p:sp>
        </mc:Choice>
        <mc:Fallback xmlns="">
          <p:sp>
            <p:nvSpPr>
              <p:cNvPr id="73" name="ZoneTexte 72"/>
              <p:cNvSpPr txBox="1">
                <a:spLocks noRot="1" noChangeAspect="1" noMove="1" noResize="1" noEditPoints="1" noAdjustHandles="1" noChangeArrowheads="1" noChangeShapeType="1" noTextEdit="1"/>
              </p:cNvSpPr>
              <p:nvPr/>
            </p:nvSpPr>
            <p:spPr>
              <a:xfrm>
                <a:off x="3702190" y="2602105"/>
                <a:ext cx="406436" cy="358368"/>
              </a:xfrm>
              <a:prstGeom prst="rect">
                <a:avLst/>
              </a:prstGeom>
              <a:blipFill>
                <a:blip r:embed="rId11"/>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4" name="ZoneTexte 73"/>
              <p:cNvSpPr txBox="1"/>
              <p:nvPr/>
            </p:nvSpPr>
            <p:spPr>
              <a:xfrm>
                <a:off x="7002160" y="2044414"/>
                <a:ext cx="35560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fr-FR" sz="1600" b="0" i="0" smtClean="0">
                          <a:latin typeface="Cambria Math"/>
                        </a:rPr>
                        <m:t>t</m:t>
                      </m:r>
                    </m:oMath>
                  </m:oMathPara>
                </a14:m>
                <a:endParaRPr lang="fr-FR" sz="1600" dirty="0"/>
              </a:p>
            </p:txBody>
          </p:sp>
        </mc:Choice>
        <mc:Fallback xmlns="">
          <p:sp>
            <p:nvSpPr>
              <p:cNvPr id="74" name="ZoneTexte 73"/>
              <p:cNvSpPr txBox="1">
                <a:spLocks noRot="1" noChangeAspect="1" noMove="1" noResize="1" noEditPoints="1" noAdjustHandles="1" noChangeArrowheads="1" noChangeShapeType="1" noTextEdit="1"/>
              </p:cNvSpPr>
              <p:nvPr/>
            </p:nvSpPr>
            <p:spPr>
              <a:xfrm>
                <a:off x="7002160" y="2044414"/>
                <a:ext cx="355600" cy="338554"/>
              </a:xfrm>
              <a:prstGeom prst="rect">
                <a:avLst/>
              </a:prstGeom>
              <a:blipFill>
                <a:blip r:embed="rId12"/>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5" name="ZoneTexte 74"/>
              <p:cNvSpPr txBox="1"/>
              <p:nvPr/>
            </p:nvSpPr>
            <p:spPr>
              <a:xfrm>
                <a:off x="1345737" y="1532115"/>
                <a:ext cx="963725"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fr-FR" sz="1600" b="0" i="0" smtClean="0">
                          <a:latin typeface="Cambria Math"/>
                        </a:rPr>
                        <m:t>Position</m:t>
                      </m:r>
                    </m:oMath>
                  </m:oMathPara>
                </a14:m>
                <a:endParaRPr lang="fr-FR" sz="1600" dirty="0"/>
              </a:p>
            </p:txBody>
          </p:sp>
        </mc:Choice>
        <mc:Fallback xmlns="">
          <p:sp>
            <p:nvSpPr>
              <p:cNvPr id="75" name="ZoneTexte 74"/>
              <p:cNvSpPr txBox="1">
                <a:spLocks noRot="1" noChangeAspect="1" noMove="1" noResize="1" noEditPoints="1" noAdjustHandles="1" noChangeArrowheads="1" noChangeShapeType="1" noTextEdit="1"/>
              </p:cNvSpPr>
              <p:nvPr/>
            </p:nvSpPr>
            <p:spPr>
              <a:xfrm>
                <a:off x="1345737" y="1532115"/>
                <a:ext cx="963725" cy="338554"/>
              </a:xfrm>
              <a:prstGeom prst="rect">
                <a:avLst/>
              </a:prstGeom>
              <a:blipFill>
                <a:blip r:embed="rId13"/>
                <a:stretch>
                  <a:fillRect/>
                </a:stretch>
              </a:blipFill>
            </p:spPr>
            <p:txBody>
              <a:bodyPr/>
              <a:lstStyle/>
              <a:p>
                <a:r>
                  <a:rPr lang="fr-FR">
                    <a:noFill/>
                  </a:rPr>
                  <a:t> </a:t>
                </a:r>
              </a:p>
            </p:txBody>
          </p:sp>
        </mc:Fallback>
      </mc:AlternateContent>
      <p:sp>
        <p:nvSpPr>
          <p:cNvPr id="76" name="ZoneTexte 75"/>
          <p:cNvSpPr txBox="1"/>
          <p:nvPr/>
        </p:nvSpPr>
        <p:spPr>
          <a:xfrm>
            <a:off x="1345737" y="3390246"/>
            <a:ext cx="889859" cy="338554"/>
          </a:xfrm>
          <a:prstGeom prst="rect">
            <a:avLst/>
          </a:prstGeom>
          <a:noFill/>
        </p:spPr>
        <p:txBody>
          <a:bodyPr wrap="none" rtlCol="0">
            <a:spAutoFit/>
          </a:bodyPr>
          <a:lstStyle/>
          <a:p>
            <a:r>
              <a:rPr lang="en-GB" sz="1600" dirty="0"/>
              <a:t>Velocity</a:t>
            </a:r>
          </a:p>
        </p:txBody>
      </p:sp>
      <p:sp>
        <p:nvSpPr>
          <p:cNvPr id="77" name="ZoneTexte 76"/>
          <p:cNvSpPr txBox="1"/>
          <p:nvPr/>
        </p:nvSpPr>
        <p:spPr>
          <a:xfrm>
            <a:off x="1345736" y="5121411"/>
            <a:ext cx="1311578" cy="338554"/>
          </a:xfrm>
          <a:prstGeom prst="rect">
            <a:avLst/>
          </a:prstGeom>
          <a:noFill/>
        </p:spPr>
        <p:txBody>
          <a:bodyPr wrap="none" rtlCol="0">
            <a:spAutoFit/>
          </a:bodyPr>
          <a:lstStyle/>
          <a:p>
            <a:r>
              <a:rPr lang="en-GB" sz="1600" dirty="0"/>
              <a:t>Acceleration</a:t>
            </a:r>
          </a:p>
        </p:txBody>
      </p:sp>
      <p:sp>
        <p:nvSpPr>
          <p:cNvPr id="59" name="Titre 2">
            <a:extLst>
              <a:ext uri="{FF2B5EF4-FFF2-40B4-BE49-F238E27FC236}">
                <a16:creationId xmlns:a16="http://schemas.microsoft.com/office/drawing/2014/main" id="{0D0BB406-0C2A-BF4E-BAEF-A6E22C5E2FEF}"/>
              </a:ext>
            </a:extLst>
          </p:cNvPr>
          <p:cNvSpPr>
            <a:spLocks noGrp="1"/>
          </p:cNvSpPr>
          <p:nvPr>
            <p:ph type="title"/>
          </p:nvPr>
        </p:nvSpPr>
        <p:spPr>
          <a:xfrm>
            <a:off x="300790" y="0"/>
            <a:ext cx="8229600" cy="785812"/>
          </a:xfrm>
        </p:spPr>
        <p:txBody>
          <a:bodyPr/>
          <a:lstStyle/>
          <a:p>
            <a:r>
              <a:rPr lang="en-GB" dirty="0"/>
              <a:t>Motion between 2 points in the joint space
</a:t>
            </a:r>
          </a:p>
        </p:txBody>
      </p:sp>
    </p:spTree>
    <p:extLst>
      <p:ext uri="{BB962C8B-B14F-4D97-AF65-F5344CB8AC3E}">
        <p14:creationId xmlns:p14="http://schemas.microsoft.com/office/powerpoint/2010/main" val="3627938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Espace réservé du contenu 3"/>
              <p:cNvGraphicFramePr>
                <a:graphicFrameLocks noGrp="1"/>
              </p:cNvGraphicFramePr>
              <p:nvPr>
                <p:ph sz="quarter" idx="1"/>
                <p:extLst>
                  <p:ext uri="{D42A27DB-BD31-4B8C-83A1-F6EECF244321}">
                    <p14:modId xmlns:p14="http://schemas.microsoft.com/office/powerpoint/2010/main" val="3293949246"/>
                  </p:ext>
                </p:extLst>
              </p:nvPr>
            </p:nvGraphicFramePr>
            <p:xfrm>
              <a:off x="910125" y="2210091"/>
              <a:ext cx="7010930" cy="1614615"/>
            </p:xfrm>
            <a:graphic>
              <a:graphicData uri="http://schemas.openxmlformats.org/drawingml/2006/table">
                <a:tbl>
                  <a:tblPr firstRow="1" bandRow="1">
                    <a:tableStyleId>{5C22544A-7EE6-4342-B048-85BDC9FD1C3A}</a:tableStyleId>
                  </a:tblPr>
                  <a:tblGrid>
                    <a:gridCol w="3504575">
                      <a:extLst>
                        <a:ext uri="{9D8B030D-6E8A-4147-A177-3AD203B41FA5}">
                          <a16:colId xmlns:a16="http://schemas.microsoft.com/office/drawing/2014/main" val="20000"/>
                        </a:ext>
                      </a:extLst>
                    </a:gridCol>
                    <a:gridCol w="3506355">
                      <a:extLst>
                        <a:ext uri="{9D8B030D-6E8A-4147-A177-3AD203B41FA5}">
                          <a16:colId xmlns:a16="http://schemas.microsoft.com/office/drawing/2014/main" val="20001"/>
                        </a:ext>
                      </a:extLst>
                    </a:gridCol>
                  </a:tblGrid>
                  <a:tr h="473171">
                    <a:tc>
                      <a:txBody>
                        <a:bodyPr/>
                        <a:lstStyle/>
                        <a:p>
                          <a:pPr algn="ctr"/>
                          <a:r>
                            <a:rPr lang="en-GB" noProof="0" dirty="0"/>
                            <a:t>Interpolation function
</a:t>
                          </a:r>
                        </a:p>
                      </a:txBody>
                      <a:tcPr/>
                    </a:tc>
                    <a:tc>
                      <a:txBody>
                        <a:bodyPr/>
                        <a:lstStyle/>
                        <a:p>
                          <a:pPr algn="ctr"/>
                          <a:r>
                            <a:rPr lang="fr-FR" dirty="0"/>
                            <a:t>Minimum time
</a:t>
                          </a:r>
                        </a:p>
                      </a:txBody>
                      <a:tcPr/>
                    </a:tc>
                    <a:extLst>
                      <a:ext uri="{0D108BD9-81ED-4DB2-BD59-A6C34878D82A}">
                        <a16:rowId xmlns:a16="http://schemas.microsoft.com/office/drawing/2014/main" val="10000"/>
                      </a:ext>
                    </a:extLst>
                  </a:tr>
                  <a:tr h="862417">
                    <a:tc>
                      <a:txBody>
                        <a:bodyPr/>
                        <a:lstStyle/>
                        <a:p>
                          <a:pPr algn="ctr"/>
                          <a:r>
                            <a:rPr lang="en-GB" noProof="0" dirty="0"/>
                            <a:t>5th order polynomial equation</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m:rPr>
                                        <m:sty m:val="p"/>
                                      </m:rPr>
                                      <a:rPr lang="fr-FR" b="0" i="0" smtClean="0">
                                        <a:latin typeface="Cambria Math"/>
                                      </a:rPr>
                                      <m:t>t</m:t>
                                    </m:r>
                                  </m:e>
                                  <m:sub>
                                    <m:sSub>
                                      <m:sSubPr>
                                        <m:ctrlPr>
                                          <a:rPr lang="fr-FR" i="1" smtClean="0">
                                            <a:latin typeface="Cambria Math" panose="02040503050406030204" pitchFamily="18" charset="0"/>
                                          </a:rPr>
                                        </m:ctrlPr>
                                      </m:sSubPr>
                                      <m:e>
                                        <m:r>
                                          <m:rPr>
                                            <m:sty m:val="p"/>
                                          </m:rPr>
                                          <a:rPr lang="fr-FR" b="0" i="0" smtClean="0">
                                            <a:latin typeface="Cambria Math"/>
                                          </a:rPr>
                                          <m:t>f</m:t>
                                        </m:r>
                                      </m:e>
                                      <m:sub>
                                        <m:r>
                                          <a:rPr lang="fr-FR" b="0" i="1" smtClean="0">
                                            <a:latin typeface="Cambria Math"/>
                                          </a:rPr>
                                          <m:t>𝑗</m:t>
                                        </m:r>
                                      </m:sub>
                                    </m:sSub>
                                  </m:sub>
                                </m:sSub>
                                <m:r>
                                  <a:rPr lang="fr-FR" b="0" i="1" smtClean="0">
                                    <a:latin typeface="Cambria Math"/>
                                  </a:rPr>
                                  <m:t>=</m:t>
                                </m:r>
                                <m:r>
                                  <m:rPr>
                                    <m:sty m:val="p"/>
                                  </m:rPr>
                                  <a:rPr lang="fr-FR" b="0" i="0" smtClean="0">
                                    <a:latin typeface="Cambria Math"/>
                                  </a:rPr>
                                  <m:t>max</m:t>
                                </m:r>
                                <m:r>
                                  <a:rPr lang="fr-FR" b="0" i="1" smtClean="0">
                                    <a:latin typeface="Cambria Math"/>
                                  </a:rPr>
                                  <m:t>⁡</m:t>
                                </m:r>
                                <m:d>
                                  <m:dPr>
                                    <m:ctrlPr>
                                      <a:rPr lang="fr-FR" b="0" i="1" smtClean="0">
                                        <a:latin typeface="Cambria Math" panose="02040503050406030204" pitchFamily="18" charset="0"/>
                                      </a:rPr>
                                    </m:ctrlPr>
                                  </m:dPr>
                                  <m:e>
                                    <m:f>
                                      <m:fPr>
                                        <m:ctrlPr>
                                          <a:rPr lang="fr-FR" b="0" i="1" smtClean="0">
                                            <a:latin typeface="Cambria Math" panose="02040503050406030204" pitchFamily="18" charset="0"/>
                                          </a:rPr>
                                        </m:ctrlPr>
                                      </m:fPr>
                                      <m:num>
                                        <m:r>
                                          <a:rPr lang="fr-FR" b="0" i="1" smtClean="0">
                                            <a:latin typeface="Cambria Math"/>
                                          </a:rPr>
                                          <m:t>15</m:t>
                                        </m:r>
                                        <m:d>
                                          <m:dPr>
                                            <m:begChr m:val="|"/>
                                            <m:endChr m:val="|"/>
                                            <m:ctrlPr>
                                              <a:rPr lang="fr-FR" b="0" i="1" smtClean="0">
                                                <a:latin typeface="Cambria Math" panose="02040503050406030204" pitchFamily="18" charset="0"/>
                                              </a:rPr>
                                            </m:ctrlPr>
                                          </m:dPr>
                                          <m:e>
                                            <m:sSub>
                                              <m:sSubPr>
                                                <m:ctrlPr>
                                                  <a:rPr lang="fr-FR" b="0" i="1" smtClean="0">
                                                    <a:latin typeface="Cambria Math" panose="02040503050406030204" pitchFamily="18" charset="0"/>
                                                  </a:rPr>
                                                </m:ctrlPr>
                                              </m:sSubPr>
                                              <m:e>
                                                <m:r>
                                                  <a:rPr lang="fr-FR" b="0" i="1" smtClean="0">
                                                    <a:latin typeface="Cambria Math"/>
                                                  </a:rPr>
                                                  <m:t>𝐷</m:t>
                                                </m:r>
                                              </m:e>
                                              <m:sub>
                                                <m:r>
                                                  <a:rPr lang="fr-FR" b="0" i="1" smtClean="0">
                                                    <a:latin typeface="Cambria Math"/>
                                                  </a:rPr>
                                                  <m:t>𝑗</m:t>
                                                </m:r>
                                              </m:sub>
                                            </m:sSub>
                                          </m:e>
                                        </m:d>
                                      </m:num>
                                      <m:den>
                                        <m:r>
                                          <a:rPr lang="fr-FR" b="0" i="1" smtClean="0">
                                            <a:latin typeface="Cambria Math"/>
                                          </a:rPr>
                                          <m:t>8</m:t>
                                        </m:r>
                                        <m:sSub>
                                          <m:sSubPr>
                                            <m:ctrlPr>
                                              <a:rPr lang="fr-FR" b="0" i="1" smtClean="0">
                                                <a:latin typeface="Cambria Math" panose="02040503050406030204" pitchFamily="18" charset="0"/>
                                              </a:rPr>
                                            </m:ctrlPr>
                                          </m:sSubPr>
                                          <m:e>
                                            <m:r>
                                              <a:rPr lang="fr-FR" b="0" i="1" smtClean="0">
                                                <a:latin typeface="Cambria Math"/>
                                              </a:rPr>
                                              <m:t>𝑘</m:t>
                                            </m:r>
                                          </m:e>
                                          <m:sub>
                                            <m:sSub>
                                              <m:sSubPr>
                                                <m:ctrlPr>
                                                  <a:rPr lang="fr-FR" b="0" i="1" smtClean="0">
                                                    <a:latin typeface="Cambria Math" panose="02040503050406030204" pitchFamily="18" charset="0"/>
                                                  </a:rPr>
                                                </m:ctrlPr>
                                              </m:sSubPr>
                                              <m:e>
                                                <m:r>
                                                  <a:rPr lang="fr-FR" b="0" i="1" smtClean="0">
                                                    <a:latin typeface="Cambria Math"/>
                                                  </a:rPr>
                                                  <m:t>𝑣</m:t>
                                                </m:r>
                                              </m:e>
                                              <m:sub>
                                                <m:r>
                                                  <a:rPr lang="fr-FR" b="0" i="1" smtClean="0">
                                                    <a:latin typeface="Cambria Math"/>
                                                  </a:rPr>
                                                  <m:t>𝑗</m:t>
                                                </m:r>
                                              </m:sub>
                                            </m:sSub>
                                          </m:sub>
                                        </m:sSub>
                                      </m:den>
                                    </m:f>
                                    <m:r>
                                      <a:rPr lang="fr-FR" b="0" i="1" smtClean="0">
                                        <a:latin typeface="Cambria Math"/>
                                      </a:rPr>
                                      <m:t>, </m:t>
                                    </m:r>
                                    <m:rad>
                                      <m:radPr>
                                        <m:degHide m:val="on"/>
                                        <m:ctrlPr>
                                          <a:rPr lang="fr-FR" b="0" i="1" smtClean="0">
                                            <a:latin typeface="Cambria Math" panose="02040503050406030204" pitchFamily="18" charset="0"/>
                                          </a:rPr>
                                        </m:ctrlPr>
                                      </m:radPr>
                                      <m:deg/>
                                      <m:e>
                                        <m:f>
                                          <m:fPr>
                                            <m:ctrlPr>
                                              <a:rPr lang="fr-FR" b="0" i="1" smtClean="0">
                                                <a:latin typeface="Cambria Math" panose="02040503050406030204" pitchFamily="18" charset="0"/>
                                              </a:rPr>
                                            </m:ctrlPr>
                                          </m:fPr>
                                          <m:num>
                                            <m:r>
                                              <a:rPr lang="fr-FR" b="0" i="1" smtClean="0">
                                                <a:latin typeface="Cambria Math"/>
                                              </a:rPr>
                                              <m:t>10</m:t>
                                            </m:r>
                                            <m:d>
                                              <m:dPr>
                                                <m:begChr m:val="|"/>
                                                <m:endChr m:val="|"/>
                                                <m:ctrlPr>
                                                  <a:rPr lang="fr-FR" b="0" i="1" smtClean="0">
                                                    <a:latin typeface="Cambria Math" panose="02040503050406030204" pitchFamily="18" charset="0"/>
                                                  </a:rPr>
                                                </m:ctrlPr>
                                              </m:dPr>
                                              <m:e>
                                                <m:sSub>
                                                  <m:sSubPr>
                                                    <m:ctrlPr>
                                                      <a:rPr lang="fr-FR" b="0" i="1" smtClean="0">
                                                        <a:latin typeface="Cambria Math" panose="02040503050406030204" pitchFamily="18" charset="0"/>
                                                      </a:rPr>
                                                    </m:ctrlPr>
                                                  </m:sSubPr>
                                                  <m:e>
                                                    <m:r>
                                                      <a:rPr lang="fr-FR" b="0" i="1" smtClean="0">
                                                        <a:latin typeface="Cambria Math"/>
                                                      </a:rPr>
                                                      <m:t>𝐷</m:t>
                                                    </m:r>
                                                  </m:e>
                                                  <m:sub>
                                                    <m:r>
                                                      <a:rPr lang="fr-FR" b="0" i="1" smtClean="0">
                                                        <a:latin typeface="Cambria Math"/>
                                                      </a:rPr>
                                                      <m:t>𝑗</m:t>
                                                    </m:r>
                                                  </m:sub>
                                                </m:sSub>
                                              </m:e>
                                            </m:d>
                                          </m:num>
                                          <m:den>
                                            <m:rad>
                                              <m:radPr>
                                                <m:degHide m:val="on"/>
                                                <m:ctrlPr>
                                                  <a:rPr lang="fr-FR" b="0" i="1" smtClean="0">
                                                    <a:latin typeface="Cambria Math" panose="02040503050406030204" pitchFamily="18" charset="0"/>
                                                  </a:rPr>
                                                </m:ctrlPr>
                                              </m:radPr>
                                              <m:deg/>
                                              <m:e>
                                                <m:r>
                                                  <a:rPr lang="fr-FR" b="0" i="1" smtClean="0">
                                                    <a:latin typeface="Cambria Math"/>
                                                  </a:rPr>
                                                  <m:t>3</m:t>
                                                </m:r>
                                              </m:e>
                                            </m:rad>
                                            <m:sSub>
                                              <m:sSubPr>
                                                <m:ctrlPr>
                                                  <a:rPr lang="fr-FR" b="0" i="1" smtClean="0">
                                                    <a:latin typeface="Cambria Math" panose="02040503050406030204" pitchFamily="18" charset="0"/>
                                                  </a:rPr>
                                                </m:ctrlPr>
                                              </m:sSubPr>
                                              <m:e>
                                                <m:r>
                                                  <a:rPr lang="fr-FR" b="0" i="1" smtClean="0">
                                                    <a:latin typeface="Cambria Math"/>
                                                  </a:rPr>
                                                  <m:t>𝑘</m:t>
                                                </m:r>
                                              </m:e>
                                              <m:sub>
                                                <m:sSub>
                                                  <m:sSubPr>
                                                    <m:ctrlPr>
                                                      <a:rPr lang="fr-FR" b="0" i="1" smtClean="0">
                                                        <a:latin typeface="Cambria Math" panose="02040503050406030204" pitchFamily="18" charset="0"/>
                                                      </a:rPr>
                                                    </m:ctrlPr>
                                                  </m:sSubPr>
                                                  <m:e>
                                                    <m:r>
                                                      <a:rPr lang="fr-FR" b="0" i="1" smtClean="0">
                                                        <a:latin typeface="Cambria Math"/>
                                                      </a:rPr>
                                                      <m:t>𝑎</m:t>
                                                    </m:r>
                                                  </m:e>
                                                  <m:sub>
                                                    <m:r>
                                                      <a:rPr lang="fr-FR" b="0" i="1" smtClean="0">
                                                        <a:latin typeface="Cambria Math"/>
                                                      </a:rPr>
                                                      <m:t>𝑗</m:t>
                                                    </m:r>
                                                  </m:sub>
                                                </m:sSub>
                                              </m:sub>
                                            </m:sSub>
                                          </m:den>
                                        </m:f>
                                      </m:e>
                                    </m:rad>
                                  </m:e>
                                </m:d>
                              </m:oMath>
                            </m:oMathPara>
                          </a14:m>
                          <a:endParaRPr lang="fr-FR" dirty="0"/>
                        </a:p>
                      </a:txBody>
                      <a:tcPr/>
                    </a:tc>
                    <a:extLst>
                      <a:ext uri="{0D108BD9-81ED-4DB2-BD59-A6C34878D82A}">
                        <a16:rowId xmlns:a16="http://schemas.microsoft.com/office/drawing/2014/main" val="10003"/>
                      </a:ext>
                    </a:extLst>
                  </a:tr>
                </a:tbl>
              </a:graphicData>
            </a:graphic>
          </p:graphicFrame>
        </mc:Choice>
        <mc:Fallback xmlns="">
          <p:graphicFrame>
            <p:nvGraphicFramePr>
              <p:cNvPr id="4" name="Espace réservé du contenu 3"/>
              <p:cNvGraphicFramePr>
                <a:graphicFrameLocks noGrp="1"/>
              </p:cNvGraphicFramePr>
              <p:nvPr>
                <p:ph sz="quarter" idx="1"/>
                <p:extLst>
                  <p:ext uri="{D42A27DB-BD31-4B8C-83A1-F6EECF244321}">
                    <p14:modId xmlns:p14="http://schemas.microsoft.com/office/powerpoint/2010/main" val="3293949246"/>
                  </p:ext>
                </p:extLst>
              </p:nvPr>
            </p:nvGraphicFramePr>
            <p:xfrm>
              <a:off x="910125" y="2210091"/>
              <a:ext cx="7010930" cy="1614615"/>
            </p:xfrm>
            <a:graphic>
              <a:graphicData uri="http://schemas.openxmlformats.org/drawingml/2006/table">
                <a:tbl>
                  <a:tblPr firstRow="1" bandRow="1">
                    <a:tableStyleId>{5C22544A-7EE6-4342-B048-85BDC9FD1C3A}</a:tableStyleId>
                  </a:tblPr>
                  <a:tblGrid>
                    <a:gridCol w="3504575">
                      <a:extLst>
                        <a:ext uri="{9D8B030D-6E8A-4147-A177-3AD203B41FA5}">
                          <a16:colId xmlns:a16="http://schemas.microsoft.com/office/drawing/2014/main" val="20000"/>
                        </a:ext>
                      </a:extLst>
                    </a:gridCol>
                    <a:gridCol w="3506355">
                      <a:extLst>
                        <a:ext uri="{9D8B030D-6E8A-4147-A177-3AD203B41FA5}">
                          <a16:colId xmlns:a16="http://schemas.microsoft.com/office/drawing/2014/main" val="20001"/>
                        </a:ext>
                      </a:extLst>
                    </a:gridCol>
                  </a:tblGrid>
                  <a:tr h="640080">
                    <a:tc>
                      <a:txBody>
                        <a:bodyPr/>
                        <a:lstStyle/>
                        <a:p>
                          <a:pPr algn="ctr"/>
                          <a:r>
                            <a:rPr lang="en-GB" noProof="0" dirty="0"/>
                            <a:t>Interpolation function
</a:t>
                          </a:r>
                        </a:p>
                      </a:txBody>
                      <a:tcPr/>
                    </a:tc>
                    <a:tc>
                      <a:txBody>
                        <a:bodyPr/>
                        <a:lstStyle/>
                        <a:p>
                          <a:pPr algn="ctr"/>
                          <a:r>
                            <a:rPr lang="fr-FR" dirty="0"/>
                            <a:t>Minimum time
</a:t>
                          </a:r>
                        </a:p>
                      </a:txBody>
                      <a:tcPr/>
                    </a:tc>
                    <a:extLst>
                      <a:ext uri="{0D108BD9-81ED-4DB2-BD59-A6C34878D82A}">
                        <a16:rowId xmlns:a16="http://schemas.microsoft.com/office/drawing/2014/main" val="10000"/>
                      </a:ext>
                    </a:extLst>
                  </a:tr>
                  <a:tr h="974535">
                    <a:tc>
                      <a:txBody>
                        <a:bodyPr/>
                        <a:lstStyle/>
                        <a:p>
                          <a:pPr algn="ctr"/>
                          <a:r>
                            <a:rPr lang="en-GB" noProof="0" dirty="0"/>
                            <a:t>5th order polynomial equation</a:t>
                          </a:r>
                        </a:p>
                      </a:txBody>
                      <a:tcPr/>
                    </a:tc>
                    <a:tc>
                      <a:txBody>
                        <a:bodyPr/>
                        <a:lstStyle/>
                        <a:p>
                          <a:endParaRPr lang="fr-FR"/>
                        </a:p>
                      </a:txBody>
                      <a:tcPr>
                        <a:blipFill>
                          <a:blip r:embed="rId3"/>
                          <a:stretch>
                            <a:fillRect l="-99639" t="-70130" r="-722" b="-1299"/>
                          </a:stretch>
                        </a:blipFill>
                      </a:tcPr>
                    </a:tc>
                    <a:extLst>
                      <a:ext uri="{0D108BD9-81ED-4DB2-BD59-A6C34878D82A}">
                        <a16:rowId xmlns:a16="http://schemas.microsoft.com/office/drawing/2014/main" val="10003"/>
                      </a:ext>
                    </a:extLst>
                  </a:tr>
                </a:tbl>
              </a:graphicData>
            </a:graphic>
          </p:graphicFrame>
        </mc:Fallback>
      </mc:AlternateContent>
      <mc:AlternateContent xmlns:mc="http://schemas.openxmlformats.org/markup-compatibility/2006" xmlns:a14="http://schemas.microsoft.com/office/drawing/2010/main">
        <mc:Choice Requires="a14">
          <p:sp>
            <p:nvSpPr>
              <p:cNvPr id="5" name="Espace réservé du contenu 1"/>
              <p:cNvSpPr txBox="1">
                <a:spLocks/>
              </p:cNvSpPr>
              <p:nvPr/>
            </p:nvSpPr>
            <p:spPr>
              <a:xfrm>
                <a:off x="280656" y="959667"/>
                <a:ext cx="8347295" cy="5514285"/>
              </a:xfrm>
              <a:prstGeom prst="rect">
                <a:avLst/>
              </a:prstGeom>
              <a:effectLst/>
            </p:spPr>
            <p:txBody>
              <a:bodyPr/>
              <a:lst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v"/>
                  <a:defRPr sz="1800" kern="1200">
                    <a:solidFill>
                      <a:schemeClr val="tx1"/>
                    </a:solidFill>
                    <a:latin typeface="+mn-lt"/>
                    <a:ea typeface="ＭＳ Ｐゴシック" charset="-128"/>
                    <a:cs typeface="ＭＳ Ｐゴシック" charset="-128"/>
                  </a:defRPr>
                </a:lvl1pPr>
                <a:lvl2pPr marL="639763" indent="-273050" algn="l" rtl="0" eaLnBrk="0" fontAlgn="base" hangingPunct="0">
                  <a:spcBef>
                    <a:spcPct val="20000"/>
                  </a:spcBef>
                  <a:spcAft>
                    <a:spcPct val="0"/>
                  </a:spcAft>
                  <a:buClr>
                    <a:schemeClr val="accent1"/>
                  </a:buClr>
                  <a:buSzPct val="80000"/>
                  <a:buFont typeface="Wingdings 2" charset="0"/>
                  <a:buChar char=""/>
                  <a:defRPr sz="1700" kern="1200">
                    <a:solidFill>
                      <a:schemeClr val="tx1"/>
                    </a:solidFill>
                    <a:latin typeface="+mn-lt"/>
                    <a:ea typeface="ＭＳ Ｐゴシック" charset="-128"/>
                    <a:cs typeface="+mn-cs"/>
                  </a:defRPr>
                </a:lvl2pPr>
                <a:lvl3pPr marL="914400" indent="-182563" algn="l" rtl="0" eaLnBrk="0" fontAlgn="base" hangingPunct="0">
                  <a:spcBef>
                    <a:spcPct val="20000"/>
                  </a:spcBef>
                  <a:spcAft>
                    <a:spcPct val="0"/>
                  </a:spcAft>
                  <a:buClr>
                    <a:srgbClr val="307F93"/>
                  </a:buClr>
                  <a:buSzPct val="60000"/>
                  <a:buFont typeface="Wingdings" charset="0"/>
                  <a:buChar char=""/>
                  <a:defRPr sz="1600" kern="1200">
                    <a:solidFill>
                      <a:schemeClr val="tx1"/>
                    </a:solidFill>
                    <a:latin typeface="+mn-lt"/>
                    <a:ea typeface="ＭＳ Ｐゴシック" charset="-128"/>
                    <a:cs typeface="+mn-cs"/>
                  </a:defRPr>
                </a:lvl3pPr>
                <a:lvl4pPr marL="1187450" indent="-182563" algn="l" rtl="0" eaLnBrk="0" fontAlgn="base" hangingPunct="0">
                  <a:spcBef>
                    <a:spcPct val="20000"/>
                  </a:spcBef>
                  <a:spcAft>
                    <a:spcPct val="0"/>
                  </a:spcAft>
                  <a:buClr>
                    <a:srgbClr val="AEC7D0"/>
                  </a:buClr>
                  <a:buSzPct val="60000"/>
                  <a:buFont typeface="Wingdings" charset="0"/>
                  <a:buChar char=""/>
                  <a:defRPr sz="1500" kern="1200">
                    <a:solidFill>
                      <a:schemeClr val="tx1"/>
                    </a:solidFill>
                    <a:latin typeface="+mn-lt"/>
                    <a:ea typeface="ＭＳ Ｐゴシック" charset="-128"/>
                    <a:cs typeface="+mn-cs"/>
                  </a:defRPr>
                </a:lvl4pPr>
                <a:lvl5pPr marL="1462088" indent="-182563" algn="l" rtl="0" eaLnBrk="0" fontAlgn="base" hangingPunct="0">
                  <a:spcBef>
                    <a:spcPct val="20000"/>
                  </a:spcBef>
                  <a:spcAft>
                    <a:spcPct val="0"/>
                  </a:spcAft>
                  <a:buClr>
                    <a:srgbClr val="FED8AA"/>
                  </a:buClr>
                  <a:buSzPct val="68000"/>
                  <a:buFont typeface="Wingdings 2" charset="0"/>
                  <a:buChar char=""/>
                  <a:defRPr sz="1400" kern="1200">
                    <a:solidFill>
                      <a:schemeClr val="tx1"/>
                    </a:solidFill>
                    <a:latin typeface="+mn-lt"/>
                    <a:ea typeface="ＭＳ Ｐゴシック" charset="-128"/>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0" indent="0">
                  <a:buNone/>
                </a:pPr>
                <a:r>
                  <a:rPr lang="en-GB" dirty="0"/>
                  <a:t>The overall minimum time to be applied to all joints is constrained by the slowest joint:
</a:t>
                </a:r>
              </a:p>
              <a:p>
                <a:pPr marL="0" indent="0">
                  <a:buFont typeface="Wingdings" panose="05000000000000000000" pitchFamily="2" charset="2"/>
                  <a:buNone/>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m:rPr>
                              <m:sty m:val="p"/>
                            </m:rPr>
                            <a:rPr lang="en-GB" smtClean="0">
                              <a:latin typeface="Cambria Math"/>
                            </a:rPr>
                            <m:t>t</m:t>
                          </m:r>
                        </m:e>
                        <m:sub>
                          <m:r>
                            <m:rPr>
                              <m:sty m:val="p"/>
                            </m:rPr>
                            <a:rPr lang="en-GB" smtClean="0">
                              <a:latin typeface="Cambria Math"/>
                            </a:rPr>
                            <m:t>f</m:t>
                          </m:r>
                        </m:sub>
                      </m:sSub>
                      <m:r>
                        <a:rPr lang="en-GB" i="1" smtClean="0">
                          <a:latin typeface="Cambria Math"/>
                        </a:rPr>
                        <m:t>=</m:t>
                      </m:r>
                      <m:r>
                        <m:rPr>
                          <m:sty m:val="p"/>
                        </m:rPr>
                        <a:rPr lang="en-GB" smtClean="0">
                          <a:latin typeface="Cambria Math"/>
                        </a:rPr>
                        <m:t>max</m:t>
                      </m:r>
                      <m:d>
                        <m:dPr>
                          <m:ctrlPr>
                            <a:rPr lang="en-GB" i="1" smtClean="0">
                              <a:latin typeface="Cambria Math" panose="02040503050406030204" pitchFamily="18" charset="0"/>
                            </a:rPr>
                          </m:ctrlPr>
                        </m:dPr>
                        <m:e>
                          <m:sSub>
                            <m:sSubPr>
                              <m:ctrlPr>
                                <a:rPr lang="en-GB" i="1" smtClean="0">
                                  <a:latin typeface="Cambria Math" panose="02040503050406030204" pitchFamily="18" charset="0"/>
                                </a:rPr>
                              </m:ctrlPr>
                            </m:sSubPr>
                            <m:e>
                              <m:r>
                                <m:rPr>
                                  <m:sty m:val="p"/>
                                </m:rPr>
                                <a:rPr lang="en-GB" smtClean="0">
                                  <a:latin typeface="Cambria Math"/>
                                </a:rPr>
                                <m:t>t</m:t>
                              </m:r>
                            </m:e>
                            <m:sub>
                              <m:sSub>
                                <m:sSubPr>
                                  <m:ctrlPr>
                                    <a:rPr lang="en-GB" i="1" smtClean="0">
                                      <a:latin typeface="Cambria Math" panose="02040503050406030204" pitchFamily="18" charset="0"/>
                                    </a:rPr>
                                  </m:ctrlPr>
                                </m:sSubPr>
                                <m:e>
                                  <m:r>
                                    <m:rPr>
                                      <m:sty m:val="p"/>
                                    </m:rPr>
                                    <a:rPr lang="en-GB" smtClean="0">
                                      <a:latin typeface="Cambria Math"/>
                                    </a:rPr>
                                    <m:t>f</m:t>
                                  </m:r>
                                </m:e>
                                <m:sub>
                                  <m:r>
                                    <a:rPr lang="en-GB" smtClean="0">
                                      <a:latin typeface="Cambria Math"/>
                                    </a:rPr>
                                    <m:t>1</m:t>
                                  </m:r>
                                </m:sub>
                              </m:sSub>
                            </m:sub>
                          </m:sSub>
                          <m:r>
                            <a:rPr lang="en-GB" smtClean="0">
                              <a:latin typeface="Cambria Math"/>
                            </a:rPr>
                            <m:t>,</m:t>
                          </m:r>
                          <m:sSub>
                            <m:sSubPr>
                              <m:ctrlPr>
                                <a:rPr lang="en-GB" i="1" smtClean="0">
                                  <a:latin typeface="Cambria Math" panose="02040503050406030204" pitchFamily="18" charset="0"/>
                                </a:rPr>
                              </m:ctrlPr>
                            </m:sSubPr>
                            <m:e>
                              <m:r>
                                <m:rPr>
                                  <m:sty m:val="p"/>
                                </m:rPr>
                                <a:rPr lang="en-GB" smtClean="0">
                                  <a:latin typeface="Cambria Math"/>
                                </a:rPr>
                                <m:t>t</m:t>
                              </m:r>
                            </m:e>
                            <m:sub>
                              <m:sSub>
                                <m:sSubPr>
                                  <m:ctrlPr>
                                    <a:rPr lang="en-GB" i="1" smtClean="0">
                                      <a:latin typeface="Cambria Math" panose="02040503050406030204" pitchFamily="18" charset="0"/>
                                    </a:rPr>
                                  </m:ctrlPr>
                                </m:sSubPr>
                                <m:e>
                                  <m:r>
                                    <m:rPr>
                                      <m:sty m:val="p"/>
                                    </m:rPr>
                                    <a:rPr lang="en-GB" smtClean="0">
                                      <a:latin typeface="Cambria Math"/>
                                    </a:rPr>
                                    <m:t>f</m:t>
                                  </m:r>
                                </m:e>
                                <m:sub>
                                  <m:r>
                                    <a:rPr lang="en-GB" smtClean="0">
                                      <a:latin typeface="Cambria Math"/>
                                    </a:rPr>
                                    <m:t>2</m:t>
                                  </m:r>
                                </m:sub>
                              </m:sSub>
                            </m:sub>
                          </m:sSub>
                          <m:r>
                            <a:rPr lang="en-GB" smtClean="0">
                              <a:latin typeface="Cambria Math"/>
                            </a:rPr>
                            <m:t>, …, </m:t>
                          </m:r>
                          <m:sSub>
                            <m:sSubPr>
                              <m:ctrlPr>
                                <a:rPr lang="en-GB" i="1" smtClean="0">
                                  <a:latin typeface="Cambria Math" panose="02040503050406030204" pitchFamily="18" charset="0"/>
                                </a:rPr>
                              </m:ctrlPr>
                            </m:sSubPr>
                            <m:e>
                              <m:r>
                                <m:rPr>
                                  <m:sty m:val="p"/>
                                </m:rPr>
                                <a:rPr lang="en-GB" smtClean="0">
                                  <a:latin typeface="Cambria Math"/>
                                </a:rPr>
                                <m:t>t</m:t>
                              </m:r>
                            </m:e>
                            <m:sub>
                              <m:sSub>
                                <m:sSubPr>
                                  <m:ctrlPr>
                                    <a:rPr lang="en-GB" i="1" smtClean="0">
                                      <a:latin typeface="Cambria Math" panose="02040503050406030204" pitchFamily="18" charset="0"/>
                                    </a:rPr>
                                  </m:ctrlPr>
                                </m:sSubPr>
                                <m:e>
                                  <m:r>
                                    <m:rPr>
                                      <m:sty m:val="p"/>
                                    </m:rPr>
                                    <a:rPr lang="en-GB" smtClean="0">
                                      <a:latin typeface="Cambria Math"/>
                                    </a:rPr>
                                    <m:t>f</m:t>
                                  </m:r>
                                </m:e>
                                <m:sub>
                                  <m:r>
                                    <m:rPr>
                                      <m:sty m:val="p"/>
                                    </m:rPr>
                                    <a:rPr lang="en-GB" smtClean="0">
                                      <a:latin typeface="Cambria Math"/>
                                    </a:rPr>
                                    <m:t>m</m:t>
                                  </m:r>
                                </m:sub>
                              </m:sSub>
                            </m:sub>
                          </m:sSub>
                        </m:e>
                      </m:d>
                    </m:oMath>
                  </m:oMathPara>
                </a14:m>
                <a:endParaRPr lang="en-GB" dirty="0"/>
              </a:p>
            </p:txBody>
          </p:sp>
        </mc:Choice>
        <mc:Fallback xmlns="">
          <p:sp>
            <p:nvSpPr>
              <p:cNvPr id="5" name="Espace réservé du contenu 1"/>
              <p:cNvSpPr txBox="1">
                <a:spLocks noRot="1" noChangeAspect="1" noMove="1" noResize="1" noEditPoints="1" noAdjustHandles="1" noChangeArrowheads="1" noChangeShapeType="1" noTextEdit="1"/>
              </p:cNvSpPr>
              <p:nvPr/>
            </p:nvSpPr>
            <p:spPr>
              <a:xfrm>
                <a:off x="280656" y="959667"/>
                <a:ext cx="8347295" cy="5514285"/>
              </a:xfrm>
              <a:prstGeom prst="rect">
                <a:avLst/>
              </a:prstGeom>
              <a:blipFill>
                <a:blip r:embed="rId4"/>
                <a:stretch>
                  <a:fillRect l="-608" t="-460"/>
                </a:stretch>
              </a:blipFill>
              <a:effectLst/>
            </p:spPr>
            <p:txBody>
              <a:bodyPr/>
              <a:lstStyle/>
              <a:p>
                <a:r>
                  <a:rPr lang="fr-FR">
                    <a:noFill/>
                  </a:rPr>
                  <a:t> </a:t>
                </a:r>
              </a:p>
            </p:txBody>
          </p:sp>
        </mc:Fallback>
      </mc:AlternateContent>
      <p:sp>
        <p:nvSpPr>
          <p:cNvPr id="7" name="Titre 2">
            <a:extLst>
              <a:ext uri="{FF2B5EF4-FFF2-40B4-BE49-F238E27FC236}">
                <a16:creationId xmlns:a16="http://schemas.microsoft.com/office/drawing/2014/main" id="{8CF2AA19-F756-104E-A47F-09C4A61C1D64}"/>
              </a:ext>
            </a:extLst>
          </p:cNvPr>
          <p:cNvSpPr>
            <a:spLocks noGrp="1"/>
          </p:cNvSpPr>
          <p:nvPr>
            <p:ph type="title"/>
          </p:nvPr>
        </p:nvSpPr>
        <p:spPr>
          <a:xfrm>
            <a:off x="300790" y="0"/>
            <a:ext cx="8229600" cy="785812"/>
          </a:xfrm>
        </p:spPr>
        <p:txBody>
          <a:bodyPr/>
          <a:lstStyle/>
          <a:p>
            <a:r>
              <a:rPr lang="en-GB" dirty="0"/>
              <a:t>Motion between 2 points in the joint space
</a:t>
            </a:r>
          </a:p>
        </p:txBody>
      </p:sp>
    </p:spTree>
    <p:extLst>
      <p:ext uri="{BB962C8B-B14F-4D97-AF65-F5344CB8AC3E}">
        <p14:creationId xmlns:p14="http://schemas.microsoft.com/office/powerpoint/2010/main" val="3446846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14:m>
                  <m:oMath xmlns:m="http://schemas.openxmlformats.org/officeDocument/2006/math">
                    <m:sSub>
                      <m:sSubPr>
                        <m:ctrlPr>
                          <a:rPr lang="en-GB" i="1" smtClean="0">
                            <a:latin typeface="Cambria Math" panose="02040503050406030204" pitchFamily="18" charset="0"/>
                          </a:rPr>
                        </m:ctrlPr>
                      </m:sSubPr>
                      <m:e>
                        <m:r>
                          <a:rPr lang="en-GB" b="1">
                            <a:latin typeface="Cambria Math"/>
                          </a:rPr>
                          <m:t>𝐤</m:t>
                        </m:r>
                      </m:e>
                      <m:sub>
                        <m:r>
                          <a:rPr lang="en-GB" i="1">
                            <a:latin typeface="Cambria Math"/>
                          </a:rPr>
                          <m:t>𝑣</m:t>
                        </m:r>
                      </m:sub>
                    </m:sSub>
                    <m:r>
                      <a:rPr lang="en-GB" b="0" i="1" smtClean="0">
                        <a:latin typeface="Cambria Math"/>
                      </a:rPr>
                      <m:t>=</m:t>
                    </m:r>
                    <m:sSup>
                      <m:sSupPr>
                        <m:ctrlPr>
                          <a:rPr lang="en-GB" b="0" i="1" smtClean="0">
                            <a:latin typeface="Cambria Math" panose="02040503050406030204" pitchFamily="18" charset="0"/>
                          </a:rPr>
                        </m:ctrlPr>
                      </m:sSupPr>
                      <m:e>
                        <m:d>
                          <m:dPr>
                            <m:begChr m:val="["/>
                            <m:endChr m:val="]"/>
                            <m:ctrlPr>
                              <a:rPr lang="en-GB" b="0" i="1" smtClean="0">
                                <a:latin typeface="Cambria Math" panose="02040503050406030204" pitchFamily="18" charset="0"/>
                              </a:rPr>
                            </m:ctrlPr>
                          </m:dPr>
                          <m:e>
                            <m:m>
                              <m:mPr>
                                <m:mcs>
                                  <m:mc>
                                    <m:mcPr>
                                      <m:count m:val="3"/>
                                      <m:mcJc m:val="center"/>
                                    </m:mcPr>
                                  </m:mc>
                                </m:mcs>
                                <m:ctrlPr>
                                  <a:rPr lang="en-GB" b="0" i="1" smtClean="0">
                                    <a:latin typeface="Cambria Math" panose="02040503050406030204" pitchFamily="18" charset="0"/>
                                  </a:rPr>
                                </m:ctrlPr>
                              </m:mPr>
                              <m:mr>
                                <m:e>
                                  <m:sSub>
                                    <m:sSubPr>
                                      <m:ctrlPr>
                                        <a:rPr lang="en-GB" b="0" i="1" smtClean="0">
                                          <a:latin typeface="Cambria Math" panose="02040503050406030204" pitchFamily="18" charset="0"/>
                                        </a:rPr>
                                      </m:ctrlPr>
                                    </m:sSubPr>
                                    <m:e>
                                      <m:r>
                                        <a:rPr lang="en-GB" b="0" i="1" smtClean="0">
                                          <a:latin typeface="Cambria Math"/>
                                        </a:rPr>
                                        <m:t>𝑘</m:t>
                                      </m:r>
                                    </m:e>
                                    <m:sub>
                                      <m:sSub>
                                        <m:sSubPr>
                                          <m:ctrlPr>
                                            <a:rPr lang="en-GB" b="0" i="1" smtClean="0">
                                              <a:latin typeface="Cambria Math" panose="02040503050406030204" pitchFamily="18" charset="0"/>
                                            </a:rPr>
                                          </m:ctrlPr>
                                        </m:sSubPr>
                                        <m:e>
                                          <m:r>
                                            <a:rPr lang="en-GB" b="0" i="1" smtClean="0">
                                              <a:latin typeface="Cambria Math"/>
                                            </a:rPr>
                                            <m:t>𝑣</m:t>
                                          </m:r>
                                        </m:e>
                                        <m:sub>
                                          <m:r>
                                            <a:rPr lang="en-GB" b="0" i="1" smtClean="0">
                                              <a:latin typeface="Cambria Math"/>
                                            </a:rPr>
                                            <m:t>1</m:t>
                                          </m:r>
                                        </m:sub>
                                      </m:sSub>
                                    </m:sub>
                                  </m:sSub>
                                </m:e>
                                <m:e>
                                  <m:r>
                                    <a:rPr lang="en-GB" b="0" i="1" smtClean="0">
                                      <a:latin typeface="Cambria Math"/>
                                    </a:rPr>
                                    <m:t>.</m:t>
                                  </m:r>
                                </m:e>
                                <m:e>
                                  <m:sSub>
                                    <m:sSubPr>
                                      <m:ctrlPr>
                                        <a:rPr lang="en-GB" b="0" i="1" smtClean="0">
                                          <a:latin typeface="Cambria Math" panose="02040503050406030204" pitchFamily="18" charset="0"/>
                                        </a:rPr>
                                      </m:ctrlPr>
                                    </m:sSubPr>
                                    <m:e>
                                      <m:r>
                                        <a:rPr lang="en-GB" b="0" i="1" smtClean="0">
                                          <a:latin typeface="Cambria Math"/>
                                        </a:rPr>
                                        <m:t>𝑘</m:t>
                                      </m:r>
                                    </m:e>
                                    <m:sub>
                                      <m:sSub>
                                        <m:sSubPr>
                                          <m:ctrlPr>
                                            <a:rPr lang="en-GB" b="0" i="1" smtClean="0">
                                              <a:latin typeface="Cambria Math" panose="02040503050406030204" pitchFamily="18" charset="0"/>
                                            </a:rPr>
                                          </m:ctrlPr>
                                        </m:sSubPr>
                                        <m:e>
                                          <m:r>
                                            <a:rPr lang="en-GB" b="0" i="1" smtClean="0">
                                              <a:latin typeface="Cambria Math"/>
                                            </a:rPr>
                                            <m:t>𝑣</m:t>
                                          </m:r>
                                        </m:e>
                                        <m:sub>
                                          <m:r>
                                            <m:rPr>
                                              <m:sty m:val="p"/>
                                            </m:rPr>
                                            <a:rPr lang="en-GB" b="0" i="0" smtClean="0">
                                              <a:latin typeface="Cambria Math"/>
                                            </a:rPr>
                                            <m:t>n</m:t>
                                          </m:r>
                                        </m:sub>
                                      </m:sSub>
                                    </m:sub>
                                  </m:sSub>
                                </m:e>
                              </m:mr>
                            </m:m>
                          </m:e>
                        </m:d>
                      </m:e>
                      <m:sup>
                        <m:r>
                          <a:rPr lang="en-GB" b="0" i="1" smtClean="0">
                            <a:latin typeface="Cambria Math"/>
                          </a:rPr>
                          <m:t>𝑇</m:t>
                        </m:r>
                      </m:sup>
                    </m:sSup>
                  </m:oMath>
                </a14:m>
                <a:r>
                  <a:rPr lang="en-GB" dirty="0"/>
                  <a:t>: vector of maximum joints velocities (motors datasheet)</a:t>
                </a:r>
              </a:p>
              <a:p>
                <a:endParaRPr lang="en-GB" dirty="0"/>
              </a:p>
              <a:p>
                <a14:m>
                  <m:oMath xmlns:m="http://schemas.openxmlformats.org/officeDocument/2006/math">
                    <m:sSub>
                      <m:sSubPr>
                        <m:ctrlPr>
                          <a:rPr lang="en-GB" i="1">
                            <a:latin typeface="Cambria Math" panose="02040503050406030204" pitchFamily="18" charset="0"/>
                          </a:rPr>
                        </m:ctrlPr>
                      </m:sSubPr>
                      <m:e>
                        <m:r>
                          <a:rPr lang="en-GB" b="1">
                            <a:latin typeface="Cambria Math"/>
                          </a:rPr>
                          <m:t>𝐤</m:t>
                        </m:r>
                      </m:e>
                      <m:sub>
                        <m:r>
                          <a:rPr lang="en-GB" i="1">
                            <a:latin typeface="Cambria Math"/>
                          </a:rPr>
                          <m:t>𝑎</m:t>
                        </m:r>
                      </m:sub>
                    </m:sSub>
                    <m:r>
                      <a:rPr lang="en-GB" b="0" i="1" smtClean="0">
                        <a:latin typeface="Cambria Math"/>
                      </a:rPr>
                      <m:t>=</m:t>
                    </m:r>
                    <m:sSup>
                      <m:sSupPr>
                        <m:ctrlPr>
                          <a:rPr lang="en-GB" b="0" i="1" smtClean="0">
                            <a:latin typeface="Cambria Math" panose="02040503050406030204" pitchFamily="18" charset="0"/>
                          </a:rPr>
                        </m:ctrlPr>
                      </m:sSupPr>
                      <m:e>
                        <m:d>
                          <m:dPr>
                            <m:begChr m:val="["/>
                            <m:endChr m:val="]"/>
                            <m:ctrlPr>
                              <a:rPr lang="en-GB" b="0" i="1" smtClean="0">
                                <a:latin typeface="Cambria Math" panose="02040503050406030204" pitchFamily="18" charset="0"/>
                              </a:rPr>
                            </m:ctrlPr>
                          </m:dPr>
                          <m:e>
                            <m:m>
                              <m:mPr>
                                <m:mcs>
                                  <m:mc>
                                    <m:mcPr>
                                      <m:count m:val="3"/>
                                      <m:mcJc m:val="center"/>
                                    </m:mcPr>
                                  </m:mc>
                                </m:mcs>
                                <m:ctrlPr>
                                  <a:rPr lang="en-GB" b="0" i="1" smtClean="0">
                                    <a:latin typeface="Cambria Math" panose="02040503050406030204" pitchFamily="18" charset="0"/>
                                  </a:rPr>
                                </m:ctrlPr>
                              </m:mPr>
                              <m:mr>
                                <m:e>
                                  <m:sSub>
                                    <m:sSubPr>
                                      <m:ctrlPr>
                                        <a:rPr lang="en-GB" b="0" i="1" smtClean="0">
                                          <a:latin typeface="Cambria Math" panose="02040503050406030204" pitchFamily="18" charset="0"/>
                                        </a:rPr>
                                      </m:ctrlPr>
                                    </m:sSubPr>
                                    <m:e>
                                      <m:r>
                                        <a:rPr lang="en-GB" b="0" i="1" smtClean="0">
                                          <a:latin typeface="Cambria Math"/>
                                        </a:rPr>
                                        <m:t>𝑘</m:t>
                                      </m:r>
                                    </m:e>
                                    <m:sub>
                                      <m:sSub>
                                        <m:sSubPr>
                                          <m:ctrlPr>
                                            <a:rPr lang="en-GB" b="0" i="1" smtClean="0">
                                              <a:latin typeface="Cambria Math" panose="02040503050406030204" pitchFamily="18" charset="0"/>
                                            </a:rPr>
                                          </m:ctrlPr>
                                        </m:sSubPr>
                                        <m:e>
                                          <m:r>
                                            <a:rPr lang="en-GB" b="0" i="1" smtClean="0">
                                              <a:latin typeface="Cambria Math"/>
                                            </a:rPr>
                                            <m:t>𝑎</m:t>
                                          </m:r>
                                        </m:e>
                                        <m:sub>
                                          <m:r>
                                            <a:rPr lang="en-GB" b="0" i="1" smtClean="0">
                                              <a:latin typeface="Cambria Math"/>
                                            </a:rPr>
                                            <m:t>1</m:t>
                                          </m:r>
                                        </m:sub>
                                      </m:sSub>
                                    </m:sub>
                                  </m:sSub>
                                </m:e>
                                <m:e>
                                  <m:r>
                                    <a:rPr lang="en-GB" b="0" i="1" smtClean="0">
                                      <a:latin typeface="Cambria Math"/>
                                    </a:rPr>
                                    <m:t>.</m:t>
                                  </m:r>
                                </m:e>
                                <m:e>
                                  <m:sSub>
                                    <m:sSubPr>
                                      <m:ctrlPr>
                                        <a:rPr lang="en-GB" b="0" i="1" smtClean="0">
                                          <a:latin typeface="Cambria Math" panose="02040503050406030204" pitchFamily="18" charset="0"/>
                                        </a:rPr>
                                      </m:ctrlPr>
                                    </m:sSubPr>
                                    <m:e>
                                      <m:r>
                                        <a:rPr lang="en-GB" b="0" i="1" smtClean="0">
                                          <a:latin typeface="Cambria Math"/>
                                        </a:rPr>
                                        <m:t>𝑘</m:t>
                                      </m:r>
                                    </m:e>
                                    <m:sub>
                                      <m:sSub>
                                        <m:sSubPr>
                                          <m:ctrlPr>
                                            <a:rPr lang="en-GB" b="0" i="1" smtClean="0">
                                              <a:latin typeface="Cambria Math" panose="02040503050406030204" pitchFamily="18" charset="0"/>
                                            </a:rPr>
                                          </m:ctrlPr>
                                        </m:sSubPr>
                                        <m:e>
                                          <m:r>
                                            <a:rPr lang="en-GB" b="0" i="1" smtClean="0">
                                              <a:latin typeface="Cambria Math"/>
                                            </a:rPr>
                                            <m:t>𝑎</m:t>
                                          </m:r>
                                        </m:e>
                                        <m:sub>
                                          <m:r>
                                            <m:rPr>
                                              <m:sty m:val="p"/>
                                            </m:rPr>
                                            <a:rPr lang="en-GB" b="0" i="0" smtClean="0">
                                              <a:latin typeface="Cambria Math"/>
                                            </a:rPr>
                                            <m:t>n</m:t>
                                          </m:r>
                                        </m:sub>
                                      </m:sSub>
                                    </m:sub>
                                  </m:sSub>
                                </m:e>
                              </m:mr>
                            </m:m>
                          </m:e>
                        </m:d>
                      </m:e>
                      <m:sup>
                        <m:r>
                          <a:rPr lang="en-GB" b="0" i="1" smtClean="0">
                            <a:latin typeface="Cambria Math"/>
                          </a:rPr>
                          <m:t>𝑇</m:t>
                        </m:r>
                      </m:sup>
                    </m:sSup>
                  </m:oMath>
                </a14:m>
                <a:r>
                  <a:rPr lang="en-GB" dirty="0"/>
                  <a:t> : vector of maximum joints accelerations  (motors datasheet)</a:t>
                </a:r>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a:blip r:embed="rId3"/>
                <a:stretch>
                  <a:fillRect t="-460"/>
                </a:stretch>
              </a:blipFill>
            </p:spPr>
            <p:txBody>
              <a:bodyPr/>
              <a:lstStyle/>
              <a:p>
                <a:r>
                  <a:rPr lang="fr-FR">
                    <a:noFill/>
                  </a:rPr>
                  <a:t> </a:t>
                </a:r>
              </a:p>
            </p:txBody>
          </p:sp>
        </mc:Fallback>
      </mc:AlternateContent>
      <p:sp>
        <p:nvSpPr>
          <p:cNvPr id="7" name="Titre 2">
            <a:extLst>
              <a:ext uri="{FF2B5EF4-FFF2-40B4-BE49-F238E27FC236}">
                <a16:creationId xmlns:a16="http://schemas.microsoft.com/office/drawing/2014/main" id="{20AE5C4C-2285-6C42-9808-8B804A8C67EA}"/>
              </a:ext>
            </a:extLst>
          </p:cNvPr>
          <p:cNvSpPr>
            <a:spLocks noGrp="1"/>
          </p:cNvSpPr>
          <p:nvPr>
            <p:ph type="title"/>
          </p:nvPr>
        </p:nvSpPr>
        <p:spPr>
          <a:xfrm>
            <a:off x="300790" y="0"/>
            <a:ext cx="8229600" cy="785812"/>
          </a:xfrm>
        </p:spPr>
        <p:txBody>
          <a:bodyPr/>
          <a:lstStyle/>
          <a:p>
            <a:r>
              <a:rPr lang="en-GB" dirty="0"/>
              <a:t>Motion between 2 points in the joint space
</a:t>
            </a:r>
          </a:p>
        </p:txBody>
      </p:sp>
    </p:spTree>
    <p:extLst>
      <p:ext uri="{BB962C8B-B14F-4D97-AF65-F5344CB8AC3E}">
        <p14:creationId xmlns:p14="http://schemas.microsoft.com/office/powerpoint/2010/main" val="1840478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
          </p:nvPr>
        </p:nvSpPr>
        <p:spPr/>
        <p:txBody>
          <a:bodyPr/>
          <a:lstStyle/>
          <a:p>
            <a:pPr marL="0" indent="0">
              <a:buNone/>
            </a:pPr>
            <a:r>
              <a:rPr lang="en-GB" dirty="0"/>
              <a:t>Benefits :</a:t>
            </a:r>
          </a:p>
          <a:p>
            <a:pPr lvl="1" algn="just"/>
            <a:r>
              <a:rPr lang="en-GB" dirty="0"/>
              <a:t>Less online computations (no use of kinematic models)
Movement not affected by the passage through the singular configurations</a:t>
            </a:r>
          </a:p>
          <a:p>
            <a:pPr lvl="1" algn="just"/>
            <a:r>
              <a:rPr lang="en-GB" dirty="0"/>
              <a:t>Maximum speed and acceleration constraints directly deduced from the physical limits of the motors
</a:t>
            </a:r>
          </a:p>
          <a:p>
            <a:pPr marL="0" indent="0" algn="just">
              <a:buNone/>
            </a:pPr>
            <a:r>
              <a:rPr lang="en-GB" dirty="0"/>
              <a:t>Disadvantages :</a:t>
            </a:r>
          </a:p>
          <a:p>
            <a:pPr lvl="1" algn="just"/>
            <a:r>
              <a:rPr lang="en-GB" dirty="0"/>
              <a:t>The geometry of the end effector trajectory in the operational space not predictable
Risk of collisions if the robot operates in a cumbersome environment</a:t>
            </a:r>
          </a:p>
        </p:txBody>
      </p:sp>
      <p:sp>
        <p:nvSpPr>
          <p:cNvPr id="6" name="Titre 2">
            <a:extLst>
              <a:ext uri="{FF2B5EF4-FFF2-40B4-BE49-F238E27FC236}">
                <a16:creationId xmlns:a16="http://schemas.microsoft.com/office/drawing/2014/main" id="{D548E307-F070-CD46-992C-0F9F663780B0}"/>
              </a:ext>
            </a:extLst>
          </p:cNvPr>
          <p:cNvSpPr>
            <a:spLocks noGrp="1"/>
          </p:cNvSpPr>
          <p:nvPr>
            <p:ph type="title"/>
          </p:nvPr>
        </p:nvSpPr>
        <p:spPr>
          <a:xfrm>
            <a:off x="300790" y="0"/>
            <a:ext cx="8229600" cy="785812"/>
          </a:xfrm>
        </p:spPr>
        <p:txBody>
          <a:bodyPr/>
          <a:lstStyle/>
          <a:p>
            <a:r>
              <a:rPr lang="en-GB" dirty="0"/>
              <a:t>Motion between 2 points in the joint space
</a:t>
            </a:r>
          </a:p>
        </p:txBody>
      </p:sp>
    </p:spTree>
    <p:extLst>
      <p:ext uri="{BB962C8B-B14F-4D97-AF65-F5344CB8AC3E}">
        <p14:creationId xmlns:p14="http://schemas.microsoft.com/office/powerpoint/2010/main" val="3793723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a:xfrm>
                <a:off x="280656" y="959667"/>
                <a:ext cx="8516211" cy="5514285"/>
              </a:xfrm>
            </p:spPr>
            <p:txBody>
              <a:bodyPr/>
              <a:lstStyle/>
              <a:p>
                <a:r>
                  <a:rPr lang="en-GB" dirty="0"/>
                  <a:t>We want to generate a trajectory between an initial pose (position and orientation) and a final pose of the end effector. For this, we define :</a:t>
                </a:r>
              </a:p>
              <a:p>
                <a:pPr marL="0" indent="0" algn="ctr">
                  <a:buNone/>
                </a:pPr>
                <a:endParaRPr lang="en-GB" dirty="0"/>
              </a:p>
              <a:p>
                <a:pPr marL="0" indent="0">
                  <a:buNone/>
                </a:pPr>
                <a14:m>
                  <m:oMath xmlns:m="http://schemas.openxmlformats.org/officeDocument/2006/math">
                    <m:sSup>
                      <m:sSupPr>
                        <m:ctrlPr>
                          <a:rPr lang="en-GB" i="1" smtClean="0">
                            <a:latin typeface="Cambria Math" panose="02040503050406030204" pitchFamily="18" charset="0"/>
                          </a:rPr>
                        </m:ctrlPr>
                      </m:sSupPr>
                      <m:e>
                        <m:r>
                          <a:rPr lang="en-GB" b="1" i="0" smtClean="0">
                            <a:latin typeface="Cambria Math" charset="0"/>
                          </a:rPr>
                          <m:t>𝐱</m:t>
                        </m:r>
                      </m:e>
                      <m:sup>
                        <m:r>
                          <m:rPr>
                            <m:sty m:val="p"/>
                          </m:rPr>
                          <a:rPr lang="en-GB" b="0" i="0" smtClean="0">
                            <a:latin typeface="Cambria Math"/>
                          </a:rPr>
                          <m:t>i</m:t>
                        </m:r>
                      </m:sup>
                    </m:sSup>
                    <m:r>
                      <a:rPr lang="en-GB" b="0" i="1" smtClean="0">
                        <a:latin typeface="Cambria Math"/>
                      </a:rPr>
                      <m:t>=</m:t>
                    </m:r>
                    <m:sSup>
                      <m:sSupPr>
                        <m:ctrlPr>
                          <a:rPr lang="en-GB" b="0" i="1" smtClean="0">
                            <a:latin typeface="Cambria Math" panose="02040503050406030204" pitchFamily="18" charset="0"/>
                          </a:rPr>
                        </m:ctrlPr>
                      </m:sSupPr>
                      <m:e>
                        <m:d>
                          <m:dPr>
                            <m:begChr m:val="["/>
                            <m:endChr m:val="]"/>
                            <m:ctrlPr>
                              <a:rPr lang="en-GB" b="0" i="1" smtClean="0">
                                <a:latin typeface="Cambria Math" panose="02040503050406030204" pitchFamily="18" charset="0"/>
                              </a:rPr>
                            </m:ctrlPr>
                          </m:dPr>
                          <m:e>
                            <m:m>
                              <m:mPr>
                                <m:mcs>
                                  <m:mc>
                                    <m:mcPr>
                                      <m:count m:val="3"/>
                                      <m:mcJc m:val="center"/>
                                    </m:mcPr>
                                  </m:mc>
                                </m:mcs>
                                <m:ctrlPr>
                                  <a:rPr lang="en-GB" b="0" i="1" smtClean="0">
                                    <a:latin typeface="Cambria Math" panose="02040503050406030204" pitchFamily="18" charset="0"/>
                                  </a:rPr>
                                </m:ctrlPr>
                              </m:mPr>
                              <m:mr>
                                <m:e>
                                  <m:sSup>
                                    <m:sSupPr>
                                      <m:ctrlPr>
                                        <a:rPr lang="en-GB" b="0" i="1" smtClean="0">
                                          <a:latin typeface="Cambria Math" panose="02040503050406030204" pitchFamily="18" charset="0"/>
                                        </a:rPr>
                                      </m:ctrlPr>
                                    </m:sSupPr>
                                    <m:e>
                                      <m:r>
                                        <a:rPr lang="en-GB" b="0" i="1" smtClean="0">
                                          <a:latin typeface="Cambria Math"/>
                                        </a:rPr>
                                        <m:t>𝑥</m:t>
                                      </m:r>
                                    </m:e>
                                    <m:sup>
                                      <m:r>
                                        <m:rPr>
                                          <m:sty m:val="p"/>
                                        </m:rPr>
                                        <a:rPr lang="en-GB" b="0" i="0" smtClean="0">
                                          <a:latin typeface="Cambria Math"/>
                                        </a:rPr>
                                        <m:t>i</m:t>
                                      </m:r>
                                    </m:sup>
                                  </m:sSup>
                                </m:e>
                                <m:e>
                                  <m:sSup>
                                    <m:sSupPr>
                                      <m:ctrlPr>
                                        <a:rPr lang="en-GB" b="0" i="1" smtClean="0">
                                          <a:latin typeface="Cambria Math" panose="02040503050406030204" pitchFamily="18" charset="0"/>
                                        </a:rPr>
                                      </m:ctrlPr>
                                    </m:sSupPr>
                                    <m:e>
                                      <m:r>
                                        <a:rPr lang="en-GB" b="0" i="1" smtClean="0">
                                          <a:latin typeface="Cambria Math"/>
                                        </a:rPr>
                                        <m:t>𝑦</m:t>
                                      </m:r>
                                    </m:e>
                                    <m:sup>
                                      <m:r>
                                        <m:rPr>
                                          <m:sty m:val="p"/>
                                        </m:rPr>
                                        <a:rPr lang="en-GB" b="0" i="0" smtClean="0">
                                          <a:latin typeface="Cambria Math"/>
                                        </a:rPr>
                                        <m:t>i</m:t>
                                      </m:r>
                                    </m:sup>
                                  </m:sSup>
                                </m:e>
                                <m:e>
                                  <m:sSup>
                                    <m:sSupPr>
                                      <m:ctrlPr>
                                        <a:rPr lang="en-GB" b="0" i="1" smtClean="0">
                                          <a:latin typeface="Cambria Math" panose="02040503050406030204" pitchFamily="18" charset="0"/>
                                        </a:rPr>
                                      </m:ctrlPr>
                                    </m:sSupPr>
                                    <m:e>
                                      <m:r>
                                        <a:rPr lang="en-GB" b="0" i="1" smtClean="0">
                                          <a:latin typeface="Cambria Math"/>
                                        </a:rPr>
                                        <m:t>𝑧</m:t>
                                      </m:r>
                                    </m:e>
                                    <m:sup>
                                      <m:r>
                                        <m:rPr>
                                          <m:sty m:val="p"/>
                                        </m:rPr>
                                        <a:rPr lang="en-GB" b="0" i="0" smtClean="0">
                                          <a:latin typeface="Cambria Math"/>
                                        </a:rPr>
                                        <m:t>i</m:t>
                                      </m:r>
                                    </m:sup>
                                  </m:sSup>
                                </m:e>
                              </m:mr>
                            </m:m>
                          </m:e>
                        </m:d>
                      </m:e>
                      <m:sup>
                        <m:r>
                          <a:rPr lang="en-GB" b="0" i="1" smtClean="0">
                            <a:latin typeface="Cambria Math"/>
                          </a:rPr>
                          <m:t>𝑇</m:t>
                        </m:r>
                      </m:sup>
                    </m:sSup>
                  </m:oMath>
                </a14:m>
                <a:r>
                  <a:rPr lang="en-GB" dirty="0"/>
                  <a:t> : initial position of the end effector</a:t>
                </a:r>
              </a:p>
              <a:p>
                <a:pPr marL="0" indent="0">
                  <a:buNone/>
                </a:pPr>
                <a14:m>
                  <m:oMath xmlns:m="http://schemas.openxmlformats.org/officeDocument/2006/math">
                    <m:sSup>
                      <m:sSupPr>
                        <m:ctrlPr>
                          <a:rPr lang="en-GB" i="1" smtClean="0">
                            <a:latin typeface="Cambria Math" panose="02040503050406030204" pitchFamily="18" charset="0"/>
                          </a:rPr>
                        </m:ctrlPr>
                      </m:sSupPr>
                      <m:e>
                        <m:r>
                          <a:rPr lang="en-GB" b="1" i="0" smtClean="0">
                            <a:latin typeface="Cambria Math" charset="0"/>
                          </a:rPr>
                          <m:t>𝐱</m:t>
                        </m:r>
                      </m:e>
                      <m:sup>
                        <m:r>
                          <m:rPr>
                            <m:sty m:val="p"/>
                          </m:rPr>
                          <a:rPr lang="en-GB" b="0" i="0" smtClean="0">
                            <a:latin typeface="Cambria Math"/>
                          </a:rPr>
                          <m:t>f</m:t>
                        </m:r>
                      </m:sup>
                    </m:sSup>
                    <m:r>
                      <a:rPr lang="en-GB" i="1" smtClean="0">
                        <a:latin typeface="Cambria Math"/>
                      </a:rPr>
                      <m:t>=</m:t>
                    </m:r>
                    <m:sSup>
                      <m:sSupPr>
                        <m:ctrlPr>
                          <a:rPr lang="en-GB" i="1" smtClean="0">
                            <a:latin typeface="Cambria Math" panose="02040503050406030204" pitchFamily="18" charset="0"/>
                          </a:rPr>
                        </m:ctrlPr>
                      </m:sSupPr>
                      <m:e>
                        <m:d>
                          <m:dPr>
                            <m:begChr m:val="["/>
                            <m:endChr m:val="]"/>
                            <m:ctrlPr>
                              <a:rPr lang="en-GB" i="1" smtClean="0">
                                <a:latin typeface="Cambria Math" panose="02040503050406030204" pitchFamily="18" charset="0"/>
                              </a:rPr>
                            </m:ctrlPr>
                          </m:dPr>
                          <m:e>
                            <m:m>
                              <m:mPr>
                                <m:mcs>
                                  <m:mc>
                                    <m:mcPr>
                                      <m:count m:val="3"/>
                                      <m:mcJc m:val="center"/>
                                    </m:mcPr>
                                  </m:mc>
                                </m:mcs>
                                <m:ctrlPr>
                                  <a:rPr lang="en-GB" i="1" smtClean="0">
                                    <a:latin typeface="Cambria Math" panose="02040503050406030204" pitchFamily="18" charset="0"/>
                                  </a:rPr>
                                </m:ctrlPr>
                              </m:mPr>
                              <m:mr>
                                <m:e>
                                  <m:sSup>
                                    <m:sSupPr>
                                      <m:ctrlPr>
                                        <a:rPr lang="en-GB" i="1" smtClean="0">
                                          <a:latin typeface="Cambria Math" panose="02040503050406030204" pitchFamily="18" charset="0"/>
                                        </a:rPr>
                                      </m:ctrlPr>
                                    </m:sSupPr>
                                    <m:e>
                                      <m:r>
                                        <a:rPr lang="en-GB" i="1" smtClean="0">
                                          <a:latin typeface="Cambria Math"/>
                                        </a:rPr>
                                        <m:t>𝑥</m:t>
                                      </m:r>
                                    </m:e>
                                    <m:sup>
                                      <m:r>
                                        <m:rPr>
                                          <m:sty m:val="p"/>
                                        </m:rPr>
                                        <a:rPr lang="en-GB" b="0" i="0" smtClean="0">
                                          <a:latin typeface="Cambria Math"/>
                                        </a:rPr>
                                        <m:t>f</m:t>
                                      </m:r>
                                    </m:sup>
                                  </m:sSup>
                                </m:e>
                                <m:e>
                                  <m:sSup>
                                    <m:sSupPr>
                                      <m:ctrlPr>
                                        <a:rPr lang="en-GB" i="1" smtClean="0">
                                          <a:latin typeface="Cambria Math" panose="02040503050406030204" pitchFamily="18" charset="0"/>
                                        </a:rPr>
                                      </m:ctrlPr>
                                    </m:sSupPr>
                                    <m:e>
                                      <m:r>
                                        <a:rPr lang="en-GB" i="1" smtClean="0">
                                          <a:latin typeface="Cambria Math"/>
                                        </a:rPr>
                                        <m:t>𝑦</m:t>
                                      </m:r>
                                    </m:e>
                                    <m:sup>
                                      <m:r>
                                        <m:rPr>
                                          <m:sty m:val="p"/>
                                        </m:rPr>
                                        <a:rPr lang="en-GB" b="0" i="0" smtClean="0">
                                          <a:latin typeface="Cambria Math"/>
                                        </a:rPr>
                                        <m:t>f</m:t>
                                      </m:r>
                                    </m:sup>
                                  </m:sSup>
                                </m:e>
                                <m:e>
                                  <m:sSup>
                                    <m:sSupPr>
                                      <m:ctrlPr>
                                        <a:rPr lang="en-GB" i="1" smtClean="0">
                                          <a:latin typeface="Cambria Math" panose="02040503050406030204" pitchFamily="18" charset="0"/>
                                        </a:rPr>
                                      </m:ctrlPr>
                                    </m:sSupPr>
                                    <m:e>
                                      <m:r>
                                        <a:rPr lang="en-GB" i="1" smtClean="0">
                                          <a:latin typeface="Cambria Math"/>
                                        </a:rPr>
                                        <m:t>𝑧</m:t>
                                      </m:r>
                                    </m:e>
                                    <m:sup>
                                      <m:r>
                                        <m:rPr>
                                          <m:sty m:val="p"/>
                                        </m:rPr>
                                        <a:rPr lang="en-GB" b="0" i="0" smtClean="0">
                                          <a:latin typeface="Cambria Math"/>
                                        </a:rPr>
                                        <m:t>f</m:t>
                                      </m:r>
                                    </m:sup>
                                  </m:sSup>
                                </m:e>
                              </m:mr>
                            </m:m>
                          </m:e>
                        </m:d>
                      </m:e>
                      <m:sup>
                        <m:r>
                          <a:rPr lang="en-GB" i="1" smtClean="0">
                            <a:latin typeface="Cambria Math"/>
                          </a:rPr>
                          <m:t>𝑇</m:t>
                        </m:r>
                      </m:sup>
                    </m:sSup>
                  </m:oMath>
                </a14:m>
                <a:r>
                  <a:rPr lang="en-GB" dirty="0"/>
                  <a:t> : final position of the end effector</a:t>
                </a:r>
              </a:p>
              <a:p>
                <a:pPr marL="0" indent="0">
                  <a:buNone/>
                </a:pPr>
                <a:endParaRPr lang="en-GB" dirty="0"/>
              </a:p>
              <a:p>
                <a:pPr marL="0" indent="0">
                  <a:buNone/>
                </a:pPr>
                <a14:m>
                  <m:oMath xmlns:m="http://schemas.openxmlformats.org/officeDocument/2006/math">
                    <m:sSup>
                      <m:sSupPr>
                        <m:ctrlPr>
                          <a:rPr lang="en-GB" b="1" i="1" smtClean="0">
                            <a:latin typeface="Cambria Math" panose="02040503050406030204" pitchFamily="18" charset="0"/>
                          </a:rPr>
                        </m:ctrlPr>
                      </m:sSupPr>
                      <m:e>
                        <m:r>
                          <a:rPr lang="fr-FR" b="1" i="0" smtClean="0">
                            <a:latin typeface="Cambria Math" panose="02040503050406030204" pitchFamily="18" charset="0"/>
                          </a:rPr>
                          <m:t>𝐑</m:t>
                        </m:r>
                      </m:e>
                      <m:sup>
                        <m:r>
                          <m:rPr>
                            <m:sty m:val="p"/>
                          </m:rPr>
                          <a:rPr lang="en-GB" b="0" i="0" smtClean="0">
                            <a:latin typeface="Cambria Math"/>
                          </a:rPr>
                          <m:t>i</m:t>
                        </m:r>
                      </m:sup>
                    </m:sSup>
                  </m:oMath>
                </a14:m>
                <a:r>
                  <a:rPr lang="en-GB" dirty="0"/>
                  <a:t>: rotational matrix corresponding to the current (initial) orientation of the end effector with respect to the reference frame</a:t>
                </a:r>
              </a:p>
              <a:p>
                <a:pPr marL="0" indent="0">
                  <a:buNone/>
                </a:pPr>
                <a14:m>
                  <m:oMath xmlns:m="http://schemas.openxmlformats.org/officeDocument/2006/math">
                    <m:sSup>
                      <m:sSupPr>
                        <m:ctrlPr>
                          <a:rPr lang="en-GB" b="1" i="1" smtClean="0">
                            <a:latin typeface="Cambria Math" panose="02040503050406030204" pitchFamily="18" charset="0"/>
                          </a:rPr>
                        </m:ctrlPr>
                      </m:sSupPr>
                      <m:e>
                        <m:r>
                          <a:rPr lang="fr-FR" b="1" i="0" smtClean="0">
                            <a:latin typeface="Cambria Math" panose="02040503050406030204" pitchFamily="18" charset="0"/>
                          </a:rPr>
                          <m:t>𝐑</m:t>
                        </m:r>
                      </m:e>
                      <m:sup>
                        <m:r>
                          <m:rPr>
                            <m:sty m:val="p"/>
                          </m:rPr>
                          <a:rPr lang="en-GB" b="0" i="0" smtClean="0">
                            <a:latin typeface="Cambria Math"/>
                          </a:rPr>
                          <m:t>f</m:t>
                        </m:r>
                      </m:sup>
                    </m:sSup>
                  </m:oMath>
                </a14:m>
                <a:r>
                  <a:rPr lang="en-GB" b="1" dirty="0"/>
                  <a:t> </a:t>
                </a:r>
                <a:r>
                  <a:rPr lang="en-GB" dirty="0"/>
                  <a:t>: rotational matrix corresponding to the desired (final) orientation of the end effector with respect to the reference frame
</a:t>
                </a:r>
              </a:p>
              <a:p>
                <a:r>
                  <a:rPr lang="en-GB" dirty="0"/>
                  <a:t>let </a:t>
                </a:r>
                <a14:m>
                  <m:oMath xmlns:m="http://schemas.openxmlformats.org/officeDocument/2006/math">
                    <m:sSup>
                      <m:sSupPr>
                        <m:ctrlPr>
                          <a:rPr lang="en-GB" i="1" smtClean="0">
                            <a:latin typeface="Cambria Math" panose="02040503050406030204" pitchFamily="18" charset="0"/>
                          </a:rPr>
                        </m:ctrlPr>
                      </m:sSupPr>
                      <m:e>
                        <m:sSub>
                          <m:sSubPr>
                            <m:ctrlPr>
                              <a:rPr lang="en-GB" i="1" smtClean="0">
                                <a:latin typeface="Cambria Math" panose="02040503050406030204" pitchFamily="18" charset="0"/>
                              </a:rPr>
                            </m:ctrlPr>
                          </m:sSubPr>
                          <m:e>
                            <m:sPre>
                              <m:sPrePr>
                                <m:ctrlPr>
                                  <a:rPr lang="en-GB" i="1" smtClean="0">
                                    <a:latin typeface="Cambria Math" panose="02040503050406030204" pitchFamily="18" charset="0"/>
                                  </a:rPr>
                                </m:ctrlPr>
                              </m:sPrePr>
                              <m:sub/>
                              <m:sup>
                                <m:r>
                                  <a:rPr lang="en-GB" smtClean="0">
                                    <a:latin typeface="Cambria Math"/>
                                  </a:rPr>
                                  <m:t>0</m:t>
                                </m:r>
                              </m:sup>
                              <m:e>
                                <m:r>
                                  <a:rPr lang="en-GB" b="1" smtClean="0">
                                    <a:latin typeface="Cambria Math"/>
                                  </a:rPr>
                                  <m:t>𝐓</m:t>
                                </m:r>
                              </m:e>
                            </m:sPre>
                          </m:e>
                          <m:sub>
                            <m:r>
                              <a:rPr lang="fr-FR" b="0" i="1" smtClean="0">
                                <a:latin typeface="Cambria Math" panose="02040503050406030204" pitchFamily="18" charset="0"/>
                              </a:rPr>
                              <m:t>𝑒</m:t>
                            </m:r>
                          </m:sub>
                        </m:sSub>
                      </m:e>
                      <m:sup>
                        <m:r>
                          <m:rPr>
                            <m:sty m:val="p"/>
                          </m:rPr>
                          <a:rPr lang="en-GB" smtClean="0">
                            <a:latin typeface="Cambria Math"/>
                          </a:rPr>
                          <m:t>i</m:t>
                        </m:r>
                      </m:sup>
                    </m:sSup>
                  </m:oMath>
                </a14:m>
                <a:r>
                  <a:rPr lang="en-GB" dirty="0"/>
                  <a:t> and </a:t>
                </a:r>
                <a14:m>
                  <m:oMath xmlns:m="http://schemas.openxmlformats.org/officeDocument/2006/math">
                    <m:sSup>
                      <m:sSupPr>
                        <m:ctrlPr>
                          <a:rPr lang="en-GB" i="1" smtClean="0">
                            <a:latin typeface="Cambria Math" panose="02040503050406030204" pitchFamily="18" charset="0"/>
                          </a:rPr>
                        </m:ctrlPr>
                      </m:sSupPr>
                      <m:e>
                        <m:sSub>
                          <m:sSubPr>
                            <m:ctrlPr>
                              <a:rPr lang="en-GB" i="1" smtClean="0">
                                <a:latin typeface="Cambria Math" panose="02040503050406030204" pitchFamily="18" charset="0"/>
                              </a:rPr>
                            </m:ctrlPr>
                          </m:sSubPr>
                          <m:e>
                            <m:sPre>
                              <m:sPrePr>
                                <m:ctrlPr>
                                  <a:rPr lang="en-GB" i="1" smtClean="0">
                                    <a:latin typeface="Cambria Math" panose="02040503050406030204" pitchFamily="18" charset="0"/>
                                  </a:rPr>
                                </m:ctrlPr>
                              </m:sPrePr>
                              <m:sub/>
                              <m:sup>
                                <m:r>
                                  <a:rPr lang="en-GB" smtClean="0">
                                    <a:latin typeface="Cambria Math"/>
                                  </a:rPr>
                                  <m:t>0</m:t>
                                </m:r>
                              </m:sup>
                              <m:e>
                                <m:r>
                                  <a:rPr lang="en-GB" b="1" smtClean="0">
                                    <a:latin typeface="Cambria Math"/>
                                  </a:rPr>
                                  <m:t>𝐓</m:t>
                                </m:r>
                              </m:e>
                            </m:sPre>
                          </m:e>
                          <m:sub>
                            <m:r>
                              <a:rPr lang="fr-FR" b="0" i="1" smtClean="0">
                                <a:latin typeface="Cambria Math" panose="02040503050406030204" pitchFamily="18" charset="0"/>
                              </a:rPr>
                              <m:t>𝑒</m:t>
                            </m:r>
                          </m:sub>
                        </m:sSub>
                      </m:e>
                      <m:sup>
                        <m:r>
                          <m:rPr>
                            <m:sty m:val="p"/>
                          </m:rPr>
                          <a:rPr lang="en-GB" smtClean="0">
                            <a:latin typeface="Cambria Math"/>
                          </a:rPr>
                          <m:t>f</m:t>
                        </m:r>
                      </m:sup>
                    </m:sSup>
                  </m:oMath>
                </a14:m>
                <a:r>
                  <a:rPr lang="en-GB" dirty="0"/>
                  <a:t> be two matrices describing the initial and final poses of the end effector:</a:t>
                </a:r>
              </a:p>
              <a:p>
                <a:endParaRPr lang="en-GB" dirty="0"/>
              </a:p>
              <a:p>
                <a:pPr marL="0" indent="0" algn="ctr">
                  <a:buNone/>
                </a:pPr>
                <a14:m>
                  <m:oMath xmlns:m="http://schemas.openxmlformats.org/officeDocument/2006/math">
                    <m:sSup>
                      <m:sSupPr>
                        <m:ctrlPr>
                          <a:rPr lang="en-GB" i="1" smtClean="0">
                            <a:latin typeface="Cambria Math" panose="02040503050406030204" pitchFamily="18" charset="0"/>
                          </a:rPr>
                        </m:ctrlPr>
                      </m:sSupPr>
                      <m:e>
                        <m:sSub>
                          <m:sSubPr>
                            <m:ctrlPr>
                              <a:rPr lang="en-GB" i="1" smtClean="0">
                                <a:latin typeface="Cambria Math" panose="02040503050406030204" pitchFamily="18" charset="0"/>
                              </a:rPr>
                            </m:ctrlPr>
                          </m:sSubPr>
                          <m:e>
                            <m:sPre>
                              <m:sPrePr>
                                <m:ctrlPr>
                                  <a:rPr lang="en-GB" i="1" smtClean="0">
                                    <a:latin typeface="Cambria Math" panose="02040503050406030204" pitchFamily="18" charset="0"/>
                                  </a:rPr>
                                </m:ctrlPr>
                              </m:sPrePr>
                              <m:sub/>
                              <m:sup>
                                <m:r>
                                  <a:rPr lang="en-GB" smtClean="0">
                                    <a:latin typeface="Cambria Math"/>
                                  </a:rPr>
                                  <m:t>0</m:t>
                                </m:r>
                              </m:sup>
                              <m:e>
                                <m:r>
                                  <a:rPr lang="en-GB" b="1" smtClean="0">
                                    <a:latin typeface="Cambria Math"/>
                                  </a:rPr>
                                  <m:t>𝐓</m:t>
                                </m:r>
                              </m:e>
                            </m:sPre>
                          </m:e>
                          <m:sub>
                            <m:r>
                              <a:rPr lang="fr-FR" b="0" i="1" smtClean="0">
                                <a:latin typeface="Cambria Math" panose="02040503050406030204" pitchFamily="18" charset="0"/>
                              </a:rPr>
                              <m:t>𝑒</m:t>
                            </m:r>
                          </m:sub>
                        </m:sSub>
                      </m:e>
                      <m:sup>
                        <m:r>
                          <m:rPr>
                            <m:sty m:val="p"/>
                          </m:rPr>
                          <a:rPr lang="en-GB" smtClean="0">
                            <a:latin typeface="Cambria Math"/>
                          </a:rPr>
                          <m:t>i</m:t>
                        </m:r>
                      </m:sup>
                    </m:sSup>
                    <m:r>
                      <a:rPr lang="en-GB" i="1" smtClean="0">
                        <a:latin typeface="Cambria Math"/>
                      </a:rPr>
                      <m:t>=</m:t>
                    </m:r>
                    <m:d>
                      <m:dPr>
                        <m:ctrlPr>
                          <a:rPr lang="en-GB" i="1" smtClean="0">
                            <a:latin typeface="Cambria Math" panose="02040503050406030204" pitchFamily="18" charset="0"/>
                          </a:rPr>
                        </m:ctrlPr>
                      </m:dPr>
                      <m:e>
                        <m:m>
                          <m:mPr>
                            <m:mcs>
                              <m:mc>
                                <m:mcPr>
                                  <m:count m:val="2"/>
                                  <m:mcJc m:val="center"/>
                                </m:mcPr>
                              </m:mc>
                            </m:mcs>
                            <m:ctrlPr>
                              <a:rPr lang="en-GB" i="1" smtClean="0">
                                <a:latin typeface="Cambria Math" panose="02040503050406030204" pitchFamily="18" charset="0"/>
                              </a:rPr>
                            </m:ctrlPr>
                          </m:mPr>
                          <m:mr>
                            <m:e>
                              <m:sSup>
                                <m:sSupPr>
                                  <m:ctrlPr>
                                    <a:rPr lang="en-GB" i="1" smtClean="0">
                                      <a:latin typeface="Cambria Math" panose="02040503050406030204" pitchFamily="18" charset="0"/>
                                    </a:rPr>
                                  </m:ctrlPr>
                                </m:sSupPr>
                                <m:e>
                                  <m:r>
                                    <a:rPr lang="fr-FR" b="1" i="0" smtClean="0">
                                      <a:latin typeface="Cambria Math" panose="02040503050406030204" pitchFamily="18" charset="0"/>
                                    </a:rPr>
                                    <m:t>𝐑</m:t>
                                  </m:r>
                                </m:e>
                                <m:sup>
                                  <m:r>
                                    <m:rPr>
                                      <m:sty m:val="p"/>
                                    </m:rPr>
                                    <a:rPr lang="en-GB" smtClean="0">
                                      <a:latin typeface="Cambria Math"/>
                                    </a:rPr>
                                    <m:t>i</m:t>
                                  </m:r>
                                </m:sup>
                              </m:sSup>
                            </m:e>
                            <m:e>
                              <m:sSup>
                                <m:sSupPr>
                                  <m:ctrlPr>
                                    <a:rPr lang="en-GB" i="1" smtClean="0">
                                      <a:latin typeface="Cambria Math" panose="02040503050406030204" pitchFamily="18" charset="0"/>
                                    </a:rPr>
                                  </m:ctrlPr>
                                </m:sSupPr>
                                <m:e>
                                  <m:r>
                                    <a:rPr lang="en-GB" b="1" i="0" smtClean="0">
                                      <a:latin typeface="Cambria Math" charset="0"/>
                                    </a:rPr>
                                    <m:t>𝐱</m:t>
                                  </m:r>
                                </m:e>
                                <m:sup>
                                  <m:r>
                                    <m:rPr>
                                      <m:sty m:val="p"/>
                                    </m:rPr>
                                    <a:rPr lang="en-GB" smtClean="0">
                                      <a:latin typeface="Cambria Math"/>
                                    </a:rPr>
                                    <m:t>i</m:t>
                                  </m:r>
                                </m:sup>
                              </m:sSup>
                            </m:e>
                          </m:mr>
                          <m:mr>
                            <m:e>
                              <m:m>
                                <m:mPr>
                                  <m:mcs>
                                    <m:mc>
                                      <m:mcPr>
                                        <m:count m:val="3"/>
                                        <m:mcJc m:val="center"/>
                                      </m:mcPr>
                                    </m:mc>
                                  </m:mcs>
                                  <m:ctrlPr>
                                    <a:rPr lang="en-GB" i="1" smtClean="0">
                                      <a:latin typeface="Cambria Math" panose="02040503050406030204" pitchFamily="18" charset="0"/>
                                    </a:rPr>
                                  </m:ctrlPr>
                                </m:mPr>
                                <m:mr>
                                  <m:e>
                                    <m:r>
                                      <m:rPr>
                                        <m:brk m:alnAt="7"/>
                                      </m:rPr>
                                      <a:rPr lang="en-GB" i="1" smtClean="0">
                                        <a:latin typeface="Cambria Math"/>
                                      </a:rPr>
                                      <m:t>0</m:t>
                                    </m:r>
                                  </m:e>
                                  <m:e>
                                    <m:r>
                                      <a:rPr lang="en-GB" i="1" smtClean="0">
                                        <a:latin typeface="Cambria Math"/>
                                      </a:rPr>
                                      <m:t>0</m:t>
                                    </m:r>
                                  </m:e>
                                  <m:e>
                                    <m:r>
                                      <a:rPr lang="en-GB" i="1" smtClean="0">
                                        <a:latin typeface="Cambria Math"/>
                                      </a:rPr>
                                      <m:t>0</m:t>
                                    </m:r>
                                  </m:e>
                                </m:mr>
                              </m:m>
                            </m:e>
                            <m:e>
                              <m:r>
                                <a:rPr lang="en-GB" i="1" smtClean="0">
                                  <a:latin typeface="Cambria Math"/>
                                </a:rPr>
                                <m:t>1</m:t>
                              </m:r>
                            </m:e>
                          </m:mr>
                        </m:m>
                      </m:e>
                    </m:d>
                  </m:oMath>
                </a14:m>
                <a:r>
                  <a:rPr lang="en-GB" dirty="0"/>
                  <a:t>	and 	 </a:t>
                </a:r>
                <a14:m>
                  <m:oMath xmlns:m="http://schemas.openxmlformats.org/officeDocument/2006/math">
                    <m:sSup>
                      <m:sSupPr>
                        <m:ctrlPr>
                          <a:rPr lang="en-GB" i="1" smtClean="0">
                            <a:latin typeface="Cambria Math" panose="02040503050406030204" pitchFamily="18" charset="0"/>
                          </a:rPr>
                        </m:ctrlPr>
                      </m:sSupPr>
                      <m:e>
                        <m:sSub>
                          <m:sSubPr>
                            <m:ctrlPr>
                              <a:rPr lang="en-GB" i="1" smtClean="0">
                                <a:latin typeface="Cambria Math" panose="02040503050406030204" pitchFamily="18" charset="0"/>
                              </a:rPr>
                            </m:ctrlPr>
                          </m:sSubPr>
                          <m:e>
                            <m:sPre>
                              <m:sPrePr>
                                <m:ctrlPr>
                                  <a:rPr lang="en-GB" i="1" smtClean="0">
                                    <a:latin typeface="Cambria Math" panose="02040503050406030204" pitchFamily="18" charset="0"/>
                                  </a:rPr>
                                </m:ctrlPr>
                              </m:sPrePr>
                              <m:sub/>
                              <m:sup>
                                <m:r>
                                  <a:rPr lang="en-GB" smtClean="0">
                                    <a:latin typeface="Cambria Math"/>
                                  </a:rPr>
                                  <m:t>0</m:t>
                                </m:r>
                              </m:sup>
                              <m:e>
                                <m:r>
                                  <a:rPr lang="en-GB" b="1" smtClean="0">
                                    <a:latin typeface="Cambria Math"/>
                                  </a:rPr>
                                  <m:t>𝐓</m:t>
                                </m:r>
                              </m:e>
                            </m:sPre>
                          </m:e>
                          <m:sub>
                            <m:r>
                              <a:rPr lang="fr-FR" b="0" i="1" smtClean="0">
                                <a:latin typeface="Cambria Math" panose="02040503050406030204" pitchFamily="18" charset="0"/>
                              </a:rPr>
                              <m:t>𝑒</m:t>
                            </m:r>
                          </m:sub>
                        </m:sSub>
                      </m:e>
                      <m:sup>
                        <m:r>
                          <m:rPr>
                            <m:sty m:val="p"/>
                          </m:rPr>
                          <a:rPr lang="en-GB" smtClean="0">
                            <a:latin typeface="Cambria Math"/>
                          </a:rPr>
                          <m:t>f</m:t>
                        </m:r>
                      </m:sup>
                    </m:sSup>
                    <m:r>
                      <a:rPr lang="en-GB" i="1" smtClean="0">
                        <a:latin typeface="Cambria Math"/>
                      </a:rPr>
                      <m:t>=</m:t>
                    </m:r>
                    <m:d>
                      <m:dPr>
                        <m:ctrlPr>
                          <a:rPr lang="en-GB" i="1" smtClean="0">
                            <a:latin typeface="Cambria Math" panose="02040503050406030204" pitchFamily="18" charset="0"/>
                          </a:rPr>
                        </m:ctrlPr>
                      </m:dPr>
                      <m:e>
                        <m:m>
                          <m:mPr>
                            <m:mcs>
                              <m:mc>
                                <m:mcPr>
                                  <m:count m:val="2"/>
                                  <m:mcJc m:val="center"/>
                                </m:mcPr>
                              </m:mc>
                            </m:mcs>
                            <m:ctrlPr>
                              <a:rPr lang="en-GB" i="1" smtClean="0">
                                <a:latin typeface="Cambria Math" panose="02040503050406030204" pitchFamily="18" charset="0"/>
                              </a:rPr>
                            </m:ctrlPr>
                          </m:mPr>
                          <m:mr>
                            <m:e>
                              <m:sSup>
                                <m:sSupPr>
                                  <m:ctrlPr>
                                    <a:rPr lang="en-GB" i="1" smtClean="0">
                                      <a:latin typeface="Cambria Math" panose="02040503050406030204" pitchFamily="18" charset="0"/>
                                    </a:rPr>
                                  </m:ctrlPr>
                                </m:sSupPr>
                                <m:e>
                                  <m:r>
                                    <a:rPr lang="fr-FR" b="1" i="0" smtClean="0">
                                      <a:latin typeface="Cambria Math" panose="02040503050406030204" pitchFamily="18" charset="0"/>
                                    </a:rPr>
                                    <m:t>𝐑</m:t>
                                  </m:r>
                                </m:e>
                                <m:sup>
                                  <m:r>
                                    <m:rPr>
                                      <m:sty m:val="p"/>
                                    </m:rPr>
                                    <a:rPr lang="en-GB" smtClean="0">
                                      <a:latin typeface="Cambria Math"/>
                                    </a:rPr>
                                    <m:t>f</m:t>
                                  </m:r>
                                </m:sup>
                              </m:sSup>
                            </m:e>
                            <m:e>
                              <m:sSup>
                                <m:sSupPr>
                                  <m:ctrlPr>
                                    <a:rPr lang="en-GB" i="1" smtClean="0">
                                      <a:latin typeface="Cambria Math" panose="02040503050406030204" pitchFamily="18" charset="0"/>
                                    </a:rPr>
                                  </m:ctrlPr>
                                </m:sSupPr>
                                <m:e>
                                  <m:r>
                                    <a:rPr lang="en-GB" b="1" i="0" smtClean="0">
                                      <a:latin typeface="Cambria Math" charset="0"/>
                                    </a:rPr>
                                    <m:t>𝐱</m:t>
                                  </m:r>
                                </m:e>
                                <m:sup>
                                  <m:r>
                                    <m:rPr>
                                      <m:sty m:val="p"/>
                                    </m:rPr>
                                    <a:rPr lang="en-GB" smtClean="0">
                                      <a:latin typeface="Cambria Math"/>
                                    </a:rPr>
                                    <m:t>f</m:t>
                                  </m:r>
                                </m:sup>
                              </m:sSup>
                            </m:e>
                          </m:mr>
                          <m:mr>
                            <m:e>
                              <m:m>
                                <m:mPr>
                                  <m:mcs>
                                    <m:mc>
                                      <m:mcPr>
                                        <m:count m:val="3"/>
                                        <m:mcJc m:val="center"/>
                                      </m:mcPr>
                                    </m:mc>
                                  </m:mcs>
                                  <m:ctrlPr>
                                    <a:rPr lang="en-GB" i="1" smtClean="0">
                                      <a:latin typeface="Cambria Math" panose="02040503050406030204" pitchFamily="18" charset="0"/>
                                    </a:rPr>
                                  </m:ctrlPr>
                                </m:mPr>
                                <m:mr>
                                  <m:e>
                                    <m:r>
                                      <m:rPr>
                                        <m:brk m:alnAt="7"/>
                                      </m:rPr>
                                      <a:rPr lang="en-GB" i="1" smtClean="0">
                                        <a:latin typeface="Cambria Math"/>
                                      </a:rPr>
                                      <m:t>0</m:t>
                                    </m:r>
                                  </m:e>
                                  <m:e>
                                    <m:r>
                                      <a:rPr lang="en-GB" i="1" smtClean="0">
                                        <a:latin typeface="Cambria Math"/>
                                      </a:rPr>
                                      <m:t>0</m:t>
                                    </m:r>
                                  </m:e>
                                  <m:e>
                                    <m:r>
                                      <a:rPr lang="en-GB" i="1" smtClean="0">
                                        <a:latin typeface="Cambria Math"/>
                                      </a:rPr>
                                      <m:t>0</m:t>
                                    </m:r>
                                  </m:e>
                                </m:mr>
                              </m:m>
                            </m:e>
                            <m:e>
                              <m:r>
                                <a:rPr lang="en-GB" i="1" smtClean="0">
                                  <a:latin typeface="Cambria Math"/>
                                </a:rPr>
                                <m:t>1</m:t>
                              </m:r>
                            </m:e>
                          </m:mr>
                        </m:m>
                      </m:e>
                    </m:d>
                  </m:oMath>
                </a14:m>
                <a:endParaRPr lang="en-GB"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xfrm>
                <a:off x="280656" y="959667"/>
                <a:ext cx="8516211" cy="5514285"/>
              </a:xfrm>
              <a:blipFill>
                <a:blip r:embed="rId3"/>
                <a:stretch>
                  <a:fillRect l="-596" t="-460"/>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en-GB" dirty="0"/>
              <a:t>movement between 2 points in operational space
</a:t>
            </a:r>
          </a:p>
        </p:txBody>
      </p:sp>
    </p:spTree>
    <p:extLst>
      <p:ext uri="{BB962C8B-B14F-4D97-AF65-F5344CB8AC3E}">
        <p14:creationId xmlns:p14="http://schemas.microsoft.com/office/powerpoint/2010/main" val="2713188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r>
                  <a:rPr lang="en-GB" dirty="0"/>
                  <a:t>Motion of the end effector is decomposed into :</a:t>
                </a:r>
              </a:p>
              <a:p>
                <a:pPr lvl="1"/>
                <a:r>
                  <a:rPr lang="en-GB" dirty="0"/>
                  <a:t>Translational motion: </a:t>
                </a:r>
                <a:r>
                  <a:rPr lang="en-GB" dirty="0">
                    <a:solidFill>
                      <a:srgbClr val="FF0000"/>
                    </a:solidFill>
                  </a:rPr>
                  <a:t>straight line</a:t>
                </a:r>
                <a:endParaRPr lang="en-GB" dirty="0"/>
              </a:p>
              <a:p>
                <a:pPr lvl="1"/>
                <a:r>
                  <a:rPr lang="en-GB" dirty="0"/>
                  <a:t>A rotational movement </a:t>
                </a:r>
                <a14:m>
                  <m:oMath xmlns:m="http://schemas.openxmlformats.org/officeDocument/2006/math">
                    <m:r>
                      <a:rPr lang="en-GB" i="1" smtClean="0">
                        <a:latin typeface="Cambria Math"/>
                        <a:ea typeface="Cambria Math"/>
                      </a:rPr>
                      <m:t>𝜃</m:t>
                    </m:r>
                    <m:r>
                      <a:rPr lang="en-GB" b="0" i="1" smtClean="0">
                        <a:latin typeface="Cambria Math"/>
                        <a:ea typeface="Cambria Math"/>
                      </a:rPr>
                      <m:t> </m:t>
                    </m:r>
                  </m:oMath>
                </a14:m>
                <a:r>
                  <a:rPr lang="en-GB" dirty="0"/>
                  <a:t>around an axis </a:t>
                </a:r>
                <a14:m>
                  <m:oMath xmlns:m="http://schemas.openxmlformats.org/officeDocument/2006/math">
                    <m:r>
                      <a:rPr lang="fr-FR" b="1" i="0" smtClean="0">
                        <a:latin typeface="Cambria Math" panose="02040503050406030204" pitchFamily="18" charset="0"/>
                      </a:rPr>
                      <m:t>𝐮</m:t>
                    </m:r>
                  </m:oMath>
                </a14:m>
                <a:endParaRPr lang="en-GB" b="1" dirty="0"/>
              </a:p>
              <a:p>
                <a:pPr lvl="1"/>
                <a:endParaRPr lang="en-GB" dirty="0"/>
              </a:p>
              <a:p>
                <a:r>
                  <a:rPr lang="en-GB" dirty="0"/>
                  <a:t>The distance </a:t>
                </a:r>
                <a14:m>
                  <m:oMath xmlns:m="http://schemas.openxmlformats.org/officeDocument/2006/math">
                    <m:r>
                      <a:rPr lang="en-GB" i="1">
                        <a:latin typeface="Cambria Math"/>
                      </a:rPr>
                      <m:t>𝐷</m:t>
                    </m:r>
                  </m:oMath>
                </a14:m>
                <a:r>
                  <a:rPr lang="en-GB" dirty="0"/>
                  <a:t> to be covered by the end effector (translational movement) is:</a:t>
                </a:r>
              </a:p>
              <a:p>
                <a:pPr marL="0" indent="0">
                  <a:buNone/>
                </a:pPr>
                <a14:m>
                  <m:oMathPara xmlns:m="http://schemas.openxmlformats.org/officeDocument/2006/math">
                    <m:oMathParaPr>
                      <m:jc m:val="centerGroup"/>
                    </m:oMathParaPr>
                    <m:oMath xmlns:m="http://schemas.openxmlformats.org/officeDocument/2006/math">
                      <m:r>
                        <a:rPr lang="en-GB" i="1" smtClean="0">
                          <a:latin typeface="Cambria Math"/>
                        </a:rPr>
                        <m:t>𝐷</m:t>
                      </m:r>
                      <m:r>
                        <a:rPr lang="en-GB" i="1" smtClean="0">
                          <a:latin typeface="Cambria Math"/>
                        </a:rPr>
                        <m:t>=</m:t>
                      </m:r>
                      <m:sSub>
                        <m:sSubPr>
                          <m:ctrlPr>
                            <a:rPr lang="en-GB" i="1" smtClean="0">
                              <a:latin typeface="Cambria Math" panose="02040503050406030204" pitchFamily="18" charset="0"/>
                            </a:rPr>
                          </m:ctrlPr>
                        </m:sSubPr>
                        <m:e>
                          <m:d>
                            <m:dPr>
                              <m:begChr m:val="‖"/>
                              <m:endChr m:val="‖"/>
                              <m:ctrlPr>
                                <a:rPr lang="en-GB" i="1" smtClean="0">
                                  <a:latin typeface="Cambria Math" panose="02040503050406030204" pitchFamily="18" charset="0"/>
                                </a:rPr>
                              </m:ctrlPr>
                            </m:dPr>
                            <m:e>
                              <m:sSup>
                                <m:sSupPr>
                                  <m:ctrlPr>
                                    <a:rPr lang="en-GB" i="1" smtClean="0">
                                      <a:latin typeface="Cambria Math" panose="02040503050406030204" pitchFamily="18" charset="0"/>
                                    </a:rPr>
                                  </m:ctrlPr>
                                </m:sSupPr>
                                <m:e>
                                  <m:r>
                                    <a:rPr lang="en-GB" b="1" i="0" smtClean="0">
                                      <a:latin typeface="Cambria Math" charset="0"/>
                                    </a:rPr>
                                    <m:t>𝐱</m:t>
                                  </m:r>
                                </m:e>
                                <m:sup>
                                  <m:r>
                                    <a:rPr lang="en-GB" b="1" smtClean="0">
                                      <a:latin typeface="Cambria Math"/>
                                    </a:rPr>
                                    <m:t>𝐟</m:t>
                                  </m:r>
                                </m:sup>
                              </m:sSup>
                              <m:r>
                                <a:rPr lang="en-GB" i="1" smtClean="0">
                                  <a:latin typeface="Cambria Math"/>
                                </a:rPr>
                                <m:t>−</m:t>
                              </m:r>
                              <m:sSup>
                                <m:sSupPr>
                                  <m:ctrlPr>
                                    <a:rPr lang="en-GB" i="1" smtClean="0">
                                      <a:latin typeface="Cambria Math" panose="02040503050406030204" pitchFamily="18" charset="0"/>
                                    </a:rPr>
                                  </m:ctrlPr>
                                </m:sSupPr>
                                <m:e>
                                  <m:r>
                                    <a:rPr lang="en-GB" b="1" i="0" smtClean="0">
                                      <a:latin typeface="Cambria Math" charset="0"/>
                                    </a:rPr>
                                    <m:t>𝐱</m:t>
                                  </m:r>
                                </m:e>
                                <m:sup>
                                  <m:r>
                                    <a:rPr lang="en-GB" b="1" smtClean="0">
                                      <a:latin typeface="Cambria Math"/>
                                    </a:rPr>
                                    <m:t>𝐢</m:t>
                                  </m:r>
                                </m:sup>
                              </m:sSup>
                            </m:e>
                          </m:d>
                        </m:e>
                        <m:sub>
                          <m:r>
                            <a:rPr lang="en-GB" i="1" smtClean="0">
                              <a:latin typeface="Cambria Math"/>
                            </a:rPr>
                            <m:t>2</m:t>
                          </m:r>
                        </m:sub>
                      </m:sSub>
                      <m:r>
                        <a:rPr lang="en-GB" i="1" smtClean="0">
                          <a:latin typeface="Cambria Math"/>
                        </a:rPr>
                        <m:t>=</m:t>
                      </m:r>
                      <m:rad>
                        <m:radPr>
                          <m:degHide m:val="on"/>
                          <m:ctrlPr>
                            <a:rPr lang="en-GB" i="1" smtClean="0">
                              <a:latin typeface="Cambria Math" panose="02040503050406030204" pitchFamily="18" charset="0"/>
                            </a:rPr>
                          </m:ctrlPr>
                        </m:radPr>
                        <m:deg/>
                        <m:e>
                          <m:sSup>
                            <m:sSupPr>
                              <m:ctrlPr>
                                <a:rPr lang="en-GB" i="1" smtClean="0">
                                  <a:latin typeface="Cambria Math" panose="02040503050406030204" pitchFamily="18" charset="0"/>
                                </a:rPr>
                              </m:ctrlPr>
                            </m:sSupPr>
                            <m:e>
                              <m:d>
                                <m:dPr>
                                  <m:ctrlPr>
                                    <a:rPr lang="en-GB" i="1" smtClean="0">
                                      <a:latin typeface="Cambria Math" panose="02040503050406030204" pitchFamily="18" charset="0"/>
                                    </a:rPr>
                                  </m:ctrlPr>
                                </m:dPr>
                                <m:e>
                                  <m:sSup>
                                    <m:sSupPr>
                                      <m:ctrlPr>
                                        <a:rPr lang="en-GB" i="1" smtClean="0">
                                          <a:latin typeface="Cambria Math" panose="02040503050406030204" pitchFamily="18" charset="0"/>
                                        </a:rPr>
                                      </m:ctrlPr>
                                    </m:sSupPr>
                                    <m:e>
                                      <m:r>
                                        <a:rPr lang="en-GB" i="1" smtClean="0">
                                          <a:latin typeface="Cambria Math"/>
                                        </a:rPr>
                                        <m:t>𝑥</m:t>
                                      </m:r>
                                    </m:e>
                                    <m:sup>
                                      <m:r>
                                        <m:rPr>
                                          <m:sty m:val="p"/>
                                        </m:rPr>
                                        <a:rPr lang="en-GB" smtClean="0">
                                          <a:latin typeface="Cambria Math"/>
                                        </a:rPr>
                                        <m:t>f</m:t>
                                      </m:r>
                                    </m:sup>
                                  </m:sSup>
                                  <m:r>
                                    <a:rPr lang="en-GB" i="1" smtClean="0">
                                      <a:latin typeface="Cambria Math"/>
                                    </a:rPr>
                                    <m:t>−</m:t>
                                  </m:r>
                                  <m:sSup>
                                    <m:sSupPr>
                                      <m:ctrlPr>
                                        <a:rPr lang="en-GB" i="1" smtClean="0">
                                          <a:latin typeface="Cambria Math" panose="02040503050406030204" pitchFamily="18" charset="0"/>
                                        </a:rPr>
                                      </m:ctrlPr>
                                    </m:sSupPr>
                                    <m:e>
                                      <m:r>
                                        <a:rPr lang="en-GB" i="1" smtClean="0">
                                          <a:latin typeface="Cambria Math"/>
                                        </a:rPr>
                                        <m:t>𝑥</m:t>
                                      </m:r>
                                    </m:e>
                                    <m:sup>
                                      <m:r>
                                        <m:rPr>
                                          <m:sty m:val="p"/>
                                        </m:rPr>
                                        <a:rPr lang="en-GB" smtClean="0">
                                          <a:latin typeface="Cambria Math"/>
                                        </a:rPr>
                                        <m:t>i</m:t>
                                      </m:r>
                                    </m:sup>
                                  </m:sSup>
                                </m:e>
                              </m:d>
                            </m:e>
                            <m:sup>
                              <m:r>
                                <a:rPr lang="en-GB" i="1" smtClean="0">
                                  <a:latin typeface="Cambria Math"/>
                                </a:rPr>
                                <m:t>2</m:t>
                              </m:r>
                            </m:sup>
                          </m:sSup>
                          <m:r>
                            <a:rPr lang="en-GB" i="1" smtClean="0">
                              <a:latin typeface="Cambria Math"/>
                            </a:rPr>
                            <m:t>+</m:t>
                          </m:r>
                          <m:sSup>
                            <m:sSupPr>
                              <m:ctrlPr>
                                <a:rPr lang="en-GB" i="1" smtClean="0">
                                  <a:latin typeface="Cambria Math" panose="02040503050406030204" pitchFamily="18" charset="0"/>
                                </a:rPr>
                              </m:ctrlPr>
                            </m:sSupPr>
                            <m:e>
                              <m:d>
                                <m:dPr>
                                  <m:ctrlPr>
                                    <a:rPr lang="en-GB" i="1" smtClean="0">
                                      <a:latin typeface="Cambria Math" panose="02040503050406030204" pitchFamily="18" charset="0"/>
                                    </a:rPr>
                                  </m:ctrlPr>
                                </m:dPr>
                                <m:e>
                                  <m:sSup>
                                    <m:sSupPr>
                                      <m:ctrlPr>
                                        <a:rPr lang="en-GB" i="1" smtClean="0">
                                          <a:latin typeface="Cambria Math" panose="02040503050406030204" pitchFamily="18" charset="0"/>
                                        </a:rPr>
                                      </m:ctrlPr>
                                    </m:sSupPr>
                                    <m:e>
                                      <m:r>
                                        <a:rPr lang="en-GB" i="1" smtClean="0">
                                          <a:latin typeface="Cambria Math"/>
                                        </a:rPr>
                                        <m:t>𝑦</m:t>
                                      </m:r>
                                    </m:e>
                                    <m:sup>
                                      <m:r>
                                        <m:rPr>
                                          <m:sty m:val="p"/>
                                        </m:rPr>
                                        <a:rPr lang="en-GB" smtClean="0">
                                          <a:latin typeface="Cambria Math"/>
                                        </a:rPr>
                                        <m:t>f</m:t>
                                      </m:r>
                                    </m:sup>
                                  </m:sSup>
                                  <m:r>
                                    <a:rPr lang="en-GB" i="1" smtClean="0">
                                      <a:latin typeface="Cambria Math"/>
                                    </a:rPr>
                                    <m:t>−</m:t>
                                  </m:r>
                                  <m:sSup>
                                    <m:sSupPr>
                                      <m:ctrlPr>
                                        <a:rPr lang="en-GB" i="1" smtClean="0">
                                          <a:latin typeface="Cambria Math" panose="02040503050406030204" pitchFamily="18" charset="0"/>
                                        </a:rPr>
                                      </m:ctrlPr>
                                    </m:sSupPr>
                                    <m:e>
                                      <m:r>
                                        <a:rPr lang="en-GB" i="1" smtClean="0">
                                          <a:latin typeface="Cambria Math"/>
                                        </a:rPr>
                                        <m:t>𝑦</m:t>
                                      </m:r>
                                    </m:e>
                                    <m:sup>
                                      <m:r>
                                        <m:rPr>
                                          <m:sty m:val="p"/>
                                        </m:rPr>
                                        <a:rPr lang="en-GB" smtClean="0">
                                          <a:latin typeface="Cambria Math"/>
                                        </a:rPr>
                                        <m:t>i</m:t>
                                      </m:r>
                                    </m:sup>
                                  </m:sSup>
                                </m:e>
                              </m:d>
                            </m:e>
                            <m:sup>
                              <m:r>
                                <a:rPr lang="en-GB" i="1" smtClean="0">
                                  <a:latin typeface="Cambria Math"/>
                                </a:rPr>
                                <m:t>2</m:t>
                              </m:r>
                            </m:sup>
                          </m:sSup>
                          <m:r>
                            <a:rPr lang="en-GB" i="1" smtClean="0">
                              <a:latin typeface="Cambria Math"/>
                            </a:rPr>
                            <m:t>+</m:t>
                          </m:r>
                          <m:sSup>
                            <m:sSupPr>
                              <m:ctrlPr>
                                <a:rPr lang="en-GB" i="1" smtClean="0">
                                  <a:latin typeface="Cambria Math" panose="02040503050406030204" pitchFamily="18" charset="0"/>
                                </a:rPr>
                              </m:ctrlPr>
                            </m:sSupPr>
                            <m:e>
                              <m:d>
                                <m:dPr>
                                  <m:ctrlPr>
                                    <a:rPr lang="en-GB" i="1" smtClean="0">
                                      <a:latin typeface="Cambria Math" panose="02040503050406030204" pitchFamily="18" charset="0"/>
                                    </a:rPr>
                                  </m:ctrlPr>
                                </m:dPr>
                                <m:e>
                                  <m:sSup>
                                    <m:sSupPr>
                                      <m:ctrlPr>
                                        <a:rPr lang="en-GB" i="1" smtClean="0">
                                          <a:latin typeface="Cambria Math" panose="02040503050406030204" pitchFamily="18" charset="0"/>
                                        </a:rPr>
                                      </m:ctrlPr>
                                    </m:sSupPr>
                                    <m:e>
                                      <m:r>
                                        <a:rPr lang="en-GB" i="1" smtClean="0">
                                          <a:latin typeface="Cambria Math"/>
                                        </a:rPr>
                                        <m:t>𝑧</m:t>
                                      </m:r>
                                    </m:e>
                                    <m:sup>
                                      <m:r>
                                        <m:rPr>
                                          <m:sty m:val="p"/>
                                        </m:rPr>
                                        <a:rPr lang="en-GB" smtClean="0">
                                          <a:latin typeface="Cambria Math"/>
                                        </a:rPr>
                                        <m:t>f</m:t>
                                      </m:r>
                                    </m:sup>
                                  </m:sSup>
                                  <m:r>
                                    <a:rPr lang="en-GB" i="1" smtClean="0">
                                      <a:latin typeface="Cambria Math"/>
                                    </a:rPr>
                                    <m:t>−</m:t>
                                  </m:r>
                                  <m:sSup>
                                    <m:sSupPr>
                                      <m:ctrlPr>
                                        <a:rPr lang="en-GB" i="1" smtClean="0">
                                          <a:latin typeface="Cambria Math" panose="02040503050406030204" pitchFamily="18" charset="0"/>
                                        </a:rPr>
                                      </m:ctrlPr>
                                    </m:sSupPr>
                                    <m:e>
                                      <m:r>
                                        <a:rPr lang="en-GB" i="1" smtClean="0">
                                          <a:latin typeface="Cambria Math"/>
                                        </a:rPr>
                                        <m:t>𝑧</m:t>
                                      </m:r>
                                    </m:e>
                                    <m:sup>
                                      <m:r>
                                        <m:rPr>
                                          <m:sty m:val="p"/>
                                        </m:rPr>
                                        <a:rPr lang="en-GB" smtClean="0">
                                          <a:latin typeface="Cambria Math"/>
                                        </a:rPr>
                                        <m:t>i</m:t>
                                      </m:r>
                                    </m:sup>
                                  </m:sSup>
                                </m:e>
                              </m:d>
                            </m:e>
                            <m:sup>
                              <m:r>
                                <a:rPr lang="en-GB" i="1" smtClean="0">
                                  <a:latin typeface="Cambria Math"/>
                                </a:rPr>
                                <m:t>2</m:t>
                              </m:r>
                            </m:sup>
                          </m:sSup>
                        </m:e>
                      </m:rad>
                    </m:oMath>
                  </m:oMathPara>
                </a14:m>
                <a:endParaRPr lang="en-GB" dirty="0"/>
              </a:p>
              <a:p>
                <a:endParaRPr lang="en-GB" dirty="0"/>
              </a:p>
              <a:p>
                <a:pPr marL="0" indent="0">
                  <a:buNone/>
                </a:pPr>
                <a:endParaRPr lang="en-GB" dirty="0"/>
              </a:p>
              <a:p>
                <a:r>
                  <a:rPr lang="en-GB" dirty="0"/>
                  <a:t>The calculation of the rotation is done from:</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p>
                        <m:sSupPr>
                          <m:ctrlPr>
                            <a:rPr lang="en-GB" i="1" smtClean="0">
                              <a:latin typeface="Cambria Math" panose="02040503050406030204" pitchFamily="18" charset="0"/>
                            </a:rPr>
                          </m:ctrlPr>
                        </m:sSupPr>
                        <m:e>
                          <m:r>
                            <a:rPr lang="fr-FR" b="1" i="0" smtClean="0">
                              <a:latin typeface="Cambria Math" panose="02040503050406030204" pitchFamily="18" charset="0"/>
                            </a:rPr>
                            <m:t>𝐑</m:t>
                          </m:r>
                        </m:e>
                        <m:sup>
                          <m:r>
                            <m:rPr>
                              <m:sty m:val="p"/>
                            </m:rPr>
                            <a:rPr lang="en-GB" smtClean="0">
                              <a:latin typeface="Cambria Math"/>
                            </a:rPr>
                            <m:t>i</m:t>
                          </m:r>
                        </m:sup>
                      </m:sSup>
                      <m:r>
                        <a:rPr lang="en-GB" b="1" smtClean="0">
                          <a:latin typeface="Cambria Math"/>
                        </a:rPr>
                        <m:t>  </m:t>
                      </m:r>
                      <m:r>
                        <a:rPr lang="fr-FR" b="1" i="0" smtClean="0">
                          <a:latin typeface="Cambria Math" panose="02040503050406030204" pitchFamily="18" charset="0"/>
                        </a:rPr>
                        <m:t>𝐫</m:t>
                      </m:r>
                      <m:r>
                        <a:rPr lang="en-GB" b="1" smtClean="0">
                          <a:latin typeface="Cambria Math"/>
                        </a:rPr>
                        <m:t>𝐨𝐭</m:t>
                      </m:r>
                      <m:d>
                        <m:dPr>
                          <m:ctrlPr>
                            <a:rPr lang="en-GB" i="1" smtClean="0">
                              <a:latin typeface="Cambria Math" panose="02040503050406030204" pitchFamily="18" charset="0"/>
                            </a:rPr>
                          </m:ctrlPr>
                        </m:dPr>
                        <m:e>
                          <m:r>
                            <a:rPr lang="en-GB" b="1" smtClean="0">
                              <a:latin typeface="Cambria Math"/>
                            </a:rPr>
                            <m:t>𝐮</m:t>
                          </m:r>
                          <m:r>
                            <a:rPr lang="en-GB" i="1" smtClean="0">
                              <a:latin typeface="Cambria Math"/>
                            </a:rPr>
                            <m:t>, </m:t>
                          </m:r>
                          <m:r>
                            <a:rPr lang="en-GB" i="1" smtClean="0">
                              <a:latin typeface="Cambria Math"/>
                              <a:ea typeface="Cambria Math"/>
                            </a:rPr>
                            <m:t>𝜃</m:t>
                          </m:r>
                        </m:e>
                      </m:d>
                      <m:r>
                        <a:rPr lang="en-GB" i="1" smtClean="0">
                          <a:latin typeface="Cambria Math"/>
                        </a:rPr>
                        <m:t>=</m:t>
                      </m:r>
                      <m:sSup>
                        <m:sSupPr>
                          <m:ctrlPr>
                            <a:rPr lang="en-GB" i="1" smtClean="0">
                              <a:latin typeface="Cambria Math" panose="02040503050406030204" pitchFamily="18" charset="0"/>
                            </a:rPr>
                          </m:ctrlPr>
                        </m:sSupPr>
                        <m:e>
                          <m:r>
                            <a:rPr lang="fr-FR" b="1" i="0" smtClean="0">
                              <a:latin typeface="Cambria Math" panose="02040503050406030204" pitchFamily="18" charset="0"/>
                            </a:rPr>
                            <m:t>𝐑</m:t>
                          </m:r>
                        </m:e>
                        <m:sup>
                          <m:r>
                            <m:rPr>
                              <m:sty m:val="p"/>
                            </m:rPr>
                            <a:rPr lang="en-GB" smtClean="0">
                              <a:latin typeface="Cambria Math"/>
                            </a:rPr>
                            <m:t>f</m:t>
                          </m:r>
                        </m:sup>
                      </m:sSup>
                    </m:oMath>
                  </m:oMathPara>
                </a14:m>
                <a:endParaRPr lang="en-GB" dirty="0"/>
              </a:p>
              <a:p>
                <a:pPr marL="0" indent="0">
                  <a:buNone/>
                </a:pPr>
                <a:endParaRPr lang="en-GB" dirty="0"/>
              </a:p>
              <a:p>
                <a:pPr marL="0" indent="0">
                  <a:buNone/>
                </a:pPr>
                <a:r>
                  <a:rPr lang="en-GB" dirty="0"/>
                  <a:t>We then try to determine </a:t>
                </a:r>
                <a14:m>
                  <m:oMath xmlns:m="http://schemas.openxmlformats.org/officeDocument/2006/math">
                    <m:r>
                      <a:rPr lang="en-GB" b="1" i="0" smtClean="0">
                        <a:solidFill>
                          <a:srgbClr val="FF0000"/>
                        </a:solidFill>
                        <a:latin typeface="Cambria Math"/>
                      </a:rPr>
                      <m:t>𝐮</m:t>
                    </m:r>
                  </m:oMath>
                </a14:m>
                <a:r>
                  <a:rPr lang="en-GB" dirty="0"/>
                  <a:t> and </a:t>
                </a:r>
                <a14:m>
                  <m:oMath xmlns:m="http://schemas.openxmlformats.org/officeDocument/2006/math">
                    <m:r>
                      <a:rPr lang="en-GB" i="1" smtClean="0">
                        <a:solidFill>
                          <a:srgbClr val="FF0000"/>
                        </a:solidFill>
                        <a:latin typeface="Cambria Math"/>
                        <a:ea typeface="Cambria Math"/>
                      </a:rPr>
                      <m:t>𝜃</m:t>
                    </m:r>
                  </m:oMath>
                </a14:m>
                <a:r>
                  <a:rPr lang="en-GB" dirty="0"/>
                  <a:t> </a:t>
                </a:r>
              </a:p>
              <a:p>
                <a:endParaRPr lang="en-GB"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a:blip r:embed="rId3"/>
                <a:stretch>
                  <a:fillRect l="-608" t="-460"/>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en-GB" dirty="0"/>
              <a:t>movement between 2 points in operational space
</a:t>
            </a:r>
          </a:p>
        </p:txBody>
      </p:sp>
    </p:spTree>
    <p:extLst>
      <p:ext uri="{BB962C8B-B14F-4D97-AF65-F5344CB8AC3E}">
        <p14:creationId xmlns:p14="http://schemas.microsoft.com/office/powerpoint/2010/main" val="2396374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r>
                  <a:rPr lang="en-GB" dirty="0"/>
                  <a:t>The solution is calculated by:</a:t>
                </a:r>
              </a:p>
              <a:p>
                <a:pPr marL="0" indent="0">
                  <a:buNone/>
                </a:pPr>
                <a14:m>
                  <m:oMathPara xmlns:m="http://schemas.openxmlformats.org/officeDocument/2006/math">
                    <m:oMathParaPr>
                      <m:jc m:val="centerGroup"/>
                    </m:oMathParaPr>
                    <m:oMath xmlns:m="http://schemas.openxmlformats.org/officeDocument/2006/math">
                      <m:r>
                        <a:rPr lang="fr-FR" b="1" i="0" smtClean="0">
                          <a:latin typeface="Cambria Math" panose="02040503050406030204" pitchFamily="18" charset="0"/>
                        </a:rPr>
                        <m:t>𝐫</m:t>
                      </m:r>
                      <m:r>
                        <a:rPr lang="en-GB" b="1" i="0" smtClean="0">
                          <a:latin typeface="Cambria Math"/>
                        </a:rPr>
                        <m:t>𝐨𝐭</m:t>
                      </m:r>
                      <m:d>
                        <m:dPr>
                          <m:ctrlPr>
                            <a:rPr lang="en-GB" b="0" i="1" smtClean="0">
                              <a:latin typeface="Cambria Math" panose="02040503050406030204" pitchFamily="18" charset="0"/>
                            </a:rPr>
                          </m:ctrlPr>
                        </m:dPr>
                        <m:e>
                          <m:r>
                            <a:rPr lang="en-GB" b="1" i="0" smtClean="0">
                              <a:latin typeface="Cambria Math"/>
                            </a:rPr>
                            <m:t>𝐮</m:t>
                          </m:r>
                          <m:r>
                            <a:rPr lang="en-GB" b="0" i="1" smtClean="0">
                              <a:latin typeface="Cambria Math"/>
                            </a:rPr>
                            <m:t>, </m:t>
                          </m:r>
                          <m:r>
                            <a:rPr lang="en-GB" b="0" i="1" smtClean="0">
                              <a:latin typeface="Cambria Math" panose="02040503050406030204" pitchFamily="18" charset="0"/>
                              <a:ea typeface="Cambria Math" panose="02040503050406030204" pitchFamily="18" charset="0"/>
                            </a:rPr>
                            <m:t>𝜗</m:t>
                          </m:r>
                        </m:e>
                      </m:d>
                      <m:r>
                        <a:rPr lang="en-GB" b="0" i="1" smtClean="0">
                          <a:latin typeface="Cambria Math"/>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1" i="0" smtClean="0">
                                      <a:latin typeface="Cambria Math" panose="02040503050406030204" pitchFamily="18" charset="0"/>
                                    </a:rPr>
                                    <m:t>𝐑</m:t>
                                  </m:r>
                                </m:e>
                                <m:sup>
                                  <m:r>
                                    <m:rPr>
                                      <m:sty m:val="p"/>
                                    </m:rPr>
                                    <a:rPr lang="en-GB" b="0" i="0" smtClean="0">
                                      <a:latin typeface="Cambria Math"/>
                                    </a:rPr>
                                    <m:t>i</m:t>
                                  </m:r>
                                </m:sup>
                              </m:sSup>
                            </m:e>
                          </m:d>
                        </m:e>
                        <m:sup>
                          <m:r>
                            <a:rPr lang="en-GB" b="0" i="1" smtClean="0">
                              <a:latin typeface="Cambria Math"/>
                            </a:rPr>
                            <m:t>𝑇</m:t>
                          </m:r>
                        </m:sup>
                      </m:sSup>
                      <m:sSup>
                        <m:sSupPr>
                          <m:ctrlPr>
                            <a:rPr lang="en-GB" b="0" i="1" smtClean="0">
                              <a:latin typeface="Cambria Math" panose="02040503050406030204" pitchFamily="18" charset="0"/>
                            </a:rPr>
                          </m:ctrlPr>
                        </m:sSupPr>
                        <m:e>
                          <m:r>
                            <a:rPr lang="en-GB" b="1" i="0" smtClean="0">
                              <a:latin typeface="Cambria Math" panose="02040503050406030204" pitchFamily="18" charset="0"/>
                            </a:rPr>
                            <m:t>𝐑</m:t>
                          </m:r>
                        </m:e>
                        <m:sup>
                          <m:r>
                            <m:rPr>
                              <m:sty m:val="p"/>
                            </m:rPr>
                            <a:rPr lang="en-GB" b="0" i="0" smtClean="0">
                              <a:latin typeface="Cambria Math"/>
                            </a:rPr>
                            <m:t>f</m:t>
                          </m:r>
                        </m:sup>
                      </m:sSup>
                      <m:r>
                        <a:rPr lang="en-GB" b="0" i="0" smtClean="0">
                          <a:latin typeface="Cambria Math"/>
                        </a:rPr>
                        <m:t>=</m:t>
                      </m:r>
                      <m:d>
                        <m:dPr>
                          <m:ctrlPr>
                            <a:rPr lang="en-GB" b="0" i="1" smtClean="0">
                              <a:latin typeface="Cambria Math" panose="02040503050406030204" pitchFamily="18" charset="0"/>
                            </a:rPr>
                          </m:ctrlPr>
                        </m:dPr>
                        <m:e>
                          <m:m>
                            <m:mPr>
                              <m:mcs>
                                <m:mc>
                                  <m:mcPr>
                                    <m:count m:val="3"/>
                                    <m:mcJc m:val="center"/>
                                  </m:mcPr>
                                </m:mc>
                              </m:mcs>
                              <m:ctrlPr>
                                <a:rPr lang="en-GB" b="0" i="1" smtClean="0">
                                  <a:latin typeface="Cambria Math" panose="02040503050406030204" pitchFamily="18" charset="0"/>
                                </a:rPr>
                              </m:ctrlPr>
                            </m:mPr>
                            <m:mr>
                              <m:e>
                                <m:sSub>
                                  <m:sSubPr>
                                    <m:ctrlPr>
                                      <a:rPr lang="en-GB" b="0" i="1" smtClean="0">
                                        <a:latin typeface="Cambria Math" panose="02040503050406030204" pitchFamily="18" charset="0"/>
                                      </a:rPr>
                                    </m:ctrlPr>
                                  </m:sSubPr>
                                  <m:e>
                                    <m:r>
                                      <a:rPr lang="en-GB" b="0" i="1" smtClean="0">
                                        <a:latin typeface="Cambria Math"/>
                                      </a:rPr>
                                      <m:t>𝑥</m:t>
                                    </m:r>
                                  </m:e>
                                  <m:sub>
                                    <m:r>
                                      <a:rPr lang="en-GB" b="0" i="1" smtClean="0">
                                        <a:latin typeface="Cambria Math"/>
                                      </a:rPr>
                                      <m:t>𝑥</m:t>
                                    </m:r>
                                  </m:sub>
                                </m:sSub>
                              </m:e>
                              <m:e>
                                <m:sSub>
                                  <m:sSubPr>
                                    <m:ctrlPr>
                                      <a:rPr lang="en-GB" b="0" i="1" smtClean="0">
                                        <a:latin typeface="Cambria Math" panose="02040503050406030204" pitchFamily="18" charset="0"/>
                                      </a:rPr>
                                    </m:ctrlPr>
                                  </m:sSubPr>
                                  <m:e>
                                    <m:r>
                                      <a:rPr lang="en-GB" b="0" i="1" smtClean="0">
                                        <a:latin typeface="Cambria Math"/>
                                      </a:rPr>
                                      <m:t>𝑦</m:t>
                                    </m:r>
                                  </m:e>
                                  <m:sub>
                                    <m:r>
                                      <a:rPr lang="en-GB" b="0" i="1" smtClean="0">
                                        <a:latin typeface="Cambria Math"/>
                                      </a:rPr>
                                      <m:t>𝑥</m:t>
                                    </m:r>
                                  </m:sub>
                                </m:sSub>
                              </m:e>
                              <m:e>
                                <m:sSub>
                                  <m:sSubPr>
                                    <m:ctrlPr>
                                      <a:rPr lang="en-GB" b="0" i="1" smtClean="0">
                                        <a:latin typeface="Cambria Math" panose="02040503050406030204" pitchFamily="18" charset="0"/>
                                      </a:rPr>
                                    </m:ctrlPr>
                                  </m:sSubPr>
                                  <m:e>
                                    <m:r>
                                      <a:rPr lang="en-GB" b="0" i="1" smtClean="0">
                                        <a:latin typeface="Cambria Math"/>
                                      </a:rPr>
                                      <m:t>𝑧</m:t>
                                    </m:r>
                                  </m:e>
                                  <m:sub>
                                    <m:r>
                                      <a:rPr lang="en-GB" b="0" i="1" smtClean="0">
                                        <a:latin typeface="Cambria Math"/>
                                      </a:rPr>
                                      <m:t>𝑥</m:t>
                                    </m:r>
                                  </m:sub>
                                </m:sSub>
                              </m:e>
                            </m:mr>
                            <m:mr>
                              <m:e>
                                <m:sSub>
                                  <m:sSubPr>
                                    <m:ctrlPr>
                                      <a:rPr lang="en-GB" b="0" i="1" smtClean="0">
                                        <a:latin typeface="Cambria Math" panose="02040503050406030204" pitchFamily="18" charset="0"/>
                                      </a:rPr>
                                    </m:ctrlPr>
                                  </m:sSubPr>
                                  <m:e>
                                    <m:r>
                                      <a:rPr lang="en-GB" b="0" i="1" smtClean="0">
                                        <a:latin typeface="Cambria Math"/>
                                      </a:rPr>
                                      <m:t>𝑥</m:t>
                                    </m:r>
                                  </m:e>
                                  <m:sub>
                                    <m:r>
                                      <a:rPr lang="en-GB" b="0" i="1" smtClean="0">
                                        <a:latin typeface="Cambria Math"/>
                                      </a:rPr>
                                      <m:t>𝑦</m:t>
                                    </m:r>
                                  </m:sub>
                                </m:sSub>
                              </m:e>
                              <m:e>
                                <m:sSub>
                                  <m:sSubPr>
                                    <m:ctrlPr>
                                      <a:rPr lang="en-GB" b="0" i="1" smtClean="0">
                                        <a:latin typeface="Cambria Math" panose="02040503050406030204" pitchFamily="18" charset="0"/>
                                      </a:rPr>
                                    </m:ctrlPr>
                                  </m:sSubPr>
                                  <m:e>
                                    <m:r>
                                      <a:rPr lang="en-GB" b="0" i="1" smtClean="0">
                                        <a:latin typeface="Cambria Math"/>
                                      </a:rPr>
                                      <m:t>𝑦</m:t>
                                    </m:r>
                                  </m:e>
                                  <m:sub>
                                    <m:r>
                                      <a:rPr lang="en-GB" b="0" i="1" smtClean="0">
                                        <a:latin typeface="Cambria Math"/>
                                      </a:rPr>
                                      <m:t>𝑦</m:t>
                                    </m:r>
                                  </m:sub>
                                </m:sSub>
                              </m:e>
                              <m:e>
                                <m:sSub>
                                  <m:sSubPr>
                                    <m:ctrlPr>
                                      <a:rPr lang="en-GB" b="0" i="1" smtClean="0">
                                        <a:latin typeface="Cambria Math" panose="02040503050406030204" pitchFamily="18" charset="0"/>
                                      </a:rPr>
                                    </m:ctrlPr>
                                  </m:sSubPr>
                                  <m:e>
                                    <m:r>
                                      <a:rPr lang="en-GB" b="0" i="1" smtClean="0">
                                        <a:latin typeface="Cambria Math"/>
                                      </a:rPr>
                                      <m:t>𝑧</m:t>
                                    </m:r>
                                  </m:e>
                                  <m:sub>
                                    <m:r>
                                      <a:rPr lang="en-GB" b="0" i="1" smtClean="0">
                                        <a:latin typeface="Cambria Math"/>
                                      </a:rPr>
                                      <m:t>𝑦</m:t>
                                    </m:r>
                                  </m:sub>
                                </m:sSub>
                              </m:e>
                            </m:mr>
                            <m:mr>
                              <m:e>
                                <m:sSub>
                                  <m:sSubPr>
                                    <m:ctrlPr>
                                      <a:rPr lang="en-GB" b="0" i="1" smtClean="0">
                                        <a:latin typeface="Cambria Math" panose="02040503050406030204" pitchFamily="18" charset="0"/>
                                      </a:rPr>
                                    </m:ctrlPr>
                                  </m:sSubPr>
                                  <m:e>
                                    <m:r>
                                      <a:rPr lang="en-GB" b="0" i="1" smtClean="0">
                                        <a:latin typeface="Cambria Math"/>
                                      </a:rPr>
                                      <m:t>𝑥</m:t>
                                    </m:r>
                                  </m:e>
                                  <m:sub>
                                    <m:r>
                                      <a:rPr lang="en-GB" b="0" i="1" smtClean="0">
                                        <a:latin typeface="Cambria Math"/>
                                      </a:rPr>
                                      <m:t>𝑧</m:t>
                                    </m:r>
                                  </m:sub>
                                </m:sSub>
                              </m:e>
                              <m:e>
                                <m:sSub>
                                  <m:sSubPr>
                                    <m:ctrlPr>
                                      <a:rPr lang="en-GB" b="0" i="1" smtClean="0">
                                        <a:latin typeface="Cambria Math" panose="02040503050406030204" pitchFamily="18" charset="0"/>
                                      </a:rPr>
                                    </m:ctrlPr>
                                  </m:sSubPr>
                                  <m:e>
                                    <m:r>
                                      <a:rPr lang="en-GB" b="0" i="1" smtClean="0">
                                        <a:latin typeface="Cambria Math"/>
                                      </a:rPr>
                                      <m:t>𝑦</m:t>
                                    </m:r>
                                  </m:e>
                                  <m:sub>
                                    <m:r>
                                      <a:rPr lang="en-GB" b="0" i="1" smtClean="0">
                                        <a:latin typeface="Cambria Math"/>
                                      </a:rPr>
                                      <m:t>𝑧</m:t>
                                    </m:r>
                                  </m:sub>
                                </m:sSub>
                              </m:e>
                              <m:e>
                                <m:sSub>
                                  <m:sSubPr>
                                    <m:ctrlPr>
                                      <a:rPr lang="en-GB" b="0" i="1" smtClean="0">
                                        <a:latin typeface="Cambria Math" panose="02040503050406030204" pitchFamily="18" charset="0"/>
                                      </a:rPr>
                                    </m:ctrlPr>
                                  </m:sSubPr>
                                  <m:e>
                                    <m:r>
                                      <a:rPr lang="en-GB" b="0" i="1" smtClean="0">
                                        <a:latin typeface="Cambria Math"/>
                                      </a:rPr>
                                      <m:t>𝑧</m:t>
                                    </m:r>
                                  </m:e>
                                  <m:sub>
                                    <m:r>
                                      <a:rPr lang="en-GB" b="0" i="1" smtClean="0">
                                        <a:latin typeface="Cambria Math"/>
                                      </a:rPr>
                                      <m:t>𝑧</m:t>
                                    </m:r>
                                  </m:sub>
                                </m:sSub>
                              </m:e>
                            </m:mr>
                          </m:m>
                        </m:e>
                      </m:d>
                    </m:oMath>
                  </m:oMathPara>
                </a14:m>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a:rPr>
                        <m:t>𝐶</m:t>
                      </m:r>
                      <m:r>
                        <a:rPr lang="en-GB" i="1">
                          <a:latin typeface="Cambria Math" panose="02040503050406030204" pitchFamily="18" charset="0"/>
                          <a:ea typeface="Cambria Math" panose="02040503050406030204" pitchFamily="18" charset="0"/>
                        </a:rPr>
                        <m:t>𝜗</m:t>
                      </m:r>
                      <m:r>
                        <a:rPr lang="en-GB" b="0" i="1" smtClean="0">
                          <a:latin typeface="Cambria Math"/>
                          <a:ea typeface="Cambria Math"/>
                        </a:rPr>
                        <m:t>=</m:t>
                      </m:r>
                      <m:f>
                        <m:fPr>
                          <m:ctrlPr>
                            <a:rPr lang="en-GB" b="0" i="1" smtClean="0">
                              <a:latin typeface="Cambria Math" panose="02040503050406030204" pitchFamily="18" charset="0"/>
                              <a:ea typeface="Cambria Math"/>
                            </a:rPr>
                          </m:ctrlPr>
                        </m:fPr>
                        <m:num>
                          <m:r>
                            <a:rPr lang="en-GB" b="0" i="1" smtClean="0">
                              <a:latin typeface="Cambria Math"/>
                              <a:ea typeface="Cambria Math"/>
                            </a:rPr>
                            <m:t>1</m:t>
                          </m:r>
                        </m:num>
                        <m:den>
                          <m:r>
                            <a:rPr lang="en-GB" b="0" i="1" smtClean="0">
                              <a:latin typeface="Cambria Math"/>
                              <a:ea typeface="Cambria Math"/>
                            </a:rPr>
                            <m:t>2</m:t>
                          </m:r>
                        </m:den>
                      </m:f>
                      <m:d>
                        <m:dPr>
                          <m:ctrlPr>
                            <a:rPr lang="en-GB" b="0" i="1" smtClean="0">
                              <a:latin typeface="Cambria Math" panose="02040503050406030204" pitchFamily="18" charset="0"/>
                              <a:ea typeface="Cambria Math"/>
                            </a:rPr>
                          </m:ctrlPr>
                        </m:dPr>
                        <m:e>
                          <m:sSub>
                            <m:sSubPr>
                              <m:ctrlPr>
                                <a:rPr lang="en-GB" b="0" i="1" smtClean="0">
                                  <a:latin typeface="Cambria Math" panose="02040503050406030204" pitchFamily="18" charset="0"/>
                                  <a:ea typeface="Cambria Math"/>
                                </a:rPr>
                              </m:ctrlPr>
                            </m:sSubPr>
                            <m:e>
                              <m:r>
                                <a:rPr lang="en-GB" b="0" i="1" smtClean="0">
                                  <a:latin typeface="Cambria Math"/>
                                  <a:ea typeface="Cambria Math"/>
                                </a:rPr>
                                <m:t>𝑥</m:t>
                              </m:r>
                            </m:e>
                            <m:sub>
                              <m:r>
                                <a:rPr lang="en-GB" b="0" i="1" smtClean="0">
                                  <a:latin typeface="Cambria Math"/>
                                  <a:ea typeface="Cambria Math"/>
                                </a:rPr>
                                <m:t>𝑥</m:t>
                              </m:r>
                            </m:sub>
                          </m:sSub>
                          <m:r>
                            <a:rPr lang="en-GB" b="0" i="1" smtClean="0">
                              <a:latin typeface="Cambria Math"/>
                              <a:ea typeface="Cambria Math"/>
                            </a:rPr>
                            <m:t>+</m:t>
                          </m:r>
                          <m:sSub>
                            <m:sSubPr>
                              <m:ctrlPr>
                                <a:rPr lang="en-GB" b="0" i="1" smtClean="0">
                                  <a:latin typeface="Cambria Math" panose="02040503050406030204" pitchFamily="18" charset="0"/>
                                  <a:ea typeface="Cambria Math"/>
                                </a:rPr>
                              </m:ctrlPr>
                            </m:sSubPr>
                            <m:e>
                              <m:r>
                                <a:rPr lang="en-GB" b="0" i="1" smtClean="0">
                                  <a:latin typeface="Cambria Math"/>
                                  <a:ea typeface="Cambria Math"/>
                                </a:rPr>
                                <m:t>𝑦</m:t>
                              </m:r>
                            </m:e>
                            <m:sub>
                              <m:r>
                                <a:rPr lang="en-GB" b="0" i="1" smtClean="0">
                                  <a:latin typeface="Cambria Math"/>
                                  <a:ea typeface="Cambria Math"/>
                                </a:rPr>
                                <m:t>𝑦</m:t>
                              </m:r>
                            </m:sub>
                          </m:sSub>
                          <m:r>
                            <a:rPr lang="en-GB" b="0" i="1" smtClean="0">
                              <a:latin typeface="Cambria Math"/>
                              <a:ea typeface="Cambria Math"/>
                            </a:rPr>
                            <m:t>+</m:t>
                          </m:r>
                          <m:sSub>
                            <m:sSubPr>
                              <m:ctrlPr>
                                <a:rPr lang="en-GB" b="0" i="1" smtClean="0">
                                  <a:latin typeface="Cambria Math" panose="02040503050406030204" pitchFamily="18" charset="0"/>
                                  <a:ea typeface="Cambria Math"/>
                                </a:rPr>
                              </m:ctrlPr>
                            </m:sSubPr>
                            <m:e>
                              <m:r>
                                <a:rPr lang="en-GB" b="0" i="1" smtClean="0">
                                  <a:latin typeface="Cambria Math"/>
                                  <a:ea typeface="Cambria Math"/>
                                </a:rPr>
                                <m:t>𝑧</m:t>
                              </m:r>
                            </m:e>
                            <m:sub>
                              <m:r>
                                <a:rPr lang="en-GB" b="0" i="1" smtClean="0">
                                  <a:latin typeface="Cambria Math"/>
                                  <a:ea typeface="Cambria Math"/>
                                </a:rPr>
                                <m:t>𝑧</m:t>
                              </m:r>
                            </m:sub>
                          </m:sSub>
                          <m:r>
                            <a:rPr lang="en-GB" b="0" i="1" smtClean="0">
                              <a:latin typeface="Cambria Math"/>
                              <a:ea typeface="Cambria Math"/>
                            </a:rPr>
                            <m:t>−1</m:t>
                          </m:r>
                        </m:e>
                      </m:d>
                    </m:oMath>
                  </m:oMathPara>
                </a14:m>
                <a:endParaRPr lang="en-GB" b="0" dirty="0">
                  <a:ea typeface="Cambria Math"/>
                </a:endParaRPr>
              </a:p>
              <a:p>
                <a:pPr marL="0" indent="0">
                  <a:buNone/>
                </a:pPr>
                <a:endParaRPr lang="en-GB" b="0" dirty="0">
                  <a:ea typeface="Cambria Math"/>
                </a:endParaRP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a:rPr>
                        <m:t>𝑆</m:t>
                      </m:r>
                      <m:r>
                        <a:rPr lang="en-GB" i="1">
                          <a:latin typeface="Cambria Math" panose="02040503050406030204" pitchFamily="18" charset="0"/>
                          <a:ea typeface="Cambria Math" panose="02040503050406030204" pitchFamily="18" charset="0"/>
                        </a:rPr>
                        <m:t>𝜗</m:t>
                      </m:r>
                      <m:r>
                        <a:rPr lang="en-GB" b="0" i="1" smtClean="0">
                          <a:latin typeface="Cambria Math"/>
                          <a:ea typeface="Cambria Math"/>
                        </a:rPr>
                        <m:t>=</m:t>
                      </m:r>
                      <m:f>
                        <m:fPr>
                          <m:ctrlPr>
                            <a:rPr lang="en-GB" b="0" i="1" smtClean="0">
                              <a:latin typeface="Cambria Math" panose="02040503050406030204" pitchFamily="18" charset="0"/>
                              <a:ea typeface="Cambria Math"/>
                            </a:rPr>
                          </m:ctrlPr>
                        </m:fPr>
                        <m:num>
                          <m:r>
                            <a:rPr lang="en-GB" b="0" i="1" smtClean="0">
                              <a:latin typeface="Cambria Math"/>
                              <a:ea typeface="Cambria Math"/>
                            </a:rPr>
                            <m:t>1</m:t>
                          </m:r>
                        </m:num>
                        <m:den>
                          <m:r>
                            <a:rPr lang="en-GB" b="0" i="1" smtClean="0">
                              <a:latin typeface="Cambria Math"/>
                              <a:ea typeface="Cambria Math"/>
                            </a:rPr>
                            <m:t>2</m:t>
                          </m:r>
                        </m:den>
                      </m:f>
                      <m:rad>
                        <m:radPr>
                          <m:degHide m:val="on"/>
                          <m:ctrlPr>
                            <a:rPr lang="en-GB" b="0" i="1" smtClean="0">
                              <a:latin typeface="Cambria Math" panose="02040503050406030204" pitchFamily="18" charset="0"/>
                              <a:ea typeface="Cambria Math"/>
                            </a:rPr>
                          </m:ctrlPr>
                        </m:radPr>
                        <m:deg/>
                        <m:e>
                          <m:sSup>
                            <m:sSupPr>
                              <m:ctrlPr>
                                <a:rPr lang="en-GB" b="0" i="1" smtClean="0">
                                  <a:latin typeface="Cambria Math" panose="02040503050406030204" pitchFamily="18" charset="0"/>
                                  <a:ea typeface="Cambria Math"/>
                                </a:rPr>
                              </m:ctrlPr>
                            </m:sSupPr>
                            <m:e>
                              <m:d>
                                <m:dPr>
                                  <m:ctrlPr>
                                    <a:rPr lang="en-GB" b="0" i="1" smtClean="0">
                                      <a:latin typeface="Cambria Math" panose="02040503050406030204" pitchFamily="18" charset="0"/>
                                      <a:ea typeface="Cambria Math"/>
                                    </a:rPr>
                                  </m:ctrlPr>
                                </m:dPr>
                                <m:e>
                                  <m:sSub>
                                    <m:sSubPr>
                                      <m:ctrlPr>
                                        <a:rPr lang="en-GB" b="0" i="1" smtClean="0">
                                          <a:latin typeface="Cambria Math" panose="02040503050406030204" pitchFamily="18" charset="0"/>
                                          <a:ea typeface="Cambria Math"/>
                                        </a:rPr>
                                      </m:ctrlPr>
                                    </m:sSubPr>
                                    <m:e>
                                      <m:r>
                                        <a:rPr lang="en-GB" b="0" i="1" smtClean="0">
                                          <a:latin typeface="Cambria Math"/>
                                          <a:ea typeface="Cambria Math"/>
                                        </a:rPr>
                                        <m:t>𝑦</m:t>
                                      </m:r>
                                    </m:e>
                                    <m:sub>
                                      <m:r>
                                        <a:rPr lang="en-GB" b="0" i="1" smtClean="0">
                                          <a:latin typeface="Cambria Math"/>
                                          <a:ea typeface="Cambria Math"/>
                                        </a:rPr>
                                        <m:t>𝑧</m:t>
                                      </m:r>
                                    </m:sub>
                                  </m:sSub>
                                  <m:r>
                                    <a:rPr lang="en-GB" b="0" i="1" smtClean="0">
                                      <a:latin typeface="Cambria Math"/>
                                      <a:ea typeface="Cambria Math"/>
                                    </a:rPr>
                                    <m:t>−</m:t>
                                  </m:r>
                                  <m:sSub>
                                    <m:sSubPr>
                                      <m:ctrlPr>
                                        <a:rPr lang="en-GB" b="0" i="1" smtClean="0">
                                          <a:latin typeface="Cambria Math" panose="02040503050406030204" pitchFamily="18" charset="0"/>
                                          <a:ea typeface="Cambria Math"/>
                                        </a:rPr>
                                      </m:ctrlPr>
                                    </m:sSubPr>
                                    <m:e>
                                      <m:r>
                                        <a:rPr lang="en-GB" b="0" i="1" smtClean="0">
                                          <a:latin typeface="Cambria Math"/>
                                          <a:ea typeface="Cambria Math"/>
                                        </a:rPr>
                                        <m:t>𝑧</m:t>
                                      </m:r>
                                    </m:e>
                                    <m:sub>
                                      <m:r>
                                        <a:rPr lang="en-GB" b="0" i="1" smtClean="0">
                                          <a:latin typeface="Cambria Math"/>
                                          <a:ea typeface="Cambria Math"/>
                                        </a:rPr>
                                        <m:t>𝑦</m:t>
                                      </m:r>
                                    </m:sub>
                                  </m:sSub>
                                </m:e>
                              </m:d>
                            </m:e>
                            <m:sup>
                              <m:r>
                                <a:rPr lang="en-GB" b="0" i="1" smtClean="0">
                                  <a:latin typeface="Cambria Math"/>
                                  <a:ea typeface="Cambria Math"/>
                                </a:rPr>
                                <m:t>2</m:t>
                              </m:r>
                            </m:sup>
                          </m:sSup>
                          <m:r>
                            <a:rPr lang="en-GB" b="0" i="1" smtClean="0">
                              <a:latin typeface="Cambria Math"/>
                              <a:ea typeface="Cambria Math"/>
                            </a:rPr>
                            <m:t>+</m:t>
                          </m:r>
                          <m:sSup>
                            <m:sSupPr>
                              <m:ctrlPr>
                                <a:rPr lang="en-GB" b="0" i="1" smtClean="0">
                                  <a:latin typeface="Cambria Math" panose="02040503050406030204" pitchFamily="18" charset="0"/>
                                  <a:ea typeface="Cambria Math"/>
                                </a:rPr>
                              </m:ctrlPr>
                            </m:sSupPr>
                            <m:e>
                              <m:d>
                                <m:dPr>
                                  <m:ctrlPr>
                                    <a:rPr lang="en-GB" b="0" i="1" smtClean="0">
                                      <a:latin typeface="Cambria Math" panose="02040503050406030204" pitchFamily="18" charset="0"/>
                                      <a:ea typeface="Cambria Math"/>
                                    </a:rPr>
                                  </m:ctrlPr>
                                </m:dPr>
                                <m:e>
                                  <m:sSub>
                                    <m:sSubPr>
                                      <m:ctrlPr>
                                        <a:rPr lang="en-GB" b="0" i="1" smtClean="0">
                                          <a:latin typeface="Cambria Math" panose="02040503050406030204" pitchFamily="18" charset="0"/>
                                          <a:ea typeface="Cambria Math"/>
                                        </a:rPr>
                                      </m:ctrlPr>
                                    </m:sSubPr>
                                    <m:e>
                                      <m:r>
                                        <a:rPr lang="en-GB" b="0" i="1" smtClean="0">
                                          <a:latin typeface="Cambria Math"/>
                                          <a:ea typeface="Cambria Math"/>
                                        </a:rPr>
                                        <m:t>𝑧</m:t>
                                      </m:r>
                                    </m:e>
                                    <m:sub>
                                      <m:r>
                                        <a:rPr lang="en-GB" b="0" i="1" smtClean="0">
                                          <a:latin typeface="Cambria Math"/>
                                          <a:ea typeface="Cambria Math"/>
                                        </a:rPr>
                                        <m:t>𝑥</m:t>
                                      </m:r>
                                    </m:sub>
                                  </m:sSub>
                                  <m:r>
                                    <a:rPr lang="en-GB" b="0" i="1" smtClean="0">
                                      <a:latin typeface="Cambria Math"/>
                                      <a:ea typeface="Cambria Math"/>
                                    </a:rPr>
                                    <m:t>−</m:t>
                                  </m:r>
                                  <m:sSub>
                                    <m:sSubPr>
                                      <m:ctrlPr>
                                        <a:rPr lang="en-GB" b="0" i="1" smtClean="0">
                                          <a:latin typeface="Cambria Math" panose="02040503050406030204" pitchFamily="18" charset="0"/>
                                          <a:ea typeface="Cambria Math"/>
                                        </a:rPr>
                                      </m:ctrlPr>
                                    </m:sSubPr>
                                    <m:e>
                                      <m:r>
                                        <a:rPr lang="en-GB" b="0" i="1" smtClean="0">
                                          <a:latin typeface="Cambria Math"/>
                                          <a:ea typeface="Cambria Math"/>
                                        </a:rPr>
                                        <m:t>𝑥</m:t>
                                      </m:r>
                                    </m:e>
                                    <m:sub>
                                      <m:r>
                                        <a:rPr lang="en-GB" b="0" i="1" smtClean="0">
                                          <a:latin typeface="Cambria Math"/>
                                          <a:ea typeface="Cambria Math"/>
                                        </a:rPr>
                                        <m:t>𝑧</m:t>
                                      </m:r>
                                    </m:sub>
                                  </m:sSub>
                                </m:e>
                              </m:d>
                            </m:e>
                            <m:sup>
                              <m:r>
                                <a:rPr lang="en-GB" b="0" i="1" smtClean="0">
                                  <a:latin typeface="Cambria Math"/>
                                  <a:ea typeface="Cambria Math"/>
                                </a:rPr>
                                <m:t>2</m:t>
                              </m:r>
                            </m:sup>
                          </m:sSup>
                          <m:r>
                            <a:rPr lang="en-GB" b="0" i="1" smtClean="0">
                              <a:latin typeface="Cambria Math"/>
                              <a:ea typeface="Cambria Math"/>
                            </a:rPr>
                            <m:t>+</m:t>
                          </m:r>
                          <m:sSup>
                            <m:sSupPr>
                              <m:ctrlPr>
                                <a:rPr lang="en-GB" b="0" i="1" smtClean="0">
                                  <a:latin typeface="Cambria Math" panose="02040503050406030204" pitchFamily="18" charset="0"/>
                                  <a:ea typeface="Cambria Math"/>
                                </a:rPr>
                              </m:ctrlPr>
                            </m:sSupPr>
                            <m:e>
                              <m:d>
                                <m:dPr>
                                  <m:ctrlPr>
                                    <a:rPr lang="en-GB" b="0" i="1" smtClean="0">
                                      <a:latin typeface="Cambria Math" panose="02040503050406030204" pitchFamily="18" charset="0"/>
                                      <a:ea typeface="Cambria Math"/>
                                    </a:rPr>
                                  </m:ctrlPr>
                                </m:dPr>
                                <m:e>
                                  <m:sSub>
                                    <m:sSubPr>
                                      <m:ctrlPr>
                                        <a:rPr lang="en-GB" b="0" i="1" smtClean="0">
                                          <a:latin typeface="Cambria Math" panose="02040503050406030204" pitchFamily="18" charset="0"/>
                                          <a:ea typeface="Cambria Math"/>
                                        </a:rPr>
                                      </m:ctrlPr>
                                    </m:sSubPr>
                                    <m:e>
                                      <m:r>
                                        <a:rPr lang="en-GB" b="0" i="1" smtClean="0">
                                          <a:latin typeface="Cambria Math"/>
                                          <a:ea typeface="Cambria Math"/>
                                        </a:rPr>
                                        <m:t>𝑥</m:t>
                                      </m:r>
                                    </m:e>
                                    <m:sub>
                                      <m:r>
                                        <a:rPr lang="en-GB" b="0" i="1" smtClean="0">
                                          <a:latin typeface="Cambria Math"/>
                                          <a:ea typeface="Cambria Math"/>
                                        </a:rPr>
                                        <m:t>𝑦</m:t>
                                      </m:r>
                                    </m:sub>
                                  </m:sSub>
                                  <m:r>
                                    <a:rPr lang="en-GB" b="0" i="1" smtClean="0">
                                      <a:latin typeface="Cambria Math"/>
                                      <a:ea typeface="Cambria Math"/>
                                    </a:rPr>
                                    <m:t>−</m:t>
                                  </m:r>
                                  <m:sSub>
                                    <m:sSubPr>
                                      <m:ctrlPr>
                                        <a:rPr lang="en-GB" b="0" i="1" smtClean="0">
                                          <a:latin typeface="Cambria Math" panose="02040503050406030204" pitchFamily="18" charset="0"/>
                                          <a:ea typeface="Cambria Math"/>
                                        </a:rPr>
                                      </m:ctrlPr>
                                    </m:sSubPr>
                                    <m:e>
                                      <m:r>
                                        <a:rPr lang="en-GB" b="0" i="1" smtClean="0">
                                          <a:latin typeface="Cambria Math"/>
                                          <a:ea typeface="Cambria Math"/>
                                        </a:rPr>
                                        <m:t>𝑦</m:t>
                                      </m:r>
                                    </m:e>
                                    <m:sub>
                                      <m:r>
                                        <a:rPr lang="en-GB" b="0" i="1" smtClean="0">
                                          <a:latin typeface="Cambria Math"/>
                                          <a:ea typeface="Cambria Math"/>
                                        </a:rPr>
                                        <m:t>𝑥</m:t>
                                      </m:r>
                                    </m:sub>
                                  </m:sSub>
                                </m:e>
                              </m:d>
                            </m:e>
                            <m:sup>
                              <m:r>
                                <a:rPr lang="en-GB" b="0" i="1" smtClean="0">
                                  <a:latin typeface="Cambria Math"/>
                                  <a:ea typeface="Cambria Math"/>
                                </a:rPr>
                                <m:t>2</m:t>
                              </m:r>
                            </m:sup>
                          </m:sSup>
                        </m:e>
                      </m:rad>
                    </m:oMath>
                  </m:oMathPara>
                </a14:m>
                <a:endParaRPr lang="en-GB" dirty="0"/>
              </a:p>
              <a:p>
                <a:pPr marL="0" indent="0">
                  <a:buNone/>
                </a:pPr>
                <a:endParaRPr lang="en-GB" dirty="0"/>
              </a:p>
              <a:p>
                <a:r>
                  <a:rPr lang="en-GB" dirty="0"/>
                  <a:t>The vector </a:t>
                </a:r>
                <a14:m>
                  <m:oMath xmlns:m="http://schemas.openxmlformats.org/officeDocument/2006/math">
                    <m:r>
                      <m:rPr>
                        <m:sty m:val="p"/>
                      </m:rPr>
                      <a:rPr lang="en-GB" b="0" i="0" smtClean="0">
                        <a:latin typeface="Cambria Math"/>
                      </a:rPr>
                      <m:t>u</m:t>
                    </m:r>
                  </m:oMath>
                </a14:m>
                <a:r>
                  <a:rPr lang="en-GB" dirty="0"/>
                  <a:t> and the angle </a:t>
                </a:r>
                <a14:m>
                  <m:oMath xmlns:m="http://schemas.openxmlformats.org/officeDocument/2006/math">
                    <m:r>
                      <a:rPr lang="en-GB" i="1">
                        <a:latin typeface="Cambria Math" panose="02040503050406030204" pitchFamily="18" charset="0"/>
                        <a:ea typeface="Cambria Math" panose="02040503050406030204" pitchFamily="18" charset="0"/>
                      </a:rPr>
                      <m:t>𝜗</m:t>
                    </m:r>
                  </m:oMath>
                </a14:m>
                <a:r>
                  <a:rPr lang="en-GB" dirty="0"/>
                  <a:t> are computed as:</a:t>
                </a:r>
              </a:p>
              <a:p>
                <a:endParaRPr lang="en-GB" dirty="0"/>
              </a:p>
              <a:p>
                <a:pPr marL="0" indent="0">
                  <a:buNone/>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ea typeface="Cambria Math" panose="02040503050406030204" pitchFamily="18" charset="0"/>
                        </a:rPr>
                        <m:t>𝜗</m:t>
                      </m:r>
                      <m:r>
                        <a:rPr lang="en-GB" b="0" i="1" smtClean="0">
                          <a:latin typeface="Cambria Math"/>
                          <a:ea typeface="Cambria Math"/>
                        </a:rPr>
                        <m:t>=</m:t>
                      </m:r>
                      <m:r>
                        <a:rPr lang="en-GB" b="0" i="1" smtClean="0">
                          <a:latin typeface="Cambria Math"/>
                          <a:ea typeface="Cambria Math"/>
                        </a:rPr>
                        <m:t>𝑎𝑡𝑎𝑛</m:t>
                      </m:r>
                      <m:r>
                        <a:rPr lang="en-GB" b="0" i="1" smtClean="0">
                          <a:latin typeface="Cambria Math"/>
                          <a:ea typeface="Cambria Math"/>
                        </a:rPr>
                        <m:t>2</m:t>
                      </m:r>
                      <m:d>
                        <m:dPr>
                          <m:ctrlPr>
                            <a:rPr lang="en-GB" b="0" i="1" smtClean="0">
                              <a:latin typeface="Cambria Math" panose="02040503050406030204" pitchFamily="18" charset="0"/>
                              <a:ea typeface="Cambria Math"/>
                            </a:rPr>
                          </m:ctrlPr>
                        </m:dPr>
                        <m:e>
                          <m:r>
                            <a:rPr lang="en-GB" b="0" i="1" smtClean="0">
                              <a:latin typeface="Cambria Math"/>
                              <a:ea typeface="Cambria Math"/>
                            </a:rPr>
                            <m:t>𝑆</m:t>
                          </m:r>
                          <m:r>
                            <a:rPr lang="en-GB" i="1">
                              <a:latin typeface="Cambria Math" panose="02040503050406030204" pitchFamily="18" charset="0"/>
                              <a:ea typeface="Cambria Math" panose="02040503050406030204" pitchFamily="18" charset="0"/>
                            </a:rPr>
                            <m:t>𝜗</m:t>
                          </m:r>
                          <m:r>
                            <a:rPr lang="en-GB" b="0" i="1" smtClean="0">
                              <a:latin typeface="Cambria Math"/>
                              <a:ea typeface="Cambria Math"/>
                            </a:rPr>
                            <m:t>, </m:t>
                          </m:r>
                          <m:r>
                            <a:rPr lang="en-GB" b="0" i="1" smtClean="0">
                              <a:latin typeface="Cambria Math"/>
                              <a:ea typeface="Cambria Math"/>
                            </a:rPr>
                            <m:t>𝐶</m:t>
                          </m:r>
                          <m:r>
                            <a:rPr lang="en-GB" i="1">
                              <a:latin typeface="Cambria Math" panose="02040503050406030204" pitchFamily="18" charset="0"/>
                              <a:ea typeface="Cambria Math" panose="02040503050406030204" pitchFamily="18" charset="0"/>
                            </a:rPr>
                            <m:t>𝜗</m:t>
                          </m:r>
                        </m:e>
                      </m:d>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1" i="0" smtClean="0">
                          <a:latin typeface="Cambria Math"/>
                        </a:rPr>
                        <m:t>𝐮</m:t>
                      </m:r>
                      <m:r>
                        <a:rPr lang="en-GB" b="0" i="1" smtClean="0">
                          <a:latin typeface="Cambria Math"/>
                        </a:rPr>
                        <m:t>=</m:t>
                      </m:r>
                      <m:d>
                        <m:dPr>
                          <m:ctrlPr>
                            <a:rPr lang="en-GB" b="0" i="1" smtClean="0">
                              <a:latin typeface="Cambria Math" panose="02040503050406030204" pitchFamily="18" charset="0"/>
                            </a:rPr>
                          </m:ctrlPr>
                        </m:dPr>
                        <m:e>
                          <m:m>
                            <m:mPr>
                              <m:mcs>
                                <m:mc>
                                  <m:mcPr>
                                    <m:count m:val="1"/>
                                    <m:mcJc m:val="center"/>
                                  </m:mcPr>
                                </m:mc>
                              </m:mcs>
                              <m:ctrlPr>
                                <a:rPr lang="en-GB" b="0" i="1" smtClean="0">
                                  <a:latin typeface="Cambria Math" panose="02040503050406030204" pitchFamily="18" charset="0"/>
                                </a:rPr>
                              </m:ctrlPr>
                            </m:mPr>
                            <m:mr>
                              <m:e>
                                <m:sSub>
                                  <m:sSubPr>
                                    <m:ctrlPr>
                                      <a:rPr lang="en-GB" b="0" i="1" smtClean="0">
                                        <a:latin typeface="Cambria Math" panose="02040503050406030204" pitchFamily="18" charset="0"/>
                                      </a:rPr>
                                    </m:ctrlPr>
                                  </m:sSubPr>
                                  <m:e>
                                    <m:r>
                                      <a:rPr lang="fr-FR" b="0" i="1" smtClean="0">
                                        <a:latin typeface="Cambria Math" panose="02040503050406030204" pitchFamily="18" charset="0"/>
                                      </a:rPr>
                                      <m:t>𝑢</m:t>
                                    </m:r>
                                  </m:e>
                                  <m:sub>
                                    <m:r>
                                      <a:rPr lang="fr-FR" b="0" i="1" smtClean="0">
                                        <a:latin typeface="Cambria Math" panose="02040503050406030204" pitchFamily="18" charset="0"/>
                                      </a:rPr>
                                      <m:t>𝑥</m:t>
                                    </m:r>
                                  </m:sub>
                                </m:sSub>
                              </m:e>
                            </m:mr>
                            <m:mr>
                              <m:e>
                                <m:sSub>
                                  <m:sSubPr>
                                    <m:ctrlPr>
                                      <a:rPr lang="en-GB" b="0" i="1" smtClean="0">
                                        <a:latin typeface="Cambria Math" panose="02040503050406030204" pitchFamily="18" charset="0"/>
                                      </a:rPr>
                                    </m:ctrlPr>
                                  </m:sSubPr>
                                  <m:e>
                                    <m:r>
                                      <a:rPr lang="fr-FR" b="0" i="1" smtClean="0">
                                        <a:latin typeface="Cambria Math" panose="02040503050406030204" pitchFamily="18" charset="0"/>
                                      </a:rPr>
                                      <m:t>𝑢</m:t>
                                    </m:r>
                                  </m:e>
                                  <m:sub>
                                    <m:r>
                                      <a:rPr lang="fr-FR" b="0" i="1" smtClean="0">
                                        <a:latin typeface="Cambria Math" panose="02040503050406030204" pitchFamily="18" charset="0"/>
                                      </a:rPr>
                                      <m:t>𝑦</m:t>
                                    </m:r>
                                  </m:sub>
                                </m:sSub>
                              </m:e>
                            </m:mr>
                            <m:mr>
                              <m:e>
                                <m:sSub>
                                  <m:sSubPr>
                                    <m:ctrlPr>
                                      <a:rPr lang="en-GB" b="0" i="1" smtClean="0">
                                        <a:latin typeface="Cambria Math" panose="02040503050406030204" pitchFamily="18" charset="0"/>
                                      </a:rPr>
                                    </m:ctrlPr>
                                  </m:sSubPr>
                                  <m:e>
                                    <m:r>
                                      <a:rPr lang="fr-FR" b="0" i="1" smtClean="0">
                                        <a:latin typeface="Cambria Math" panose="02040503050406030204" pitchFamily="18" charset="0"/>
                                      </a:rPr>
                                      <m:t>𝑢</m:t>
                                    </m:r>
                                  </m:e>
                                  <m:sub>
                                    <m:r>
                                      <a:rPr lang="fr-FR" b="0" i="1" smtClean="0">
                                        <a:latin typeface="Cambria Math" panose="02040503050406030204" pitchFamily="18" charset="0"/>
                                      </a:rPr>
                                      <m:t>𝑧</m:t>
                                    </m:r>
                                  </m:sub>
                                </m:sSub>
                              </m:e>
                            </m:mr>
                          </m:m>
                        </m:e>
                      </m:d>
                      <m:r>
                        <a:rPr lang="fr-FR"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a:rPr>
                            <m:t>1</m:t>
                          </m:r>
                        </m:num>
                        <m:den>
                          <m:r>
                            <a:rPr lang="en-GB" b="0" i="1" smtClean="0">
                              <a:latin typeface="Cambria Math"/>
                            </a:rPr>
                            <m:t>2 </m:t>
                          </m:r>
                          <m:r>
                            <a:rPr lang="en-GB" b="0" i="1" smtClean="0">
                              <a:latin typeface="Cambria Math"/>
                            </a:rPr>
                            <m:t>𝑆</m:t>
                          </m:r>
                          <m:r>
                            <a:rPr lang="en-GB" i="1">
                              <a:latin typeface="Cambria Math" panose="02040503050406030204" pitchFamily="18" charset="0"/>
                              <a:ea typeface="Cambria Math" panose="02040503050406030204" pitchFamily="18" charset="0"/>
                            </a:rPr>
                            <m:t>𝜗</m:t>
                          </m:r>
                        </m:den>
                      </m:f>
                      <m:d>
                        <m:dPr>
                          <m:ctrlPr>
                            <a:rPr lang="en-GB" b="0" i="1" smtClean="0">
                              <a:latin typeface="Cambria Math" panose="02040503050406030204" pitchFamily="18" charset="0"/>
                            </a:rPr>
                          </m:ctrlPr>
                        </m:dPr>
                        <m:e>
                          <m:eqArr>
                            <m:eqArrPr>
                              <m:ctrlPr>
                                <a:rPr lang="en-GB" b="0" i="1" smtClean="0">
                                  <a:latin typeface="Cambria Math" panose="02040503050406030204" pitchFamily="18" charset="0"/>
                                </a:rPr>
                              </m:ctrlPr>
                            </m:eqArrPr>
                            <m:e>
                              <m:sSub>
                                <m:sSubPr>
                                  <m:ctrlPr>
                                    <a:rPr lang="en-GB" i="1" smtClean="0">
                                      <a:latin typeface="Cambria Math" panose="02040503050406030204" pitchFamily="18" charset="0"/>
                                      <a:ea typeface="Cambria Math"/>
                                    </a:rPr>
                                  </m:ctrlPr>
                                </m:sSubPr>
                                <m:e>
                                  <m:r>
                                    <a:rPr lang="en-GB" i="1" smtClean="0">
                                      <a:latin typeface="Cambria Math"/>
                                      <a:ea typeface="Cambria Math"/>
                                    </a:rPr>
                                    <m:t>𝑦</m:t>
                                  </m:r>
                                </m:e>
                                <m:sub>
                                  <m:r>
                                    <a:rPr lang="en-GB" i="1" smtClean="0">
                                      <a:latin typeface="Cambria Math"/>
                                      <a:ea typeface="Cambria Math"/>
                                    </a:rPr>
                                    <m:t>𝑧</m:t>
                                  </m:r>
                                </m:sub>
                              </m:sSub>
                              <m:r>
                                <a:rPr lang="en-GB" i="1" smtClean="0">
                                  <a:latin typeface="Cambria Math"/>
                                  <a:ea typeface="Cambria Math"/>
                                </a:rPr>
                                <m:t>−</m:t>
                              </m:r>
                              <m:sSub>
                                <m:sSubPr>
                                  <m:ctrlPr>
                                    <a:rPr lang="en-GB" i="1" smtClean="0">
                                      <a:latin typeface="Cambria Math" panose="02040503050406030204" pitchFamily="18" charset="0"/>
                                      <a:ea typeface="Cambria Math"/>
                                    </a:rPr>
                                  </m:ctrlPr>
                                </m:sSubPr>
                                <m:e>
                                  <m:r>
                                    <a:rPr lang="en-GB" i="1" smtClean="0">
                                      <a:latin typeface="Cambria Math"/>
                                      <a:ea typeface="Cambria Math"/>
                                    </a:rPr>
                                    <m:t>𝑧</m:t>
                                  </m:r>
                                </m:e>
                                <m:sub>
                                  <m:r>
                                    <a:rPr lang="en-GB" i="1" smtClean="0">
                                      <a:latin typeface="Cambria Math"/>
                                      <a:ea typeface="Cambria Math"/>
                                    </a:rPr>
                                    <m:t>𝑦</m:t>
                                  </m:r>
                                </m:sub>
                              </m:sSub>
                            </m:e>
                            <m:e>
                              <m:sSub>
                                <m:sSubPr>
                                  <m:ctrlPr>
                                    <a:rPr lang="en-GB" i="1" smtClean="0">
                                      <a:latin typeface="Cambria Math" panose="02040503050406030204" pitchFamily="18" charset="0"/>
                                      <a:ea typeface="Cambria Math"/>
                                    </a:rPr>
                                  </m:ctrlPr>
                                </m:sSubPr>
                                <m:e>
                                  <m:r>
                                    <a:rPr lang="en-GB" i="1" smtClean="0">
                                      <a:latin typeface="Cambria Math"/>
                                      <a:ea typeface="Cambria Math"/>
                                    </a:rPr>
                                    <m:t>𝑧</m:t>
                                  </m:r>
                                </m:e>
                                <m:sub>
                                  <m:r>
                                    <a:rPr lang="en-GB" i="1" smtClean="0">
                                      <a:latin typeface="Cambria Math"/>
                                      <a:ea typeface="Cambria Math"/>
                                    </a:rPr>
                                    <m:t>𝑥</m:t>
                                  </m:r>
                                </m:sub>
                              </m:sSub>
                              <m:r>
                                <a:rPr lang="en-GB" i="1" smtClean="0">
                                  <a:latin typeface="Cambria Math"/>
                                  <a:ea typeface="Cambria Math"/>
                                </a:rPr>
                                <m:t>−</m:t>
                              </m:r>
                              <m:sSub>
                                <m:sSubPr>
                                  <m:ctrlPr>
                                    <a:rPr lang="en-GB" i="1" smtClean="0">
                                      <a:latin typeface="Cambria Math" panose="02040503050406030204" pitchFamily="18" charset="0"/>
                                      <a:ea typeface="Cambria Math"/>
                                    </a:rPr>
                                  </m:ctrlPr>
                                </m:sSubPr>
                                <m:e>
                                  <m:r>
                                    <a:rPr lang="en-GB" i="1" smtClean="0">
                                      <a:latin typeface="Cambria Math"/>
                                      <a:ea typeface="Cambria Math"/>
                                    </a:rPr>
                                    <m:t>𝑥</m:t>
                                  </m:r>
                                </m:e>
                                <m:sub>
                                  <m:r>
                                    <a:rPr lang="en-GB" i="1" smtClean="0">
                                      <a:latin typeface="Cambria Math"/>
                                      <a:ea typeface="Cambria Math"/>
                                    </a:rPr>
                                    <m:t>𝑧</m:t>
                                  </m:r>
                                </m:sub>
                              </m:sSub>
                            </m:e>
                            <m:e>
                              <m:sSub>
                                <m:sSubPr>
                                  <m:ctrlPr>
                                    <a:rPr lang="en-GB" i="1" smtClean="0">
                                      <a:latin typeface="Cambria Math" panose="02040503050406030204" pitchFamily="18" charset="0"/>
                                      <a:ea typeface="Cambria Math"/>
                                    </a:rPr>
                                  </m:ctrlPr>
                                </m:sSubPr>
                                <m:e>
                                  <m:r>
                                    <a:rPr lang="en-GB" i="1" smtClean="0">
                                      <a:latin typeface="Cambria Math"/>
                                      <a:ea typeface="Cambria Math"/>
                                    </a:rPr>
                                    <m:t>𝑥</m:t>
                                  </m:r>
                                </m:e>
                                <m:sub>
                                  <m:r>
                                    <a:rPr lang="en-GB" i="1" smtClean="0">
                                      <a:latin typeface="Cambria Math"/>
                                      <a:ea typeface="Cambria Math"/>
                                    </a:rPr>
                                    <m:t>𝑦</m:t>
                                  </m:r>
                                </m:sub>
                              </m:sSub>
                              <m:r>
                                <a:rPr lang="en-GB" i="1" smtClean="0">
                                  <a:latin typeface="Cambria Math"/>
                                  <a:ea typeface="Cambria Math"/>
                                </a:rPr>
                                <m:t>−</m:t>
                              </m:r>
                              <m:sSub>
                                <m:sSubPr>
                                  <m:ctrlPr>
                                    <a:rPr lang="en-GB" i="1" smtClean="0">
                                      <a:latin typeface="Cambria Math" panose="02040503050406030204" pitchFamily="18" charset="0"/>
                                      <a:ea typeface="Cambria Math"/>
                                    </a:rPr>
                                  </m:ctrlPr>
                                </m:sSubPr>
                                <m:e>
                                  <m:r>
                                    <a:rPr lang="en-GB" i="1" smtClean="0">
                                      <a:latin typeface="Cambria Math"/>
                                      <a:ea typeface="Cambria Math"/>
                                    </a:rPr>
                                    <m:t>𝑦</m:t>
                                  </m:r>
                                </m:e>
                                <m:sub>
                                  <m:r>
                                    <a:rPr lang="en-GB" i="1" smtClean="0">
                                      <a:latin typeface="Cambria Math"/>
                                      <a:ea typeface="Cambria Math"/>
                                    </a:rPr>
                                    <m:t>𝑥</m:t>
                                  </m:r>
                                </m:sub>
                              </m:sSub>
                            </m:e>
                          </m:eqArr>
                        </m:e>
                      </m:d>
                    </m:oMath>
                  </m:oMathPara>
                </a14:m>
                <a:endParaRPr lang="en-GB"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a:blip r:embed="rId3"/>
                <a:stretch>
                  <a:fillRect t="-460"/>
                </a:stretch>
              </a:blipFill>
            </p:spPr>
            <p:txBody>
              <a:bodyPr/>
              <a:lstStyle/>
              <a:p>
                <a:r>
                  <a:rPr lang="fr-FR">
                    <a:noFill/>
                  </a:rPr>
                  <a:t> </a:t>
                </a:r>
              </a:p>
            </p:txBody>
          </p:sp>
        </mc:Fallback>
      </mc:AlternateContent>
      <p:sp>
        <p:nvSpPr>
          <p:cNvPr id="6" name="Titre 2">
            <a:extLst>
              <a:ext uri="{FF2B5EF4-FFF2-40B4-BE49-F238E27FC236}">
                <a16:creationId xmlns:a16="http://schemas.microsoft.com/office/drawing/2014/main" id="{8EC60443-756C-5741-B577-4B94064851BE}"/>
              </a:ext>
            </a:extLst>
          </p:cNvPr>
          <p:cNvSpPr>
            <a:spLocks noGrp="1"/>
          </p:cNvSpPr>
          <p:nvPr>
            <p:ph type="title"/>
          </p:nvPr>
        </p:nvSpPr>
        <p:spPr>
          <a:xfrm>
            <a:off x="300790" y="0"/>
            <a:ext cx="8229600" cy="785812"/>
          </a:xfrm>
        </p:spPr>
        <p:txBody>
          <a:bodyPr/>
          <a:lstStyle/>
          <a:p>
            <a:r>
              <a:rPr lang="en-GB" dirty="0"/>
              <a:t>movement between 2 points in operational space
</a:t>
            </a:r>
          </a:p>
        </p:txBody>
      </p:sp>
    </p:spTree>
    <p:extLst>
      <p:ext uri="{BB962C8B-B14F-4D97-AF65-F5344CB8AC3E}">
        <p14:creationId xmlns:p14="http://schemas.microsoft.com/office/powerpoint/2010/main" val="943592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a:xfrm>
                <a:off x="280656" y="959667"/>
                <a:ext cx="8618415" cy="5514285"/>
              </a:xfrm>
            </p:spPr>
            <p:txBody>
              <a:bodyPr/>
              <a:lstStyle/>
              <a:p>
                <a:r>
                  <a:rPr lang="en-GB" dirty="0"/>
                  <a:t>Finally, the motion of the end effector is described by:
</a:t>
                </a:r>
                <a:endParaRPr lang="en-GB" i="1" dirty="0">
                  <a:latin typeface="Cambria Math"/>
                </a:endParaRPr>
              </a:p>
              <a:p>
                <a:pPr marL="0" indent="0">
                  <a:buNone/>
                </a:pPr>
                <a14:m>
                  <m:oMathPara xmlns:m="http://schemas.openxmlformats.org/officeDocument/2006/math">
                    <m:oMathParaPr>
                      <m:jc m:val="centerGroup"/>
                    </m:oMathParaPr>
                    <m:oMath xmlns:m="http://schemas.openxmlformats.org/officeDocument/2006/math">
                      <m:sSup>
                        <m:sSupPr>
                          <m:ctrlPr>
                            <a:rPr lang="en-GB" i="1" smtClean="0">
                              <a:latin typeface="Cambria Math" panose="02040503050406030204" pitchFamily="18" charset="0"/>
                            </a:rPr>
                          </m:ctrlPr>
                        </m:sSupPr>
                        <m:e>
                          <m:sPre>
                            <m:sPrePr>
                              <m:ctrlPr>
                                <a:rPr lang="en-GB" i="1">
                                  <a:latin typeface="Cambria Math" panose="02040503050406030204" pitchFamily="18" charset="0"/>
                                </a:rPr>
                              </m:ctrlPr>
                            </m:sPrePr>
                            <m:sub/>
                            <m:sup>
                              <m:r>
                                <a:rPr lang="en-GB" i="1">
                                  <a:latin typeface="Cambria Math"/>
                                </a:rPr>
                                <m:t>0</m:t>
                              </m:r>
                            </m:sup>
                            <m:e>
                              <m:sSub>
                                <m:sSubPr>
                                  <m:ctrlPr>
                                    <a:rPr lang="en-GB" i="1">
                                      <a:latin typeface="Cambria Math" panose="02040503050406030204" pitchFamily="18" charset="0"/>
                                    </a:rPr>
                                  </m:ctrlPr>
                                </m:sSubPr>
                                <m:e>
                                  <m:r>
                                    <a:rPr lang="en-GB" b="1">
                                      <a:latin typeface="Cambria Math"/>
                                    </a:rPr>
                                    <m:t>𝐓</m:t>
                                  </m:r>
                                </m:e>
                                <m:sub>
                                  <m:r>
                                    <a:rPr lang="en-GB" i="1">
                                      <a:latin typeface="Cambria Math"/>
                                    </a:rPr>
                                    <m:t>𝐸</m:t>
                                  </m:r>
                                </m:sub>
                              </m:sSub>
                            </m:e>
                          </m:sPre>
                        </m:e>
                        <m:sup>
                          <m:r>
                            <a:rPr lang="fr-FR" b="0" i="1" smtClean="0">
                              <a:latin typeface="Cambria Math" panose="02040503050406030204" pitchFamily="18" charset="0"/>
                            </a:rPr>
                            <m:t>𝑑</m:t>
                          </m:r>
                        </m:sup>
                      </m:sSup>
                      <m:d>
                        <m:dPr>
                          <m:ctrlPr>
                            <a:rPr lang="en-GB" i="1" smtClean="0">
                              <a:latin typeface="Cambria Math" panose="02040503050406030204" pitchFamily="18" charset="0"/>
                            </a:rPr>
                          </m:ctrlPr>
                        </m:dPr>
                        <m:e>
                          <m:r>
                            <m:rPr>
                              <m:sty m:val="p"/>
                            </m:rPr>
                            <a:rPr lang="en-GB" b="0" i="0" smtClean="0">
                              <a:latin typeface="Cambria Math"/>
                            </a:rPr>
                            <m:t>t</m:t>
                          </m:r>
                        </m:e>
                      </m:d>
                      <m:r>
                        <a:rPr lang="en-GB" b="0" i="1" smtClean="0">
                          <a:latin typeface="Cambria Math"/>
                        </a:rPr>
                        <m:t>=</m:t>
                      </m:r>
                      <m:d>
                        <m:dPr>
                          <m:ctrlPr>
                            <a:rPr lang="en-GB" b="0" i="1" smtClean="0">
                              <a:latin typeface="Cambria Math" panose="02040503050406030204" pitchFamily="18" charset="0"/>
                            </a:rPr>
                          </m:ctrlPr>
                        </m:dPr>
                        <m:e>
                          <m:m>
                            <m:mPr>
                              <m:mcs>
                                <m:mc>
                                  <m:mcPr>
                                    <m:count m:val="2"/>
                                    <m:mcJc m:val="center"/>
                                  </m:mcPr>
                                </m:mc>
                              </m:mcs>
                              <m:ctrlPr>
                                <a:rPr lang="en-GB" b="0" i="1" smtClean="0">
                                  <a:latin typeface="Cambria Math" panose="02040503050406030204" pitchFamily="18" charset="0"/>
                                </a:rPr>
                              </m:ctrlPr>
                            </m:mPr>
                            <m:mr>
                              <m:e>
                                <m:sSup>
                                  <m:sSupPr>
                                    <m:ctrlPr>
                                      <a:rPr lang="en-GB" i="1">
                                        <a:latin typeface="Cambria Math" panose="02040503050406030204" pitchFamily="18" charset="0"/>
                                      </a:rPr>
                                    </m:ctrlPr>
                                  </m:sSupPr>
                                  <m:e>
                                    <m:r>
                                      <a:rPr lang="fr-FR" b="1">
                                        <a:latin typeface="Cambria Math" panose="02040503050406030204" pitchFamily="18" charset="0"/>
                                      </a:rPr>
                                      <m:t>𝐑</m:t>
                                    </m:r>
                                  </m:e>
                                  <m:sup>
                                    <m:r>
                                      <a:rPr lang="fr-FR" i="1">
                                        <a:latin typeface="Cambria Math" panose="02040503050406030204" pitchFamily="18" charset="0"/>
                                      </a:rPr>
                                      <m:t>𝑑</m:t>
                                    </m:r>
                                  </m:sup>
                                </m:sSup>
                                <m:d>
                                  <m:dPr>
                                    <m:ctrlPr>
                                      <a:rPr lang="en-GB" i="1" smtClean="0">
                                        <a:latin typeface="Cambria Math" panose="02040503050406030204" pitchFamily="18" charset="0"/>
                                      </a:rPr>
                                    </m:ctrlPr>
                                  </m:dPr>
                                  <m:e>
                                    <m:r>
                                      <m:rPr>
                                        <m:sty m:val="p"/>
                                      </m:rPr>
                                      <a:rPr lang="en-GB" b="0" i="0" smtClean="0">
                                        <a:latin typeface="Cambria Math"/>
                                      </a:rPr>
                                      <m:t>t</m:t>
                                    </m:r>
                                  </m:e>
                                </m:d>
                              </m:e>
                              <m:e>
                                <m:sSup>
                                  <m:sSupPr>
                                    <m:ctrlPr>
                                      <a:rPr lang="en-GB" i="1">
                                        <a:latin typeface="Cambria Math" panose="02040503050406030204" pitchFamily="18" charset="0"/>
                                      </a:rPr>
                                    </m:ctrlPr>
                                  </m:sSupPr>
                                  <m:e>
                                    <m:r>
                                      <a:rPr lang="fr-FR" b="1">
                                        <a:latin typeface="Cambria Math" panose="02040503050406030204" pitchFamily="18" charset="0"/>
                                      </a:rPr>
                                      <m:t>𝐱</m:t>
                                    </m:r>
                                  </m:e>
                                  <m:sup>
                                    <m:r>
                                      <a:rPr lang="fr-FR" i="1">
                                        <a:latin typeface="Cambria Math" panose="02040503050406030204" pitchFamily="18" charset="0"/>
                                      </a:rPr>
                                      <m:t>𝑑</m:t>
                                    </m:r>
                                  </m:sup>
                                </m:sSup>
                                <m:d>
                                  <m:dPr>
                                    <m:ctrlPr>
                                      <a:rPr lang="en-GB" b="0" i="1" smtClean="0">
                                        <a:latin typeface="Cambria Math" panose="02040503050406030204" pitchFamily="18" charset="0"/>
                                      </a:rPr>
                                    </m:ctrlPr>
                                  </m:dPr>
                                  <m:e>
                                    <m:r>
                                      <m:rPr>
                                        <m:sty m:val="p"/>
                                      </m:rPr>
                                      <a:rPr lang="en-GB" b="0" i="0" smtClean="0">
                                        <a:latin typeface="Cambria Math"/>
                                      </a:rPr>
                                      <m:t>t</m:t>
                                    </m:r>
                                  </m:e>
                                </m:d>
                              </m:e>
                            </m:mr>
                            <m:mr>
                              <m:e>
                                <m:m>
                                  <m:mPr>
                                    <m:mcs>
                                      <m:mc>
                                        <m:mcPr>
                                          <m:count m:val="3"/>
                                          <m:mcJc m:val="center"/>
                                        </m:mcPr>
                                      </m:mc>
                                    </m:mcs>
                                    <m:ctrlPr>
                                      <a:rPr lang="en-GB" b="0" i="1" smtClean="0">
                                        <a:latin typeface="Cambria Math" panose="02040503050406030204" pitchFamily="18" charset="0"/>
                                      </a:rPr>
                                    </m:ctrlPr>
                                  </m:mPr>
                                  <m:mr>
                                    <m:e>
                                      <m:r>
                                        <m:rPr>
                                          <m:brk m:alnAt="7"/>
                                        </m:rPr>
                                        <a:rPr lang="en-GB" b="0" i="1" smtClean="0">
                                          <a:latin typeface="Cambria Math"/>
                                        </a:rPr>
                                        <m:t>0</m:t>
                                      </m:r>
                                    </m:e>
                                    <m:e>
                                      <m:r>
                                        <a:rPr lang="en-GB" b="0" i="1" smtClean="0">
                                          <a:latin typeface="Cambria Math"/>
                                        </a:rPr>
                                        <m:t>0</m:t>
                                      </m:r>
                                    </m:e>
                                    <m:e>
                                      <m:r>
                                        <a:rPr lang="en-GB" b="0" i="1" smtClean="0">
                                          <a:latin typeface="Cambria Math"/>
                                        </a:rPr>
                                        <m:t>0</m:t>
                                      </m:r>
                                    </m:e>
                                  </m:mr>
                                </m:m>
                              </m:e>
                              <m:e>
                                <m:r>
                                  <a:rPr lang="en-GB" b="0" i="1" smtClean="0">
                                    <a:latin typeface="Cambria Math"/>
                                  </a:rPr>
                                  <m:t>1</m:t>
                                </m:r>
                              </m:e>
                            </m:mr>
                          </m:m>
                        </m:e>
                      </m:d>
                    </m:oMath>
                  </m:oMathPara>
                </a14:m>
                <a:endParaRPr lang="en-GB" dirty="0"/>
              </a:p>
              <a:p>
                <a:pPr marL="0" indent="0">
                  <a:buNone/>
                </a:pPr>
                <a:endParaRPr lang="en-GB" dirty="0"/>
              </a:p>
              <a:p>
                <a:pPr marL="0" indent="0">
                  <a:buNone/>
                </a:pPr>
                <a:r>
                  <a:rPr lang="en-GB" dirty="0"/>
                  <a:t>Such that:</a:t>
                </a:r>
              </a:p>
              <a:p>
                <a:pPr marL="0" indent="0">
                  <a:buNone/>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fr-FR" b="1" i="0" smtClean="0">
                              <a:latin typeface="Cambria Math" panose="02040503050406030204" pitchFamily="18" charset="0"/>
                            </a:rPr>
                            <m:t>𝐱</m:t>
                          </m:r>
                        </m:e>
                        <m:sup>
                          <m:r>
                            <a:rPr lang="fr-FR" b="0" i="1" smtClean="0">
                              <a:latin typeface="Cambria Math" panose="02040503050406030204" pitchFamily="18" charset="0"/>
                            </a:rPr>
                            <m:t>𝑑</m:t>
                          </m:r>
                        </m:sup>
                      </m:sSup>
                      <m:d>
                        <m:dPr>
                          <m:ctrlPr>
                            <a:rPr lang="en-GB" b="0" i="1" smtClean="0">
                              <a:latin typeface="Cambria Math" panose="02040503050406030204" pitchFamily="18" charset="0"/>
                            </a:rPr>
                          </m:ctrlPr>
                        </m:dPr>
                        <m:e>
                          <m:r>
                            <m:rPr>
                              <m:sty m:val="p"/>
                            </m:rPr>
                            <a:rPr lang="en-GB" b="0" i="0" smtClean="0">
                              <a:latin typeface="Cambria Math"/>
                            </a:rPr>
                            <m:t>t</m:t>
                          </m:r>
                        </m:e>
                      </m:d>
                      <m:r>
                        <a:rPr lang="en-GB" b="0" i="1" smtClean="0">
                          <a:latin typeface="Cambria Math"/>
                        </a:rPr>
                        <m:t>=</m:t>
                      </m:r>
                      <m:sSup>
                        <m:sSupPr>
                          <m:ctrlPr>
                            <a:rPr lang="en-GB" b="1" i="1" smtClean="0">
                              <a:latin typeface="Cambria Math" panose="02040503050406030204" pitchFamily="18" charset="0"/>
                            </a:rPr>
                          </m:ctrlPr>
                        </m:sSupPr>
                        <m:e>
                          <m:r>
                            <a:rPr lang="en-GB" b="1" i="0" smtClean="0">
                              <a:latin typeface="Cambria Math" charset="0"/>
                            </a:rPr>
                            <m:t>𝐱</m:t>
                          </m:r>
                        </m:e>
                        <m:sup>
                          <m:r>
                            <a:rPr lang="en-GB" b="1" i="0" smtClean="0">
                              <a:latin typeface="Cambria Math"/>
                            </a:rPr>
                            <m:t>𝐢</m:t>
                          </m:r>
                        </m:sup>
                      </m:sSup>
                      <m:r>
                        <a:rPr lang="en-GB" b="0" i="1" smtClean="0">
                          <a:latin typeface="Cambria Math"/>
                        </a:rPr>
                        <m:t>+</m:t>
                      </m:r>
                      <m:r>
                        <m:rPr>
                          <m:sty m:val="p"/>
                        </m:rPr>
                        <a:rPr lang="en-GB" b="0" i="0" smtClean="0">
                          <a:latin typeface="Cambria Math"/>
                        </a:rPr>
                        <m:t>r</m:t>
                      </m:r>
                      <m:d>
                        <m:dPr>
                          <m:ctrlPr>
                            <a:rPr lang="en-GB" b="0" i="1" smtClean="0">
                              <a:latin typeface="Cambria Math" panose="02040503050406030204" pitchFamily="18" charset="0"/>
                            </a:rPr>
                          </m:ctrlPr>
                        </m:dPr>
                        <m:e>
                          <m:r>
                            <m:rPr>
                              <m:sty m:val="p"/>
                            </m:rPr>
                            <a:rPr lang="en-GB" b="0" i="0" smtClean="0">
                              <a:latin typeface="Cambria Math"/>
                            </a:rPr>
                            <m:t>t</m:t>
                          </m:r>
                        </m:e>
                      </m:d>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1" i="0" smtClean="0">
                                  <a:latin typeface="Cambria Math" charset="0"/>
                                </a:rPr>
                                <m:t>𝐱</m:t>
                              </m:r>
                            </m:e>
                            <m:sup>
                              <m:r>
                                <m:rPr>
                                  <m:sty m:val="p"/>
                                </m:rPr>
                                <a:rPr lang="en-GB" b="0" i="0" smtClean="0">
                                  <a:latin typeface="Cambria Math"/>
                                </a:rPr>
                                <m:t>f</m:t>
                              </m:r>
                            </m:sup>
                          </m:sSup>
                          <m:r>
                            <a:rPr lang="en-GB" b="0" i="0" smtClean="0">
                              <a:latin typeface="Cambria Math"/>
                            </a:rPr>
                            <m:t>−</m:t>
                          </m:r>
                          <m:sSup>
                            <m:sSupPr>
                              <m:ctrlPr>
                                <a:rPr lang="en-GB" b="0" i="1" smtClean="0">
                                  <a:latin typeface="Cambria Math" panose="02040503050406030204" pitchFamily="18" charset="0"/>
                                </a:rPr>
                              </m:ctrlPr>
                            </m:sSupPr>
                            <m:e>
                              <m:r>
                                <a:rPr lang="en-GB" b="1" i="0" smtClean="0">
                                  <a:latin typeface="Cambria Math" charset="0"/>
                                </a:rPr>
                                <m:t>𝐱</m:t>
                              </m:r>
                            </m:e>
                            <m:sup>
                              <m:r>
                                <m:rPr>
                                  <m:sty m:val="p"/>
                                </m:rPr>
                                <a:rPr lang="en-GB" b="0" i="0" smtClean="0">
                                  <a:latin typeface="Cambria Math"/>
                                </a:rPr>
                                <m:t>i</m:t>
                              </m:r>
                            </m:sup>
                          </m:sSup>
                        </m:e>
                      </m:d>
                    </m:oMath>
                  </m:oMathPara>
                </a14:m>
                <a:endParaRPr lang="en-GB" dirty="0"/>
              </a:p>
              <a:p>
                <a:pPr marL="0" indent="0">
                  <a:buNone/>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fr-FR" b="1" i="0" smtClean="0">
                              <a:latin typeface="Cambria Math" panose="02040503050406030204" pitchFamily="18" charset="0"/>
                            </a:rPr>
                            <m:t>𝐑</m:t>
                          </m:r>
                        </m:e>
                        <m:sup>
                          <m:r>
                            <a:rPr lang="fr-FR" b="0" i="1" smtClean="0">
                              <a:latin typeface="Cambria Math" panose="02040503050406030204" pitchFamily="18" charset="0"/>
                            </a:rPr>
                            <m:t>𝑑</m:t>
                          </m:r>
                        </m:sup>
                      </m:sSup>
                      <m:d>
                        <m:dPr>
                          <m:ctrlPr>
                            <a:rPr lang="en-GB" b="0" i="1" smtClean="0">
                              <a:latin typeface="Cambria Math" panose="02040503050406030204" pitchFamily="18" charset="0"/>
                            </a:rPr>
                          </m:ctrlPr>
                        </m:dPr>
                        <m:e>
                          <m:r>
                            <m:rPr>
                              <m:sty m:val="p"/>
                            </m:rPr>
                            <a:rPr lang="en-GB" b="0" i="0" smtClean="0">
                              <a:latin typeface="Cambria Math"/>
                            </a:rPr>
                            <m:t>t</m:t>
                          </m:r>
                        </m:e>
                      </m:d>
                      <m:r>
                        <a:rPr lang="en-GB" b="0" i="1" smtClean="0">
                          <a:latin typeface="Cambria Math"/>
                        </a:rPr>
                        <m:t>=</m:t>
                      </m:r>
                      <m:sSup>
                        <m:sSupPr>
                          <m:ctrlPr>
                            <a:rPr lang="en-GB" b="0" i="1" smtClean="0">
                              <a:latin typeface="Cambria Math" panose="02040503050406030204" pitchFamily="18" charset="0"/>
                            </a:rPr>
                          </m:ctrlPr>
                        </m:sSupPr>
                        <m:e>
                          <m:r>
                            <a:rPr lang="en-GB" b="1" i="0" smtClean="0">
                              <a:latin typeface="Cambria Math" panose="02040503050406030204" pitchFamily="18" charset="0"/>
                            </a:rPr>
                            <m:t>𝐑</m:t>
                          </m:r>
                        </m:e>
                        <m:sup>
                          <m:r>
                            <m:rPr>
                              <m:sty m:val="p"/>
                            </m:rPr>
                            <a:rPr lang="en-GB" b="0" i="0" smtClean="0">
                              <a:latin typeface="Cambria Math"/>
                            </a:rPr>
                            <m:t>i</m:t>
                          </m:r>
                        </m:sup>
                      </m:sSup>
                      <m:r>
                        <a:rPr lang="en-GB" b="0" i="1" smtClean="0">
                          <a:latin typeface="Cambria Math"/>
                        </a:rPr>
                        <m:t> </m:t>
                      </m:r>
                      <m:r>
                        <a:rPr lang="en-GB" b="1" i="0" smtClean="0">
                          <a:latin typeface="Cambria Math"/>
                        </a:rPr>
                        <m:t> </m:t>
                      </m:r>
                      <m:r>
                        <a:rPr lang="en-GB" b="1" i="0" smtClean="0">
                          <a:latin typeface="Cambria Math" panose="02040503050406030204" pitchFamily="18" charset="0"/>
                        </a:rPr>
                        <m:t>𝐫</m:t>
                      </m:r>
                      <m:r>
                        <a:rPr lang="en-GB" b="1" i="0" smtClean="0">
                          <a:latin typeface="Cambria Math"/>
                        </a:rPr>
                        <m:t>𝐨𝐭</m:t>
                      </m:r>
                      <m:d>
                        <m:dPr>
                          <m:ctrlPr>
                            <a:rPr lang="en-GB" b="0" i="1" smtClean="0">
                              <a:latin typeface="Cambria Math" panose="02040503050406030204" pitchFamily="18" charset="0"/>
                            </a:rPr>
                          </m:ctrlPr>
                        </m:dPr>
                        <m:e>
                          <m:r>
                            <a:rPr lang="en-GB" b="1" i="0" smtClean="0">
                              <a:latin typeface="Cambria Math"/>
                            </a:rPr>
                            <m:t>𝐮</m:t>
                          </m:r>
                          <m:r>
                            <a:rPr lang="en-GB" b="0" i="1" smtClean="0">
                              <a:latin typeface="Cambria Math"/>
                            </a:rPr>
                            <m:t>, </m:t>
                          </m:r>
                          <m:r>
                            <m:rPr>
                              <m:sty m:val="p"/>
                            </m:rPr>
                            <a:rPr lang="en-GB" b="0" i="0" smtClean="0">
                              <a:latin typeface="Cambria Math"/>
                            </a:rPr>
                            <m:t>r</m:t>
                          </m:r>
                          <m:r>
                            <a:rPr lang="en-GB" b="0" i="0" smtClean="0">
                              <a:latin typeface="Cambria Math"/>
                            </a:rPr>
                            <m:t>(</m:t>
                          </m:r>
                          <m:r>
                            <m:rPr>
                              <m:sty m:val="p"/>
                            </m:rPr>
                            <a:rPr lang="en-GB" b="0" i="0" smtClean="0">
                              <a:latin typeface="Cambria Math"/>
                            </a:rPr>
                            <m:t>t</m:t>
                          </m:r>
                          <m:r>
                            <a:rPr lang="en-GB" b="0" i="0" smtClean="0">
                              <a:latin typeface="Cambria Math"/>
                            </a:rPr>
                            <m:t>)</m:t>
                          </m:r>
                          <m:r>
                            <a:rPr lang="en-GB" i="1">
                              <a:latin typeface="Cambria Math" panose="02040503050406030204" pitchFamily="18" charset="0"/>
                              <a:ea typeface="Cambria Math" panose="02040503050406030204" pitchFamily="18" charset="0"/>
                            </a:rPr>
                            <m:t>𝜗</m:t>
                          </m:r>
                        </m:e>
                      </m:d>
                    </m:oMath>
                  </m:oMathPara>
                </a14:m>
                <a:endParaRPr lang="en-GB" dirty="0"/>
              </a:p>
              <a:p>
                <a:pPr marL="0" indent="0">
                  <a:buNone/>
                </a:pPr>
                <a:endParaRPr lang="en-GB" dirty="0"/>
              </a:p>
              <a:p>
                <a:pPr marL="0" indent="0">
                  <a:buNone/>
                </a:pPr>
                <a:r>
                  <a:rPr lang="en-GB" dirty="0"/>
                  <a:t>with</a:t>
                </a:r>
              </a:p>
              <a:p>
                <a:pPr marL="0" indent="0">
                  <a:buNone/>
                </a:pPr>
                <a14:m>
                  <m:oMathPara xmlns:m="http://schemas.openxmlformats.org/officeDocument/2006/math">
                    <m:oMathParaPr>
                      <m:jc m:val="centerGroup"/>
                    </m:oMathParaPr>
                    <m:oMath xmlns:m="http://schemas.openxmlformats.org/officeDocument/2006/math">
                      <m:r>
                        <a:rPr lang="en-GB" sz="1300" b="1" smtClean="0">
                          <a:latin typeface="Cambria Math" panose="02040503050406030204" pitchFamily="18" charset="0"/>
                        </a:rPr>
                        <m:t>𝐫</m:t>
                      </m:r>
                      <m:r>
                        <a:rPr lang="en-GB" sz="1300" b="1" smtClean="0">
                          <a:latin typeface="Cambria Math"/>
                        </a:rPr>
                        <m:t>𝐨𝐭</m:t>
                      </m:r>
                      <m:d>
                        <m:dPr>
                          <m:ctrlPr>
                            <a:rPr lang="en-GB" sz="1300" i="1" smtClean="0">
                              <a:latin typeface="Cambria Math" panose="02040503050406030204" pitchFamily="18" charset="0"/>
                            </a:rPr>
                          </m:ctrlPr>
                        </m:dPr>
                        <m:e>
                          <m:r>
                            <a:rPr lang="en-GB" sz="1300" b="1" smtClean="0">
                              <a:latin typeface="Cambria Math"/>
                            </a:rPr>
                            <m:t>𝐮</m:t>
                          </m:r>
                          <m:r>
                            <a:rPr lang="en-GB" sz="1300" i="1" smtClean="0">
                              <a:latin typeface="Cambria Math"/>
                            </a:rPr>
                            <m:t>, </m:t>
                          </m:r>
                          <m:r>
                            <m:rPr>
                              <m:sty m:val="p"/>
                            </m:rPr>
                            <a:rPr lang="en-GB" sz="1300" smtClean="0">
                              <a:latin typeface="Cambria Math"/>
                            </a:rPr>
                            <m:t>r</m:t>
                          </m:r>
                          <m:r>
                            <a:rPr lang="en-GB" sz="1300" smtClean="0">
                              <a:latin typeface="Cambria Math"/>
                            </a:rPr>
                            <m:t>(</m:t>
                          </m:r>
                          <m:r>
                            <m:rPr>
                              <m:sty m:val="p"/>
                            </m:rPr>
                            <a:rPr lang="en-GB" sz="1300" smtClean="0">
                              <a:latin typeface="Cambria Math"/>
                            </a:rPr>
                            <m:t>t</m:t>
                          </m:r>
                          <m:r>
                            <a:rPr lang="en-GB" sz="1300" smtClean="0">
                              <a:latin typeface="Cambria Math"/>
                            </a:rPr>
                            <m:t>)</m:t>
                          </m:r>
                          <m:r>
                            <a:rPr lang="en-GB" sz="1300" i="1" smtClean="0">
                              <a:latin typeface="Cambria Math"/>
                              <a:ea typeface="Cambria Math"/>
                            </a:rPr>
                            <m:t>𝜃</m:t>
                          </m:r>
                        </m:e>
                      </m:d>
                      <m:r>
                        <a:rPr lang="en-GB" sz="1300" b="0" i="0" smtClean="0">
                          <a:latin typeface="Cambria Math" panose="02040503050406030204" pitchFamily="18" charset="0"/>
                          <a:ea typeface="Cambria Math"/>
                        </a:rPr>
                        <m:t>=</m:t>
                      </m:r>
                      <m:d>
                        <m:dPr>
                          <m:ctrlPr>
                            <a:rPr lang="en-GB" sz="1300" b="0" i="1" smtClean="0">
                              <a:latin typeface="Cambria Math" panose="02040503050406030204" pitchFamily="18" charset="0"/>
                              <a:ea typeface="Cambria Math"/>
                            </a:rPr>
                          </m:ctrlPr>
                        </m:dPr>
                        <m:e>
                          <m:m>
                            <m:mPr>
                              <m:mcs>
                                <m:mc>
                                  <m:mcPr>
                                    <m:count m:val="3"/>
                                    <m:mcJc m:val="center"/>
                                  </m:mcPr>
                                </m:mc>
                              </m:mcs>
                              <m:ctrlPr>
                                <a:rPr lang="en-GB" sz="1300" b="0" i="1" smtClean="0">
                                  <a:latin typeface="Cambria Math" panose="02040503050406030204" pitchFamily="18" charset="0"/>
                                  <a:ea typeface="Cambria Math"/>
                                </a:rPr>
                              </m:ctrlPr>
                            </m:mPr>
                            <m:mr>
                              <m:e>
                                <m:sSup>
                                  <m:sSupPr>
                                    <m:ctrlPr>
                                      <a:rPr lang="en-GB" sz="1300" b="0" i="1" smtClean="0">
                                        <a:latin typeface="Cambria Math" panose="02040503050406030204" pitchFamily="18" charset="0"/>
                                        <a:ea typeface="Cambria Math"/>
                                      </a:rPr>
                                    </m:ctrlPr>
                                  </m:sSupPr>
                                  <m:e>
                                    <m:sSub>
                                      <m:sSubPr>
                                        <m:ctrlPr>
                                          <a:rPr lang="en-GB" sz="1300" b="0" i="1" smtClean="0">
                                            <a:latin typeface="Cambria Math" panose="02040503050406030204" pitchFamily="18" charset="0"/>
                                            <a:ea typeface="Cambria Math"/>
                                          </a:rPr>
                                        </m:ctrlPr>
                                      </m:sSubPr>
                                      <m:e>
                                        <m:r>
                                          <a:rPr lang="en-GB" sz="1300" b="0" i="1" smtClean="0">
                                            <a:latin typeface="Cambria Math" panose="02040503050406030204" pitchFamily="18" charset="0"/>
                                            <a:ea typeface="Cambria Math"/>
                                          </a:rPr>
                                          <m:t>𝑢</m:t>
                                        </m:r>
                                      </m:e>
                                      <m:sub>
                                        <m:r>
                                          <a:rPr lang="en-GB" sz="1300" b="0" i="1" smtClean="0">
                                            <a:latin typeface="Cambria Math" panose="02040503050406030204" pitchFamily="18" charset="0"/>
                                            <a:ea typeface="Cambria Math"/>
                                          </a:rPr>
                                          <m:t>𝑥</m:t>
                                        </m:r>
                                      </m:sub>
                                    </m:sSub>
                                  </m:e>
                                  <m:sup>
                                    <m:r>
                                      <a:rPr lang="en-GB" sz="1300" b="0" i="1" smtClean="0">
                                        <a:latin typeface="Cambria Math" panose="02040503050406030204" pitchFamily="18" charset="0"/>
                                        <a:ea typeface="Cambria Math"/>
                                      </a:rPr>
                                      <m:t>2</m:t>
                                    </m:r>
                                  </m:sup>
                                </m:sSup>
                                <m:d>
                                  <m:dPr>
                                    <m:ctrlPr>
                                      <a:rPr lang="en-GB" sz="1300" b="0" i="1" smtClean="0">
                                        <a:latin typeface="Cambria Math" panose="02040503050406030204" pitchFamily="18" charset="0"/>
                                        <a:ea typeface="Cambria Math"/>
                                      </a:rPr>
                                    </m:ctrlPr>
                                  </m:dPr>
                                  <m:e>
                                    <m:r>
                                      <a:rPr lang="en-GB" sz="1300" b="0" i="1" smtClean="0">
                                        <a:latin typeface="Cambria Math" panose="02040503050406030204" pitchFamily="18" charset="0"/>
                                        <a:ea typeface="Cambria Math"/>
                                      </a:rPr>
                                      <m:t>1−</m:t>
                                    </m:r>
                                    <m:func>
                                      <m:funcPr>
                                        <m:ctrlPr>
                                          <a:rPr lang="en-GB" sz="1300" b="0" i="1" smtClean="0">
                                            <a:latin typeface="Cambria Math" panose="02040503050406030204" pitchFamily="18" charset="0"/>
                                            <a:ea typeface="Cambria Math"/>
                                          </a:rPr>
                                        </m:ctrlPr>
                                      </m:funcPr>
                                      <m:fName>
                                        <m:r>
                                          <m:rPr>
                                            <m:sty m:val="p"/>
                                          </m:rPr>
                                          <a:rPr lang="en-GB" sz="1300" b="0" i="0" smtClean="0">
                                            <a:latin typeface="Cambria Math" panose="02040503050406030204" pitchFamily="18" charset="0"/>
                                            <a:ea typeface="Cambria Math"/>
                                          </a:rPr>
                                          <m:t>cos</m:t>
                                        </m:r>
                                      </m:fName>
                                      <m:e>
                                        <m:d>
                                          <m:dPr>
                                            <m:ctrlPr>
                                              <a:rPr lang="en-GB" sz="1300" b="0" i="1" smtClean="0">
                                                <a:latin typeface="Cambria Math" panose="02040503050406030204" pitchFamily="18" charset="0"/>
                                                <a:ea typeface="Cambria Math"/>
                                              </a:rPr>
                                            </m:ctrlPr>
                                          </m:dPr>
                                          <m:e>
                                            <m:r>
                                              <m:rPr>
                                                <m:sty m:val="p"/>
                                              </m:rPr>
                                              <a:rPr lang="en-GB" sz="1300" b="0" i="0" smtClean="0">
                                                <a:latin typeface="Cambria Math" panose="02040503050406030204" pitchFamily="18" charset="0"/>
                                                <a:ea typeface="Cambria Math"/>
                                              </a:rPr>
                                              <m:t>r</m:t>
                                            </m:r>
                                            <m:r>
                                              <a:rPr lang="en-GB" sz="1400" i="1">
                                                <a:latin typeface="Cambria Math" panose="02040503050406030204" pitchFamily="18" charset="0"/>
                                                <a:ea typeface="Cambria Math" panose="02040503050406030204" pitchFamily="18" charset="0"/>
                                              </a:rPr>
                                              <m:t>𝜗</m:t>
                                            </m:r>
                                          </m:e>
                                        </m:d>
                                      </m:e>
                                    </m:func>
                                  </m:e>
                                </m:d>
                                <m:r>
                                  <m:rPr>
                                    <m:brk m:alnAt="7"/>
                                  </m:rPr>
                                  <a:rPr lang="en-GB" sz="1300" b="0" i="1" smtClean="0">
                                    <a:latin typeface="Cambria Math" panose="02040503050406030204" pitchFamily="18" charset="0"/>
                                    <a:ea typeface="Cambria Math"/>
                                  </a:rPr>
                                  <m:t>+</m:t>
                                </m:r>
                                <m:func>
                                  <m:funcPr>
                                    <m:ctrlPr>
                                      <a:rPr lang="en-GB" sz="1300" b="0" i="1" smtClean="0">
                                        <a:latin typeface="Cambria Math" panose="02040503050406030204" pitchFamily="18" charset="0"/>
                                        <a:ea typeface="Cambria Math"/>
                                      </a:rPr>
                                    </m:ctrlPr>
                                  </m:funcPr>
                                  <m:fName>
                                    <m:r>
                                      <m:rPr>
                                        <m:sty m:val="p"/>
                                        <m:brk m:alnAt="7"/>
                                      </m:rPr>
                                      <a:rPr lang="en-GB" sz="1300" b="0" i="0" smtClean="0">
                                        <a:latin typeface="Cambria Math" panose="02040503050406030204" pitchFamily="18" charset="0"/>
                                        <a:ea typeface="Cambria Math"/>
                                      </a:rPr>
                                      <m:t>c</m:t>
                                    </m:r>
                                    <m:r>
                                      <m:rPr>
                                        <m:sty m:val="p"/>
                                      </m:rPr>
                                      <a:rPr lang="en-GB" sz="1300" b="0" i="0" smtClean="0">
                                        <a:latin typeface="Cambria Math" panose="02040503050406030204" pitchFamily="18" charset="0"/>
                                        <a:ea typeface="Cambria Math"/>
                                      </a:rPr>
                                      <m:t>os</m:t>
                                    </m:r>
                                  </m:fName>
                                  <m:e>
                                    <m:d>
                                      <m:dPr>
                                        <m:ctrlPr>
                                          <a:rPr lang="en-GB" sz="1300" b="0" i="1" smtClean="0">
                                            <a:latin typeface="Cambria Math" panose="02040503050406030204" pitchFamily="18" charset="0"/>
                                            <a:ea typeface="Cambria Math"/>
                                          </a:rPr>
                                        </m:ctrlPr>
                                      </m:dPr>
                                      <m:e>
                                        <m:r>
                                          <m:rPr>
                                            <m:sty m:val="p"/>
                                          </m:rPr>
                                          <a:rPr lang="en-GB" sz="1300" smtClean="0">
                                            <a:latin typeface="Cambria Math" panose="02040503050406030204" pitchFamily="18" charset="0"/>
                                            <a:ea typeface="Cambria Math"/>
                                          </a:rPr>
                                          <m:t>r</m:t>
                                        </m:r>
                                        <m:r>
                                          <a:rPr lang="en-GB" sz="1400" i="1">
                                            <a:latin typeface="Cambria Math" panose="02040503050406030204" pitchFamily="18" charset="0"/>
                                            <a:ea typeface="Cambria Math" panose="02040503050406030204" pitchFamily="18" charset="0"/>
                                          </a:rPr>
                                          <m:t>𝜗</m:t>
                                        </m:r>
                                      </m:e>
                                    </m:d>
                                  </m:e>
                                </m:func>
                              </m:e>
                              <m:e>
                                <m:sSub>
                                  <m:sSubPr>
                                    <m:ctrlPr>
                                      <a:rPr lang="en-GB" sz="1300" b="0" i="1" smtClean="0">
                                        <a:latin typeface="Cambria Math" panose="02040503050406030204" pitchFamily="18" charset="0"/>
                                        <a:ea typeface="Cambria Math"/>
                                      </a:rPr>
                                    </m:ctrlPr>
                                  </m:sSubPr>
                                  <m:e>
                                    <m:r>
                                      <a:rPr lang="en-GB" sz="1300" b="0" i="1" smtClean="0">
                                        <a:latin typeface="Cambria Math" panose="02040503050406030204" pitchFamily="18" charset="0"/>
                                        <a:ea typeface="Cambria Math"/>
                                      </a:rPr>
                                      <m:t>𝑢</m:t>
                                    </m:r>
                                  </m:e>
                                  <m:sub>
                                    <m:r>
                                      <a:rPr lang="en-GB" sz="1300" b="0" i="1" smtClean="0">
                                        <a:latin typeface="Cambria Math" panose="02040503050406030204" pitchFamily="18" charset="0"/>
                                        <a:ea typeface="Cambria Math"/>
                                      </a:rPr>
                                      <m:t>𝑥</m:t>
                                    </m:r>
                                  </m:sub>
                                </m:sSub>
                                <m:sSub>
                                  <m:sSubPr>
                                    <m:ctrlPr>
                                      <a:rPr lang="en-GB" sz="1300" b="0" i="1" smtClean="0">
                                        <a:latin typeface="Cambria Math" panose="02040503050406030204" pitchFamily="18" charset="0"/>
                                        <a:ea typeface="Cambria Math"/>
                                      </a:rPr>
                                    </m:ctrlPr>
                                  </m:sSubPr>
                                  <m:e>
                                    <m:r>
                                      <a:rPr lang="en-GB" sz="1300" b="0" i="1" smtClean="0">
                                        <a:latin typeface="Cambria Math" panose="02040503050406030204" pitchFamily="18" charset="0"/>
                                        <a:ea typeface="Cambria Math"/>
                                      </a:rPr>
                                      <m:t>𝑢</m:t>
                                    </m:r>
                                  </m:e>
                                  <m:sub>
                                    <m:r>
                                      <a:rPr lang="en-GB" sz="1300" b="0" i="1" smtClean="0">
                                        <a:latin typeface="Cambria Math" panose="02040503050406030204" pitchFamily="18" charset="0"/>
                                        <a:ea typeface="Cambria Math"/>
                                      </a:rPr>
                                      <m:t>𝑦</m:t>
                                    </m:r>
                                  </m:sub>
                                </m:sSub>
                                <m:d>
                                  <m:dPr>
                                    <m:ctrlPr>
                                      <a:rPr lang="en-GB" sz="1300" b="0" i="1" smtClean="0">
                                        <a:latin typeface="Cambria Math" panose="02040503050406030204" pitchFamily="18" charset="0"/>
                                        <a:ea typeface="Cambria Math"/>
                                      </a:rPr>
                                    </m:ctrlPr>
                                  </m:dPr>
                                  <m:e>
                                    <m:r>
                                      <a:rPr lang="en-GB" sz="1300" i="1" smtClean="0">
                                        <a:latin typeface="Cambria Math" panose="02040503050406030204" pitchFamily="18" charset="0"/>
                                        <a:ea typeface="Cambria Math"/>
                                      </a:rPr>
                                      <m:t>1−</m:t>
                                    </m:r>
                                    <m:func>
                                      <m:funcPr>
                                        <m:ctrlPr>
                                          <a:rPr lang="en-GB" sz="1300" i="1" smtClean="0">
                                            <a:latin typeface="Cambria Math" panose="02040503050406030204" pitchFamily="18" charset="0"/>
                                            <a:ea typeface="Cambria Math"/>
                                          </a:rPr>
                                        </m:ctrlPr>
                                      </m:funcPr>
                                      <m:fName>
                                        <m:r>
                                          <m:rPr>
                                            <m:sty m:val="p"/>
                                          </m:rPr>
                                          <a:rPr lang="en-GB" sz="1300" smtClean="0">
                                            <a:latin typeface="Cambria Math" panose="02040503050406030204" pitchFamily="18" charset="0"/>
                                            <a:ea typeface="Cambria Math"/>
                                          </a:rPr>
                                          <m:t>cos</m:t>
                                        </m:r>
                                      </m:fName>
                                      <m:e>
                                        <m:d>
                                          <m:dPr>
                                            <m:ctrlPr>
                                              <a:rPr lang="en-GB" sz="1300" i="1" smtClean="0">
                                                <a:latin typeface="Cambria Math" panose="02040503050406030204" pitchFamily="18" charset="0"/>
                                                <a:ea typeface="Cambria Math"/>
                                              </a:rPr>
                                            </m:ctrlPr>
                                          </m:dPr>
                                          <m:e>
                                            <m:r>
                                              <m:rPr>
                                                <m:sty m:val="p"/>
                                              </m:rPr>
                                              <a:rPr lang="en-GB" sz="1300" smtClean="0">
                                                <a:latin typeface="Cambria Math" panose="02040503050406030204" pitchFamily="18" charset="0"/>
                                                <a:ea typeface="Cambria Math"/>
                                              </a:rPr>
                                              <m:t>r</m:t>
                                            </m:r>
                                            <m:r>
                                              <a:rPr lang="en-GB" sz="1400" i="1">
                                                <a:latin typeface="Cambria Math" panose="02040503050406030204" pitchFamily="18" charset="0"/>
                                                <a:ea typeface="Cambria Math" panose="02040503050406030204" pitchFamily="18" charset="0"/>
                                              </a:rPr>
                                              <m:t>𝜗</m:t>
                                            </m:r>
                                          </m:e>
                                        </m:d>
                                      </m:e>
                                    </m:func>
                                  </m:e>
                                </m:d>
                                <m:r>
                                  <a:rPr lang="en-GB" sz="1300" b="0" i="1" smtClean="0">
                                    <a:latin typeface="Cambria Math" panose="02040503050406030204" pitchFamily="18" charset="0"/>
                                    <a:ea typeface="Cambria Math"/>
                                  </a:rPr>
                                  <m:t>−</m:t>
                                </m:r>
                                <m:sSub>
                                  <m:sSubPr>
                                    <m:ctrlPr>
                                      <a:rPr lang="en-GB" sz="1300" b="0" i="1" smtClean="0">
                                        <a:latin typeface="Cambria Math" panose="02040503050406030204" pitchFamily="18" charset="0"/>
                                        <a:ea typeface="Cambria Math"/>
                                      </a:rPr>
                                    </m:ctrlPr>
                                  </m:sSubPr>
                                  <m:e>
                                    <m:r>
                                      <a:rPr lang="en-GB" sz="1300" b="0" i="1" smtClean="0">
                                        <a:latin typeface="Cambria Math" panose="02040503050406030204" pitchFamily="18" charset="0"/>
                                        <a:ea typeface="Cambria Math"/>
                                      </a:rPr>
                                      <m:t>𝑢</m:t>
                                    </m:r>
                                  </m:e>
                                  <m:sub>
                                    <m:r>
                                      <a:rPr lang="en-GB" sz="1300" b="0" i="1" smtClean="0">
                                        <a:latin typeface="Cambria Math" panose="02040503050406030204" pitchFamily="18" charset="0"/>
                                        <a:ea typeface="Cambria Math"/>
                                      </a:rPr>
                                      <m:t>𝑧</m:t>
                                    </m:r>
                                  </m:sub>
                                </m:sSub>
                                <m:func>
                                  <m:funcPr>
                                    <m:ctrlPr>
                                      <a:rPr lang="en-GB" sz="1300" b="0" i="1" smtClean="0">
                                        <a:latin typeface="Cambria Math" panose="02040503050406030204" pitchFamily="18" charset="0"/>
                                        <a:ea typeface="Cambria Math"/>
                                      </a:rPr>
                                    </m:ctrlPr>
                                  </m:funcPr>
                                  <m:fName>
                                    <m:r>
                                      <m:rPr>
                                        <m:sty m:val="p"/>
                                      </m:rPr>
                                      <a:rPr lang="en-GB" sz="1300" b="0" i="0" smtClean="0">
                                        <a:latin typeface="Cambria Math" panose="02040503050406030204" pitchFamily="18" charset="0"/>
                                        <a:ea typeface="Cambria Math"/>
                                      </a:rPr>
                                      <m:t>sin</m:t>
                                    </m:r>
                                  </m:fName>
                                  <m:e>
                                    <m:d>
                                      <m:dPr>
                                        <m:ctrlPr>
                                          <a:rPr lang="en-GB" sz="1300" b="0" i="1" smtClean="0">
                                            <a:latin typeface="Cambria Math" panose="02040503050406030204" pitchFamily="18" charset="0"/>
                                            <a:ea typeface="Cambria Math"/>
                                          </a:rPr>
                                        </m:ctrlPr>
                                      </m:dPr>
                                      <m:e>
                                        <m:r>
                                          <m:rPr>
                                            <m:sty m:val="p"/>
                                          </m:rPr>
                                          <a:rPr lang="en-GB" sz="1300" smtClean="0">
                                            <a:latin typeface="Cambria Math" panose="02040503050406030204" pitchFamily="18" charset="0"/>
                                            <a:ea typeface="Cambria Math"/>
                                          </a:rPr>
                                          <m:t>r</m:t>
                                        </m:r>
                                        <m:r>
                                          <a:rPr lang="en-GB" sz="1400" i="1">
                                            <a:latin typeface="Cambria Math" panose="02040503050406030204" pitchFamily="18" charset="0"/>
                                            <a:ea typeface="Cambria Math" panose="02040503050406030204" pitchFamily="18" charset="0"/>
                                          </a:rPr>
                                          <m:t>𝜗</m:t>
                                        </m:r>
                                      </m:e>
                                    </m:d>
                                  </m:e>
                                </m:func>
                              </m:e>
                              <m:e>
                                <m:sSub>
                                  <m:sSubPr>
                                    <m:ctrlPr>
                                      <a:rPr lang="en-GB" sz="1300" i="1" smtClean="0">
                                        <a:latin typeface="Cambria Math" panose="02040503050406030204" pitchFamily="18" charset="0"/>
                                        <a:ea typeface="Cambria Math"/>
                                      </a:rPr>
                                    </m:ctrlPr>
                                  </m:sSubPr>
                                  <m:e>
                                    <m:r>
                                      <a:rPr lang="en-GB" sz="1300" i="1" smtClean="0">
                                        <a:latin typeface="Cambria Math" panose="02040503050406030204" pitchFamily="18" charset="0"/>
                                        <a:ea typeface="Cambria Math"/>
                                      </a:rPr>
                                      <m:t>𝑢</m:t>
                                    </m:r>
                                  </m:e>
                                  <m:sub>
                                    <m:r>
                                      <a:rPr lang="en-GB" sz="1300" i="1" smtClean="0">
                                        <a:latin typeface="Cambria Math" panose="02040503050406030204" pitchFamily="18" charset="0"/>
                                        <a:ea typeface="Cambria Math"/>
                                      </a:rPr>
                                      <m:t>𝑥</m:t>
                                    </m:r>
                                  </m:sub>
                                </m:sSub>
                                <m:sSub>
                                  <m:sSubPr>
                                    <m:ctrlPr>
                                      <a:rPr lang="en-GB" sz="1300" i="1" smtClean="0">
                                        <a:latin typeface="Cambria Math" panose="02040503050406030204" pitchFamily="18" charset="0"/>
                                        <a:ea typeface="Cambria Math"/>
                                      </a:rPr>
                                    </m:ctrlPr>
                                  </m:sSubPr>
                                  <m:e>
                                    <m:r>
                                      <a:rPr lang="en-GB" sz="1300" i="1" smtClean="0">
                                        <a:latin typeface="Cambria Math" panose="02040503050406030204" pitchFamily="18" charset="0"/>
                                        <a:ea typeface="Cambria Math"/>
                                      </a:rPr>
                                      <m:t>𝑢</m:t>
                                    </m:r>
                                  </m:e>
                                  <m:sub>
                                    <m:r>
                                      <a:rPr lang="en-GB" sz="1300" b="0" i="1" smtClean="0">
                                        <a:latin typeface="Cambria Math" panose="02040503050406030204" pitchFamily="18" charset="0"/>
                                        <a:ea typeface="Cambria Math"/>
                                      </a:rPr>
                                      <m:t>𝑧</m:t>
                                    </m:r>
                                  </m:sub>
                                </m:sSub>
                                <m:d>
                                  <m:dPr>
                                    <m:ctrlPr>
                                      <a:rPr lang="en-GB" sz="1300" i="1" smtClean="0">
                                        <a:latin typeface="Cambria Math" panose="02040503050406030204" pitchFamily="18" charset="0"/>
                                        <a:ea typeface="Cambria Math"/>
                                      </a:rPr>
                                    </m:ctrlPr>
                                  </m:dPr>
                                  <m:e>
                                    <m:r>
                                      <a:rPr lang="en-GB" sz="1300" i="1" smtClean="0">
                                        <a:latin typeface="Cambria Math" panose="02040503050406030204" pitchFamily="18" charset="0"/>
                                        <a:ea typeface="Cambria Math"/>
                                      </a:rPr>
                                      <m:t>1−</m:t>
                                    </m:r>
                                    <m:func>
                                      <m:funcPr>
                                        <m:ctrlPr>
                                          <a:rPr lang="en-GB" sz="1300" i="1" smtClean="0">
                                            <a:latin typeface="Cambria Math" panose="02040503050406030204" pitchFamily="18" charset="0"/>
                                            <a:ea typeface="Cambria Math"/>
                                          </a:rPr>
                                        </m:ctrlPr>
                                      </m:funcPr>
                                      <m:fName>
                                        <m:r>
                                          <m:rPr>
                                            <m:sty m:val="p"/>
                                          </m:rPr>
                                          <a:rPr lang="en-GB" sz="1300" smtClean="0">
                                            <a:latin typeface="Cambria Math" panose="02040503050406030204" pitchFamily="18" charset="0"/>
                                            <a:ea typeface="Cambria Math"/>
                                          </a:rPr>
                                          <m:t>cos</m:t>
                                        </m:r>
                                      </m:fName>
                                      <m:e>
                                        <m:d>
                                          <m:dPr>
                                            <m:ctrlPr>
                                              <a:rPr lang="en-GB" sz="1300" i="1" smtClean="0">
                                                <a:latin typeface="Cambria Math" panose="02040503050406030204" pitchFamily="18" charset="0"/>
                                                <a:ea typeface="Cambria Math"/>
                                              </a:rPr>
                                            </m:ctrlPr>
                                          </m:dPr>
                                          <m:e>
                                            <m:r>
                                              <m:rPr>
                                                <m:sty m:val="p"/>
                                              </m:rPr>
                                              <a:rPr lang="en-GB" sz="1300" smtClean="0">
                                                <a:latin typeface="Cambria Math" panose="02040503050406030204" pitchFamily="18" charset="0"/>
                                                <a:ea typeface="Cambria Math"/>
                                              </a:rPr>
                                              <m:t>r</m:t>
                                            </m:r>
                                            <m:r>
                                              <a:rPr lang="en-GB" sz="1400" i="1">
                                                <a:latin typeface="Cambria Math" panose="02040503050406030204" pitchFamily="18" charset="0"/>
                                                <a:ea typeface="Cambria Math" panose="02040503050406030204" pitchFamily="18" charset="0"/>
                                              </a:rPr>
                                              <m:t>𝜗</m:t>
                                            </m:r>
                                          </m:e>
                                        </m:d>
                                      </m:e>
                                    </m:func>
                                  </m:e>
                                </m:d>
                                <m:r>
                                  <a:rPr lang="en-GB" sz="1300" b="0" i="1" smtClean="0">
                                    <a:latin typeface="Cambria Math" panose="02040503050406030204" pitchFamily="18" charset="0"/>
                                    <a:ea typeface="Cambria Math" panose="02040503050406030204" pitchFamily="18" charset="0"/>
                                  </a:rPr>
                                  <m:t>+</m:t>
                                </m:r>
                                <m:sSub>
                                  <m:sSubPr>
                                    <m:ctrlPr>
                                      <a:rPr lang="en-GB" sz="1300" i="1" smtClean="0">
                                        <a:latin typeface="Cambria Math" panose="02040503050406030204" pitchFamily="18" charset="0"/>
                                        <a:ea typeface="Cambria Math"/>
                                      </a:rPr>
                                    </m:ctrlPr>
                                  </m:sSubPr>
                                  <m:e>
                                    <m:r>
                                      <a:rPr lang="en-GB" sz="1300" i="1" smtClean="0">
                                        <a:latin typeface="Cambria Math" panose="02040503050406030204" pitchFamily="18" charset="0"/>
                                        <a:ea typeface="Cambria Math"/>
                                      </a:rPr>
                                      <m:t>𝑢</m:t>
                                    </m:r>
                                  </m:e>
                                  <m:sub>
                                    <m:r>
                                      <a:rPr lang="en-GB" sz="1300" b="0" i="1" smtClean="0">
                                        <a:latin typeface="Cambria Math" panose="02040503050406030204" pitchFamily="18" charset="0"/>
                                        <a:ea typeface="Cambria Math"/>
                                      </a:rPr>
                                      <m:t>𝑦</m:t>
                                    </m:r>
                                  </m:sub>
                                </m:sSub>
                                <m:func>
                                  <m:funcPr>
                                    <m:ctrlPr>
                                      <a:rPr lang="en-GB" sz="1300" i="1" smtClean="0">
                                        <a:latin typeface="Cambria Math" panose="02040503050406030204" pitchFamily="18" charset="0"/>
                                        <a:ea typeface="Cambria Math"/>
                                      </a:rPr>
                                    </m:ctrlPr>
                                  </m:funcPr>
                                  <m:fName>
                                    <m:r>
                                      <m:rPr>
                                        <m:sty m:val="p"/>
                                      </m:rPr>
                                      <a:rPr lang="en-GB" sz="1300" smtClean="0">
                                        <a:latin typeface="Cambria Math" panose="02040503050406030204" pitchFamily="18" charset="0"/>
                                        <a:ea typeface="Cambria Math"/>
                                      </a:rPr>
                                      <m:t>sin</m:t>
                                    </m:r>
                                  </m:fName>
                                  <m:e>
                                    <m:d>
                                      <m:dPr>
                                        <m:ctrlPr>
                                          <a:rPr lang="en-GB" sz="1300" i="1" smtClean="0">
                                            <a:latin typeface="Cambria Math" panose="02040503050406030204" pitchFamily="18" charset="0"/>
                                            <a:ea typeface="Cambria Math"/>
                                          </a:rPr>
                                        </m:ctrlPr>
                                      </m:dPr>
                                      <m:e>
                                        <m:r>
                                          <m:rPr>
                                            <m:sty m:val="p"/>
                                          </m:rPr>
                                          <a:rPr lang="en-GB" sz="1300" smtClean="0">
                                            <a:latin typeface="Cambria Math" panose="02040503050406030204" pitchFamily="18" charset="0"/>
                                            <a:ea typeface="Cambria Math"/>
                                          </a:rPr>
                                          <m:t>r</m:t>
                                        </m:r>
                                        <m:r>
                                          <a:rPr lang="en-GB" sz="1400" i="1">
                                            <a:latin typeface="Cambria Math" panose="02040503050406030204" pitchFamily="18" charset="0"/>
                                            <a:ea typeface="Cambria Math" panose="02040503050406030204" pitchFamily="18" charset="0"/>
                                          </a:rPr>
                                          <m:t>𝜗</m:t>
                                        </m:r>
                                      </m:e>
                                    </m:d>
                                  </m:e>
                                </m:func>
                              </m:e>
                            </m:mr>
                            <m:mr>
                              <m:e>
                                <m:sSub>
                                  <m:sSubPr>
                                    <m:ctrlPr>
                                      <a:rPr lang="en-GB" sz="1300" i="1" smtClean="0">
                                        <a:latin typeface="Cambria Math" panose="02040503050406030204" pitchFamily="18" charset="0"/>
                                        <a:ea typeface="Cambria Math"/>
                                      </a:rPr>
                                    </m:ctrlPr>
                                  </m:sSubPr>
                                  <m:e>
                                    <m:r>
                                      <a:rPr lang="en-GB" sz="1300" i="1" smtClean="0">
                                        <a:latin typeface="Cambria Math" panose="02040503050406030204" pitchFamily="18" charset="0"/>
                                        <a:ea typeface="Cambria Math"/>
                                      </a:rPr>
                                      <m:t>𝑢</m:t>
                                    </m:r>
                                  </m:e>
                                  <m:sub>
                                    <m:r>
                                      <a:rPr lang="en-GB" sz="1300" i="1" smtClean="0">
                                        <a:latin typeface="Cambria Math" panose="02040503050406030204" pitchFamily="18" charset="0"/>
                                        <a:ea typeface="Cambria Math"/>
                                      </a:rPr>
                                      <m:t>𝑥</m:t>
                                    </m:r>
                                  </m:sub>
                                </m:sSub>
                                <m:sSub>
                                  <m:sSubPr>
                                    <m:ctrlPr>
                                      <a:rPr lang="en-GB" sz="1300" i="1" smtClean="0">
                                        <a:latin typeface="Cambria Math" panose="02040503050406030204" pitchFamily="18" charset="0"/>
                                        <a:ea typeface="Cambria Math"/>
                                      </a:rPr>
                                    </m:ctrlPr>
                                  </m:sSubPr>
                                  <m:e>
                                    <m:r>
                                      <a:rPr lang="en-GB" sz="1300" i="1" smtClean="0">
                                        <a:latin typeface="Cambria Math" panose="02040503050406030204" pitchFamily="18" charset="0"/>
                                        <a:ea typeface="Cambria Math"/>
                                      </a:rPr>
                                      <m:t>𝑢</m:t>
                                    </m:r>
                                  </m:e>
                                  <m:sub>
                                    <m:r>
                                      <a:rPr lang="en-GB" sz="1300" i="1" smtClean="0">
                                        <a:latin typeface="Cambria Math" panose="02040503050406030204" pitchFamily="18" charset="0"/>
                                        <a:ea typeface="Cambria Math"/>
                                      </a:rPr>
                                      <m:t>𝑦</m:t>
                                    </m:r>
                                  </m:sub>
                                </m:sSub>
                                <m:d>
                                  <m:dPr>
                                    <m:ctrlPr>
                                      <a:rPr lang="en-GB" sz="1300" i="1" smtClean="0">
                                        <a:latin typeface="Cambria Math" panose="02040503050406030204" pitchFamily="18" charset="0"/>
                                        <a:ea typeface="Cambria Math"/>
                                      </a:rPr>
                                    </m:ctrlPr>
                                  </m:dPr>
                                  <m:e>
                                    <m:r>
                                      <a:rPr lang="en-GB" sz="1300" i="1" smtClean="0">
                                        <a:latin typeface="Cambria Math" panose="02040503050406030204" pitchFamily="18" charset="0"/>
                                        <a:ea typeface="Cambria Math"/>
                                      </a:rPr>
                                      <m:t>1−</m:t>
                                    </m:r>
                                    <m:func>
                                      <m:funcPr>
                                        <m:ctrlPr>
                                          <a:rPr lang="en-GB" sz="1300" i="1" smtClean="0">
                                            <a:latin typeface="Cambria Math" panose="02040503050406030204" pitchFamily="18" charset="0"/>
                                            <a:ea typeface="Cambria Math"/>
                                          </a:rPr>
                                        </m:ctrlPr>
                                      </m:funcPr>
                                      <m:fName>
                                        <m:r>
                                          <m:rPr>
                                            <m:sty m:val="p"/>
                                          </m:rPr>
                                          <a:rPr lang="en-GB" sz="1300" smtClean="0">
                                            <a:latin typeface="Cambria Math" panose="02040503050406030204" pitchFamily="18" charset="0"/>
                                            <a:ea typeface="Cambria Math"/>
                                          </a:rPr>
                                          <m:t>cos</m:t>
                                        </m:r>
                                      </m:fName>
                                      <m:e>
                                        <m:d>
                                          <m:dPr>
                                            <m:ctrlPr>
                                              <a:rPr lang="en-GB" sz="1300" i="1" smtClean="0">
                                                <a:latin typeface="Cambria Math" panose="02040503050406030204" pitchFamily="18" charset="0"/>
                                                <a:ea typeface="Cambria Math"/>
                                              </a:rPr>
                                            </m:ctrlPr>
                                          </m:dPr>
                                          <m:e>
                                            <m:r>
                                              <m:rPr>
                                                <m:sty m:val="p"/>
                                              </m:rPr>
                                              <a:rPr lang="en-GB" sz="1300" smtClean="0">
                                                <a:latin typeface="Cambria Math" panose="02040503050406030204" pitchFamily="18" charset="0"/>
                                                <a:ea typeface="Cambria Math"/>
                                              </a:rPr>
                                              <m:t>r</m:t>
                                            </m:r>
                                            <m:r>
                                              <a:rPr lang="en-GB" sz="1400" i="1">
                                                <a:latin typeface="Cambria Math" panose="02040503050406030204" pitchFamily="18" charset="0"/>
                                                <a:ea typeface="Cambria Math" panose="02040503050406030204" pitchFamily="18" charset="0"/>
                                              </a:rPr>
                                              <m:t>𝜗</m:t>
                                            </m:r>
                                          </m:e>
                                        </m:d>
                                      </m:e>
                                    </m:func>
                                  </m:e>
                                </m:d>
                                <m:r>
                                  <a:rPr lang="en-GB" sz="1300" b="0" i="1" smtClean="0">
                                    <a:latin typeface="Cambria Math" panose="02040503050406030204" pitchFamily="18" charset="0"/>
                                    <a:ea typeface="Cambria Math" panose="02040503050406030204" pitchFamily="18" charset="0"/>
                                  </a:rPr>
                                  <m:t>+</m:t>
                                </m:r>
                                <m:sSub>
                                  <m:sSubPr>
                                    <m:ctrlPr>
                                      <a:rPr lang="en-GB" sz="1300" i="1" smtClean="0">
                                        <a:latin typeface="Cambria Math" panose="02040503050406030204" pitchFamily="18" charset="0"/>
                                        <a:ea typeface="Cambria Math"/>
                                      </a:rPr>
                                    </m:ctrlPr>
                                  </m:sSubPr>
                                  <m:e>
                                    <m:r>
                                      <a:rPr lang="en-GB" sz="1300" i="1" smtClean="0">
                                        <a:latin typeface="Cambria Math" panose="02040503050406030204" pitchFamily="18" charset="0"/>
                                        <a:ea typeface="Cambria Math"/>
                                      </a:rPr>
                                      <m:t>𝑢</m:t>
                                    </m:r>
                                  </m:e>
                                  <m:sub>
                                    <m:r>
                                      <a:rPr lang="en-GB" sz="1300" i="1" smtClean="0">
                                        <a:latin typeface="Cambria Math" panose="02040503050406030204" pitchFamily="18" charset="0"/>
                                        <a:ea typeface="Cambria Math"/>
                                      </a:rPr>
                                      <m:t>𝑧</m:t>
                                    </m:r>
                                  </m:sub>
                                </m:sSub>
                                <m:func>
                                  <m:funcPr>
                                    <m:ctrlPr>
                                      <a:rPr lang="en-GB" sz="1300" i="1" smtClean="0">
                                        <a:latin typeface="Cambria Math" panose="02040503050406030204" pitchFamily="18" charset="0"/>
                                        <a:ea typeface="Cambria Math"/>
                                      </a:rPr>
                                    </m:ctrlPr>
                                  </m:funcPr>
                                  <m:fName>
                                    <m:r>
                                      <m:rPr>
                                        <m:sty m:val="p"/>
                                      </m:rPr>
                                      <a:rPr lang="en-GB" sz="1300" smtClean="0">
                                        <a:latin typeface="Cambria Math" panose="02040503050406030204" pitchFamily="18" charset="0"/>
                                        <a:ea typeface="Cambria Math"/>
                                      </a:rPr>
                                      <m:t>sin</m:t>
                                    </m:r>
                                  </m:fName>
                                  <m:e>
                                    <m:d>
                                      <m:dPr>
                                        <m:ctrlPr>
                                          <a:rPr lang="en-GB" sz="1300" i="1" smtClean="0">
                                            <a:latin typeface="Cambria Math" panose="02040503050406030204" pitchFamily="18" charset="0"/>
                                            <a:ea typeface="Cambria Math"/>
                                          </a:rPr>
                                        </m:ctrlPr>
                                      </m:dPr>
                                      <m:e>
                                        <m:r>
                                          <m:rPr>
                                            <m:sty m:val="p"/>
                                          </m:rPr>
                                          <a:rPr lang="en-GB" sz="1300" smtClean="0">
                                            <a:latin typeface="Cambria Math" panose="02040503050406030204" pitchFamily="18" charset="0"/>
                                            <a:ea typeface="Cambria Math"/>
                                          </a:rPr>
                                          <m:t>r</m:t>
                                        </m:r>
                                        <m:r>
                                          <a:rPr lang="en-GB" sz="1400" i="1">
                                            <a:latin typeface="Cambria Math" panose="02040503050406030204" pitchFamily="18" charset="0"/>
                                            <a:ea typeface="Cambria Math" panose="02040503050406030204" pitchFamily="18" charset="0"/>
                                          </a:rPr>
                                          <m:t>𝜗</m:t>
                                        </m:r>
                                      </m:e>
                                    </m:d>
                                  </m:e>
                                </m:func>
                              </m:e>
                              <m:e>
                                <m:sSup>
                                  <m:sSupPr>
                                    <m:ctrlPr>
                                      <a:rPr lang="en-GB" sz="1300" i="1" smtClean="0">
                                        <a:latin typeface="Cambria Math" panose="02040503050406030204" pitchFamily="18" charset="0"/>
                                        <a:ea typeface="Cambria Math"/>
                                      </a:rPr>
                                    </m:ctrlPr>
                                  </m:sSupPr>
                                  <m:e>
                                    <m:sSub>
                                      <m:sSubPr>
                                        <m:ctrlPr>
                                          <a:rPr lang="en-GB" sz="1300" i="1" smtClean="0">
                                            <a:latin typeface="Cambria Math" panose="02040503050406030204" pitchFamily="18" charset="0"/>
                                            <a:ea typeface="Cambria Math"/>
                                          </a:rPr>
                                        </m:ctrlPr>
                                      </m:sSubPr>
                                      <m:e>
                                        <m:r>
                                          <a:rPr lang="en-GB" sz="1300" i="1" smtClean="0">
                                            <a:latin typeface="Cambria Math" panose="02040503050406030204" pitchFamily="18" charset="0"/>
                                            <a:ea typeface="Cambria Math"/>
                                          </a:rPr>
                                          <m:t>𝑢</m:t>
                                        </m:r>
                                      </m:e>
                                      <m:sub>
                                        <m:r>
                                          <a:rPr lang="en-GB" sz="1300" b="0" i="1" smtClean="0">
                                            <a:latin typeface="Cambria Math" panose="02040503050406030204" pitchFamily="18" charset="0"/>
                                            <a:ea typeface="Cambria Math"/>
                                          </a:rPr>
                                          <m:t>𝑦</m:t>
                                        </m:r>
                                      </m:sub>
                                    </m:sSub>
                                  </m:e>
                                  <m:sup>
                                    <m:r>
                                      <a:rPr lang="en-GB" sz="1300" i="1" smtClean="0">
                                        <a:latin typeface="Cambria Math" panose="02040503050406030204" pitchFamily="18" charset="0"/>
                                        <a:ea typeface="Cambria Math"/>
                                      </a:rPr>
                                      <m:t>2</m:t>
                                    </m:r>
                                  </m:sup>
                                </m:sSup>
                                <m:d>
                                  <m:dPr>
                                    <m:ctrlPr>
                                      <a:rPr lang="en-GB" sz="1300" i="1" smtClean="0">
                                        <a:latin typeface="Cambria Math" panose="02040503050406030204" pitchFamily="18" charset="0"/>
                                        <a:ea typeface="Cambria Math"/>
                                      </a:rPr>
                                    </m:ctrlPr>
                                  </m:dPr>
                                  <m:e>
                                    <m:r>
                                      <a:rPr lang="en-GB" sz="1300" i="1" smtClean="0">
                                        <a:latin typeface="Cambria Math" panose="02040503050406030204" pitchFamily="18" charset="0"/>
                                        <a:ea typeface="Cambria Math"/>
                                      </a:rPr>
                                      <m:t>1−</m:t>
                                    </m:r>
                                    <m:func>
                                      <m:funcPr>
                                        <m:ctrlPr>
                                          <a:rPr lang="en-GB" sz="1300" i="1" smtClean="0">
                                            <a:latin typeface="Cambria Math" panose="02040503050406030204" pitchFamily="18" charset="0"/>
                                            <a:ea typeface="Cambria Math"/>
                                          </a:rPr>
                                        </m:ctrlPr>
                                      </m:funcPr>
                                      <m:fName>
                                        <m:r>
                                          <m:rPr>
                                            <m:sty m:val="p"/>
                                          </m:rPr>
                                          <a:rPr lang="en-GB" sz="1300" smtClean="0">
                                            <a:latin typeface="Cambria Math" panose="02040503050406030204" pitchFamily="18" charset="0"/>
                                            <a:ea typeface="Cambria Math"/>
                                          </a:rPr>
                                          <m:t>cos</m:t>
                                        </m:r>
                                      </m:fName>
                                      <m:e>
                                        <m:d>
                                          <m:dPr>
                                            <m:ctrlPr>
                                              <a:rPr lang="en-GB" sz="1300" i="1" smtClean="0">
                                                <a:latin typeface="Cambria Math" panose="02040503050406030204" pitchFamily="18" charset="0"/>
                                                <a:ea typeface="Cambria Math"/>
                                              </a:rPr>
                                            </m:ctrlPr>
                                          </m:dPr>
                                          <m:e>
                                            <m:r>
                                              <a:rPr lang="en-GB" sz="1400" i="1">
                                                <a:latin typeface="Cambria Math" panose="02040503050406030204" pitchFamily="18" charset="0"/>
                                                <a:ea typeface="Cambria Math" panose="02040503050406030204" pitchFamily="18" charset="0"/>
                                              </a:rPr>
                                              <m:t>𝜗</m:t>
                                            </m:r>
                                          </m:e>
                                        </m:d>
                                      </m:e>
                                    </m:func>
                                  </m:e>
                                </m:d>
                                <m:r>
                                  <m:rPr>
                                    <m:brk m:alnAt="7"/>
                                  </m:rPr>
                                  <a:rPr lang="en-GB" sz="1300" i="1" smtClean="0">
                                    <a:latin typeface="Cambria Math" panose="02040503050406030204" pitchFamily="18" charset="0"/>
                                    <a:ea typeface="Cambria Math"/>
                                  </a:rPr>
                                  <m:t>+</m:t>
                                </m:r>
                                <m:func>
                                  <m:funcPr>
                                    <m:ctrlPr>
                                      <a:rPr lang="en-GB" sz="1300" i="1" smtClean="0">
                                        <a:latin typeface="Cambria Math" panose="02040503050406030204" pitchFamily="18" charset="0"/>
                                        <a:ea typeface="Cambria Math"/>
                                      </a:rPr>
                                    </m:ctrlPr>
                                  </m:funcPr>
                                  <m:fName>
                                    <m:r>
                                      <m:rPr>
                                        <m:sty m:val="p"/>
                                        <m:brk m:alnAt="7"/>
                                      </m:rPr>
                                      <a:rPr lang="en-GB" sz="1300" smtClean="0">
                                        <a:latin typeface="Cambria Math" panose="02040503050406030204" pitchFamily="18" charset="0"/>
                                        <a:ea typeface="Cambria Math"/>
                                      </a:rPr>
                                      <m:t>c</m:t>
                                    </m:r>
                                    <m:r>
                                      <m:rPr>
                                        <m:sty m:val="p"/>
                                      </m:rPr>
                                      <a:rPr lang="en-GB" sz="1300" smtClean="0">
                                        <a:latin typeface="Cambria Math" panose="02040503050406030204" pitchFamily="18" charset="0"/>
                                        <a:ea typeface="Cambria Math"/>
                                      </a:rPr>
                                      <m:t>os</m:t>
                                    </m:r>
                                  </m:fName>
                                  <m:e>
                                    <m:d>
                                      <m:dPr>
                                        <m:ctrlPr>
                                          <a:rPr lang="en-GB" sz="1300" i="1" smtClean="0">
                                            <a:latin typeface="Cambria Math" panose="02040503050406030204" pitchFamily="18" charset="0"/>
                                            <a:ea typeface="Cambria Math"/>
                                          </a:rPr>
                                        </m:ctrlPr>
                                      </m:dPr>
                                      <m:e>
                                        <m:r>
                                          <m:rPr>
                                            <m:sty m:val="p"/>
                                          </m:rPr>
                                          <a:rPr lang="en-GB" sz="1300" smtClean="0">
                                            <a:latin typeface="Cambria Math" panose="02040503050406030204" pitchFamily="18" charset="0"/>
                                            <a:ea typeface="Cambria Math"/>
                                          </a:rPr>
                                          <m:t>r</m:t>
                                        </m:r>
                                        <m:r>
                                          <a:rPr lang="en-GB" sz="1400" i="1">
                                            <a:latin typeface="Cambria Math" panose="02040503050406030204" pitchFamily="18" charset="0"/>
                                            <a:ea typeface="Cambria Math" panose="02040503050406030204" pitchFamily="18" charset="0"/>
                                          </a:rPr>
                                          <m:t>𝜗</m:t>
                                        </m:r>
                                      </m:e>
                                    </m:d>
                                  </m:e>
                                </m:func>
                              </m:e>
                              <m:e>
                                <m:sSub>
                                  <m:sSubPr>
                                    <m:ctrlPr>
                                      <a:rPr lang="en-GB" sz="1300" i="1" smtClean="0">
                                        <a:latin typeface="Cambria Math" panose="02040503050406030204" pitchFamily="18" charset="0"/>
                                        <a:ea typeface="Cambria Math"/>
                                      </a:rPr>
                                    </m:ctrlPr>
                                  </m:sSubPr>
                                  <m:e>
                                    <m:r>
                                      <a:rPr lang="en-GB" sz="1300" i="1" smtClean="0">
                                        <a:latin typeface="Cambria Math" panose="02040503050406030204" pitchFamily="18" charset="0"/>
                                        <a:ea typeface="Cambria Math"/>
                                      </a:rPr>
                                      <m:t>𝑢</m:t>
                                    </m:r>
                                  </m:e>
                                  <m:sub>
                                    <m:r>
                                      <a:rPr lang="en-GB" sz="1300" b="0" i="1" smtClean="0">
                                        <a:latin typeface="Cambria Math" panose="02040503050406030204" pitchFamily="18" charset="0"/>
                                        <a:ea typeface="Cambria Math"/>
                                      </a:rPr>
                                      <m:t>𝑦</m:t>
                                    </m:r>
                                  </m:sub>
                                </m:sSub>
                                <m:sSub>
                                  <m:sSubPr>
                                    <m:ctrlPr>
                                      <a:rPr lang="en-GB" sz="1300" i="1" smtClean="0">
                                        <a:latin typeface="Cambria Math" panose="02040503050406030204" pitchFamily="18" charset="0"/>
                                        <a:ea typeface="Cambria Math"/>
                                      </a:rPr>
                                    </m:ctrlPr>
                                  </m:sSubPr>
                                  <m:e>
                                    <m:r>
                                      <a:rPr lang="en-GB" sz="1300" i="1" smtClean="0">
                                        <a:latin typeface="Cambria Math" panose="02040503050406030204" pitchFamily="18" charset="0"/>
                                        <a:ea typeface="Cambria Math"/>
                                      </a:rPr>
                                      <m:t>𝑢</m:t>
                                    </m:r>
                                  </m:e>
                                  <m:sub>
                                    <m:r>
                                      <a:rPr lang="en-GB" sz="1300" b="0" i="1" smtClean="0">
                                        <a:latin typeface="Cambria Math" panose="02040503050406030204" pitchFamily="18" charset="0"/>
                                        <a:ea typeface="Cambria Math"/>
                                      </a:rPr>
                                      <m:t>𝑧</m:t>
                                    </m:r>
                                  </m:sub>
                                </m:sSub>
                                <m:d>
                                  <m:dPr>
                                    <m:ctrlPr>
                                      <a:rPr lang="en-GB" sz="1300" i="1" smtClean="0">
                                        <a:latin typeface="Cambria Math" panose="02040503050406030204" pitchFamily="18" charset="0"/>
                                        <a:ea typeface="Cambria Math"/>
                                      </a:rPr>
                                    </m:ctrlPr>
                                  </m:dPr>
                                  <m:e>
                                    <m:r>
                                      <a:rPr lang="en-GB" sz="1300" i="1" smtClean="0">
                                        <a:latin typeface="Cambria Math" panose="02040503050406030204" pitchFamily="18" charset="0"/>
                                        <a:ea typeface="Cambria Math"/>
                                      </a:rPr>
                                      <m:t>1−</m:t>
                                    </m:r>
                                    <m:func>
                                      <m:funcPr>
                                        <m:ctrlPr>
                                          <a:rPr lang="en-GB" sz="1300" i="1" smtClean="0">
                                            <a:latin typeface="Cambria Math" panose="02040503050406030204" pitchFamily="18" charset="0"/>
                                            <a:ea typeface="Cambria Math"/>
                                          </a:rPr>
                                        </m:ctrlPr>
                                      </m:funcPr>
                                      <m:fName>
                                        <m:r>
                                          <m:rPr>
                                            <m:sty m:val="p"/>
                                          </m:rPr>
                                          <a:rPr lang="en-GB" sz="1300" smtClean="0">
                                            <a:latin typeface="Cambria Math" panose="02040503050406030204" pitchFamily="18" charset="0"/>
                                            <a:ea typeface="Cambria Math"/>
                                          </a:rPr>
                                          <m:t>cos</m:t>
                                        </m:r>
                                      </m:fName>
                                      <m:e>
                                        <m:d>
                                          <m:dPr>
                                            <m:ctrlPr>
                                              <a:rPr lang="en-GB" sz="1300" i="1" smtClean="0">
                                                <a:latin typeface="Cambria Math" panose="02040503050406030204" pitchFamily="18" charset="0"/>
                                                <a:ea typeface="Cambria Math"/>
                                              </a:rPr>
                                            </m:ctrlPr>
                                          </m:dPr>
                                          <m:e>
                                            <m:r>
                                              <m:rPr>
                                                <m:sty m:val="p"/>
                                              </m:rPr>
                                              <a:rPr lang="en-GB" sz="1300" smtClean="0">
                                                <a:latin typeface="Cambria Math" panose="02040503050406030204" pitchFamily="18" charset="0"/>
                                                <a:ea typeface="Cambria Math"/>
                                              </a:rPr>
                                              <m:t>r</m:t>
                                            </m:r>
                                            <m:r>
                                              <a:rPr lang="en-GB" sz="1400" i="1">
                                                <a:latin typeface="Cambria Math" panose="02040503050406030204" pitchFamily="18" charset="0"/>
                                                <a:ea typeface="Cambria Math" panose="02040503050406030204" pitchFamily="18" charset="0"/>
                                              </a:rPr>
                                              <m:t>𝜗</m:t>
                                            </m:r>
                                          </m:e>
                                        </m:d>
                                      </m:e>
                                    </m:func>
                                  </m:e>
                                </m:d>
                                <m:r>
                                  <a:rPr lang="en-GB" sz="1300" i="1" smtClean="0">
                                    <a:latin typeface="Cambria Math" panose="02040503050406030204" pitchFamily="18" charset="0"/>
                                    <a:ea typeface="Cambria Math"/>
                                  </a:rPr>
                                  <m:t>−</m:t>
                                </m:r>
                                <m:sSub>
                                  <m:sSubPr>
                                    <m:ctrlPr>
                                      <a:rPr lang="en-GB" sz="1300" i="1" smtClean="0">
                                        <a:latin typeface="Cambria Math" panose="02040503050406030204" pitchFamily="18" charset="0"/>
                                        <a:ea typeface="Cambria Math"/>
                                      </a:rPr>
                                    </m:ctrlPr>
                                  </m:sSubPr>
                                  <m:e>
                                    <m:r>
                                      <a:rPr lang="en-GB" sz="1300" i="1" smtClean="0">
                                        <a:latin typeface="Cambria Math" panose="02040503050406030204" pitchFamily="18" charset="0"/>
                                        <a:ea typeface="Cambria Math"/>
                                      </a:rPr>
                                      <m:t>𝑢</m:t>
                                    </m:r>
                                  </m:e>
                                  <m:sub>
                                    <m:r>
                                      <a:rPr lang="en-GB" sz="1300" b="0" i="1" smtClean="0">
                                        <a:latin typeface="Cambria Math" panose="02040503050406030204" pitchFamily="18" charset="0"/>
                                        <a:ea typeface="Cambria Math"/>
                                      </a:rPr>
                                      <m:t>𝑥</m:t>
                                    </m:r>
                                  </m:sub>
                                </m:sSub>
                                <m:func>
                                  <m:funcPr>
                                    <m:ctrlPr>
                                      <a:rPr lang="en-GB" sz="1300" i="1" smtClean="0">
                                        <a:latin typeface="Cambria Math" panose="02040503050406030204" pitchFamily="18" charset="0"/>
                                        <a:ea typeface="Cambria Math"/>
                                      </a:rPr>
                                    </m:ctrlPr>
                                  </m:funcPr>
                                  <m:fName>
                                    <m:r>
                                      <m:rPr>
                                        <m:sty m:val="p"/>
                                      </m:rPr>
                                      <a:rPr lang="en-GB" sz="1300" smtClean="0">
                                        <a:latin typeface="Cambria Math" panose="02040503050406030204" pitchFamily="18" charset="0"/>
                                        <a:ea typeface="Cambria Math"/>
                                      </a:rPr>
                                      <m:t>sin</m:t>
                                    </m:r>
                                  </m:fName>
                                  <m:e>
                                    <m:d>
                                      <m:dPr>
                                        <m:ctrlPr>
                                          <a:rPr lang="en-GB" sz="1300" i="1" smtClean="0">
                                            <a:latin typeface="Cambria Math" panose="02040503050406030204" pitchFamily="18" charset="0"/>
                                            <a:ea typeface="Cambria Math"/>
                                          </a:rPr>
                                        </m:ctrlPr>
                                      </m:dPr>
                                      <m:e>
                                        <m:r>
                                          <m:rPr>
                                            <m:sty m:val="p"/>
                                          </m:rPr>
                                          <a:rPr lang="en-GB" sz="1300" smtClean="0">
                                            <a:latin typeface="Cambria Math" panose="02040503050406030204" pitchFamily="18" charset="0"/>
                                            <a:ea typeface="Cambria Math"/>
                                          </a:rPr>
                                          <m:t>r</m:t>
                                        </m:r>
                                        <m:r>
                                          <a:rPr lang="en-GB" sz="1400" i="1">
                                            <a:latin typeface="Cambria Math" panose="02040503050406030204" pitchFamily="18" charset="0"/>
                                            <a:ea typeface="Cambria Math" panose="02040503050406030204" pitchFamily="18" charset="0"/>
                                          </a:rPr>
                                          <m:t>𝜗</m:t>
                                        </m:r>
                                      </m:e>
                                    </m:d>
                                  </m:e>
                                </m:func>
                              </m:e>
                            </m:mr>
                            <m:mr>
                              <m:e>
                                <m:sSub>
                                  <m:sSubPr>
                                    <m:ctrlPr>
                                      <a:rPr lang="en-GB" sz="1300" i="1" smtClean="0">
                                        <a:latin typeface="Cambria Math" panose="02040503050406030204" pitchFamily="18" charset="0"/>
                                        <a:ea typeface="Cambria Math"/>
                                      </a:rPr>
                                    </m:ctrlPr>
                                  </m:sSubPr>
                                  <m:e>
                                    <m:r>
                                      <a:rPr lang="en-GB" sz="1300" i="1" smtClean="0">
                                        <a:latin typeface="Cambria Math" panose="02040503050406030204" pitchFamily="18" charset="0"/>
                                        <a:ea typeface="Cambria Math"/>
                                      </a:rPr>
                                      <m:t>𝑢</m:t>
                                    </m:r>
                                  </m:e>
                                  <m:sub>
                                    <m:r>
                                      <a:rPr lang="en-GB" sz="1300" i="1" smtClean="0">
                                        <a:latin typeface="Cambria Math" panose="02040503050406030204" pitchFamily="18" charset="0"/>
                                        <a:ea typeface="Cambria Math"/>
                                      </a:rPr>
                                      <m:t>𝑥</m:t>
                                    </m:r>
                                  </m:sub>
                                </m:sSub>
                                <m:sSub>
                                  <m:sSubPr>
                                    <m:ctrlPr>
                                      <a:rPr lang="en-GB" sz="1300" i="1" smtClean="0">
                                        <a:latin typeface="Cambria Math" panose="02040503050406030204" pitchFamily="18" charset="0"/>
                                        <a:ea typeface="Cambria Math"/>
                                      </a:rPr>
                                    </m:ctrlPr>
                                  </m:sSubPr>
                                  <m:e>
                                    <m:r>
                                      <a:rPr lang="en-GB" sz="1300" i="1" smtClean="0">
                                        <a:latin typeface="Cambria Math" panose="02040503050406030204" pitchFamily="18" charset="0"/>
                                        <a:ea typeface="Cambria Math"/>
                                      </a:rPr>
                                      <m:t>𝑢</m:t>
                                    </m:r>
                                  </m:e>
                                  <m:sub>
                                    <m:r>
                                      <a:rPr lang="en-GB" sz="1300" i="1" smtClean="0">
                                        <a:latin typeface="Cambria Math" panose="02040503050406030204" pitchFamily="18" charset="0"/>
                                        <a:ea typeface="Cambria Math"/>
                                      </a:rPr>
                                      <m:t>𝑧</m:t>
                                    </m:r>
                                  </m:sub>
                                </m:sSub>
                                <m:d>
                                  <m:dPr>
                                    <m:ctrlPr>
                                      <a:rPr lang="en-GB" sz="1300" i="1" smtClean="0">
                                        <a:latin typeface="Cambria Math" panose="02040503050406030204" pitchFamily="18" charset="0"/>
                                        <a:ea typeface="Cambria Math"/>
                                      </a:rPr>
                                    </m:ctrlPr>
                                  </m:dPr>
                                  <m:e>
                                    <m:r>
                                      <a:rPr lang="en-GB" sz="1300" i="1" smtClean="0">
                                        <a:latin typeface="Cambria Math" panose="02040503050406030204" pitchFamily="18" charset="0"/>
                                        <a:ea typeface="Cambria Math"/>
                                      </a:rPr>
                                      <m:t>1−</m:t>
                                    </m:r>
                                    <m:func>
                                      <m:funcPr>
                                        <m:ctrlPr>
                                          <a:rPr lang="en-GB" sz="1300" i="1" smtClean="0">
                                            <a:latin typeface="Cambria Math" panose="02040503050406030204" pitchFamily="18" charset="0"/>
                                            <a:ea typeface="Cambria Math"/>
                                          </a:rPr>
                                        </m:ctrlPr>
                                      </m:funcPr>
                                      <m:fName>
                                        <m:r>
                                          <m:rPr>
                                            <m:sty m:val="p"/>
                                          </m:rPr>
                                          <a:rPr lang="en-GB" sz="1300" smtClean="0">
                                            <a:latin typeface="Cambria Math" panose="02040503050406030204" pitchFamily="18" charset="0"/>
                                            <a:ea typeface="Cambria Math"/>
                                          </a:rPr>
                                          <m:t>cos</m:t>
                                        </m:r>
                                      </m:fName>
                                      <m:e>
                                        <m:d>
                                          <m:dPr>
                                            <m:ctrlPr>
                                              <a:rPr lang="en-GB" sz="1300" i="1" smtClean="0">
                                                <a:latin typeface="Cambria Math" panose="02040503050406030204" pitchFamily="18" charset="0"/>
                                                <a:ea typeface="Cambria Math"/>
                                              </a:rPr>
                                            </m:ctrlPr>
                                          </m:dPr>
                                          <m:e>
                                            <m:r>
                                              <m:rPr>
                                                <m:sty m:val="p"/>
                                              </m:rPr>
                                              <a:rPr lang="en-GB" sz="1300" smtClean="0">
                                                <a:latin typeface="Cambria Math" panose="02040503050406030204" pitchFamily="18" charset="0"/>
                                                <a:ea typeface="Cambria Math"/>
                                              </a:rPr>
                                              <m:t>r</m:t>
                                            </m:r>
                                            <m:r>
                                              <a:rPr lang="en-GB" sz="1400" i="1">
                                                <a:latin typeface="Cambria Math" panose="02040503050406030204" pitchFamily="18" charset="0"/>
                                                <a:ea typeface="Cambria Math" panose="02040503050406030204" pitchFamily="18" charset="0"/>
                                              </a:rPr>
                                              <m:t>𝜗</m:t>
                                            </m:r>
                                          </m:e>
                                        </m:d>
                                      </m:e>
                                    </m:func>
                                  </m:e>
                                </m:d>
                                <m:r>
                                  <a:rPr lang="en-GB" sz="1300" b="0" i="1" smtClean="0">
                                    <a:latin typeface="Cambria Math" panose="02040503050406030204" pitchFamily="18" charset="0"/>
                                    <a:ea typeface="Cambria Math" panose="02040503050406030204" pitchFamily="18" charset="0"/>
                                  </a:rPr>
                                  <m:t>−</m:t>
                                </m:r>
                                <m:sSub>
                                  <m:sSubPr>
                                    <m:ctrlPr>
                                      <a:rPr lang="en-GB" sz="1300" i="1" smtClean="0">
                                        <a:latin typeface="Cambria Math" panose="02040503050406030204" pitchFamily="18" charset="0"/>
                                        <a:ea typeface="Cambria Math"/>
                                      </a:rPr>
                                    </m:ctrlPr>
                                  </m:sSubPr>
                                  <m:e>
                                    <m:r>
                                      <a:rPr lang="en-GB" sz="1300" i="1" smtClean="0">
                                        <a:latin typeface="Cambria Math" panose="02040503050406030204" pitchFamily="18" charset="0"/>
                                        <a:ea typeface="Cambria Math"/>
                                      </a:rPr>
                                      <m:t>𝑢</m:t>
                                    </m:r>
                                  </m:e>
                                  <m:sub>
                                    <m:r>
                                      <a:rPr lang="en-GB" sz="1300" i="1" smtClean="0">
                                        <a:latin typeface="Cambria Math" panose="02040503050406030204" pitchFamily="18" charset="0"/>
                                        <a:ea typeface="Cambria Math"/>
                                      </a:rPr>
                                      <m:t>𝑦</m:t>
                                    </m:r>
                                  </m:sub>
                                </m:sSub>
                                <m:func>
                                  <m:funcPr>
                                    <m:ctrlPr>
                                      <a:rPr lang="en-GB" sz="1300" i="1" smtClean="0">
                                        <a:latin typeface="Cambria Math" panose="02040503050406030204" pitchFamily="18" charset="0"/>
                                        <a:ea typeface="Cambria Math"/>
                                      </a:rPr>
                                    </m:ctrlPr>
                                  </m:funcPr>
                                  <m:fName>
                                    <m:r>
                                      <m:rPr>
                                        <m:sty m:val="p"/>
                                      </m:rPr>
                                      <a:rPr lang="en-GB" sz="1300" smtClean="0">
                                        <a:latin typeface="Cambria Math" panose="02040503050406030204" pitchFamily="18" charset="0"/>
                                        <a:ea typeface="Cambria Math"/>
                                      </a:rPr>
                                      <m:t>sin</m:t>
                                    </m:r>
                                  </m:fName>
                                  <m:e>
                                    <m:d>
                                      <m:dPr>
                                        <m:ctrlPr>
                                          <a:rPr lang="en-GB" sz="1300" i="1" smtClean="0">
                                            <a:latin typeface="Cambria Math" panose="02040503050406030204" pitchFamily="18" charset="0"/>
                                            <a:ea typeface="Cambria Math"/>
                                          </a:rPr>
                                        </m:ctrlPr>
                                      </m:dPr>
                                      <m:e>
                                        <m:r>
                                          <m:rPr>
                                            <m:sty m:val="p"/>
                                          </m:rPr>
                                          <a:rPr lang="en-GB" sz="1300" smtClean="0">
                                            <a:latin typeface="Cambria Math" panose="02040503050406030204" pitchFamily="18" charset="0"/>
                                            <a:ea typeface="Cambria Math"/>
                                          </a:rPr>
                                          <m:t>r</m:t>
                                        </m:r>
                                        <m:r>
                                          <a:rPr lang="en-GB" sz="1400" i="1">
                                            <a:latin typeface="Cambria Math" panose="02040503050406030204" pitchFamily="18" charset="0"/>
                                            <a:ea typeface="Cambria Math" panose="02040503050406030204" pitchFamily="18" charset="0"/>
                                          </a:rPr>
                                          <m:t>𝜗</m:t>
                                        </m:r>
                                      </m:e>
                                    </m:d>
                                  </m:e>
                                </m:func>
                              </m:e>
                              <m:e>
                                <m:sSub>
                                  <m:sSubPr>
                                    <m:ctrlPr>
                                      <a:rPr lang="en-GB" sz="1300" i="1" smtClean="0">
                                        <a:latin typeface="Cambria Math" panose="02040503050406030204" pitchFamily="18" charset="0"/>
                                        <a:ea typeface="Cambria Math"/>
                                      </a:rPr>
                                    </m:ctrlPr>
                                  </m:sSubPr>
                                  <m:e>
                                    <m:r>
                                      <a:rPr lang="en-GB" sz="1300" i="1" smtClean="0">
                                        <a:latin typeface="Cambria Math" panose="02040503050406030204" pitchFamily="18" charset="0"/>
                                        <a:ea typeface="Cambria Math"/>
                                      </a:rPr>
                                      <m:t>𝑢</m:t>
                                    </m:r>
                                  </m:e>
                                  <m:sub>
                                    <m:r>
                                      <a:rPr lang="en-GB" sz="1300" i="1" smtClean="0">
                                        <a:latin typeface="Cambria Math" panose="02040503050406030204" pitchFamily="18" charset="0"/>
                                        <a:ea typeface="Cambria Math"/>
                                      </a:rPr>
                                      <m:t>𝑦</m:t>
                                    </m:r>
                                  </m:sub>
                                </m:sSub>
                                <m:sSub>
                                  <m:sSubPr>
                                    <m:ctrlPr>
                                      <a:rPr lang="en-GB" sz="1300" i="1" smtClean="0">
                                        <a:latin typeface="Cambria Math" panose="02040503050406030204" pitchFamily="18" charset="0"/>
                                        <a:ea typeface="Cambria Math"/>
                                      </a:rPr>
                                    </m:ctrlPr>
                                  </m:sSubPr>
                                  <m:e>
                                    <m:r>
                                      <a:rPr lang="en-GB" sz="1300" i="1" smtClean="0">
                                        <a:latin typeface="Cambria Math" panose="02040503050406030204" pitchFamily="18" charset="0"/>
                                        <a:ea typeface="Cambria Math"/>
                                      </a:rPr>
                                      <m:t>𝑢</m:t>
                                    </m:r>
                                  </m:e>
                                  <m:sub>
                                    <m:r>
                                      <a:rPr lang="en-GB" sz="1300" i="1" smtClean="0">
                                        <a:latin typeface="Cambria Math" panose="02040503050406030204" pitchFamily="18" charset="0"/>
                                        <a:ea typeface="Cambria Math"/>
                                      </a:rPr>
                                      <m:t>𝑧</m:t>
                                    </m:r>
                                  </m:sub>
                                </m:sSub>
                                <m:d>
                                  <m:dPr>
                                    <m:ctrlPr>
                                      <a:rPr lang="en-GB" sz="1300" i="1" smtClean="0">
                                        <a:latin typeface="Cambria Math" panose="02040503050406030204" pitchFamily="18" charset="0"/>
                                        <a:ea typeface="Cambria Math"/>
                                      </a:rPr>
                                    </m:ctrlPr>
                                  </m:dPr>
                                  <m:e>
                                    <m:r>
                                      <a:rPr lang="en-GB" sz="1300" i="1" smtClean="0">
                                        <a:latin typeface="Cambria Math" panose="02040503050406030204" pitchFamily="18" charset="0"/>
                                        <a:ea typeface="Cambria Math"/>
                                      </a:rPr>
                                      <m:t>1−</m:t>
                                    </m:r>
                                    <m:func>
                                      <m:funcPr>
                                        <m:ctrlPr>
                                          <a:rPr lang="en-GB" sz="1300" i="1" smtClean="0">
                                            <a:latin typeface="Cambria Math" panose="02040503050406030204" pitchFamily="18" charset="0"/>
                                            <a:ea typeface="Cambria Math"/>
                                          </a:rPr>
                                        </m:ctrlPr>
                                      </m:funcPr>
                                      <m:fName>
                                        <m:r>
                                          <m:rPr>
                                            <m:sty m:val="p"/>
                                          </m:rPr>
                                          <a:rPr lang="en-GB" sz="1300" smtClean="0">
                                            <a:latin typeface="Cambria Math" panose="02040503050406030204" pitchFamily="18" charset="0"/>
                                            <a:ea typeface="Cambria Math"/>
                                          </a:rPr>
                                          <m:t>cos</m:t>
                                        </m:r>
                                      </m:fName>
                                      <m:e>
                                        <m:d>
                                          <m:dPr>
                                            <m:ctrlPr>
                                              <a:rPr lang="en-GB" sz="1300" i="1" smtClean="0">
                                                <a:latin typeface="Cambria Math" panose="02040503050406030204" pitchFamily="18" charset="0"/>
                                                <a:ea typeface="Cambria Math"/>
                                              </a:rPr>
                                            </m:ctrlPr>
                                          </m:dPr>
                                          <m:e>
                                            <m:r>
                                              <m:rPr>
                                                <m:sty m:val="p"/>
                                              </m:rPr>
                                              <a:rPr lang="en-GB" sz="1300" smtClean="0">
                                                <a:latin typeface="Cambria Math" panose="02040503050406030204" pitchFamily="18" charset="0"/>
                                                <a:ea typeface="Cambria Math"/>
                                              </a:rPr>
                                              <m:t>r</m:t>
                                            </m:r>
                                            <m:r>
                                              <a:rPr lang="en-GB" sz="1400" i="1">
                                                <a:latin typeface="Cambria Math" panose="02040503050406030204" pitchFamily="18" charset="0"/>
                                                <a:ea typeface="Cambria Math" panose="02040503050406030204" pitchFamily="18" charset="0"/>
                                              </a:rPr>
                                              <m:t>𝜗</m:t>
                                            </m:r>
                                          </m:e>
                                        </m:d>
                                      </m:e>
                                    </m:func>
                                  </m:e>
                                </m:d>
                                <m:r>
                                  <a:rPr lang="en-GB" sz="1300" b="0" i="1" smtClean="0">
                                    <a:latin typeface="Cambria Math" panose="02040503050406030204" pitchFamily="18" charset="0"/>
                                    <a:ea typeface="Cambria Math" panose="02040503050406030204" pitchFamily="18" charset="0"/>
                                  </a:rPr>
                                  <m:t>+</m:t>
                                </m:r>
                                <m:sSub>
                                  <m:sSubPr>
                                    <m:ctrlPr>
                                      <a:rPr lang="en-GB" sz="1300" i="1" smtClean="0">
                                        <a:latin typeface="Cambria Math" panose="02040503050406030204" pitchFamily="18" charset="0"/>
                                        <a:ea typeface="Cambria Math"/>
                                      </a:rPr>
                                    </m:ctrlPr>
                                  </m:sSubPr>
                                  <m:e>
                                    <m:r>
                                      <a:rPr lang="en-GB" sz="1300" i="1" smtClean="0">
                                        <a:latin typeface="Cambria Math" panose="02040503050406030204" pitchFamily="18" charset="0"/>
                                        <a:ea typeface="Cambria Math"/>
                                      </a:rPr>
                                      <m:t>𝑢</m:t>
                                    </m:r>
                                  </m:e>
                                  <m:sub>
                                    <m:r>
                                      <a:rPr lang="en-GB" sz="1300" i="1" smtClean="0">
                                        <a:latin typeface="Cambria Math" panose="02040503050406030204" pitchFamily="18" charset="0"/>
                                        <a:ea typeface="Cambria Math"/>
                                      </a:rPr>
                                      <m:t>𝑥</m:t>
                                    </m:r>
                                  </m:sub>
                                </m:sSub>
                                <m:func>
                                  <m:funcPr>
                                    <m:ctrlPr>
                                      <a:rPr lang="en-GB" sz="1300" i="1" smtClean="0">
                                        <a:latin typeface="Cambria Math" panose="02040503050406030204" pitchFamily="18" charset="0"/>
                                        <a:ea typeface="Cambria Math"/>
                                      </a:rPr>
                                    </m:ctrlPr>
                                  </m:funcPr>
                                  <m:fName>
                                    <m:r>
                                      <m:rPr>
                                        <m:sty m:val="p"/>
                                      </m:rPr>
                                      <a:rPr lang="en-GB" sz="1300" smtClean="0">
                                        <a:latin typeface="Cambria Math" panose="02040503050406030204" pitchFamily="18" charset="0"/>
                                        <a:ea typeface="Cambria Math"/>
                                      </a:rPr>
                                      <m:t>sin</m:t>
                                    </m:r>
                                  </m:fName>
                                  <m:e>
                                    <m:d>
                                      <m:dPr>
                                        <m:ctrlPr>
                                          <a:rPr lang="en-GB" sz="1300" i="1" smtClean="0">
                                            <a:latin typeface="Cambria Math" panose="02040503050406030204" pitchFamily="18" charset="0"/>
                                            <a:ea typeface="Cambria Math"/>
                                          </a:rPr>
                                        </m:ctrlPr>
                                      </m:dPr>
                                      <m:e>
                                        <m:r>
                                          <m:rPr>
                                            <m:sty m:val="p"/>
                                          </m:rPr>
                                          <a:rPr lang="en-GB" sz="1300" smtClean="0">
                                            <a:latin typeface="Cambria Math" panose="02040503050406030204" pitchFamily="18" charset="0"/>
                                            <a:ea typeface="Cambria Math"/>
                                          </a:rPr>
                                          <m:t>r</m:t>
                                        </m:r>
                                        <m:r>
                                          <a:rPr lang="en-GB" sz="1400" i="1">
                                            <a:latin typeface="Cambria Math" panose="02040503050406030204" pitchFamily="18" charset="0"/>
                                            <a:ea typeface="Cambria Math" panose="02040503050406030204" pitchFamily="18" charset="0"/>
                                          </a:rPr>
                                          <m:t>𝜗</m:t>
                                        </m:r>
                                      </m:e>
                                    </m:d>
                                  </m:e>
                                </m:func>
                              </m:e>
                              <m:e>
                                <m:sSup>
                                  <m:sSupPr>
                                    <m:ctrlPr>
                                      <a:rPr lang="en-GB" sz="1300" i="1" smtClean="0">
                                        <a:latin typeface="Cambria Math" panose="02040503050406030204" pitchFamily="18" charset="0"/>
                                        <a:ea typeface="Cambria Math"/>
                                      </a:rPr>
                                    </m:ctrlPr>
                                  </m:sSupPr>
                                  <m:e>
                                    <m:sSub>
                                      <m:sSubPr>
                                        <m:ctrlPr>
                                          <a:rPr lang="en-GB" sz="1300" i="1" smtClean="0">
                                            <a:latin typeface="Cambria Math" panose="02040503050406030204" pitchFamily="18" charset="0"/>
                                            <a:ea typeface="Cambria Math"/>
                                          </a:rPr>
                                        </m:ctrlPr>
                                      </m:sSubPr>
                                      <m:e>
                                        <m:r>
                                          <a:rPr lang="en-GB" sz="1300" i="1" smtClean="0">
                                            <a:latin typeface="Cambria Math" panose="02040503050406030204" pitchFamily="18" charset="0"/>
                                            <a:ea typeface="Cambria Math"/>
                                          </a:rPr>
                                          <m:t>𝑢</m:t>
                                        </m:r>
                                      </m:e>
                                      <m:sub>
                                        <m:r>
                                          <a:rPr lang="en-GB" sz="1300" b="0" i="1" smtClean="0">
                                            <a:latin typeface="Cambria Math" panose="02040503050406030204" pitchFamily="18" charset="0"/>
                                            <a:ea typeface="Cambria Math"/>
                                          </a:rPr>
                                          <m:t>𝑧</m:t>
                                        </m:r>
                                      </m:sub>
                                    </m:sSub>
                                  </m:e>
                                  <m:sup>
                                    <m:r>
                                      <a:rPr lang="en-GB" sz="1300" i="1" smtClean="0">
                                        <a:latin typeface="Cambria Math" panose="02040503050406030204" pitchFamily="18" charset="0"/>
                                        <a:ea typeface="Cambria Math"/>
                                      </a:rPr>
                                      <m:t>2</m:t>
                                    </m:r>
                                  </m:sup>
                                </m:sSup>
                                <m:d>
                                  <m:dPr>
                                    <m:ctrlPr>
                                      <a:rPr lang="en-GB" sz="1300" i="1" smtClean="0">
                                        <a:latin typeface="Cambria Math" panose="02040503050406030204" pitchFamily="18" charset="0"/>
                                        <a:ea typeface="Cambria Math"/>
                                      </a:rPr>
                                    </m:ctrlPr>
                                  </m:dPr>
                                  <m:e>
                                    <m:r>
                                      <a:rPr lang="en-GB" sz="1300" i="1" smtClean="0">
                                        <a:latin typeface="Cambria Math" panose="02040503050406030204" pitchFamily="18" charset="0"/>
                                        <a:ea typeface="Cambria Math"/>
                                      </a:rPr>
                                      <m:t>1−</m:t>
                                    </m:r>
                                    <m:func>
                                      <m:funcPr>
                                        <m:ctrlPr>
                                          <a:rPr lang="en-GB" sz="1300" i="1" smtClean="0">
                                            <a:latin typeface="Cambria Math" panose="02040503050406030204" pitchFamily="18" charset="0"/>
                                            <a:ea typeface="Cambria Math"/>
                                          </a:rPr>
                                        </m:ctrlPr>
                                      </m:funcPr>
                                      <m:fName>
                                        <m:r>
                                          <m:rPr>
                                            <m:sty m:val="p"/>
                                          </m:rPr>
                                          <a:rPr lang="en-GB" sz="1300" smtClean="0">
                                            <a:latin typeface="Cambria Math" panose="02040503050406030204" pitchFamily="18" charset="0"/>
                                            <a:ea typeface="Cambria Math"/>
                                          </a:rPr>
                                          <m:t>cos</m:t>
                                        </m:r>
                                      </m:fName>
                                      <m:e>
                                        <m:d>
                                          <m:dPr>
                                            <m:ctrlPr>
                                              <a:rPr lang="en-GB" sz="1300" i="1" smtClean="0">
                                                <a:latin typeface="Cambria Math" panose="02040503050406030204" pitchFamily="18" charset="0"/>
                                                <a:ea typeface="Cambria Math"/>
                                              </a:rPr>
                                            </m:ctrlPr>
                                          </m:dPr>
                                          <m:e>
                                            <m:r>
                                              <m:rPr>
                                                <m:sty m:val="p"/>
                                              </m:rPr>
                                              <a:rPr lang="en-GB" sz="1300" smtClean="0">
                                                <a:latin typeface="Cambria Math" panose="02040503050406030204" pitchFamily="18" charset="0"/>
                                                <a:ea typeface="Cambria Math"/>
                                              </a:rPr>
                                              <m:t>r</m:t>
                                            </m:r>
                                            <m:r>
                                              <a:rPr lang="en-GB" sz="1400" i="1">
                                                <a:latin typeface="Cambria Math" panose="02040503050406030204" pitchFamily="18" charset="0"/>
                                                <a:ea typeface="Cambria Math" panose="02040503050406030204" pitchFamily="18" charset="0"/>
                                              </a:rPr>
                                              <m:t>𝜗</m:t>
                                            </m:r>
                                          </m:e>
                                        </m:d>
                                      </m:e>
                                    </m:func>
                                  </m:e>
                                </m:d>
                                <m:r>
                                  <m:rPr>
                                    <m:brk m:alnAt="7"/>
                                  </m:rPr>
                                  <a:rPr lang="en-GB" sz="1300" i="1" smtClean="0">
                                    <a:latin typeface="Cambria Math" panose="02040503050406030204" pitchFamily="18" charset="0"/>
                                    <a:ea typeface="Cambria Math"/>
                                  </a:rPr>
                                  <m:t>+</m:t>
                                </m:r>
                                <m:func>
                                  <m:funcPr>
                                    <m:ctrlPr>
                                      <a:rPr lang="en-GB" sz="1300" i="1" smtClean="0">
                                        <a:latin typeface="Cambria Math" panose="02040503050406030204" pitchFamily="18" charset="0"/>
                                        <a:ea typeface="Cambria Math"/>
                                      </a:rPr>
                                    </m:ctrlPr>
                                  </m:funcPr>
                                  <m:fName>
                                    <m:r>
                                      <m:rPr>
                                        <m:sty m:val="p"/>
                                        <m:brk m:alnAt="7"/>
                                      </m:rPr>
                                      <a:rPr lang="en-GB" sz="1300" smtClean="0">
                                        <a:latin typeface="Cambria Math" panose="02040503050406030204" pitchFamily="18" charset="0"/>
                                        <a:ea typeface="Cambria Math"/>
                                      </a:rPr>
                                      <m:t>c</m:t>
                                    </m:r>
                                    <m:r>
                                      <m:rPr>
                                        <m:sty m:val="p"/>
                                      </m:rPr>
                                      <a:rPr lang="en-GB" sz="1300" smtClean="0">
                                        <a:latin typeface="Cambria Math" panose="02040503050406030204" pitchFamily="18" charset="0"/>
                                        <a:ea typeface="Cambria Math"/>
                                      </a:rPr>
                                      <m:t>os</m:t>
                                    </m:r>
                                  </m:fName>
                                  <m:e>
                                    <m:d>
                                      <m:dPr>
                                        <m:ctrlPr>
                                          <a:rPr lang="en-GB" sz="1300" i="1" smtClean="0">
                                            <a:latin typeface="Cambria Math" panose="02040503050406030204" pitchFamily="18" charset="0"/>
                                            <a:ea typeface="Cambria Math"/>
                                          </a:rPr>
                                        </m:ctrlPr>
                                      </m:dPr>
                                      <m:e>
                                        <m:r>
                                          <m:rPr>
                                            <m:sty m:val="p"/>
                                          </m:rPr>
                                          <a:rPr lang="en-GB" sz="1300" smtClean="0">
                                            <a:latin typeface="Cambria Math" panose="02040503050406030204" pitchFamily="18" charset="0"/>
                                            <a:ea typeface="Cambria Math"/>
                                          </a:rPr>
                                          <m:t>r</m:t>
                                        </m:r>
                                        <m:r>
                                          <a:rPr lang="en-GB" sz="1400" i="1">
                                            <a:latin typeface="Cambria Math" panose="02040503050406030204" pitchFamily="18" charset="0"/>
                                            <a:ea typeface="Cambria Math" panose="02040503050406030204" pitchFamily="18" charset="0"/>
                                          </a:rPr>
                                          <m:t>𝜗</m:t>
                                        </m:r>
                                      </m:e>
                                    </m:d>
                                  </m:e>
                                </m:func>
                              </m:e>
                            </m:mr>
                          </m:m>
                        </m:e>
                      </m:d>
                    </m:oMath>
                  </m:oMathPara>
                </a14:m>
                <a:endParaRPr lang="en-GB" sz="1300" dirty="0"/>
              </a:p>
              <a:p>
                <a:pPr marL="0" indent="0">
                  <a:buNone/>
                </a:pPr>
                <a:endParaRPr lang="en-GB" dirty="0"/>
              </a:p>
              <a:p>
                <a:pPr marL="0" indent="0">
                  <a:buNone/>
                </a:pPr>
                <a14:m>
                  <m:oMath xmlns:m="http://schemas.openxmlformats.org/officeDocument/2006/math">
                    <m:r>
                      <m:rPr>
                        <m:sty m:val="p"/>
                      </m:rPr>
                      <a:rPr lang="en-GB" b="0" i="0" smtClean="0">
                        <a:latin typeface="Cambria Math"/>
                      </a:rPr>
                      <m:t>r</m:t>
                    </m:r>
                  </m:oMath>
                </a14:m>
                <a:r>
                  <a:rPr lang="en-GB" dirty="0"/>
                  <a:t> has the form:</a:t>
                </a:r>
              </a:p>
              <a:p>
                <a:pPr marL="0" indent="0" algn="ctr">
                  <a:buNone/>
                </a:pPr>
                <a14:m>
                  <m:oMath xmlns:m="http://schemas.openxmlformats.org/officeDocument/2006/math">
                    <m:r>
                      <m:rPr>
                        <m:sty m:val="p"/>
                      </m:rPr>
                      <a:rPr lang="en-GB" i="1" smtClean="0">
                        <a:latin typeface="Cambria Math" panose="02040503050406030204" pitchFamily="18" charset="0"/>
                      </a:rPr>
                      <m:t>r</m:t>
                    </m:r>
                    <m:r>
                      <a:rPr lang="en-GB" b="0" i="0" smtClean="0">
                        <a:latin typeface="Cambria Math" panose="02040503050406030204" pitchFamily="18" charset="0"/>
                      </a:rPr>
                      <m:t>=</m:t>
                    </m:r>
                    <m:r>
                      <m:rPr>
                        <m:sty m:val="p"/>
                      </m:rPr>
                      <a:rPr lang="en-GB" smtClean="0">
                        <a:latin typeface="Cambria Math"/>
                      </a:rPr>
                      <m:t>r</m:t>
                    </m:r>
                    <m:d>
                      <m:dPr>
                        <m:ctrlPr>
                          <a:rPr lang="en-GB" i="1" smtClean="0">
                            <a:latin typeface="Cambria Math" panose="02040503050406030204" pitchFamily="18" charset="0"/>
                          </a:rPr>
                        </m:ctrlPr>
                      </m:dPr>
                      <m:e>
                        <m:r>
                          <m:rPr>
                            <m:sty m:val="p"/>
                          </m:rPr>
                          <a:rPr lang="en-GB" smtClean="0">
                            <a:latin typeface="Cambria Math"/>
                          </a:rPr>
                          <m:t>t</m:t>
                        </m:r>
                      </m:e>
                    </m:d>
                    <m:r>
                      <a:rPr lang="en-GB" smtClean="0">
                        <a:latin typeface="Cambria Math"/>
                      </a:rPr>
                      <m:t>=</m:t>
                    </m:r>
                    <m:r>
                      <a:rPr lang="en-GB" i="1" smtClean="0">
                        <a:latin typeface="Cambria Math"/>
                      </a:rPr>
                      <m:t>10</m:t>
                    </m:r>
                    <m:sSup>
                      <m:sSupPr>
                        <m:ctrlPr>
                          <a:rPr lang="en-GB" i="1" smtClean="0">
                            <a:latin typeface="Cambria Math" panose="02040503050406030204" pitchFamily="18" charset="0"/>
                          </a:rPr>
                        </m:ctrlPr>
                      </m:sSupPr>
                      <m:e>
                        <m:d>
                          <m:dPr>
                            <m:ctrlPr>
                              <a:rPr lang="en-GB" i="1" smtClean="0">
                                <a:latin typeface="Cambria Math" panose="02040503050406030204" pitchFamily="18" charset="0"/>
                              </a:rPr>
                            </m:ctrlPr>
                          </m:dPr>
                          <m:e>
                            <m:f>
                              <m:fPr>
                                <m:ctrlPr>
                                  <a:rPr lang="en-GB" i="1" smtClean="0">
                                    <a:latin typeface="Cambria Math" panose="02040503050406030204" pitchFamily="18" charset="0"/>
                                  </a:rPr>
                                </m:ctrlPr>
                              </m:fPr>
                              <m:num>
                                <m:r>
                                  <m:rPr>
                                    <m:sty m:val="p"/>
                                  </m:rPr>
                                  <a:rPr lang="en-GB" smtClean="0">
                                    <a:latin typeface="Cambria Math"/>
                                  </a:rPr>
                                  <m:t>t</m:t>
                                </m:r>
                              </m:num>
                              <m:den>
                                <m:sSub>
                                  <m:sSubPr>
                                    <m:ctrlPr>
                                      <a:rPr lang="en-GB" i="1" smtClean="0">
                                        <a:latin typeface="Cambria Math" panose="02040503050406030204" pitchFamily="18" charset="0"/>
                                      </a:rPr>
                                    </m:ctrlPr>
                                  </m:sSubPr>
                                  <m:e>
                                    <m:r>
                                      <a:rPr lang="en-GB" i="1" smtClean="0">
                                        <a:latin typeface="Cambria Math"/>
                                      </a:rPr>
                                      <m:t>𝑡</m:t>
                                    </m:r>
                                  </m:e>
                                  <m:sub>
                                    <m:r>
                                      <m:rPr>
                                        <m:sty m:val="p"/>
                                      </m:rPr>
                                      <a:rPr lang="en-GB" smtClean="0">
                                        <a:latin typeface="Cambria Math"/>
                                      </a:rPr>
                                      <m:t>f</m:t>
                                    </m:r>
                                  </m:sub>
                                </m:sSub>
                              </m:den>
                            </m:f>
                          </m:e>
                        </m:d>
                      </m:e>
                      <m:sup>
                        <m:r>
                          <a:rPr lang="en-GB" i="1" smtClean="0">
                            <a:latin typeface="Cambria Math"/>
                          </a:rPr>
                          <m:t>3</m:t>
                        </m:r>
                      </m:sup>
                    </m:sSup>
                    <m:r>
                      <a:rPr lang="en-GB" i="1" smtClean="0">
                        <a:latin typeface="Cambria Math"/>
                      </a:rPr>
                      <m:t>−15</m:t>
                    </m:r>
                    <m:sSup>
                      <m:sSupPr>
                        <m:ctrlPr>
                          <a:rPr lang="en-GB" i="1" smtClean="0">
                            <a:latin typeface="Cambria Math" panose="02040503050406030204" pitchFamily="18" charset="0"/>
                          </a:rPr>
                        </m:ctrlPr>
                      </m:sSupPr>
                      <m:e>
                        <m:d>
                          <m:dPr>
                            <m:ctrlPr>
                              <a:rPr lang="en-GB" i="1" smtClean="0">
                                <a:latin typeface="Cambria Math" panose="02040503050406030204" pitchFamily="18" charset="0"/>
                              </a:rPr>
                            </m:ctrlPr>
                          </m:dPr>
                          <m:e>
                            <m:f>
                              <m:fPr>
                                <m:ctrlPr>
                                  <a:rPr lang="en-GB" i="1" smtClean="0">
                                    <a:latin typeface="Cambria Math" panose="02040503050406030204" pitchFamily="18" charset="0"/>
                                  </a:rPr>
                                </m:ctrlPr>
                              </m:fPr>
                              <m:num>
                                <m:r>
                                  <m:rPr>
                                    <m:sty m:val="p"/>
                                  </m:rPr>
                                  <a:rPr lang="en-GB" smtClean="0">
                                    <a:latin typeface="Cambria Math"/>
                                  </a:rPr>
                                  <m:t>t</m:t>
                                </m:r>
                              </m:num>
                              <m:den>
                                <m:sSub>
                                  <m:sSubPr>
                                    <m:ctrlPr>
                                      <a:rPr lang="en-GB" i="1" smtClean="0">
                                        <a:latin typeface="Cambria Math" panose="02040503050406030204" pitchFamily="18" charset="0"/>
                                      </a:rPr>
                                    </m:ctrlPr>
                                  </m:sSubPr>
                                  <m:e>
                                    <m:r>
                                      <m:rPr>
                                        <m:sty m:val="p"/>
                                      </m:rPr>
                                      <a:rPr lang="en-GB" smtClean="0">
                                        <a:latin typeface="Cambria Math"/>
                                      </a:rPr>
                                      <m:t>t</m:t>
                                    </m:r>
                                  </m:e>
                                  <m:sub>
                                    <m:r>
                                      <m:rPr>
                                        <m:sty m:val="p"/>
                                      </m:rPr>
                                      <a:rPr lang="en-GB" smtClean="0">
                                        <a:latin typeface="Cambria Math"/>
                                      </a:rPr>
                                      <m:t>f</m:t>
                                    </m:r>
                                  </m:sub>
                                </m:sSub>
                              </m:den>
                            </m:f>
                          </m:e>
                        </m:d>
                      </m:e>
                      <m:sup>
                        <m:r>
                          <a:rPr lang="en-GB" i="1" smtClean="0">
                            <a:latin typeface="Cambria Math"/>
                          </a:rPr>
                          <m:t>4</m:t>
                        </m:r>
                      </m:sup>
                    </m:sSup>
                    <m:r>
                      <a:rPr lang="en-GB" i="1" smtClean="0">
                        <a:latin typeface="Cambria Math"/>
                      </a:rPr>
                      <m:t>+6</m:t>
                    </m:r>
                    <m:sSup>
                      <m:sSupPr>
                        <m:ctrlPr>
                          <a:rPr lang="en-GB" i="1" smtClean="0">
                            <a:latin typeface="Cambria Math" panose="02040503050406030204" pitchFamily="18" charset="0"/>
                          </a:rPr>
                        </m:ctrlPr>
                      </m:sSupPr>
                      <m:e>
                        <m:d>
                          <m:dPr>
                            <m:ctrlPr>
                              <a:rPr lang="en-GB" i="1" smtClean="0">
                                <a:latin typeface="Cambria Math" panose="02040503050406030204" pitchFamily="18" charset="0"/>
                              </a:rPr>
                            </m:ctrlPr>
                          </m:dPr>
                          <m:e>
                            <m:f>
                              <m:fPr>
                                <m:ctrlPr>
                                  <a:rPr lang="en-GB" i="1" smtClean="0">
                                    <a:latin typeface="Cambria Math" panose="02040503050406030204" pitchFamily="18" charset="0"/>
                                  </a:rPr>
                                </m:ctrlPr>
                              </m:fPr>
                              <m:num>
                                <m:r>
                                  <m:rPr>
                                    <m:sty m:val="p"/>
                                  </m:rPr>
                                  <a:rPr lang="en-GB" smtClean="0">
                                    <a:latin typeface="Cambria Math"/>
                                  </a:rPr>
                                  <m:t>t</m:t>
                                </m:r>
                              </m:num>
                              <m:den>
                                <m:sSub>
                                  <m:sSubPr>
                                    <m:ctrlPr>
                                      <a:rPr lang="en-GB" i="1" smtClean="0">
                                        <a:latin typeface="Cambria Math" panose="02040503050406030204" pitchFamily="18" charset="0"/>
                                      </a:rPr>
                                    </m:ctrlPr>
                                  </m:sSubPr>
                                  <m:e>
                                    <m:r>
                                      <m:rPr>
                                        <m:sty m:val="p"/>
                                      </m:rPr>
                                      <a:rPr lang="en-GB" smtClean="0">
                                        <a:latin typeface="Cambria Math"/>
                                      </a:rPr>
                                      <m:t>t</m:t>
                                    </m:r>
                                  </m:e>
                                  <m:sub>
                                    <m:r>
                                      <m:rPr>
                                        <m:sty m:val="p"/>
                                      </m:rPr>
                                      <a:rPr lang="en-GB" smtClean="0">
                                        <a:latin typeface="Cambria Math"/>
                                      </a:rPr>
                                      <m:t>f</m:t>
                                    </m:r>
                                  </m:sub>
                                </m:sSub>
                              </m:den>
                            </m:f>
                          </m:e>
                        </m:d>
                      </m:e>
                      <m:sup>
                        <m:r>
                          <a:rPr lang="en-GB" i="1" smtClean="0">
                            <a:latin typeface="Cambria Math"/>
                          </a:rPr>
                          <m:t>5</m:t>
                        </m:r>
                      </m:sup>
                    </m:sSup>
                  </m:oMath>
                </a14:m>
                <a:r>
                  <a:rPr lang="en-GB" dirty="0"/>
                  <a:t>	</a:t>
                </a:r>
              </a:p>
              <a:p>
                <a:pPr marL="0" indent="0">
                  <a:buNone/>
                </a:pPr>
                <a:endParaRPr lang="en-GB"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xfrm>
                <a:off x="280656" y="959667"/>
                <a:ext cx="8618415" cy="5514285"/>
              </a:xfrm>
              <a:blipFill>
                <a:blip r:embed="rId3"/>
                <a:stretch>
                  <a:fillRect l="-589" t="-460"/>
                </a:stretch>
              </a:blipFill>
            </p:spPr>
            <p:txBody>
              <a:bodyPr/>
              <a:lstStyle/>
              <a:p>
                <a:r>
                  <a:rPr lang="fr-FR">
                    <a:noFill/>
                  </a:rPr>
                  <a:t> </a:t>
                </a:r>
              </a:p>
            </p:txBody>
          </p:sp>
        </mc:Fallback>
      </mc:AlternateContent>
      <p:sp>
        <p:nvSpPr>
          <p:cNvPr id="6" name="Titre 2">
            <a:extLst>
              <a:ext uri="{FF2B5EF4-FFF2-40B4-BE49-F238E27FC236}">
                <a16:creationId xmlns:a16="http://schemas.microsoft.com/office/drawing/2014/main" id="{330589A8-264D-8145-9B0B-DB5A54EF4B45}"/>
              </a:ext>
            </a:extLst>
          </p:cNvPr>
          <p:cNvSpPr>
            <a:spLocks noGrp="1"/>
          </p:cNvSpPr>
          <p:nvPr>
            <p:ph type="title"/>
          </p:nvPr>
        </p:nvSpPr>
        <p:spPr>
          <a:xfrm>
            <a:off x="300790" y="0"/>
            <a:ext cx="8229600" cy="785812"/>
          </a:xfrm>
        </p:spPr>
        <p:txBody>
          <a:bodyPr/>
          <a:lstStyle/>
          <a:p>
            <a:r>
              <a:rPr lang="en-GB" dirty="0"/>
              <a:t>movement between 2 points in operational space
</a:t>
            </a:r>
          </a:p>
        </p:txBody>
      </p:sp>
    </p:spTree>
    <p:extLst>
      <p:ext uri="{BB962C8B-B14F-4D97-AF65-F5344CB8AC3E}">
        <p14:creationId xmlns:p14="http://schemas.microsoft.com/office/powerpoint/2010/main" val="2921993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
          </p:nvPr>
        </p:nvSpPr>
        <p:spPr/>
        <p:txBody>
          <a:bodyPr/>
          <a:lstStyle/>
          <a:p>
            <a:pPr marL="0" indent="0">
              <a:buNone/>
            </a:pPr>
            <a:r>
              <a:rPr lang="en-GB" b="1" dirty="0"/>
              <a:t>Benefits:</a:t>
            </a:r>
          </a:p>
          <a:p>
            <a:pPr lvl="1"/>
            <a:r>
              <a:rPr lang="en-GB" dirty="0"/>
              <a:t>Allows to control the geometry of the trajectory</a:t>
            </a:r>
          </a:p>
          <a:p>
            <a:pPr lvl="1"/>
            <a:endParaRPr lang="en-GB" dirty="0"/>
          </a:p>
          <a:p>
            <a:pPr marL="0" indent="0">
              <a:buNone/>
            </a:pPr>
            <a:r>
              <a:rPr lang="en-GB" b="1" dirty="0"/>
              <a:t>Disadvantage:</a:t>
            </a:r>
          </a:p>
          <a:p>
            <a:pPr lvl="1" algn="just"/>
            <a:r>
              <a:rPr lang="en-GB" dirty="0"/>
              <a:t>Transformation into joint coordinates of each point in the trajectory
Possibility of failure if passing through singular positions
Possibility to fail if the trajectory points are not in the robot's workspace</a:t>
            </a:r>
          </a:p>
          <a:p>
            <a:pPr lvl="1" algn="just"/>
            <a:r>
              <a:rPr lang="en-GB" dirty="0"/>
              <a:t>Speed and acceleration limits in the operational space vary depending on the robot configuration</a:t>
            </a:r>
          </a:p>
          <a:p>
            <a:endParaRPr lang="en-GB" dirty="0"/>
          </a:p>
        </p:txBody>
      </p:sp>
      <p:sp>
        <p:nvSpPr>
          <p:cNvPr id="6" name="Titre 2">
            <a:extLst>
              <a:ext uri="{FF2B5EF4-FFF2-40B4-BE49-F238E27FC236}">
                <a16:creationId xmlns:a16="http://schemas.microsoft.com/office/drawing/2014/main" id="{2F136207-2CF7-8B4B-8E7F-9085E414D172}"/>
              </a:ext>
            </a:extLst>
          </p:cNvPr>
          <p:cNvSpPr>
            <a:spLocks noGrp="1"/>
          </p:cNvSpPr>
          <p:nvPr>
            <p:ph type="title"/>
          </p:nvPr>
        </p:nvSpPr>
        <p:spPr>
          <a:xfrm>
            <a:off x="300790" y="0"/>
            <a:ext cx="8229600" cy="785812"/>
          </a:xfrm>
        </p:spPr>
        <p:txBody>
          <a:bodyPr/>
          <a:lstStyle/>
          <a:p>
            <a:r>
              <a:rPr lang="en-GB" dirty="0"/>
              <a:t>movement between 2 points in operational space
</a:t>
            </a:r>
          </a:p>
        </p:txBody>
      </p:sp>
    </p:spTree>
    <p:extLst>
      <p:ext uri="{BB962C8B-B14F-4D97-AF65-F5344CB8AC3E}">
        <p14:creationId xmlns:p14="http://schemas.microsoft.com/office/powerpoint/2010/main" val="30913271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sz="quarter" idx="1"/>
          </p:nvPr>
        </p:nvSpPr>
        <p:spPr/>
        <p:txBody>
          <a:bodyPr/>
          <a:lstStyle/>
          <a:p>
            <a:r>
              <a:rPr lang="en-GB" dirty="0">
                <a:solidFill>
                  <a:schemeClr val="bg1">
                    <a:lumMod val="75000"/>
                  </a:schemeClr>
                </a:solidFill>
              </a:rPr>
              <a:t>Motion planning</a:t>
            </a:r>
          </a:p>
          <a:p>
            <a:pPr lvl="1"/>
            <a:r>
              <a:rPr lang="en-GB" dirty="0">
                <a:solidFill>
                  <a:schemeClr val="bg1">
                    <a:lumMod val="75000"/>
                  </a:schemeClr>
                </a:solidFill>
              </a:rPr>
              <a:t>Joint space</a:t>
            </a:r>
          </a:p>
          <a:p>
            <a:pPr lvl="1"/>
            <a:r>
              <a:rPr lang="en-GB" dirty="0">
                <a:solidFill>
                  <a:schemeClr val="bg1">
                    <a:lumMod val="75000"/>
                  </a:schemeClr>
                </a:solidFill>
              </a:rPr>
              <a:t>Cartesian space</a:t>
            </a:r>
          </a:p>
          <a:p>
            <a:pPr marL="366713" lvl="1" indent="0">
              <a:buNone/>
            </a:pPr>
            <a:endParaRPr lang="en-GB" dirty="0"/>
          </a:p>
          <a:p>
            <a:r>
              <a:rPr lang="en-GB" dirty="0"/>
              <a:t>Motion control</a:t>
            </a:r>
          </a:p>
          <a:p>
            <a:pPr lvl="1"/>
            <a:r>
              <a:rPr lang="en-GB" dirty="0"/>
              <a:t>Pose control based only on kinematics</a:t>
            </a:r>
          </a:p>
          <a:p>
            <a:pPr lvl="1"/>
            <a:r>
              <a:rPr lang="en-GB" dirty="0"/>
              <a:t>Pose control based on dynamics (computed torque)</a:t>
            </a:r>
          </a:p>
          <a:p>
            <a:pPr marL="366713" lvl="1" indent="0">
              <a:buNone/>
            </a:pPr>
            <a:endParaRPr lang="en-GB" dirty="0"/>
          </a:p>
          <a:p>
            <a:r>
              <a:rPr lang="en-GB" dirty="0">
                <a:solidFill>
                  <a:schemeClr val="bg1">
                    <a:lumMod val="75000"/>
                  </a:schemeClr>
                </a:solidFill>
              </a:rPr>
              <a:t>Force control</a:t>
            </a:r>
          </a:p>
          <a:p>
            <a:pPr lvl="1"/>
            <a:r>
              <a:rPr lang="en-GB" dirty="0">
                <a:solidFill>
                  <a:schemeClr val="bg1">
                    <a:lumMod val="75000"/>
                  </a:schemeClr>
                </a:solidFill>
              </a:rPr>
              <a:t>Implicit force control</a:t>
            </a:r>
          </a:p>
          <a:p>
            <a:pPr lvl="1"/>
            <a:r>
              <a:rPr lang="en-GB" dirty="0">
                <a:solidFill>
                  <a:schemeClr val="bg1">
                    <a:lumMod val="75000"/>
                  </a:schemeClr>
                </a:solidFill>
              </a:rPr>
              <a:t>Explicit force control</a:t>
            </a:r>
          </a:p>
        </p:txBody>
      </p:sp>
      <p:sp>
        <p:nvSpPr>
          <p:cNvPr id="3" name="Titre 2"/>
          <p:cNvSpPr>
            <a:spLocks noGrp="1"/>
          </p:cNvSpPr>
          <p:nvPr>
            <p:ph type="title"/>
          </p:nvPr>
        </p:nvSpPr>
        <p:spPr/>
        <p:txBody>
          <a:bodyPr/>
          <a:lstStyle/>
          <a:p>
            <a:r>
              <a:rPr lang="en-GB" dirty="0"/>
              <a:t>outline</a:t>
            </a:r>
          </a:p>
        </p:txBody>
      </p:sp>
    </p:spTree>
    <p:extLst>
      <p:ext uri="{BB962C8B-B14F-4D97-AF65-F5344CB8AC3E}">
        <p14:creationId xmlns:p14="http://schemas.microsoft.com/office/powerpoint/2010/main" val="765273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pPr marL="0" indent="0">
                  <a:buNone/>
                </a:pPr>
                <a:r>
                  <a:rPr lang="en-GB" dirty="0"/>
                  <a:t>Direct kinematic model (DKM) :	 </a:t>
                </a:r>
                <a14:m>
                  <m:oMath xmlns:m="http://schemas.openxmlformats.org/officeDocument/2006/math">
                    <m:r>
                      <a:rPr lang="en-GB" b="1" i="1" smtClean="0">
                        <a:latin typeface="Cambria Math" panose="02040503050406030204" pitchFamily="18" charset="0"/>
                        <a:ea typeface="Cambria Math" panose="02040503050406030204" pitchFamily="18" charset="0"/>
                      </a:rPr>
                      <m:t>𝕩</m:t>
                    </m:r>
                    <m:r>
                      <a:rPr lang="en-GB" b="1" i="0" smtClean="0">
                        <a:latin typeface="Cambria Math"/>
                      </a:rPr>
                      <m:t>=</m:t>
                    </m:r>
                    <m:r>
                      <a:rPr lang="en-GB" b="1" i="1" smtClean="0">
                        <a:latin typeface="Cambria Math"/>
                      </a:rPr>
                      <m:t>𝒈</m:t>
                    </m:r>
                    <m:d>
                      <m:dPr>
                        <m:ctrlPr>
                          <a:rPr lang="en-GB" b="0" i="1" smtClean="0">
                            <a:latin typeface="Cambria Math" panose="02040503050406030204" pitchFamily="18" charset="0"/>
                          </a:rPr>
                        </m:ctrlPr>
                      </m:dPr>
                      <m:e>
                        <m:r>
                          <a:rPr lang="en-GB" b="1" i="0" smtClean="0">
                            <a:latin typeface="Cambria Math"/>
                          </a:rPr>
                          <m:t>𝐪</m:t>
                        </m:r>
                      </m:e>
                    </m:d>
                  </m:oMath>
                </a14:m>
                <a:endParaRPr lang="en-GB" i="1" dirty="0"/>
              </a:p>
              <a:p>
                <a:pPr marL="0" indent="0">
                  <a:buNone/>
                </a:pPr>
                <a:r>
                  <a:rPr lang="en-GB" dirty="0"/>
                  <a:t>Inverse kinematic model (IKM) :	</a:t>
                </a:r>
                <a:r>
                  <a:rPr lang="en-GB" i="1" dirty="0"/>
                  <a:t> </a:t>
                </a:r>
                <a14:m>
                  <m:oMath xmlns:m="http://schemas.openxmlformats.org/officeDocument/2006/math">
                    <m:r>
                      <a:rPr lang="en-GB" b="1" i="0" smtClean="0">
                        <a:latin typeface="Cambria Math"/>
                      </a:rPr>
                      <m:t>𝐪</m:t>
                    </m:r>
                    <m:r>
                      <a:rPr lang="en-GB" b="0" i="1" smtClean="0">
                        <a:latin typeface="Cambria Math"/>
                      </a:rPr>
                      <m:t>=</m:t>
                    </m:r>
                    <m:sSup>
                      <m:sSupPr>
                        <m:ctrlPr>
                          <a:rPr lang="en-GB" b="0" i="1" smtClean="0">
                            <a:latin typeface="Cambria Math" panose="02040503050406030204" pitchFamily="18" charset="0"/>
                          </a:rPr>
                        </m:ctrlPr>
                      </m:sSupPr>
                      <m:e>
                        <m:r>
                          <a:rPr lang="en-GB" b="1" i="1" smtClean="0">
                            <a:latin typeface="Cambria Math"/>
                          </a:rPr>
                          <m:t>𝒈</m:t>
                        </m:r>
                      </m:e>
                      <m:sup>
                        <m:r>
                          <a:rPr lang="en-GB" b="0" i="1" smtClean="0">
                            <a:latin typeface="Cambria Math"/>
                          </a:rPr>
                          <m:t>−1</m:t>
                        </m:r>
                      </m:sup>
                    </m:sSup>
                    <m:d>
                      <m:dPr>
                        <m:ctrlPr>
                          <a:rPr lang="en-GB" b="0" i="1" smtClean="0">
                            <a:latin typeface="Cambria Math" panose="02040503050406030204" pitchFamily="18" charset="0"/>
                          </a:rPr>
                        </m:ctrlPr>
                      </m:dPr>
                      <m:e>
                        <m:r>
                          <a:rPr lang="en-GB" b="1" i="1" smtClean="0">
                            <a:latin typeface="Cambria Math" panose="02040503050406030204" pitchFamily="18" charset="0"/>
                            <a:ea typeface="Cambria Math" panose="02040503050406030204" pitchFamily="18" charset="0"/>
                          </a:rPr>
                          <m:t>𝕩</m:t>
                        </m:r>
                      </m:e>
                    </m:d>
                  </m:oMath>
                </a14:m>
                <a:endParaRPr lang="en-GB" i="1" dirty="0"/>
              </a:p>
              <a:p>
                <a:pPr marL="0" indent="0">
                  <a:buNone/>
                </a:pPr>
                <a:endParaRPr lang="en-GB" dirty="0"/>
              </a:p>
              <a:p>
                <a:pPr marL="0" indent="0">
                  <a:buNone/>
                </a:pPr>
                <a:r>
                  <a:rPr lang="en-GB" dirty="0"/>
                  <a:t> </a:t>
                </a:r>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a:blip r:embed="rId3"/>
                <a:stretch>
                  <a:fillRect l="-608"/>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en-GB" dirty="0"/>
              <a:t>Kinematic models (direct and inverse)</a:t>
            </a:r>
          </a:p>
        </p:txBody>
      </p:sp>
      <p:sp>
        <p:nvSpPr>
          <p:cNvPr id="4" name="ZoneTexte 3"/>
          <p:cNvSpPr txBox="1"/>
          <p:nvPr/>
        </p:nvSpPr>
        <p:spPr>
          <a:xfrm>
            <a:off x="1822851" y="1394303"/>
            <a:ext cx="1908000" cy="369332"/>
          </a:xfrm>
          <a:prstGeom prst="rect">
            <a:avLst/>
          </a:prstGeom>
          <a:noFill/>
        </p:spPr>
        <p:txBody>
          <a:bodyPr wrap="square" rtlCol="0">
            <a:spAutoFit/>
          </a:bodyPr>
          <a:lstStyle/>
          <a:p>
            <a:r>
              <a:rPr lang="en-GB" dirty="0">
                <a:solidFill>
                  <a:srgbClr val="FF0000"/>
                </a:solidFill>
                <a:latin typeface="+mn-lt"/>
              </a:rPr>
              <a:t>Joint space</a:t>
            </a:r>
          </a:p>
        </p:txBody>
      </p:sp>
      <p:pic>
        <p:nvPicPr>
          <p:cNvPr id="5" name="Image 4"/>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177201" y="1728434"/>
            <a:ext cx="6073499" cy="2362232"/>
          </a:xfrm>
          <a:prstGeom prst="rect">
            <a:avLst/>
          </a:prstGeom>
        </p:spPr>
      </p:pic>
      <p:sp>
        <p:nvSpPr>
          <p:cNvPr id="6" name="Ellipse 5"/>
          <p:cNvSpPr/>
          <p:nvPr/>
        </p:nvSpPr>
        <p:spPr>
          <a:xfrm>
            <a:off x="5551199" y="2438949"/>
            <a:ext cx="1065601" cy="678651"/>
          </a:xfrm>
          <a:prstGeom prst="ellipse">
            <a:avLst/>
          </a:prstGeom>
          <a:noFill/>
          <a:ln w="38100">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p:cNvSpPr txBox="1"/>
          <p:nvPr/>
        </p:nvSpPr>
        <p:spPr>
          <a:xfrm>
            <a:off x="5413151" y="1544893"/>
            <a:ext cx="2200275" cy="369332"/>
          </a:xfrm>
          <a:prstGeom prst="rect">
            <a:avLst/>
          </a:prstGeom>
          <a:noFill/>
        </p:spPr>
        <p:txBody>
          <a:bodyPr wrap="square" rtlCol="0">
            <a:spAutoFit/>
          </a:bodyPr>
          <a:lstStyle/>
          <a:p>
            <a:r>
              <a:rPr lang="en-GB" dirty="0">
                <a:solidFill>
                  <a:srgbClr val="003399"/>
                </a:solidFill>
                <a:latin typeface="+mn-lt"/>
              </a:rPr>
              <a:t>Operational </a:t>
            </a:r>
            <a:r>
              <a:rPr lang="en-GB" dirty="0">
                <a:solidFill>
                  <a:srgbClr val="003399"/>
                </a:solidFill>
              </a:rPr>
              <a:t>space </a:t>
            </a:r>
            <a:endParaRPr lang="en-GB" dirty="0">
              <a:solidFill>
                <a:srgbClr val="003399"/>
              </a:solidFill>
              <a:latin typeface="+mn-lt"/>
            </a:endParaRPr>
          </a:p>
        </p:txBody>
      </p:sp>
      <mc:AlternateContent xmlns:mc="http://schemas.openxmlformats.org/markup-compatibility/2006" xmlns:a14="http://schemas.microsoft.com/office/drawing/2010/main">
        <mc:Choice Requires="a14">
          <p:sp>
            <p:nvSpPr>
              <p:cNvPr id="8" name="ZoneTexte 7"/>
              <p:cNvSpPr txBox="1"/>
              <p:nvPr/>
            </p:nvSpPr>
            <p:spPr>
              <a:xfrm>
                <a:off x="2074333" y="3639744"/>
                <a:ext cx="381600"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200" b="0" i="1" dirty="0" smtClean="0">
                              <a:solidFill>
                                <a:srgbClr val="003399"/>
                              </a:solidFill>
                              <a:latin typeface="Cambria Math" panose="02040503050406030204" pitchFamily="18" charset="0"/>
                            </a:rPr>
                          </m:ctrlPr>
                        </m:sSubPr>
                        <m:e>
                          <m:r>
                            <a:rPr lang="fr-FR" sz="1200" b="0" i="1" dirty="0" smtClean="0">
                              <a:solidFill>
                                <a:srgbClr val="003399"/>
                              </a:solidFill>
                              <a:latin typeface="Cambria Math"/>
                            </a:rPr>
                            <m:t>𝑥</m:t>
                          </m:r>
                        </m:e>
                        <m:sub>
                          <m:r>
                            <a:rPr lang="fr-FR" sz="1200" b="0" i="1" dirty="0" smtClean="0">
                              <a:solidFill>
                                <a:srgbClr val="003399"/>
                              </a:solidFill>
                              <a:latin typeface="Cambria Math"/>
                            </a:rPr>
                            <m:t>0</m:t>
                          </m:r>
                        </m:sub>
                      </m:sSub>
                    </m:oMath>
                  </m:oMathPara>
                </a14:m>
                <a:endParaRPr lang="fr-FR" sz="1200" dirty="0">
                  <a:solidFill>
                    <a:srgbClr val="FF0000"/>
                  </a:solidFill>
                  <a:latin typeface="+mn-lt"/>
                </a:endParaRPr>
              </a:p>
            </p:txBody>
          </p:sp>
        </mc:Choice>
        <mc:Fallback xmlns="">
          <p:sp>
            <p:nvSpPr>
              <p:cNvPr id="8" name="ZoneTexte 7"/>
              <p:cNvSpPr txBox="1">
                <a:spLocks noRot="1" noChangeAspect="1" noMove="1" noResize="1" noEditPoints="1" noAdjustHandles="1" noChangeArrowheads="1" noChangeShapeType="1" noTextEdit="1"/>
              </p:cNvSpPr>
              <p:nvPr/>
            </p:nvSpPr>
            <p:spPr>
              <a:xfrm>
                <a:off x="2074333" y="3639744"/>
                <a:ext cx="381600" cy="276999"/>
              </a:xfrm>
              <a:prstGeom prst="rect">
                <a:avLst/>
              </a:prstGeom>
              <a:blipFill rotWithShape="1">
                <a:blip r:embed="rId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9" name="ZoneTexte 8"/>
              <p:cNvSpPr txBox="1"/>
              <p:nvPr/>
            </p:nvSpPr>
            <p:spPr>
              <a:xfrm>
                <a:off x="6163200" y="2593608"/>
                <a:ext cx="4536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0" i="1" dirty="0" smtClean="0">
                          <a:solidFill>
                            <a:srgbClr val="003399"/>
                          </a:solidFill>
                          <a:latin typeface="Cambria Math"/>
                        </a:rPr>
                        <m:t>𝑃</m:t>
                      </m:r>
                    </m:oMath>
                  </m:oMathPara>
                </a14:m>
                <a:endParaRPr lang="fr-FR" dirty="0">
                  <a:solidFill>
                    <a:srgbClr val="003399"/>
                  </a:solidFill>
                  <a:latin typeface="+mn-lt"/>
                </a:endParaRPr>
              </a:p>
            </p:txBody>
          </p:sp>
        </mc:Choice>
        <mc:Fallback xmlns="">
          <p:sp>
            <p:nvSpPr>
              <p:cNvPr id="9" name="ZoneTexte 8"/>
              <p:cNvSpPr txBox="1">
                <a:spLocks noRot="1" noChangeAspect="1" noMove="1" noResize="1" noEditPoints="1" noAdjustHandles="1" noChangeArrowheads="1" noChangeShapeType="1" noTextEdit="1"/>
              </p:cNvSpPr>
              <p:nvPr/>
            </p:nvSpPr>
            <p:spPr>
              <a:xfrm>
                <a:off x="6163200" y="2593608"/>
                <a:ext cx="453600" cy="369332"/>
              </a:xfrm>
              <a:prstGeom prst="rect">
                <a:avLst/>
              </a:prstGeom>
              <a:blipFill rotWithShape="1">
                <a:blip r:embed="rId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0" name="ZoneTexte 9"/>
              <p:cNvSpPr txBox="1"/>
              <p:nvPr/>
            </p:nvSpPr>
            <p:spPr>
              <a:xfrm>
                <a:off x="2926582" y="3438554"/>
                <a:ext cx="378301"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200" b="0" i="1" dirty="0" smtClean="0">
                              <a:solidFill>
                                <a:srgbClr val="003399"/>
                              </a:solidFill>
                              <a:latin typeface="Cambria Math" panose="02040503050406030204" pitchFamily="18" charset="0"/>
                            </a:rPr>
                          </m:ctrlPr>
                        </m:sSubPr>
                        <m:e>
                          <m:r>
                            <a:rPr lang="fr-FR" sz="1200" b="0" i="1" dirty="0" smtClean="0">
                              <a:solidFill>
                                <a:srgbClr val="003399"/>
                              </a:solidFill>
                              <a:latin typeface="Cambria Math"/>
                            </a:rPr>
                            <m:t>𝑦</m:t>
                          </m:r>
                        </m:e>
                        <m:sub>
                          <m:r>
                            <a:rPr lang="fr-FR" sz="1200" b="0" i="1" dirty="0" smtClean="0">
                              <a:solidFill>
                                <a:srgbClr val="003399"/>
                              </a:solidFill>
                              <a:latin typeface="Cambria Math"/>
                            </a:rPr>
                            <m:t>0</m:t>
                          </m:r>
                        </m:sub>
                      </m:sSub>
                    </m:oMath>
                  </m:oMathPara>
                </a14:m>
                <a:endParaRPr lang="fr-FR" sz="1200" dirty="0">
                  <a:solidFill>
                    <a:srgbClr val="003399"/>
                  </a:solidFill>
                  <a:latin typeface="+mn-lt"/>
                </a:endParaRPr>
              </a:p>
            </p:txBody>
          </p:sp>
        </mc:Choice>
        <mc:Fallback xmlns="">
          <p:sp>
            <p:nvSpPr>
              <p:cNvPr id="10" name="ZoneTexte 9"/>
              <p:cNvSpPr txBox="1">
                <a:spLocks noRot="1" noChangeAspect="1" noMove="1" noResize="1" noEditPoints="1" noAdjustHandles="1" noChangeArrowheads="1" noChangeShapeType="1" noTextEdit="1"/>
              </p:cNvSpPr>
              <p:nvPr/>
            </p:nvSpPr>
            <p:spPr>
              <a:xfrm>
                <a:off x="2926582" y="3438554"/>
                <a:ext cx="378301" cy="276999"/>
              </a:xfrm>
              <a:prstGeom prst="rect">
                <a:avLst/>
              </a:prstGeom>
              <a:blipFill rotWithShape="1">
                <a:blip r:embed="rId7"/>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 name="ZoneTexte 10"/>
              <p:cNvSpPr txBox="1"/>
              <p:nvPr/>
            </p:nvSpPr>
            <p:spPr>
              <a:xfrm>
                <a:off x="1177201" y="3368640"/>
                <a:ext cx="381600"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200" b="0" i="1" dirty="0" smtClean="0">
                              <a:solidFill>
                                <a:schemeClr val="bg1"/>
                              </a:solidFill>
                              <a:latin typeface="Cambria Math" panose="02040503050406030204" pitchFamily="18" charset="0"/>
                            </a:rPr>
                          </m:ctrlPr>
                        </m:sSubPr>
                        <m:e>
                          <m:r>
                            <a:rPr lang="fr-FR" sz="1200" b="0" i="1" dirty="0" smtClean="0">
                              <a:solidFill>
                                <a:schemeClr val="bg1"/>
                              </a:solidFill>
                              <a:latin typeface="Cambria Math"/>
                            </a:rPr>
                            <m:t>𝑧</m:t>
                          </m:r>
                        </m:e>
                        <m:sub>
                          <m:r>
                            <a:rPr lang="fr-FR" sz="1200" b="0" i="1" dirty="0" smtClean="0">
                              <a:solidFill>
                                <a:schemeClr val="bg1"/>
                              </a:solidFill>
                              <a:latin typeface="Cambria Math"/>
                            </a:rPr>
                            <m:t>0</m:t>
                          </m:r>
                        </m:sub>
                      </m:sSub>
                    </m:oMath>
                  </m:oMathPara>
                </a14:m>
                <a:endParaRPr lang="fr-FR" sz="1200" dirty="0">
                  <a:solidFill>
                    <a:srgbClr val="FF0000"/>
                  </a:solidFill>
                  <a:latin typeface="+mn-lt"/>
                </a:endParaRPr>
              </a:p>
            </p:txBody>
          </p:sp>
        </mc:Choice>
        <mc:Fallback xmlns="">
          <p:sp>
            <p:nvSpPr>
              <p:cNvPr id="11" name="ZoneTexte 10"/>
              <p:cNvSpPr txBox="1">
                <a:spLocks noRot="1" noChangeAspect="1" noMove="1" noResize="1" noEditPoints="1" noAdjustHandles="1" noChangeArrowheads="1" noChangeShapeType="1" noTextEdit="1"/>
              </p:cNvSpPr>
              <p:nvPr/>
            </p:nvSpPr>
            <p:spPr>
              <a:xfrm>
                <a:off x="1177201" y="3368640"/>
                <a:ext cx="381600" cy="276999"/>
              </a:xfrm>
              <a:prstGeom prst="rect">
                <a:avLst/>
              </a:prstGeom>
              <a:blipFill rotWithShape="1">
                <a:blip r:embed="rId8"/>
                <a:stretch>
                  <a:fillRect/>
                </a:stretch>
              </a:blipFill>
            </p:spPr>
            <p:txBody>
              <a:bodyPr/>
              <a:lstStyle/>
              <a:p>
                <a:r>
                  <a:rPr lang="fr-FR">
                    <a:noFill/>
                  </a:rPr>
                  <a:t> </a:t>
                </a:r>
              </a:p>
            </p:txBody>
          </p:sp>
        </mc:Fallback>
      </mc:AlternateContent>
      <p:sp>
        <p:nvSpPr>
          <p:cNvPr id="12" name="Ellipse 11"/>
          <p:cNvSpPr/>
          <p:nvPr/>
        </p:nvSpPr>
        <p:spPr>
          <a:xfrm>
            <a:off x="6003925" y="2700000"/>
            <a:ext cx="219075" cy="209550"/>
          </a:xfrm>
          <a:prstGeom prst="ellipse">
            <a:avLst/>
          </a:prstGeom>
          <a:solidFill>
            <a:srgbClr val="003399"/>
          </a:solidFill>
          <a:ln>
            <a:solidFill>
              <a:srgbClr val="00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3" name="Connecteur droit avec flèche 12"/>
          <p:cNvCxnSpPr/>
          <p:nvPr/>
        </p:nvCxnSpPr>
        <p:spPr>
          <a:xfrm>
            <a:off x="2498951" y="3458633"/>
            <a:ext cx="578682" cy="0"/>
          </a:xfrm>
          <a:prstGeom prst="straightConnector1">
            <a:avLst/>
          </a:prstGeom>
          <a:ln w="28575">
            <a:solidFill>
              <a:srgbClr val="003399"/>
            </a:solidFill>
            <a:tailEnd type="arrow"/>
          </a:ln>
        </p:spPr>
        <p:style>
          <a:lnRef idx="1">
            <a:schemeClr val="accent1"/>
          </a:lnRef>
          <a:fillRef idx="0">
            <a:schemeClr val="accent1"/>
          </a:fillRef>
          <a:effectRef idx="0">
            <a:schemeClr val="accent1"/>
          </a:effectRef>
          <a:fontRef idx="minor">
            <a:schemeClr val="tx1"/>
          </a:fontRef>
        </p:style>
      </p:cxnSp>
      <p:cxnSp>
        <p:nvCxnSpPr>
          <p:cNvPr id="14" name="Connecteur droit avec flèche 13"/>
          <p:cNvCxnSpPr/>
          <p:nvPr/>
        </p:nvCxnSpPr>
        <p:spPr>
          <a:xfrm flipV="1">
            <a:off x="2503184" y="2958707"/>
            <a:ext cx="0" cy="495693"/>
          </a:xfrm>
          <a:prstGeom prst="straightConnector1">
            <a:avLst/>
          </a:prstGeom>
          <a:ln w="28575">
            <a:solidFill>
              <a:srgbClr val="003399"/>
            </a:solidFill>
            <a:tailEnd type="arrow"/>
          </a:ln>
        </p:spPr>
        <p:style>
          <a:lnRef idx="1">
            <a:schemeClr val="accent1"/>
          </a:lnRef>
          <a:fillRef idx="0">
            <a:schemeClr val="accent1"/>
          </a:fillRef>
          <a:effectRef idx="0">
            <a:schemeClr val="accent1"/>
          </a:effectRef>
          <a:fontRef idx="minor">
            <a:schemeClr val="tx1"/>
          </a:fontRef>
        </p:style>
      </p:cxnSp>
      <p:cxnSp>
        <p:nvCxnSpPr>
          <p:cNvPr id="15" name="Connecteur droit avec flèche 14"/>
          <p:cNvCxnSpPr/>
          <p:nvPr/>
        </p:nvCxnSpPr>
        <p:spPr>
          <a:xfrm flipH="1">
            <a:off x="2077092" y="3459691"/>
            <a:ext cx="428852" cy="287867"/>
          </a:xfrm>
          <a:prstGeom prst="straightConnector1">
            <a:avLst/>
          </a:prstGeom>
          <a:ln w="28575">
            <a:solidFill>
              <a:srgbClr val="003399"/>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ZoneTexte 15"/>
              <p:cNvSpPr txBox="1"/>
              <p:nvPr/>
            </p:nvSpPr>
            <p:spPr>
              <a:xfrm>
                <a:off x="2455933" y="2850204"/>
                <a:ext cx="378301"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200" b="0" i="1" dirty="0" smtClean="0">
                              <a:solidFill>
                                <a:srgbClr val="003399"/>
                              </a:solidFill>
                              <a:latin typeface="Cambria Math" panose="02040503050406030204" pitchFamily="18" charset="0"/>
                            </a:rPr>
                          </m:ctrlPr>
                        </m:sSubPr>
                        <m:e>
                          <m:r>
                            <a:rPr lang="fr-FR" sz="1200" b="0" i="1" dirty="0" smtClean="0">
                              <a:solidFill>
                                <a:srgbClr val="003399"/>
                              </a:solidFill>
                              <a:latin typeface="Cambria Math"/>
                            </a:rPr>
                            <m:t>𝑧</m:t>
                          </m:r>
                        </m:e>
                        <m:sub>
                          <m:r>
                            <a:rPr lang="fr-FR" sz="1200" b="0" i="1" dirty="0" smtClean="0">
                              <a:solidFill>
                                <a:srgbClr val="003399"/>
                              </a:solidFill>
                              <a:latin typeface="Cambria Math"/>
                            </a:rPr>
                            <m:t>0</m:t>
                          </m:r>
                        </m:sub>
                      </m:sSub>
                    </m:oMath>
                  </m:oMathPara>
                </a14:m>
                <a:endParaRPr lang="fr-FR" sz="1200" dirty="0">
                  <a:solidFill>
                    <a:srgbClr val="003399"/>
                  </a:solidFill>
                  <a:latin typeface="+mn-lt"/>
                </a:endParaRPr>
              </a:p>
            </p:txBody>
          </p:sp>
        </mc:Choice>
        <mc:Fallback xmlns="">
          <p:sp>
            <p:nvSpPr>
              <p:cNvPr id="16" name="ZoneTexte 15"/>
              <p:cNvSpPr txBox="1">
                <a:spLocks noRot="1" noChangeAspect="1" noMove="1" noResize="1" noEditPoints="1" noAdjustHandles="1" noChangeArrowheads="1" noChangeShapeType="1" noTextEdit="1"/>
              </p:cNvSpPr>
              <p:nvPr/>
            </p:nvSpPr>
            <p:spPr>
              <a:xfrm>
                <a:off x="2455933" y="2850204"/>
                <a:ext cx="378301" cy="276999"/>
              </a:xfrm>
              <a:prstGeom prst="rect">
                <a:avLst/>
              </a:prstGeom>
              <a:blipFill rotWithShape="1">
                <a:blip r:embed="rId9"/>
                <a:stretch>
                  <a:fillRect/>
                </a:stretch>
              </a:blipFill>
            </p:spPr>
            <p:txBody>
              <a:bodyPr/>
              <a:lstStyle/>
              <a:p>
                <a:r>
                  <a:rPr lang="fr-FR">
                    <a:noFill/>
                  </a:rPr>
                  <a:t> </a:t>
                </a:r>
              </a:p>
            </p:txBody>
          </p:sp>
        </mc:Fallback>
      </mc:AlternateContent>
      <p:sp>
        <p:nvSpPr>
          <p:cNvPr id="19" name="Arc 18"/>
          <p:cNvSpPr/>
          <p:nvPr/>
        </p:nvSpPr>
        <p:spPr>
          <a:xfrm>
            <a:off x="3594100" y="2298608"/>
            <a:ext cx="2200275" cy="479666"/>
          </a:xfrm>
          <a:prstGeom prst="arc">
            <a:avLst>
              <a:gd name="adj1" fmla="val 12189506"/>
              <a:gd name="adj2" fmla="val 21359625"/>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20" name="ZoneTexte 19"/>
          <p:cNvSpPr txBox="1"/>
          <p:nvPr/>
        </p:nvSpPr>
        <p:spPr>
          <a:xfrm>
            <a:off x="5172075" y="3378226"/>
            <a:ext cx="831850" cy="369332"/>
          </a:xfrm>
          <a:prstGeom prst="rect">
            <a:avLst/>
          </a:prstGeom>
          <a:noFill/>
        </p:spPr>
        <p:txBody>
          <a:bodyPr wrap="square" rtlCol="0">
            <a:spAutoFit/>
          </a:bodyPr>
          <a:lstStyle/>
          <a:p>
            <a:r>
              <a:rPr lang="fr-FR" dirty="0">
                <a:latin typeface="+mn-lt"/>
              </a:rPr>
              <a:t>IKM</a:t>
            </a:r>
          </a:p>
        </p:txBody>
      </p:sp>
      <p:sp>
        <p:nvSpPr>
          <p:cNvPr id="21" name="Arc 20"/>
          <p:cNvSpPr/>
          <p:nvPr/>
        </p:nvSpPr>
        <p:spPr>
          <a:xfrm>
            <a:off x="3141131" y="2574559"/>
            <a:ext cx="2968267" cy="900972"/>
          </a:xfrm>
          <a:prstGeom prst="arc">
            <a:avLst>
              <a:gd name="adj1" fmla="val 336735"/>
              <a:gd name="adj2" fmla="val 7943327"/>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22" name="ZoneTexte 21"/>
          <p:cNvSpPr txBox="1"/>
          <p:nvPr/>
        </p:nvSpPr>
        <p:spPr>
          <a:xfrm>
            <a:off x="4635500" y="1977850"/>
            <a:ext cx="831850" cy="369332"/>
          </a:xfrm>
          <a:prstGeom prst="rect">
            <a:avLst/>
          </a:prstGeom>
          <a:noFill/>
        </p:spPr>
        <p:txBody>
          <a:bodyPr wrap="square" rtlCol="0">
            <a:spAutoFit/>
          </a:bodyPr>
          <a:lstStyle/>
          <a:p>
            <a:r>
              <a:rPr lang="fr-FR" dirty="0">
                <a:latin typeface="+mn-lt"/>
              </a:rPr>
              <a:t>DKM</a:t>
            </a:r>
          </a:p>
        </p:txBody>
      </p:sp>
    </p:spTree>
    <p:extLst>
      <p:ext uri="{BB962C8B-B14F-4D97-AF65-F5344CB8AC3E}">
        <p14:creationId xmlns:p14="http://schemas.microsoft.com/office/powerpoint/2010/main" val="22017843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en-GB" dirty="0"/>
              <a:t>Differential kinematic models (direct and inverse)</a:t>
            </a:r>
          </a:p>
        </p:txBody>
      </p:sp>
      <mc:AlternateContent xmlns:mc="http://schemas.openxmlformats.org/markup-compatibility/2006" xmlns:a14="http://schemas.microsoft.com/office/drawing/2010/main">
        <mc:Choice Requires="a14">
          <p:sp>
            <p:nvSpPr>
              <p:cNvPr id="5" name="Espace réservé du contenu 4"/>
              <p:cNvSpPr>
                <a:spLocks noGrp="1"/>
              </p:cNvSpPr>
              <p:nvPr>
                <p:ph sz="quarter" idx="1"/>
              </p:nvPr>
            </p:nvSpPr>
            <p:spPr/>
            <p:txBody>
              <a:bodyPr/>
              <a:lstStyle/>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r>
                  <a:rPr lang="en-GB" dirty="0"/>
                  <a:t>Direct differential kinematic model (DDKM) : 		</a:t>
                </a:r>
                <a14:m>
                  <m:oMath xmlns:m="http://schemas.openxmlformats.org/officeDocument/2006/math">
                    <m:acc>
                      <m:accPr>
                        <m:chr m:val="̇"/>
                        <m:ctrlPr>
                          <a:rPr lang="en-GB" i="1" smtClean="0">
                            <a:latin typeface="Cambria Math" panose="02040503050406030204" pitchFamily="18" charset="0"/>
                          </a:rPr>
                        </m:ctrlPr>
                      </m:accPr>
                      <m:e>
                        <m:r>
                          <a:rPr lang="en-GB" b="1" i="1">
                            <a:latin typeface="Cambria Math" panose="02040503050406030204" pitchFamily="18" charset="0"/>
                            <a:ea typeface="Cambria Math" panose="02040503050406030204" pitchFamily="18" charset="0"/>
                          </a:rPr>
                          <m:t>𝕩</m:t>
                        </m:r>
                      </m:e>
                    </m:acc>
                    <m:r>
                      <a:rPr lang="en-GB" i="1" smtClean="0">
                        <a:latin typeface="Cambria Math"/>
                      </a:rPr>
                      <m:t>=</m:t>
                    </m:r>
                    <m:r>
                      <a:rPr lang="en-GB" b="1" smtClean="0">
                        <a:latin typeface="Cambria Math"/>
                      </a:rPr>
                      <m:t>𝐉</m:t>
                    </m:r>
                    <m:d>
                      <m:dPr>
                        <m:ctrlPr>
                          <a:rPr lang="en-GB" i="1" smtClean="0">
                            <a:latin typeface="Cambria Math" panose="02040503050406030204" pitchFamily="18" charset="0"/>
                          </a:rPr>
                        </m:ctrlPr>
                      </m:dPr>
                      <m:e>
                        <m:r>
                          <a:rPr lang="en-GB" b="1" smtClean="0">
                            <a:latin typeface="Cambria Math"/>
                          </a:rPr>
                          <m:t>𝐪</m:t>
                        </m:r>
                      </m:e>
                    </m:d>
                    <m:acc>
                      <m:accPr>
                        <m:chr m:val="̇"/>
                        <m:ctrlPr>
                          <a:rPr lang="en-GB" i="1" smtClean="0">
                            <a:latin typeface="Cambria Math" panose="02040503050406030204" pitchFamily="18" charset="0"/>
                          </a:rPr>
                        </m:ctrlPr>
                      </m:accPr>
                      <m:e>
                        <m:r>
                          <a:rPr lang="en-GB" b="1" smtClean="0">
                            <a:latin typeface="Cambria Math"/>
                          </a:rPr>
                          <m:t> </m:t>
                        </m:r>
                        <m:r>
                          <a:rPr lang="en-GB" b="1" smtClean="0">
                            <a:latin typeface="Cambria Math"/>
                          </a:rPr>
                          <m:t>𝐪</m:t>
                        </m:r>
                      </m:e>
                    </m:acc>
                  </m:oMath>
                </a14:m>
                <a:endParaRPr lang="en-GB" dirty="0"/>
              </a:p>
              <a:p>
                <a:pPr marL="0" indent="0">
                  <a:buNone/>
                </a:pPr>
                <a14:m>
                  <m:oMath xmlns:m="http://schemas.openxmlformats.org/officeDocument/2006/math">
                    <m:r>
                      <a:rPr lang="en-GB" b="1" smtClean="0">
                        <a:latin typeface="Cambria Math"/>
                      </a:rPr>
                      <m:t>𝐉</m:t>
                    </m:r>
                    <m:r>
                      <a:rPr lang="en-GB" i="1" smtClean="0">
                        <a:latin typeface="Cambria Math"/>
                      </a:rPr>
                      <m:t>:</m:t>
                    </m:r>
                    <m:r>
                      <m:rPr>
                        <m:sty m:val="p"/>
                      </m:rPr>
                      <a:rPr lang="fr-FR" b="0" i="0" smtClean="0">
                        <a:latin typeface="Cambria Math" panose="02040503050406030204" pitchFamily="18" charset="0"/>
                      </a:rPr>
                      <m:t>J</m:t>
                    </m:r>
                  </m:oMath>
                </a14:m>
                <a:r>
                  <a:rPr lang="en-GB" dirty="0"/>
                  <a:t>acobian matrix of the robot of dimension </a:t>
                </a:r>
                <a14:m>
                  <m:oMath xmlns:m="http://schemas.openxmlformats.org/officeDocument/2006/math">
                    <m:r>
                      <m:rPr>
                        <m:sty m:val="p"/>
                      </m:rPr>
                      <a:rPr lang="en-GB" b="0" i="0" smtClean="0">
                        <a:latin typeface="Cambria Math"/>
                      </a:rPr>
                      <m:t>m</m:t>
                    </m:r>
                    <m:r>
                      <a:rPr lang="en-GB" i="1" smtClean="0">
                        <a:latin typeface="Cambria Math"/>
                        <a:ea typeface="Cambria Math"/>
                      </a:rPr>
                      <m:t>×</m:t>
                    </m:r>
                    <m:r>
                      <m:rPr>
                        <m:sty m:val="p"/>
                      </m:rPr>
                      <a:rPr lang="en-GB" b="0" i="0" smtClean="0">
                        <a:latin typeface="Cambria Math"/>
                        <a:ea typeface="Cambria Math"/>
                      </a:rPr>
                      <m:t>n</m:t>
                    </m:r>
                  </m:oMath>
                </a14:m>
                <a:endParaRPr lang="en-GB" dirty="0"/>
              </a:p>
              <a:p>
                <a:pPr marL="0" indent="0">
                  <a:buNone/>
                </a:pPr>
                <a:endParaRPr lang="en-GB" dirty="0"/>
              </a:p>
              <a:p>
                <a:pPr marL="0" indent="0">
                  <a:buNone/>
                </a:pPr>
                <a:r>
                  <a:rPr lang="en-GB" dirty="0"/>
                  <a:t>Inverse differential kinematic model (IDKM) :		</a:t>
                </a:r>
                <a14:m>
                  <m:oMath xmlns:m="http://schemas.openxmlformats.org/officeDocument/2006/math">
                    <m:acc>
                      <m:accPr>
                        <m:chr m:val="̇"/>
                        <m:ctrlPr>
                          <a:rPr lang="en-GB" i="1" smtClean="0">
                            <a:latin typeface="Cambria Math" panose="02040503050406030204" pitchFamily="18" charset="0"/>
                          </a:rPr>
                        </m:ctrlPr>
                      </m:accPr>
                      <m:e>
                        <m:r>
                          <a:rPr lang="en-GB" b="1" smtClean="0">
                            <a:latin typeface="Cambria Math"/>
                          </a:rPr>
                          <m:t>𝐪</m:t>
                        </m:r>
                      </m:e>
                    </m:acc>
                    <m:r>
                      <a:rPr lang="en-GB" i="1" smtClean="0">
                        <a:latin typeface="Cambria Math"/>
                      </a:rPr>
                      <m:t>=</m:t>
                    </m:r>
                    <m:sSup>
                      <m:sSupPr>
                        <m:ctrlPr>
                          <a:rPr lang="en-GB" i="1" smtClean="0">
                            <a:latin typeface="Cambria Math" panose="02040503050406030204" pitchFamily="18" charset="0"/>
                          </a:rPr>
                        </m:ctrlPr>
                      </m:sSupPr>
                      <m:e>
                        <m:r>
                          <a:rPr lang="en-GB" b="1" smtClean="0">
                            <a:latin typeface="Cambria Math"/>
                          </a:rPr>
                          <m:t>𝐉</m:t>
                        </m:r>
                      </m:e>
                      <m:sup>
                        <m:r>
                          <a:rPr lang="en-GB" i="1" smtClean="0">
                            <a:latin typeface="Cambria Math"/>
                          </a:rPr>
                          <m:t>#</m:t>
                        </m:r>
                      </m:sup>
                    </m:sSup>
                    <m:d>
                      <m:dPr>
                        <m:ctrlPr>
                          <a:rPr lang="en-GB" i="1" smtClean="0">
                            <a:latin typeface="Cambria Math" panose="02040503050406030204" pitchFamily="18" charset="0"/>
                          </a:rPr>
                        </m:ctrlPr>
                      </m:dPr>
                      <m:e>
                        <m:r>
                          <a:rPr lang="en-GB" b="1" smtClean="0">
                            <a:latin typeface="Cambria Math"/>
                          </a:rPr>
                          <m:t>𝐪</m:t>
                        </m:r>
                      </m:e>
                    </m:d>
                    <m:r>
                      <a:rPr lang="en-GB" i="1" smtClean="0">
                        <a:latin typeface="Cambria Math"/>
                      </a:rPr>
                      <m:t> </m:t>
                    </m:r>
                    <m:acc>
                      <m:accPr>
                        <m:chr m:val="̇"/>
                        <m:ctrlPr>
                          <a:rPr lang="en-GB" i="1" smtClean="0">
                            <a:latin typeface="Cambria Math" panose="02040503050406030204" pitchFamily="18" charset="0"/>
                          </a:rPr>
                        </m:ctrlPr>
                      </m:accPr>
                      <m:e>
                        <m:r>
                          <a:rPr lang="en-GB" b="1" i="1">
                            <a:latin typeface="Cambria Math" panose="02040503050406030204" pitchFamily="18" charset="0"/>
                            <a:ea typeface="Cambria Math" panose="02040503050406030204" pitchFamily="18" charset="0"/>
                          </a:rPr>
                          <m:t>𝕩</m:t>
                        </m:r>
                      </m:e>
                    </m:acc>
                  </m:oMath>
                </a14:m>
                <a:endParaRPr lang="en-GB" b="1" i="1" dirty="0">
                  <a:latin typeface="Cambria Math"/>
                </a:endParaRPr>
              </a:p>
              <a:p>
                <a:pPr marL="0" indent="0">
                  <a:buNone/>
                </a:pPr>
                <a:r>
                  <a:rPr lang="en-GB" dirty="0"/>
                  <a:t>if </a:t>
                </a:r>
                <a14:m>
                  <m:oMath xmlns:m="http://schemas.openxmlformats.org/officeDocument/2006/math">
                    <m:r>
                      <m:rPr>
                        <m:sty m:val="p"/>
                      </m:rPr>
                      <a:rPr lang="en-GB" b="0" i="0" smtClean="0">
                        <a:latin typeface="Cambria Math"/>
                      </a:rPr>
                      <m:t>m</m:t>
                    </m:r>
                    <m:r>
                      <a:rPr lang="en-GB" b="0" i="0" smtClean="0">
                        <a:latin typeface="Cambria Math"/>
                      </a:rPr>
                      <m:t>=</m:t>
                    </m:r>
                    <m:r>
                      <m:rPr>
                        <m:sty m:val="p"/>
                      </m:rPr>
                      <a:rPr lang="en-GB" b="0" i="0" smtClean="0">
                        <a:latin typeface="Cambria Math"/>
                      </a:rPr>
                      <m:t>n</m:t>
                    </m:r>
                    <m:r>
                      <a:rPr lang="en-GB" b="0" i="0" smtClean="0">
                        <a:latin typeface="Cambria Math"/>
                      </a:rPr>
                      <m:t>⇒</m:t>
                    </m:r>
                    <m:sSup>
                      <m:sSupPr>
                        <m:ctrlPr>
                          <a:rPr lang="en-GB" i="1" smtClean="0">
                            <a:latin typeface="Cambria Math" panose="02040503050406030204" pitchFamily="18" charset="0"/>
                          </a:rPr>
                        </m:ctrlPr>
                      </m:sSupPr>
                      <m:e>
                        <m:r>
                          <a:rPr lang="en-GB" b="1" i="0" smtClean="0">
                            <a:latin typeface="Cambria Math"/>
                          </a:rPr>
                          <m:t>𝐉</m:t>
                        </m:r>
                      </m:e>
                      <m:sup>
                        <m:r>
                          <a:rPr lang="en-GB" b="0" i="1" smtClean="0">
                            <a:latin typeface="Cambria Math"/>
                          </a:rPr>
                          <m:t>#</m:t>
                        </m:r>
                      </m:sup>
                    </m:sSup>
                    <m:r>
                      <a:rPr lang="en-GB" b="0" i="1" smtClean="0">
                        <a:latin typeface="Cambria Math"/>
                      </a:rPr>
                      <m:t>=</m:t>
                    </m:r>
                    <m:sSup>
                      <m:sSupPr>
                        <m:ctrlPr>
                          <a:rPr lang="en-GB" b="0" i="1" smtClean="0">
                            <a:latin typeface="Cambria Math" panose="02040503050406030204" pitchFamily="18" charset="0"/>
                          </a:rPr>
                        </m:ctrlPr>
                      </m:sSupPr>
                      <m:e>
                        <m:r>
                          <a:rPr lang="en-GB" b="1" i="0" smtClean="0">
                            <a:latin typeface="Cambria Math"/>
                          </a:rPr>
                          <m:t>𝐉</m:t>
                        </m:r>
                      </m:e>
                      <m:sup>
                        <m:r>
                          <a:rPr lang="en-GB" b="0" i="1" smtClean="0">
                            <a:latin typeface="Cambria Math"/>
                          </a:rPr>
                          <m:t>−1</m:t>
                        </m:r>
                      </m:sup>
                    </m:sSup>
                  </m:oMath>
                </a14:m>
                <a:r>
                  <a:rPr lang="en-GB" dirty="0"/>
                  <a:t>	else </a:t>
                </a:r>
                <a14:m>
                  <m:oMath xmlns:m="http://schemas.openxmlformats.org/officeDocument/2006/math">
                    <m:sSup>
                      <m:sSupPr>
                        <m:ctrlPr>
                          <a:rPr lang="en-GB" i="1" smtClean="0">
                            <a:latin typeface="Cambria Math" panose="02040503050406030204" pitchFamily="18" charset="0"/>
                          </a:rPr>
                        </m:ctrlPr>
                      </m:sSupPr>
                      <m:e>
                        <m:r>
                          <a:rPr lang="en-GB" b="1" smtClean="0">
                            <a:latin typeface="Cambria Math"/>
                          </a:rPr>
                          <m:t>𝐉</m:t>
                        </m:r>
                      </m:e>
                      <m:sup>
                        <m:r>
                          <a:rPr lang="en-GB" i="1" smtClean="0">
                            <a:latin typeface="Cambria Math"/>
                          </a:rPr>
                          <m:t>#</m:t>
                        </m:r>
                      </m:sup>
                    </m:sSup>
                    <m:r>
                      <a:rPr lang="en-GB" i="1" smtClean="0">
                        <a:latin typeface="Cambria Math"/>
                      </a:rPr>
                      <m:t>=</m:t>
                    </m:r>
                    <m:sSup>
                      <m:sSupPr>
                        <m:ctrlPr>
                          <a:rPr lang="en-GB" i="1" smtClean="0">
                            <a:latin typeface="Cambria Math" panose="02040503050406030204" pitchFamily="18" charset="0"/>
                          </a:rPr>
                        </m:ctrlPr>
                      </m:sSupPr>
                      <m:e>
                        <m:r>
                          <a:rPr lang="en-GB" b="1" smtClean="0">
                            <a:latin typeface="Cambria Math"/>
                          </a:rPr>
                          <m:t>𝐉</m:t>
                        </m:r>
                      </m:e>
                      <m:sup>
                        <m:r>
                          <a:rPr lang="en-GB" b="0" i="1" smtClean="0">
                            <a:latin typeface="Cambria Math"/>
                          </a:rPr>
                          <m:t>+</m:t>
                        </m:r>
                      </m:sup>
                    </m:sSup>
                  </m:oMath>
                </a14:m>
                <a:r>
                  <a:rPr lang="en-GB" dirty="0"/>
                  <a:t> (Moore-Penrose inverse or pseudo-inverse)</a:t>
                </a:r>
              </a:p>
            </p:txBody>
          </p:sp>
        </mc:Choice>
        <mc:Fallback xmlns="">
          <p:sp>
            <p:nvSpPr>
              <p:cNvPr id="5" name="Espace réservé du contenu 4"/>
              <p:cNvSpPr>
                <a:spLocks noGrp="1" noRot="1" noChangeAspect="1" noMove="1" noResize="1" noEditPoints="1" noAdjustHandles="1" noChangeArrowheads="1" noChangeShapeType="1" noTextEdit="1"/>
              </p:cNvSpPr>
              <p:nvPr>
                <p:ph sz="quarter" idx="1"/>
              </p:nvPr>
            </p:nvSpPr>
            <p:spPr>
              <a:blipFill>
                <a:blip r:embed="rId3"/>
                <a:stretch>
                  <a:fillRect l="-608"/>
                </a:stretch>
              </a:blipFill>
            </p:spPr>
            <p:txBody>
              <a:bodyPr/>
              <a:lstStyle/>
              <a:p>
                <a:r>
                  <a:rPr lang="fr-FR">
                    <a:noFill/>
                  </a:rPr>
                  <a:t> </a:t>
                </a:r>
              </a:p>
            </p:txBody>
          </p:sp>
        </mc:Fallback>
      </mc:AlternateContent>
      <p:sp>
        <p:nvSpPr>
          <p:cNvPr id="39" name="ZoneTexte 38">
            <a:extLst>
              <a:ext uri="{FF2B5EF4-FFF2-40B4-BE49-F238E27FC236}">
                <a16:creationId xmlns:a16="http://schemas.microsoft.com/office/drawing/2014/main" id="{18233E48-26DA-6E46-B626-E5D2F0833CE0}"/>
              </a:ext>
            </a:extLst>
          </p:cNvPr>
          <p:cNvSpPr txBox="1"/>
          <p:nvPr/>
        </p:nvSpPr>
        <p:spPr>
          <a:xfrm>
            <a:off x="1822851" y="1394303"/>
            <a:ext cx="1908000" cy="369332"/>
          </a:xfrm>
          <a:prstGeom prst="rect">
            <a:avLst/>
          </a:prstGeom>
          <a:noFill/>
        </p:spPr>
        <p:txBody>
          <a:bodyPr wrap="square" rtlCol="0">
            <a:spAutoFit/>
          </a:bodyPr>
          <a:lstStyle/>
          <a:p>
            <a:r>
              <a:rPr lang="en-GB" dirty="0">
                <a:solidFill>
                  <a:srgbClr val="FF0000"/>
                </a:solidFill>
                <a:latin typeface="+mn-lt"/>
              </a:rPr>
              <a:t>Joint space</a:t>
            </a:r>
          </a:p>
        </p:txBody>
      </p:sp>
      <p:pic>
        <p:nvPicPr>
          <p:cNvPr id="40" name="Image 39">
            <a:extLst>
              <a:ext uri="{FF2B5EF4-FFF2-40B4-BE49-F238E27FC236}">
                <a16:creationId xmlns:a16="http://schemas.microsoft.com/office/drawing/2014/main" id="{466E2ABE-1C0A-ED40-8419-32D0607BCE7F}"/>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177201" y="1728434"/>
            <a:ext cx="6073499" cy="2362232"/>
          </a:xfrm>
          <a:prstGeom prst="rect">
            <a:avLst/>
          </a:prstGeom>
        </p:spPr>
      </p:pic>
      <p:sp>
        <p:nvSpPr>
          <p:cNvPr id="41" name="Ellipse 40">
            <a:extLst>
              <a:ext uri="{FF2B5EF4-FFF2-40B4-BE49-F238E27FC236}">
                <a16:creationId xmlns:a16="http://schemas.microsoft.com/office/drawing/2014/main" id="{E5976347-6727-8641-8DB2-96967D5E67E0}"/>
              </a:ext>
            </a:extLst>
          </p:cNvPr>
          <p:cNvSpPr/>
          <p:nvPr/>
        </p:nvSpPr>
        <p:spPr>
          <a:xfrm>
            <a:off x="5551199" y="2438949"/>
            <a:ext cx="1065601" cy="678651"/>
          </a:xfrm>
          <a:prstGeom prst="ellipse">
            <a:avLst/>
          </a:prstGeom>
          <a:noFill/>
          <a:ln w="38100">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ZoneTexte 41">
            <a:extLst>
              <a:ext uri="{FF2B5EF4-FFF2-40B4-BE49-F238E27FC236}">
                <a16:creationId xmlns:a16="http://schemas.microsoft.com/office/drawing/2014/main" id="{FFDD3D1B-1147-9E42-B490-86641D4D7C69}"/>
              </a:ext>
            </a:extLst>
          </p:cNvPr>
          <p:cNvSpPr txBox="1"/>
          <p:nvPr/>
        </p:nvSpPr>
        <p:spPr>
          <a:xfrm>
            <a:off x="5413151" y="1544893"/>
            <a:ext cx="2200275" cy="369332"/>
          </a:xfrm>
          <a:prstGeom prst="rect">
            <a:avLst/>
          </a:prstGeom>
          <a:noFill/>
        </p:spPr>
        <p:txBody>
          <a:bodyPr wrap="square" rtlCol="0">
            <a:spAutoFit/>
          </a:bodyPr>
          <a:lstStyle/>
          <a:p>
            <a:r>
              <a:rPr lang="en-GB" dirty="0">
                <a:solidFill>
                  <a:srgbClr val="003399"/>
                </a:solidFill>
                <a:latin typeface="+mn-lt"/>
              </a:rPr>
              <a:t>Operational </a:t>
            </a:r>
            <a:r>
              <a:rPr lang="en-GB" dirty="0">
                <a:solidFill>
                  <a:srgbClr val="003399"/>
                </a:solidFill>
              </a:rPr>
              <a:t>space </a:t>
            </a:r>
            <a:endParaRPr lang="en-GB" dirty="0">
              <a:solidFill>
                <a:srgbClr val="003399"/>
              </a:solidFill>
              <a:latin typeface="+mn-lt"/>
            </a:endParaRPr>
          </a:p>
        </p:txBody>
      </p:sp>
      <mc:AlternateContent xmlns:mc="http://schemas.openxmlformats.org/markup-compatibility/2006" xmlns:a14="http://schemas.microsoft.com/office/drawing/2010/main">
        <mc:Choice Requires="a14">
          <p:sp>
            <p:nvSpPr>
              <p:cNvPr id="43" name="ZoneTexte 42">
                <a:extLst>
                  <a:ext uri="{FF2B5EF4-FFF2-40B4-BE49-F238E27FC236}">
                    <a16:creationId xmlns:a16="http://schemas.microsoft.com/office/drawing/2014/main" id="{AFEB0D29-9104-F54C-9C3D-E31022723243}"/>
                  </a:ext>
                </a:extLst>
              </p:cNvPr>
              <p:cNvSpPr txBox="1"/>
              <p:nvPr/>
            </p:nvSpPr>
            <p:spPr>
              <a:xfrm>
                <a:off x="2074333" y="3639744"/>
                <a:ext cx="381600"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200" b="0" i="1" dirty="0" smtClean="0">
                              <a:solidFill>
                                <a:srgbClr val="003399"/>
                              </a:solidFill>
                              <a:latin typeface="Cambria Math" panose="02040503050406030204" pitchFamily="18" charset="0"/>
                            </a:rPr>
                          </m:ctrlPr>
                        </m:sSubPr>
                        <m:e>
                          <m:r>
                            <a:rPr lang="fr-FR" sz="1200" b="0" i="1" dirty="0" smtClean="0">
                              <a:solidFill>
                                <a:srgbClr val="003399"/>
                              </a:solidFill>
                              <a:latin typeface="Cambria Math"/>
                            </a:rPr>
                            <m:t>𝑥</m:t>
                          </m:r>
                        </m:e>
                        <m:sub>
                          <m:r>
                            <a:rPr lang="fr-FR" sz="1200" b="0" i="1" dirty="0" smtClean="0">
                              <a:solidFill>
                                <a:srgbClr val="003399"/>
                              </a:solidFill>
                              <a:latin typeface="Cambria Math"/>
                            </a:rPr>
                            <m:t>0</m:t>
                          </m:r>
                        </m:sub>
                      </m:sSub>
                    </m:oMath>
                  </m:oMathPara>
                </a14:m>
                <a:endParaRPr lang="fr-FR" sz="1200" dirty="0">
                  <a:solidFill>
                    <a:srgbClr val="FF0000"/>
                  </a:solidFill>
                  <a:latin typeface="+mn-lt"/>
                </a:endParaRPr>
              </a:p>
            </p:txBody>
          </p:sp>
        </mc:Choice>
        <mc:Fallback xmlns="">
          <p:sp>
            <p:nvSpPr>
              <p:cNvPr id="43" name="ZoneTexte 42">
                <a:extLst>
                  <a:ext uri="{FF2B5EF4-FFF2-40B4-BE49-F238E27FC236}">
                    <a16:creationId xmlns:a16="http://schemas.microsoft.com/office/drawing/2014/main" id="{AFEB0D29-9104-F54C-9C3D-E31022723243}"/>
                  </a:ext>
                </a:extLst>
              </p:cNvPr>
              <p:cNvSpPr txBox="1">
                <a:spLocks noRot="1" noChangeAspect="1" noMove="1" noResize="1" noEditPoints="1" noAdjustHandles="1" noChangeArrowheads="1" noChangeShapeType="1" noTextEdit="1"/>
              </p:cNvSpPr>
              <p:nvPr/>
            </p:nvSpPr>
            <p:spPr>
              <a:xfrm>
                <a:off x="2074333" y="3639744"/>
                <a:ext cx="381600" cy="276999"/>
              </a:xfrm>
              <a:prstGeom prst="rect">
                <a:avLst/>
              </a:prstGeom>
              <a:blipFill>
                <a:blip r:embed="rId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4" name="ZoneTexte 43">
                <a:extLst>
                  <a:ext uri="{FF2B5EF4-FFF2-40B4-BE49-F238E27FC236}">
                    <a16:creationId xmlns:a16="http://schemas.microsoft.com/office/drawing/2014/main" id="{B1EA516B-0019-174B-9C64-2EF630C98966}"/>
                  </a:ext>
                </a:extLst>
              </p:cNvPr>
              <p:cNvSpPr txBox="1"/>
              <p:nvPr/>
            </p:nvSpPr>
            <p:spPr>
              <a:xfrm>
                <a:off x="6163200" y="2593608"/>
                <a:ext cx="4536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0" i="1" dirty="0" smtClean="0">
                          <a:solidFill>
                            <a:srgbClr val="003399"/>
                          </a:solidFill>
                          <a:latin typeface="Cambria Math"/>
                        </a:rPr>
                        <m:t>𝑃</m:t>
                      </m:r>
                    </m:oMath>
                  </m:oMathPara>
                </a14:m>
                <a:endParaRPr lang="fr-FR" dirty="0">
                  <a:solidFill>
                    <a:srgbClr val="003399"/>
                  </a:solidFill>
                  <a:latin typeface="+mn-lt"/>
                </a:endParaRPr>
              </a:p>
            </p:txBody>
          </p:sp>
        </mc:Choice>
        <mc:Fallback xmlns="">
          <p:sp>
            <p:nvSpPr>
              <p:cNvPr id="44" name="ZoneTexte 43">
                <a:extLst>
                  <a:ext uri="{FF2B5EF4-FFF2-40B4-BE49-F238E27FC236}">
                    <a16:creationId xmlns:a16="http://schemas.microsoft.com/office/drawing/2014/main" id="{B1EA516B-0019-174B-9C64-2EF630C98966}"/>
                  </a:ext>
                </a:extLst>
              </p:cNvPr>
              <p:cNvSpPr txBox="1">
                <a:spLocks noRot="1" noChangeAspect="1" noMove="1" noResize="1" noEditPoints="1" noAdjustHandles="1" noChangeArrowheads="1" noChangeShapeType="1" noTextEdit="1"/>
              </p:cNvSpPr>
              <p:nvPr/>
            </p:nvSpPr>
            <p:spPr>
              <a:xfrm>
                <a:off x="6163200" y="2593608"/>
                <a:ext cx="453600" cy="369332"/>
              </a:xfrm>
              <a:prstGeom prst="rect">
                <a:avLst/>
              </a:prstGeom>
              <a:blipFill>
                <a:blip r:embed="rId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5" name="ZoneTexte 44">
                <a:extLst>
                  <a:ext uri="{FF2B5EF4-FFF2-40B4-BE49-F238E27FC236}">
                    <a16:creationId xmlns:a16="http://schemas.microsoft.com/office/drawing/2014/main" id="{74277A6F-FAAB-474C-B81D-7DA8C8AF61EA}"/>
                  </a:ext>
                </a:extLst>
              </p:cNvPr>
              <p:cNvSpPr txBox="1"/>
              <p:nvPr/>
            </p:nvSpPr>
            <p:spPr>
              <a:xfrm>
                <a:off x="2926582" y="3438554"/>
                <a:ext cx="378301"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200" b="0" i="1" dirty="0" smtClean="0">
                              <a:solidFill>
                                <a:srgbClr val="003399"/>
                              </a:solidFill>
                              <a:latin typeface="Cambria Math" panose="02040503050406030204" pitchFamily="18" charset="0"/>
                            </a:rPr>
                          </m:ctrlPr>
                        </m:sSubPr>
                        <m:e>
                          <m:r>
                            <a:rPr lang="fr-FR" sz="1200" b="0" i="1" dirty="0" smtClean="0">
                              <a:solidFill>
                                <a:srgbClr val="003399"/>
                              </a:solidFill>
                              <a:latin typeface="Cambria Math"/>
                            </a:rPr>
                            <m:t>𝑦</m:t>
                          </m:r>
                        </m:e>
                        <m:sub>
                          <m:r>
                            <a:rPr lang="fr-FR" sz="1200" b="0" i="1" dirty="0" smtClean="0">
                              <a:solidFill>
                                <a:srgbClr val="003399"/>
                              </a:solidFill>
                              <a:latin typeface="Cambria Math"/>
                            </a:rPr>
                            <m:t>0</m:t>
                          </m:r>
                        </m:sub>
                      </m:sSub>
                    </m:oMath>
                  </m:oMathPara>
                </a14:m>
                <a:endParaRPr lang="fr-FR" sz="1200" dirty="0">
                  <a:solidFill>
                    <a:srgbClr val="003399"/>
                  </a:solidFill>
                  <a:latin typeface="+mn-lt"/>
                </a:endParaRPr>
              </a:p>
            </p:txBody>
          </p:sp>
        </mc:Choice>
        <mc:Fallback xmlns="">
          <p:sp>
            <p:nvSpPr>
              <p:cNvPr id="45" name="ZoneTexte 44">
                <a:extLst>
                  <a:ext uri="{FF2B5EF4-FFF2-40B4-BE49-F238E27FC236}">
                    <a16:creationId xmlns:a16="http://schemas.microsoft.com/office/drawing/2014/main" id="{74277A6F-FAAB-474C-B81D-7DA8C8AF61EA}"/>
                  </a:ext>
                </a:extLst>
              </p:cNvPr>
              <p:cNvSpPr txBox="1">
                <a:spLocks noRot="1" noChangeAspect="1" noMove="1" noResize="1" noEditPoints="1" noAdjustHandles="1" noChangeArrowheads="1" noChangeShapeType="1" noTextEdit="1"/>
              </p:cNvSpPr>
              <p:nvPr/>
            </p:nvSpPr>
            <p:spPr>
              <a:xfrm>
                <a:off x="2926582" y="3438554"/>
                <a:ext cx="378301" cy="276999"/>
              </a:xfrm>
              <a:prstGeom prst="rect">
                <a:avLst/>
              </a:prstGeom>
              <a:blipFill>
                <a:blip r:embed="rId7"/>
                <a:stretch>
                  <a:fillRect b="-4348"/>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6" name="ZoneTexte 45">
                <a:extLst>
                  <a:ext uri="{FF2B5EF4-FFF2-40B4-BE49-F238E27FC236}">
                    <a16:creationId xmlns:a16="http://schemas.microsoft.com/office/drawing/2014/main" id="{144178D5-857A-4745-B757-E3A12062E0B1}"/>
                  </a:ext>
                </a:extLst>
              </p:cNvPr>
              <p:cNvSpPr txBox="1"/>
              <p:nvPr/>
            </p:nvSpPr>
            <p:spPr>
              <a:xfrm>
                <a:off x="1177201" y="3368640"/>
                <a:ext cx="381600"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200" b="0" i="1" dirty="0" smtClean="0">
                              <a:solidFill>
                                <a:schemeClr val="bg1"/>
                              </a:solidFill>
                              <a:latin typeface="Cambria Math" panose="02040503050406030204" pitchFamily="18" charset="0"/>
                            </a:rPr>
                          </m:ctrlPr>
                        </m:sSubPr>
                        <m:e>
                          <m:r>
                            <a:rPr lang="fr-FR" sz="1200" b="0" i="1" dirty="0" smtClean="0">
                              <a:solidFill>
                                <a:schemeClr val="bg1"/>
                              </a:solidFill>
                              <a:latin typeface="Cambria Math"/>
                            </a:rPr>
                            <m:t>𝑧</m:t>
                          </m:r>
                        </m:e>
                        <m:sub>
                          <m:r>
                            <a:rPr lang="fr-FR" sz="1200" b="0" i="1" dirty="0" smtClean="0">
                              <a:solidFill>
                                <a:schemeClr val="bg1"/>
                              </a:solidFill>
                              <a:latin typeface="Cambria Math"/>
                            </a:rPr>
                            <m:t>0</m:t>
                          </m:r>
                        </m:sub>
                      </m:sSub>
                    </m:oMath>
                  </m:oMathPara>
                </a14:m>
                <a:endParaRPr lang="fr-FR" sz="1200" dirty="0">
                  <a:solidFill>
                    <a:srgbClr val="FF0000"/>
                  </a:solidFill>
                  <a:latin typeface="+mn-lt"/>
                </a:endParaRPr>
              </a:p>
            </p:txBody>
          </p:sp>
        </mc:Choice>
        <mc:Fallback xmlns="">
          <p:sp>
            <p:nvSpPr>
              <p:cNvPr id="46" name="ZoneTexte 45">
                <a:extLst>
                  <a:ext uri="{FF2B5EF4-FFF2-40B4-BE49-F238E27FC236}">
                    <a16:creationId xmlns:a16="http://schemas.microsoft.com/office/drawing/2014/main" id="{144178D5-857A-4745-B757-E3A12062E0B1}"/>
                  </a:ext>
                </a:extLst>
              </p:cNvPr>
              <p:cNvSpPr txBox="1">
                <a:spLocks noRot="1" noChangeAspect="1" noMove="1" noResize="1" noEditPoints="1" noAdjustHandles="1" noChangeArrowheads="1" noChangeShapeType="1" noTextEdit="1"/>
              </p:cNvSpPr>
              <p:nvPr/>
            </p:nvSpPr>
            <p:spPr>
              <a:xfrm>
                <a:off x="1177201" y="3368640"/>
                <a:ext cx="381600" cy="276999"/>
              </a:xfrm>
              <a:prstGeom prst="rect">
                <a:avLst/>
              </a:prstGeom>
              <a:blipFill>
                <a:blip r:embed="rId8"/>
                <a:stretch>
                  <a:fillRect/>
                </a:stretch>
              </a:blipFill>
            </p:spPr>
            <p:txBody>
              <a:bodyPr/>
              <a:lstStyle/>
              <a:p>
                <a:r>
                  <a:rPr lang="fr-FR">
                    <a:noFill/>
                  </a:rPr>
                  <a:t> </a:t>
                </a:r>
              </a:p>
            </p:txBody>
          </p:sp>
        </mc:Fallback>
      </mc:AlternateContent>
      <p:sp>
        <p:nvSpPr>
          <p:cNvPr id="47" name="Ellipse 46">
            <a:extLst>
              <a:ext uri="{FF2B5EF4-FFF2-40B4-BE49-F238E27FC236}">
                <a16:creationId xmlns:a16="http://schemas.microsoft.com/office/drawing/2014/main" id="{A1D8A03F-0F03-6246-BDA6-02999CFDD839}"/>
              </a:ext>
            </a:extLst>
          </p:cNvPr>
          <p:cNvSpPr/>
          <p:nvPr/>
        </p:nvSpPr>
        <p:spPr>
          <a:xfrm>
            <a:off x="6003925" y="2700000"/>
            <a:ext cx="219075" cy="209550"/>
          </a:xfrm>
          <a:prstGeom prst="ellipse">
            <a:avLst/>
          </a:prstGeom>
          <a:solidFill>
            <a:srgbClr val="003399"/>
          </a:solidFill>
          <a:ln>
            <a:solidFill>
              <a:srgbClr val="00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8" name="Connecteur droit avec flèche 47">
            <a:extLst>
              <a:ext uri="{FF2B5EF4-FFF2-40B4-BE49-F238E27FC236}">
                <a16:creationId xmlns:a16="http://schemas.microsoft.com/office/drawing/2014/main" id="{3037FA78-0259-C74C-94F6-CEF2E2CA3887}"/>
              </a:ext>
            </a:extLst>
          </p:cNvPr>
          <p:cNvCxnSpPr/>
          <p:nvPr/>
        </p:nvCxnSpPr>
        <p:spPr>
          <a:xfrm>
            <a:off x="2498951" y="3458633"/>
            <a:ext cx="578682" cy="0"/>
          </a:xfrm>
          <a:prstGeom prst="straightConnector1">
            <a:avLst/>
          </a:prstGeom>
          <a:ln w="28575">
            <a:solidFill>
              <a:srgbClr val="003399"/>
            </a:solidFill>
            <a:tailEnd type="arrow"/>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EB55736E-97F4-BA4C-8D1C-2FD3A5A99E1E}"/>
              </a:ext>
            </a:extLst>
          </p:cNvPr>
          <p:cNvCxnSpPr/>
          <p:nvPr/>
        </p:nvCxnSpPr>
        <p:spPr>
          <a:xfrm flipV="1">
            <a:off x="2503184" y="2958707"/>
            <a:ext cx="0" cy="495693"/>
          </a:xfrm>
          <a:prstGeom prst="straightConnector1">
            <a:avLst/>
          </a:prstGeom>
          <a:ln w="28575">
            <a:solidFill>
              <a:srgbClr val="003399"/>
            </a:solidFill>
            <a:tailEnd type="arrow"/>
          </a:ln>
        </p:spPr>
        <p:style>
          <a:lnRef idx="1">
            <a:schemeClr val="accent1"/>
          </a:lnRef>
          <a:fillRef idx="0">
            <a:schemeClr val="accent1"/>
          </a:fillRef>
          <a:effectRef idx="0">
            <a:schemeClr val="accent1"/>
          </a:effectRef>
          <a:fontRef idx="minor">
            <a:schemeClr val="tx1"/>
          </a:fontRef>
        </p:style>
      </p:cxnSp>
      <p:cxnSp>
        <p:nvCxnSpPr>
          <p:cNvPr id="50" name="Connecteur droit avec flèche 49">
            <a:extLst>
              <a:ext uri="{FF2B5EF4-FFF2-40B4-BE49-F238E27FC236}">
                <a16:creationId xmlns:a16="http://schemas.microsoft.com/office/drawing/2014/main" id="{C2B4D0E3-78A0-6643-9440-37346BCD8351}"/>
              </a:ext>
            </a:extLst>
          </p:cNvPr>
          <p:cNvCxnSpPr/>
          <p:nvPr/>
        </p:nvCxnSpPr>
        <p:spPr>
          <a:xfrm flipH="1">
            <a:off x="2077092" y="3459691"/>
            <a:ext cx="428852" cy="287867"/>
          </a:xfrm>
          <a:prstGeom prst="straightConnector1">
            <a:avLst/>
          </a:prstGeom>
          <a:ln w="28575">
            <a:solidFill>
              <a:srgbClr val="003399"/>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ZoneTexte 50">
                <a:extLst>
                  <a:ext uri="{FF2B5EF4-FFF2-40B4-BE49-F238E27FC236}">
                    <a16:creationId xmlns:a16="http://schemas.microsoft.com/office/drawing/2014/main" id="{E0F01C72-6A9B-BF4B-B576-FBB06284B706}"/>
                  </a:ext>
                </a:extLst>
              </p:cNvPr>
              <p:cNvSpPr txBox="1"/>
              <p:nvPr/>
            </p:nvSpPr>
            <p:spPr>
              <a:xfrm>
                <a:off x="2455933" y="2850204"/>
                <a:ext cx="378301"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200" b="0" i="1" dirty="0" smtClean="0">
                              <a:solidFill>
                                <a:srgbClr val="003399"/>
                              </a:solidFill>
                              <a:latin typeface="Cambria Math" panose="02040503050406030204" pitchFamily="18" charset="0"/>
                            </a:rPr>
                          </m:ctrlPr>
                        </m:sSubPr>
                        <m:e>
                          <m:r>
                            <a:rPr lang="fr-FR" sz="1200" b="0" i="1" dirty="0" smtClean="0">
                              <a:solidFill>
                                <a:srgbClr val="003399"/>
                              </a:solidFill>
                              <a:latin typeface="Cambria Math"/>
                            </a:rPr>
                            <m:t>𝑧</m:t>
                          </m:r>
                        </m:e>
                        <m:sub>
                          <m:r>
                            <a:rPr lang="fr-FR" sz="1200" b="0" i="1" dirty="0" smtClean="0">
                              <a:solidFill>
                                <a:srgbClr val="003399"/>
                              </a:solidFill>
                              <a:latin typeface="Cambria Math"/>
                            </a:rPr>
                            <m:t>0</m:t>
                          </m:r>
                        </m:sub>
                      </m:sSub>
                    </m:oMath>
                  </m:oMathPara>
                </a14:m>
                <a:endParaRPr lang="fr-FR" sz="1200" dirty="0">
                  <a:solidFill>
                    <a:srgbClr val="003399"/>
                  </a:solidFill>
                  <a:latin typeface="+mn-lt"/>
                </a:endParaRPr>
              </a:p>
            </p:txBody>
          </p:sp>
        </mc:Choice>
        <mc:Fallback xmlns="">
          <p:sp>
            <p:nvSpPr>
              <p:cNvPr id="51" name="ZoneTexte 50">
                <a:extLst>
                  <a:ext uri="{FF2B5EF4-FFF2-40B4-BE49-F238E27FC236}">
                    <a16:creationId xmlns:a16="http://schemas.microsoft.com/office/drawing/2014/main" id="{E0F01C72-6A9B-BF4B-B576-FBB06284B706}"/>
                  </a:ext>
                </a:extLst>
              </p:cNvPr>
              <p:cNvSpPr txBox="1">
                <a:spLocks noRot="1" noChangeAspect="1" noMove="1" noResize="1" noEditPoints="1" noAdjustHandles="1" noChangeArrowheads="1" noChangeShapeType="1" noTextEdit="1"/>
              </p:cNvSpPr>
              <p:nvPr/>
            </p:nvSpPr>
            <p:spPr>
              <a:xfrm>
                <a:off x="2455933" y="2850204"/>
                <a:ext cx="378301" cy="276999"/>
              </a:xfrm>
              <a:prstGeom prst="rect">
                <a:avLst/>
              </a:prstGeom>
              <a:blipFill>
                <a:blip r:embed="rId9"/>
                <a:stretch>
                  <a:fillRect/>
                </a:stretch>
              </a:blipFill>
            </p:spPr>
            <p:txBody>
              <a:bodyPr/>
              <a:lstStyle/>
              <a:p>
                <a:r>
                  <a:rPr lang="fr-FR">
                    <a:noFill/>
                  </a:rPr>
                  <a:t> </a:t>
                </a:r>
              </a:p>
            </p:txBody>
          </p:sp>
        </mc:Fallback>
      </mc:AlternateContent>
      <p:sp>
        <p:nvSpPr>
          <p:cNvPr id="52" name="Arc 51">
            <a:extLst>
              <a:ext uri="{FF2B5EF4-FFF2-40B4-BE49-F238E27FC236}">
                <a16:creationId xmlns:a16="http://schemas.microsoft.com/office/drawing/2014/main" id="{23143F3D-7D6F-CB47-AC70-7A25AF4F3DF7}"/>
              </a:ext>
            </a:extLst>
          </p:cNvPr>
          <p:cNvSpPr/>
          <p:nvPr/>
        </p:nvSpPr>
        <p:spPr>
          <a:xfrm>
            <a:off x="3594100" y="2298608"/>
            <a:ext cx="2200275" cy="479666"/>
          </a:xfrm>
          <a:prstGeom prst="arc">
            <a:avLst>
              <a:gd name="adj1" fmla="val 12189506"/>
              <a:gd name="adj2" fmla="val 21359625"/>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53" name="ZoneTexte 52">
            <a:extLst>
              <a:ext uri="{FF2B5EF4-FFF2-40B4-BE49-F238E27FC236}">
                <a16:creationId xmlns:a16="http://schemas.microsoft.com/office/drawing/2014/main" id="{35272D90-53A6-BB46-952A-6EE049F3E9C6}"/>
              </a:ext>
            </a:extLst>
          </p:cNvPr>
          <p:cNvSpPr txBox="1"/>
          <p:nvPr/>
        </p:nvSpPr>
        <p:spPr>
          <a:xfrm>
            <a:off x="5172075" y="3378226"/>
            <a:ext cx="831850" cy="369332"/>
          </a:xfrm>
          <a:prstGeom prst="rect">
            <a:avLst/>
          </a:prstGeom>
          <a:noFill/>
        </p:spPr>
        <p:txBody>
          <a:bodyPr wrap="square" rtlCol="0">
            <a:spAutoFit/>
          </a:bodyPr>
          <a:lstStyle/>
          <a:p>
            <a:r>
              <a:rPr lang="fr-FR" dirty="0">
                <a:latin typeface="+mn-lt"/>
              </a:rPr>
              <a:t>IDKM</a:t>
            </a:r>
          </a:p>
        </p:txBody>
      </p:sp>
      <p:sp>
        <p:nvSpPr>
          <p:cNvPr id="54" name="Arc 53">
            <a:extLst>
              <a:ext uri="{FF2B5EF4-FFF2-40B4-BE49-F238E27FC236}">
                <a16:creationId xmlns:a16="http://schemas.microsoft.com/office/drawing/2014/main" id="{F8611D0D-D00D-2D48-AC48-E638DCD5CD93}"/>
              </a:ext>
            </a:extLst>
          </p:cNvPr>
          <p:cNvSpPr/>
          <p:nvPr/>
        </p:nvSpPr>
        <p:spPr>
          <a:xfrm>
            <a:off x="3141131" y="2574559"/>
            <a:ext cx="2968267" cy="900972"/>
          </a:xfrm>
          <a:prstGeom prst="arc">
            <a:avLst>
              <a:gd name="adj1" fmla="val 336735"/>
              <a:gd name="adj2" fmla="val 7943327"/>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55" name="ZoneTexte 54">
            <a:extLst>
              <a:ext uri="{FF2B5EF4-FFF2-40B4-BE49-F238E27FC236}">
                <a16:creationId xmlns:a16="http://schemas.microsoft.com/office/drawing/2014/main" id="{6FD2FE97-DD99-5B49-B5F7-9BA60936D63D}"/>
              </a:ext>
            </a:extLst>
          </p:cNvPr>
          <p:cNvSpPr txBox="1"/>
          <p:nvPr/>
        </p:nvSpPr>
        <p:spPr>
          <a:xfrm>
            <a:off x="4635500" y="1977850"/>
            <a:ext cx="831850" cy="369332"/>
          </a:xfrm>
          <a:prstGeom prst="rect">
            <a:avLst/>
          </a:prstGeom>
          <a:noFill/>
        </p:spPr>
        <p:txBody>
          <a:bodyPr wrap="square" rtlCol="0">
            <a:spAutoFit/>
          </a:bodyPr>
          <a:lstStyle/>
          <a:p>
            <a:r>
              <a:rPr lang="fr-FR" dirty="0">
                <a:latin typeface="+mn-lt"/>
              </a:rPr>
              <a:t>DDKM</a:t>
            </a:r>
          </a:p>
        </p:txBody>
      </p:sp>
    </p:spTree>
    <p:extLst>
      <p:ext uri="{BB962C8B-B14F-4D97-AF65-F5344CB8AC3E}">
        <p14:creationId xmlns:p14="http://schemas.microsoft.com/office/powerpoint/2010/main" val="209352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a:xfrm>
                <a:off x="280656" y="959667"/>
                <a:ext cx="8475994" cy="5514285"/>
              </a:xfrm>
            </p:spPr>
            <p:txBody>
              <a:bodyPr/>
              <a:lstStyle/>
              <a:p>
                <a:pPr marL="0" indent="0">
                  <a:buNone/>
                </a:pPr>
                <a:endParaRPr lang="en-GB" dirty="0">
                  <a:latin typeface="Cambria Math"/>
                </a:endParaRPr>
              </a:p>
              <a:p>
                <a:pPr marL="0" indent="0">
                  <a:buNone/>
                </a:pPr>
                <a:endParaRPr lang="en-GB" dirty="0">
                  <a:latin typeface="Cambria Math"/>
                </a:endParaRPr>
              </a:p>
              <a:p>
                <a:pPr marL="0" indent="0">
                  <a:buNone/>
                </a:pPr>
                <a:endParaRPr lang="en-GB" dirty="0">
                  <a:latin typeface="Cambria Math"/>
                </a:endParaRPr>
              </a:p>
              <a:p>
                <a:pPr marL="0" indent="0">
                  <a:buNone/>
                </a:pPr>
                <a:endParaRPr lang="en-GB" dirty="0">
                  <a:latin typeface="Cambria Math"/>
                </a:endParaRPr>
              </a:p>
              <a:p>
                <a:pPr marL="0" indent="0">
                  <a:buNone/>
                </a:pPr>
                <a:endParaRPr lang="en-GB" dirty="0">
                  <a:latin typeface="Cambria Math"/>
                </a:endParaRPr>
              </a:p>
              <a:p>
                <a:pPr marL="0" indent="0">
                  <a:buNone/>
                </a:pPr>
                <a:endParaRPr lang="en-GB" dirty="0">
                  <a:latin typeface="Cambria Math"/>
                </a:endParaRPr>
              </a:p>
              <a:p>
                <a:pPr marL="0" indent="0">
                  <a:buNone/>
                </a:pPr>
                <a:endParaRPr lang="en-GB" dirty="0">
                  <a:latin typeface="Cambria Math"/>
                </a:endParaRPr>
              </a:p>
              <a:p>
                <a:pPr marL="0" indent="0">
                  <a:buNone/>
                </a:pPr>
                <a:endParaRPr lang="en-GB" dirty="0">
                  <a:latin typeface="Cambria Math"/>
                </a:endParaRPr>
              </a:p>
              <a:p>
                <a:pPr marL="0" indent="0">
                  <a:buNone/>
                </a:pPr>
                <a:endParaRPr lang="en-GB" dirty="0">
                  <a:latin typeface="Cambria Math"/>
                </a:endParaRPr>
              </a:p>
              <a:p>
                <a:pPr marL="0" indent="0">
                  <a:buNone/>
                </a:pPr>
                <a:endParaRPr lang="en-GB" dirty="0">
                  <a:latin typeface="Cambria Math"/>
                </a:endParaRPr>
              </a:p>
              <a:p>
                <a:pPr marL="0" indent="0">
                  <a:buNone/>
                </a:pPr>
                <a14:m>
                  <m:oMath xmlns:m="http://schemas.openxmlformats.org/officeDocument/2006/math">
                    <m:r>
                      <a:rPr lang="en-GB" smtClean="0">
                        <a:latin typeface="Cambria Math"/>
                      </a:rPr>
                      <m:t>𝚪</m:t>
                    </m:r>
                    <m:r>
                      <a:rPr lang="en-GB" smtClean="0">
                        <a:latin typeface="Cambria Math"/>
                      </a:rPr>
                      <m:t>=</m:t>
                    </m:r>
                    <m:sSup>
                      <m:sSupPr>
                        <m:ctrlPr>
                          <a:rPr lang="en-GB" i="1" smtClean="0">
                            <a:latin typeface="Cambria Math" panose="02040503050406030204" pitchFamily="18" charset="0"/>
                          </a:rPr>
                        </m:ctrlPr>
                      </m:sSupPr>
                      <m:e>
                        <m:d>
                          <m:dPr>
                            <m:begChr m:val="["/>
                            <m:endChr m:val="]"/>
                            <m:ctrlPr>
                              <a:rPr lang="en-GB" i="1" smtClean="0">
                                <a:latin typeface="Cambria Math" panose="02040503050406030204" pitchFamily="18" charset="0"/>
                              </a:rPr>
                            </m:ctrlPr>
                          </m:dPr>
                          <m:e>
                            <m:m>
                              <m:mPr>
                                <m:mcs>
                                  <m:mc>
                                    <m:mcPr>
                                      <m:count m:val="2"/>
                                      <m:mcJc m:val="center"/>
                                    </m:mcPr>
                                  </m:mc>
                                </m:mcs>
                                <m:ctrlPr>
                                  <a:rPr lang="en-GB" i="1" smtClean="0">
                                    <a:latin typeface="Cambria Math" panose="02040503050406030204" pitchFamily="18" charset="0"/>
                                  </a:rPr>
                                </m:ctrlPr>
                              </m:mPr>
                              <m:mr>
                                <m:e>
                                  <m:m>
                                    <m:mPr>
                                      <m:mcs>
                                        <m:mc>
                                          <m:mcPr>
                                            <m:count m:val="2"/>
                                            <m:mcJc m:val="center"/>
                                          </m:mcPr>
                                        </m:mc>
                                      </m:mcs>
                                      <m:ctrlPr>
                                        <a:rPr lang="en-GB" i="1" smtClean="0">
                                          <a:latin typeface="Cambria Math" panose="02040503050406030204" pitchFamily="18" charset="0"/>
                                        </a:rPr>
                                      </m:ctrlPr>
                                    </m:mPr>
                                    <m:mr>
                                      <m:e>
                                        <m:sSub>
                                          <m:sSubPr>
                                            <m:ctrlPr>
                                              <a:rPr lang="en-GB" i="1" smtClean="0">
                                                <a:latin typeface="Cambria Math" panose="02040503050406030204" pitchFamily="18" charset="0"/>
                                              </a:rPr>
                                            </m:ctrlPr>
                                          </m:sSubPr>
                                          <m:e>
                                            <m:r>
                                              <m:rPr>
                                                <m:sty m:val="p"/>
                                              </m:rPr>
                                              <a:rPr lang="en-GB" smtClean="0">
                                                <a:latin typeface="Cambria Math"/>
                                              </a:rPr>
                                              <m:t>Γ</m:t>
                                            </m:r>
                                          </m:e>
                                          <m:sub>
                                            <m:r>
                                              <a:rPr lang="en-GB" smtClean="0">
                                                <a:latin typeface="Cambria Math"/>
                                              </a:rPr>
                                              <m:t>1</m:t>
                                            </m:r>
                                          </m:sub>
                                        </m:sSub>
                                      </m:e>
                                      <m:e>
                                        <m:sSub>
                                          <m:sSubPr>
                                            <m:ctrlPr>
                                              <a:rPr lang="en-GB" i="1" smtClean="0">
                                                <a:latin typeface="Cambria Math" panose="02040503050406030204" pitchFamily="18" charset="0"/>
                                              </a:rPr>
                                            </m:ctrlPr>
                                          </m:sSubPr>
                                          <m:e>
                                            <m:r>
                                              <m:rPr>
                                                <m:sty m:val="p"/>
                                              </m:rPr>
                                              <a:rPr lang="en-GB" smtClean="0">
                                                <a:latin typeface="Cambria Math"/>
                                              </a:rPr>
                                              <m:t>Γ</m:t>
                                            </m:r>
                                          </m:e>
                                          <m:sub>
                                            <m:r>
                                              <a:rPr lang="en-GB" smtClean="0">
                                                <a:latin typeface="Cambria Math"/>
                                              </a:rPr>
                                              <m:t>2</m:t>
                                            </m:r>
                                          </m:sub>
                                        </m:sSub>
                                      </m:e>
                                    </m:mr>
                                  </m:m>
                                </m:e>
                                <m:e>
                                  <m:m>
                                    <m:mPr>
                                      <m:mcs>
                                        <m:mc>
                                          <m:mcPr>
                                            <m:count m:val="2"/>
                                            <m:mcJc m:val="center"/>
                                          </m:mcPr>
                                        </m:mc>
                                      </m:mcs>
                                      <m:ctrlPr>
                                        <a:rPr lang="en-GB" i="1" smtClean="0">
                                          <a:latin typeface="Cambria Math" panose="02040503050406030204" pitchFamily="18" charset="0"/>
                                        </a:rPr>
                                      </m:ctrlPr>
                                    </m:mPr>
                                    <m:mr>
                                      <m:e>
                                        <m:r>
                                          <m:rPr>
                                            <m:brk m:alnAt="7"/>
                                          </m:rPr>
                                          <a:rPr lang="en-GB" smtClean="0">
                                            <a:latin typeface="Cambria Math"/>
                                          </a:rPr>
                                          <m:t>.</m:t>
                                        </m:r>
                                      </m:e>
                                      <m:e>
                                        <m:sSub>
                                          <m:sSubPr>
                                            <m:ctrlPr>
                                              <a:rPr lang="en-GB" i="1" smtClean="0">
                                                <a:latin typeface="Cambria Math" panose="02040503050406030204" pitchFamily="18" charset="0"/>
                                              </a:rPr>
                                            </m:ctrlPr>
                                          </m:sSubPr>
                                          <m:e>
                                            <m:r>
                                              <m:rPr>
                                                <m:sty m:val="p"/>
                                              </m:rPr>
                                              <a:rPr lang="en-GB" smtClean="0">
                                                <a:latin typeface="Cambria Math"/>
                                              </a:rPr>
                                              <m:t>Γ</m:t>
                                            </m:r>
                                          </m:e>
                                          <m:sub>
                                            <m:r>
                                              <m:rPr>
                                                <m:sty m:val="p"/>
                                              </m:rPr>
                                              <a:rPr lang="en-GB" b="0" i="0" smtClean="0">
                                                <a:latin typeface="Cambria Math"/>
                                              </a:rPr>
                                              <m:t>n</m:t>
                                            </m:r>
                                          </m:sub>
                                        </m:sSub>
                                      </m:e>
                                    </m:mr>
                                  </m:m>
                                </m:e>
                              </m:mr>
                            </m:m>
                          </m:e>
                        </m:d>
                      </m:e>
                      <m:sup>
                        <m:r>
                          <a:rPr lang="en-GB" smtClean="0">
                            <a:latin typeface="Cambria Math"/>
                          </a:rPr>
                          <m:t>𝑇</m:t>
                        </m:r>
                      </m:sup>
                    </m:sSup>
                  </m:oMath>
                </a14:m>
                <a:r>
                  <a:rPr lang="en-GB" dirty="0"/>
                  <a:t> : </a:t>
                </a:r>
                <a:r>
                  <a:rPr lang="en-GB" dirty="0">
                    <a:latin typeface="Cambria Math"/>
                    <a:ea typeface="Cambria Math"/>
                  </a:rPr>
                  <a:t>vector of joint torques (torques produced by actuators)</a:t>
                </a:r>
                <a:endParaRPr lang="en-GB" i="1" dirty="0">
                  <a:latin typeface="Cambria Math"/>
                  <a:ea typeface="Cambria Math"/>
                </a:endParaRPr>
              </a:p>
              <a:p>
                <a:pPr marL="0" indent="0">
                  <a:buNone/>
                </a:pPr>
                <a14:m>
                  <m:oMath xmlns:m="http://schemas.openxmlformats.org/officeDocument/2006/math">
                    <m:r>
                      <a:rPr lang="en-GB" i="1" smtClean="0">
                        <a:latin typeface="Cambria Math"/>
                        <a:ea typeface="Cambria Math"/>
                      </a:rPr>
                      <m:t>𝕗</m:t>
                    </m:r>
                    <m:r>
                      <a:rPr lang="en-GB" b="0" i="1" smtClean="0">
                        <a:latin typeface="Cambria Math"/>
                        <a:ea typeface="Cambria Math"/>
                      </a:rPr>
                      <m:t>=</m:t>
                    </m:r>
                    <m:sSup>
                      <m:sSupPr>
                        <m:ctrlPr>
                          <a:rPr lang="en-GB" b="0" i="1" smtClean="0">
                            <a:latin typeface="Cambria Math" panose="02040503050406030204" pitchFamily="18" charset="0"/>
                            <a:ea typeface="Cambria Math"/>
                          </a:rPr>
                        </m:ctrlPr>
                      </m:sSupPr>
                      <m:e>
                        <m:d>
                          <m:dPr>
                            <m:begChr m:val="["/>
                            <m:endChr m:val="]"/>
                            <m:ctrlPr>
                              <a:rPr lang="en-GB" b="0" i="1" smtClean="0">
                                <a:latin typeface="Cambria Math" panose="02040503050406030204" pitchFamily="18" charset="0"/>
                                <a:ea typeface="Cambria Math"/>
                              </a:rPr>
                            </m:ctrlPr>
                          </m:dPr>
                          <m:e>
                            <m:m>
                              <m:mPr>
                                <m:mcs>
                                  <m:mc>
                                    <m:mcPr>
                                      <m:count m:val="2"/>
                                      <m:mcJc m:val="center"/>
                                    </m:mcPr>
                                  </m:mc>
                                </m:mcs>
                                <m:ctrlPr>
                                  <a:rPr lang="en-GB" b="0" i="1" smtClean="0">
                                    <a:latin typeface="Cambria Math" panose="02040503050406030204" pitchFamily="18" charset="0"/>
                                    <a:ea typeface="Cambria Math"/>
                                  </a:rPr>
                                </m:ctrlPr>
                              </m:mPr>
                              <m:mr>
                                <m:e>
                                  <m:m>
                                    <m:mPr>
                                      <m:mcs>
                                        <m:mc>
                                          <m:mcPr>
                                            <m:count m:val="3"/>
                                            <m:mcJc m:val="center"/>
                                          </m:mcPr>
                                        </m:mc>
                                      </m:mcs>
                                      <m:ctrlPr>
                                        <a:rPr lang="en-GB" b="0" i="1" smtClean="0">
                                          <a:latin typeface="Cambria Math" panose="02040503050406030204" pitchFamily="18" charset="0"/>
                                          <a:ea typeface="Cambria Math"/>
                                        </a:rPr>
                                      </m:ctrlPr>
                                    </m:mPr>
                                    <m:mr>
                                      <m:e>
                                        <m:sSub>
                                          <m:sSubPr>
                                            <m:ctrlPr>
                                              <a:rPr lang="en-GB" b="0" i="1" smtClean="0">
                                                <a:latin typeface="Cambria Math" panose="02040503050406030204" pitchFamily="18" charset="0"/>
                                                <a:ea typeface="Cambria Math"/>
                                              </a:rPr>
                                            </m:ctrlPr>
                                          </m:sSubPr>
                                          <m:e>
                                            <m:r>
                                              <a:rPr lang="en-GB" b="0" i="1" smtClean="0">
                                                <a:latin typeface="Cambria Math"/>
                                                <a:ea typeface="Cambria Math"/>
                                              </a:rPr>
                                              <m:t>𝑓</m:t>
                                            </m:r>
                                          </m:e>
                                          <m:sub>
                                            <m:r>
                                              <a:rPr lang="en-GB" b="0" i="1" smtClean="0">
                                                <a:latin typeface="Cambria Math"/>
                                                <a:ea typeface="Cambria Math"/>
                                              </a:rPr>
                                              <m:t>𝑥</m:t>
                                            </m:r>
                                          </m:sub>
                                        </m:sSub>
                                      </m:e>
                                      <m:e>
                                        <m:sSub>
                                          <m:sSubPr>
                                            <m:ctrlPr>
                                              <a:rPr lang="en-GB" b="0" i="1" smtClean="0">
                                                <a:latin typeface="Cambria Math" panose="02040503050406030204" pitchFamily="18" charset="0"/>
                                                <a:ea typeface="Cambria Math"/>
                                              </a:rPr>
                                            </m:ctrlPr>
                                          </m:sSubPr>
                                          <m:e>
                                            <m:r>
                                              <a:rPr lang="en-GB" b="0" i="1" smtClean="0">
                                                <a:latin typeface="Cambria Math"/>
                                                <a:ea typeface="Cambria Math"/>
                                              </a:rPr>
                                              <m:t>𝑓</m:t>
                                            </m:r>
                                          </m:e>
                                          <m:sub>
                                            <m:r>
                                              <a:rPr lang="en-GB" b="0" i="1" smtClean="0">
                                                <a:latin typeface="Cambria Math"/>
                                                <a:ea typeface="Cambria Math"/>
                                              </a:rPr>
                                              <m:t>𝑦</m:t>
                                            </m:r>
                                          </m:sub>
                                        </m:sSub>
                                      </m:e>
                                      <m:e>
                                        <m:sSub>
                                          <m:sSubPr>
                                            <m:ctrlPr>
                                              <a:rPr lang="en-GB" b="0" i="1" smtClean="0">
                                                <a:latin typeface="Cambria Math" panose="02040503050406030204" pitchFamily="18" charset="0"/>
                                                <a:ea typeface="Cambria Math"/>
                                              </a:rPr>
                                            </m:ctrlPr>
                                          </m:sSubPr>
                                          <m:e>
                                            <m:r>
                                              <a:rPr lang="en-GB" b="0" i="1" smtClean="0">
                                                <a:latin typeface="Cambria Math"/>
                                                <a:ea typeface="Cambria Math"/>
                                              </a:rPr>
                                              <m:t>𝑓</m:t>
                                            </m:r>
                                          </m:e>
                                          <m:sub>
                                            <m:r>
                                              <a:rPr lang="en-GB" b="0" i="1" smtClean="0">
                                                <a:latin typeface="Cambria Math"/>
                                                <a:ea typeface="Cambria Math"/>
                                              </a:rPr>
                                              <m:t>𝑧</m:t>
                                            </m:r>
                                          </m:sub>
                                        </m:sSub>
                                      </m:e>
                                    </m:mr>
                                  </m:m>
                                </m:e>
                                <m:e>
                                  <m:m>
                                    <m:mPr>
                                      <m:mcs>
                                        <m:mc>
                                          <m:mcPr>
                                            <m:count m:val="3"/>
                                            <m:mcJc m:val="center"/>
                                          </m:mcPr>
                                        </m:mc>
                                      </m:mcs>
                                      <m:ctrlPr>
                                        <a:rPr lang="en-GB" b="0" i="1" smtClean="0">
                                          <a:latin typeface="Cambria Math" panose="02040503050406030204" pitchFamily="18" charset="0"/>
                                          <a:ea typeface="Cambria Math"/>
                                        </a:rPr>
                                      </m:ctrlPr>
                                    </m:mPr>
                                    <m:mr>
                                      <m:e>
                                        <m:sSub>
                                          <m:sSubPr>
                                            <m:ctrlPr>
                                              <a:rPr lang="en-GB" b="0" i="1" smtClean="0">
                                                <a:latin typeface="Cambria Math" panose="02040503050406030204" pitchFamily="18" charset="0"/>
                                                <a:ea typeface="Cambria Math"/>
                                              </a:rPr>
                                            </m:ctrlPr>
                                          </m:sSubPr>
                                          <m:e>
                                            <m:r>
                                              <a:rPr lang="en-GB" b="0" i="1" smtClean="0">
                                                <a:latin typeface="Cambria Math"/>
                                                <a:ea typeface="Cambria Math"/>
                                              </a:rPr>
                                              <m:t>𝑚</m:t>
                                            </m:r>
                                          </m:e>
                                          <m:sub>
                                            <m:r>
                                              <a:rPr lang="en-GB" b="0" i="1" smtClean="0">
                                                <a:latin typeface="Cambria Math"/>
                                                <a:ea typeface="Cambria Math"/>
                                              </a:rPr>
                                              <m:t>𝑥</m:t>
                                            </m:r>
                                          </m:sub>
                                        </m:sSub>
                                      </m:e>
                                      <m:e>
                                        <m:sSub>
                                          <m:sSubPr>
                                            <m:ctrlPr>
                                              <a:rPr lang="en-GB" b="0" i="1" smtClean="0">
                                                <a:latin typeface="Cambria Math" panose="02040503050406030204" pitchFamily="18" charset="0"/>
                                                <a:ea typeface="Cambria Math"/>
                                              </a:rPr>
                                            </m:ctrlPr>
                                          </m:sSubPr>
                                          <m:e>
                                            <m:r>
                                              <a:rPr lang="en-GB" b="0" i="1" smtClean="0">
                                                <a:latin typeface="Cambria Math"/>
                                                <a:ea typeface="Cambria Math"/>
                                              </a:rPr>
                                              <m:t>𝑚</m:t>
                                            </m:r>
                                          </m:e>
                                          <m:sub>
                                            <m:r>
                                              <a:rPr lang="en-GB" b="0" i="1" smtClean="0">
                                                <a:latin typeface="Cambria Math"/>
                                                <a:ea typeface="Cambria Math"/>
                                              </a:rPr>
                                              <m:t>𝑦</m:t>
                                            </m:r>
                                          </m:sub>
                                        </m:sSub>
                                      </m:e>
                                      <m:e>
                                        <m:sSub>
                                          <m:sSubPr>
                                            <m:ctrlPr>
                                              <a:rPr lang="en-GB" b="0" i="1" smtClean="0">
                                                <a:latin typeface="Cambria Math" panose="02040503050406030204" pitchFamily="18" charset="0"/>
                                                <a:ea typeface="Cambria Math"/>
                                              </a:rPr>
                                            </m:ctrlPr>
                                          </m:sSubPr>
                                          <m:e>
                                            <m:r>
                                              <a:rPr lang="en-GB" b="0" i="1" smtClean="0">
                                                <a:latin typeface="Cambria Math"/>
                                                <a:ea typeface="Cambria Math"/>
                                              </a:rPr>
                                              <m:t>𝑚</m:t>
                                            </m:r>
                                          </m:e>
                                          <m:sub>
                                            <m:r>
                                              <a:rPr lang="en-GB" b="0" i="1" smtClean="0">
                                                <a:latin typeface="Cambria Math"/>
                                                <a:ea typeface="Cambria Math"/>
                                              </a:rPr>
                                              <m:t>𝑧</m:t>
                                            </m:r>
                                          </m:sub>
                                        </m:sSub>
                                      </m:e>
                                    </m:mr>
                                  </m:m>
                                </m:e>
                              </m:mr>
                            </m:m>
                          </m:e>
                        </m:d>
                      </m:e>
                      <m:sup>
                        <m:r>
                          <a:rPr lang="en-GB" b="0" i="1" smtClean="0">
                            <a:latin typeface="Cambria Math"/>
                            <a:ea typeface="Cambria Math"/>
                          </a:rPr>
                          <m:t>𝑇</m:t>
                        </m:r>
                      </m:sup>
                    </m:sSup>
                  </m:oMath>
                </a14:m>
                <a:r>
                  <a:rPr lang="en-GB" dirty="0"/>
                  <a:t> : force and moment applied on the end effector</a:t>
                </a:r>
              </a:p>
              <a:p>
                <a:endParaRPr lang="en-GB" dirty="0"/>
              </a:p>
              <a:p>
                <a:pPr marL="0" indent="0">
                  <a:buNone/>
                </a:pPr>
                <a14:m>
                  <m:oMathPara xmlns:m="http://schemas.openxmlformats.org/officeDocument/2006/math">
                    <m:oMathParaPr>
                      <m:jc m:val="centerGroup"/>
                    </m:oMathParaPr>
                    <m:oMath xmlns:m="http://schemas.openxmlformats.org/officeDocument/2006/math">
                      <m:r>
                        <a:rPr lang="en-GB" b="1" i="0" smtClean="0">
                          <a:latin typeface="Cambria Math"/>
                          <a:ea typeface="Cambria Math"/>
                        </a:rPr>
                        <m:t>𝚪</m:t>
                      </m:r>
                      <m:r>
                        <a:rPr lang="en-GB" b="0" i="1" smtClean="0">
                          <a:latin typeface="Cambria Math"/>
                          <a:ea typeface="Cambria Math"/>
                        </a:rPr>
                        <m:t>=</m:t>
                      </m:r>
                      <m:sSup>
                        <m:sSupPr>
                          <m:ctrlPr>
                            <a:rPr lang="en-GB" b="0" i="1" smtClean="0">
                              <a:latin typeface="Cambria Math" panose="02040503050406030204" pitchFamily="18" charset="0"/>
                              <a:ea typeface="Cambria Math"/>
                            </a:rPr>
                          </m:ctrlPr>
                        </m:sSupPr>
                        <m:e>
                          <m:r>
                            <a:rPr lang="en-GB" b="1" i="0" smtClean="0">
                              <a:latin typeface="Cambria Math"/>
                              <a:ea typeface="Cambria Math"/>
                            </a:rPr>
                            <m:t>𝐉</m:t>
                          </m:r>
                        </m:e>
                        <m:sup>
                          <m:r>
                            <a:rPr lang="en-GB" b="0" i="1" smtClean="0">
                              <a:latin typeface="Cambria Math"/>
                              <a:ea typeface="Cambria Math"/>
                            </a:rPr>
                            <m:t>𝑇</m:t>
                          </m:r>
                        </m:sup>
                      </m:sSup>
                      <m:d>
                        <m:dPr>
                          <m:ctrlPr>
                            <a:rPr lang="en-GB" b="0" i="1" smtClean="0">
                              <a:latin typeface="Cambria Math" panose="02040503050406030204" pitchFamily="18" charset="0"/>
                              <a:ea typeface="Cambria Math"/>
                            </a:rPr>
                          </m:ctrlPr>
                        </m:dPr>
                        <m:e>
                          <m:r>
                            <a:rPr lang="en-GB" b="1" i="0" smtClean="0">
                              <a:latin typeface="Cambria Math"/>
                              <a:ea typeface="Cambria Math"/>
                            </a:rPr>
                            <m:t>𝐪</m:t>
                          </m:r>
                        </m:e>
                      </m:d>
                      <m:r>
                        <a:rPr lang="en-GB" b="0" i="1" smtClean="0">
                          <a:latin typeface="Cambria Math"/>
                          <a:ea typeface="Cambria Math"/>
                        </a:rPr>
                        <m:t> </m:t>
                      </m:r>
                      <m:r>
                        <a:rPr lang="en-GB" b="0" i="1" smtClean="0">
                          <a:latin typeface="Cambria Math"/>
                          <a:ea typeface="Cambria Math"/>
                        </a:rPr>
                        <m:t>𝕗</m:t>
                      </m:r>
                    </m:oMath>
                  </m:oMathPara>
                </a14:m>
                <a:endParaRPr lang="en-GB" dirty="0"/>
              </a:p>
              <a:p>
                <a:pPr marL="0" indent="0">
                  <a:buNone/>
                </a:pPr>
                <a14:m>
                  <m:oMath xmlns:m="http://schemas.openxmlformats.org/officeDocument/2006/math">
                    <m:sSup>
                      <m:sSupPr>
                        <m:ctrlPr>
                          <a:rPr lang="en-GB" i="1" smtClean="0">
                            <a:latin typeface="Cambria Math" panose="02040503050406030204" pitchFamily="18" charset="0"/>
                          </a:rPr>
                        </m:ctrlPr>
                      </m:sSupPr>
                      <m:e>
                        <m:r>
                          <a:rPr lang="en-GB" b="1" i="0" smtClean="0">
                            <a:latin typeface="Cambria Math"/>
                          </a:rPr>
                          <m:t>𝐉</m:t>
                        </m:r>
                      </m:e>
                      <m:sup>
                        <m:r>
                          <a:rPr lang="en-GB" b="0" i="1" smtClean="0">
                            <a:latin typeface="Cambria Math"/>
                          </a:rPr>
                          <m:t>𝑇</m:t>
                        </m:r>
                      </m:sup>
                    </m:sSup>
                  </m:oMath>
                </a14:m>
                <a:r>
                  <a:rPr lang="en-GB" dirty="0"/>
                  <a:t> : Transpose of the Jacobian matrix of dimension </a:t>
                </a:r>
                <a14:m>
                  <m:oMath xmlns:m="http://schemas.openxmlformats.org/officeDocument/2006/math">
                    <m:r>
                      <m:rPr>
                        <m:sty m:val="p"/>
                      </m:rPr>
                      <a:rPr lang="en-GB" b="0" i="0" smtClean="0">
                        <a:latin typeface="Cambria Math"/>
                      </a:rPr>
                      <m:t>n</m:t>
                    </m:r>
                    <m:r>
                      <a:rPr lang="en-GB" b="0" i="1" smtClean="0">
                        <a:latin typeface="Cambria Math"/>
                        <a:ea typeface="Cambria Math"/>
                      </a:rPr>
                      <m:t>×</m:t>
                    </m:r>
                    <m:r>
                      <m:rPr>
                        <m:sty m:val="p"/>
                      </m:rPr>
                      <a:rPr lang="en-GB" b="0" i="0" smtClean="0">
                        <a:latin typeface="Cambria Math"/>
                        <a:ea typeface="Cambria Math"/>
                      </a:rPr>
                      <m:t>m</m:t>
                    </m:r>
                  </m:oMath>
                </a14:m>
                <a:r>
                  <a:rPr lang="en-GB" dirty="0"/>
                  <a:t> </a:t>
                </a:r>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xfrm>
                <a:off x="280656" y="959667"/>
                <a:ext cx="8475994" cy="5514285"/>
              </a:xfrm>
              <a:blipFill>
                <a:blip r:embed="rId3"/>
                <a:stretch>
                  <a:fillRect l="-150"/>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en-GB" noProof="1"/>
              <a:t>Static model</a:t>
            </a:r>
          </a:p>
        </p:txBody>
      </p:sp>
      <p:pic>
        <p:nvPicPr>
          <p:cNvPr id="4" name="Espace réservé du contenu 3"/>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253068" y="1763141"/>
            <a:ext cx="6115050" cy="2369993"/>
          </a:xfrm>
          <a:prstGeom prst="rect">
            <a:avLst/>
          </a:prstGeom>
          <a:effectLst/>
        </p:spPr>
      </p:pic>
      <mc:AlternateContent xmlns:mc="http://schemas.openxmlformats.org/markup-compatibility/2006" xmlns:a14="http://schemas.microsoft.com/office/drawing/2010/main">
        <mc:Choice Requires="a14">
          <p:sp>
            <p:nvSpPr>
              <p:cNvPr id="5" name="ZoneTexte 4"/>
              <p:cNvSpPr txBox="1"/>
              <p:nvPr/>
            </p:nvSpPr>
            <p:spPr>
              <a:xfrm>
                <a:off x="2713568" y="2063745"/>
                <a:ext cx="4699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m:rPr>
                              <m:sty m:val="p"/>
                            </m:rPr>
                            <a:rPr lang="el-GR" i="1" smtClean="0">
                              <a:latin typeface="Cambria Math"/>
                              <a:ea typeface="Cambria Math"/>
                            </a:rPr>
                            <m:t>Γ</m:t>
                          </m:r>
                        </m:e>
                        <m:sub>
                          <m:r>
                            <a:rPr lang="fr-FR" b="0" i="1" smtClean="0">
                              <a:latin typeface="Cambria Math"/>
                            </a:rPr>
                            <m:t>1</m:t>
                          </m:r>
                        </m:sub>
                      </m:sSub>
                    </m:oMath>
                  </m:oMathPara>
                </a14:m>
                <a:endParaRPr lang="fr-FR" dirty="0"/>
              </a:p>
            </p:txBody>
          </p:sp>
        </mc:Choice>
        <mc:Fallback xmlns="">
          <p:sp>
            <p:nvSpPr>
              <p:cNvPr id="5" name="ZoneTexte 4"/>
              <p:cNvSpPr txBox="1">
                <a:spLocks noRot="1" noChangeAspect="1" noMove="1" noResize="1" noEditPoints="1" noAdjustHandles="1" noChangeArrowheads="1" noChangeShapeType="1" noTextEdit="1"/>
              </p:cNvSpPr>
              <p:nvPr/>
            </p:nvSpPr>
            <p:spPr>
              <a:xfrm>
                <a:off x="2713568" y="2063745"/>
                <a:ext cx="469900" cy="369332"/>
              </a:xfrm>
              <a:prstGeom prst="rect">
                <a:avLst/>
              </a:prstGeom>
              <a:blipFill rotWithShape="1">
                <a:blip r:embed="rId5"/>
                <a:stretch>
                  <a:fillRect b="-166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 name="ZoneTexte 5"/>
              <p:cNvSpPr txBox="1"/>
              <p:nvPr/>
            </p:nvSpPr>
            <p:spPr>
              <a:xfrm>
                <a:off x="3723218" y="2336795"/>
                <a:ext cx="4699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m:rPr>
                              <m:sty m:val="p"/>
                            </m:rPr>
                            <a:rPr lang="el-GR" i="1" smtClean="0">
                              <a:latin typeface="Cambria Math"/>
                              <a:ea typeface="Cambria Math"/>
                            </a:rPr>
                            <m:t>Γ</m:t>
                          </m:r>
                        </m:e>
                        <m:sub>
                          <m:r>
                            <a:rPr lang="fr-FR" b="0" i="1" smtClean="0">
                              <a:latin typeface="Cambria Math"/>
                            </a:rPr>
                            <m:t>2</m:t>
                          </m:r>
                        </m:sub>
                      </m:sSub>
                    </m:oMath>
                  </m:oMathPara>
                </a14:m>
                <a:endParaRPr lang="fr-FR" dirty="0"/>
              </a:p>
            </p:txBody>
          </p:sp>
        </mc:Choice>
        <mc:Fallback xmlns="">
          <p:sp>
            <p:nvSpPr>
              <p:cNvPr id="6" name="ZoneTexte 5"/>
              <p:cNvSpPr txBox="1">
                <a:spLocks noRot="1" noChangeAspect="1" noMove="1" noResize="1" noEditPoints="1" noAdjustHandles="1" noChangeArrowheads="1" noChangeShapeType="1" noTextEdit="1"/>
              </p:cNvSpPr>
              <p:nvPr/>
            </p:nvSpPr>
            <p:spPr>
              <a:xfrm>
                <a:off x="3723218" y="2336795"/>
                <a:ext cx="469900" cy="369332"/>
              </a:xfrm>
              <a:prstGeom prst="rect">
                <a:avLst/>
              </a:prstGeom>
              <a:blipFill rotWithShape="1">
                <a:blip r:embed="rId6"/>
                <a:stretch>
                  <a:fillRect/>
                </a:stretch>
              </a:blipFill>
            </p:spPr>
            <p:txBody>
              <a:bodyPr/>
              <a:lstStyle/>
              <a:p>
                <a:r>
                  <a:rPr lang="fr-FR">
                    <a:noFill/>
                  </a:rPr>
                  <a:t> </a:t>
                </a:r>
              </a:p>
            </p:txBody>
          </p:sp>
        </mc:Fallback>
      </mc:AlternateContent>
      <p:cxnSp>
        <p:nvCxnSpPr>
          <p:cNvPr id="9" name="Connecteur droit avec flèche 8"/>
          <p:cNvCxnSpPr/>
          <p:nvPr/>
        </p:nvCxnSpPr>
        <p:spPr>
          <a:xfrm>
            <a:off x="6083299" y="2850061"/>
            <a:ext cx="516567" cy="578935"/>
          </a:xfrm>
          <a:prstGeom prst="straightConnector1">
            <a:avLst/>
          </a:prstGeom>
          <a:ln w="34925">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ZoneTexte 9"/>
              <p:cNvSpPr txBox="1"/>
              <p:nvPr/>
            </p:nvSpPr>
            <p:spPr>
              <a:xfrm>
                <a:off x="6505673" y="3059664"/>
                <a:ext cx="40851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1" i="1" smtClean="0">
                          <a:solidFill>
                            <a:schemeClr val="tx1"/>
                          </a:solidFill>
                          <a:latin typeface="Cambria Math"/>
                          <a:ea typeface="Cambria Math"/>
                        </a:rPr>
                        <m:t>𝕗</m:t>
                      </m:r>
                    </m:oMath>
                  </m:oMathPara>
                </a14:m>
                <a:endParaRPr lang="fr-FR" b="1" dirty="0">
                  <a:solidFill>
                    <a:schemeClr val="tx1"/>
                  </a:solidFill>
                </a:endParaRPr>
              </a:p>
            </p:txBody>
          </p:sp>
        </mc:Choice>
        <mc:Fallback xmlns="">
          <p:sp>
            <p:nvSpPr>
              <p:cNvPr id="10" name="ZoneTexte 9"/>
              <p:cNvSpPr txBox="1">
                <a:spLocks noRot="1" noChangeAspect="1" noMove="1" noResize="1" noEditPoints="1" noAdjustHandles="1" noChangeArrowheads="1" noChangeShapeType="1" noTextEdit="1"/>
              </p:cNvSpPr>
              <p:nvPr/>
            </p:nvSpPr>
            <p:spPr>
              <a:xfrm>
                <a:off x="6505673" y="3059664"/>
                <a:ext cx="408517" cy="369332"/>
              </a:xfrm>
              <a:prstGeom prst="rect">
                <a:avLst/>
              </a:prstGeom>
              <a:blipFill rotWithShape="1">
                <a:blip r:embed="rId7"/>
                <a:stretch>
                  <a:fillRect/>
                </a:stretch>
              </a:blipFill>
            </p:spPr>
            <p:txBody>
              <a:bodyPr/>
              <a:lstStyle/>
              <a:p>
                <a:r>
                  <a:rPr lang="fr-FR">
                    <a:noFill/>
                  </a:rPr>
                  <a:t> </a:t>
                </a:r>
              </a:p>
            </p:txBody>
          </p:sp>
        </mc:Fallback>
      </mc:AlternateContent>
      <p:sp>
        <p:nvSpPr>
          <p:cNvPr id="11" name="Ellipse 10"/>
          <p:cNvSpPr/>
          <p:nvPr/>
        </p:nvSpPr>
        <p:spPr>
          <a:xfrm>
            <a:off x="5534265" y="2466945"/>
            <a:ext cx="1065601" cy="678651"/>
          </a:xfrm>
          <a:prstGeom prst="ellipse">
            <a:avLst/>
          </a:prstGeom>
          <a:noFill/>
          <a:ln w="38100">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p:cNvSpPr txBox="1"/>
          <p:nvPr/>
        </p:nvSpPr>
        <p:spPr>
          <a:xfrm>
            <a:off x="1822851" y="1394303"/>
            <a:ext cx="1908000" cy="369332"/>
          </a:xfrm>
          <a:prstGeom prst="rect">
            <a:avLst/>
          </a:prstGeom>
          <a:noFill/>
        </p:spPr>
        <p:txBody>
          <a:bodyPr wrap="square" rtlCol="0">
            <a:spAutoFit/>
          </a:bodyPr>
          <a:lstStyle/>
          <a:p>
            <a:r>
              <a:rPr lang="en-GB" dirty="0">
                <a:solidFill>
                  <a:srgbClr val="FF0000"/>
                </a:solidFill>
                <a:latin typeface="+mn-lt"/>
              </a:rPr>
              <a:t>Joint space</a:t>
            </a:r>
          </a:p>
        </p:txBody>
      </p:sp>
      <p:sp>
        <p:nvSpPr>
          <p:cNvPr id="14" name="ZoneTexte 13"/>
          <p:cNvSpPr txBox="1"/>
          <p:nvPr/>
        </p:nvSpPr>
        <p:spPr>
          <a:xfrm>
            <a:off x="5554798" y="1312952"/>
            <a:ext cx="1512001" cy="646331"/>
          </a:xfrm>
          <a:prstGeom prst="rect">
            <a:avLst/>
          </a:prstGeom>
          <a:noFill/>
        </p:spPr>
        <p:txBody>
          <a:bodyPr wrap="square" rtlCol="0">
            <a:spAutoFit/>
          </a:bodyPr>
          <a:lstStyle/>
          <a:p>
            <a:r>
              <a:rPr lang="en-GB" dirty="0">
                <a:solidFill>
                  <a:srgbClr val="003399"/>
                </a:solidFill>
                <a:latin typeface="+mn-lt"/>
              </a:rPr>
              <a:t>Operational space</a:t>
            </a:r>
          </a:p>
        </p:txBody>
      </p:sp>
      <p:sp>
        <p:nvSpPr>
          <p:cNvPr id="15" name="Ellipse 14"/>
          <p:cNvSpPr/>
          <p:nvPr/>
        </p:nvSpPr>
        <p:spPr>
          <a:xfrm>
            <a:off x="6003925" y="2700000"/>
            <a:ext cx="219075" cy="209550"/>
          </a:xfrm>
          <a:prstGeom prst="ellipse">
            <a:avLst/>
          </a:prstGeom>
          <a:solidFill>
            <a:srgbClr val="003399"/>
          </a:solidFill>
          <a:ln>
            <a:solidFill>
              <a:srgbClr val="00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497196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D34DE489-344E-F349-BA25-9FD9097849B2}"/>
              </a:ext>
            </a:extLst>
          </p:cNvPr>
          <p:cNvSpPr>
            <a:spLocks noGrp="1"/>
          </p:cNvSpPr>
          <p:nvPr>
            <p:ph sz="quarter" idx="1"/>
          </p:nvPr>
        </p:nvSpPr>
        <p:spPr/>
        <p:txBody>
          <a:bodyPr/>
          <a:lstStyle/>
          <a:p>
            <a:r>
              <a:rPr lang="en-GB" dirty="0"/>
              <a:t>2 DOF planar robot</a:t>
            </a:r>
          </a:p>
        </p:txBody>
      </p:sp>
      <p:sp>
        <p:nvSpPr>
          <p:cNvPr id="3" name="Titre 2">
            <a:extLst>
              <a:ext uri="{FF2B5EF4-FFF2-40B4-BE49-F238E27FC236}">
                <a16:creationId xmlns:a16="http://schemas.microsoft.com/office/drawing/2014/main" id="{C41F597E-9B0B-0D4C-AACE-BA362BA38733}"/>
              </a:ext>
            </a:extLst>
          </p:cNvPr>
          <p:cNvSpPr>
            <a:spLocks noGrp="1"/>
          </p:cNvSpPr>
          <p:nvPr>
            <p:ph type="title"/>
          </p:nvPr>
        </p:nvSpPr>
        <p:spPr/>
        <p:txBody>
          <a:bodyPr/>
          <a:lstStyle/>
          <a:p>
            <a:r>
              <a:rPr lang="en-GB" dirty="0"/>
              <a:t>Position control</a:t>
            </a:r>
          </a:p>
        </p:txBody>
      </p:sp>
      <p:grpSp>
        <p:nvGrpSpPr>
          <p:cNvPr id="4" name="Grouper 26">
            <a:extLst>
              <a:ext uri="{FF2B5EF4-FFF2-40B4-BE49-F238E27FC236}">
                <a16:creationId xmlns:a16="http://schemas.microsoft.com/office/drawing/2014/main" id="{5A6B4449-76ED-BF40-9842-911AF06B1B12}"/>
              </a:ext>
            </a:extLst>
          </p:cNvPr>
          <p:cNvGrpSpPr>
            <a:grpSpLocks noChangeAspect="1"/>
          </p:cNvGrpSpPr>
          <p:nvPr/>
        </p:nvGrpSpPr>
        <p:grpSpPr>
          <a:xfrm>
            <a:off x="2429762" y="2291044"/>
            <a:ext cx="3971652" cy="2851530"/>
            <a:chOff x="-1" y="0"/>
            <a:chExt cx="2248240" cy="1614715"/>
          </a:xfrm>
        </p:grpSpPr>
        <p:cxnSp>
          <p:nvCxnSpPr>
            <p:cNvPr id="5" name="Connecteur droit avec flèche 4">
              <a:extLst>
                <a:ext uri="{FF2B5EF4-FFF2-40B4-BE49-F238E27FC236}">
                  <a16:creationId xmlns:a16="http://schemas.microsoft.com/office/drawing/2014/main" id="{88EF3D55-8589-A84A-B53C-85549EB14A1A}"/>
                </a:ext>
              </a:extLst>
            </p:cNvPr>
            <p:cNvCxnSpPr/>
            <p:nvPr/>
          </p:nvCxnSpPr>
          <p:spPr>
            <a:xfrm flipV="1">
              <a:off x="2009775" y="243205"/>
              <a:ext cx="0" cy="1098260"/>
            </a:xfrm>
            <a:prstGeom prst="straightConnector1">
              <a:avLst/>
            </a:prstGeom>
            <a:ln w="9525" cmpd="sng">
              <a:prstDash val="sysDash"/>
              <a:tailEnd type="none"/>
            </a:ln>
          </p:spPr>
          <p:style>
            <a:lnRef idx="2">
              <a:schemeClr val="dk1"/>
            </a:lnRef>
            <a:fillRef idx="0">
              <a:schemeClr val="dk1"/>
            </a:fillRef>
            <a:effectRef idx="1">
              <a:schemeClr val="dk1"/>
            </a:effectRef>
            <a:fontRef idx="minor">
              <a:schemeClr val="tx1"/>
            </a:fontRef>
          </p:style>
        </p:cxnSp>
        <p:cxnSp>
          <p:nvCxnSpPr>
            <p:cNvPr id="6" name="Connecteur droit avec flèche 5">
              <a:extLst>
                <a:ext uri="{FF2B5EF4-FFF2-40B4-BE49-F238E27FC236}">
                  <a16:creationId xmlns:a16="http://schemas.microsoft.com/office/drawing/2014/main" id="{D58D0351-B0EE-AB49-8071-EA378DB8D7B2}"/>
                </a:ext>
              </a:extLst>
            </p:cNvPr>
            <p:cNvCxnSpPr/>
            <p:nvPr/>
          </p:nvCxnSpPr>
          <p:spPr>
            <a:xfrm>
              <a:off x="346075" y="237490"/>
              <a:ext cx="1658526" cy="0"/>
            </a:xfrm>
            <a:prstGeom prst="straightConnector1">
              <a:avLst/>
            </a:prstGeom>
            <a:ln w="9525" cmpd="sng">
              <a:prstDash val="sysDash"/>
              <a:tailEnd type="none"/>
            </a:ln>
          </p:spPr>
          <p:style>
            <a:lnRef idx="2">
              <a:schemeClr val="dk1"/>
            </a:lnRef>
            <a:fillRef idx="0">
              <a:schemeClr val="dk1"/>
            </a:fillRef>
            <a:effectRef idx="1">
              <a:schemeClr val="dk1"/>
            </a:effectRef>
            <a:fontRef idx="minor">
              <a:schemeClr val="tx1"/>
            </a:fontRef>
          </p:style>
        </p:cxnSp>
        <p:cxnSp>
          <p:nvCxnSpPr>
            <p:cNvPr id="7" name="Connecteur droit 6">
              <a:extLst>
                <a:ext uri="{FF2B5EF4-FFF2-40B4-BE49-F238E27FC236}">
                  <a16:creationId xmlns:a16="http://schemas.microsoft.com/office/drawing/2014/main" id="{273C2CCA-5C4C-0F4C-9DB8-2870F48E1FA8}"/>
                </a:ext>
              </a:extLst>
            </p:cNvPr>
            <p:cNvCxnSpPr/>
            <p:nvPr/>
          </p:nvCxnSpPr>
          <p:spPr>
            <a:xfrm flipV="1">
              <a:off x="807720" y="701675"/>
              <a:ext cx="1196755" cy="458349"/>
            </a:xfrm>
            <a:prstGeom prst="line">
              <a:avLst/>
            </a:prstGeom>
            <a:ln w="12700">
              <a:prstDash val="sysDash"/>
            </a:ln>
          </p:spPr>
          <p:style>
            <a:lnRef idx="2">
              <a:schemeClr val="accent1"/>
            </a:lnRef>
            <a:fillRef idx="0">
              <a:schemeClr val="accent1"/>
            </a:fillRef>
            <a:effectRef idx="1">
              <a:schemeClr val="accent1"/>
            </a:effectRef>
            <a:fontRef idx="minor">
              <a:schemeClr val="tx1"/>
            </a:fontRef>
          </p:style>
        </p:cxnSp>
        <p:cxnSp>
          <p:nvCxnSpPr>
            <p:cNvPr id="8" name="Connecteur droit 7">
              <a:extLst>
                <a:ext uri="{FF2B5EF4-FFF2-40B4-BE49-F238E27FC236}">
                  <a16:creationId xmlns:a16="http://schemas.microsoft.com/office/drawing/2014/main" id="{8B4FAF33-7158-4947-B2EB-658B40EE8D50}"/>
                </a:ext>
              </a:extLst>
            </p:cNvPr>
            <p:cNvCxnSpPr/>
            <p:nvPr/>
          </p:nvCxnSpPr>
          <p:spPr>
            <a:xfrm flipV="1">
              <a:off x="337820" y="883285"/>
              <a:ext cx="1196755" cy="458349"/>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Connecteur droit 8">
              <a:extLst>
                <a:ext uri="{FF2B5EF4-FFF2-40B4-BE49-F238E27FC236}">
                  <a16:creationId xmlns:a16="http://schemas.microsoft.com/office/drawing/2014/main" id="{E22295EA-4F82-ED43-8A80-E3EB7B47F4AB}"/>
                </a:ext>
              </a:extLst>
            </p:cNvPr>
            <p:cNvCxnSpPr/>
            <p:nvPr/>
          </p:nvCxnSpPr>
          <p:spPr>
            <a:xfrm flipV="1">
              <a:off x="1523365" y="237490"/>
              <a:ext cx="483781" cy="644355"/>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Connecteur droit avec flèche 9">
              <a:extLst>
                <a:ext uri="{FF2B5EF4-FFF2-40B4-BE49-F238E27FC236}">
                  <a16:creationId xmlns:a16="http://schemas.microsoft.com/office/drawing/2014/main" id="{F8DA487D-396F-744E-98A2-F44733FE9F3A}"/>
                </a:ext>
              </a:extLst>
            </p:cNvPr>
            <p:cNvCxnSpPr/>
            <p:nvPr/>
          </p:nvCxnSpPr>
          <p:spPr>
            <a:xfrm rot="16200000">
              <a:off x="162242" y="1190943"/>
              <a:ext cx="34281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1" name="Zone de texte 35">
                  <a:extLst>
                    <a:ext uri="{FF2B5EF4-FFF2-40B4-BE49-F238E27FC236}">
                      <a16:creationId xmlns:a16="http://schemas.microsoft.com/office/drawing/2014/main" id="{C9DFE102-68AC-3445-8BE7-422DA3A175A6}"/>
                    </a:ext>
                  </a:extLst>
                </p:cNvPr>
                <p:cNvSpPr txBox="1"/>
                <p:nvPr/>
              </p:nvSpPr>
              <p:spPr>
                <a:xfrm>
                  <a:off x="55879" y="841375"/>
                  <a:ext cx="342837" cy="342810"/>
                </a:xfrm>
                <a:prstGeom prst="rect">
                  <a:avLst/>
                </a:prstGeom>
                <a:noFill/>
                <a:ln>
                  <a:noFill/>
                </a:ln>
                <a:effectLst/>
                <a:extLst>
                  <a:ext uri="{C572A759-6A51-4108-AA02-DFA0A04FC94B}">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fr-FR" sz="1200" i="1">
                                <a:effectLst/>
                                <a:latin typeface="Cambria Math" panose="02040503050406030204" pitchFamily="18" charset="0"/>
                                <a:ea typeface="MS Mincho" panose="02020609040205080304" pitchFamily="49" charset="-128"/>
                                <a:cs typeface="Times New Roman" panose="02020603050405020304" pitchFamily="18" charset="0"/>
                              </a:rPr>
                            </m:ctrlPr>
                          </m:sSubPr>
                          <m:e>
                            <m:r>
                              <a:rPr lang="fr-FR" sz="1200" i="1">
                                <a:effectLst/>
                                <a:latin typeface="Cambria Math" panose="02040503050406030204" pitchFamily="18" charset="0"/>
                                <a:ea typeface="MS Mincho" panose="02020609040205080304" pitchFamily="49" charset="-128"/>
                                <a:cs typeface="Times New Roman" panose="02020603050405020304" pitchFamily="18" charset="0"/>
                              </a:rPr>
                              <m:t>𝑦</m:t>
                            </m:r>
                          </m:e>
                          <m:sub>
                            <m:r>
                              <a:rPr lang="fr-FR" sz="1200" i="1">
                                <a:effectLst/>
                                <a:latin typeface="Cambria Math" panose="02040503050406030204" pitchFamily="18" charset="0"/>
                                <a:ea typeface="MS Mincho" panose="02020609040205080304" pitchFamily="49" charset="-128"/>
                                <a:cs typeface="Times New Roman" panose="02020603050405020304" pitchFamily="18" charset="0"/>
                              </a:rPr>
                              <m:t>0</m:t>
                            </m:r>
                          </m:sub>
                        </m:sSub>
                      </m:oMath>
                    </m:oMathPara>
                  </a14:m>
                  <a:endParaRPr lang="fr-FR" sz="1200">
                    <a:effectLst/>
                    <a:ea typeface="MS Mincho" panose="02020609040205080304" pitchFamily="49" charset="-128"/>
                    <a:cs typeface="Times New Roman" panose="02020603050405020304" pitchFamily="18" charset="0"/>
                  </a:endParaRPr>
                </a:p>
              </p:txBody>
            </p:sp>
          </mc:Choice>
          <mc:Fallback xmlns="">
            <p:sp>
              <p:nvSpPr>
                <p:cNvPr id="11" name="Zone de texte 35">
                  <a:extLst>
                    <a:ext uri="{FF2B5EF4-FFF2-40B4-BE49-F238E27FC236}">
                      <a16:creationId xmlns:a16="http://schemas.microsoft.com/office/drawing/2014/main" id="{C9DFE102-68AC-3445-8BE7-422DA3A175A6}"/>
                    </a:ext>
                  </a:extLst>
                </p:cNvPr>
                <p:cNvSpPr txBox="1">
                  <a:spLocks noRot="1" noChangeAspect="1" noMove="1" noResize="1" noEditPoints="1" noAdjustHandles="1" noChangeArrowheads="1" noChangeShapeType="1" noTextEdit="1"/>
                </p:cNvSpPr>
                <p:nvPr/>
              </p:nvSpPr>
              <p:spPr>
                <a:xfrm>
                  <a:off x="55879" y="841375"/>
                  <a:ext cx="342837" cy="342810"/>
                </a:xfrm>
                <a:prstGeom prst="rect">
                  <a:avLst/>
                </a:prstGeom>
                <a:blipFill>
                  <a:blip r:embed="rId2"/>
                  <a:stretch>
                    <a:fillRect/>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id="http://schemas.microsoft.com/office/word/2016/wordml/cid"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a:lstStyle/>
                <a:p>
                  <a:r>
                    <a:rPr lang="fr-FR">
                      <a:noFill/>
                    </a:rPr>
                    <a:t> </a:t>
                  </a:r>
                </a:p>
              </p:txBody>
            </p:sp>
          </mc:Fallback>
        </mc:AlternateContent>
        <p:cxnSp>
          <p:nvCxnSpPr>
            <p:cNvPr id="12" name="Connecteur droit avec flèche 11">
              <a:extLst>
                <a:ext uri="{FF2B5EF4-FFF2-40B4-BE49-F238E27FC236}">
                  <a16:creationId xmlns:a16="http://schemas.microsoft.com/office/drawing/2014/main" id="{419C7E19-4931-D349-8AD3-7C93F3226532}"/>
                </a:ext>
              </a:extLst>
            </p:cNvPr>
            <p:cNvCxnSpPr/>
            <p:nvPr/>
          </p:nvCxnSpPr>
          <p:spPr>
            <a:xfrm>
              <a:off x="332105" y="1336040"/>
              <a:ext cx="342837"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3" name="Zone de texte 37">
                  <a:extLst>
                    <a:ext uri="{FF2B5EF4-FFF2-40B4-BE49-F238E27FC236}">
                      <a16:creationId xmlns:a16="http://schemas.microsoft.com/office/drawing/2014/main" id="{ABA93334-7445-F243-8CB8-0CE73175010B}"/>
                    </a:ext>
                  </a:extLst>
                </p:cNvPr>
                <p:cNvSpPr txBox="1"/>
                <p:nvPr/>
              </p:nvSpPr>
              <p:spPr>
                <a:xfrm>
                  <a:off x="533400" y="1271905"/>
                  <a:ext cx="342837" cy="342810"/>
                </a:xfrm>
                <a:prstGeom prst="rect">
                  <a:avLst/>
                </a:prstGeom>
                <a:noFill/>
                <a:ln>
                  <a:noFill/>
                </a:ln>
                <a:effectLst/>
                <a:extLst>
                  <a:ext uri="{C572A759-6A51-4108-AA02-DFA0A04FC94B}">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fr-FR" sz="1200" i="1">
                                <a:effectLst/>
                                <a:latin typeface="Cambria Math" panose="02040503050406030204" pitchFamily="18" charset="0"/>
                                <a:ea typeface="MS Mincho" panose="02020609040205080304" pitchFamily="49" charset="-128"/>
                                <a:cs typeface="Times New Roman" panose="02020603050405020304" pitchFamily="18" charset="0"/>
                              </a:rPr>
                            </m:ctrlPr>
                          </m:sSubPr>
                          <m:e>
                            <m:r>
                              <a:rPr lang="fr-FR" sz="1200" i="1">
                                <a:effectLst/>
                                <a:latin typeface="Cambria Math" panose="02040503050406030204" pitchFamily="18" charset="0"/>
                                <a:ea typeface="MS Mincho" panose="02020609040205080304" pitchFamily="49" charset="-128"/>
                                <a:cs typeface="Times New Roman" panose="02020603050405020304" pitchFamily="18" charset="0"/>
                              </a:rPr>
                              <m:t>𝑥</m:t>
                            </m:r>
                          </m:e>
                          <m:sub>
                            <m:r>
                              <a:rPr lang="fr-FR" sz="1200" i="1">
                                <a:effectLst/>
                                <a:latin typeface="Cambria Math" panose="02040503050406030204" pitchFamily="18" charset="0"/>
                                <a:ea typeface="MS Mincho" panose="02020609040205080304" pitchFamily="49" charset="-128"/>
                                <a:cs typeface="Times New Roman" panose="02020603050405020304" pitchFamily="18" charset="0"/>
                              </a:rPr>
                              <m:t>0</m:t>
                            </m:r>
                          </m:sub>
                        </m:sSub>
                      </m:oMath>
                    </m:oMathPara>
                  </a14:m>
                  <a:endParaRPr lang="fr-FR" sz="1200">
                    <a:effectLst/>
                    <a:ea typeface="MS Mincho" panose="02020609040205080304" pitchFamily="49" charset="-128"/>
                    <a:cs typeface="Times New Roman" panose="02020603050405020304" pitchFamily="18" charset="0"/>
                  </a:endParaRPr>
                </a:p>
              </p:txBody>
            </p:sp>
          </mc:Choice>
          <mc:Fallback xmlns="">
            <p:sp>
              <p:nvSpPr>
                <p:cNvPr id="13" name="Zone de texte 37">
                  <a:extLst>
                    <a:ext uri="{FF2B5EF4-FFF2-40B4-BE49-F238E27FC236}">
                      <a16:creationId xmlns:a16="http://schemas.microsoft.com/office/drawing/2014/main" id="{ABA93334-7445-F243-8CB8-0CE73175010B}"/>
                    </a:ext>
                  </a:extLst>
                </p:cNvPr>
                <p:cNvSpPr txBox="1">
                  <a:spLocks noRot="1" noChangeAspect="1" noMove="1" noResize="1" noEditPoints="1" noAdjustHandles="1" noChangeArrowheads="1" noChangeShapeType="1" noTextEdit="1"/>
                </p:cNvSpPr>
                <p:nvPr/>
              </p:nvSpPr>
              <p:spPr>
                <a:xfrm>
                  <a:off x="533400" y="1271905"/>
                  <a:ext cx="342837" cy="342810"/>
                </a:xfrm>
                <a:prstGeom prst="rect">
                  <a:avLst/>
                </a:prstGeom>
                <a:blipFill>
                  <a:blip r:embed="rId3"/>
                  <a:stretch>
                    <a:fillRect/>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id="http://schemas.microsoft.com/office/word/2016/wordml/cid"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a:lstStyle/>
                <a:p>
                  <a:r>
                    <a:rPr lang="fr-FR">
                      <a:noFill/>
                    </a:rPr>
                    <a:t> </a:t>
                  </a:r>
                </a:p>
              </p:txBody>
            </p:sp>
          </mc:Fallback>
        </mc:AlternateContent>
        <p:cxnSp>
          <p:nvCxnSpPr>
            <p:cNvPr id="14" name="Connecteur droit avec flèche 13">
              <a:extLst>
                <a:ext uri="{FF2B5EF4-FFF2-40B4-BE49-F238E27FC236}">
                  <a16:creationId xmlns:a16="http://schemas.microsoft.com/office/drawing/2014/main" id="{F6C306BB-8729-B244-AEC4-E22776681F29}"/>
                </a:ext>
              </a:extLst>
            </p:cNvPr>
            <p:cNvCxnSpPr/>
            <p:nvPr/>
          </p:nvCxnSpPr>
          <p:spPr>
            <a:xfrm>
              <a:off x="648334" y="1338580"/>
              <a:ext cx="1599905" cy="0"/>
            </a:xfrm>
            <a:prstGeom prst="straightConnector1">
              <a:avLst/>
            </a:prstGeom>
            <a:ln w="9525" cmpd="sng">
              <a:prstDash val="solid"/>
              <a:tailEnd type="none"/>
            </a:ln>
          </p:spPr>
          <p:style>
            <a:lnRef idx="2">
              <a:schemeClr val="dk1"/>
            </a:lnRef>
            <a:fillRef idx="0">
              <a:schemeClr val="dk1"/>
            </a:fillRef>
            <a:effectRef idx="1">
              <a:schemeClr val="dk1"/>
            </a:effectRef>
            <a:fontRef idx="minor">
              <a:schemeClr val="tx1"/>
            </a:fontRef>
          </p:style>
        </p:cxnSp>
        <p:cxnSp>
          <p:nvCxnSpPr>
            <p:cNvPr id="15" name="Connecteur droit avec flèche 14">
              <a:extLst>
                <a:ext uri="{FF2B5EF4-FFF2-40B4-BE49-F238E27FC236}">
                  <a16:creationId xmlns:a16="http://schemas.microsoft.com/office/drawing/2014/main" id="{BC472FD5-6CDF-D745-903B-1461FEC717E2}"/>
                </a:ext>
              </a:extLst>
            </p:cNvPr>
            <p:cNvCxnSpPr/>
            <p:nvPr/>
          </p:nvCxnSpPr>
          <p:spPr>
            <a:xfrm flipV="1">
              <a:off x="329565" y="0"/>
              <a:ext cx="0" cy="1028429"/>
            </a:xfrm>
            <a:prstGeom prst="straightConnector1">
              <a:avLst/>
            </a:prstGeom>
            <a:ln w="9525" cmpd="sng">
              <a:prstDash val="solid"/>
              <a:tailEnd type="non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6" name="Zone de texte 40">
                  <a:extLst>
                    <a:ext uri="{FF2B5EF4-FFF2-40B4-BE49-F238E27FC236}">
                      <a16:creationId xmlns:a16="http://schemas.microsoft.com/office/drawing/2014/main" id="{4F646823-8CDF-2144-B8BE-508E5AF43BDF}"/>
                    </a:ext>
                  </a:extLst>
                </p:cNvPr>
                <p:cNvSpPr txBox="1"/>
                <p:nvPr/>
              </p:nvSpPr>
              <p:spPr>
                <a:xfrm>
                  <a:off x="-1" y="1266190"/>
                  <a:ext cx="342837" cy="342810"/>
                </a:xfrm>
                <a:prstGeom prst="rect">
                  <a:avLst/>
                </a:prstGeom>
                <a:noFill/>
                <a:ln>
                  <a:noFill/>
                </a:ln>
                <a:effectLst/>
                <a:extLst>
                  <a:ext uri="{C572A759-6A51-4108-AA02-DFA0A04FC94B}">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r>
                          <a:rPr lang="fr-FR" sz="1200" i="1">
                            <a:effectLst/>
                            <a:latin typeface="Cambria Math" panose="02040503050406030204" pitchFamily="18" charset="0"/>
                            <a:ea typeface="MS Mincho" panose="02020609040205080304" pitchFamily="49" charset="-128"/>
                            <a:cs typeface="Times New Roman" panose="02020603050405020304" pitchFamily="18" charset="0"/>
                          </a:rPr>
                          <m:t>𝑂</m:t>
                        </m:r>
                      </m:oMath>
                    </m:oMathPara>
                  </a14:m>
                  <a:endParaRPr lang="fr-FR" sz="1200">
                    <a:effectLst/>
                    <a:ea typeface="MS Mincho" panose="02020609040205080304" pitchFamily="49" charset="-128"/>
                    <a:cs typeface="Times New Roman" panose="02020603050405020304" pitchFamily="18" charset="0"/>
                  </a:endParaRPr>
                </a:p>
              </p:txBody>
            </p:sp>
          </mc:Choice>
          <mc:Fallback xmlns="">
            <p:sp>
              <p:nvSpPr>
                <p:cNvPr id="16" name="Zone de texte 40">
                  <a:extLst>
                    <a:ext uri="{FF2B5EF4-FFF2-40B4-BE49-F238E27FC236}">
                      <a16:creationId xmlns:a16="http://schemas.microsoft.com/office/drawing/2014/main" id="{4F646823-8CDF-2144-B8BE-508E5AF43BDF}"/>
                    </a:ext>
                  </a:extLst>
                </p:cNvPr>
                <p:cNvSpPr txBox="1">
                  <a:spLocks noRot="1" noChangeAspect="1" noMove="1" noResize="1" noEditPoints="1" noAdjustHandles="1" noChangeArrowheads="1" noChangeShapeType="1" noTextEdit="1"/>
                </p:cNvSpPr>
                <p:nvPr/>
              </p:nvSpPr>
              <p:spPr>
                <a:xfrm>
                  <a:off x="-1" y="1266190"/>
                  <a:ext cx="342837" cy="342810"/>
                </a:xfrm>
                <a:prstGeom prst="rect">
                  <a:avLst/>
                </a:prstGeom>
                <a:blipFill>
                  <a:blip r:embed="rId4"/>
                  <a:stretch>
                    <a:fillRect/>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id="http://schemas.microsoft.com/office/word/2016/wordml/cid"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a:lstStyle/>
                <a:p>
                  <a:r>
                    <a:rPr lang="fr-FR">
                      <a:noFill/>
                    </a:rPr>
                    <a:t> </a:t>
                  </a:r>
                </a:p>
              </p:txBody>
            </p:sp>
          </mc:Fallback>
        </mc:AlternateContent>
        <p:sp>
          <p:nvSpPr>
            <p:cNvPr id="17" name="Ellipse 16">
              <a:extLst>
                <a:ext uri="{FF2B5EF4-FFF2-40B4-BE49-F238E27FC236}">
                  <a16:creationId xmlns:a16="http://schemas.microsoft.com/office/drawing/2014/main" id="{346A8986-49E2-074F-A606-C46DE526C2AD}"/>
                </a:ext>
              </a:extLst>
            </p:cNvPr>
            <p:cNvSpPr/>
            <p:nvPr/>
          </p:nvSpPr>
          <p:spPr>
            <a:xfrm>
              <a:off x="262254" y="1280160"/>
              <a:ext cx="114279" cy="114270"/>
            </a:xfrm>
            <a:prstGeom prst="ellipse">
              <a:avLst/>
            </a:prstGeom>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mc:AlternateContent xmlns:mc="http://schemas.openxmlformats.org/markup-compatibility/2006" xmlns:a14="http://schemas.microsoft.com/office/drawing/2010/main">
          <mc:Choice Requires="a14">
            <p:sp>
              <p:nvSpPr>
                <p:cNvPr id="18" name="Zone de texte 42">
                  <a:extLst>
                    <a:ext uri="{FF2B5EF4-FFF2-40B4-BE49-F238E27FC236}">
                      <a16:creationId xmlns:a16="http://schemas.microsoft.com/office/drawing/2014/main" id="{31C31F50-7797-3B4F-A65C-0F062A73AA35}"/>
                    </a:ext>
                  </a:extLst>
                </p:cNvPr>
                <p:cNvSpPr txBox="1"/>
                <p:nvPr/>
              </p:nvSpPr>
              <p:spPr>
                <a:xfrm>
                  <a:off x="1820975" y="1360580"/>
                  <a:ext cx="342837" cy="203300"/>
                </a:xfrm>
                <a:prstGeom prst="rect">
                  <a:avLst/>
                </a:prstGeom>
                <a:noFill/>
                <a:ln>
                  <a:noFill/>
                </a:ln>
                <a:effectLst/>
                <a:extLst>
                  <a:ext uri="{C572A759-6A51-4108-AA02-DFA0A04FC94B}">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r>
                          <a:rPr lang="fr-FR" sz="1200" i="1">
                            <a:effectLst/>
                            <a:latin typeface="Cambria Math" panose="02040503050406030204" pitchFamily="18" charset="0"/>
                            <a:ea typeface="MS Mincho" panose="02020609040205080304" pitchFamily="49" charset="-128"/>
                            <a:cs typeface="Times New Roman" panose="02020603050405020304" pitchFamily="18" charset="0"/>
                          </a:rPr>
                          <m:t>𝑥</m:t>
                        </m:r>
                      </m:oMath>
                    </m:oMathPara>
                  </a14:m>
                  <a:endParaRPr lang="fr-FR" sz="1200" dirty="0">
                    <a:effectLst/>
                    <a:ea typeface="MS Mincho" panose="02020609040205080304" pitchFamily="49" charset="-128"/>
                    <a:cs typeface="Times New Roman" panose="02020603050405020304" pitchFamily="18" charset="0"/>
                  </a:endParaRPr>
                </a:p>
              </p:txBody>
            </p:sp>
          </mc:Choice>
          <mc:Fallback xmlns="">
            <p:sp>
              <p:nvSpPr>
                <p:cNvPr id="18" name="Zone de texte 42">
                  <a:extLst>
                    <a:ext uri="{FF2B5EF4-FFF2-40B4-BE49-F238E27FC236}">
                      <a16:creationId xmlns:a16="http://schemas.microsoft.com/office/drawing/2014/main" id="{31C31F50-7797-3B4F-A65C-0F062A73AA35}"/>
                    </a:ext>
                  </a:extLst>
                </p:cNvPr>
                <p:cNvSpPr txBox="1">
                  <a:spLocks noRot="1" noChangeAspect="1" noMove="1" noResize="1" noEditPoints="1" noAdjustHandles="1" noChangeArrowheads="1" noChangeShapeType="1" noTextEdit="1"/>
                </p:cNvSpPr>
                <p:nvPr/>
              </p:nvSpPr>
              <p:spPr>
                <a:xfrm>
                  <a:off x="1820975" y="1360580"/>
                  <a:ext cx="342837" cy="203300"/>
                </a:xfrm>
                <a:prstGeom prst="rect">
                  <a:avLst/>
                </a:prstGeom>
                <a:blipFill>
                  <a:blip r:embed="rId5"/>
                  <a:stretch>
                    <a:fillRect/>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id="http://schemas.microsoft.com/office/word/2016/wordml/cid"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9" name="Zone de texte 43">
                  <a:extLst>
                    <a:ext uri="{FF2B5EF4-FFF2-40B4-BE49-F238E27FC236}">
                      <a16:creationId xmlns:a16="http://schemas.microsoft.com/office/drawing/2014/main" id="{CE7E9CAF-32D0-8E4E-970A-5044853699F6}"/>
                    </a:ext>
                  </a:extLst>
                </p:cNvPr>
                <p:cNvSpPr txBox="1"/>
                <p:nvPr/>
              </p:nvSpPr>
              <p:spPr>
                <a:xfrm>
                  <a:off x="92075" y="80645"/>
                  <a:ext cx="342837" cy="342810"/>
                </a:xfrm>
                <a:prstGeom prst="rect">
                  <a:avLst/>
                </a:prstGeom>
                <a:noFill/>
                <a:ln>
                  <a:noFill/>
                </a:ln>
                <a:effectLst/>
                <a:extLst>
                  <a:ext uri="{C572A759-6A51-4108-AA02-DFA0A04FC94B}">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r>
                          <a:rPr lang="fr-FR" sz="1200" i="1">
                            <a:effectLst/>
                            <a:latin typeface="Cambria Math" panose="02040503050406030204" pitchFamily="18" charset="0"/>
                            <a:ea typeface="MS Mincho" panose="02020609040205080304" pitchFamily="49" charset="-128"/>
                            <a:cs typeface="Times New Roman" panose="02020603050405020304" pitchFamily="18" charset="0"/>
                          </a:rPr>
                          <m:t>𝑦</m:t>
                        </m:r>
                      </m:oMath>
                    </m:oMathPara>
                  </a14:m>
                  <a:endParaRPr lang="fr-FR" sz="1200">
                    <a:effectLst/>
                    <a:ea typeface="MS Mincho" panose="02020609040205080304" pitchFamily="49" charset="-128"/>
                    <a:cs typeface="Times New Roman" panose="02020603050405020304" pitchFamily="18" charset="0"/>
                  </a:endParaRPr>
                </a:p>
              </p:txBody>
            </p:sp>
          </mc:Choice>
          <mc:Fallback xmlns="">
            <p:sp>
              <p:nvSpPr>
                <p:cNvPr id="19" name="Zone de texte 43">
                  <a:extLst>
                    <a:ext uri="{FF2B5EF4-FFF2-40B4-BE49-F238E27FC236}">
                      <a16:creationId xmlns:a16="http://schemas.microsoft.com/office/drawing/2014/main" id="{CE7E9CAF-32D0-8E4E-970A-5044853699F6}"/>
                    </a:ext>
                  </a:extLst>
                </p:cNvPr>
                <p:cNvSpPr txBox="1">
                  <a:spLocks noRot="1" noChangeAspect="1" noMove="1" noResize="1" noEditPoints="1" noAdjustHandles="1" noChangeArrowheads="1" noChangeShapeType="1" noTextEdit="1"/>
                </p:cNvSpPr>
                <p:nvPr/>
              </p:nvSpPr>
              <p:spPr>
                <a:xfrm>
                  <a:off x="92075" y="80645"/>
                  <a:ext cx="342837" cy="342810"/>
                </a:xfrm>
                <a:prstGeom prst="rect">
                  <a:avLst/>
                </a:prstGeom>
                <a:blipFill>
                  <a:blip r:embed="rId6"/>
                  <a:stretch>
                    <a:fillRect/>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id="http://schemas.microsoft.com/office/word/2016/wordml/cid"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0" name="Zone de texte 44">
                  <a:extLst>
                    <a:ext uri="{FF2B5EF4-FFF2-40B4-BE49-F238E27FC236}">
                      <a16:creationId xmlns:a16="http://schemas.microsoft.com/office/drawing/2014/main" id="{53B74E1E-5A77-C448-8F7C-1E9C531BE614}"/>
                    </a:ext>
                  </a:extLst>
                </p:cNvPr>
                <p:cNvSpPr txBox="1"/>
                <p:nvPr/>
              </p:nvSpPr>
              <p:spPr>
                <a:xfrm>
                  <a:off x="1193799" y="1033780"/>
                  <a:ext cx="342837" cy="342810"/>
                </a:xfrm>
                <a:prstGeom prst="rect">
                  <a:avLst/>
                </a:prstGeom>
                <a:noFill/>
                <a:ln>
                  <a:noFill/>
                </a:ln>
                <a:effectLst/>
                <a:extLst>
                  <a:ext uri="{C572A759-6A51-4108-AA02-DFA0A04FC94B}">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fr-FR" sz="1200" i="1">
                                <a:effectLst/>
                                <a:latin typeface="Cambria Math" panose="02040503050406030204" pitchFamily="18" charset="0"/>
                                <a:ea typeface="MS Mincho" panose="02020609040205080304" pitchFamily="49" charset="-128"/>
                                <a:cs typeface="Times New Roman" panose="02020603050405020304" pitchFamily="18" charset="0"/>
                              </a:rPr>
                            </m:ctrlPr>
                          </m:sSubPr>
                          <m:e>
                            <m:r>
                              <a:rPr lang="fr-FR" sz="1200" i="1">
                                <a:effectLst/>
                                <a:latin typeface="Cambria Math" panose="02040503050406030204" pitchFamily="18" charset="0"/>
                                <a:ea typeface="MS Mincho" panose="02020609040205080304" pitchFamily="49" charset="-128"/>
                                <a:cs typeface="Times New Roman" panose="02020603050405020304" pitchFamily="18" charset="0"/>
                              </a:rPr>
                              <m:t>𝜃</m:t>
                            </m:r>
                          </m:e>
                          <m:sub>
                            <m:r>
                              <a:rPr lang="fr-FR" sz="1200" i="1">
                                <a:effectLst/>
                                <a:latin typeface="Cambria Math" panose="02040503050406030204" pitchFamily="18" charset="0"/>
                                <a:ea typeface="MS Mincho" panose="02020609040205080304" pitchFamily="49" charset="-128"/>
                                <a:cs typeface="Times New Roman" panose="02020603050405020304" pitchFamily="18" charset="0"/>
                              </a:rPr>
                              <m:t>1</m:t>
                            </m:r>
                          </m:sub>
                        </m:sSub>
                      </m:oMath>
                    </m:oMathPara>
                  </a14:m>
                  <a:endParaRPr lang="fr-FR" sz="1200">
                    <a:effectLst/>
                    <a:ea typeface="MS Mincho" panose="02020609040205080304" pitchFamily="49" charset="-128"/>
                    <a:cs typeface="Times New Roman" panose="02020603050405020304" pitchFamily="18" charset="0"/>
                  </a:endParaRPr>
                </a:p>
              </p:txBody>
            </p:sp>
          </mc:Choice>
          <mc:Fallback xmlns="">
            <p:sp>
              <p:nvSpPr>
                <p:cNvPr id="20" name="Zone de texte 44">
                  <a:extLst>
                    <a:ext uri="{FF2B5EF4-FFF2-40B4-BE49-F238E27FC236}">
                      <a16:creationId xmlns:a16="http://schemas.microsoft.com/office/drawing/2014/main" id="{53B74E1E-5A77-C448-8F7C-1E9C531BE614}"/>
                    </a:ext>
                  </a:extLst>
                </p:cNvPr>
                <p:cNvSpPr txBox="1">
                  <a:spLocks noRot="1" noChangeAspect="1" noMove="1" noResize="1" noEditPoints="1" noAdjustHandles="1" noChangeArrowheads="1" noChangeShapeType="1" noTextEdit="1"/>
                </p:cNvSpPr>
                <p:nvPr/>
              </p:nvSpPr>
              <p:spPr>
                <a:xfrm>
                  <a:off x="1193799" y="1033780"/>
                  <a:ext cx="342837" cy="342810"/>
                </a:xfrm>
                <a:prstGeom prst="rect">
                  <a:avLst/>
                </a:prstGeom>
                <a:blipFill>
                  <a:blip r:embed="rId7"/>
                  <a:stretch>
                    <a:fillRect/>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id="http://schemas.microsoft.com/office/word/2016/wordml/cid"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1" name="Zone de texte 45">
                  <a:extLst>
                    <a:ext uri="{FF2B5EF4-FFF2-40B4-BE49-F238E27FC236}">
                      <a16:creationId xmlns:a16="http://schemas.microsoft.com/office/drawing/2014/main" id="{76F32C8A-EC2E-7C4C-A62E-22194C101695}"/>
                    </a:ext>
                  </a:extLst>
                </p:cNvPr>
                <p:cNvSpPr txBox="1"/>
                <p:nvPr/>
              </p:nvSpPr>
              <p:spPr>
                <a:xfrm>
                  <a:off x="1722120" y="461010"/>
                  <a:ext cx="342202" cy="342175"/>
                </a:xfrm>
                <a:prstGeom prst="rect">
                  <a:avLst/>
                </a:prstGeom>
                <a:noFill/>
                <a:ln>
                  <a:noFill/>
                </a:ln>
                <a:effectLst/>
                <a:extLst>
                  <a:ext uri="{C572A759-6A51-4108-AA02-DFA0A04FC94B}">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fr-FR" sz="1200" i="1">
                                <a:effectLst/>
                                <a:latin typeface="Cambria Math" panose="02040503050406030204" pitchFamily="18" charset="0"/>
                                <a:ea typeface="MS Mincho" panose="02020609040205080304" pitchFamily="49" charset="-128"/>
                                <a:cs typeface="Times New Roman" panose="02020603050405020304" pitchFamily="18" charset="0"/>
                              </a:rPr>
                            </m:ctrlPr>
                          </m:sSubPr>
                          <m:e>
                            <m:r>
                              <a:rPr lang="fr-FR" sz="1200" i="1">
                                <a:effectLst/>
                                <a:latin typeface="Cambria Math" panose="02040503050406030204" pitchFamily="18" charset="0"/>
                                <a:ea typeface="MS Mincho" panose="02020609040205080304" pitchFamily="49" charset="-128"/>
                                <a:cs typeface="Times New Roman" panose="02020603050405020304" pitchFamily="18" charset="0"/>
                              </a:rPr>
                              <m:t>𝜃</m:t>
                            </m:r>
                          </m:e>
                          <m:sub>
                            <m:r>
                              <a:rPr lang="fr-FR" sz="1200" i="1">
                                <a:effectLst/>
                                <a:latin typeface="Cambria Math" panose="02040503050406030204" pitchFamily="18" charset="0"/>
                                <a:ea typeface="MS Mincho" panose="02020609040205080304" pitchFamily="49" charset="-128"/>
                                <a:cs typeface="Times New Roman" panose="02020603050405020304" pitchFamily="18" charset="0"/>
                              </a:rPr>
                              <m:t>2</m:t>
                            </m:r>
                          </m:sub>
                        </m:sSub>
                      </m:oMath>
                    </m:oMathPara>
                  </a14:m>
                  <a:endParaRPr lang="fr-FR" sz="1200">
                    <a:effectLst/>
                    <a:ea typeface="MS Mincho" panose="02020609040205080304" pitchFamily="49" charset="-128"/>
                    <a:cs typeface="Times New Roman" panose="02020603050405020304" pitchFamily="18" charset="0"/>
                  </a:endParaRPr>
                </a:p>
              </p:txBody>
            </p:sp>
          </mc:Choice>
          <mc:Fallback xmlns="">
            <p:sp>
              <p:nvSpPr>
                <p:cNvPr id="21" name="Zone de texte 45">
                  <a:extLst>
                    <a:ext uri="{FF2B5EF4-FFF2-40B4-BE49-F238E27FC236}">
                      <a16:creationId xmlns:a16="http://schemas.microsoft.com/office/drawing/2014/main" id="{76F32C8A-EC2E-7C4C-A62E-22194C101695}"/>
                    </a:ext>
                  </a:extLst>
                </p:cNvPr>
                <p:cNvSpPr txBox="1">
                  <a:spLocks noRot="1" noChangeAspect="1" noMove="1" noResize="1" noEditPoints="1" noAdjustHandles="1" noChangeArrowheads="1" noChangeShapeType="1" noTextEdit="1"/>
                </p:cNvSpPr>
                <p:nvPr/>
              </p:nvSpPr>
              <p:spPr>
                <a:xfrm>
                  <a:off x="1722120" y="461010"/>
                  <a:ext cx="342202" cy="342175"/>
                </a:xfrm>
                <a:prstGeom prst="rect">
                  <a:avLst/>
                </a:prstGeom>
                <a:blipFill>
                  <a:blip r:embed="rId8"/>
                  <a:stretch>
                    <a:fillRect/>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id="http://schemas.microsoft.com/office/word/2016/wordml/cid"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a:lstStyle/>
                <a:p>
                  <a:r>
                    <a:rPr lang="fr-FR">
                      <a:noFill/>
                    </a:rPr>
                    <a:t> </a:t>
                  </a:r>
                </a:p>
              </p:txBody>
            </p:sp>
          </mc:Fallback>
        </mc:AlternateContent>
        <p:sp>
          <p:nvSpPr>
            <p:cNvPr id="22" name="Ellipse 21">
              <a:extLst>
                <a:ext uri="{FF2B5EF4-FFF2-40B4-BE49-F238E27FC236}">
                  <a16:creationId xmlns:a16="http://schemas.microsoft.com/office/drawing/2014/main" id="{AFE71EA7-CD52-4246-92C6-403DFFA9E885}"/>
                </a:ext>
              </a:extLst>
            </p:cNvPr>
            <p:cNvSpPr/>
            <p:nvPr/>
          </p:nvSpPr>
          <p:spPr>
            <a:xfrm>
              <a:off x="1464945" y="827405"/>
              <a:ext cx="114279" cy="114270"/>
            </a:xfrm>
            <a:prstGeom prst="ellipse">
              <a:avLst/>
            </a:prstGeom>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23" name="Arc 22">
              <a:extLst>
                <a:ext uri="{FF2B5EF4-FFF2-40B4-BE49-F238E27FC236}">
                  <a16:creationId xmlns:a16="http://schemas.microsoft.com/office/drawing/2014/main" id="{37DF8A33-D5EF-E84D-832B-D86D511A05CF}"/>
                </a:ext>
              </a:extLst>
            </p:cNvPr>
            <p:cNvSpPr/>
            <p:nvPr/>
          </p:nvSpPr>
          <p:spPr>
            <a:xfrm>
              <a:off x="833120" y="1092835"/>
              <a:ext cx="422320" cy="471046"/>
            </a:xfrm>
            <a:prstGeom prst="arc">
              <a:avLst/>
            </a:prstGeom>
            <a:ln>
              <a:headEnd type="stealth"/>
              <a:tailEnd type="none"/>
            </a:ln>
          </p:spPr>
          <p:style>
            <a:lnRef idx="2">
              <a:schemeClr val="accent1"/>
            </a:lnRef>
            <a:fillRef idx="0">
              <a:schemeClr val="accent1"/>
            </a:fillRef>
            <a:effectRef idx="1">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24" name="Arc 23">
              <a:extLst>
                <a:ext uri="{FF2B5EF4-FFF2-40B4-BE49-F238E27FC236}">
                  <a16:creationId xmlns:a16="http://schemas.microsoft.com/office/drawing/2014/main" id="{EC6EA883-BC29-3041-818A-728B8025EAE8}"/>
                </a:ext>
              </a:extLst>
            </p:cNvPr>
            <p:cNvSpPr/>
            <p:nvPr/>
          </p:nvSpPr>
          <p:spPr>
            <a:xfrm>
              <a:off x="1559560" y="631190"/>
              <a:ext cx="306210" cy="211485"/>
            </a:xfrm>
            <a:prstGeom prst="arc">
              <a:avLst/>
            </a:prstGeom>
            <a:ln>
              <a:headEnd type="stealth"/>
              <a:tailEnd type="none"/>
            </a:ln>
          </p:spPr>
          <p:style>
            <a:lnRef idx="2">
              <a:schemeClr val="accent1"/>
            </a:lnRef>
            <a:fillRef idx="0">
              <a:schemeClr val="accent1"/>
            </a:fillRef>
            <a:effectRef idx="1">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cxnSp>
          <p:nvCxnSpPr>
            <p:cNvPr id="25" name="Connecteur droit 24">
              <a:extLst>
                <a:ext uri="{FF2B5EF4-FFF2-40B4-BE49-F238E27FC236}">
                  <a16:creationId xmlns:a16="http://schemas.microsoft.com/office/drawing/2014/main" id="{CDD2040B-8B94-7343-AC7B-BBE9FA37DB02}"/>
                </a:ext>
              </a:extLst>
            </p:cNvPr>
            <p:cNvCxnSpPr/>
            <p:nvPr/>
          </p:nvCxnSpPr>
          <p:spPr>
            <a:xfrm flipV="1">
              <a:off x="1939925" y="130810"/>
              <a:ext cx="52695" cy="75545"/>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Connecteur droit 25">
              <a:extLst>
                <a:ext uri="{FF2B5EF4-FFF2-40B4-BE49-F238E27FC236}">
                  <a16:creationId xmlns:a16="http://schemas.microsoft.com/office/drawing/2014/main" id="{FFC84BF3-EC7F-EC47-B094-FB4FCD9202D8}"/>
                </a:ext>
              </a:extLst>
            </p:cNvPr>
            <p:cNvCxnSpPr/>
            <p:nvPr/>
          </p:nvCxnSpPr>
          <p:spPr>
            <a:xfrm flipV="1">
              <a:off x="2040890" y="206375"/>
              <a:ext cx="52695" cy="75545"/>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Connecteur droit 26">
              <a:extLst>
                <a:ext uri="{FF2B5EF4-FFF2-40B4-BE49-F238E27FC236}">
                  <a16:creationId xmlns:a16="http://schemas.microsoft.com/office/drawing/2014/main" id="{C6C2008D-8B97-5741-9AFB-B1C9DC6951C6}"/>
                </a:ext>
              </a:extLst>
            </p:cNvPr>
            <p:cNvCxnSpPr/>
            <p:nvPr/>
          </p:nvCxnSpPr>
          <p:spPr>
            <a:xfrm>
              <a:off x="1942465" y="195579"/>
              <a:ext cx="99856" cy="7491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8" name="Zone de texte 52">
                  <a:extLst>
                    <a:ext uri="{FF2B5EF4-FFF2-40B4-BE49-F238E27FC236}">
                      <a16:creationId xmlns:a16="http://schemas.microsoft.com/office/drawing/2014/main" id="{B3D4D1F0-2ED9-644D-A225-13EC64D33FB6}"/>
                    </a:ext>
                  </a:extLst>
                </p:cNvPr>
                <p:cNvSpPr txBox="1"/>
                <p:nvPr/>
              </p:nvSpPr>
              <p:spPr>
                <a:xfrm>
                  <a:off x="588010" y="984174"/>
                  <a:ext cx="342265" cy="342265"/>
                </a:xfrm>
                <a:prstGeom prst="rect">
                  <a:avLst/>
                </a:prstGeom>
                <a:noFill/>
                <a:ln>
                  <a:noFill/>
                </a:ln>
                <a:effectLst/>
                <a:extLst>
                  <a:ext uri="{C572A759-6A51-4108-AA02-DFA0A04FC94B}">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fr-FR" sz="1200" i="1">
                                <a:solidFill>
                                  <a:srgbClr val="4F81BD"/>
                                </a:solidFill>
                                <a:effectLst/>
                                <a:latin typeface="Cambria Math" panose="02040503050406030204" pitchFamily="18" charset="0"/>
                                <a:ea typeface="MS Mincho" panose="02020609040205080304" pitchFamily="49" charset="-128"/>
                                <a:cs typeface="Times New Roman" panose="02020603050405020304" pitchFamily="18" charset="0"/>
                              </a:rPr>
                            </m:ctrlPr>
                          </m:sSubPr>
                          <m:e>
                            <m:r>
                              <a:rPr lang="fr-FR" sz="1200" i="1">
                                <a:solidFill>
                                  <a:srgbClr val="4F81BD"/>
                                </a:solidFill>
                                <a:effectLst/>
                                <a:latin typeface="Cambria Math" panose="02040503050406030204" pitchFamily="18" charset="0"/>
                                <a:ea typeface="MS Mincho" panose="02020609040205080304" pitchFamily="49" charset="-128"/>
                                <a:cs typeface="Times New Roman" panose="02020603050405020304" pitchFamily="18" charset="0"/>
                              </a:rPr>
                              <m:t>𝑎</m:t>
                            </m:r>
                          </m:e>
                          <m:sub>
                            <m:r>
                              <a:rPr lang="fr-FR" sz="1200" i="1">
                                <a:solidFill>
                                  <a:srgbClr val="4F81BD"/>
                                </a:solidFill>
                                <a:effectLst/>
                                <a:latin typeface="Cambria Math" panose="02040503050406030204" pitchFamily="18" charset="0"/>
                                <a:ea typeface="MS Mincho" panose="02020609040205080304" pitchFamily="49" charset="-128"/>
                                <a:cs typeface="Times New Roman" panose="02020603050405020304" pitchFamily="18" charset="0"/>
                              </a:rPr>
                              <m:t>1</m:t>
                            </m:r>
                          </m:sub>
                        </m:sSub>
                      </m:oMath>
                    </m:oMathPara>
                  </a14:m>
                  <a:endParaRPr lang="fr-FR" sz="1200" dirty="0">
                    <a:effectLst/>
                    <a:ea typeface="MS Mincho" panose="02020609040205080304" pitchFamily="49" charset="-128"/>
                    <a:cs typeface="Times New Roman" panose="02020603050405020304" pitchFamily="18" charset="0"/>
                  </a:endParaRPr>
                </a:p>
              </p:txBody>
            </p:sp>
          </mc:Choice>
          <mc:Fallback xmlns="">
            <p:sp>
              <p:nvSpPr>
                <p:cNvPr id="28" name="Zone de texte 52">
                  <a:extLst>
                    <a:ext uri="{FF2B5EF4-FFF2-40B4-BE49-F238E27FC236}">
                      <a16:creationId xmlns:a16="http://schemas.microsoft.com/office/drawing/2014/main" id="{B3D4D1F0-2ED9-644D-A225-13EC64D33FB6}"/>
                    </a:ext>
                  </a:extLst>
                </p:cNvPr>
                <p:cNvSpPr txBox="1">
                  <a:spLocks noRot="1" noChangeAspect="1" noMove="1" noResize="1" noEditPoints="1" noAdjustHandles="1" noChangeArrowheads="1" noChangeShapeType="1" noTextEdit="1"/>
                </p:cNvSpPr>
                <p:nvPr/>
              </p:nvSpPr>
              <p:spPr>
                <a:xfrm>
                  <a:off x="588010" y="984174"/>
                  <a:ext cx="342265" cy="342265"/>
                </a:xfrm>
                <a:prstGeom prst="rect">
                  <a:avLst/>
                </a:prstGeom>
                <a:blipFill>
                  <a:blip r:embed="rId9"/>
                  <a:stretch>
                    <a:fillRect/>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id="http://schemas.microsoft.com/office/word/2016/wordml/cid"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9" name="Zone de texte 53">
                  <a:extLst>
                    <a:ext uri="{FF2B5EF4-FFF2-40B4-BE49-F238E27FC236}">
                      <a16:creationId xmlns:a16="http://schemas.microsoft.com/office/drawing/2014/main" id="{07C43AEC-B772-7E49-A0CB-0E30DCFD0613}"/>
                    </a:ext>
                  </a:extLst>
                </p:cNvPr>
                <p:cNvSpPr txBox="1"/>
                <p:nvPr/>
              </p:nvSpPr>
              <p:spPr>
                <a:xfrm>
                  <a:off x="1578337" y="319702"/>
                  <a:ext cx="342265" cy="342265"/>
                </a:xfrm>
                <a:prstGeom prst="rect">
                  <a:avLst/>
                </a:prstGeom>
                <a:noFill/>
                <a:ln>
                  <a:noFill/>
                </a:ln>
                <a:effectLst/>
                <a:extLst>
                  <a:ext uri="{C572A759-6A51-4108-AA02-DFA0A04FC94B}">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fr-FR" sz="1200" i="1">
                                <a:solidFill>
                                  <a:srgbClr val="4F81BD"/>
                                </a:solidFill>
                                <a:effectLst/>
                                <a:latin typeface="Cambria Math" panose="02040503050406030204" pitchFamily="18" charset="0"/>
                                <a:ea typeface="MS Mincho" panose="02020609040205080304" pitchFamily="49" charset="-128"/>
                                <a:cs typeface="Times New Roman" panose="02020603050405020304" pitchFamily="18" charset="0"/>
                              </a:rPr>
                            </m:ctrlPr>
                          </m:sSubPr>
                          <m:e>
                            <m:r>
                              <a:rPr lang="fr-FR" sz="1200" i="1">
                                <a:solidFill>
                                  <a:srgbClr val="4F81BD"/>
                                </a:solidFill>
                                <a:effectLst/>
                                <a:latin typeface="Cambria Math" panose="02040503050406030204" pitchFamily="18" charset="0"/>
                                <a:ea typeface="MS Mincho" panose="02020609040205080304" pitchFamily="49" charset="-128"/>
                                <a:cs typeface="Times New Roman" panose="02020603050405020304" pitchFamily="18" charset="0"/>
                              </a:rPr>
                              <m:t>𝑎</m:t>
                            </m:r>
                          </m:e>
                          <m:sub>
                            <m:r>
                              <a:rPr lang="fr-FR" sz="1200" i="1">
                                <a:solidFill>
                                  <a:srgbClr val="4F81BD"/>
                                </a:solidFill>
                                <a:effectLst/>
                                <a:latin typeface="Cambria Math" panose="02040503050406030204" pitchFamily="18" charset="0"/>
                                <a:ea typeface="MS Mincho" panose="02020609040205080304" pitchFamily="49" charset="-128"/>
                                <a:cs typeface="Times New Roman" panose="02020603050405020304" pitchFamily="18" charset="0"/>
                              </a:rPr>
                              <m:t>2</m:t>
                            </m:r>
                          </m:sub>
                        </m:sSub>
                      </m:oMath>
                    </m:oMathPara>
                  </a14:m>
                  <a:endParaRPr lang="fr-FR" sz="1200" dirty="0">
                    <a:effectLst/>
                    <a:ea typeface="MS Mincho" panose="02020609040205080304" pitchFamily="49" charset="-128"/>
                    <a:cs typeface="Times New Roman" panose="02020603050405020304" pitchFamily="18" charset="0"/>
                  </a:endParaRPr>
                </a:p>
              </p:txBody>
            </p:sp>
          </mc:Choice>
          <mc:Fallback xmlns="">
            <p:sp>
              <p:nvSpPr>
                <p:cNvPr id="29" name="Zone de texte 53">
                  <a:extLst>
                    <a:ext uri="{FF2B5EF4-FFF2-40B4-BE49-F238E27FC236}">
                      <a16:creationId xmlns:a16="http://schemas.microsoft.com/office/drawing/2014/main" id="{07C43AEC-B772-7E49-A0CB-0E30DCFD0613}"/>
                    </a:ext>
                  </a:extLst>
                </p:cNvPr>
                <p:cNvSpPr txBox="1">
                  <a:spLocks noRot="1" noChangeAspect="1" noMove="1" noResize="1" noEditPoints="1" noAdjustHandles="1" noChangeArrowheads="1" noChangeShapeType="1" noTextEdit="1"/>
                </p:cNvSpPr>
                <p:nvPr/>
              </p:nvSpPr>
              <p:spPr>
                <a:xfrm>
                  <a:off x="1578337" y="319702"/>
                  <a:ext cx="342265" cy="342265"/>
                </a:xfrm>
                <a:prstGeom prst="rect">
                  <a:avLst/>
                </a:prstGeom>
                <a:blipFill>
                  <a:blip r:embed="rId10"/>
                  <a:stretch>
                    <a:fillRect/>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id="http://schemas.microsoft.com/office/word/2016/wordml/cid"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a:lstStyle/>
                <a:p>
                  <a:r>
                    <a:rPr lang="fr-FR">
                      <a:noFill/>
                    </a:rPr>
                    <a:t> </a:t>
                  </a:r>
                </a:p>
              </p:txBody>
            </p:sp>
          </mc:Fallback>
        </mc:AlternateContent>
      </p:grpSp>
      <p:cxnSp>
        <p:nvCxnSpPr>
          <p:cNvPr id="31" name="Connecteur droit avec flèche 30">
            <a:extLst>
              <a:ext uri="{FF2B5EF4-FFF2-40B4-BE49-F238E27FC236}">
                <a16:creationId xmlns:a16="http://schemas.microsoft.com/office/drawing/2014/main" id="{3BBC272F-D0E5-F242-82EF-373F257630F7}"/>
              </a:ext>
            </a:extLst>
          </p:cNvPr>
          <p:cNvCxnSpPr>
            <a:endCxn id="16" idx="3"/>
          </p:cNvCxnSpPr>
          <p:nvPr/>
        </p:nvCxnSpPr>
        <p:spPr>
          <a:xfrm flipH="1" flipV="1">
            <a:off x="3035405" y="4829786"/>
            <a:ext cx="162656" cy="89174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ZoneTexte 31">
            <a:extLst>
              <a:ext uri="{FF2B5EF4-FFF2-40B4-BE49-F238E27FC236}">
                <a16:creationId xmlns:a16="http://schemas.microsoft.com/office/drawing/2014/main" id="{11A42EE6-D968-B84B-9D01-8798FD91B749}"/>
              </a:ext>
            </a:extLst>
          </p:cNvPr>
          <p:cNvSpPr txBox="1"/>
          <p:nvPr/>
        </p:nvSpPr>
        <p:spPr>
          <a:xfrm>
            <a:off x="2683226" y="5721531"/>
            <a:ext cx="1029670" cy="338554"/>
          </a:xfrm>
          <a:prstGeom prst="rect">
            <a:avLst/>
          </a:prstGeom>
          <a:noFill/>
        </p:spPr>
        <p:txBody>
          <a:bodyPr wrap="square" rtlCol="0">
            <a:spAutoFit/>
          </a:bodyPr>
          <a:lstStyle/>
          <a:p>
            <a:r>
              <a:rPr lang="en-GB" sz="1600" dirty="0"/>
              <a:t>Motor 1</a:t>
            </a:r>
          </a:p>
        </p:txBody>
      </p:sp>
      <p:sp>
        <p:nvSpPr>
          <p:cNvPr id="33" name="ZoneTexte 32">
            <a:extLst>
              <a:ext uri="{FF2B5EF4-FFF2-40B4-BE49-F238E27FC236}">
                <a16:creationId xmlns:a16="http://schemas.microsoft.com/office/drawing/2014/main" id="{F2102201-89EE-D341-93D6-8B91718E7BA5}"/>
              </a:ext>
            </a:extLst>
          </p:cNvPr>
          <p:cNvSpPr txBox="1"/>
          <p:nvPr/>
        </p:nvSpPr>
        <p:spPr>
          <a:xfrm>
            <a:off x="5073210" y="5074242"/>
            <a:ext cx="1029670" cy="338554"/>
          </a:xfrm>
          <a:prstGeom prst="rect">
            <a:avLst/>
          </a:prstGeom>
          <a:noFill/>
        </p:spPr>
        <p:txBody>
          <a:bodyPr wrap="square" rtlCol="0">
            <a:spAutoFit/>
          </a:bodyPr>
          <a:lstStyle/>
          <a:p>
            <a:r>
              <a:rPr lang="en-GB" sz="1600" dirty="0"/>
              <a:t>Motor 2</a:t>
            </a:r>
          </a:p>
        </p:txBody>
      </p:sp>
      <p:cxnSp>
        <p:nvCxnSpPr>
          <p:cNvPr id="35" name="Connecteur droit avec flèche 34">
            <a:extLst>
              <a:ext uri="{FF2B5EF4-FFF2-40B4-BE49-F238E27FC236}">
                <a16:creationId xmlns:a16="http://schemas.microsoft.com/office/drawing/2014/main" id="{7FD0C474-A0B9-004D-A9DD-B4ACCCD4AB34}"/>
              </a:ext>
            </a:extLst>
          </p:cNvPr>
          <p:cNvCxnSpPr/>
          <p:nvPr/>
        </p:nvCxnSpPr>
        <p:spPr>
          <a:xfrm flipH="1" flipV="1">
            <a:off x="5184821" y="4029061"/>
            <a:ext cx="287172" cy="102374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ZoneTexte 36">
                <a:extLst>
                  <a:ext uri="{FF2B5EF4-FFF2-40B4-BE49-F238E27FC236}">
                    <a16:creationId xmlns:a16="http://schemas.microsoft.com/office/drawing/2014/main" id="{C599F38D-7840-7848-9121-0B2DFDF33663}"/>
                  </a:ext>
                </a:extLst>
              </p:cNvPr>
              <p:cNvSpPr txBox="1"/>
              <p:nvPr/>
            </p:nvSpPr>
            <p:spPr>
              <a:xfrm>
                <a:off x="6859558" y="2285787"/>
                <a:ext cx="1319349" cy="6059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1" i="0" smtClean="0">
                          <a:latin typeface="Cambria Math" panose="02040503050406030204" pitchFamily="18" charset="0"/>
                        </a:rPr>
                        <m:t>𝐪</m:t>
                      </m:r>
                      <m:r>
                        <a:rPr lang="fr-FR" b="0" i="1" smtClean="0">
                          <a:latin typeface="Cambria Math" panose="02040503050406030204" pitchFamily="18" charset="0"/>
                        </a:rPr>
                        <m:t>=</m:t>
                      </m:r>
                      <m:d>
                        <m:dPr>
                          <m:ctrlPr>
                            <a:rPr lang="fr-FR" b="0" i="1" smtClean="0">
                              <a:latin typeface="Cambria Math" panose="02040503050406030204" pitchFamily="18" charset="0"/>
                            </a:rPr>
                          </m:ctrlPr>
                        </m:dPr>
                        <m:e>
                          <m:eqArr>
                            <m:eqArrPr>
                              <m:ctrlPr>
                                <a:rPr lang="fr-FR" b="0" i="1" smtClean="0">
                                  <a:latin typeface="Cambria Math" panose="02040503050406030204" pitchFamily="18" charset="0"/>
                                </a:rPr>
                              </m:ctrlPr>
                            </m:eqArrPr>
                            <m:e>
                              <m:sSub>
                                <m:sSubPr>
                                  <m:ctrlPr>
                                    <a:rPr lang="fr-FR" b="0" i="1" smtClean="0">
                                      <a:latin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rPr>
                                    <m:t>1</m:t>
                                  </m:r>
                                </m:sub>
                              </m:sSub>
                            </m:e>
                            <m:e>
                              <m:sSub>
                                <m:sSubPr>
                                  <m:ctrlPr>
                                    <a:rPr lang="fr-FR" i="1">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ea typeface="Cambria Math" panose="02040503050406030204" pitchFamily="18" charset="0"/>
                                    </a:rPr>
                                    <m:t>2</m:t>
                                  </m:r>
                                </m:sub>
                              </m:sSub>
                            </m:e>
                          </m:eqArr>
                        </m:e>
                      </m:d>
                    </m:oMath>
                  </m:oMathPara>
                </a14:m>
                <a:endParaRPr lang="fr-FR" dirty="0"/>
              </a:p>
            </p:txBody>
          </p:sp>
        </mc:Choice>
        <mc:Fallback xmlns="">
          <p:sp>
            <p:nvSpPr>
              <p:cNvPr id="37" name="ZoneTexte 36">
                <a:extLst>
                  <a:ext uri="{FF2B5EF4-FFF2-40B4-BE49-F238E27FC236}">
                    <a16:creationId xmlns:a16="http://schemas.microsoft.com/office/drawing/2014/main" id="{C599F38D-7840-7848-9121-0B2DFDF33663}"/>
                  </a:ext>
                </a:extLst>
              </p:cNvPr>
              <p:cNvSpPr txBox="1">
                <a:spLocks noRot="1" noChangeAspect="1" noMove="1" noResize="1" noEditPoints="1" noAdjustHandles="1" noChangeArrowheads="1" noChangeShapeType="1" noTextEdit="1"/>
              </p:cNvSpPr>
              <p:nvPr/>
            </p:nvSpPr>
            <p:spPr>
              <a:xfrm>
                <a:off x="6859558" y="2285787"/>
                <a:ext cx="1319349" cy="605935"/>
              </a:xfrm>
              <a:prstGeom prst="rect">
                <a:avLst/>
              </a:prstGeom>
              <a:blipFill>
                <a:blip r:embed="rId11"/>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8" name="ZoneTexte 37">
                <a:extLst>
                  <a:ext uri="{FF2B5EF4-FFF2-40B4-BE49-F238E27FC236}">
                    <a16:creationId xmlns:a16="http://schemas.microsoft.com/office/drawing/2014/main" id="{90A3E668-5915-874B-89B6-E7EBE73CBC92}"/>
                  </a:ext>
                </a:extLst>
              </p:cNvPr>
              <p:cNvSpPr txBox="1"/>
              <p:nvPr/>
            </p:nvSpPr>
            <p:spPr>
              <a:xfrm>
                <a:off x="6737691" y="3592440"/>
                <a:ext cx="1319349" cy="5555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1" i="0" smtClean="0">
                          <a:latin typeface="Cambria Math" panose="02040503050406030204" pitchFamily="18" charset="0"/>
                        </a:rPr>
                        <m:t>𝐱</m:t>
                      </m:r>
                      <m:r>
                        <a:rPr lang="fr-FR" b="0" i="1" smtClean="0">
                          <a:latin typeface="Cambria Math" panose="02040503050406030204" pitchFamily="18" charset="0"/>
                        </a:rPr>
                        <m:t>=</m:t>
                      </m:r>
                      <m:d>
                        <m:dPr>
                          <m:ctrlPr>
                            <a:rPr lang="fr-FR" b="0" i="1" smtClean="0">
                              <a:latin typeface="Cambria Math" panose="02040503050406030204" pitchFamily="18" charset="0"/>
                            </a:rPr>
                          </m:ctrlPr>
                        </m:dPr>
                        <m:e>
                          <m:eqArr>
                            <m:eqArrPr>
                              <m:ctrlPr>
                                <a:rPr lang="fr-FR" b="0" i="1" smtClean="0">
                                  <a:latin typeface="Cambria Math" panose="02040503050406030204" pitchFamily="18" charset="0"/>
                                </a:rPr>
                              </m:ctrlPr>
                            </m:eqArrPr>
                            <m:e>
                              <m:r>
                                <a:rPr lang="fr-FR" b="0" i="1" smtClean="0">
                                  <a:latin typeface="Cambria Math" panose="02040503050406030204" pitchFamily="18" charset="0"/>
                                </a:rPr>
                                <m:t>𝑥</m:t>
                              </m:r>
                            </m:e>
                            <m:e>
                              <m:r>
                                <a:rPr lang="fr-FR" b="0" i="1" smtClean="0">
                                  <a:latin typeface="Cambria Math" panose="02040503050406030204" pitchFamily="18" charset="0"/>
                                </a:rPr>
                                <m:t>𝑦</m:t>
                              </m:r>
                            </m:e>
                          </m:eqArr>
                        </m:e>
                      </m:d>
                    </m:oMath>
                  </m:oMathPara>
                </a14:m>
                <a:endParaRPr lang="fr-FR" dirty="0"/>
              </a:p>
            </p:txBody>
          </p:sp>
        </mc:Choice>
        <mc:Fallback xmlns="">
          <p:sp>
            <p:nvSpPr>
              <p:cNvPr id="38" name="ZoneTexte 37">
                <a:extLst>
                  <a:ext uri="{FF2B5EF4-FFF2-40B4-BE49-F238E27FC236}">
                    <a16:creationId xmlns:a16="http://schemas.microsoft.com/office/drawing/2014/main" id="{90A3E668-5915-874B-89B6-E7EBE73CBC92}"/>
                  </a:ext>
                </a:extLst>
              </p:cNvPr>
              <p:cNvSpPr txBox="1">
                <a:spLocks noRot="1" noChangeAspect="1" noMove="1" noResize="1" noEditPoints="1" noAdjustHandles="1" noChangeArrowheads="1" noChangeShapeType="1" noTextEdit="1"/>
              </p:cNvSpPr>
              <p:nvPr/>
            </p:nvSpPr>
            <p:spPr>
              <a:xfrm>
                <a:off x="6737691" y="3592440"/>
                <a:ext cx="1319349" cy="555537"/>
              </a:xfrm>
              <a:prstGeom prst="rect">
                <a:avLst/>
              </a:prstGeom>
              <a:blipFill>
                <a:blip r:embed="rId12"/>
                <a:stretch>
                  <a:fillRect b="-4444"/>
                </a:stretch>
              </a:blipFill>
            </p:spPr>
            <p:txBody>
              <a:bodyPr/>
              <a:lstStyle/>
              <a:p>
                <a:r>
                  <a:rPr lang="fr-FR">
                    <a:noFill/>
                  </a:rPr>
                  <a:t> </a:t>
                </a:r>
              </a:p>
            </p:txBody>
          </p:sp>
        </mc:Fallback>
      </mc:AlternateContent>
    </p:spTree>
    <p:extLst>
      <p:ext uri="{BB962C8B-B14F-4D97-AF65-F5344CB8AC3E}">
        <p14:creationId xmlns:p14="http://schemas.microsoft.com/office/powerpoint/2010/main" val="2057867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11AE02FB-E20C-0A4C-A77C-95C6820752F6}"/>
              </a:ext>
            </a:extLst>
          </p:cNvPr>
          <p:cNvSpPr>
            <a:spLocks noGrp="1"/>
          </p:cNvSpPr>
          <p:nvPr>
            <p:ph sz="quarter" idx="1"/>
          </p:nvPr>
        </p:nvSpPr>
        <p:spPr/>
        <p:txBody>
          <a:bodyPr/>
          <a:lstStyle/>
          <a:p>
            <a:r>
              <a:rPr lang="en-GB" dirty="0"/>
              <a:t>Servomotors = motors controlled in velocity</a:t>
            </a:r>
          </a:p>
        </p:txBody>
      </p:sp>
      <p:grpSp>
        <p:nvGrpSpPr>
          <p:cNvPr id="79" name="Groupe 78">
            <a:extLst>
              <a:ext uri="{FF2B5EF4-FFF2-40B4-BE49-F238E27FC236}">
                <a16:creationId xmlns:a16="http://schemas.microsoft.com/office/drawing/2014/main" id="{1C1DF20D-E0C5-EB44-980D-4A10B4FFEFFF}"/>
              </a:ext>
            </a:extLst>
          </p:cNvPr>
          <p:cNvGrpSpPr/>
          <p:nvPr/>
        </p:nvGrpSpPr>
        <p:grpSpPr>
          <a:xfrm>
            <a:off x="1730009" y="1560002"/>
            <a:ext cx="4831851" cy="1529790"/>
            <a:chOff x="1730009" y="1560002"/>
            <a:chExt cx="4831851" cy="1529790"/>
          </a:xfrm>
        </p:grpSpPr>
        <p:grpSp>
          <p:nvGrpSpPr>
            <p:cNvPr id="4" name="Grouper 2">
              <a:extLst>
                <a:ext uri="{FF2B5EF4-FFF2-40B4-BE49-F238E27FC236}">
                  <a16:creationId xmlns:a16="http://schemas.microsoft.com/office/drawing/2014/main" id="{AB6E2A1B-A0B6-4945-B868-CE2F65A7EEBB}"/>
                </a:ext>
              </a:extLst>
            </p:cNvPr>
            <p:cNvGrpSpPr>
              <a:grpSpLocks noChangeAspect="1"/>
            </p:cNvGrpSpPr>
            <p:nvPr/>
          </p:nvGrpSpPr>
          <p:grpSpPr>
            <a:xfrm>
              <a:off x="1730009" y="1560002"/>
              <a:ext cx="4831851" cy="1529790"/>
              <a:chOff x="100269" y="-18945"/>
              <a:chExt cx="3090762" cy="979112"/>
            </a:xfrm>
          </p:grpSpPr>
          <p:sp>
            <p:nvSpPr>
              <p:cNvPr id="5" name="Rectangle 4">
                <a:extLst>
                  <a:ext uri="{FF2B5EF4-FFF2-40B4-BE49-F238E27FC236}">
                    <a16:creationId xmlns:a16="http://schemas.microsoft.com/office/drawing/2014/main" id="{85867C67-8CE5-634B-8C1E-E8947849FB57}"/>
                  </a:ext>
                </a:extLst>
              </p:cNvPr>
              <p:cNvSpPr/>
              <p:nvPr/>
            </p:nvSpPr>
            <p:spPr>
              <a:xfrm>
                <a:off x="2109980" y="85090"/>
                <a:ext cx="669925" cy="3285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fr-FR" sz="1600" dirty="0">
                    <a:solidFill>
                      <a:srgbClr val="000000"/>
                    </a:solidFill>
                    <a:effectLst/>
                    <a:ea typeface="Calibri" panose="020F0502020204030204" pitchFamily="34" charset="0"/>
                    <a:cs typeface="Times New Roman" panose="02020603050405020304" pitchFamily="18" charset="0"/>
                  </a:rPr>
                  <a:t>Moteur 1</a:t>
                </a:r>
                <a:endParaRPr lang="fr-FR" sz="1600" dirty="0">
                  <a:effectLst/>
                  <a:ea typeface="Calibri" panose="020F0502020204030204" pitchFamily="34" charset="0"/>
                  <a:cs typeface="Times New Roman" panose="02020603050405020304" pitchFamily="18" charset="0"/>
                </a:endParaRPr>
              </a:p>
            </p:txBody>
          </p:sp>
          <p:cxnSp>
            <p:nvCxnSpPr>
              <p:cNvPr id="6" name="Connecteur droit avec flèche 5">
                <a:extLst>
                  <a:ext uri="{FF2B5EF4-FFF2-40B4-BE49-F238E27FC236}">
                    <a16:creationId xmlns:a16="http://schemas.microsoft.com/office/drawing/2014/main" id="{CA458FFD-3C4E-9444-BCBC-67FA6F22BFD6}"/>
                  </a:ext>
                </a:extLst>
              </p:cNvPr>
              <p:cNvCxnSpPr/>
              <p:nvPr/>
            </p:nvCxnSpPr>
            <p:spPr>
              <a:xfrm>
                <a:off x="1678391" y="254000"/>
                <a:ext cx="414503"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Zone de texte 2">
                    <a:extLst>
                      <a:ext uri="{FF2B5EF4-FFF2-40B4-BE49-F238E27FC236}">
                        <a16:creationId xmlns:a16="http://schemas.microsoft.com/office/drawing/2014/main" id="{5AF09877-3E93-334B-9211-CD39DF12F527}"/>
                      </a:ext>
                    </a:extLst>
                  </p:cNvPr>
                  <p:cNvSpPr txBox="1">
                    <a:spLocks noChangeArrowheads="1"/>
                  </p:cNvSpPr>
                  <p:nvPr/>
                </p:nvSpPr>
                <p:spPr bwMode="auto">
                  <a:xfrm>
                    <a:off x="1712480" y="34180"/>
                    <a:ext cx="323850" cy="323866"/>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fr-FR" sz="1600" i="1" smtClean="0">
                                  <a:effectLst/>
                                  <a:latin typeface="Cambria Math" panose="02040503050406030204" pitchFamily="18" charset="0"/>
                                  <a:cs typeface="Times New Roman" panose="02020603050405020304" pitchFamily="18" charset="0"/>
                                </a:rPr>
                              </m:ctrlPr>
                            </m:sSubPr>
                            <m:e>
                              <m:r>
                                <a:rPr lang="fr-FR" sz="1600" b="0" i="1" smtClean="0">
                                  <a:effectLst/>
                                  <a:latin typeface="Cambria Math" panose="02040503050406030204" pitchFamily="18" charset="0"/>
                                  <a:cs typeface="Times New Roman" panose="02020603050405020304" pitchFamily="18" charset="0"/>
                                </a:rPr>
                                <m:t>𝑈</m:t>
                              </m:r>
                            </m:e>
                            <m:sub>
                              <m:r>
                                <a:rPr lang="fr-FR" sz="1600" b="0" i="1" smtClean="0">
                                  <a:effectLst/>
                                  <a:latin typeface="Cambria Math" panose="02040503050406030204" pitchFamily="18" charset="0"/>
                                  <a:cs typeface="Times New Roman" panose="02020603050405020304" pitchFamily="18" charset="0"/>
                                </a:rPr>
                                <m:t>1</m:t>
                              </m:r>
                            </m:sub>
                          </m:sSub>
                        </m:oMath>
                      </m:oMathPara>
                    </a14:m>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Zone de texte 2">
                    <a:extLst>
                      <a:ext uri="{FF2B5EF4-FFF2-40B4-BE49-F238E27FC236}">
                        <a16:creationId xmlns:a16="http://schemas.microsoft.com/office/drawing/2014/main" id="{5AF09877-3E93-334B-9211-CD39DF12F527}"/>
                      </a:ext>
                    </a:extLst>
                  </p:cNvPr>
                  <p:cNvSpPr txBox="1">
                    <a:spLocks noRot="1" noChangeAspect="1" noMove="1" noResize="1" noEditPoints="1" noAdjustHandles="1" noChangeArrowheads="1" noChangeShapeType="1" noTextEdit="1"/>
                  </p:cNvSpPr>
                  <p:nvPr/>
                </p:nvSpPr>
                <p:spPr bwMode="auto">
                  <a:xfrm>
                    <a:off x="1712480" y="34180"/>
                    <a:ext cx="323850" cy="323866"/>
                  </a:xfrm>
                  <a:prstGeom prst="rect">
                    <a:avLst/>
                  </a:prstGeom>
                  <a:blipFill>
                    <a:blip r:embed="rId2"/>
                    <a:stretch>
                      <a:fillRect/>
                    </a:stretch>
                  </a:blipFill>
                  <a:ln w="9525">
                    <a:noFill/>
                    <a:miter lim="800000"/>
                    <a:headEnd/>
                    <a:tailEnd/>
                  </a:ln>
                </p:spPr>
                <p:txBody>
                  <a:bodyPr/>
                  <a:lstStyle/>
                  <a:p>
                    <a:r>
                      <a:rPr lang="fr-FR">
                        <a:noFill/>
                      </a:rPr>
                      <a:t> </a:t>
                    </a:r>
                  </a:p>
                </p:txBody>
              </p:sp>
            </mc:Fallback>
          </mc:AlternateContent>
          <p:cxnSp>
            <p:nvCxnSpPr>
              <p:cNvPr id="8" name="Connecteur droit avec flèche 7">
                <a:extLst>
                  <a:ext uri="{FF2B5EF4-FFF2-40B4-BE49-F238E27FC236}">
                    <a16:creationId xmlns:a16="http://schemas.microsoft.com/office/drawing/2014/main" id="{7352FEB4-6BD4-9D49-A1F3-757A84B71AF7}"/>
                  </a:ext>
                </a:extLst>
              </p:cNvPr>
              <p:cNvCxnSpPr/>
              <p:nvPr/>
            </p:nvCxnSpPr>
            <p:spPr>
              <a:xfrm>
                <a:off x="2776528" y="247650"/>
                <a:ext cx="414503"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 name="Ellipse 8">
                <a:extLst>
                  <a:ext uri="{FF2B5EF4-FFF2-40B4-BE49-F238E27FC236}">
                    <a16:creationId xmlns:a16="http://schemas.microsoft.com/office/drawing/2014/main" id="{B25C9198-42FB-A64F-BD47-F73FF68CEAF2}"/>
                  </a:ext>
                </a:extLst>
              </p:cNvPr>
              <p:cNvSpPr/>
              <p:nvPr/>
            </p:nvSpPr>
            <p:spPr>
              <a:xfrm>
                <a:off x="584200" y="167640"/>
                <a:ext cx="179705" cy="17970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254A2F63-048B-414B-B48A-A3C4B4D19156}"/>
                      </a:ext>
                    </a:extLst>
                  </p:cNvPr>
                  <p:cNvSpPr/>
                  <p:nvPr/>
                </p:nvSpPr>
                <p:spPr>
                  <a:xfrm>
                    <a:off x="1197697" y="86783"/>
                    <a:ext cx="478782" cy="34067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fr-FR" sz="1600" i="1" smtClean="0">
                                  <a:solidFill>
                                    <a:srgbClr val="000000"/>
                                  </a:solidFill>
                                  <a:effectLst/>
                                  <a:latin typeface="Cambria Math" panose="02040503050406030204" pitchFamily="18" charset="0"/>
                                  <a:cs typeface="Times New Roman" panose="02020603050405020304" pitchFamily="18" charset="0"/>
                                </a:rPr>
                              </m:ctrlPr>
                            </m:sSubPr>
                            <m:e>
                              <m:r>
                                <a:rPr lang="fr-FR" sz="1600" b="0" i="1" smtClean="0">
                                  <a:solidFill>
                                    <a:srgbClr val="000000"/>
                                  </a:solidFill>
                                  <a:effectLst/>
                                  <a:latin typeface="Cambria Math" panose="02040503050406030204" pitchFamily="18" charset="0"/>
                                  <a:cs typeface="Times New Roman" panose="02020603050405020304" pitchFamily="18" charset="0"/>
                                </a:rPr>
                                <m:t>𝐶</m:t>
                              </m:r>
                            </m:e>
                            <m:sub>
                              <m:r>
                                <a:rPr lang="fr-FR" sz="1600" b="0" i="1" smtClean="0">
                                  <a:solidFill>
                                    <a:srgbClr val="000000"/>
                                  </a:solidFill>
                                  <a:effectLst/>
                                  <a:latin typeface="Cambria Math" panose="02040503050406030204" pitchFamily="18" charset="0"/>
                                  <a:cs typeface="Times New Roman" panose="02020603050405020304" pitchFamily="18" charset="0"/>
                                </a:rPr>
                                <m:t>𝑃𝐼</m:t>
                              </m:r>
                            </m:sub>
                          </m:sSub>
                          <m:r>
                            <a:rPr lang="fr-FR"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fr-FR"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𝑠</m:t>
                          </m:r>
                          <m:r>
                            <a:rPr lang="fr-FR"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fr-FR" sz="1600" dirty="0">
                      <a:effectLst/>
                      <a:ea typeface="Calibri" panose="020F0502020204030204" pitchFamily="34" charset="0"/>
                      <a:cs typeface="Times New Roman" panose="02020603050405020304" pitchFamily="18" charset="0"/>
                    </a:endParaRPr>
                  </a:p>
                </p:txBody>
              </p:sp>
            </mc:Choice>
            <mc:Fallback xmlns="">
              <p:sp>
                <p:nvSpPr>
                  <p:cNvPr id="10" name="Rectangle 9">
                    <a:extLst>
                      <a:ext uri="{FF2B5EF4-FFF2-40B4-BE49-F238E27FC236}">
                        <a16:creationId xmlns:a16="http://schemas.microsoft.com/office/drawing/2014/main" id="{254A2F63-048B-414B-B48A-A3C4B4D19156}"/>
                      </a:ext>
                    </a:extLst>
                  </p:cNvPr>
                  <p:cNvSpPr>
                    <a:spLocks noRot="1" noChangeAspect="1" noMove="1" noResize="1" noEditPoints="1" noAdjustHandles="1" noChangeArrowheads="1" noChangeShapeType="1" noTextEdit="1"/>
                  </p:cNvSpPr>
                  <p:nvPr/>
                </p:nvSpPr>
                <p:spPr>
                  <a:xfrm>
                    <a:off x="1197697" y="86783"/>
                    <a:ext cx="478782" cy="340673"/>
                  </a:xfrm>
                  <a:prstGeom prst="rect">
                    <a:avLst/>
                  </a:prstGeom>
                  <a:blipFill>
                    <a:blip r:embed="rId3"/>
                    <a:stretch>
                      <a:fillRect/>
                    </a:stretch>
                  </a:blipFill>
                  <a:ln>
                    <a:solidFill>
                      <a:schemeClr val="tx1"/>
                    </a:solidFill>
                  </a:ln>
                </p:spPr>
                <p:txBody>
                  <a:bodyPr/>
                  <a:lstStyle/>
                  <a:p>
                    <a:r>
                      <a:rPr lang="fr-FR">
                        <a:noFill/>
                      </a:rPr>
                      <a:t> </a:t>
                    </a:r>
                  </a:p>
                </p:txBody>
              </p:sp>
            </mc:Fallback>
          </mc:AlternateContent>
          <p:cxnSp>
            <p:nvCxnSpPr>
              <p:cNvPr id="11" name="Connecteur droit avec flèche 10">
                <a:extLst>
                  <a:ext uri="{FF2B5EF4-FFF2-40B4-BE49-F238E27FC236}">
                    <a16:creationId xmlns:a16="http://schemas.microsoft.com/office/drawing/2014/main" id="{FC7DE690-1BC1-9942-8F10-6006F7F146CC}"/>
                  </a:ext>
                </a:extLst>
              </p:cNvPr>
              <p:cNvCxnSpPr/>
              <p:nvPr/>
            </p:nvCxnSpPr>
            <p:spPr>
              <a:xfrm>
                <a:off x="763905" y="254000"/>
                <a:ext cx="414503"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40CA9B80-7556-A142-8824-84B910DE815F}"/>
                  </a:ext>
                </a:extLst>
              </p:cNvPr>
              <p:cNvCxnSpPr/>
              <p:nvPr/>
            </p:nvCxnSpPr>
            <p:spPr>
              <a:xfrm>
                <a:off x="100269" y="254000"/>
                <a:ext cx="437530"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F70D3538-3A87-484B-A974-BB6035DA51CE}"/>
                  </a:ext>
                </a:extLst>
              </p:cNvPr>
              <p:cNvCxnSpPr/>
              <p:nvPr/>
            </p:nvCxnSpPr>
            <p:spPr>
              <a:xfrm flipV="1">
                <a:off x="676910" y="346710"/>
                <a:ext cx="0" cy="613457"/>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4" name="Connecteur droit avec flèche 13">
                <a:extLst>
                  <a:ext uri="{FF2B5EF4-FFF2-40B4-BE49-F238E27FC236}">
                    <a16:creationId xmlns:a16="http://schemas.microsoft.com/office/drawing/2014/main" id="{D5394C34-C510-B348-AE88-FE32C15B13F9}"/>
                  </a:ext>
                </a:extLst>
              </p:cNvPr>
              <p:cNvCxnSpPr/>
              <p:nvPr/>
            </p:nvCxnSpPr>
            <p:spPr>
              <a:xfrm flipV="1">
                <a:off x="2913473" y="247650"/>
                <a:ext cx="0" cy="705485"/>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Zone de texte 2">
                    <a:extLst>
                      <a:ext uri="{FF2B5EF4-FFF2-40B4-BE49-F238E27FC236}">
                        <a16:creationId xmlns:a16="http://schemas.microsoft.com/office/drawing/2014/main" id="{8ED1425E-8039-9D42-AF10-5E713123183B}"/>
                      </a:ext>
                    </a:extLst>
                  </p:cNvPr>
                  <p:cNvSpPr txBox="1">
                    <a:spLocks noChangeArrowheads="1"/>
                  </p:cNvSpPr>
                  <p:nvPr/>
                </p:nvSpPr>
                <p:spPr bwMode="auto">
                  <a:xfrm>
                    <a:off x="170728" y="-18945"/>
                    <a:ext cx="387350" cy="270510"/>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sSup>
                            <m:sSupPr>
                              <m:ctrlPr>
                                <a:rPr lang="fr-FR" sz="1600" i="1" smtClean="0">
                                  <a:effectLst/>
                                  <a:latin typeface="Cambria Math" panose="02040503050406030204" pitchFamily="18" charset="0"/>
                                  <a:cs typeface="Times New Roman" panose="02020603050405020304" pitchFamily="18" charset="0"/>
                                </a:rPr>
                              </m:ctrlPr>
                            </m:sSupPr>
                            <m:e>
                              <m:sSub>
                                <m:sSubPr>
                                  <m:ctrlPr>
                                    <a:rPr lang="fr-FR" sz="1600" i="1" smtClean="0">
                                      <a:effectLst/>
                                      <a:latin typeface="Cambria Math" panose="02040503050406030204" pitchFamily="18" charset="0"/>
                                      <a:cs typeface="Times New Roman" panose="02020603050405020304" pitchFamily="18" charset="0"/>
                                    </a:rPr>
                                  </m:ctrlPr>
                                </m:sSubPr>
                                <m:e>
                                  <m:acc>
                                    <m:accPr>
                                      <m:chr m:val="̇"/>
                                      <m:ctrlPr>
                                        <a:rPr lang="fr-FR" sz="1600" i="1" smtClean="0">
                                          <a:effectLst/>
                                          <a:latin typeface="Cambria Math" panose="02040503050406030204" pitchFamily="18" charset="0"/>
                                          <a:cs typeface="Times New Roman" panose="02020603050405020304" pitchFamily="18" charset="0"/>
                                        </a:rPr>
                                      </m:ctrlPr>
                                    </m:accPr>
                                    <m:e>
                                      <m:r>
                                        <a:rPr lang="fr-FR" sz="1600" i="1" smtClean="0">
                                          <a:effectLst/>
                                          <a:latin typeface="Cambria Math" panose="02040503050406030204" pitchFamily="18" charset="0"/>
                                          <a:ea typeface="Cambria Math" panose="02040503050406030204" pitchFamily="18" charset="0"/>
                                          <a:cs typeface="Times New Roman" panose="02020603050405020304" pitchFamily="18" charset="0"/>
                                        </a:rPr>
                                        <m:t>𝜃</m:t>
                                      </m:r>
                                    </m:e>
                                  </m:acc>
                                </m:e>
                                <m:sub>
                                  <m:r>
                                    <a:rPr lang="fr-FR" sz="1600" b="0" i="1" smtClean="0">
                                      <a:effectLst/>
                                      <a:latin typeface="Cambria Math" panose="02040503050406030204" pitchFamily="18" charset="0"/>
                                      <a:cs typeface="Times New Roman" panose="02020603050405020304" pitchFamily="18" charset="0"/>
                                    </a:rPr>
                                    <m:t>1</m:t>
                                  </m:r>
                                </m:sub>
                              </m:sSub>
                            </m:e>
                            <m:sup>
                              <m:r>
                                <a:rPr lang="fr-FR" sz="1600" b="0" i="1" smtClean="0">
                                  <a:effectLst/>
                                  <a:latin typeface="Cambria Math" panose="02040503050406030204" pitchFamily="18" charset="0"/>
                                  <a:cs typeface="Times New Roman" panose="02020603050405020304" pitchFamily="18" charset="0"/>
                                </a:rPr>
                                <m:t>𝑑</m:t>
                              </m:r>
                            </m:sup>
                          </m:sSup>
                        </m:oMath>
                      </m:oMathPara>
                    </a14:m>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5" name="Zone de texte 2">
                    <a:extLst>
                      <a:ext uri="{FF2B5EF4-FFF2-40B4-BE49-F238E27FC236}">
                        <a16:creationId xmlns:a16="http://schemas.microsoft.com/office/drawing/2014/main" id="{8ED1425E-8039-9D42-AF10-5E713123183B}"/>
                      </a:ext>
                    </a:extLst>
                  </p:cNvPr>
                  <p:cNvSpPr txBox="1">
                    <a:spLocks noRot="1" noChangeAspect="1" noMove="1" noResize="1" noEditPoints="1" noAdjustHandles="1" noChangeArrowheads="1" noChangeShapeType="1" noTextEdit="1"/>
                  </p:cNvSpPr>
                  <p:nvPr/>
                </p:nvSpPr>
                <p:spPr bwMode="auto">
                  <a:xfrm>
                    <a:off x="170728" y="-18945"/>
                    <a:ext cx="387350" cy="270510"/>
                  </a:xfrm>
                  <a:prstGeom prst="rect">
                    <a:avLst/>
                  </a:prstGeom>
                  <a:blipFill>
                    <a:blip r:embed="rId4"/>
                    <a:stretch>
                      <a:fillRect/>
                    </a:stretch>
                  </a:blipFill>
                  <a:ln w="9525">
                    <a:noFill/>
                    <a:miter lim="800000"/>
                    <a:headEnd/>
                    <a:tailEnd/>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6" name="Zone de texte 2">
                    <a:extLst>
                      <a:ext uri="{FF2B5EF4-FFF2-40B4-BE49-F238E27FC236}">
                        <a16:creationId xmlns:a16="http://schemas.microsoft.com/office/drawing/2014/main" id="{6716915B-656D-EA4A-A5BC-A3295CA5E256}"/>
                      </a:ext>
                    </a:extLst>
                  </p:cNvPr>
                  <p:cNvSpPr txBox="1">
                    <a:spLocks noChangeArrowheads="1"/>
                  </p:cNvSpPr>
                  <p:nvPr/>
                </p:nvSpPr>
                <p:spPr bwMode="auto">
                  <a:xfrm>
                    <a:off x="598184" y="320781"/>
                    <a:ext cx="323215" cy="235585"/>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r>
                            <a:rPr lang="fr-FR" sz="11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6" name="Zone de texte 2">
                    <a:extLst>
                      <a:ext uri="{FF2B5EF4-FFF2-40B4-BE49-F238E27FC236}">
                        <a16:creationId xmlns:a16="http://schemas.microsoft.com/office/drawing/2014/main" id="{6716915B-656D-EA4A-A5BC-A3295CA5E256}"/>
                      </a:ext>
                    </a:extLst>
                  </p:cNvPr>
                  <p:cNvSpPr txBox="1">
                    <a:spLocks noRot="1" noChangeAspect="1" noMove="1" noResize="1" noEditPoints="1" noAdjustHandles="1" noChangeArrowheads="1" noChangeShapeType="1" noTextEdit="1"/>
                  </p:cNvSpPr>
                  <p:nvPr/>
                </p:nvSpPr>
                <p:spPr bwMode="auto">
                  <a:xfrm>
                    <a:off x="598184" y="320781"/>
                    <a:ext cx="323215" cy="235585"/>
                  </a:xfrm>
                  <a:prstGeom prst="rect">
                    <a:avLst/>
                  </a:prstGeom>
                  <a:blipFill>
                    <a:blip r:embed="rId5"/>
                    <a:stretch>
                      <a:fillRect/>
                    </a:stretch>
                  </a:blipFill>
                  <a:ln w="9525">
                    <a:noFill/>
                    <a:miter lim="800000"/>
                    <a:headEnd/>
                    <a:tailEnd/>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7" name="Zone de texte 2">
                    <a:extLst>
                      <a:ext uri="{FF2B5EF4-FFF2-40B4-BE49-F238E27FC236}">
                        <a16:creationId xmlns:a16="http://schemas.microsoft.com/office/drawing/2014/main" id="{E547393A-5AE5-E246-8B9D-5474CE80603B}"/>
                      </a:ext>
                    </a:extLst>
                  </p:cNvPr>
                  <p:cNvSpPr txBox="1">
                    <a:spLocks noChangeArrowheads="1"/>
                  </p:cNvSpPr>
                  <p:nvPr/>
                </p:nvSpPr>
                <p:spPr bwMode="auto">
                  <a:xfrm>
                    <a:off x="327841" y="228894"/>
                    <a:ext cx="323850" cy="236220"/>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r>
                            <a:rPr lang="fr-FR" sz="11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7" name="Zone de texte 2">
                    <a:extLst>
                      <a:ext uri="{FF2B5EF4-FFF2-40B4-BE49-F238E27FC236}">
                        <a16:creationId xmlns:a16="http://schemas.microsoft.com/office/drawing/2014/main" id="{E547393A-5AE5-E246-8B9D-5474CE80603B}"/>
                      </a:ext>
                    </a:extLst>
                  </p:cNvPr>
                  <p:cNvSpPr txBox="1">
                    <a:spLocks noRot="1" noChangeAspect="1" noMove="1" noResize="1" noEditPoints="1" noAdjustHandles="1" noChangeArrowheads="1" noChangeShapeType="1" noTextEdit="1"/>
                  </p:cNvSpPr>
                  <p:nvPr/>
                </p:nvSpPr>
                <p:spPr bwMode="auto">
                  <a:xfrm>
                    <a:off x="327841" y="228894"/>
                    <a:ext cx="323850" cy="236220"/>
                  </a:xfrm>
                  <a:prstGeom prst="rect">
                    <a:avLst/>
                  </a:prstGeom>
                  <a:blipFill>
                    <a:blip r:embed="rId6"/>
                    <a:stretch>
                      <a:fillRect/>
                    </a:stretch>
                  </a:blipFill>
                  <a:ln w="9525">
                    <a:noFill/>
                    <a:miter lim="800000"/>
                    <a:headEnd/>
                    <a:tailEnd/>
                  </a:ln>
                </p:spPr>
                <p:txBody>
                  <a:bodyPr/>
                  <a:lstStyle/>
                  <a:p>
                    <a:r>
                      <a:rPr lang="fr-FR">
                        <a:noFill/>
                      </a:rPr>
                      <a:t> </a:t>
                    </a:r>
                  </a:p>
                </p:txBody>
              </p:sp>
            </mc:Fallback>
          </mc:AlternateContent>
          <p:cxnSp>
            <p:nvCxnSpPr>
              <p:cNvPr id="18" name="Connecteur droit avec flèche 17">
                <a:extLst>
                  <a:ext uri="{FF2B5EF4-FFF2-40B4-BE49-F238E27FC236}">
                    <a16:creationId xmlns:a16="http://schemas.microsoft.com/office/drawing/2014/main" id="{DED682E1-DBC0-1E40-9F8A-542C9C6DFB30}"/>
                  </a:ext>
                </a:extLst>
              </p:cNvPr>
              <p:cNvCxnSpPr/>
              <p:nvPr/>
            </p:nvCxnSpPr>
            <p:spPr>
              <a:xfrm flipV="1">
                <a:off x="676910" y="958215"/>
                <a:ext cx="2233708" cy="273"/>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0" name="Zone de texte 2">
                  <a:extLst>
                    <a:ext uri="{FF2B5EF4-FFF2-40B4-BE49-F238E27FC236}">
                      <a16:creationId xmlns:a16="http://schemas.microsoft.com/office/drawing/2014/main" id="{D0592C51-E16B-234F-B56C-5A51E60869B8}"/>
                    </a:ext>
                  </a:extLst>
                </p:cNvPr>
                <p:cNvSpPr txBox="1">
                  <a:spLocks noChangeArrowheads="1"/>
                </p:cNvSpPr>
                <p:nvPr/>
              </p:nvSpPr>
              <p:spPr bwMode="auto">
                <a:xfrm>
                  <a:off x="6029237" y="1560472"/>
                  <a:ext cx="485780" cy="354377"/>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fr-FR" sz="1600" i="1" smtClean="0">
                                <a:effectLst/>
                                <a:latin typeface="Cambria Math" panose="02040503050406030204" pitchFamily="18" charset="0"/>
                                <a:cs typeface="Times New Roman" panose="02020603050405020304" pitchFamily="18" charset="0"/>
                              </a:rPr>
                            </m:ctrlPr>
                          </m:sSubPr>
                          <m:e>
                            <m:acc>
                              <m:accPr>
                                <m:chr m:val="̇"/>
                                <m:ctrlPr>
                                  <a:rPr lang="fr-FR" sz="1600" i="1" smtClean="0">
                                    <a:effectLst/>
                                    <a:latin typeface="Cambria Math" panose="02040503050406030204" pitchFamily="18" charset="0"/>
                                    <a:cs typeface="Times New Roman" panose="02020603050405020304" pitchFamily="18" charset="0"/>
                                  </a:rPr>
                                </m:ctrlPr>
                              </m:accPr>
                              <m:e>
                                <m:r>
                                  <a:rPr lang="fr-FR" sz="1600" i="1" smtClean="0">
                                    <a:effectLst/>
                                    <a:latin typeface="Cambria Math" panose="02040503050406030204" pitchFamily="18" charset="0"/>
                                    <a:ea typeface="Cambria Math" panose="02040503050406030204" pitchFamily="18" charset="0"/>
                                    <a:cs typeface="Times New Roman" panose="02020603050405020304" pitchFamily="18" charset="0"/>
                                  </a:rPr>
                                  <m:t>𝜃</m:t>
                                </m:r>
                              </m:e>
                            </m:acc>
                          </m:e>
                          <m:sub>
                            <m:r>
                              <a:rPr lang="fr-FR" sz="1600" b="0" i="1" smtClean="0">
                                <a:effectLst/>
                                <a:latin typeface="Cambria Math" panose="02040503050406030204" pitchFamily="18" charset="0"/>
                                <a:cs typeface="Times New Roman" panose="02020603050405020304" pitchFamily="18" charset="0"/>
                              </a:rPr>
                              <m:t>1</m:t>
                            </m:r>
                          </m:sub>
                        </m:sSub>
                      </m:oMath>
                    </m:oMathPara>
                  </a14:m>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0" name="Zone de texte 2">
                  <a:extLst>
                    <a:ext uri="{FF2B5EF4-FFF2-40B4-BE49-F238E27FC236}">
                      <a16:creationId xmlns:a16="http://schemas.microsoft.com/office/drawing/2014/main" id="{D0592C51-E16B-234F-B56C-5A51E60869B8}"/>
                    </a:ext>
                  </a:extLst>
                </p:cNvPr>
                <p:cNvSpPr txBox="1">
                  <a:spLocks noRot="1" noChangeAspect="1" noMove="1" noResize="1" noEditPoints="1" noAdjustHandles="1" noChangeArrowheads="1" noChangeShapeType="1" noTextEdit="1"/>
                </p:cNvSpPr>
                <p:nvPr/>
              </p:nvSpPr>
              <p:spPr bwMode="auto">
                <a:xfrm>
                  <a:off x="6029237" y="1560472"/>
                  <a:ext cx="485780" cy="354377"/>
                </a:xfrm>
                <a:prstGeom prst="rect">
                  <a:avLst/>
                </a:prstGeom>
                <a:blipFill>
                  <a:blip r:embed="rId7"/>
                  <a:stretch>
                    <a:fillRect/>
                  </a:stretch>
                </a:blipFill>
                <a:ln w="9525">
                  <a:noFill/>
                  <a:miter lim="800000"/>
                  <a:headEnd/>
                  <a:tailEnd/>
                </a:ln>
              </p:spPr>
              <p:txBody>
                <a:bodyPr/>
                <a:lstStyle/>
                <a:p>
                  <a:r>
                    <a:rPr lang="fr-FR">
                      <a:noFill/>
                    </a:rPr>
                    <a:t> </a:t>
                  </a:r>
                </a:p>
              </p:txBody>
            </p:sp>
          </mc:Fallback>
        </mc:AlternateContent>
      </p:grpSp>
      <p:grpSp>
        <p:nvGrpSpPr>
          <p:cNvPr id="80" name="Groupe 79">
            <a:extLst>
              <a:ext uri="{FF2B5EF4-FFF2-40B4-BE49-F238E27FC236}">
                <a16:creationId xmlns:a16="http://schemas.microsoft.com/office/drawing/2014/main" id="{B72D6CEB-9F15-C441-B961-5A7792C2DF60}"/>
              </a:ext>
            </a:extLst>
          </p:cNvPr>
          <p:cNvGrpSpPr/>
          <p:nvPr/>
        </p:nvGrpSpPr>
        <p:grpSpPr>
          <a:xfrm>
            <a:off x="1750038" y="4467788"/>
            <a:ext cx="4805725" cy="1555916"/>
            <a:chOff x="1750038" y="4467788"/>
            <a:chExt cx="4805725" cy="1555916"/>
          </a:xfrm>
        </p:grpSpPr>
        <mc:AlternateContent xmlns:mc="http://schemas.openxmlformats.org/markup-compatibility/2006" xmlns:a14="http://schemas.microsoft.com/office/drawing/2010/main">
          <mc:Choice Requires="a14">
            <p:sp>
              <p:nvSpPr>
                <p:cNvPr id="36" name="Zone de texte 2">
                  <a:extLst>
                    <a:ext uri="{FF2B5EF4-FFF2-40B4-BE49-F238E27FC236}">
                      <a16:creationId xmlns:a16="http://schemas.microsoft.com/office/drawing/2014/main" id="{3AFA1D17-1B43-C64D-B927-0D3C78A5DAFE}"/>
                    </a:ext>
                  </a:extLst>
                </p:cNvPr>
                <p:cNvSpPr txBox="1">
                  <a:spLocks noChangeArrowheads="1"/>
                </p:cNvSpPr>
                <p:nvPr/>
              </p:nvSpPr>
              <p:spPr bwMode="auto">
                <a:xfrm>
                  <a:off x="5997261" y="4521636"/>
                  <a:ext cx="485780" cy="354377"/>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fr-FR" sz="1600" i="1" smtClean="0">
                                <a:effectLst/>
                                <a:latin typeface="Cambria Math" panose="02040503050406030204" pitchFamily="18" charset="0"/>
                                <a:cs typeface="Times New Roman" panose="02020603050405020304" pitchFamily="18" charset="0"/>
                              </a:rPr>
                            </m:ctrlPr>
                          </m:sSubPr>
                          <m:e>
                            <m:acc>
                              <m:accPr>
                                <m:chr m:val="̇"/>
                                <m:ctrlPr>
                                  <a:rPr lang="fr-FR" sz="1600" i="1" smtClean="0">
                                    <a:effectLst/>
                                    <a:latin typeface="Cambria Math" panose="02040503050406030204" pitchFamily="18" charset="0"/>
                                    <a:cs typeface="Times New Roman" panose="02020603050405020304" pitchFamily="18" charset="0"/>
                                  </a:rPr>
                                </m:ctrlPr>
                              </m:accPr>
                              <m:e>
                                <m:r>
                                  <a:rPr lang="fr-FR" sz="1600" i="1" smtClean="0">
                                    <a:effectLst/>
                                    <a:latin typeface="Cambria Math" panose="02040503050406030204" pitchFamily="18" charset="0"/>
                                    <a:ea typeface="Cambria Math" panose="02040503050406030204" pitchFamily="18" charset="0"/>
                                    <a:cs typeface="Times New Roman" panose="02020603050405020304" pitchFamily="18" charset="0"/>
                                  </a:rPr>
                                  <m:t>𝜃</m:t>
                                </m:r>
                              </m:e>
                            </m:acc>
                          </m:e>
                          <m:sub>
                            <m:r>
                              <a:rPr lang="fr-FR" sz="1600" b="0" i="1" smtClean="0">
                                <a:effectLst/>
                                <a:latin typeface="Cambria Math" panose="02040503050406030204" pitchFamily="18" charset="0"/>
                                <a:cs typeface="Times New Roman" panose="02020603050405020304" pitchFamily="18" charset="0"/>
                              </a:rPr>
                              <m:t>2</m:t>
                            </m:r>
                          </m:sub>
                        </m:sSub>
                      </m:oMath>
                    </m:oMathPara>
                  </a14:m>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6" name="Zone de texte 2">
                  <a:extLst>
                    <a:ext uri="{FF2B5EF4-FFF2-40B4-BE49-F238E27FC236}">
                      <a16:creationId xmlns:a16="http://schemas.microsoft.com/office/drawing/2014/main" id="{3AFA1D17-1B43-C64D-B927-0D3C78A5DAFE}"/>
                    </a:ext>
                  </a:extLst>
                </p:cNvPr>
                <p:cNvSpPr txBox="1">
                  <a:spLocks noRot="1" noChangeAspect="1" noMove="1" noResize="1" noEditPoints="1" noAdjustHandles="1" noChangeArrowheads="1" noChangeShapeType="1" noTextEdit="1"/>
                </p:cNvSpPr>
                <p:nvPr/>
              </p:nvSpPr>
              <p:spPr bwMode="auto">
                <a:xfrm>
                  <a:off x="5997261" y="4521636"/>
                  <a:ext cx="485780" cy="354377"/>
                </a:xfrm>
                <a:prstGeom prst="rect">
                  <a:avLst/>
                </a:prstGeom>
                <a:blipFill>
                  <a:blip r:embed="rId10"/>
                  <a:stretch>
                    <a:fillRect/>
                  </a:stretch>
                </a:blipFill>
                <a:ln w="9525">
                  <a:noFill/>
                  <a:miter lim="800000"/>
                  <a:headEnd/>
                  <a:tailEnd/>
                </a:ln>
              </p:spPr>
              <p:txBody>
                <a:bodyPr/>
                <a:lstStyle/>
                <a:p>
                  <a:r>
                    <a:rPr lang="fr-FR">
                      <a:noFill/>
                    </a:rPr>
                    <a:t> </a:t>
                  </a:r>
                </a:p>
              </p:txBody>
            </p:sp>
          </mc:Fallback>
        </mc:AlternateContent>
        <p:grpSp>
          <p:nvGrpSpPr>
            <p:cNvPr id="49" name="Grouper 2">
              <a:extLst>
                <a:ext uri="{FF2B5EF4-FFF2-40B4-BE49-F238E27FC236}">
                  <a16:creationId xmlns:a16="http://schemas.microsoft.com/office/drawing/2014/main" id="{76ED3C3E-C8C8-8149-9CA5-AEDA1F1D8C63}"/>
                </a:ext>
              </a:extLst>
            </p:cNvPr>
            <p:cNvGrpSpPr>
              <a:grpSpLocks noChangeAspect="1"/>
            </p:cNvGrpSpPr>
            <p:nvPr/>
          </p:nvGrpSpPr>
          <p:grpSpPr>
            <a:xfrm>
              <a:off x="1750038" y="4467788"/>
              <a:ext cx="4805725" cy="1555916"/>
              <a:chOff x="116981" y="-35666"/>
              <a:chExt cx="3074050" cy="995833"/>
            </a:xfrm>
          </p:grpSpPr>
          <p:sp>
            <p:nvSpPr>
              <p:cNvPr id="50" name="Rectangle 49">
                <a:extLst>
                  <a:ext uri="{FF2B5EF4-FFF2-40B4-BE49-F238E27FC236}">
                    <a16:creationId xmlns:a16="http://schemas.microsoft.com/office/drawing/2014/main" id="{6B0745BE-04C8-9A48-86D1-17DC3D364B43}"/>
                  </a:ext>
                </a:extLst>
              </p:cNvPr>
              <p:cNvSpPr/>
              <p:nvPr/>
            </p:nvSpPr>
            <p:spPr>
              <a:xfrm>
                <a:off x="2109980" y="85090"/>
                <a:ext cx="669925" cy="32856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fr-FR" sz="1600" dirty="0">
                    <a:solidFill>
                      <a:srgbClr val="000000"/>
                    </a:solidFill>
                    <a:effectLst/>
                    <a:ea typeface="Calibri" panose="020F0502020204030204" pitchFamily="34" charset="0"/>
                    <a:cs typeface="Times New Roman" panose="02020603050405020304" pitchFamily="18" charset="0"/>
                  </a:rPr>
                  <a:t>Moteur 2</a:t>
                </a:r>
                <a:endParaRPr lang="fr-FR" sz="1600" dirty="0">
                  <a:effectLst/>
                  <a:ea typeface="Calibri" panose="020F0502020204030204" pitchFamily="34" charset="0"/>
                  <a:cs typeface="Times New Roman" panose="02020603050405020304" pitchFamily="18" charset="0"/>
                </a:endParaRPr>
              </a:p>
            </p:txBody>
          </p:sp>
          <p:cxnSp>
            <p:nvCxnSpPr>
              <p:cNvPr id="51" name="Connecteur droit avec flèche 50">
                <a:extLst>
                  <a:ext uri="{FF2B5EF4-FFF2-40B4-BE49-F238E27FC236}">
                    <a16:creationId xmlns:a16="http://schemas.microsoft.com/office/drawing/2014/main" id="{6333EC19-3423-C642-A13A-DC4387E856AD}"/>
                  </a:ext>
                </a:extLst>
              </p:cNvPr>
              <p:cNvCxnSpPr/>
              <p:nvPr/>
            </p:nvCxnSpPr>
            <p:spPr>
              <a:xfrm>
                <a:off x="1678391" y="254000"/>
                <a:ext cx="414503"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Zone de texte 2">
                    <a:extLst>
                      <a:ext uri="{FF2B5EF4-FFF2-40B4-BE49-F238E27FC236}">
                        <a16:creationId xmlns:a16="http://schemas.microsoft.com/office/drawing/2014/main" id="{360BDCEA-D354-2042-A980-D9B1B57F5BE0}"/>
                      </a:ext>
                    </a:extLst>
                  </p:cNvPr>
                  <p:cNvSpPr txBox="1">
                    <a:spLocks noChangeArrowheads="1"/>
                  </p:cNvSpPr>
                  <p:nvPr/>
                </p:nvSpPr>
                <p:spPr bwMode="auto">
                  <a:xfrm>
                    <a:off x="1712480" y="34180"/>
                    <a:ext cx="323850" cy="323866"/>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fr-FR" sz="1600" i="1" smtClean="0">
                                  <a:effectLst/>
                                  <a:latin typeface="Cambria Math" panose="02040503050406030204" pitchFamily="18" charset="0"/>
                                  <a:cs typeface="Times New Roman" panose="02020603050405020304" pitchFamily="18" charset="0"/>
                                </a:rPr>
                              </m:ctrlPr>
                            </m:sSubPr>
                            <m:e>
                              <m:r>
                                <a:rPr lang="fr-FR" sz="1600" b="0" i="1" smtClean="0">
                                  <a:effectLst/>
                                  <a:latin typeface="Cambria Math" panose="02040503050406030204" pitchFamily="18" charset="0"/>
                                  <a:cs typeface="Times New Roman" panose="02020603050405020304" pitchFamily="18" charset="0"/>
                                </a:rPr>
                                <m:t>𝑈</m:t>
                              </m:r>
                            </m:e>
                            <m:sub>
                              <m:r>
                                <a:rPr lang="fr-FR" sz="1600" b="0" i="1" smtClean="0">
                                  <a:effectLst/>
                                  <a:latin typeface="Cambria Math" panose="02040503050406030204" pitchFamily="18" charset="0"/>
                                  <a:cs typeface="Times New Roman" panose="02020603050405020304" pitchFamily="18" charset="0"/>
                                </a:rPr>
                                <m:t>2</m:t>
                              </m:r>
                            </m:sub>
                          </m:sSub>
                        </m:oMath>
                      </m:oMathPara>
                    </a14:m>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2" name="Zone de texte 2">
                    <a:extLst>
                      <a:ext uri="{FF2B5EF4-FFF2-40B4-BE49-F238E27FC236}">
                        <a16:creationId xmlns:a16="http://schemas.microsoft.com/office/drawing/2014/main" id="{360BDCEA-D354-2042-A980-D9B1B57F5BE0}"/>
                      </a:ext>
                    </a:extLst>
                  </p:cNvPr>
                  <p:cNvSpPr txBox="1">
                    <a:spLocks noRot="1" noChangeAspect="1" noMove="1" noResize="1" noEditPoints="1" noAdjustHandles="1" noChangeArrowheads="1" noChangeShapeType="1" noTextEdit="1"/>
                  </p:cNvSpPr>
                  <p:nvPr/>
                </p:nvSpPr>
                <p:spPr bwMode="auto">
                  <a:xfrm>
                    <a:off x="1712480" y="34180"/>
                    <a:ext cx="323850" cy="323866"/>
                  </a:xfrm>
                  <a:prstGeom prst="rect">
                    <a:avLst/>
                  </a:prstGeom>
                  <a:blipFill>
                    <a:blip r:embed="rId11"/>
                    <a:stretch>
                      <a:fillRect/>
                    </a:stretch>
                  </a:blipFill>
                  <a:ln w="9525">
                    <a:noFill/>
                    <a:miter lim="800000"/>
                    <a:headEnd/>
                    <a:tailEnd/>
                  </a:ln>
                </p:spPr>
                <p:txBody>
                  <a:bodyPr/>
                  <a:lstStyle/>
                  <a:p>
                    <a:r>
                      <a:rPr lang="fr-FR">
                        <a:noFill/>
                      </a:rPr>
                      <a:t> </a:t>
                    </a:r>
                  </a:p>
                </p:txBody>
              </p:sp>
            </mc:Fallback>
          </mc:AlternateContent>
          <p:cxnSp>
            <p:nvCxnSpPr>
              <p:cNvPr id="53" name="Connecteur droit avec flèche 52">
                <a:extLst>
                  <a:ext uri="{FF2B5EF4-FFF2-40B4-BE49-F238E27FC236}">
                    <a16:creationId xmlns:a16="http://schemas.microsoft.com/office/drawing/2014/main" id="{E14EA8AA-0C02-0243-A735-86B38639C043}"/>
                  </a:ext>
                </a:extLst>
              </p:cNvPr>
              <p:cNvCxnSpPr/>
              <p:nvPr/>
            </p:nvCxnSpPr>
            <p:spPr>
              <a:xfrm>
                <a:off x="2776528" y="247650"/>
                <a:ext cx="414503"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4" name="Ellipse 53">
                <a:extLst>
                  <a:ext uri="{FF2B5EF4-FFF2-40B4-BE49-F238E27FC236}">
                    <a16:creationId xmlns:a16="http://schemas.microsoft.com/office/drawing/2014/main" id="{59945AE5-7562-8C4E-A3EB-4AF7B15734DD}"/>
                  </a:ext>
                </a:extLst>
              </p:cNvPr>
              <p:cNvSpPr/>
              <p:nvPr/>
            </p:nvSpPr>
            <p:spPr>
              <a:xfrm>
                <a:off x="584200" y="167640"/>
                <a:ext cx="179705" cy="179705"/>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mc:AlternateContent xmlns:mc="http://schemas.openxmlformats.org/markup-compatibility/2006" xmlns:a14="http://schemas.microsoft.com/office/drawing/2010/main">
            <mc:Choice Requires="a14">
              <p:sp>
                <p:nvSpPr>
                  <p:cNvPr id="55" name="Rectangle 54">
                    <a:extLst>
                      <a:ext uri="{FF2B5EF4-FFF2-40B4-BE49-F238E27FC236}">
                        <a16:creationId xmlns:a16="http://schemas.microsoft.com/office/drawing/2014/main" id="{2D57E42C-8B17-0A45-A5EC-7DDD2C6F6F95}"/>
                      </a:ext>
                    </a:extLst>
                  </p:cNvPr>
                  <p:cNvSpPr/>
                  <p:nvPr/>
                </p:nvSpPr>
                <p:spPr>
                  <a:xfrm>
                    <a:off x="1197697" y="86783"/>
                    <a:ext cx="478782" cy="34067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fr-FR" sz="1600" i="1" smtClean="0">
                                  <a:solidFill>
                                    <a:srgbClr val="000000"/>
                                  </a:solidFill>
                                  <a:effectLst/>
                                  <a:latin typeface="Cambria Math" panose="02040503050406030204" pitchFamily="18" charset="0"/>
                                  <a:cs typeface="Times New Roman" panose="02020603050405020304" pitchFamily="18" charset="0"/>
                                </a:rPr>
                              </m:ctrlPr>
                            </m:sSubPr>
                            <m:e>
                              <m:r>
                                <a:rPr lang="fr-FR" sz="1600" b="0" i="1" smtClean="0">
                                  <a:solidFill>
                                    <a:srgbClr val="000000"/>
                                  </a:solidFill>
                                  <a:effectLst/>
                                  <a:latin typeface="Cambria Math" panose="02040503050406030204" pitchFamily="18" charset="0"/>
                                  <a:cs typeface="Times New Roman" panose="02020603050405020304" pitchFamily="18" charset="0"/>
                                </a:rPr>
                                <m:t>𝐶</m:t>
                              </m:r>
                            </m:e>
                            <m:sub>
                              <m:r>
                                <a:rPr lang="fr-FR" sz="1600" b="0" i="1" smtClean="0">
                                  <a:solidFill>
                                    <a:srgbClr val="000000"/>
                                  </a:solidFill>
                                  <a:effectLst/>
                                  <a:latin typeface="Cambria Math" panose="02040503050406030204" pitchFamily="18" charset="0"/>
                                  <a:cs typeface="Times New Roman" panose="02020603050405020304" pitchFamily="18" charset="0"/>
                                </a:rPr>
                                <m:t>𝑃𝐼</m:t>
                              </m:r>
                            </m:sub>
                          </m:sSub>
                          <m:r>
                            <a:rPr lang="fr-FR"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fr-FR"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𝑠</m:t>
                          </m:r>
                          <m:r>
                            <a:rPr lang="fr-FR" sz="1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fr-FR" sz="1600" dirty="0">
                      <a:effectLst/>
                      <a:ea typeface="Calibri" panose="020F0502020204030204" pitchFamily="34" charset="0"/>
                      <a:cs typeface="Times New Roman" panose="02020603050405020304" pitchFamily="18" charset="0"/>
                    </a:endParaRPr>
                  </a:p>
                </p:txBody>
              </p:sp>
            </mc:Choice>
            <mc:Fallback xmlns="">
              <p:sp>
                <p:nvSpPr>
                  <p:cNvPr id="55" name="Rectangle 54">
                    <a:extLst>
                      <a:ext uri="{FF2B5EF4-FFF2-40B4-BE49-F238E27FC236}">
                        <a16:creationId xmlns:a16="http://schemas.microsoft.com/office/drawing/2014/main" id="{2D57E42C-8B17-0A45-A5EC-7DDD2C6F6F95}"/>
                      </a:ext>
                    </a:extLst>
                  </p:cNvPr>
                  <p:cNvSpPr>
                    <a:spLocks noRot="1" noChangeAspect="1" noMove="1" noResize="1" noEditPoints="1" noAdjustHandles="1" noChangeArrowheads="1" noChangeShapeType="1" noTextEdit="1"/>
                  </p:cNvSpPr>
                  <p:nvPr/>
                </p:nvSpPr>
                <p:spPr>
                  <a:xfrm>
                    <a:off x="1197697" y="86783"/>
                    <a:ext cx="478782" cy="340673"/>
                  </a:xfrm>
                  <a:prstGeom prst="rect">
                    <a:avLst/>
                  </a:prstGeom>
                  <a:blipFill>
                    <a:blip r:embed="rId12"/>
                    <a:stretch>
                      <a:fillRect/>
                    </a:stretch>
                  </a:blipFill>
                  <a:ln>
                    <a:solidFill>
                      <a:schemeClr val="tx1"/>
                    </a:solidFill>
                  </a:ln>
                </p:spPr>
                <p:txBody>
                  <a:bodyPr/>
                  <a:lstStyle/>
                  <a:p>
                    <a:r>
                      <a:rPr lang="fr-FR">
                        <a:noFill/>
                      </a:rPr>
                      <a:t> </a:t>
                    </a:r>
                  </a:p>
                </p:txBody>
              </p:sp>
            </mc:Fallback>
          </mc:AlternateContent>
          <p:cxnSp>
            <p:nvCxnSpPr>
              <p:cNvPr id="56" name="Connecteur droit avec flèche 55">
                <a:extLst>
                  <a:ext uri="{FF2B5EF4-FFF2-40B4-BE49-F238E27FC236}">
                    <a16:creationId xmlns:a16="http://schemas.microsoft.com/office/drawing/2014/main" id="{E66BC85D-A26B-CE42-B27B-D3D4AF294B32}"/>
                  </a:ext>
                </a:extLst>
              </p:cNvPr>
              <p:cNvCxnSpPr/>
              <p:nvPr/>
            </p:nvCxnSpPr>
            <p:spPr>
              <a:xfrm>
                <a:off x="763905" y="254000"/>
                <a:ext cx="414503"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57" name="Connecteur droit avec flèche 56">
                <a:extLst>
                  <a:ext uri="{FF2B5EF4-FFF2-40B4-BE49-F238E27FC236}">
                    <a16:creationId xmlns:a16="http://schemas.microsoft.com/office/drawing/2014/main" id="{93A8C778-DEEC-7042-933D-7484D6958C25}"/>
                  </a:ext>
                </a:extLst>
              </p:cNvPr>
              <p:cNvCxnSpPr/>
              <p:nvPr/>
            </p:nvCxnSpPr>
            <p:spPr>
              <a:xfrm>
                <a:off x="116981" y="254000"/>
                <a:ext cx="437530"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AB9B3015-4BAC-4240-948E-5E0096409B2F}"/>
                  </a:ext>
                </a:extLst>
              </p:cNvPr>
              <p:cNvCxnSpPr/>
              <p:nvPr/>
            </p:nvCxnSpPr>
            <p:spPr>
              <a:xfrm flipV="1">
                <a:off x="676910" y="346710"/>
                <a:ext cx="0" cy="613457"/>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59" name="Connecteur droit avec flèche 58">
                <a:extLst>
                  <a:ext uri="{FF2B5EF4-FFF2-40B4-BE49-F238E27FC236}">
                    <a16:creationId xmlns:a16="http://schemas.microsoft.com/office/drawing/2014/main" id="{52506531-C7E0-724A-9BD3-5B6BBB55C074}"/>
                  </a:ext>
                </a:extLst>
              </p:cNvPr>
              <p:cNvCxnSpPr/>
              <p:nvPr/>
            </p:nvCxnSpPr>
            <p:spPr>
              <a:xfrm flipV="1">
                <a:off x="2913473" y="247650"/>
                <a:ext cx="0" cy="705485"/>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Zone de texte 2">
                    <a:extLst>
                      <a:ext uri="{FF2B5EF4-FFF2-40B4-BE49-F238E27FC236}">
                        <a16:creationId xmlns:a16="http://schemas.microsoft.com/office/drawing/2014/main" id="{B0B3E349-FA9A-9D4A-9B6D-72A815A27614}"/>
                      </a:ext>
                    </a:extLst>
                  </p:cNvPr>
                  <p:cNvSpPr txBox="1">
                    <a:spLocks noChangeArrowheads="1"/>
                  </p:cNvSpPr>
                  <p:nvPr/>
                </p:nvSpPr>
                <p:spPr bwMode="auto">
                  <a:xfrm>
                    <a:off x="195796" y="-35666"/>
                    <a:ext cx="387350" cy="270510"/>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sSup>
                            <m:sSupPr>
                              <m:ctrlPr>
                                <a:rPr lang="fr-FR" sz="1600" i="1" smtClean="0">
                                  <a:effectLst/>
                                  <a:latin typeface="Cambria Math" panose="02040503050406030204" pitchFamily="18" charset="0"/>
                                  <a:cs typeface="Times New Roman" panose="02020603050405020304" pitchFamily="18" charset="0"/>
                                </a:rPr>
                              </m:ctrlPr>
                            </m:sSupPr>
                            <m:e>
                              <m:sSub>
                                <m:sSubPr>
                                  <m:ctrlPr>
                                    <a:rPr lang="fr-FR" sz="1600" i="1" smtClean="0">
                                      <a:effectLst/>
                                      <a:latin typeface="Cambria Math" panose="02040503050406030204" pitchFamily="18" charset="0"/>
                                      <a:cs typeface="Times New Roman" panose="02020603050405020304" pitchFamily="18" charset="0"/>
                                    </a:rPr>
                                  </m:ctrlPr>
                                </m:sSubPr>
                                <m:e>
                                  <m:acc>
                                    <m:accPr>
                                      <m:chr m:val="̇"/>
                                      <m:ctrlPr>
                                        <a:rPr lang="fr-FR" sz="1600" i="1" smtClean="0">
                                          <a:effectLst/>
                                          <a:latin typeface="Cambria Math" panose="02040503050406030204" pitchFamily="18" charset="0"/>
                                          <a:cs typeface="Times New Roman" panose="02020603050405020304" pitchFamily="18" charset="0"/>
                                        </a:rPr>
                                      </m:ctrlPr>
                                    </m:accPr>
                                    <m:e>
                                      <m:r>
                                        <a:rPr lang="fr-FR" sz="1600" i="1" smtClean="0">
                                          <a:effectLst/>
                                          <a:latin typeface="Cambria Math" panose="02040503050406030204" pitchFamily="18" charset="0"/>
                                          <a:ea typeface="Cambria Math" panose="02040503050406030204" pitchFamily="18" charset="0"/>
                                          <a:cs typeface="Times New Roman" panose="02020603050405020304" pitchFamily="18" charset="0"/>
                                        </a:rPr>
                                        <m:t>𝜃</m:t>
                                      </m:r>
                                    </m:e>
                                  </m:acc>
                                </m:e>
                                <m:sub>
                                  <m:r>
                                    <a:rPr lang="fr-FR" sz="1600" b="0" i="1" smtClean="0">
                                      <a:effectLst/>
                                      <a:latin typeface="Cambria Math" panose="02040503050406030204" pitchFamily="18" charset="0"/>
                                      <a:cs typeface="Times New Roman" panose="02020603050405020304" pitchFamily="18" charset="0"/>
                                    </a:rPr>
                                    <m:t>2</m:t>
                                  </m:r>
                                </m:sub>
                              </m:sSub>
                            </m:e>
                            <m:sup>
                              <m:r>
                                <a:rPr lang="fr-FR" sz="1600" b="0" i="1" smtClean="0">
                                  <a:effectLst/>
                                  <a:latin typeface="Cambria Math" panose="02040503050406030204" pitchFamily="18" charset="0"/>
                                  <a:cs typeface="Times New Roman" panose="02020603050405020304" pitchFamily="18" charset="0"/>
                                </a:rPr>
                                <m:t>𝑑</m:t>
                              </m:r>
                            </m:sup>
                          </m:sSup>
                        </m:oMath>
                      </m:oMathPara>
                    </a14:m>
                    <a:endParaRPr lang="fr-FR"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0" name="Zone de texte 2">
                    <a:extLst>
                      <a:ext uri="{FF2B5EF4-FFF2-40B4-BE49-F238E27FC236}">
                        <a16:creationId xmlns:a16="http://schemas.microsoft.com/office/drawing/2014/main" id="{B0B3E349-FA9A-9D4A-9B6D-72A815A27614}"/>
                      </a:ext>
                    </a:extLst>
                  </p:cNvPr>
                  <p:cNvSpPr txBox="1">
                    <a:spLocks noRot="1" noChangeAspect="1" noMove="1" noResize="1" noEditPoints="1" noAdjustHandles="1" noChangeArrowheads="1" noChangeShapeType="1" noTextEdit="1"/>
                  </p:cNvSpPr>
                  <p:nvPr/>
                </p:nvSpPr>
                <p:spPr bwMode="auto">
                  <a:xfrm>
                    <a:off x="195796" y="-35666"/>
                    <a:ext cx="387350" cy="270510"/>
                  </a:xfrm>
                  <a:prstGeom prst="rect">
                    <a:avLst/>
                  </a:prstGeom>
                  <a:blipFill>
                    <a:blip r:embed="rId13"/>
                    <a:stretch>
                      <a:fillRect/>
                    </a:stretch>
                  </a:blipFill>
                  <a:ln w="9525">
                    <a:noFill/>
                    <a:miter lim="800000"/>
                    <a:headEnd/>
                    <a:tailEnd/>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1" name="Zone de texte 2">
                    <a:extLst>
                      <a:ext uri="{FF2B5EF4-FFF2-40B4-BE49-F238E27FC236}">
                        <a16:creationId xmlns:a16="http://schemas.microsoft.com/office/drawing/2014/main" id="{A8E778C0-3E89-2F42-8332-E34C8E40A562}"/>
                      </a:ext>
                    </a:extLst>
                  </p:cNvPr>
                  <p:cNvSpPr txBox="1">
                    <a:spLocks noChangeArrowheads="1"/>
                  </p:cNvSpPr>
                  <p:nvPr/>
                </p:nvSpPr>
                <p:spPr bwMode="auto">
                  <a:xfrm>
                    <a:off x="600805" y="322019"/>
                    <a:ext cx="323215" cy="235585"/>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r>
                            <a:rPr lang="fr-FR" sz="11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1" name="Zone de texte 2">
                    <a:extLst>
                      <a:ext uri="{FF2B5EF4-FFF2-40B4-BE49-F238E27FC236}">
                        <a16:creationId xmlns:a16="http://schemas.microsoft.com/office/drawing/2014/main" id="{A8E778C0-3E89-2F42-8332-E34C8E40A562}"/>
                      </a:ext>
                    </a:extLst>
                  </p:cNvPr>
                  <p:cNvSpPr txBox="1">
                    <a:spLocks noRot="1" noChangeAspect="1" noMove="1" noResize="1" noEditPoints="1" noAdjustHandles="1" noChangeArrowheads="1" noChangeShapeType="1" noTextEdit="1"/>
                  </p:cNvSpPr>
                  <p:nvPr/>
                </p:nvSpPr>
                <p:spPr bwMode="auto">
                  <a:xfrm>
                    <a:off x="600805" y="322019"/>
                    <a:ext cx="323215" cy="235585"/>
                  </a:xfrm>
                  <a:prstGeom prst="rect">
                    <a:avLst/>
                  </a:prstGeom>
                  <a:blipFill>
                    <a:blip r:embed="rId14"/>
                    <a:stretch>
                      <a:fillRect/>
                    </a:stretch>
                  </a:blipFill>
                  <a:ln w="9525">
                    <a:noFill/>
                    <a:miter lim="800000"/>
                    <a:headEnd/>
                    <a:tailEnd/>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2" name="Zone de texte 2">
                    <a:extLst>
                      <a:ext uri="{FF2B5EF4-FFF2-40B4-BE49-F238E27FC236}">
                        <a16:creationId xmlns:a16="http://schemas.microsoft.com/office/drawing/2014/main" id="{100326A1-8D1E-2646-A583-60C2C53BDD88}"/>
                      </a:ext>
                    </a:extLst>
                  </p:cNvPr>
                  <p:cNvSpPr txBox="1">
                    <a:spLocks noChangeArrowheads="1"/>
                  </p:cNvSpPr>
                  <p:nvPr/>
                </p:nvSpPr>
                <p:spPr bwMode="auto">
                  <a:xfrm>
                    <a:off x="335325" y="226483"/>
                    <a:ext cx="323850" cy="236220"/>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r>
                            <a:rPr lang="fr-FR" sz="11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2" name="Zone de texte 2">
                    <a:extLst>
                      <a:ext uri="{FF2B5EF4-FFF2-40B4-BE49-F238E27FC236}">
                        <a16:creationId xmlns:a16="http://schemas.microsoft.com/office/drawing/2014/main" id="{100326A1-8D1E-2646-A583-60C2C53BDD88}"/>
                      </a:ext>
                    </a:extLst>
                  </p:cNvPr>
                  <p:cNvSpPr txBox="1">
                    <a:spLocks noRot="1" noChangeAspect="1" noMove="1" noResize="1" noEditPoints="1" noAdjustHandles="1" noChangeArrowheads="1" noChangeShapeType="1" noTextEdit="1"/>
                  </p:cNvSpPr>
                  <p:nvPr/>
                </p:nvSpPr>
                <p:spPr bwMode="auto">
                  <a:xfrm>
                    <a:off x="335325" y="226483"/>
                    <a:ext cx="323850" cy="236220"/>
                  </a:xfrm>
                  <a:prstGeom prst="rect">
                    <a:avLst/>
                  </a:prstGeom>
                  <a:blipFill>
                    <a:blip r:embed="rId15"/>
                    <a:stretch>
                      <a:fillRect/>
                    </a:stretch>
                  </a:blipFill>
                  <a:ln w="9525">
                    <a:noFill/>
                    <a:miter lim="800000"/>
                    <a:headEnd/>
                    <a:tailEnd/>
                  </a:ln>
                </p:spPr>
                <p:txBody>
                  <a:bodyPr/>
                  <a:lstStyle/>
                  <a:p>
                    <a:r>
                      <a:rPr lang="fr-FR">
                        <a:noFill/>
                      </a:rPr>
                      <a:t> </a:t>
                    </a:r>
                  </a:p>
                </p:txBody>
              </p:sp>
            </mc:Fallback>
          </mc:AlternateContent>
          <p:cxnSp>
            <p:nvCxnSpPr>
              <p:cNvPr id="63" name="Connecteur droit avec flèche 62">
                <a:extLst>
                  <a:ext uri="{FF2B5EF4-FFF2-40B4-BE49-F238E27FC236}">
                    <a16:creationId xmlns:a16="http://schemas.microsoft.com/office/drawing/2014/main" id="{FD560468-AF7E-B644-812C-18D0F0A05A61}"/>
                  </a:ext>
                </a:extLst>
              </p:cNvPr>
              <p:cNvCxnSpPr/>
              <p:nvPr/>
            </p:nvCxnSpPr>
            <p:spPr>
              <a:xfrm flipV="1">
                <a:off x="676910" y="958215"/>
                <a:ext cx="2233708" cy="273"/>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grpSp>
      </p:grpSp>
      <p:grpSp>
        <p:nvGrpSpPr>
          <p:cNvPr id="86" name="Groupe 85">
            <a:extLst>
              <a:ext uri="{FF2B5EF4-FFF2-40B4-BE49-F238E27FC236}">
                <a16:creationId xmlns:a16="http://schemas.microsoft.com/office/drawing/2014/main" id="{67BAF857-0B1E-5B44-B386-A5ADDEA364B2}"/>
              </a:ext>
            </a:extLst>
          </p:cNvPr>
          <p:cNvGrpSpPr/>
          <p:nvPr/>
        </p:nvGrpSpPr>
        <p:grpSpPr>
          <a:xfrm>
            <a:off x="-101475" y="2003325"/>
            <a:ext cx="1839656" cy="2916459"/>
            <a:chOff x="-101475" y="2003325"/>
            <a:chExt cx="1839656" cy="2916459"/>
          </a:xfrm>
        </p:grpSpPr>
        <p:sp>
          <p:nvSpPr>
            <p:cNvPr id="37" name="Rectangle 36">
              <a:extLst>
                <a:ext uri="{FF2B5EF4-FFF2-40B4-BE49-F238E27FC236}">
                  <a16:creationId xmlns:a16="http://schemas.microsoft.com/office/drawing/2014/main" id="{F5CD8652-A93F-5548-9D3F-BF79C72528E8}"/>
                </a:ext>
              </a:extLst>
            </p:cNvPr>
            <p:cNvSpPr/>
            <p:nvPr/>
          </p:nvSpPr>
          <p:spPr>
            <a:xfrm>
              <a:off x="1238685" y="2932612"/>
              <a:ext cx="117565" cy="1045028"/>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84" name="Groupe 83">
              <a:extLst>
                <a:ext uri="{FF2B5EF4-FFF2-40B4-BE49-F238E27FC236}">
                  <a16:creationId xmlns:a16="http://schemas.microsoft.com/office/drawing/2014/main" id="{69FE86BE-0E14-AB4E-A9BF-A0AA26B32A40}"/>
                </a:ext>
              </a:extLst>
            </p:cNvPr>
            <p:cNvGrpSpPr/>
            <p:nvPr/>
          </p:nvGrpSpPr>
          <p:grpSpPr>
            <a:xfrm>
              <a:off x="-101475" y="2003325"/>
              <a:ext cx="1839656" cy="2916459"/>
              <a:chOff x="-101475" y="2003325"/>
              <a:chExt cx="1839656" cy="2916459"/>
            </a:xfrm>
          </p:grpSpPr>
          <p:cxnSp>
            <p:nvCxnSpPr>
              <p:cNvPr id="44" name="Connecteur droit 43">
                <a:extLst>
                  <a:ext uri="{FF2B5EF4-FFF2-40B4-BE49-F238E27FC236}">
                    <a16:creationId xmlns:a16="http://schemas.microsoft.com/office/drawing/2014/main" id="{45A65CC4-659F-3342-B220-95C905A7724F}"/>
                  </a:ext>
                </a:extLst>
              </p:cNvPr>
              <p:cNvCxnSpPr/>
              <p:nvPr/>
            </p:nvCxnSpPr>
            <p:spPr>
              <a:xfrm>
                <a:off x="1723550" y="2003325"/>
                <a:ext cx="0" cy="11840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necteur droit 45">
                <a:extLst>
                  <a:ext uri="{FF2B5EF4-FFF2-40B4-BE49-F238E27FC236}">
                    <a16:creationId xmlns:a16="http://schemas.microsoft.com/office/drawing/2014/main" id="{968DC933-B7FB-3E4A-9DE1-9CA19C8B0418}"/>
                  </a:ext>
                </a:extLst>
              </p:cNvPr>
              <p:cNvCxnSpPr/>
              <p:nvPr/>
            </p:nvCxnSpPr>
            <p:spPr>
              <a:xfrm flipH="1">
                <a:off x="1284404" y="3187337"/>
                <a:ext cx="432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Connecteur droit 46">
                <a:extLst>
                  <a:ext uri="{FF2B5EF4-FFF2-40B4-BE49-F238E27FC236}">
                    <a16:creationId xmlns:a16="http://schemas.microsoft.com/office/drawing/2014/main" id="{DF6B218C-F048-B548-99FE-64BE020DF901}"/>
                  </a:ext>
                </a:extLst>
              </p:cNvPr>
              <p:cNvCxnSpPr/>
              <p:nvPr/>
            </p:nvCxnSpPr>
            <p:spPr>
              <a:xfrm>
                <a:off x="1738181" y="3735772"/>
                <a:ext cx="0" cy="11840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Connecteur droit 47">
                <a:extLst>
                  <a:ext uri="{FF2B5EF4-FFF2-40B4-BE49-F238E27FC236}">
                    <a16:creationId xmlns:a16="http://schemas.microsoft.com/office/drawing/2014/main" id="{819899CB-087F-A546-B783-EEF3D4473745}"/>
                  </a:ext>
                </a:extLst>
              </p:cNvPr>
              <p:cNvCxnSpPr/>
              <p:nvPr/>
            </p:nvCxnSpPr>
            <p:spPr>
              <a:xfrm flipH="1">
                <a:off x="1304981" y="3735772"/>
                <a:ext cx="432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Connecteur droit avec flèche 73">
                <a:extLst>
                  <a:ext uri="{FF2B5EF4-FFF2-40B4-BE49-F238E27FC236}">
                    <a16:creationId xmlns:a16="http://schemas.microsoft.com/office/drawing/2014/main" id="{0894ECFD-CDDF-1943-BE6C-2F604277983B}"/>
                  </a:ext>
                </a:extLst>
              </p:cNvPr>
              <p:cNvCxnSpPr>
                <a:cxnSpLocks/>
              </p:cNvCxnSpPr>
              <p:nvPr/>
            </p:nvCxnSpPr>
            <p:spPr>
              <a:xfrm>
                <a:off x="622608" y="3455126"/>
                <a:ext cx="56382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6" name="ZoneTexte 75">
                    <a:extLst>
                      <a:ext uri="{FF2B5EF4-FFF2-40B4-BE49-F238E27FC236}">
                        <a16:creationId xmlns:a16="http://schemas.microsoft.com/office/drawing/2014/main" id="{F11F0D42-0F3F-7C48-83F2-299F571AFCEE}"/>
                      </a:ext>
                    </a:extLst>
                  </p:cNvPr>
                  <p:cNvSpPr txBox="1"/>
                  <p:nvPr/>
                </p:nvSpPr>
                <p:spPr>
                  <a:xfrm>
                    <a:off x="-101475" y="2758757"/>
                    <a:ext cx="1448166" cy="6617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400" b="0" i="1" smtClean="0">
                                  <a:latin typeface="Cambria Math" panose="02040503050406030204" pitchFamily="18" charset="0"/>
                                </a:rPr>
                              </m:ctrlPr>
                            </m:sSupPr>
                            <m:e>
                              <m:acc>
                                <m:accPr>
                                  <m:chr m:val="̇"/>
                                  <m:ctrlPr>
                                    <a:rPr lang="fr-FR" sz="1400" b="0" i="1" smtClean="0">
                                      <a:latin typeface="Cambria Math" panose="02040503050406030204" pitchFamily="18" charset="0"/>
                                    </a:rPr>
                                  </m:ctrlPr>
                                </m:accPr>
                                <m:e>
                                  <m:r>
                                    <a:rPr lang="fr-FR" sz="1400" b="1" i="0" smtClean="0">
                                      <a:latin typeface="Cambria Math" panose="02040503050406030204" pitchFamily="18" charset="0"/>
                                    </a:rPr>
                                    <m:t>𝐪</m:t>
                                  </m:r>
                                </m:e>
                              </m:acc>
                            </m:e>
                            <m:sup>
                              <m:r>
                                <a:rPr lang="fr-FR" sz="1400" b="0" i="1" smtClean="0">
                                  <a:latin typeface="Cambria Math" panose="02040503050406030204" pitchFamily="18" charset="0"/>
                                </a:rPr>
                                <m:t>𝑑</m:t>
                              </m:r>
                            </m:sup>
                          </m:sSup>
                          <m:r>
                            <a:rPr lang="fr-FR" sz="1400" b="0" i="1" smtClean="0">
                              <a:latin typeface="Cambria Math" panose="02040503050406030204" pitchFamily="18" charset="0"/>
                            </a:rPr>
                            <m:t>=</m:t>
                          </m:r>
                          <m:d>
                            <m:dPr>
                              <m:ctrlPr>
                                <a:rPr lang="fr-FR" sz="1400" b="0" i="1" smtClean="0">
                                  <a:latin typeface="Cambria Math" panose="02040503050406030204" pitchFamily="18" charset="0"/>
                                </a:rPr>
                              </m:ctrlPr>
                            </m:dPr>
                            <m:e>
                              <m:eqArr>
                                <m:eqArrPr>
                                  <m:ctrlPr>
                                    <a:rPr lang="fr-FR" sz="1400" b="0" i="1" smtClean="0">
                                      <a:latin typeface="Cambria Math" panose="02040503050406030204" pitchFamily="18" charset="0"/>
                                    </a:rPr>
                                  </m:ctrlPr>
                                </m:eqArrPr>
                                <m:e>
                                  <m:sSup>
                                    <m:sSupPr>
                                      <m:ctrlPr>
                                        <a:rPr lang="fr-FR" sz="1400" i="1">
                                          <a:latin typeface="Cambria Math" panose="02040503050406030204" pitchFamily="18" charset="0"/>
                                          <a:cs typeface="Times New Roman" panose="02020603050405020304" pitchFamily="18" charset="0"/>
                                        </a:rPr>
                                      </m:ctrlPr>
                                    </m:sSupPr>
                                    <m:e>
                                      <m:sSub>
                                        <m:sSubPr>
                                          <m:ctrlPr>
                                            <a:rPr lang="fr-FR" sz="1400" i="1">
                                              <a:latin typeface="Cambria Math" panose="02040503050406030204" pitchFamily="18" charset="0"/>
                                              <a:cs typeface="Times New Roman" panose="02020603050405020304" pitchFamily="18" charset="0"/>
                                            </a:rPr>
                                          </m:ctrlPr>
                                        </m:sSubPr>
                                        <m:e>
                                          <m:acc>
                                            <m:accPr>
                                              <m:chr m:val="̇"/>
                                              <m:ctrlPr>
                                                <a:rPr lang="fr-FR" sz="1400" i="1">
                                                  <a:latin typeface="Cambria Math" panose="02040503050406030204" pitchFamily="18" charset="0"/>
                                                  <a:cs typeface="Times New Roman" panose="02020603050405020304" pitchFamily="18" charset="0"/>
                                                </a:rPr>
                                              </m:ctrlPr>
                                            </m:accPr>
                                            <m:e>
                                              <m:r>
                                                <a:rPr lang="fr-FR" sz="1400" i="1">
                                                  <a:latin typeface="Cambria Math" panose="02040503050406030204" pitchFamily="18" charset="0"/>
                                                  <a:ea typeface="Cambria Math" panose="02040503050406030204" pitchFamily="18" charset="0"/>
                                                  <a:cs typeface="Times New Roman" panose="02020603050405020304" pitchFamily="18" charset="0"/>
                                                </a:rPr>
                                                <m:t>𝜃</m:t>
                                              </m:r>
                                            </m:e>
                                          </m:acc>
                                        </m:e>
                                        <m:sub>
                                          <m:r>
                                            <a:rPr lang="fr-FR" sz="1400" i="1">
                                              <a:latin typeface="Cambria Math" panose="02040503050406030204" pitchFamily="18" charset="0"/>
                                              <a:cs typeface="Times New Roman" panose="02020603050405020304" pitchFamily="18" charset="0"/>
                                            </a:rPr>
                                            <m:t>1</m:t>
                                          </m:r>
                                        </m:sub>
                                      </m:sSub>
                                    </m:e>
                                    <m:sup>
                                      <m:r>
                                        <a:rPr lang="fr-FR" sz="1400" i="1">
                                          <a:latin typeface="Cambria Math" panose="02040503050406030204" pitchFamily="18" charset="0"/>
                                          <a:cs typeface="Times New Roman" panose="02020603050405020304" pitchFamily="18" charset="0"/>
                                        </a:rPr>
                                        <m:t>𝑑</m:t>
                                      </m:r>
                                    </m:sup>
                                  </m:sSup>
                                </m:e>
                                <m:e>
                                  <m:sSup>
                                    <m:sSupPr>
                                      <m:ctrlPr>
                                        <a:rPr lang="fr-FR" sz="1400" i="1">
                                          <a:latin typeface="Cambria Math" panose="02040503050406030204" pitchFamily="18" charset="0"/>
                                          <a:cs typeface="Times New Roman" panose="02020603050405020304" pitchFamily="18" charset="0"/>
                                        </a:rPr>
                                      </m:ctrlPr>
                                    </m:sSupPr>
                                    <m:e>
                                      <m:sSub>
                                        <m:sSubPr>
                                          <m:ctrlPr>
                                            <a:rPr lang="fr-FR" sz="1400" i="1">
                                              <a:latin typeface="Cambria Math" panose="02040503050406030204" pitchFamily="18" charset="0"/>
                                              <a:cs typeface="Times New Roman" panose="02020603050405020304" pitchFamily="18" charset="0"/>
                                            </a:rPr>
                                          </m:ctrlPr>
                                        </m:sSubPr>
                                        <m:e>
                                          <m:acc>
                                            <m:accPr>
                                              <m:chr m:val="̇"/>
                                              <m:ctrlPr>
                                                <a:rPr lang="fr-FR" sz="1400" i="1">
                                                  <a:latin typeface="Cambria Math" panose="02040503050406030204" pitchFamily="18" charset="0"/>
                                                  <a:cs typeface="Times New Roman" panose="02020603050405020304" pitchFamily="18" charset="0"/>
                                                </a:rPr>
                                              </m:ctrlPr>
                                            </m:accPr>
                                            <m:e>
                                              <m:r>
                                                <a:rPr lang="fr-FR" sz="1400" i="1">
                                                  <a:latin typeface="Cambria Math" panose="02040503050406030204" pitchFamily="18" charset="0"/>
                                                  <a:ea typeface="Cambria Math" panose="02040503050406030204" pitchFamily="18" charset="0"/>
                                                  <a:cs typeface="Times New Roman" panose="02020603050405020304" pitchFamily="18" charset="0"/>
                                                </a:rPr>
                                                <m:t>𝜃</m:t>
                                              </m:r>
                                            </m:e>
                                          </m:acc>
                                        </m:e>
                                        <m:sub>
                                          <m:r>
                                            <a:rPr lang="fr-FR" sz="1400" i="1">
                                              <a:latin typeface="Cambria Math" panose="02040503050406030204" pitchFamily="18" charset="0"/>
                                              <a:cs typeface="Times New Roman" panose="02020603050405020304" pitchFamily="18" charset="0"/>
                                            </a:rPr>
                                            <m:t>2</m:t>
                                          </m:r>
                                        </m:sub>
                                      </m:sSub>
                                    </m:e>
                                    <m:sup>
                                      <m:r>
                                        <a:rPr lang="fr-FR" sz="1400" i="1">
                                          <a:latin typeface="Cambria Math" panose="02040503050406030204" pitchFamily="18" charset="0"/>
                                          <a:cs typeface="Times New Roman" panose="02020603050405020304" pitchFamily="18" charset="0"/>
                                        </a:rPr>
                                        <m:t>𝑑</m:t>
                                      </m:r>
                                    </m:sup>
                                  </m:sSup>
                                </m:e>
                              </m:eqArr>
                            </m:e>
                          </m:d>
                        </m:oMath>
                      </m:oMathPara>
                    </a14:m>
                    <a:endParaRPr lang="fr-FR" sz="1400" dirty="0"/>
                  </a:p>
                </p:txBody>
              </p:sp>
            </mc:Choice>
            <mc:Fallback xmlns="">
              <p:sp>
                <p:nvSpPr>
                  <p:cNvPr id="76" name="ZoneTexte 75">
                    <a:extLst>
                      <a:ext uri="{FF2B5EF4-FFF2-40B4-BE49-F238E27FC236}">
                        <a16:creationId xmlns:a16="http://schemas.microsoft.com/office/drawing/2014/main" id="{F11F0D42-0F3F-7C48-83F2-299F571AFCEE}"/>
                      </a:ext>
                    </a:extLst>
                  </p:cNvPr>
                  <p:cNvSpPr txBox="1">
                    <a:spLocks noRot="1" noChangeAspect="1" noMove="1" noResize="1" noEditPoints="1" noAdjustHandles="1" noChangeArrowheads="1" noChangeShapeType="1" noTextEdit="1"/>
                  </p:cNvSpPr>
                  <p:nvPr/>
                </p:nvSpPr>
                <p:spPr>
                  <a:xfrm>
                    <a:off x="-101475" y="2758757"/>
                    <a:ext cx="1448166" cy="661784"/>
                  </a:xfrm>
                  <a:prstGeom prst="rect">
                    <a:avLst/>
                  </a:prstGeom>
                  <a:blipFill>
                    <a:blip r:embed="rId18"/>
                    <a:stretch>
                      <a:fillRect/>
                    </a:stretch>
                  </a:blipFill>
                </p:spPr>
                <p:txBody>
                  <a:bodyPr/>
                  <a:lstStyle/>
                  <a:p>
                    <a:r>
                      <a:rPr lang="fr-FR">
                        <a:noFill/>
                      </a:rPr>
                      <a:t> </a:t>
                    </a:r>
                  </a:p>
                </p:txBody>
              </p:sp>
            </mc:Fallback>
          </mc:AlternateContent>
        </p:grpSp>
      </p:grpSp>
      <p:grpSp>
        <p:nvGrpSpPr>
          <p:cNvPr id="85" name="Groupe 84">
            <a:extLst>
              <a:ext uri="{FF2B5EF4-FFF2-40B4-BE49-F238E27FC236}">
                <a16:creationId xmlns:a16="http://schemas.microsoft.com/office/drawing/2014/main" id="{32B19200-C66A-314C-BBBD-5FB71810991E}"/>
              </a:ext>
            </a:extLst>
          </p:cNvPr>
          <p:cNvGrpSpPr/>
          <p:nvPr/>
        </p:nvGrpSpPr>
        <p:grpSpPr>
          <a:xfrm>
            <a:off x="6547913" y="1974462"/>
            <a:ext cx="1876471" cy="2936450"/>
            <a:chOff x="7441051" y="1974462"/>
            <a:chExt cx="1876471" cy="2936450"/>
          </a:xfrm>
        </p:grpSpPr>
        <p:sp>
          <p:nvSpPr>
            <p:cNvPr id="67" name="Rectangle 66">
              <a:extLst>
                <a:ext uri="{FF2B5EF4-FFF2-40B4-BE49-F238E27FC236}">
                  <a16:creationId xmlns:a16="http://schemas.microsoft.com/office/drawing/2014/main" id="{8DAEEC5A-BD19-E044-80B6-4925FA52D78D}"/>
                </a:ext>
              </a:extLst>
            </p:cNvPr>
            <p:cNvSpPr/>
            <p:nvPr/>
          </p:nvSpPr>
          <p:spPr>
            <a:xfrm>
              <a:off x="7800283" y="2914392"/>
              <a:ext cx="117565" cy="1045028"/>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69" name="Connecteur droit 68">
              <a:extLst>
                <a:ext uri="{FF2B5EF4-FFF2-40B4-BE49-F238E27FC236}">
                  <a16:creationId xmlns:a16="http://schemas.microsoft.com/office/drawing/2014/main" id="{A274E7D5-F7B4-5C47-8AB8-A3F7713B417F}"/>
                </a:ext>
              </a:extLst>
            </p:cNvPr>
            <p:cNvCxnSpPr/>
            <p:nvPr/>
          </p:nvCxnSpPr>
          <p:spPr>
            <a:xfrm flipV="1">
              <a:off x="7441051" y="3722912"/>
              <a:ext cx="0" cy="1188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Connecteur droit 69">
              <a:extLst>
                <a:ext uri="{FF2B5EF4-FFF2-40B4-BE49-F238E27FC236}">
                  <a16:creationId xmlns:a16="http://schemas.microsoft.com/office/drawing/2014/main" id="{FB57B08D-BCAA-554B-B5B4-7AC1C7C82A6E}"/>
                </a:ext>
              </a:extLst>
            </p:cNvPr>
            <p:cNvCxnSpPr/>
            <p:nvPr/>
          </p:nvCxnSpPr>
          <p:spPr>
            <a:xfrm flipH="1">
              <a:off x="7446661" y="3722709"/>
              <a:ext cx="3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Connecteur droit 70">
              <a:extLst>
                <a:ext uri="{FF2B5EF4-FFF2-40B4-BE49-F238E27FC236}">
                  <a16:creationId xmlns:a16="http://schemas.microsoft.com/office/drawing/2014/main" id="{FE422C21-F8B3-FC4F-B1F5-D98805E5DF88}"/>
                </a:ext>
              </a:extLst>
            </p:cNvPr>
            <p:cNvCxnSpPr/>
            <p:nvPr/>
          </p:nvCxnSpPr>
          <p:spPr>
            <a:xfrm flipV="1">
              <a:off x="7441051" y="1974462"/>
              <a:ext cx="0" cy="1188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Connecteur droit 71">
              <a:extLst>
                <a:ext uri="{FF2B5EF4-FFF2-40B4-BE49-F238E27FC236}">
                  <a16:creationId xmlns:a16="http://schemas.microsoft.com/office/drawing/2014/main" id="{6DCE25F9-7EED-2647-9545-19763347A7C2}"/>
                </a:ext>
              </a:extLst>
            </p:cNvPr>
            <p:cNvCxnSpPr/>
            <p:nvPr/>
          </p:nvCxnSpPr>
          <p:spPr>
            <a:xfrm flipH="1">
              <a:off x="7446661" y="3162462"/>
              <a:ext cx="3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Connecteur droit avec flèche 74">
              <a:extLst>
                <a:ext uri="{FF2B5EF4-FFF2-40B4-BE49-F238E27FC236}">
                  <a16:creationId xmlns:a16="http://schemas.microsoft.com/office/drawing/2014/main" id="{83695C98-D233-D04C-AA69-5E158E0C2EF0}"/>
                </a:ext>
              </a:extLst>
            </p:cNvPr>
            <p:cNvCxnSpPr>
              <a:cxnSpLocks/>
            </p:cNvCxnSpPr>
            <p:nvPr/>
          </p:nvCxnSpPr>
          <p:spPr>
            <a:xfrm>
              <a:off x="7917848" y="3457303"/>
              <a:ext cx="56382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ZoneTexte 76">
                  <a:extLst>
                    <a:ext uri="{FF2B5EF4-FFF2-40B4-BE49-F238E27FC236}">
                      <a16:creationId xmlns:a16="http://schemas.microsoft.com/office/drawing/2014/main" id="{503F3C06-1B97-A342-BA2E-D155F87EEB71}"/>
                    </a:ext>
                  </a:extLst>
                </p:cNvPr>
                <p:cNvSpPr txBox="1"/>
                <p:nvPr/>
              </p:nvSpPr>
              <p:spPr>
                <a:xfrm>
                  <a:off x="7869356" y="2809084"/>
                  <a:ext cx="1448166" cy="6455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fr-FR" sz="1600" b="0" i="1" smtClean="0">
                                <a:latin typeface="Cambria Math" panose="02040503050406030204" pitchFamily="18" charset="0"/>
                              </a:rPr>
                            </m:ctrlPr>
                          </m:accPr>
                          <m:e>
                            <m:r>
                              <a:rPr lang="fr-FR" sz="1600" b="1" i="0" smtClean="0">
                                <a:latin typeface="Cambria Math" panose="02040503050406030204" pitchFamily="18" charset="0"/>
                              </a:rPr>
                              <m:t>𝐪</m:t>
                            </m:r>
                          </m:e>
                        </m:acc>
                        <m:r>
                          <a:rPr lang="fr-FR" sz="1600" b="0" i="1" smtClean="0">
                            <a:latin typeface="Cambria Math" panose="02040503050406030204" pitchFamily="18" charset="0"/>
                          </a:rPr>
                          <m:t>=</m:t>
                        </m:r>
                        <m:d>
                          <m:dPr>
                            <m:ctrlPr>
                              <a:rPr lang="fr-FR" sz="1600" b="0" i="1" smtClean="0">
                                <a:latin typeface="Cambria Math" panose="02040503050406030204" pitchFamily="18" charset="0"/>
                              </a:rPr>
                            </m:ctrlPr>
                          </m:dPr>
                          <m:e>
                            <m:eqArr>
                              <m:eqArrPr>
                                <m:ctrlPr>
                                  <a:rPr lang="fr-FR" sz="1600" b="0" i="1" smtClean="0">
                                    <a:latin typeface="Cambria Math" panose="02040503050406030204" pitchFamily="18" charset="0"/>
                                  </a:rPr>
                                </m:ctrlPr>
                              </m:eqArrPr>
                              <m:e>
                                <m:sSub>
                                  <m:sSubPr>
                                    <m:ctrlPr>
                                      <a:rPr lang="fr-FR" sz="1600" b="0" i="1" smtClean="0">
                                        <a:latin typeface="Cambria Math" panose="02040503050406030204" pitchFamily="18" charset="0"/>
                                      </a:rPr>
                                    </m:ctrlPr>
                                  </m:sSubPr>
                                  <m:e>
                                    <m:acc>
                                      <m:accPr>
                                        <m:chr m:val="̇"/>
                                        <m:ctrlPr>
                                          <a:rPr lang="fr-FR" sz="1600" b="0" i="1" smtClean="0">
                                            <a:latin typeface="Cambria Math" panose="02040503050406030204" pitchFamily="18" charset="0"/>
                                          </a:rPr>
                                        </m:ctrlPr>
                                      </m:accPr>
                                      <m:e>
                                        <m:r>
                                          <a:rPr lang="fr-FR" sz="1600" i="1">
                                            <a:latin typeface="Cambria Math" panose="02040503050406030204" pitchFamily="18" charset="0"/>
                                            <a:ea typeface="Cambria Math" panose="02040503050406030204" pitchFamily="18" charset="0"/>
                                          </a:rPr>
                                          <m:t>𝜃</m:t>
                                        </m:r>
                                      </m:e>
                                    </m:acc>
                                  </m:e>
                                  <m:sub>
                                    <m:r>
                                      <a:rPr lang="fr-FR" sz="1600" b="0" i="1" smtClean="0">
                                        <a:latin typeface="Cambria Math" panose="02040503050406030204" pitchFamily="18" charset="0"/>
                                      </a:rPr>
                                      <m:t>1</m:t>
                                    </m:r>
                                  </m:sub>
                                </m:sSub>
                              </m:e>
                              <m:e>
                                <m:sSub>
                                  <m:sSubPr>
                                    <m:ctrlPr>
                                      <a:rPr lang="fr-FR" sz="1600" i="1">
                                        <a:latin typeface="Cambria Math" panose="02040503050406030204" pitchFamily="18" charset="0"/>
                                      </a:rPr>
                                    </m:ctrlPr>
                                  </m:sSubPr>
                                  <m:e>
                                    <m:acc>
                                      <m:accPr>
                                        <m:chr m:val="̇"/>
                                        <m:ctrlPr>
                                          <a:rPr lang="fr-FR" sz="1600" i="1">
                                            <a:latin typeface="Cambria Math" panose="02040503050406030204" pitchFamily="18" charset="0"/>
                                          </a:rPr>
                                        </m:ctrlPr>
                                      </m:accPr>
                                      <m:e>
                                        <m:r>
                                          <a:rPr lang="fr-FR" sz="1600" i="1">
                                            <a:latin typeface="Cambria Math" panose="02040503050406030204" pitchFamily="18" charset="0"/>
                                            <a:ea typeface="Cambria Math" panose="02040503050406030204" pitchFamily="18" charset="0"/>
                                          </a:rPr>
                                          <m:t>𝜃</m:t>
                                        </m:r>
                                      </m:e>
                                    </m:acc>
                                  </m:e>
                                  <m:sub>
                                    <m:r>
                                      <a:rPr lang="fr-FR" sz="1600" b="0" i="1" smtClean="0">
                                        <a:latin typeface="Cambria Math" panose="02040503050406030204" pitchFamily="18" charset="0"/>
                                        <a:ea typeface="Cambria Math" panose="02040503050406030204" pitchFamily="18" charset="0"/>
                                      </a:rPr>
                                      <m:t>2</m:t>
                                    </m:r>
                                  </m:sub>
                                </m:sSub>
                              </m:e>
                            </m:eqArr>
                          </m:e>
                        </m:d>
                      </m:oMath>
                    </m:oMathPara>
                  </a14:m>
                  <a:endParaRPr lang="fr-FR" sz="1600" dirty="0"/>
                </a:p>
              </p:txBody>
            </p:sp>
          </mc:Choice>
          <mc:Fallback xmlns="">
            <p:sp>
              <p:nvSpPr>
                <p:cNvPr id="77" name="ZoneTexte 76">
                  <a:extLst>
                    <a:ext uri="{FF2B5EF4-FFF2-40B4-BE49-F238E27FC236}">
                      <a16:creationId xmlns:a16="http://schemas.microsoft.com/office/drawing/2014/main" id="{503F3C06-1B97-A342-BA2E-D155F87EEB71}"/>
                    </a:ext>
                  </a:extLst>
                </p:cNvPr>
                <p:cNvSpPr txBox="1">
                  <a:spLocks noRot="1" noChangeAspect="1" noMove="1" noResize="1" noEditPoints="1" noAdjustHandles="1" noChangeArrowheads="1" noChangeShapeType="1" noTextEdit="1"/>
                </p:cNvSpPr>
                <p:nvPr/>
              </p:nvSpPr>
              <p:spPr>
                <a:xfrm>
                  <a:off x="7869356" y="2809084"/>
                  <a:ext cx="1448166" cy="645561"/>
                </a:xfrm>
                <a:prstGeom prst="rect">
                  <a:avLst/>
                </a:prstGeom>
                <a:blipFill>
                  <a:blip r:embed="rId19"/>
                  <a:stretch>
                    <a:fillRect/>
                  </a:stretch>
                </a:blipFill>
              </p:spPr>
              <p:txBody>
                <a:bodyPr/>
                <a:lstStyle/>
                <a:p>
                  <a:r>
                    <a:rPr lang="fr-FR">
                      <a:noFill/>
                    </a:rPr>
                    <a:t> </a:t>
                  </a:r>
                </a:p>
              </p:txBody>
            </p:sp>
          </mc:Fallback>
        </mc:AlternateContent>
      </p:grpSp>
      <p:sp>
        <p:nvSpPr>
          <p:cNvPr id="64" name="Titre 2">
            <a:extLst>
              <a:ext uri="{FF2B5EF4-FFF2-40B4-BE49-F238E27FC236}">
                <a16:creationId xmlns:a16="http://schemas.microsoft.com/office/drawing/2014/main" id="{465F0296-2EF8-3145-B69F-F24AAC2C70D0}"/>
              </a:ext>
            </a:extLst>
          </p:cNvPr>
          <p:cNvSpPr>
            <a:spLocks noGrp="1"/>
          </p:cNvSpPr>
          <p:nvPr>
            <p:ph type="title"/>
          </p:nvPr>
        </p:nvSpPr>
        <p:spPr>
          <a:xfrm>
            <a:off x="300790" y="0"/>
            <a:ext cx="8229600" cy="785812"/>
          </a:xfrm>
        </p:spPr>
        <p:txBody>
          <a:bodyPr/>
          <a:lstStyle/>
          <a:p>
            <a:r>
              <a:rPr lang="en-GB" dirty="0"/>
              <a:t>Position control</a:t>
            </a:r>
          </a:p>
        </p:txBody>
      </p:sp>
    </p:spTree>
    <p:extLst>
      <p:ext uri="{BB962C8B-B14F-4D97-AF65-F5344CB8AC3E}">
        <p14:creationId xmlns:p14="http://schemas.microsoft.com/office/powerpoint/2010/main" val="4179769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90070F07-021D-F44F-B0A0-837ED2EFA07F}"/>
              </a:ext>
            </a:extLst>
          </p:cNvPr>
          <p:cNvSpPr>
            <a:spLocks noGrp="1"/>
          </p:cNvSpPr>
          <p:nvPr>
            <p:ph sz="quarter" idx="1"/>
          </p:nvPr>
        </p:nvSpPr>
        <p:spPr/>
        <p:txBody>
          <a:bodyPr/>
          <a:lstStyle/>
          <a:p>
            <a:r>
              <a:rPr lang="en-GB" dirty="0"/>
              <a:t>Inverse kinematics algorithm with Jacobian inverse (kinematic control)</a:t>
            </a:r>
          </a:p>
        </p:txBody>
      </p:sp>
      <p:sp>
        <p:nvSpPr>
          <p:cNvPr id="7" name="Rectangle 6">
            <a:extLst>
              <a:ext uri="{FF2B5EF4-FFF2-40B4-BE49-F238E27FC236}">
                <a16:creationId xmlns:a16="http://schemas.microsoft.com/office/drawing/2014/main" id="{11137E9B-4EC2-A041-82FA-5EBE8FCE3649}"/>
              </a:ext>
            </a:extLst>
          </p:cNvPr>
          <p:cNvSpPr/>
          <p:nvPr/>
        </p:nvSpPr>
        <p:spPr>
          <a:xfrm>
            <a:off x="5822626" y="1691548"/>
            <a:ext cx="1123016" cy="50743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1600" dirty="0">
                <a:solidFill>
                  <a:srgbClr val="000000"/>
                </a:solidFill>
                <a:ea typeface="Calibri" panose="020F0502020204030204" pitchFamily="34" charset="0"/>
                <a:cs typeface="Times New Roman" panose="02020603050405020304" pitchFamily="18" charset="0"/>
              </a:rPr>
              <a:t>motors</a:t>
            </a:r>
            <a:endParaRPr lang="en-GB" sz="1600" dirty="0">
              <a:ea typeface="Calibri" panose="020F0502020204030204" pitchFamily="34" charset="0"/>
              <a:cs typeface="Times New Roman" panose="02020603050405020304" pitchFamily="18" charset="0"/>
            </a:endParaRPr>
          </a:p>
        </p:txBody>
      </p:sp>
      <p:cxnSp>
        <p:nvCxnSpPr>
          <p:cNvPr id="9" name="Connecteur droit avec flèche 8">
            <a:extLst>
              <a:ext uri="{FF2B5EF4-FFF2-40B4-BE49-F238E27FC236}">
                <a16:creationId xmlns:a16="http://schemas.microsoft.com/office/drawing/2014/main" id="{F4B5D267-76F6-1246-8041-8CDE0C7261A7}"/>
              </a:ext>
            </a:extLst>
          </p:cNvPr>
          <p:cNvCxnSpPr>
            <a:cxnSpLocks/>
          </p:cNvCxnSpPr>
          <p:nvPr/>
        </p:nvCxnSpPr>
        <p:spPr>
          <a:xfrm flipV="1">
            <a:off x="5174020" y="1933718"/>
            <a:ext cx="612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eur droit avec flèche 9">
            <a:extLst>
              <a:ext uri="{FF2B5EF4-FFF2-40B4-BE49-F238E27FC236}">
                <a16:creationId xmlns:a16="http://schemas.microsoft.com/office/drawing/2014/main" id="{692A363B-95D8-B747-83B8-E5E6313B68AD}"/>
              </a:ext>
            </a:extLst>
          </p:cNvPr>
          <p:cNvCxnSpPr>
            <a:cxnSpLocks/>
          </p:cNvCxnSpPr>
          <p:nvPr/>
        </p:nvCxnSpPr>
        <p:spPr>
          <a:xfrm flipV="1">
            <a:off x="8192269" y="1933718"/>
            <a:ext cx="70555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D9142EFC-0AA2-F643-95CA-BACD1A1CB1C4}"/>
                  </a:ext>
                </a:extLst>
              </p:cNvPr>
              <p:cNvSpPr txBox="1"/>
              <p:nvPr/>
            </p:nvSpPr>
            <p:spPr>
              <a:xfrm>
                <a:off x="5258252" y="1592015"/>
                <a:ext cx="601289" cy="31757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400" b="0" i="1" smtClean="0">
                              <a:latin typeface="Cambria Math" panose="02040503050406030204" pitchFamily="18" charset="0"/>
                            </a:rPr>
                          </m:ctrlPr>
                        </m:sSupPr>
                        <m:e>
                          <m:acc>
                            <m:accPr>
                              <m:chr m:val="̇"/>
                              <m:ctrlPr>
                                <a:rPr lang="fr-FR" sz="1400" b="0" i="1" smtClean="0">
                                  <a:latin typeface="Cambria Math" panose="02040503050406030204" pitchFamily="18" charset="0"/>
                                </a:rPr>
                              </m:ctrlPr>
                            </m:accPr>
                            <m:e>
                              <m:r>
                                <a:rPr lang="fr-FR" sz="1400" b="1" i="0" smtClean="0">
                                  <a:latin typeface="Cambria Math" panose="02040503050406030204" pitchFamily="18" charset="0"/>
                                </a:rPr>
                                <m:t>𝐪</m:t>
                              </m:r>
                            </m:e>
                          </m:acc>
                        </m:e>
                        <m:sup>
                          <m:r>
                            <a:rPr lang="fr-FR" sz="1400" b="0" i="1" smtClean="0">
                              <a:latin typeface="Cambria Math" panose="02040503050406030204" pitchFamily="18" charset="0"/>
                            </a:rPr>
                            <m:t>𝑑</m:t>
                          </m:r>
                        </m:sup>
                      </m:sSup>
                    </m:oMath>
                  </m:oMathPara>
                </a14:m>
                <a:endParaRPr lang="fr-FR" sz="1400" dirty="0"/>
              </a:p>
            </p:txBody>
          </p:sp>
        </mc:Choice>
        <mc:Fallback xmlns="">
          <p:sp>
            <p:nvSpPr>
              <p:cNvPr id="11" name="ZoneTexte 10">
                <a:extLst>
                  <a:ext uri="{FF2B5EF4-FFF2-40B4-BE49-F238E27FC236}">
                    <a16:creationId xmlns:a16="http://schemas.microsoft.com/office/drawing/2014/main" id="{D9142EFC-0AA2-F643-95CA-BACD1A1CB1C4}"/>
                  </a:ext>
                </a:extLst>
              </p:cNvPr>
              <p:cNvSpPr txBox="1">
                <a:spLocks noRot="1" noChangeAspect="1" noMove="1" noResize="1" noEditPoints="1" noAdjustHandles="1" noChangeArrowheads="1" noChangeShapeType="1" noTextEdit="1"/>
              </p:cNvSpPr>
              <p:nvPr/>
            </p:nvSpPr>
            <p:spPr>
              <a:xfrm>
                <a:off x="5258252" y="1592015"/>
                <a:ext cx="601289" cy="317578"/>
              </a:xfrm>
              <a:prstGeom prst="rect">
                <a:avLst/>
              </a:prstGeom>
              <a:blipFill>
                <a:blip r:embed="rId2"/>
                <a:stretch>
                  <a:fillRect b="-3846"/>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4ED52F1B-83FA-B141-B4C1-F5DD41E06A01}"/>
                  </a:ext>
                </a:extLst>
              </p:cNvPr>
              <p:cNvSpPr txBox="1"/>
              <p:nvPr/>
            </p:nvSpPr>
            <p:spPr>
              <a:xfrm>
                <a:off x="8052569" y="1315721"/>
                <a:ext cx="1448166" cy="5525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1" i="0" smtClean="0">
                          <a:latin typeface="Cambria Math" panose="02040503050406030204" pitchFamily="18" charset="0"/>
                        </a:rPr>
                        <m:t>𝐪</m:t>
                      </m:r>
                      <m:r>
                        <a:rPr lang="fr-FR" sz="1600" b="0" i="1" smtClean="0">
                          <a:latin typeface="Cambria Math" panose="02040503050406030204" pitchFamily="18" charset="0"/>
                        </a:rPr>
                        <m:t>=</m:t>
                      </m:r>
                      <m:d>
                        <m:dPr>
                          <m:ctrlPr>
                            <a:rPr lang="fr-FR" sz="1600" b="0" i="1" smtClean="0">
                              <a:latin typeface="Cambria Math" panose="02040503050406030204" pitchFamily="18" charset="0"/>
                            </a:rPr>
                          </m:ctrlPr>
                        </m:dPr>
                        <m:e>
                          <m:eqArr>
                            <m:eqArrPr>
                              <m:ctrlPr>
                                <a:rPr lang="fr-FR" sz="1600" b="0" i="1" smtClean="0">
                                  <a:latin typeface="Cambria Math" panose="02040503050406030204" pitchFamily="18" charset="0"/>
                                </a:rPr>
                              </m:ctrlPr>
                            </m:eqArrPr>
                            <m:e>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𝜃</m:t>
                                  </m:r>
                                </m:e>
                                <m:sub>
                                  <m:r>
                                    <a:rPr lang="fr-FR" sz="1600" b="0" i="1" smtClean="0">
                                      <a:latin typeface="Cambria Math" panose="02040503050406030204" pitchFamily="18" charset="0"/>
                                    </a:rPr>
                                    <m:t>1</m:t>
                                  </m:r>
                                </m:sub>
                              </m:sSub>
                            </m:e>
                            <m:e>
                              <m:sSub>
                                <m:sSubPr>
                                  <m:ctrlPr>
                                    <a:rPr lang="fr-FR" sz="1600" i="1" smtClean="0">
                                      <a:latin typeface="Cambria Math" panose="02040503050406030204" pitchFamily="18" charset="0"/>
                                    </a:rPr>
                                  </m:ctrlPr>
                                </m:sSubPr>
                                <m:e>
                                  <m:r>
                                    <a:rPr lang="fr-FR" sz="1600" i="1" smtClean="0">
                                      <a:latin typeface="Cambria Math" panose="02040503050406030204" pitchFamily="18" charset="0"/>
                                      <a:ea typeface="Cambria Math" panose="02040503050406030204" pitchFamily="18" charset="0"/>
                                    </a:rPr>
                                    <m:t>𝜃</m:t>
                                  </m:r>
                                </m:e>
                                <m:sub>
                                  <m:r>
                                    <a:rPr lang="fr-FR" sz="1600" b="0" i="1" smtClean="0">
                                      <a:latin typeface="Cambria Math" panose="02040503050406030204" pitchFamily="18" charset="0"/>
                                    </a:rPr>
                                    <m:t>2</m:t>
                                  </m:r>
                                </m:sub>
                              </m:sSub>
                            </m:e>
                          </m:eqArr>
                        </m:e>
                      </m:d>
                    </m:oMath>
                  </m:oMathPara>
                </a14:m>
                <a:endParaRPr lang="fr-FR" sz="1600" dirty="0"/>
              </a:p>
            </p:txBody>
          </p:sp>
        </mc:Choice>
        <mc:Fallback xmlns="">
          <p:sp>
            <p:nvSpPr>
              <p:cNvPr id="12" name="ZoneTexte 11">
                <a:extLst>
                  <a:ext uri="{FF2B5EF4-FFF2-40B4-BE49-F238E27FC236}">
                    <a16:creationId xmlns:a16="http://schemas.microsoft.com/office/drawing/2014/main" id="{4ED52F1B-83FA-B141-B4C1-F5DD41E06A01}"/>
                  </a:ext>
                </a:extLst>
              </p:cNvPr>
              <p:cNvSpPr txBox="1">
                <a:spLocks noRot="1" noChangeAspect="1" noMove="1" noResize="1" noEditPoints="1" noAdjustHandles="1" noChangeArrowheads="1" noChangeShapeType="1" noTextEdit="1"/>
              </p:cNvSpPr>
              <p:nvPr/>
            </p:nvSpPr>
            <p:spPr>
              <a:xfrm>
                <a:off x="8052569" y="1315721"/>
                <a:ext cx="1448166" cy="552587"/>
              </a:xfrm>
              <a:prstGeom prst="rect">
                <a:avLst/>
              </a:prstGeom>
              <a:blipFill>
                <a:blip r:embed="rId3"/>
                <a:stretch>
                  <a:fillRect/>
                </a:stretch>
              </a:blipFill>
            </p:spPr>
            <p:txBody>
              <a:bodyPr/>
              <a:lstStyle/>
              <a:p>
                <a:r>
                  <a:rPr lang="fr-FR">
                    <a:noFill/>
                  </a:rPr>
                  <a:t> </a:t>
                </a:r>
              </a:p>
            </p:txBody>
          </p:sp>
        </mc:Fallback>
      </mc:AlternateContent>
      <p:cxnSp>
        <p:nvCxnSpPr>
          <p:cNvPr id="21" name="Connecteur droit avec flèche 20">
            <a:extLst>
              <a:ext uri="{FF2B5EF4-FFF2-40B4-BE49-F238E27FC236}">
                <a16:creationId xmlns:a16="http://schemas.microsoft.com/office/drawing/2014/main" id="{9B32E4A4-8246-BB42-9620-3AA28CEEF34C}"/>
              </a:ext>
            </a:extLst>
          </p:cNvPr>
          <p:cNvCxnSpPr>
            <a:cxnSpLocks/>
            <a:stCxn id="25" idx="3"/>
          </p:cNvCxnSpPr>
          <p:nvPr/>
        </p:nvCxnSpPr>
        <p:spPr>
          <a:xfrm>
            <a:off x="3426185" y="1962562"/>
            <a:ext cx="528138"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24" name="Ellipse 23">
            <a:extLst>
              <a:ext uri="{FF2B5EF4-FFF2-40B4-BE49-F238E27FC236}">
                <a16:creationId xmlns:a16="http://schemas.microsoft.com/office/drawing/2014/main" id="{D5C0D7CB-9617-3045-9FC1-A19C91B4218E}"/>
              </a:ext>
            </a:extLst>
          </p:cNvPr>
          <p:cNvSpPr/>
          <p:nvPr/>
        </p:nvSpPr>
        <p:spPr>
          <a:xfrm>
            <a:off x="1095499" y="1822756"/>
            <a:ext cx="280936" cy="28077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25" name="Rectangle 24">
            <a:extLst>
              <a:ext uri="{FF2B5EF4-FFF2-40B4-BE49-F238E27FC236}">
                <a16:creationId xmlns:a16="http://schemas.microsoft.com/office/drawing/2014/main" id="{8E75FBC3-36AF-BA49-9EFF-C6FDCF0A6833}"/>
              </a:ext>
            </a:extLst>
          </p:cNvPr>
          <p:cNvSpPr/>
          <p:nvPr/>
        </p:nvSpPr>
        <p:spPr>
          <a:xfrm>
            <a:off x="2054590" y="1696423"/>
            <a:ext cx="1371595" cy="5322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fr-FR" sz="1600" dirty="0">
                <a:solidFill>
                  <a:schemeClr val="tx1"/>
                </a:solidFill>
                <a:ea typeface="Calibri" panose="020F0502020204030204" pitchFamily="34" charset="0"/>
                <a:cs typeface="Times New Roman" panose="02020603050405020304" pitchFamily="18" charset="0"/>
              </a:rPr>
              <a:t>???</a:t>
            </a:r>
            <a:endParaRPr lang="fr-FR" sz="1600" dirty="0">
              <a:solidFill>
                <a:schemeClr val="tx1"/>
              </a:solidFill>
              <a:effectLst/>
              <a:ea typeface="Calibri" panose="020F0502020204030204" pitchFamily="34" charset="0"/>
              <a:cs typeface="Times New Roman" panose="02020603050405020304" pitchFamily="18" charset="0"/>
            </a:endParaRPr>
          </a:p>
        </p:txBody>
      </p:sp>
      <p:cxnSp>
        <p:nvCxnSpPr>
          <p:cNvPr id="26" name="Connecteur droit avec flèche 25">
            <a:extLst>
              <a:ext uri="{FF2B5EF4-FFF2-40B4-BE49-F238E27FC236}">
                <a16:creationId xmlns:a16="http://schemas.microsoft.com/office/drawing/2014/main" id="{C1D84731-9236-374A-AE2D-4965FCCDF821}"/>
              </a:ext>
            </a:extLst>
          </p:cNvPr>
          <p:cNvCxnSpPr/>
          <p:nvPr/>
        </p:nvCxnSpPr>
        <p:spPr>
          <a:xfrm>
            <a:off x="1376435" y="1957687"/>
            <a:ext cx="648001"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27" name="Connecteur droit avec flèche 26">
            <a:extLst>
              <a:ext uri="{FF2B5EF4-FFF2-40B4-BE49-F238E27FC236}">
                <a16:creationId xmlns:a16="http://schemas.microsoft.com/office/drawing/2014/main" id="{3D332B9C-32A6-0A43-8496-2197A875B465}"/>
              </a:ext>
            </a:extLst>
          </p:cNvPr>
          <p:cNvCxnSpPr/>
          <p:nvPr/>
        </p:nvCxnSpPr>
        <p:spPr>
          <a:xfrm>
            <a:off x="143015" y="1957687"/>
            <a:ext cx="900000"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28" name="Connecteur droit avec flèche 27">
            <a:extLst>
              <a:ext uri="{FF2B5EF4-FFF2-40B4-BE49-F238E27FC236}">
                <a16:creationId xmlns:a16="http://schemas.microsoft.com/office/drawing/2014/main" id="{DCBBF4F5-63AE-3541-8DAA-63DC7E168C5B}"/>
              </a:ext>
            </a:extLst>
          </p:cNvPr>
          <p:cNvCxnSpPr/>
          <p:nvPr/>
        </p:nvCxnSpPr>
        <p:spPr>
          <a:xfrm flipV="1">
            <a:off x="1240434" y="2102539"/>
            <a:ext cx="0" cy="129600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8D00F0DE-D73E-6849-ADDB-BF3BD5805F70}"/>
              </a:ext>
            </a:extLst>
          </p:cNvPr>
          <p:cNvCxnSpPr>
            <a:cxnSpLocks/>
          </p:cNvCxnSpPr>
          <p:nvPr/>
        </p:nvCxnSpPr>
        <p:spPr>
          <a:xfrm flipV="1">
            <a:off x="8459839" y="1944623"/>
            <a:ext cx="0" cy="145399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Zone de texte 2">
                <a:extLst>
                  <a:ext uri="{FF2B5EF4-FFF2-40B4-BE49-F238E27FC236}">
                    <a16:creationId xmlns:a16="http://schemas.microsoft.com/office/drawing/2014/main" id="{77399934-5325-C548-B59F-9DA18031F659}"/>
                  </a:ext>
                </a:extLst>
              </p:cNvPr>
              <p:cNvSpPr txBox="1">
                <a:spLocks noChangeArrowheads="1"/>
              </p:cNvSpPr>
              <p:nvPr/>
            </p:nvSpPr>
            <p:spPr bwMode="auto">
              <a:xfrm>
                <a:off x="1121458" y="2063962"/>
                <a:ext cx="505289" cy="368084"/>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r>
                        <a:rPr lang="fr-FR" sz="11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1" name="Zone de texte 2">
                <a:extLst>
                  <a:ext uri="{FF2B5EF4-FFF2-40B4-BE49-F238E27FC236}">
                    <a16:creationId xmlns:a16="http://schemas.microsoft.com/office/drawing/2014/main" id="{77399934-5325-C548-B59F-9DA18031F659}"/>
                  </a:ext>
                </a:extLst>
              </p:cNvPr>
              <p:cNvSpPr txBox="1">
                <a:spLocks noRot="1" noChangeAspect="1" noMove="1" noResize="1" noEditPoints="1" noAdjustHandles="1" noChangeArrowheads="1" noChangeShapeType="1" noTextEdit="1"/>
              </p:cNvSpPr>
              <p:nvPr/>
            </p:nvSpPr>
            <p:spPr bwMode="auto">
              <a:xfrm>
                <a:off x="1121458" y="2063962"/>
                <a:ext cx="505289" cy="368084"/>
              </a:xfrm>
              <a:prstGeom prst="rect">
                <a:avLst/>
              </a:prstGeom>
              <a:blipFill>
                <a:blip r:embed="rId4"/>
                <a:stretch>
                  <a:fillRect/>
                </a:stretch>
              </a:blipFill>
              <a:ln w="9525">
                <a:noFill/>
                <a:miter lim="800000"/>
                <a:headEnd/>
                <a:tailEnd/>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2" name="Zone de texte 2">
                <a:extLst>
                  <a:ext uri="{FF2B5EF4-FFF2-40B4-BE49-F238E27FC236}">
                    <a16:creationId xmlns:a16="http://schemas.microsoft.com/office/drawing/2014/main" id="{0F73B465-0390-0B43-8FF3-B9A0A7A23F2A}"/>
                  </a:ext>
                </a:extLst>
              </p:cNvPr>
              <p:cNvSpPr txBox="1">
                <a:spLocks noChangeArrowheads="1"/>
              </p:cNvSpPr>
              <p:nvPr/>
            </p:nvSpPr>
            <p:spPr bwMode="auto">
              <a:xfrm>
                <a:off x="706428" y="1914694"/>
                <a:ext cx="506281" cy="369076"/>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r>
                        <a:rPr lang="fr-FR" sz="11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2" name="Zone de texte 2">
                <a:extLst>
                  <a:ext uri="{FF2B5EF4-FFF2-40B4-BE49-F238E27FC236}">
                    <a16:creationId xmlns:a16="http://schemas.microsoft.com/office/drawing/2014/main" id="{0F73B465-0390-0B43-8FF3-B9A0A7A23F2A}"/>
                  </a:ext>
                </a:extLst>
              </p:cNvPr>
              <p:cNvSpPr txBox="1">
                <a:spLocks noRot="1" noChangeAspect="1" noMove="1" noResize="1" noEditPoints="1" noAdjustHandles="1" noChangeArrowheads="1" noChangeShapeType="1" noTextEdit="1"/>
              </p:cNvSpPr>
              <p:nvPr/>
            </p:nvSpPr>
            <p:spPr bwMode="auto">
              <a:xfrm>
                <a:off x="706428" y="1914694"/>
                <a:ext cx="506281" cy="369076"/>
              </a:xfrm>
              <a:prstGeom prst="rect">
                <a:avLst/>
              </a:prstGeom>
              <a:blipFill>
                <a:blip r:embed="rId5"/>
                <a:stretch>
                  <a:fillRect/>
                </a:stretch>
              </a:blipFill>
              <a:ln w="9525">
                <a:noFill/>
                <a:miter lim="800000"/>
                <a:headEnd/>
                <a:tailEnd/>
              </a:ln>
            </p:spPr>
            <p:txBody>
              <a:bodyPr/>
              <a:lstStyle/>
              <a:p>
                <a:r>
                  <a:rPr lang="fr-FR">
                    <a:noFill/>
                  </a:rPr>
                  <a:t> </a:t>
                </a:r>
              </a:p>
            </p:txBody>
          </p:sp>
        </mc:Fallback>
      </mc:AlternateContent>
      <p:cxnSp>
        <p:nvCxnSpPr>
          <p:cNvPr id="33" name="Connecteur droit avec flèche 32">
            <a:extLst>
              <a:ext uri="{FF2B5EF4-FFF2-40B4-BE49-F238E27FC236}">
                <a16:creationId xmlns:a16="http://schemas.microsoft.com/office/drawing/2014/main" id="{759C7F54-05FB-144B-B8BD-81E9D8681E70}"/>
              </a:ext>
            </a:extLst>
          </p:cNvPr>
          <p:cNvCxnSpPr>
            <a:cxnSpLocks/>
          </p:cNvCxnSpPr>
          <p:nvPr/>
        </p:nvCxnSpPr>
        <p:spPr>
          <a:xfrm flipV="1">
            <a:off x="4905754" y="3395943"/>
            <a:ext cx="3554085"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ZoneTexte 33">
                <a:extLst>
                  <a:ext uri="{FF2B5EF4-FFF2-40B4-BE49-F238E27FC236}">
                    <a16:creationId xmlns:a16="http://schemas.microsoft.com/office/drawing/2014/main" id="{7473F2AE-B1A0-D747-A418-076F2FF16230}"/>
                  </a:ext>
                </a:extLst>
              </p:cNvPr>
              <p:cNvSpPr txBox="1"/>
              <p:nvPr/>
            </p:nvSpPr>
            <p:spPr>
              <a:xfrm>
                <a:off x="-40531" y="1342316"/>
                <a:ext cx="1371595" cy="58310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600" b="0" i="1" smtClean="0">
                              <a:latin typeface="Cambria Math" panose="02040503050406030204" pitchFamily="18" charset="0"/>
                            </a:rPr>
                          </m:ctrlPr>
                        </m:sSupPr>
                        <m:e>
                          <m:r>
                            <a:rPr lang="fr-FR" sz="1600" b="1" i="0" smtClean="0">
                              <a:latin typeface="Cambria Math" panose="02040503050406030204" pitchFamily="18" charset="0"/>
                            </a:rPr>
                            <m:t>𝐱</m:t>
                          </m:r>
                        </m:e>
                        <m:sup>
                          <m:r>
                            <a:rPr lang="fr-FR" sz="1600" b="0" i="1" smtClean="0">
                              <a:latin typeface="Cambria Math" panose="02040503050406030204" pitchFamily="18" charset="0"/>
                            </a:rPr>
                            <m:t>𝑑</m:t>
                          </m:r>
                        </m:sup>
                      </m:sSup>
                      <m:r>
                        <a:rPr lang="fr-FR" sz="1600" b="0" i="1" smtClean="0">
                          <a:latin typeface="Cambria Math" panose="02040503050406030204" pitchFamily="18" charset="0"/>
                        </a:rPr>
                        <m:t>=</m:t>
                      </m:r>
                      <m:d>
                        <m:dPr>
                          <m:ctrlPr>
                            <a:rPr lang="fr-FR" sz="1600" b="0" i="1" smtClean="0">
                              <a:latin typeface="Cambria Math" panose="02040503050406030204" pitchFamily="18" charset="0"/>
                            </a:rPr>
                          </m:ctrlPr>
                        </m:dPr>
                        <m:e>
                          <m:eqArr>
                            <m:eqArrPr>
                              <m:ctrlPr>
                                <a:rPr lang="fr-FR" sz="1600" b="0" i="1" smtClean="0">
                                  <a:latin typeface="Cambria Math" panose="02040503050406030204" pitchFamily="18" charset="0"/>
                                </a:rPr>
                              </m:ctrlPr>
                            </m:eqArrPr>
                            <m:e>
                              <m:sSup>
                                <m:sSupPr>
                                  <m:ctrlPr>
                                    <a:rPr lang="fr-FR" sz="1600" i="1">
                                      <a:latin typeface="Cambria Math" panose="02040503050406030204" pitchFamily="18" charset="0"/>
                                      <a:cs typeface="Times New Roman" panose="02020603050405020304" pitchFamily="18" charset="0"/>
                                    </a:rPr>
                                  </m:ctrlPr>
                                </m:sSupPr>
                                <m:e>
                                  <m:r>
                                    <a:rPr lang="fr-FR" sz="1600" b="0" i="1" smtClean="0">
                                      <a:latin typeface="Cambria Math" panose="02040503050406030204" pitchFamily="18" charset="0"/>
                                      <a:cs typeface="Times New Roman" panose="02020603050405020304" pitchFamily="18" charset="0"/>
                                    </a:rPr>
                                    <m:t>𝑥</m:t>
                                  </m:r>
                                </m:e>
                                <m:sup>
                                  <m:r>
                                    <a:rPr lang="fr-FR" sz="1600" i="1">
                                      <a:latin typeface="Cambria Math" panose="02040503050406030204" pitchFamily="18" charset="0"/>
                                      <a:cs typeface="Times New Roman" panose="02020603050405020304" pitchFamily="18" charset="0"/>
                                    </a:rPr>
                                    <m:t>𝑑</m:t>
                                  </m:r>
                                </m:sup>
                              </m:sSup>
                            </m:e>
                            <m:e>
                              <m:sSup>
                                <m:sSupPr>
                                  <m:ctrlPr>
                                    <a:rPr lang="fr-FR" sz="1600" i="1">
                                      <a:latin typeface="Cambria Math" panose="02040503050406030204" pitchFamily="18" charset="0"/>
                                      <a:cs typeface="Times New Roman" panose="02020603050405020304" pitchFamily="18" charset="0"/>
                                    </a:rPr>
                                  </m:ctrlPr>
                                </m:sSupPr>
                                <m:e>
                                  <m:r>
                                    <a:rPr lang="fr-FR" sz="1600" b="0" i="1" smtClean="0">
                                      <a:latin typeface="Cambria Math" panose="02040503050406030204" pitchFamily="18" charset="0"/>
                                      <a:cs typeface="Times New Roman" panose="02020603050405020304" pitchFamily="18" charset="0"/>
                                    </a:rPr>
                                    <m:t>𝑦</m:t>
                                  </m:r>
                                </m:e>
                                <m:sup>
                                  <m:r>
                                    <a:rPr lang="fr-FR" sz="1600" i="1">
                                      <a:latin typeface="Cambria Math" panose="02040503050406030204" pitchFamily="18" charset="0"/>
                                      <a:cs typeface="Times New Roman" panose="02020603050405020304" pitchFamily="18" charset="0"/>
                                    </a:rPr>
                                    <m:t>𝑑</m:t>
                                  </m:r>
                                </m:sup>
                              </m:sSup>
                            </m:e>
                          </m:eqArr>
                        </m:e>
                      </m:d>
                    </m:oMath>
                  </m:oMathPara>
                </a14:m>
                <a:endParaRPr lang="fr-FR" sz="1600" dirty="0"/>
              </a:p>
            </p:txBody>
          </p:sp>
        </mc:Choice>
        <mc:Fallback xmlns="">
          <p:sp>
            <p:nvSpPr>
              <p:cNvPr id="34" name="ZoneTexte 33">
                <a:extLst>
                  <a:ext uri="{FF2B5EF4-FFF2-40B4-BE49-F238E27FC236}">
                    <a16:creationId xmlns:a16="http://schemas.microsoft.com/office/drawing/2014/main" id="{7473F2AE-B1A0-D747-A418-076F2FF16230}"/>
                  </a:ext>
                </a:extLst>
              </p:cNvPr>
              <p:cNvSpPr txBox="1">
                <a:spLocks noRot="1" noChangeAspect="1" noMove="1" noResize="1" noEditPoints="1" noAdjustHandles="1" noChangeArrowheads="1" noChangeShapeType="1" noTextEdit="1"/>
              </p:cNvSpPr>
              <p:nvPr/>
            </p:nvSpPr>
            <p:spPr>
              <a:xfrm>
                <a:off x="-40531" y="1342316"/>
                <a:ext cx="1371595" cy="583108"/>
              </a:xfrm>
              <a:prstGeom prst="rect">
                <a:avLst/>
              </a:prstGeom>
              <a:blipFill>
                <a:blip r:embed="rId6"/>
                <a:stretch>
                  <a:fillRect b="-2128"/>
                </a:stretch>
              </a:blipFill>
            </p:spPr>
            <p:txBody>
              <a:bodyPr/>
              <a:lstStyle/>
              <a:p>
                <a:r>
                  <a:rPr lang="fr-FR">
                    <a:noFill/>
                  </a:rPr>
                  <a:t> </a:t>
                </a:r>
              </a:p>
            </p:txBody>
          </p:sp>
        </mc:Fallback>
      </mc:AlternateContent>
      <p:sp>
        <p:nvSpPr>
          <p:cNvPr id="35" name="Rectangle 34">
            <a:extLst>
              <a:ext uri="{FF2B5EF4-FFF2-40B4-BE49-F238E27FC236}">
                <a16:creationId xmlns:a16="http://schemas.microsoft.com/office/drawing/2014/main" id="{47D94DB9-9F01-7544-8F32-C64ADE28878E}"/>
              </a:ext>
            </a:extLst>
          </p:cNvPr>
          <p:cNvSpPr/>
          <p:nvPr/>
        </p:nvSpPr>
        <p:spPr>
          <a:xfrm>
            <a:off x="3869644" y="3141098"/>
            <a:ext cx="1047307" cy="5133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fr-FR" sz="1600" dirty="0">
                <a:solidFill>
                  <a:srgbClr val="000000"/>
                </a:solidFill>
                <a:effectLst/>
                <a:ea typeface="Calibri" panose="020F0502020204030204" pitchFamily="34" charset="0"/>
                <a:cs typeface="Times New Roman" panose="02020603050405020304" pitchFamily="18" charset="0"/>
              </a:rPr>
              <a:t>???</a:t>
            </a:r>
            <a:endParaRPr lang="fr-FR" sz="1600" dirty="0">
              <a:effectLst/>
              <a:ea typeface="Calibri" panose="020F0502020204030204" pitchFamily="34" charset="0"/>
              <a:cs typeface="Times New Roman" panose="02020603050405020304" pitchFamily="18" charset="0"/>
            </a:endParaRPr>
          </a:p>
        </p:txBody>
      </p:sp>
      <p:cxnSp>
        <p:nvCxnSpPr>
          <p:cNvPr id="36" name="Connecteur droit avec flèche 35">
            <a:extLst>
              <a:ext uri="{FF2B5EF4-FFF2-40B4-BE49-F238E27FC236}">
                <a16:creationId xmlns:a16="http://schemas.microsoft.com/office/drawing/2014/main" id="{C15319A0-7216-4249-9D65-8C6CDF6E00C8}"/>
              </a:ext>
            </a:extLst>
          </p:cNvPr>
          <p:cNvCxnSpPr>
            <a:cxnSpLocks/>
            <a:endCxn id="35" idx="1"/>
          </p:cNvCxnSpPr>
          <p:nvPr/>
        </p:nvCxnSpPr>
        <p:spPr>
          <a:xfrm>
            <a:off x="1234519" y="3391557"/>
            <a:ext cx="2635125"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283D2435-3217-7042-8728-C29F1EC01F10}"/>
              </a:ext>
            </a:extLst>
          </p:cNvPr>
          <p:cNvSpPr/>
          <p:nvPr/>
        </p:nvSpPr>
        <p:spPr>
          <a:xfrm>
            <a:off x="4003828" y="1691548"/>
            <a:ext cx="1149915" cy="5322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fr-FR" sz="1600" dirty="0">
                <a:solidFill>
                  <a:schemeClr val="tx1"/>
                </a:solidFill>
                <a:ea typeface="Calibri" panose="020F0502020204030204" pitchFamily="34" charset="0"/>
                <a:cs typeface="Times New Roman" panose="02020603050405020304" pitchFamily="18" charset="0"/>
              </a:rPr>
              <a:t>???</a:t>
            </a:r>
            <a:endParaRPr lang="fr-FR" sz="1600" dirty="0">
              <a:solidFill>
                <a:schemeClr val="tx1"/>
              </a:solidFill>
              <a:effectLst/>
              <a:ea typeface="Calibri" panose="020F0502020204030204" pitchFamily="34" charset="0"/>
              <a:cs typeface="Times New Roman" panose="02020603050405020304" pitchFamily="18" charset="0"/>
            </a:endParaRPr>
          </a:p>
        </p:txBody>
      </p:sp>
      <p:grpSp>
        <p:nvGrpSpPr>
          <p:cNvPr id="64" name="Grouper 26">
            <a:extLst>
              <a:ext uri="{FF2B5EF4-FFF2-40B4-BE49-F238E27FC236}">
                <a16:creationId xmlns:a16="http://schemas.microsoft.com/office/drawing/2014/main" id="{4E1C3DE3-5165-C54D-8CCD-D90145F385FE}"/>
              </a:ext>
            </a:extLst>
          </p:cNvPr>
          <p:cNvGrpSpPr>
            <a:grpSpLocks noChangeAspect="1"/>
          </p:cNvGrpSpPr>
          <p:nvPr/>
        </p:nvGrpSpPr>
        <p:grpSpPr>
          <a:xfrm>
            <a:off x="2429764" y="3796277"/>
            <a:ext cx="3971652" cy="2851530"/>
            <a:chOff x="-1" y="0"/>
            <a:chExt cx="2248240" cy="1614715"/>
          </a:xfrm>
        </p:grpSpPr>
        <p:cxnSp>
          <p:nvCxnSpPr>
            <p:cNvPr id="65" name="Connecteur droit avec flèche 64">
              <a:extLst>
                <a:ext uri="{FF2B5EF4-FFF2-40B4-BE49-F238E27FC236}">
                  <a16:creationId xmlns:a16="http://schemas.microsoft.com/office/drawing/2014/main" id="{EE663585-0176-1346-8288-8F5A5489DB4D}"/>
                </a:ext>
              </a:extLst>
            </p:cNvPr>
            <p:cNvCxnSpPr/>
            <p:nvPr/>
          </p:nvCxnSpPr>
          <p:spPr>
            <a:xfrm flipV="1">
              <a:off x="2009775" y="243205"/>
              <a:ext cx="0" cy="1098260"/>
            </a:xfrm>
            <a:prstGeom prst="straightConnector1">
              <a:avLst/>
            </a:prstGeom>
            <a:ln w="9525" cmpd="sng">
              <a:prstDash val="sysDash"/>
              <a:tailEnd type="none"/>
            </a:ln>
          </p:spPr>
          <p:style>
            <a:lnRef idx="2">
              <a:schemeClr val="dk1"/>
            </a:lnRef>
            <a:fillRef idx="0">
              <a:schemeClr val="dk1"/>
            </a:fillRef>
            <a:effectRef idx="1">
              <a:schemeClr val="dk1"/>
            </a:effectRef>
            <a:fontRef idx="minor">
              <a:schemeClr val="tx1"/>
            </a:fontRef>
          </p:style>
        </p:cxnSp>
        <p:cxnSp>
          <p:nvCxnSpPr>
            <p:cNvPr id="66" name="Connecteur droit avec flèche 65">
              <a:extLst>
                <a:ext uri="{FF2B5EF4-FFF2-40B4-BE49-F238E27FC236}">
                  <a16:creationId xmlns:a16="http://schemas.microsoft.com/office/drawing/2014/main" id="{BA466425-5122-894A-BB0F-73D23FF3E727}"/>
                </a:ext>
              </a:extLst>
            </p:cNvPr>
            <p:cNvCxnSpPr/>
            <p:nvPr/>
          </p:nvCxnSpPr>
          <p:spPr>
            <a:xfrm>
              <a:off x="346075" y="237490"/>
              <a:ext cx="1658526" cy="0"/>
            </a:xfrm>
            <a:prstGeom prst="straightConnector1">
              <a:avLst/>
            </a:prstGeom>
            <a:ln w="9525" cmpd="sng">
              <a:prstDash val="sysDash"/>
              <a:tailEnd type="none"/>
            </a:ln>
          </p:spPr>
          <p:style>
            <a:lnRef idx="2">
              <a:schemeClr val="dk1"/>
            </a:lnRef>
            <a:fillRef idx="0">
              <a:schemeClr val="dk1"/>
            </a:fillRef>
            <a:effectRef idx="1">
              <a:schemeClr val="dk1"/>
            </a:effectRef>
            <a:fontRef idx="minor">
              <a:schemeClr val="tx1"/>
            </a:fontRef>
          </p:style>
        </p:cxnSp>
        <p:cxnSp>
          <p:nvCxnSpPr>
            <p:cNvPr id="67" name="Connecteur droit 66">
              <a:extLst>
                <a:ext uri="{FF2B5EF4-FFF2-40B4-BE49-F238E27FC236}">
                  <a16:creationId xmlns:a16="http://schemas.microsoft.com/office/drawing/2014/main" id="{2B85158C-EAF9-9443-983D-FB65A6D6906C}"/>
                </a:ext>
              </a:extLst>
            </p:cNvPr>
            <p:cNvCxnSpPr/>
            <p:nvPr/>
          </p:nvCxnSpPr>
          <p:spPr>
            <a:xfrm flipV="1">
              <a:off x="807720" y="701675"/>
              <a:ext cx="1196755" cy="458349"/>
            </a:xfrm>
            <a:prstGeom prst="line">
              <a:avLst/>
            </a:prstGeom>
            <a:ln w="12700">
              <a:prstDash val="sysDash"/>
            </a:ln>
          </p:spPr>
          <p:style>
            <a:lnRef idx="2">
              <a:schemeClr val="accent1"/>
            </a:lnRef>
            <a:fillRef idx="0">
              <a:schemeClr val="accent1"/>
            </a:fillRef>
            <a:effectRef idx="1">
              <a:schemeClr val="accent1"/>
            </a:effectRef>
            <a:fontRef idx="minor">
              <a:schemeClr val="tx1"/>
            </a:fontRef>
          </p:style>
        </p:cxnSp>
        <p:cxnSp>
          <p:nvCxnSpPr>
            <p:cNvPr id="68" name="Connecteur droit 67">
              <a:extLst>
                <a:ext uri="{FF2B5EF4-FFF2-40B4-BE49-F238E27FC236}">
                  <a16:creationId xmlns:a16="http://schemas.microsoft.com/office/drawing/2014/main" id="{D07DD999-F274-B042-8FEF-8EE448420679}"/>
                </a:ext>
              </a:extLst>
            </p:cNvPr>
            <p:cNvCxnSpPr/>
            <p:nvPr/>
          </p:nvCxnSpPr>
          <p:spPr>
            <a:xfrm flipV="1">
              <a:off x="337820" y="883285"/>
              <a:ext cx="1196755" cy="458349"/>
            </a:xfrm>
            <a:prstGeom prst="line">
              <a:avLst/>
            </a:prstGeom>
          </p:spPr>
          <p:style>
            <a:lnRef idx="2">
              <a:schemeClr val="accent1"/>
            </a:lnRef>
            <a:fillRef idx="0">
              <a:schemeClr val="accent1"/>
            </a:fillRef>
            <a:effectRef idx="1">
              <a:schemeClr val="accent1"/>
            </a:effectRef>
            <a:fontRef idx="minor">
              <a:schemeClr val="tx1"/>
            </a:fontRef>
          </p:style>
        </p:cxnSp>
        <p:cxnSp>
          <p:nvCxnSpPr>
            <p:cNvPr id="69" name="Connecteur droit 68">
              <a:extLst>
                <a:ext uri="{FF2B5EF4-FFF2-40B4-BE49-F238E27FC236}">
                  <a16:creationId xmlns:a16="http://schemas.microsoft.com/office/drawing/2014/main" id="{390B74D5-1A30-C846-9A72-996220951B31}"/>
                </a:ext>
              </a:extLst>
            </p:cNvPr>
            <p:cNvCxnSpPr/>
            <p:nvPr/>
          </p:nvCxnSpPr>
          <p:spPr>
            <a:xfrm flipV="1">
              <a:off x="1523365" y="237490"/>
              <a:ext cx="483781" cy="644355"/>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Connecteur droit avec flèche 69">
              <a:extLst>
                <a:ext uri="{FF2B5EF4-FFF2-40B4-BE49-F238E27FC236}">
                  <a16:creationId xmlns:a16="http://schemas.microsoft.com/office/drawing/2014/main" id="{02FA9542-1B92-8547-85E7-B7207C180891}"/>
                </a:ext>
              </a:extLst>
            </p:cNvPr>
            <p:cNvCxnSpPr/>
            <p:nvPr/>
          </p:nvCxnSpPr>
          <p:spPr>
            <a:xfrm rot="16200000">
              <a:off x="162242" y="1190943"/>
              <a:ext cx="34281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1" name="Zone de texte 35">
                  <a:extLst>
                    <a:ext uri="{FF2B5EF4-FFF2-40B4-BE49-F238E27FC236}">
                      <a16:creationId xmlns:a16="http://schemas.microsoft.com/office/drawing/2014/main" id="{F4B3E39A-71A4-5949-81F0-1E6941D25C13}"/>
                    </a:ext>
                  </a:extLst>
                </p:cNvPr>
                <p:cNvSpPr txBox="1"/>
                <p:nvPr/>
              </p:nvSpPr>
              <p:spPr>
                <a:xfrm>
                  <a:off x="55879" y="841375"/>
                  <a:ext cx="342837" cy="342810"/>
                </a:xfrm>
                <a:prstGeom prst="rect">
                  <a:avLst/>
                </a:prstGeom>
                <a:noFill/>
                <a:ln>
                  <a:noFill/>
                </a:ln>
                <a:effectLst/>
                <a:extLst>
                  <a:ext uri="{C572A759-6A51-4108-AA02-DFA0A04FC94B}">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fr-FR" sz="1200" i="1">
                                <a:effectLst/>
                                <a:latin typeface="Cambria Math" panose="02040503050406030204" pitchFamily="18" charset="0"/>
                                <a:ea typeface="MS Mincho" panose="02020609040205080304" pitchFamily="49" charset="-128"/>
                                <a:cs typeface="Times New Roman" panose="02020603050405020304" pitchFamily="18" charset="0"/>
                              </a:rPr>
                            </m:ctrlPr>
                          </m:sSubPr>
                          <m:e>
                            <m:r>
                              <a:rPr lang="fr-FR" sz="1200" i="1">
                                <a:effectLst/>
                                <a:latin typeface="Cambria Math" panose="02040503050406030204" pitchFamily="18" charset="0"/>
                                <a:ea typeface="MS Mincho" panose="02020609040205080304" pitchFamily="49" charset="-128"/>
                                <a:cs typeface="Times New Roman" panose="02020603050405020304" pitchFamily="18" charset="0"/>
                              </a:rPr>
                              <m:t>𝑦</m:t>
                            </m:r>
                          </m:e>
                          <m:sub>
                            <m:r>
                              <a:rPr lang="fr-FR" sz="1200" i="1">
                                <a:effectLst/>
                                <a:latin typeface="Cambria Math" panose="02040503050406030204" pitchFamily="18" charset="0"/>
                                <a:ea typeface="MS Mincho" panose="02020609040205080304" pitchFamily="49" charset="-128"/>
                                <a:cs typeface="Times New Roman" panose="02020603050405020304" pitchFamily="18" charset="0"/>
                              </a:rPr>
                              <m:t>0</m:t>
                            </m:r>
                          </m:sub>
                        </m:sSub>
                      </m:oMath>
                    </m:oMathPara>
                  </a14:m>
                  <a:endParaRPr lang="fr-FR" sz="1200">
                    <a:effectLst/>
                    <a:ea typeface="MS Mincho" panose="02020609040205080304" pitchFamily="49" charset="-128"/>
                    <a:cs typeface="Times New Roman" panose="02020603050405020304" pitchFamily="18" charset="0"/>
                  </a:endParaRPr>
                </a:p>
              </p:txBody>
            </p:sp>
          </mc:Choice>
          <mc:Fallback xmlns="">
            <p:sp>
              <p:nvSpPr>
                <p:cNvPr id="71" name="Zone de texte 35">
                  <a:extLst>
                    <a:ext uri="{FF2B5EF4-FFF2-40B4-BE49-F238E27FC236}">
                      <a16:creationId xmlns:a16="http://schemas.microsoft.com/office/drawing/2014/main" id="{F4B3E39A-71A4-5949-81F0-1E6941D25C13}"/>
                    </a:ext>
                  </a:extLst>
                </p:cNvPr>
                <p:cNvSpPr txBox="1">
                  <a:spLocks noRot="1" noChangeAspect="1" noMove="1" noResize="1" noEditPoints="1" noAdjustHandles="1" noChangeArrowheads="1" noChangeShapeType="1" noTextEdit="1"/>
                </p:cNvSpPr>
                <p:nvPr/>
              </p:nvSpPr>
              <p:spPr>
                <a:xfrm>
                  <a:off x="55879" y="841375"/>
                  <a:ext cx="342837" cy="342810"/>
                </a:xfrm>
                <a:prstGeom prst="rect">
                  <a:avLst/>
                </a:prstGeom>
                <a:blipFill>
                  <a:blip r:embed="rId7"/>
                  <a:stretch>
                    <a:fillRect/>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id="http://schemas.microsoft.com/office/word/2016/wordml/cid"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a:lstStyle/>
                <a:p>
                  <a:r>
                    <a:rPr lang="fr-FR">
                      <a:noFill/>
                    </a:rPr>
                    <a:t> </a:t>
                  </a:r>
                </a:p>
              </p:txBody>
            </p:sp>
          </mc:Fallback>
        </mc:AlternateContent>
        <p:cxnSp>
          <p:nvCxnSpPr>
            <p:cNvPr id="72" name="Connecteur droit avec flèche 71">
              <a:extLst>
                <a:ext uri="{FF2B5EF4-FFF2-40B4-BE49-F238E27FC236}">
                  <a16:creationId xmlns:a16="http://schemas.microsoft.com/office/drawing/2014/main" id="{A146A702-FD66-A949-97BC-B6A9938EA473}"/>
                </a:ext>
              </a:extLst>
            </p:cNvPr>
            <p:cNvCxnSpPr/>
            <p:nvPr/>
          </p:nvCxnSpPr>
          <p:spPr>
            <a:xfrm>
              <a:off x="332105" y="1336040"/>
              <a:ext cx="342837"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3" name="Zone de texte 37">
                  <a:extLst>
                    <a:ext uri="{FF2B5EF4-FFF2-40B4-BE49-F238E27FC236}">
                      <a16:creationId xmlns:a16="http://schemas.microsoft.com/office/drawing/2014/main" id="{401AC668-891C-8A4B-8A13-2C0E4E7F3C1D}"/>
                    </a:ext>
                  </a:extLst>
                </p:cNvPr>
                <p:cNvSpPr txBox="1"/>
                <p:nvPr/>
              </p:nvSpPr>
              <p:spPr>
                <a:xfrm>
                  <a:off x="533400" y="1271905"/>
                  <a:ext cx="342837" cy="342810"/>
                </a:xfrm>
                <a:prstGeom prst="rect">
                  <a:avLst/>
                </a:prstGeom>
                <a:noFill/>
                <a:ln>
                  <a:noFill/>
                </a:ln>
                <a:effectLst/>
                <a:extLst>
                  <a:ext uri="{C572A759-6A51-4108-AA02-DFA0A04FC94B}">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fr-FR" sz="1200" i="1">
                                <a:effectLst/>
                                <a:latin typeface="Cambria Math" panose="02040503050406030204" pitchFamily="18" charset="0"/>
                                <a:ea typeface="MS Mincho" panose="02020609040205080304" pitchFamily="49" charset="-128"/>
                                <a:cs typeface="Times New Roman" panose="02020603050405020304" pitchFamily="18" charset="0"/>
                              </a:rPr>
                            </m:ctrlPr>
                          </m:sSubPr>
                          <m:e>
                            <m:r>
                              <a:rPr lang="fr-FR" sz="1200" i="1">
                                <a:effectLst/>
                                <a:latin typeface="Cambria Math" panose="02040503050406030204" pitchFamily="18" charset="0"/>
                                <a:ea typeface="MS Mincho" panose="02020609040205080304" pitchFamily="49" charset="-128"/>
                                <a:cs typeface="Times New Roman" panose="02020603050405020304" pitchFamily="18" charset="0"/>
                              </a:rPr>
                              <m:t>𝑥</m:t>
                            </m:r>
                          </m:e>
                          <m:sub>
                            <m:r>
                              <a:rPr lang="fr-FR" sz="1200" i="1">
                                <a:effectLst/>
                                <a:latin typeface="Cambria Math" panose="02040503050406030204" pitchFamily="18" charset="0"/>
                                <a:ea typeface="MS Mincho" panose="02020609040205080304" pitchFamily="49" charset="-128"/>
                                <a:cs typeface="Times New Roman" panose="02020603050405020304" pitchFamily="18" charset="0"/>
                              </a:rPr>
                              <m:t>0</m:t>
                            </m:r>
                          </m:sub>
                        </m:sSub>
                      </m:oMath>
                    </m:oMathPara>
                  </a14:m>
                  <a:endParaRPr lang="fr-FR" sz="1200">
                    <a:effectLst/>
                    <a:ea typeface="MS Mincho" panose="02020609040205080304" pitchFamily="49" charset="-128"/>
                    <a:cs typeface="Times New Roman" panose="02020603050405020304" pitchFamily="18" charset="0"/>
                  </a:endParaRPr>
                </a:p>
              </p:txBody>
            </p:sp>
          </mc:Choice>
          <mc:Fallback xmlns="">
            <p:sp>
              <p:nvSpPr>
                <p:cNvPr id="73" name="Zone de texte 37">
                  <a:extLst>
                    <a:ext uri="{FF2B5EF4-FFF2-40B4-BE49-F238E27FC236}">
                      <a16:creationId xmlns:a16="http://schemas.microsoft.com/office/drawing/2014/main" id="{401AC668-891C-8A4B-8A13-2C0E4E7F3C1D}"/>
                    </a:ext>
                  </a:extLst>
                </p:cNvPr>
                <p:cNvSpPr txBox="1">
                  <a:spLocks noRot="1" noChangeAspect="1" noMove="1" noResize="1" noEditPoints="1" noAdjustHandles="1" noChangeArrowheads="1" noChangeShapeType="1" noTextEdit="1"/>
                </p:cNvSpPr>
                <p:nvPr/>
              </p:nvSpPr>
              <p:spPr>
                <a:xfrm>
                  <a:off x="533400" y="1271905"/>
                  <a:ext cx="342837" cy="342810"/>
                </a:xfrm>
                <a:prstGeom prst="rect">
                  <a:avLst/>
                </a:prstGeom>
                <a:blipFill>
                  <a:blip r:embed="rId8"/>
                  <a:stretch>
                    <a:fillRect/>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id="http://schemas.microsoft.com/office/word/2016/wordml/cid"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a:lstStyle/>
                <a:p>
                  <a:r>
                    <a:rPr lang="fr-FR">
                      <a:noFill/>
                    </a:rPr>
                    <a:t> </a:t>
                  </a:r>
                </a:p>
              </p:txBody>
            </p:sp>
          </mc:Fallback>
        </mc:AlternateContent>
        <p:cxnSp>
          <p:nvCxnSpPr>
            <p:cNvPr id="74" name="Connecteur droit avec flèche 73">
              <a:extLst>
                <a:ext uri="{FF2B5EF4-FFF2-40B4-BE49-F238E27FC236}">
                  <a16:creationId xmlns:a16="http://schemas.microsoft.com/office/drawing/2014/main" id="{6C26B84B-270B-8447-969A-79E2FA028F7B}"/>
                </a:ext>
              </a:extLst>
            </p:cNvPr>
            <p:cNvCxnSpPr/>
            <p:nvPr/>
          </p:nvCxnSpPr>
          <p:spPr>
            <a:xfrm>
              <a:off x="648334" y="1338580"/>
              <a:ext cx="1599905" cy="0"/>
            </a:xfrm>
            <a:prstGeom prst="straightConnector1">
              <a:avLst/>
            </a:prstGeom>
            <a:ln w="9525" cmpd="sng">
              <a:prstDash val="solid"/>
              <a:tailEnd type="none"/>
            </a:ln>
          </p:spPr>
          <p:style>
            <a:lnRef idx="2">
              <a:schemeClr val="dk1"/>
            </a:lnRef>
            <a:fillRef idx="0">
              <a:schemeClr val="dk1"/>
            </a:fillRef>
            <a:effectRef idx="1">
              <a:schemeClr val="dk1"/>
            </a:effectRef>
            <a:fontRef idx="minor">
              <a:schemeClr val="tx1"/>
            </a:fontRef>
          </p:style>
        </p:cxnSp>
        <p:cxnSp>
          <p:nvCxnSpPr>
            <p:cNvPr id="75" name="Connecteur droit avec flèche 74">
              <a:extLst>
                <a:ext uri="{FF2B5EF4-FFF2-40B4-BE49-F238E27FC236}">
                  <a16:creationId xmlns:a16="http://schemas.microsoft.com/office/drawing/2014/main" id="{FA05EAAE-057E-BC45-A6C9-449F4ECE9E90}"/>
                </a:ext>
              </a:extLst>
            </p:cNvPr>
            <p:cNvCxnSpPr/>
            <p:nvPr/>
          </p:nvCxnSpPr>
          <p:spPr>
            <a:xfrm flipV="1">
              <a:off x="329565" y="0"/>
              <a:ext cx="0" cy="1028429"/>
            </a:xfrm>
            <a:prstGeom prst="straightConnector1">
              <a:avLst/>
            </a:prstGeom>
            <a:ln w="9525" cmpd="sng">
              <a:prstDash val="solid"/>
              <a:tailEnd type="non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6" name="Zone de texte 40">
                  <a:extLst>
                    <a:ext uri="{FF2B5EF4-FFF2-40B4-BE49-F238E27FC236}">
                      <a16:creationId xmlns:a16="http://schemas.microsoft.com/office/drawing/2014/main" id="{6AC35CDD-9679-D746-BB88-FDBB2CAF667E}"/>
                    </a:ext>
                  </a:extLst>
                </p:cNvPr>
                <p:cNvSpPr txBox="1"/>
                <p:nvPr/>
              </p:nvSpPr>
              <p:spPr>
                <a:xfrm>
                  <a:off x="-1" y="1266190"/>
                  <a:ext cx="342837" cy="342810"/>
                </a:xfrm>
                <a:prstGeom prst="rect">
                  <a:avLst/>
                </a:prstGeom>
                <a:noFill/>
                <a:ln>
                  <a:noFill/>
                </a:ln>
                <a:effectLst/>
                <a:extLst>
                  <a:ext uri="{C572A759-6A51-4108-AA02-DFA0A04FC94B}">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r>
                          <a:rPr lang="fr-FR" sz="1200" i="1">
                            <a:effectLst/>
                            <a:latin typeface="Cambria Math" panose="02040503050406030204" pitchFamily="18" charset="0"/>
                            <a:ea typeface="MS Mincho" panose="02020609040205080304" pitchFamily="49" charset="-128"/>
                            <a:cs typeface="Times New Roman" panose="02020603050405020304" pitchFamily="18" charset="0"/>
                          </a:rPr>
                          <m:t>𝑂</m:t>
                        </m:r>
                      </m:oMath>
                    </m:oMathPara>
                  </a14:m>
                  <a:endParaRPr lang="fr-FR" sz="1200">
                    <a:effectLst/>
                    <a:ea typeface="MS Mincho" panose="02020609040205080304" pitchFamily="49" charset="-128"/>
                    <a:cs typeface="Times New Roman" panose="02020603050405020304" pitchFamily="18" charset="0"/>
                  </a:endParaRPr>
                </a:p>
              </p:txBody>
            </p:sp>
          </mc:Choice>
          <mc:Fallback xmlns="">
            <p:sp>
              <p:nvSpPr>
                <p:cNvPr id="76" name="Zone de texte 40">
                  <a:extLst>
                    <a:ext uri="{FF2B5EF4-FFF2-40B4-BE49-F238E27FC236}">
                      <a16:creationId xmlns:a16="http://schemas.microsoft.com/office/drawing/2014/main" id="{6AC35CDD-9679-D746-BB88-FDBB2CAF667E}"/>
                    </a:ext>
                  </a:extLst>
                </p:cNvPr>
                <p:cNvSpPr txBox="1">
                  <a:spLocks noRot="1" noChangeAspect="1" noMove="1" noResize="1" noEditPoints="1" noAdjustHandles="1" noChangeArrowheads="1" noChangeShapeType="1" noTextEdit="1"/>
                </p:cNvSpPr>
                <p:nvPr/>
              </p:nvSpPr>
              <p:spPr>
                <a:xfrm>
                  <a:off x="-1" y="1266190"/>
                  <a:ext cx="342837" cy="342810"/>
                </a:xfrm>
                <a:prstGeom prst="rect">
                  <a:avLst/>
                </a:prstGeom>
                <a:blipFill>
                  <a:blip r:embed="rId9"/>
                  <a:stretch>
                    <a:fillRect/>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id="http://schemas.microsoft.com/office/word/2016/wordml/cid"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a:lstStyle/>
                <a:p>
                  <a:r>
                    <a:rPr lang="fr-FR">
                      <a:noFill/>
                    </a:rPr>
                    <a:t> </a:t>
                  </a:r>
                </a:p>
              </p:txBody>
            </p:sp>
          </mc:Fallback>
        </mc:AlternateContent>
        <p:sp>
          <p:nvSpPr>
            <p:cNvPr id="77" name="Ellipse 76">
              <a:extLst>
                <a:ext uri="{FF2B5EF4-FFF2-40B4-BE49-F238E27FC236}">
                  <a16:creationId xmlns:a16="http://schemas.microsoft.com/office/drawing/2014/main" id="{54F92403-2191-E44F-986A-C709C017DF68}"/>
                </a:ext>
              </a:extLst>
            </p:cNvPr>
            <p:cNvSpPr/>
            <p:nvPr/>
          </p:nvSpPr>
          <p:spPr>
            <a:xfrm>
              <a:off x="262254" y="1280160"/>
              <a:ext cx="114279" cy="114270"/>
            </a:xfrm>
            <a:prstGeom prst="ellipse">
              <a:avLst/>
            </a:prstGeom>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mc:AlternateContent xmlns:mc="http://schemas.openxmlformats.org/markup-compatibility/2006" xmlns:a14="http://schemas.microsoft.com/office/drawing/2010/main">
          <mc:Choice Requires="a14">
            <p:sp>
              <p:nvSpPr>
                <p:cNvPr id="78" name="Zone de texte 42">
                  <a:extLst>
                    <a:ext uri="{FF2B5EF4-FFF2-40B4-BE49-F238E27FC236}">
                      <a16:creationId xmlns:a16="http://schemas.microsoft.com/office/drawing/2014/main" id="{3A2191DB-D34F-1242-BF72-1735294088CA}"/>
                    </a:ext>
                  </a:extLst>
                </p:cNvPr>
                <p:cNvSpPr txBox="1"/>
                <p:nvPr/>
              </p:nvSpPr>
              <p:spPr>
                <a:xfrm>
                  <a:off x="1820975" y="1360580"/>
                  <a:ext cx="342837" cy="203300"/>
                </a:xfrm>
                <a:prstGeom prst="rect">
                  <a:avLst/>
                </a:prstGeom>
                <a:noFill/>
                <a:ln>
                  <a:noFill/>
                </a:ln>
                <a:effectLst/>
                <a:extLst>
                  <a:ext uri="{C572A759-6A51-4108-AA02-DFA0A04FC94B}">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r>
                          <a:rPr lang="fr-FR" sz="1200" i="1">
                            <a:effectLst/>
                            <a:latin typeface="Cambria Math" panose="02040503050406030204" pitchFamily="18" charset="0"/>
                            <a:ea typeface="MS Mincho" panose="02020609040205080304" pitchFamily="49" charset="-128"/>
                            <a:cs typeface="Times New Roman" panose="02020603050405020304" pitchFamily="18" charset="0"/>
                          </a:rPr>
                          <m:t>𝑥</m:t>
                        </m:r>
                      </m:oMath>
                    </m:oMathPara>
                  </a14:m>
                  <a:endParaRPr lang="fr-FR" sz="1200" dirty="0">
                    <a:effectLst/>
                    <a:ea typeface="MS Mincho" panose="02020609040205080304" pitchFamily="49" charset="-128"/>
                    <a:cs typeface="Times New Roman" panose="02020603050405020304" pitchFamily="18" charset="0"/>
                  </a:endParaRPr>
                </a:p>
              </p:txBody>
            </p:sp>
          </mc:Choice>
          <mc:Fallback xmlns="">
            <p:sp>
              <p:nvSpPr>
                <p:cNvPr id="78" name="Zone de texte 42">
                  <a:extLst>
                    <a:ext uri="{FF2B5EF4-FFF2-40B4-BE49-F238E27FC236}">
                      <a16:creationId xmlns:a16="http://schemas.microsoft.com/office/drawing/2014/main" id="{3A2191DB-D34F-1242-BF72-1735294088CA}"/>
                    </a:ext>
                  </a:extLst>
                </p:cNvPr>
                <p:cNvSpPr txBox="1">
                  <a:spLocks noRot="1" noChangeAspect="1" noMove="1" noResize="1" noEditPoints="1" noAdjustHandles="1" noChangeArrowheads="1" noChangeShapeType="1" noTextEdit="1"/>
                </p:cNvSpPr>
                <p:nvPr/>
              </p:nvSpPr>
              <p:spPr>
                <a:xfrm>
                  <a:off x="1820975" y="1360580"/>
                  <a:ext cx="342837" cy="203300"/>
                </a:xfrm>
                <a:prstGeom prst="rect">
                  <a:avLst/>
                </a:prstGeom>
                <a:blipFill>
                  <a:blip r:embed="rId10"/>
                  <a:stretch>
                    <a:fillRect/>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id="http://schemas.microsoft.com/office/word/2016/wordml/cid"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9" name="Zone de texte 43">
                  <a:extLst>
                    <a:ext uri="{FF2B5EF4-FFF2-40B4-BE49-F238E27FC236}">
                      <a16:creationId xmlns:a16="http://schemas.microsoft.com/office/drawing/2014/main" id="{7C1AE5B3-D13D-C54D-9219-80EEFE658B4C}"/>
                    </a:ext>
                  </a:extLst>
                </p:cNvPr>
                <p:cNvSpPr txBox="1"/>
                <p:nvPr/>
              </p:nvSpPr>
              <p:spPr>
                <a:xfrm>
                  <a:off x="92075" y="80645"/>
                  <a:ext cx="342837" cy="342810"/>
                </a:xfrm>
                <a:prstGeom prst="rect">
                  <a:avLst/>
                </a:prstGeom>
                <a:noFill/>
                <a:ln>
                  <a:noFill/>
                </a:ln>
                <a:effectLst/>
                <a:extLst>
                  <a:ext uri="{C572A759-6A51-4108-AA02-DFA0A04FC94B}">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r>
                          <a:rPr lang="fr-FR" sz="1200" i="1">
                            <a:effectLst/>
                            <a:latin typeface="Cambria Math" panose="02040503050406030204" pitchFamily="18" charset="0"/>
                            <a:ea typeface="MS Mincho" panose="02020609040205080304" pitchFamily="49" charset="-128"/>
                            <a:cs typeface="Times New Roman" panose="02020603050405020304" pitchFamily="18" charset="0"/>
                          </a:rPr>
                          <m:t>𝑦</m:t>
                        </m:r>
                      </m:oMath>
                    </m:oMathPara>
                  </a14:m>
                  <a:endParaRPr lang="fr-FR" sz="1200">
                    <a:effectLst/>
                    <a:ea typeface="MS Mincho" panose="02020609040205080304" pitchFamily="49" charset="-128"/>
                    <a:cs typeface="Times New Roman" panose="02020603050405020304" pitchFamily="18" charset="0"/>
                  </a:endParaRPr>
                </a:p>
              </p:txBody>
            </p:sp>
          </mc:Choice>
          <mc:Fallback xmlns="">
            <p:sp>
              <p:nvSpPr>
                <p:cNvPr id="79" name="Zone de texte 43">
                  <a:extLst>
                    <a:ext uri="{FF2B5EF4-FFF2-40B4-BE49-F238E27FC236}">
                      <a16:creationId xmlns:a16="http://schemas.microsoft.com/office/drawing/2014/main" id="{7C1AE5B3-D13D-C54D-9219-80EEFE658B4C}"/>
                    </a:ext>
                  </a:extLst>
                </p:cNvPr>
                <p:cNvSpPr txBox="1">
                  <a:spLocks noRot="1" noChangeAspect="1" noMove="1" noResize="1" noEditPoints="1" noAdjustHandles="1" noChangeArrowheads="1" noChangeShapeType="1" noTextEdit="1"/>
                </p:cNvSpPr>
                <p:nvPr/>
              </p:nvSpPr>
              <p:spPr>
                <a:xfrm>
                  <a:off x="92075" y="80645"/>
                  <a:ext cx="342837" cy="342810"/>
                </a:xfrm>
                <a:prstGeom prst="rect">
                  <a:avLst/>
                </a:prstGeom>
                <a:blipFill>
                  <a:blip r:embed="rId11"/>
                  <a:stretch>
                    <a:fillRect/>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id="http://schemas.microsoft.com/office/word/2016/wordml/cid"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0" name="Zone de texte 44">
                  <a:extLst>
                    <a:ext uri="{FF2B5EF4-FFF2-40B4-BE49-F238E27FC236}">
                      <a16:creationId xmlns:a16="http://schemas.microsoft.com/office/drawing/2014/main" id="{3056372A-067C-764A-9213-7CB9AD412773}"/>
                    </a:ext>
                  </a:extLst>
                </p:cNvPr>
                <p:cNvSpPr txBox="1"/>
                <p:nvPr/>
              </p:nvSpPr>
              <p:spPr>
                <a:xfrm>
                  <a:off x="1193799" y="1033780"/>
                  <a:ext cx="342837" cy="342810"/>
                </a:xfrm>
                <a:prstGeom prst="rect">
                  <a:avLst/>
                </a:prstGeom>
                <a:noFill/>
                <a:ln>
                  <a:noFill/>
                </a:ln>
                <a:effectLst/>
                <a:extLst>
                  <a:ext uri="{C572A759-6A51-4108-AA02-DFA0A04FC94B}">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fr-FR" sz="1200" i="1">
                                <a:effectLst/>
                                <a:latin typeface="Cambria Math" panose="02040503050406030204" pitchFamily="18" charset="0"/>
                                <a:ea typeface="MS Mincho" panose="02020609040205080304" pitchFamily="49" charset="-128"/>
                                <a:cs typeface="Times New Roman" panose="02020603050405020304" pitchFamily="18" charset="0"/>
                              </a:rPr>
                            </m:ctrlPr>
                          </m:sSubPr>
                          <m:e>
                            <m:r>
                              <a:rPr lang="fr-FR" sz="1200" i="1">
                                <a:effectLst/>
                                <a:latin typeface="Cambria Math" panose="02040503050406030204" pitchFamily="18" charset="0"/>
                                <a:ea typeface="MS Mincho" panose="02020609040205080304" pitchFamily="49" charset="-128"/>
                                <a:cs typeface="Times New Roman" panose="02020603050405020304" pitchFamily="18" charset="0"/>
                              </a:rPr>
                              <m:t>𝜃</m:t>
                            </m:r>
                          </m:e>
                          <m:sub>
                            <m:r>
                              <a:rPr lang="fr-FR" sz="1200" i="1">
                                <a:effectLst/>
                                <a:latin typeface="Cambria Math" panose="02040503050406030204" pitchFamily="18" charset="0"/>
                                <a:ea typeface="MS Mincho" panose="02020609040205080304" pitchFamily="49" charset="-128"/>
                                <a:cs typeface="Times New Roman" panose="02020603050405020304" pitchFamily="18" charset="0"/>
                              </a:rPr>
                              <m:t>1</m:t>
                            </m:r>
                          </m:sub>
                        </m:sSub>
                      </m:oMath>
                    </m:oMathPara>
                  </a14:m>
                  <a:endParaRPr lang="fr-FR" sz="1200">
                    <a:effectLst/>
                    <a:ea typeface="MS Mincho" panose="02020609040205080304" pitchFamily="49" charset="-128"/>
                    <a:cs typeface="Times New Roman" panose="02020603050405020304" pitchFamily="18" charset="0"/>
                  </a:endParaRPr>
                </a:p>
              </p:txBody>
            </p:sp>
          </mc:Choice>
          <mc:Fallback xmlns="">
            <p:sp>
              <p:nvSpPr>
                <p:cNvPr id="80" name="Zone de texte 44">
                  <a:extLst>
                    <a:ext uri="{FF2B5EF4-FFF2-40B4-BE49-F238E27FC236}">
                      <a16:creationId xmlns:a16="http://schemas.microsoft.com/office/drawing/2014/main" id="{3056372A-067C-764A-9213-7CB9AD412773}"/>
                    </a:ext>
                  </a:extLst>
                </p:cNvPr>
                <p:cNvSpPr txBox="1">
                  <a:spLocks noRot="1" noChangeAspect="1" noMove="1" noResize="1" noEditPoints="1" noAdjustHandles="1" noChangeArrowheads="1" noChangeShapeType="1" noTextEdit="1"/>
                </p:cNvSpPr>
                <p:nvPr/>
              </p:nvSpPr>
              <p:spPr>
                <a:xfrm>
                  <a:off x="1193799" y="1033780"/>
                  <a:ext cx="342837" cy="342810"/>
                </a:xfrm>
                <a:prstGeom prst="rect">
                  <a:avLst/>
                </a:prstGeom>
                <a:blipFill>
                  <a:blip r:embed="rId12"/>
                  <a:stretch>
                    <a:fillRect/>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id="http://schemas.microsoft.com/office/word/2016/wordml/cid"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1" name="Zone de texte 45">
                  <a:extLst>
                    <a:ext uri="{FF2B5EF4-FFF2-40B4-BE49-F238E27FC236}">
                      <a16:creationId xmlns:a16="http://schemas.microsoft.com/office/drawing/2014/main" id="{AC204F04-6C38-A847-8BD5-2E0800E0321D}"/>
                    </a:ext>
                  </a:extLst>
                </p:cNvPr>
                <p:cNvSpPr txBox="1"/>
                <p:nvPr/>
              </p:nvSpPr>
              <p:spPr>
                <a:xfrm>
                  <a:off x="1722120" y="461010"/>
                  <a:ext cx="342202" cy="342175"/>
                </a:xfrm>
                <a:prstGeom prst="rect">
                  <a:avLst/>
                </a:prstGeom>
                <a:noFill/>
                <a:ln>
                  <a:noFill/>
                </a:ln>
                <a:effectLst/>
                <a:extLst>
                  <a:ext uri="{C572A759-6A51-4108-AA02-DFA0A04FC94B}">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fr-FR" sz="1200" i="1">
                                <a:effectLst/>
                                <a:latin typeface="Cambria Math" panose="02040503050406030204" pitchFamily="18" charset="0"/>
                                <a:ea typeface="MS Mincho" panose="02020609040205080304" pitchFamily="49" charset="-128"/>
                                <a:cs typeface="Times New Roman" panose="02020603050405020304" pitchFamily="18" charset="0"/>
                              </a:rPr>
                            </m:ctrlPr>
                          </m:sSubPr>
                          <m:e>
                            <m:r>
                              <a:rPr lang="fr-FR" sz="1200" i="1">
                                <a:effectLst/>
                                <a:latin typeface="Cambria Math" panose="02040503050406030204" pitchFamily="18" charset="0"/>
                                <a:ea typeface="MS Mincho" panose="02020609040205080304" pitchFamily="49" charset="-128"/>
                                <a:cs typeface="Times New Roman" panose="02020603050405020304" pitchFamily="18" charset="0"/>
                              </a:rPr>
                              <m:t>𝜃</m:t>
                            </m:r>
                          </m:e>
                          <m:sub>
                            <m:r>
                              <a:rPr lang="fr-FR" sz="1200" i="1">
                                <a:effectLst/>
                                <a:latin typeface="Cambria Math" panose="02040503050406030204" pitchFamily="18" charset="0"/>
                                <a:ea typeface="MS Mincho" panose="02020609040205080304" pitchFamily="49" charset="-128"/>
                                <a:cs typeface="Times New Roman" panose="02020603050405020304" pitchFamily="18" charset="0"/>
                              </a:rPr>
                              <m:t>2</m:t>
                            </m:r>
                          </m:sub>
                        </m:sSub>
                      </m:oMath>
                    </m:oMathPara>
                  </a14:m>
                  <a:endParaRPr lang="fr-FR" sz="1200">
                    <a:effectLst/>
                    <a:ea typeface="MS Mincho" panose="02020609040205080304" pitchFamily="49" charset="-128"/>
                    <a:cs typeface="Times New Roman" panose="02020603050405020304" pitchFamily="18" charset="0"/>
                  </a:endParaRPr>
                </a:p>
              </p:txBody>
            </p:sp>
          </mc:Choice>
          <mc:Fallback xmlns="">
            <p:sp>
              <p:nvSpPr>
                <p:cNvPr id="81" name="Zone de texte 45">
                  <a:extLst>
                    <a:ext uri="{FF2B5EF4-FFF2-40B4-BE49-F238E27FC236}">
                      <a16:creationId xmlns:a16="http://schemas.microsoft.com/office/drawing/2014/main" id="{AC204F04-6C38-A847-8BD5-2E0800E0321D}"/>
                    </a:ext>
                  </a:extLst>
                </p:cNvPr>
                <p:cNvSpPr txBox="1">
                  <a:spLocks noRot="1" noChangeAspect="1" noMove="1" noResize="1" noEditPoints="1" noAdjustHandles="1" noChangeArrowheads="1" noChangeShapeType="1" noTextEdit="1"/>
                </p:cNvSpPr>
                <p:nvPr/>
              </p:nvSpPr>
              <p:spPr>
                <a:xfrm>
                  <a:off x="1722120" y="461010"/>
                  <a:ext cx="342202" cy="342175"/>
                </a:xfrm>
                <a:prstGeom prst="rect">
                  <a:avLst/>
                </a:prstGeom>
                <a:blipFill>
                  <a:blip r:embed="rId13"/>
                  <a:stretch>
                    <a:fillRect/>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id="http://schemas.microsoft.com/office/word/2016/wordml/cid"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a:lstStyle/>
                <a:p>
                  <a:r>
                    <a:rPr lang="fr-FR">
                      <a:noFill/>
                    </a:rPr>
                    <a:t> </a:t>
                  </a:r>
                </a:p>
              </p:txBody>
            </p:sp>
          </mc:Fallback>
        </mc:AlternateContent>
        <p:sp>
          <p:nvSpPr>
            <p:cNvPr id="82" name="Ellipse 81">
              <a:extLst>
                <a:ext uri="{FF2B5EF4-FFF2-40B4-BE49-F238E27FC236}">
                  <a16:creationId xmlns:a16="http://schemas.microsoft.com/office/drawing/2014/main" id="{F78A14E1-7E0B-F34F-9459-1291B49A7DFB}"/>
                </a:ext>
              </a:extLst>
            </p:cNvPr>
            <p:cNvSpPr/>
            <p:nvPr/>
          </p:nvSpPr>
          <p:spPr>
            <a:xfrm>
              <a:off x="1464945" y="827405"/>
              <a:ext cx="114279" cy="114270"/>
            </a:xfrm>
            <a:prstGeom prst="ellipse">
              <a:avLst/>
            </a:prstGeom>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83" name="Arc 82">
              <a:extLst>
                <a:ext uri="{FF2B5EF4-FFF2-40B4-BE49-F238E27FC236}">
                  <a16:creationId xmlns:a16="http://schemas.microsoft.com/office/drawing/2014/main" id="{EFE304CA-6436-2348-A9DA-8C8E0772EA52}"/>
                </a:ext>
              </a:extLst>
            </p:cNvPr>
            <p:cNvSpPr/>
            <p:nvPr/>
          </p:nvSpPr>
          <p:spPr>
            <a:xfrm>
              <a:off x="833120" y="1092835"/>
              <a:ext cx="422320" cy="471046"/>
            </a:xfrm>
            <a:prstGeom prst="arc">
              <a:avLst/>
            </a:prstGeom>
            <a:ln>
              <a:headEnd type="stealth"/>
              <a:tailEnd type="none"/>
            </a:ln>
          </p:spPr>
          <p:style>
            <a:lnRef idx="2">
              <a:schemeClr val="accent1"/>
            </a:lnRef>
            <a:fillRef idx="0">
              <a:schemeClr val="accent1"/>
            </a:fillRef>
            <a:effectRef idx="1">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84" name="Arc 83">
              <a:extLst>
                <a:ext uri="{FF2B5EF4-FFF2-40B4-BE49-F238E27FC236}">
                  <a16:creationId xmlns:a16="http://schemas.microsoft.com/office/drawing/2014/main" id="{A3F2B0BF-DEE4-984A-8E88-180FC20563AF}"/>
                </a:ext>
              </a:extLst>
            </p:cNvPr>
            <p:cNvSpPr/>
            <p:nvPr/>
          </p:nvSpPr>
          <p:spPr>
            <a:xfrm>
              <a:off x="1559560" y="631190"/>
              <a:ext cx="306210" cy="211485"/>
            </a:xfrm>
            <a:prstGeom prst="arc">
              <a:avLst/>
            </a:prstGeom>
            <a:ln>
              <a:headEnd type="stealth"/>
              <a:tailEnd type="none"/>
            </a:ln>
          </p:spPr>
          <p:style>
            <a:lnRef idx="2">
              <a:schemeClr val="accent1"/>
            </a:lnRef>
            <a:fillRef idx="0">
              <a:schemeClr val="accent1"/>
            </a:fillRef>
            <a:effectRef idx="1">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cxnSp>
          <p:nvCxnSpPr>
            <p:cNvPr id="85" name="Connecteur droit 84">
              <a:extLst>
                <a:ext uri="{FF2B5EF4-FFF2-40B4-BE49-F238E27FC236}">
                  <a16:creationId xmlns:a16="http://schemas.microsoft.com/office/drawing/2014/main" id="{B8B50128-9D50-CD4C-AAC8-F1DE5B1E08F2}"/>
                </a:ext>
              </a:extLst>
            </p:cNvPr>
            <p:cNvCxnSpPr/>
            <p:nvPr/>
          </p:nvCxnSpPr>
          <p:spPr>
            <a:xfrm flipV="1">
              <a:off x="1939925" y="130810"/>
              <a:ext cx="52695" cy="75545"/>
            </a:xfrm>
            <a:prstGeom prst="line">
              <a:avLst/>
            </a:prstGeom>
          </p:spPr>
          <p:style>
            <a:lnRef idx="2">
              <a:schemeClr val="accent1"/>
            </a:lnRef>
            <a:fillRef idx="0">
              <a:schemeClr val="accent1"/>
            </a:fillRef>
            <a:effectRef idx="1">
              <a:schemeClr val="accent1"/>
            </a:effectRef>
            <a:fontRef idx="minor">
              <a:schemeClr val="tx1"/>
            </a:fontRef>
          </p:style>
        </p:cxnSp>
        <p:cxnSp>
          <p:nvCxnSpPr>
            <p:cNvPr id="86" name="Connecteur droit 85">
              <a:extLst>
                <a:ext uri="{FF2B5EF4-FFF2-40B4-BE49-F238E27FC236}">
                  <a16:creationId xmlns:a16="http://schemas.microsoft.com/office/drawing/2014/main" id="{9BAB9843-1DDC-F04D-9DAE-21A119059C49}"/>
                </a:ext>
              </a:extLst>
            </p:cNvPr>
            <p:cNvCxnSpPr/>
            <p:nvPr/>
          </p:nvCxnSpPr>
          <p:spPr>
            <a:xfrm flipV="1">
              <a:off x="2040890" y="206375"/>
              <a:ext cx="52695" cy="75545"/>
            </a:xfrm>
            <a:prstGeom prst="line">
              <a:avLst/>
            </a:prstGeom>
          </p:spPr>
          <p:style>
            <a:lnRef idx="2">
              <a:schemeClr val="accent1"/>
            </a:lnRef>
            <a:fillRef idx="0">
              <a:schemeClr val="accent1"/>
            </a:fillRef>
            <a:effectRef idx="1">
              <a:schemeClr val="accent1"/>
            </a:effectRef>
            <a:fontRef idx="minor">
              <a:schemeClr val="tx1"/>
            </a:fontRef>
          </p:style>
        </p:cxnSp>
        <p:cxnSp>
          <p:nvCxnSpPr>
            <p:cNvPr id="87" name="Connecteur droit 86">
              <a:extLst>
                <a:ext uri="{FF2B5EF4-FFF2-40B4-BE49-F238E27FC236}">
                  <a16:creationId xmlns:a16="http://schemas.microsoft.com/office/drawing/2014/main" id="{8DF9D292-B4A9-C242-98BC-D18A736AE6CD}"/>
                </a:ext>
              </a:extLst>
            </p:cNvPr>
            <p:cNvCxnSpPr/>
            <p:nvPr/>
          </p:nvCxnSpPr>
          <p:spPr>
            <a:xfrm>
              <a:off x="1942465" y="195579"/>
              <a:ext cx="99856" cy="7491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8" name="Zone de texte 52">
                  <a:extLst>
                    <a:ext uri="{FF2B5EF4-FFF2-40B4-BE49-F238E27FC236}">
                      <a16:creationId xmlns:a16="http://schemas.microsoft.com/office/drawing/2014/main" id="{579F58F5-C41A-EF45-91AD-61F4129924C8}"/>
                    </a:ext>
                  </a:extLst>
                </p:cNvPr>
                <p:cNvSpPr txBox="1"/>
                <p:nvPr/>
              </p:nvSpPr>
              <p:spPr>
                <a:xfrm>
                  <a:off x="588010" y="984174"/>
                  <a:ext cx="342265" cy="342265"/>
                </a:xfrm>
                <a:prstGeom prst="rect">
                  <a:avLst/>
                </a:prstGeom>
                <a:noFill/>
                <a:ln>
                  <a:noFill/>
                </a:ln>
                <a:effectLst/>
                <a:extLst>
                  <a:ext uri="{C572A759-6A51-4108-AA02-DFA0A04FC94B}">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fr-FR" sz="1200" i="1">
                                <a:solidFill>
                                  <a:srgbClr val="4F81BD"/>
                                </a:solidFill>
                                <a:effectLst/>
                                <a:latin typeface="Cambria Math" panose="02040503050406030204" pitchFamily="18" charset="0"/>
                                <a:ea typeface="MS Mincho" panose="02020609040205080304" pitchFamily="49" charset="-128"/>
                                <a:cs typeface="Times New Roman" panose="02020603050405020304" pitchFamily="18" charset="0"/>
                              </a:rPr>
                            </m:ctrlPr>
                          </m:sSubPr>
                          <m:e>
                            <m:r>
                              <a:rPr lang="fr-FR" sz="1200" i="1">
                                <a:solidFill>
                                  <a:srgbClr val="4F81BD"/>
                                </a:solidFill>
                                <a:effectLst/>
                                <a:latin typeface="Cambria Math" panose="02040503050406030204" pitchFamily="18" charset="0"/>
                                <a:ea typeface="MS Mincho" panose="02020609040205080304" pitchFamily="49" charset="-128"/>
                                <a:cs typeface="Times New Roman" panose="02020603050405020304" pitchFamily="18" charset="0"/>
                              </a:rPr>
                              <m:t>𝑎</m:t>
                            </m:r>
                          </m:e>
                          <m:sub>
                            <m:r>
                              <a:rPr lang="fr-FR" sz="1200" i="1">
                                <a:solidFill>
                                  <a:srgbClr val="4F81BD"/>
                                </a:solidFill>
                                <a:effectLst/>
                                <a:latin typeface="Cambria Math" panose="02040503050406030204" pitchFamily="18" charset="0"/>
                                <a:ea typeface="MS Mincho" panose="02020609040205080304" pitchFamily="49" charset="-128"/>
                                <a:cs typeface="Times New Roman" panose="02020603050405020304" pitchFamily="18" charset="0"/>
                              </a:rPr>
                              <m:t>1</m:t>
                            </m:r>
                          </m:sub>
                        </m:sSub>
                      </m:oMath>
                    </m:oMathPara>
                  </a14:m>
                  <a:endParaRPr lang="fr-FR" sz="1200" dirty="0">
                    <a:effectLst/>
                    <a:ea typeface="MS Mincho" panose="02020609040205080304" pitchFamily="49" charset="-128"/>
                    <a:cs typeface="Times New Roman" panose="02020603050405020304" pitchFamily="18" charset="0"/>
                  </a:endParaRPr>
                </a:p>
              </p:txBody>
            </p:sp>
          </mc:Choice>
          <mc:Fallback xmlns="">
            <p:sp>
              <p:nvSpPr>
                <p:cNvPr id="88" name="Zone de texte 52">
                  <a:extLst>
                    <a:ext uri="{FF2B5EF4-FFF2-40B4-BE49-F238E27FC236}">
                      <a16:creationId xmlns:a16="http://schemas.microsoft.com/office/drawing/2014/main" id="{579F58F5-C41A-EF45-91AD-61F4129924C8}"/>
                    </a:ext>
                  </a:extLst>
                </p:cNvPr>
                <p:cNvSpPr txBox="1">
                  <a:spLocks noRot="1" noChangeAspect="1" noMove="1" noResize="1" noEditPoints="1" noAdjustHandles="1" noChangeArrowheads="1" noChangeShapeType="1" noTextEdit="1"/>
                </p:cNvSpPr>
                <p:nvPr/>
              </p:nvSpPr>
              <p:spPr>
                <a:xfrm>
                  <a:off x="588010" y="984174"/>
                  <a:ext cx="342265" cy="342265"/>
                </a:xfrm>
                <a:prstGeom prst="rect">
                  <a:avLst/>
                </a:prstGeom>
                <a:blipFill>
                  <a:blip r:embed="rId14"/>
                  <a:stretch>
                    <a:fillRect/>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id="http://schemas.microsoft.com/office/word/2016/wordml/cid"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9" name="Zone de texte 53">
                  <a:extLst>
                    <a:ext uri="{FF2B5EF4-FFF2-40B4-BE49-F238E27FC236}">
                      <a16:creationId xmlns:a16="http://schemas.microsoft.com/office/drawing/2014/main" id="{CB610300-DFB0-5B4F-B5A4-C4EF90D0FC37}"/>
                    </a:ext>
                  </a:extLst>
                </p:cNvPr>
                <p:cNvSpPr txBox="1"/>
                <p:nvPr/>
              </p:nvSpPr>
              <p:spPr>
                <a:xfrm>
                  <a:off x="1578337" y="319702"/>
                  <a:ext cx="342265" cy="342265"/>
                </a:xfrm>
                <a:prstGeom prst="rect">
                  <a:avLst/>
                </a:prstGeom>
                <a:noFill/>
                <a:ln>
                  <a:noFill/>
                </a:ln>
                <a:effectLst/>
                <a:extLst>
                  <a:ext uri="{C572A759-6A51-4108-AA02-DFA0A04FC94B}">
                    <ma14:wrappingTextBoxFlag xmlns:lc="http://schemas.openxmlformats.org/drawingml/2006/lockedCanvas" xmlns="" xmlns:mo="http://schemas.microsoft.com/office/mac/office/2008/main" xmlns:mv="urn:schemas-microsoft-com:mac:vml" xmlns:o="urn:schemas-microsoft-com:office:office" xmlns:v="urn:schemas-microsoft-com:vml" xmlns:w10="urn:schemas-microsoft-com:office:word" xmlns:w="http://schemas.openxmlformats.org/wordprocessingml/2006/main" xmlns:ma14="http://schemas.microsoft.com/office/mac/drawingml/2011/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cid="http://schemas.microsoft.com/office/word/2016/wordml/cid"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pPr>
                  <a14:m>
                    <m:oMathPara xmlns:m="http://schemas.openxmlformats.org/officeDocument/2006/math">
                      <m:oMathParaPr>
                        <m:jc m:val="centerGroup"/>
                      </m:oMathParaPr>
                      <m:oMath xmlns:m="http://schemas.openxmlformats.org/officeDocument/2006/math">
                        <m:sSub>
                          <m:sSubPr>
                            <m:ctrlPr>
                              <a:rPr lang="fr-FR" sz="1200" i="1">
                                <a:solidFill>
                                  <a:srgbClr val="4F81BD"/>
                                </a:solidFill>
                                <a:effectLst/>
                                <a:latin typeface="Cambria Math" panose="02040503050406030204" pitchFamily="18" charset="0"/>
                                <a:ea typeface="MS Mincho" panose="02020609040205080304" pitchFamily="49" charset="-128"/>
                                <a:cs typeface="Times New Roman" panose="02020603050405020304" pitchFamily="18" charset="0"/>
                              </a:rPr>
                            </m:ctrlPr>
                          </m:sSubPr>
                          <m:e>
                            <m:r>
                              <a:rPr lang="fr-FR" sz="1200" i="1">
                                <a:solidFill>
                                  <a:srgbClr val="4F81BD"/>
                                </a:solidFill>
                                <a:effectLst/>
                                <a:latin typeface="Cambria Math" panose="02040503050406030204" pitchFamily="18" charset="0"/>
                                <a:ea typeface="MS Mincho" panose="02020609040205080304" pitchFamily="49" charset="-128"/>
                                <a:cs typeface="Times New Roman" panose="02020603050405020304" pitchFamily="18" charset="0"/>
                              </a:rPr>
                              <m:t>𝑎</m:t>
                            </m:r>
                          </m:e>
                          <m:sub>
                            <m:r>
                              <a:rPr lang="fr-FR" sz="1200" i="1">
                                <a:solidFill>
                                  <a:srgbClr val="4F81BD"/>
                                </a:solidFill>
                                <a:effectLst/>
                                <a:latin typeface="Cambria Math" panose="02040503050406030204" pitchFamily="18" charset="0"/>
                                <a:ea typeface="MS Mincho" panose="02020609040205080304" pitchFamily="49" charset="-128"/>
                                <a:cs typeface="Times New Roman" panose="02020603050405020304" pitchFamily="18" charset="0"/>
                              </a:rPr>
                              <m:t>2</m:t>
                            </m:r>
                          </m:sub>
                        </m:sSub>
                      </m:oMath>
                    </m:oMathPara>
                  </a14:m>
                  <a:endParaRPr lang="fr-FR" sz="1200" dirty="0">
                    <a:effectLst/>
                    <a:ea typeface="MS Mincho" panose="02020609040205080304" pitchFamily="49" charset="-128"/>
                    <a:cs typeface="Times New Roman" panose="02020603050405020304" pitchFamily="18" charset="0"/>
                  </a:endParaRPr>
                </a:p>
              </p:txBody>
            </p:sp>
          </mc:Choice>
          <mc:Fallback xmlns="">
            <p:sp>
              <p:nvSpPr>
                <p:cNvPr id="89" name="Zone de texte 53">
                  <a:extLst>
                    <a:ext uri="{FF2B5EF4-FFF2-40B4-BE49-F238E27FC236}">
                      <a16:creationId xmlns:a16="http://schemas.microsoft.com/office/drawing/2014/main" id="{CB610300-DFB0-5B4F-B5A4-C4EF90D0FC37}"/>
                    </a:ext>
                  </a:extLst>
                </p:cNvPr>
                <p:cNvSpPr txBox="1">
                  <a:spLocks noRot="1" noChangeAspect="1" noMove="1" noResize="1" noEditPoints="1" noAdjustHandles="1" noChangeArrowheads="1" noChangeShapeType="1" noTextEdit="1"/>
                </p:cNvSpPr>
                <p:nvPr/>
              </p:nvSpPr>
              <p:spPr>
                <a:xfrm>
                  <a:off x="1578337" y="319702"/>
                  <a:ext cx="342265" cy="342265"/>
                </a:xfrm>
                <a:prstGeom prst="rect">
                  <a:avLst/>
                </a:prstGeom>
                <a:blipFill>
                  <a:blip r:embed="rId15"/>
                  <a:stretch>
                    <a:fillRect/>
                  </a:stretch>
                </a:blipFill>
                <a:ln>
                  <a:noFill/>
                </a:ln>
                <a:effectLst/>
                <a:extLst>
                  <a:ext uri="{C572A759-6A51-4108-AA02-DFA0A04FC94B}">
                    <ma14:wrappingTextBoxFlag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aink="http://schemas.microsoft.com/office/drawing/2016/ink" xmlns:am3d="http://schemas.microsoft.com/office/drawing/2017/model3d" xmlns:m="http://schemas.openxmlformats.org/officeDocument/2006/math" xmlns:wp14="http://schemas.microsoft.com/office/word/2010/wordprocessingDrawing" xmlns:wp="http://schemas.openxmlformats.org/drawingml/2006/wordprocessingDrawing" xmlns:w14="http://schemas.microsoft.com/office/word/2010/wordml" xmlns:w15="http://schemas.microsoft.com/office/word/2012/wordml" xmlns:w16cid="http://schemas.microsoft.com/office/word/2016/wordml/cid"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ma14="http://schemas.microsoft.com/office/mac/drawingml/2011/main" xmlns:w="http://schemas.openxmlformats.org/wordprocessingml/2006/main" xmlns:w10="urn:schemas-microsoft-com:office:word" xmlns:v="urn:schemas-microsoft-com:vml" xmlns:o="urn:schemas-microsoft-com:office:office" xmlns:mv="urn:schemas-microsoft-com:mac:vml" xmlns:mo="http://schemas.microsoft.com/office/mac/office/2008/main" xmlns="" xmlns:lc="http://schemas.openxmlformats.org/drawingml/2006/lockedCanvas"/>
                  </a:ext>
                </a:extLst>
              </p:spPr>
              <p:txBody>
                <a:bodyPr/>
                <a:lstStyle/>
                <a:p>
                  <a:r>
                    <a:rPr lang="fr-FR">
                      <a:noFill/>
                    </a:rPr>
                    <a:t> </a:t>
                  </a:r>
                </a:p>
              </p:txBody>
            </p:sp>
          </mc:Fallback>
        </mc:AlternateContent>
      </p:grpSp>
      <p:cxnSp>
        <p:nvCxnSpPr>
          <p:cNvPr id="91" name="Connecteur droit 90">
            <a:extLst>
              <a:ext uri="{FF2B5EF4-FFF2-40B4-BE49-F238E27FC236}">
                <a16:creationId xmlns:a16="http://schemas.microsoft.com/office/drawing/2014/main" id="{22D794EA-2581-694B-8B0F-F1D5D72EA3DE}"/>
              </a:ext>
            </a:extLst>
          </p:cNvPr>
          <p:cNvCxnSpPr/>
          <p:nvPr/>
        </p:nvCxnSpPr>
        <p:spPr>
          <a:xfrm>
            <a:off x="4660509" y="4360860"/>
            <a:ext cx="0" cy="18000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2" name="Connecteur droit 91">
            <a:extLst>
              <a:ext uri="{FF2B5EF4-FFF2-40B4-BE49-F238E27FC236}">
                <a16:creationId xmlns:a16="http://schemas.microsoft.com/office/drawing/2014/main" id="{EBB4D69B-110E-A247-8E91-F09F83E70CAC}"/>
              </a:ext>
            </a:extLst>
          </p:cNvPr>
          <p:cNvCxnSpPr>
            <a:cxnSpLocks/>
          </p:cNvCxnSpPr>
          <p:nvPr/>
        </p:nvCxnSpPr>
        <p:spPr>
          <a:xfrm rot="5400000">
            <a:off x="4668786" y="4369715"/>
            <a:ext cx="0" cy="18000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3" name="ZoneTexte 92">
                <a:extLst>
                  <a:ext uri="{FF2B5EF4-FFF2-40B4-BE49-F238E27FC236}">
                    <a16:creationId xmlns:a16="http://schemas.microsoft.com/office/drawing/2014/main" id="{0F875683-D077-2D45-9690-01CCAD182399}"/>
                  </a:ext>
                </a:extLst>
              </p:cNvPr>
              <p:cNvSpPr txBox="1"/>
              <p:nvPr/>
            </p:nvSpPr>
            <p:spPr>
              <a:xfrm>
                <a:off x="4185544" y="4366917"/>
                <a:ext cx="420019" cy="34297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600" b="0" i="1" smtClean="0">
                              <a:solidFill>
                                <a:srgbClr val="FF0000"/>
                              </a:solidFill>
                              <a:latin typeface="Cambria Math" panose="02040503050406030204" pitchFamily="18" charset="0"/>
                            </a:rPr>
                          </m:ctrlPr>
                        </m:sSupPr>
                        <m:e>
                          <m:r>
                            <a:rPr lang="fr-FR" sz="1600" b="1" i="0" smtClean="0">
                              <a:solidFill>
                                <a:srgbClr val="FF0000"/>
                              </a:solidFill>
                              <a:latin typeface="Cambria Math" panose="02040503050406030204" pitchFamily="18" charset="0"/>
                            </a:rPr>
                            <m:t>𝐱</m:t>
                          </m:r>
                        </m:e>
                        <m:sup>
                          <m:r>
                            <a:rPr lang="fr-FR" sz="1600" b="0" i="1" smtClean="0">
                              <a:solidFill>
                                <a:srgbClr val="FF0000"/>
                              </a:solidFill>
                              <a:latin typeface="Cambria Math" panose="02040503050406030204" pitchFamily="18" charset="0"/>
                            </a:rPr>
                            <m:t>𝑑</m:t>
                          </m:r>
                        </m:sup>
                      </m:sSup>
                    </m:oMath>
                  </m:oMathPara>
                </a14:m>
                <a:endParaRPr lang="fr-FR" sz="1600" dirty="0"/>
              </a:p>
            </p:txBody>
          </p:sp>
        </mc:Choice>
        <mc:Fallback xmlns="">
          <p:sp>
            <p:nvSpPr>
              <p:cNvPr id="93" name="ZoneTexte 92">
                <a:extLst>
                  <a:ext uri="{FF2B5EF4-FFF2-40B4-BE49-F238E27FC236}">
                    <a16:creationId xmlns:a16="http://schemas.microsoft.com/office/drawing/2014/main" id="{0F875683-D077-2D45-9690-01CCAD182399}"/>
                  </a:ext>
                </a:extLst>
              </p:cNvPr>
              <p:cNvSpPr txBox="1">
                <a:spLocks noRot="1" noChangeAspect="1" noMove="1" noResize="1" noEditPoints="1" noAdjustHandles="1" noChangeArrowheads="1" noChangeShapeType="1" noTextEdit="1"/>
              </p:cNvSpPr>
              <p:nvPr/>
            </p:nvSpPr>
            <p:spPr>
              <a:xfrm>
                <a:off x="4185544" y="4366917"/>
                <a:ext cx="420019" cy="342979"/>
              </a:xfrm>
              <a:prstGeom prst="rect">
                <a:avLst/>
              </a:prstGeom>
              <a:blipFill>
                <a:blip r:embed="rId1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2" name="ZoneTexte 51">
                <a:extLst>
                  <a:ext uri="{FF2B5EF4-FFF2-40B4-BE49-F238E27FC236}">
                    <a16:creationId xmlns:a16="http://schemas.microsoft.com/office/drawing/2014/main" id="{C6E22B28-7601-BE40-8510-764F539E690B}"/>
                  </a:ext>
                </a:extLst>
              </p:cNvPr>
              <p:cNvSpPr txBox="1"/>
              <p:nvPr/>
            </p:nvSpPr>
            <p:spPr>
              <a:xfrm>
                <a:off x="6587321" y="1155616"/>
                <a:ext cx="1448166" cy="5763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fr-FR" sz="1400" b="0" i="1" smtClean="0">
                              <a:latin typeface="Cambria Math" panose="02040503050406030204" pitchFamily="18" charset="0"/>
                            </a:rPr>
                          </m:ctrlPr>
                        </m:accPr>
                        <m:e>
                          <m:r>
                            <a:rPr lang="fr-FR" sz="1400" b="1" i="0" smtClean="0">
                              <a:latin typeface="Cambria Math" panose="02040503050406030204" pitchFamily="18" charset="0"/>
                            </a:rPr>
                            <m:t>𝐪</m:t>
                          </m:r>
                        </m:e>
                      </m:acc>
                      <m:r>
                        <a:rPr lang="fr-FR" sz="1400" b="0" i="1" smtClean="0">
                          <a:latin typeface="Cambria Math" panose="02040503050406030204" pitchFamily="18" charset="0"/>
                        </a:rPr>
                        <m:t>=</m:t>
                      </m:r>
                      <m:d>
                        <m:dPr>
                          <m:ctrlPr>
                            <a:rPr lang="fr-FR" sz="1400" b="0" i="1" smtClean="0">
                              <a:latin typeface="Cambria Math" panose="02040503050406030204" pitchFamily="18" charset="0"/>
                            </a:rPr>
                          </m:ctrlPr>
                        </m:dPr>
                        <m:e>
                          <m:eqArr>
                            <m:eqArrPr>
                              <m:ctrlPr>
                                <a:rPr lang="fr-FR" sz="1400" b="0" i="1" smtClean="0">
                                  <a:latin typeface="Cambria Math" panose="02040503050406030204" pitchFamily="18" charset="0"/>
                                </a:rPr>
                              </m:ctrlPr>
                            </m:eqArrPr>
                            <m:e>
                              <m:sSub>
                                <m:sSubPr>
                                  <m:ctrlPr>
                                    <a:rPr lang="fr-FR" sz="1400" b="0" i="1" smtClean="0">
                                      <a:latin typeface="Cambria Math" panose="02040503050406030204" pitchFamily="18" charset="0"/>
                                    </a:rPr>
                                  </m:ctrlPr>
                                </m:sSubPr>
                                <m:e>
                                  <m:acc>
                                    <m:accPr>
                                      <m:chr m:val="̇"/>
                                      <m:ctrlPr>
                                        <a:rPr lang="fr-FR" sz="1400" b="0" i="1" smtClean="0">
                                          <a:latin typeface="Cambria Math" panose="02040503050406030204" pitchFamily="18" charset="0"/>
                                        </a:rPr>
                                      </m:ctrlPr>
                                    </m:accPr>
                                    <m:e>
                                      <m:r>
                                        <a:rPr lang="fr-FR" sz="1400" i="1">
                                          <a:latin typeface="Cambria Math" panose="02040503050406030204" pitchFamily="18" charset="0"/>
                                          <a:ea typeface="Cambria Math" panose="02040503050406030204" pitchFamily="18" charset="0"/>
                                        </a:rPr>
                                        <m:t>𝜃</m:t>
                                      </m:r>
                                    </m:e>
                                  </m:acc>
                                </m:e>
                                <m:sub>
                                  <m:r>
                                    <a:rPr lang="fr-FR" sz="1400" b="0" i="1" smtClean="0">
                                      <a:latin typeface="Cambria Math" panose="02040503050406030204" pitchFamily="18" charset="0"/>
                                    </a:rPr>
                                    <m:t>1</m:t>
                                  </m:r>
                                </m:sub>
                              </m:sSub>
                            </m:e>
                            <m:e>
                              <m:sSub>
                                <m:sSubPr>
                                  <m:ctrlPr>
                                    <a:rPr lang="fr-FR" sz="1400" i="1">
                                      <a:latin typeface="Cambria Math" panose="02040503050406030204" pitchFamily="18" charset="0"/>
                                    </a:rPr>
                                  </m:ctrlPr>
                                </m:sSubPr>
                                <m:e>
                                  <m:acc>
                                    <m:accPr>
                                      <m:chr m:val="̇"/>
                                      <m:ctrlPr>
                                        <a:rPr lang="fr-FR" sz="1400" i="1">
                                          <a:latin typeface="Cambria Math" panose="02040503050406030204" pitchFamily="18" charset="0"/>
                                        </a:rPr>
                                      </m:ctrlPr>
                                    </m:accPr>
                                    <m:e>
                                      <m:r>
                                        <a:rPr lang="fr-FR" sz="1400" i="1">
                                          <a:latin typeface="Cambria Math" panose="02040503050406030204" pitchFamily="18" charset="0"/>
                                          <a:ea typeface="Cambria Math" panose="02040503050406030204" pitchFamily="18" charset="0"/>
                                        </a:rPr>
                                        <m:t>𝜃</m:t>
                                      </m:r>
                                    </m:e>
                                  </m:acc>
                                </m:e>
                                <m:sub>
                                  <m:r>
                                    <a:rPr lang="fr-FR" sz="1400" b="0" i="1" smtClean="0">
                                      <a:latin typeface="Cambria Math" panose="02040503050406030204" pitchFamily="18" charset="0"/>
                                      <a:ea typeface="Cambria Math" panose="02040503050406030204" pitchFamily="18" charset="0"/>
                                    </a:rPr>
                                    <m:t>2</m:t>
                                  </m:r>
                                </m:sub>
                              </m:sSub>
                            </m:e>
                          </m:eqArr>
                        </m:e>
                      </m:d>
                    </m:oMath>
                  </m:oMathPara>
                </a14:m>
                <a:endParaRPr lang="fr-FR" sz="1400" dirty="0"/>
              </a:p>
            </p:txBody>
          </p:sp>
        </mc:Choice>
        <mc:Fallback xmlns="">
          <p:sp>
            <p:nvSpPr>
              <p:cNvPr id="52" name="ZoneTexte 51">
                <a:extLst>
                  <a:ext uri="{FF2B5EF4-FFF2-40B4-BE49-F238E27FC236}">
                    <a16:creationId xmlns:a16="http://schemas.microsoft.com/office/drawing/2014/main" id="{C6E22B28-7601-BE40-8510-764F539E690B}"/>
                  </a:ext>
                </a:extLst>
              </p:cNvPr>
              <p:cNvSpPr txBox="1">
                <a:spLocks noRot="1" noChangeAspect="1" noMove="1" noResize="1" noEditPoints="1" noAdjustHandles="1" noChangeArrowheads="1" noChangeShapeType="1" noTextEdit="1"/>
              </p:cNvSpPr>
              <p:nvPr/>
            </p:nvSpPr>
            <p:spPr>
              <a:xfrm>
                <a:off x="6587321" y="1155616"/>
                <a:ext cx="1448166" cy="576376"/>
              </a:xfrm>
              <a:prstGeom prst="rect">
                <a:avLst/>
              </a:prstGeom>
              <a:blipFill>
                <a:blip r:embed="rId17"/>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49BB914C-0944-7443-A6A3-60F59A641E19}"/>
                  </a:ext>
                </a:extLst>
              </p:cNvPr>
              <p:cNvSpPr/>
              <p:nvPr/>
            </p:nvSpPr>
            <p:spPr>
              <a:xfrm>
                <a:off x="7712893" y="1678733"/>
                <a:ext cx="479376" cy="5322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14:m>
                  <m:oMathPara xmlns:m="http://schemas.openxmlformats.org/officeDocument/2006/math">
                    <m:oMathParaPr>
                      <m:jc m:val="centerGroup"/>
                    </m:oMathParaPr>
                    <m:oMath xmlns:m="http://schemas.openxmlformats.org/officeDocument/2006/math">
                      <m:f>
                        <m:fPr>
                          <m:ctrlPr>
                            <a:rPr lang="fr-FR" sz="1600" i="1" smtClean="0">
                              <a:solidFill>
                                <a:srgbClr val="000000"/>
                              </a:solidFill>
                              <a:effectLst/>
                              <a:latin typeface="Cambria Math" panose="02040503050406030204" pitchFamily="18" charset="0"/>
                              <a:cs typeface="Times New Roman" panose="02020603050405020304" pitchFamily="18" charset="0"/>
                            </a:rPr>
                          </m:ctrlPr>
                        </m:fPr>
                        <m:num>
                          <m:r>
                            <a:rPr lang="fr-FR" sz="1600" b="0" i="1" smtClean="0">
                              <a:solidFill>
                                <a:srgbClr val="000000"/>
                              </a:solidFill>
                              <a:effectLst/>
                              <a:latin typeface="Cambria Math" panose="02040503050406030204" pitchFamily="18" charset="0"/>
                              <a:cs typeface="Times New Roman" panose="02020603050405020304" pitchFamily="18" charset="0"/>
                            </a:rPr>
                            <m:t>1</m:t>
                          </m:r>
                        </m:num>
                        <m:den>
                          <m:r>
                            <a:rPr lang="fr-FR" sz="1600" b="0" i="1" smtClean="0">
                              <a:solidFill>
                                <a:srgbClr val="000000"/>
                              </a:solidFill>
                              <a:effectLst/>
                              <a:latin typeface="Cambria Math" panose="02040503050406030204" pitchFamily="18" charset="0"/>
                              <a:cs typeface="Times New Roman" panose="02020603050405020304" pitchFamily="18" charset="0"/>
                            </a:rPr>
                            <m:t>𝑠</m:t>
                          </m:r>
                        </m:den>
                      </m:f>
                    </m:oMath>
                  </m:oMathPara>
                </a14:m>
                <a:endParaRPr lang="fr-FR" sz="1600" dirty="0">
                  <a:effectLst/>
                  <a:ea typeface="Calibri" panose="020F0502020204030204" pitchFamily="34" charset="0"/>
                  <a:cs typeface="Times New Roman" panose="02020603050405020304" pitchFamily="18" charset="0"/>
                </a:endParaRPr>
              </a:p>
            </p:txBody>
          </p:sp>
        </mc:Choice>
        <mc:Fallback xmlns="">
          <p:sp>
            <p:nvSpPr>
              <p:cNvPr id="53" name="Rectangle 52">
                <a:extLst>
                  <a:ext uri="{FF2B5EF4-FFF2-40B4-BE49-F238E27FC236}">
                    <a16:creationId xmlns:a16="http://schemas.microsoft.com/office/drawing/2014/main" id="{49BB914C-0944-7443-A6A3-60F59A641E19}"/>
                  </a:ext>
                </a:extLst>
              </p:cNvPr>
              <p:cNvSpPr>
                <a:spLocks noRot="1" noChangeAspect="1" noMove="1" noResize="1" noEditPoints="1" noAdjustHandles="1" noChangeArrowheads="1" noChangeShapeType="1" noTextEdit="1"/>
              </p:cNvSpPr>
              <p:nvPr/>
            </p:nvSpPr>
            <p:spPr>
              <a:xfrm>
                <a:off x="7712893" y="1678733"/>
                <a:ext cx="479376" cy="532276"/>
              </a:xfrm>
              <a:prstGeom prst="rect">
                <a:avLst/>
              </a:prstGeom>
              <a:blipFill>
                <a:blip r:embed="rId18"/>
                <a:stretch>
                  <a:fillRect/>
                </a:stretch>
              </a:blipFill>
              <a:ln>
                <a:solidFill>
                  <a:schemeClr val="tx1"/>
                </a:solidFill>
              </a:ln>
            </p:spPr>
            <p:txBody>
              <a:bodyPr/>
              <a:lstStyle/>
              <a:p>
                <a:r>
                  <a:rPr lang="fr-FR">
                    <a:noFill/>
                  </a:rPr>
                  <a:t> </a:t>
                </a:r>
              </a:p>
            </p:txBody>
          </p:sp>
        </mc:Fallback>
      </mc:AlternateContent>
      <p:cxnSp>
        <p:nvCxnSpPr>
          <p:cNvPr id="56" name="Connecteur droit avec flèche 55">
            <a:extLst>
              <a:ext uri="{FF2B5EF4-FFF2-40B4-BE49-F238E27FC236}">
                <a16:creationId xmlns:a16="http://schemas.microsoft.com/office/drawing/2014/main" id="{398FAD6F-C42F-AD47-8082-E79BE6ECA41A}"/>
              </a:ext>
            </a:extLst>
          </p:cNvPr>
          <p:cNvCxnSpPr>
            <a:cxnSpLocks/>
            <a:stCxn id="7" idx="3"/>
            <a:endCxn id="53" idx="1"/>
          </p:cNvCxnSpPr>
          <p:nvPr/>
        </p:nvCxnSpPr>
        <p:spPr>
          <a:xfrm flipV="1">
            <a:off x="6945642" y="1944871"/>
            <a:ext cx="767251" cy="39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Titre 2">
            <a:extLst>
              <a:ext uri="{FF2B5EF4-FFF2-40B4-BE49-F238E27FC236}">
                <a16:creationId xmlns:a16="http://schemas.microsoft.com/office/drawing/2014/main" id="{1C1C631E-FF2F-A444-934C-352AC91FC355}"/>
              </a:ext>
            </a:extLst>
          </p:cNvPr>
          <p:cNvSpPr>
            <a:spLocks noGrp="1"/>
          </p:cNvSpPr>
          <p:nvPr>
            <p:ph type="title"/>
          </p:nvPr>
        </p:nvSpPr>
        <p:spPr>
          <a:xfrm>
            <a:off x="300790" y="0"/>
            <a:ext cx="8229600" cy="785812"/>
          </a:xfrm>
        </p:spPr>
        <p:txBody>
          <a:bodyPr/>
          <a:lstStyle/>
          <a:p>
            <a:r>
              <a:rPr lang="en-GB" dirty="0"/>
              <a:t>Position control</a:t>
            </a:r>
          </a:p>
        </p:txBody>
      </p:sp>
    </p:spTree>
    <p:extLst>
      <p:ext uri="{BB962C8B-B14F-4D97-AF65-F5344CB8AC3E}">
        <p14:creationId xmlns:p14="http://schemas.microsoft.com/office/powerpoint/2010/main" val="990991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9272E19A-250C-BD43-8A6A-F3B45093AA47}"/>
              </a:ext>
            </a:extLst>
          </p:cNvPr>
          <p:cNvSpPr>
            <a:spLocks noGrp="1"/>
          </p:cNvSpPr>
          <p:nvPr>
            <p:ph sz="quarter" idx="1"/>
          </p:nvPr>
        </p:nvSpPr>
        <p:spPr/>
        <p:txBody>
          <a:bodyPr/>
          <a:lstStyle/>
          <a:p>
            <a:r>
              <a:rPr lang="en-GB" dirty="0"/>
              <a:t>Inverse kinematics algorithm with Jacobian inverse (kinematic control)</a:t>
            </a:r>
          </a:p>
          <a:p>
            <a:endParaRPr lang="fr-FR" dirty="0"/>
          </a:p>
        </p:txBody>
      </p:sp>
      <mc:AlternateContent xmlns:mc="http://schemas.openxmlformats.org/markup-compatibility/2006" xmlns:a14="http://schemas.microsoft.com/office/drawing/2010/main">
        <mc:Choice Requires="a14">
          <p:sp>
            <p:nvSpPr>
              <p:cNvPr id="24" name="ZoneTexte 23">
                <a:extLst>
                  <a:ext uri="{FF2B5EF4-FFF2-40B4-BE49-F238E27FC236}">
                    <a16:creationId xmlns:a16="http://schemas.microsoft.com/office/drawing/2014/main" id="{855CA986-26BF-274C-8AEE-C5F77D33A341}"/>
                  </a:ext>
                </a:extLst>
              </p:cNvPr>
              <p:cNvSpPr txBox="1"/>
              <p:nvPr/>
            </p:nvSpPr>
            <p:spPr>
              <a:xfrm>
                <a:off x="1275050" y="3716809"/>
                <a:ext cx="1371595" cy="5041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1" i="0" smtClean="0">
                          <a:latin typeface="Cambria Math" panose="02040503050406030204" pitchFamily="18" charset="0"/>
                        </a:rPr>
                        <m:t>𝐱</m:t>
                      </m:r>
                      <m:r>
                        <a:rPr lang="fr-FR" sz="1600" b="0" i="1" smtClean="0">
                          <a:latin typeface="Cambria Math" panose="02040503050406030204" pitchFamily="18" charset="0"/>
                        </a:rPr>
                        <m:t>=</m:t>
                      </m:r>
                      <m:d>
                        <m:dPr>
                          <m:ctrlPr>
                            <a:rPr lang="fr-FR" sz="1600" b="0" i="1" smtClean="0">
                              <a:latin typeface="Cambria Math" panose="02040503050406030204" pitchFamily="18" charset="0"/>
                            </a:rPr>
                          </m:ctrlPr>
                        </m:dPr>
                        <m:e>
                          <m:eqArr>
                            <m:eqArrPr>
                              <m:ctrlPr>
                                <a:rPr lang="fr-FR" sz="1600" b="0" i="1" smtClean="0">
                                  <a:latin typeface="Cambria Math" panose="02040503050406030204" pitchFamily="18" charset="0"/>
                                </a:rPr>
                              </m:ctrlPr>
                            </m:eqArrPr>
                            <m:e>
                              <m:r>
                                <a:rPr lang="fr-FR" sz="1600" b="0" i="1" smtClean="0">
                                  <a:latin typeface="Cambria Math" panose="02040503050406030204" pitchFamily="18" charset="0"/>
                                </a:rPr>
                                <m:t>𝑥</m:t>
                              </m:r>
                            </m:e>
                            <m:e>
                              <m:r>
                                <a:rPr lang="fr-FR" sz="1600" b="0" i="1" smtClean="0">
                                  <a:latin typeface="Cambria Math" panose="02040503050406030204" pitchFamily="18" charset="0"/>
                                </a:rPr>
                                <m:t>𝑦</m:t>
                              </m:r>
                            </m:e>
                          </m:eqArr>
                        </m:e>
                      </m:d>
                    </m:oMath>
                  </m:oMathPara>
                </a14:m>
                <a:endParaRPr lang="fr-FR" sz="1600" dirty="0"/>
              </a:p>
            </p:txBody>
          </p:sp>
        </mc:Choice>
        <mc:Fallback xmlns="">
          <p:sp>
            <p:nvSpPr>
              <p:cNvPr id="24" name="ZoneTexte 23">
                <a:extLst>
                  <a:ext uri="{FF2B5EF4-FFF2-40B4-BE49-F238E27FC236}">
                    <a16:creationId xmlns:a16="http://schemas.microsoft.com/office/drawing/2014/main" id="{855CA986-26BF-274C-8AEE-C5F77D33A341}"/>
                  </a:ext>
                </a:extLst>
              </p:cNvPr>
              <p:cNvSpPr txBox="1">
                <a:spLocks noRot="1" noChangeAspect="1" noMove="1" noResize="1" noEditPoints="1" noAdjustHandles="1" noChangeArrowheads="1" noChangeShapeType="1" noTextEdit="1"/>
              </p:cNvSpPr>
              <p:nvPr/>
            </p:nvSpPr>
            <p:spPr>
              <a:xfrm>
                <a:off x="1275050" y="3716809"/>
                <a:ext cx="1371595" cy="504112"/>
              </a:xfrm>
              <a:prstGeom prst="rect">
                <a:avLst/>
              </a:prstGeom>
              <a:blipFill>
                <a:blip r:embed="rId2"/>
                <a:stretch>
                  <a:fillRect b="-5000"/>
                </a:stretch>
              </a:blipFill>
            </p:spPr>
            <p:txBody>
              <a:bodyPr/>
              <a:lstStyle/>
              <a:p>
                <a:r>
                  <a:rPr lang="fr-FR">
                    <a:noFill/>
                  </a:rPr>
                  <a:t> </a:t>
                </a:r>
              </a:p>
            </p:txBody>
          </p:sp>
        </mc:Fallback>
      </mc:AlternateContent>
      <p:sp>
        <p:nvSpPr>
          <p:cNvPr id="47" name="Rectangle 46">
            <a:extLst>
              <a:ext uri="{FF2B5EF4-FFF2-40B4-BE49-F238E27FC236}">
                <a16:creationId xmlns:a16="http://schemas.microsoft.com/office/drawing/2014/main" id="{A3978C7B-8A8A-164F-B858-3D710D4AC810}"/>
              </a:ext>
            </a:extLst>
          </p:cNvPr>
          <p:cNvSpPr/>
          <p:nvPr/>
        </p:nvSpPr>
        <p:spPr>
          <a:xfrm>
            <a:off x="5681948" y="1967357"/>
            <a:ext cx="1413743" cy="5133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1600" dirty="0">
                <a:solidFill>
                  <a:srgbClr val="000000"/>
                </a:solidFill>
                <a:ea typeface="Calibri" panose="020F0502020204030204" pitchFamily="34" charset="0"/>
                <a:cs typeface="Times New Roman" panose="02020603050405020304" pitchFamily="18" charset="0"/>
              </a:rPr>
              <a:t>motors</a:t>
            </a:r>
            <a:endParaRPr lang="en-GB" sz="1600" dirty="0">
              <a:effectLst/>
              <a:ea typeface="Calibri" panose="020F0502020204030204" pitchFamily="34" charset="0"/>
              <a:cs typeface="Times New Roman" panose="02020603050405020304" pitchFamily="18" charset="0"/>
            </a:endParaRPr>
          </a:p>
        </p:txBody>
      </p:sp>
      <p:cxnSp>
        <p:nvCxnSpPr>
          <p:cNvPr id="48" name="Connecteur droit avec flèche 47">
            <a:extLst>
              <a:ext uri="{FF2B5EF4-FFF2-40B4-BE49-F238E27FC236}">
                <a16:creationId xmlns:a16="http://schemas.microsoft.com/office/drawing/2014/main" id="{49F9608A-DCC1-A642-950C-7F024F58104C}"/>
              </a:ext>
            </a:extLst>
          </p:cNvPr>
          <p:cNvCxnSpPr>
            <a:cxnSpLocks/>
            <a:endCxn id="47" idx="1"/>
          </p:cNvCxnSpPr>
          <p:nvPr/>
        </p:nvCxnSpPr>
        <p:spPr>
          <a:xfrm>
            <a:off x="5214551" y="2222342"/>
            <a:ext cx="467397" cy="16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589F1376-39E3-E747-B6A2-BBB668F688E4}"/>
              </a:ext>
            </a:extLst>
          </p:cNvPr>
          <p:cNvCxnSpPr>
            <a:cxnSpLocks/>
          </p:cNvCxnSpPr>
          <p:nvPr/>
        </p:nvCxnSpPr>
        <p:spPr>
          <a:xfrm flipV="1">
            <a:off x="7867038" y="2222342"/>
            <a:ext cx="70555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ZoneTexte 49">
                <a:extLst>
                  <a:ext uri="{FF2B5EF4-FFF2-40B4-BE49-F238E27FC236}">
                    <a16:creationId xmlns:a16="http://schemas.microsoft.com/office/drawing/2014/main" id="{E25EA3F5-F1BB-0841-9E24-2599B03C91D8}"/>
                  </a:ext>
                </a:extLst>
              </p:cNvPr>
              <p:cNvSpPr txBox="1"/>
              <p:nvPr/>
            </p:nvSpPr>
            <p:spPr>
              <a:xfrm>
                <a:off x="5099279" y="1813964"/>
                <a:ext cx="601289" cy="31757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400" b="0" i="1" smtClean="0">
                              <a:latin typeface="Cambria Math" panose="02040503050406030204" pitchFamily="18" charset="0"/>
                            </a:rPr>
                          </m:ctrlPr>
                        </m:sSupPr>
                        <m:e>
                          <m:acc>
                            <m:accPr>
                              <m:chr m:val="̇"/>
                              <m:ctrlPr>
                                <a:rPr lang="fr-FR" sz="1400" b="0" i="1" smtClean="0">
                                  <a:latin typeface="Cambria Math" panose="02040503050406030204" pitchFamily="18" charset="0"/>
                                </a:rPr>
                              </m:ctrlPr>
                            </m:accPr>
                            <m:e>
                              <m:r>
                                <a:rPr lang="fr-FR" sz="1400" b="1" i="0" smtClean="0">
                                  <a:latin typeface="Cambria Math" panose="02040503050406030204" pitchFamily="18" charset="0"/>
                                </a:rPr>
                                <m:t>𝐪</m:t>
                              </m:r>
                            </m:e>
                          </m:acc>
                        </m:e>
                        <m:sup>
                          <m:r>
                            <a:rPr lang="fr-FR" sz="1400" b="0" i="1" smtClean="0">
                              <a:latin typeface="Cambria Math" panose="02040503050406030204" pitchFamily="18" charset="0"/>
                            </a:rPr>
                            <m:t>𝑑</m:t>
                          </m:r>
                        </m:sup>
                      </m:sSup>
                    </m:oMath>
                  </m:oMathPara>
                </a14:m>
                <a:endParaRPr lang="fr-FR" sz="1400" dirty="0"/>
              </a:p>
            </p:txBody>
          </p:sp>
        </mc:Choice>
        <mc:Fallback xmlns="">
          <p:sp>
            <p:nvSpPr>
              <p:cNvPr id="50" name="ZoneTexte 49">
                <a:extLst>
                  <a:ext uri="{FF2B5EF4-FFF2-40B4-BE49-F238E27FC236}">
                    <a16:creationId xmlns:a16="http://schemas.microsoft.com/office/drawing/2014/main" id="{E25EA3F5-F1BB-0841-9E24-2599B03C91D8}"/>
                  </a:ext>
                </a:extLst>
              </p:cNvPr>
              <p:cNvSpPr txBox="1">
                <a:spLocks noRot="1" noChangeAspect="1" noMove="1" noResize="1" noEditPoints="1" noAdjustHandles="1" noChangeArrowheads="1" noChangeShapeType="1" noTextEdit="1"/>
              </p:cNvSpPr>
              <p:nvPr/>
            </p:nvSpPr>
            <p:spPr>
              <a:xfrm>
                <a:off x="5099279" y="1813964"/>
                <a:ext cx="601289" cy="317578"/>
              </a:xfrm>
              <a:prstGeom prst="rect">
                <a:avLst/>
              </a:prstGeom>
              <a:blipFill>
                <a:blip r:embed="rId3"/>
                <a:stretch>
                  <a:fillRect b="-4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1" name="ZoneTexte 50">
                <a:extLst>
                  <a:ext uri="{FF2B5EF4-FFF2-40B4-BE49-F238E27FC236}">
                    <a16:creationId xmlns:a16="http://schemas.microsoft.com/office/drawing/2014/main" id="{89909ACC-4E03-E648-B884-3F095FEDF0E3}"/>
                  </a:ext>
                </a:extLst>
              </p:cNvPr>
              <p:cNvSpPr txBox="1"/>
              <p:nvPr/>
            </p:nvSpPr>
            <p:spPr>
              <a:xfrm>
                <a:off x="7727338" y="1604345"/>
                <a:ext cx="1448166" cy="5525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1" i="0" smtClean="0">
                          <a:latin typeface="Cambria Math" panose="02040503050406030204" pitchFamily="18" charset="0"/>
                        </a:rPr>
                        <m:t>𝐪</m:t>
                      </m:r>
                      <m:r>
                        <a:rPr lang="fr-FR" sz="1600" b="0" i="1" smtClean="0">
                          <a:latin typeface="Cambria Math" panose="02040503050406030204" pitchFamily="18" charset="0"/>
                        </a:rPr>
                        <m:t>=</m:t>
                      </m:r>
                      <m:d>
                        <m:dPr>
                          <m:ctrlPr>
                            <a:rPr lang="fr-FR" sz="1600" b="0" i="1" smtClean="0">
                              <a:latin typeface="Cambria Math" panose="02040503050406030204" pitchFamily="18" charset="0"/>
                            </a:rPr>
                          </m:ctrlPr>
                        </m:dPr>
                        <m:e>
                          <m:eqArr>
                            <m:eqArrPr>
                              <m:ctrlPr>
                                <a:rPr lang="fr-FR" sz="1600" b="0" i="1" smtClean="0">
                                  <a:latin typeface="Cambria Math" panose="02040503050406030204" pitchFamily="18" charset="0"/>
                                </a:rPr>
                              </m:ctrlPr>
                            </m:eqArrPr>
                            <m:e>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𝜃</m:t>
                                  </m:r>
                                </m:e>
                                <m:sub>
                                  <m:r>
                                    <a:rPr lang="fr-FR" sz="1600" b="0" i="1" smtClean="0">
                                      <a:latin typeface="Cambria Math" panose="02040503050406030204" pitchFamily="18" charset="0"/>
                                    </a:rPr>
                                    <m:t>1</m:t>
                                  </m:r>
                                </m:sub>
                              </m:sSub>
                            </m:e>
                            <m:e>
                              <m:sSub>
                                <m:sSubPr>
                                  <m:ctrlPr>
                                    <a:rPr lang="fr-FR" sz="1600" i="1" smtClean="0">
                                      <a:latin typeface="Cambria Math" panose="02040503050406030204" pitchFamily="18" charset="0"/>
                                    </a:rPr>
                                  </m:ctrlPr>
                                </m:sSubPr>
                                <m:e>
                                  <m:r>
                                    <a:rPr lang="fr-FR" sz="1600" i="1" smtClean="0">
                                      <a:latin typeface="Cambria Math" panose="02040503050406030204" pitchFamily="18" charset="0"/>
                                      <a:ea typeface="Cambria Math" panose="02040503050406030204" pitchFamily="18" charset="0"/>
                                    </a:rPr>
                                    <m:t>𝜃</m:t>
                                  </m:r>
                                </m:e>
                                <m:sub>
                                  <m:r>
                                    <a:rPr lang="fr-FR" sz="1600" b="0" i="1" smtClean="0">
                                      <a:latin typeface="Cambria Math" panose="02040503050406030204" pitchFamily="18" charset="0"/>
                                    </a:rPr>
                                    <m:t>2</m:t>
                                  </m:r>
                                </m:sub>
                              </m:sSub>
                            </m:e>
                          </m:eqArr>
                        </m:e>
                      </m:d>
                    </m:oMath>
                  </m:oMathPara>
                </a14:m>
                <a:endParaRPr lang="fr-FR" sz="1600" dirty="0"/>
              </a:p>
            </p:txBody>
          </p:sp>
        </mc:Choice>
        <mc:Fallback xmlns="">
          <p:sp>
            <p:nvSpPr>
              <p:cNvPr id="51" name="ZoneTexte 50">
                <a:extLst>
                  <a:ext uri="{FF2B5EF4-FFF2-40B4-BE49-F238E27FC236}">
                    <a16:creationId xmlns:a16="http://schemas.microsoft.com/office/drawing/2014/main" id="{89909ACC-4E03-E648-B884-3F095FEDF0E3}"/>
                  </a:ext>
                </a:extLst>
              </p:cNvPr>
              <p:cNvSpPr txBox="1">
                <a:spLocks noRot="1" noChangeAspect="1" noMove="1" noResize="1" noEditPoints="1" noAdjustHandles="1" noChangeArrowheads="1" noChangeShapeType="1" noTextEdit="1"/>
              </p:cNvSpPr>
              <p:nvPr/>
            </p:nvSpPr>
            <p:spPr>
              <a:xfrm>
                <a:off x="7727338" y="1604345"/>
                <a:ext cx="1448166" cy="552587"/>
              </a:xfrm>
              <a:prstGeom prst="rect">
                <a:avLst/>
              </a:prstGeom>
              <a:blipFill>
                <a:blip r:embed="rId4"/>
                <a:stretch>
                  <a:fillRect/>
                </a:stretch>
              </a:blipFill>
            </p:spPr>
            <p:txBody>
              <a:bodyPr/>
              <a:lstStyle/>
              <a:p>
                <a:r>
                  <a:rPr lang="fr-FR">
                    <a:noFill/>
                  </a:rPr>
                  <a:t> </a:t>
                </a:r>
              </a:p>
            </p:txBody>
          </p:sp>
        </mc:Fallback>
      </mc:AlternateContent>
      <p:cxnSp>
        <p:nvCxnSpPr>
          <p:cNvPr id="52" name="Connecteur droit avec flèche 51">
            <a:extLst>
              <a:ext uri="{FF2B5EF4-FFF2-40B4-BE49-F238E27FC236}">
                <a16:creationId xmlns:a16="http://schemas.microsoft.com/office/drawing/2014/main" id="{62157A06-B766-8049-8B6B-A91047F34680}"/>
              </a:ext>
            </a:extLst>
          </p:cNvPr>
          <p:cNvCxnSpPr>
            <a:cxnSpLocks/>
            <a:stCxn id="54" idx="3"/>
          </p:cNvCxnSpPr>
          <p:nvPr/>
        </p:nvCxnSpPr>
        <p:spPr>
          <a:xfrm>
            <a:off x="3466716" y="2251186"/>
            <a:ext cx="528138"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53" name="Ellipse 52">
            <a:extLst>
              <a:ext uri="{FF2B5EF4-FFF2-40B4-BE49-F238E27FC236}">
                <a16:creationId xmlns:a16="http://schemas.microsoft.com/office/drawing/2014/main" id="{5B223AE1-C221-E349-9D80-4F420CC8F656}"/>
              </a:ext>
            </a:extLst>
          </p:cNvPr>
          <p:cNvSpPr/>
          <p:nvPr/>
        </p:nvSpPr>
        <p:spPr>
          <a:xfrm>
            <a:off x="1136030" y="2111380"/>
            <a:ext cx="280936" cy="28077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54" name="Rectangle 53">
            <a:extLst>
              <a:ext uri="{FF2B5EF4-FFF2-40B4-BE49-F238E27FC236}">
                <a16:creationId xmlns:a16="http://schemas.microsoft.com/office/drawing/2014/main" id="{BE49881E-2935-A542-B034-D04050EC6C34}"/>
              </a:ext>
            </a:extLst>
          </p:cNvPr>
          <p:cNvSpPr/>
          <p:nvPr/>
        </p:nvSpPr>
        <p:spPr>
          <a:xfrm>
            <a:off x="2095121" y="1985047"/>
            <a:ext cx="1371595" cy="5322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fr-FR" sz="1600" dirty="0">
                <a:solidFill>
                  <a:schemeClr val="tx1"/>
                </a:solidFill>
                <a:ea typeface="Calibri" panose="020F0502020204030204" pitchFamily="34" charset="0"/>
                <a:cs typeface="Times New Roman" panose="02020603050405020304" pitchFamily="18" charset="0"/>
              </a:rPr>
              <a:t>???</a:t>
            </a:r>
            <a:endParaRPr lang="fr-FR" sz="1600" dirty="0">
              <a:solidFill>
                <a:schemeClr val="tx1"/>
              </a:solidFill>
              <a:effectLst/>
              <a:ea typeface="Calibri" panose="020F0502020204030204" pitchFamily="34" charset="0"/>
              <a:cs typeface="Times New Roman" panose="02020603050405020304" pitchFamily="18" charset="0"/>
            </a:endParaRPr>
          </a:p>
        </p:txBody>
      </p:sp>
      <p:cxnSp>
        <p:nvCxnSpPr>
          <p:cNvPr id="55" name="Connecteur droit avec flèche 54">
            <a:extLst>
              <a:ext uri="{FF2B5EF4-FFF2-40B4-BE49-F238E27FC236}">
                <a16:creationId xmlns:a16="http://schemas.microsoft.com/office/drawing/2014/main" id="{D90DE518-FE47-6B4B-8288-33EC61662D0A}"/>
              </a:ext>
            </a:extLst>
          </p:cNvPr>
          <p:cNvCxnSpPr/>
          <p:nvPr/>
        </p:nvCxnSpPr>
        <p:spPr>
          <a:xfrm>
            <a:off x="1416966" y="2246311"/>
            <a:ext cx="648001"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56" name="Connecteur droit avec flèche 55">
            <a:extLst>
              <a:ext uri="{FF2B5EF4-FFF2-40B4-BE49-F238E27FC236}">
                <a16:creationId xmlns:a16="http://schemas.microsoft.com/office/drawing/2014/main" id="{055279B5-75D3-3A4A-8AD8-87B48AF5D247}"/>
              </a:ext>
            </a:extLst>
          </p:cNvPr>
          <p:cNvCxnSpPr/>
          <p:nvPr/>
        </p:nvCxnSpPr>
        <p:spPr>
          <a:xfrm>
            <a:off x="183546" y="2246311"/>
            <a:ext cx="900000"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57" name="Connecteur droit avec flèche 56">
            <a:extLst>
              <a:ext uri="{FF2B5EF4-FFF2-40B4-BE49-F238E27FC236}">
                <a16:creationId xmlns:a16="http://schemas.microsoft.com/office/drawing/2014/main" id="{8FB35E8F-39BA-6C4F-B741-95D2E97ECE57}"/>
              </a:ext>
            </a:extLst>
          </p:cNvPr>
          <p:cNvCxnSpPr/>
          <p:nvPr/>
        </p:nvCxnSpPr>
        <p:spPr>
          <a:xfrm flipV="1">
            <a:off x="1280965" y="2391163"/>
            <a:ext cx="0" cy="129600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11B0AD92-D138-A849-90F8-59528BBDCD36}"/>
              </a:ext>
            </a:extLst>
          </p:cNvPr>
          <p:cNvCxnSpPr>
            <a:cxnSpLocks/>
          </p:cNvCxnSpPr>
          <p:nvPr/>
        </p:nvCxnSpPr>
        <p:spPr>
          <a:xfrm flipV="1">
            <a:off x="8134608" y="2233247"/>
            <a:ext cx="0" cy="145399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Zone de texte 2">
                <a:extLst>
                  <a:ext uri="{FF2B5EF4-FFF2-40B4-BE49-F238E27FC236}">
                    <a16:creationId xmlns:a16="http://schemas.microsoft.com/office/drawing/2014/main" id="{3D20CFBB-D786-6E49-A580-48233990A544}"/>
                  </a:ext>
                </a:extLst>
              </p:cNvPr>
              <p:cNvSpPr txBox="1">
                <a:spLocks noChangeArrowheads="1"/>
              </p:cNvSpPr>
              <p:nvPr/>
            </p:nvSpPr>
            <p:spPr bwMode="auto">
              <a:xfrm>
                <a:off x="1161989" y="2352586"/>
                <a:ext cx="505289" cy="368084"/>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r>
                        <a:rPr lang="fr-FR" sz="11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9" name="Zone de texte 2">
                <a:extLst>
                  <a:ext uri="{FF2B5EF4-FFF2-40B4-BE49-F238E27FC236}">
                    <a16:creationId xmlns:a16="http://schemas.microsoft.com/office/drawing/2014/main" id="{3D20CFBB-D786-6E49-A580-48233990A544}"/>
                  </a:ext>
                </a:extLst>
              </p:cNvPr>
              <p:cNvSpPr txBox="1">
                <a:spLocks noRot="1" noChangeAspect="1" noMove="1" noResize="1" noEditPoints="1" noAdjustHandles="1" noChangeArrowheads="1" noChangeShapeType="1" noTextEdit="1"/>
              </p:cNvSpPr>
              <p:nvPr/>
            </p:nvSpPr>
            <p:spPr bwMode="auto">
              <a:xfrm>
                <a:off x="1161989" y="2352586"/>
                <a:ext cx="505289" cy="368084"/>
              </a:xfrm>
              <a:prstGeom prst="rect">
                <a:avLst/>
              </a:prstGeom>
              <a:blipFill>
                <a:blip r:embed="rId5"/>
                <a:stretch>
                  <a:fillRect/>
                </a:stretch>
              </a:blipFill>
              <a:ln w="9525">
                <a:noFill/>
                <a:miter lim="800000"/>
                <a:headEnd/>
                <a:tailEnd/>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0" name="Zone de texte 2">
                <a:extLst>
                  <a:ext uri="{FF2B5EF4-FFF2-40B4-BE49-F238E27FC236}">
                    <a16:creationId xmlns:a16="http://schemas.microsoft.com/office/drawing/2014/main" id="{E687BB01-67BF-9648-B3B0-5163E23C0C6B}"/>
                  </a:ext>
                </a:extLst>
              </p:cNvPr>
              <p:cNvSpPr txBox="1">
                <a:spLocks noChangeArrowheads="1"/>
              </p:cNvSpPr>
              <p:nvPr/>
            </p:nvSpPr>
            <p:spPr bwMode="auto">
              <a:xfrm>
                <a:off x="746959" y="2203318"/>
                <a:ext cx="506281" cy="369076"/>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r>
                        <a:rPr lang="fr-FR" sz="11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0" name="Zone de texte 2">
                <a:extLst>
                  <a:ext uri="{FF2B5EF4-FFF2-40B4-BE49-F238E27FC236}">
                    <a16:creationId xmlns:a16="http://schemas.microsoft.com/office/drawing/2014/main" id="{E687BB01-67BF-9648-B3B0-5163E23C0C6B}"/>
                  </a:ext>
                </a:extLst>
              </p:cNvPr>
              <p:cNvSpPr txBox="1">
                <a:spLocks noRot="1" noChangeAspect="1" noMove="1" noResize="1" noEditPoints="1" noAdjustHandles="1" noChangeArrowheads="1" noChangeShapeType="1" noTextEdit="1"/>
              </p:cNvSpPr>
              <p:nvPr/>
            </p:nvSpPr>
            <p:spPr bwMode="auto">
              <a:xfrm>
                <a:off x="746959" y="2203318"/>
                <a:ext cx="506281" cy="369076"/>
              </a:xfrm>
              <a:prstGeom prst="rect">
                <a:avLst/>
              </a:prstGeom>
              <a:blipFill>
                <a:blip r:embed="rId6"/>
                <a:stretch>
                  <a:fillRect/>
                </a:stretch>
              </a:blipFill>
              <a:ln w="9525">
                <a:noFill/>
                <a:miter lim="800000"/>
                <a:headEnd/>
                <a:tailEnd/>
              </a:ln>
            </p:spPr>
            <p:txBody>
              <a:bodyPr/>
              <a:lstStyle/>
              <a:p>
                <a:r>
                  <a:rPr lang="fr-FR">
                    <a:noFill/>
                  </a:rPr>
                  <a:t> </a:t>
                </a:r>
              </a:p>
            </p:txBody>
          </p:sp>
        </mc:Fallback>
      </mc:AlternateContent>
      <p:cxnSp>
        <p:nvCxnSpPr>
          <p:cNvPr id="61" name="Connecteur droit avec flèche 60">
            <a:extLst>
              <a:ext uri="{FF2B5EF4-FFF2-40B4-BE49-F238E27FC236}">
                <a16:creationId xmlns:a16="http://schemas.microsoft.com/office/drawing/2014/main" id="{D4213EF7-A03F-FD41-915A-B2589B48168F}"/>
              </a:ext>
            </a:extLst>
          </p:cNvPr>
          <p:cNvCxnSpPr>
            <a:cxnSpLocks/>
          </p:cNvCxnSpPr>
          <p:nvPr/>
        </p:nvCxnSpPr>
        <p:spPr>
          <a:xfrm flipV="1">
            <a:off x="4946285" y="3686403"/>
            <a:ext cx="3175260" cy="429"/>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ZoneTexte 61">
                <a:extLst>
                  <a:ext uri="{FF2B5EF4-FFF2-40B4-BE49-F238E27FC236}">
                    <a16:creationId xmlns:a16="http://schemas.microsoft.com/office/drawing/2014/main" id="{7924D3D7-5890-E948-A2DF-038DA5FF5162}"/>
                  </a:ext>
                </a:extLst>
              </p:cNvPr>
              <p:cNvSpPr txBox="1"/>
              <p:nvPr/>
            </p:nvSpPr>
            <p:spPr>
              <a:xfrm>
                <a:off x="0" y="1630940"/>
                <a:ext cx="1371595" cy="58310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600" b="0" i="1" smtClean="0">
                              <a:latin typeface="Cambria Math" panose="02040503050406030204" pitchFamily="18" charset="0"/>
                            </a:rPr>
                          </m:ctrlPr>
                        </m:sSupPr>
                        <m:e>
                          <m:r>
                            <a:rPr lang="fr-FR" sz="1600" b="1" i="0" smtClean="0">
                              <a:latin typeface="Cambria Math" panose="02040503050406030204" pitchFamily="18" charset="0"/>
                            </a:rPr>
                            <m:t>𝐱</m:t>
                          </m:r>
                        </m:e>
                        <m:sup>
                          <m:r>
                            <a:rPr lang="fr-FR" sz="1600" b="0" i="1" smtClean="0">
                              <a:latin typeface="Cambria Math" panose="02040503050406030204" pitchFamily="18" charset="0"/>
                            </a:rPr>
                            <m:t>𝑑</m:t>
                          </m:r>
                        </m:sup>
                      </m:sSup>
                      <m:r>
                        <a:rPr lang="fr-FR" sz="1600" b="0" i="1" smtClean="0">
                          <a:latin typeface="Cambria Math" panose="02040503050406030204" pitchFamily="18" charset="0"/>
                        </a:rPr>
                        <m:t>=</m:t>
                      </m:r>
                      <m:d>
                        <m:dPr>
                          <m:ctrlPr>
                            <a:rPr lang="fr-FR" sz="1600" b="0" i="1" smtClean="0">
                              <a:latin typeface="Cambria Math" panose="02040503050406030204" pitchFamily="18" charset="0"/>
                            </a:rPr>
                          </m:ctrlPr>
                        </m:dPr>
                        <m:e>
                          <m:eqArr>
                            <m:eqArrPr>
                              <m:ctrlPr>
                                <a:rPr lang="fr-FR" sz="1600" b="0" i="1" smtClean="0">
                                  <a:latin typeface="Cambria Math" panose="02040503050406030204" pitchFamily="18" charset="0"/>
                                </a:rPr>
                              </m:ctrlPr>
                            </m:eqArrPr>
                            <m:e>
                              <m:sSup>
                                <m:sSupPr>
                                  <m:ctrlPr>
                                    <a:rPr lang="fr-FR" sz="1600" i="1">
                                      <a:latin typeface="Cambria Math" panose="02040503050406030204" pitchFamily="18" charset="0"/>
                                      <a:cs typeface="Times New Roman" panose="02020603050405020304" pitchFamily="18" charset="0"/>
                                    </a:rPr>
                                  </m:ctrlPr>
                                </m:sSupPr>
                                <m:e>
                                  <m:r>
                                    <a:rPr lang="fr-FR" sz="1600" b="0" i="1" smtClean="0">
                                      <a:latin typeface="Cambria Math" panose="02040503050406030204" pitchFamily="18" charset="0"/>
                                      <a:cs typeface="Times New Roman" panose="02020603050405020304" pitchFamily="18" charset="0"/>
                                    </a:rPr>
                                    <m:t>𝑥</m:t>
                                  </m:r>
                                </m:e>
                                <m:sup>
                                  <m:r>
                                    <a:rPr lang="fr-FR" sz="1600" i="1">
                                      <a:latin typeface="Cambria Math" panose="02040503050406030204" pitchFamily="18" charset="0"/>
                                      <a:cs typeface="Times New Roman" panose="02020603050405020304" pitchFamily="18" charset="0"/>
                                    </a:rPr>
                                    <m:t>𝑑</m:t>
                                  </m:r>
                                </m:sup>
                              </m:sSup>
                            </m:e>
                            <m:e>
                              <m:sSup>
                                <m:sSupPr>
                                  <m:ctrlPr>
                                    <a:rPr lang="fr-FR" sz="1600" i="1">
                                      <a:latin typeface="Cambria Math" panose="02040503050406030204" pitchFamily="18" charset="0"/>
                                      <a:cs typeface="Times New Roman" panose="02020603050405020304" pitchFamily="18" charset="0"/>
                                    </a:rPr>
                                  </m:ctrlPr>
                                </m:sSupPr>
                                <m:e>
                                  <m:r>
                                    <a:rPr lang="fr-FR" sz="1600" b="0" i="1" smtClean="0">
                                      <a:latin typeface="Cambria Math" panose="02040503050406030204" pitchFamily="18" charset="0"/>
                                      <a:cs typeface="Times New Roman" panose="02020603050405020304" pitchFamily="18" charset="0"/>
                                    </a:rPr>
                                    <m:t>𝑦</m:t>
                                  </m:r>
                                </m:e>
                                <m:sup>
                                  <m:r>
                                    <a:rPr lang="fr-FR" sz="1600" i="1">
                                      <a:latin typeface="Cambria Math" panose="02040503050406030204" pitchFamily="18" charset="0"/>
                                      <a:cs typeface="Times New Roman" panose="02020603050405020304" pitchFamily="18" charset="0"/>
                                    </a:rPr>
                                    <m:t>𝑑</m:t>
                                  </m:r>
                                </m:sup>
                              </m:sSup>
                            </m:e>
                          </m:eqArr>
                        </m:e>
                      </m:d>
                    </m:oMath>
                  </m:oMathPara>
                </a14:m>
                <a:endParaRPr lang="fr-FR" sz="1600" dirty="0"/>
              </a:p>
            </p:txBody>
          </p:sp>
        </mc:Choice>
        <mc:Fallback xmlns="">
          <p:sp>
            <p:nvSpPr>
              <p:cNvPr id="62" name="ZoneTexte 61">
                <a:extLst>
                  <a:ext uri="{FF2B5EF4-FFF2-40B4-BE49-F238E27FC236}">
                    <a16:creationId xmlns:a16="http://schemas.microsoft.com/office/drawing/2014/main" id="{7924D3D7-5890-E948-A2DF-038DA5FF5162}"/>
                  </a:ext>
                </a:extLst>
              </p:cNvPr>
              <p:cNvSpPr txBox="1">
                <a:spLocks noRot="1" noChangeAspect="1" noMove="1" noResize="1" noEditPoints="1" noAdjustHandles="1" noChangeArrowheads="1" noChangeShapeType="1" noTextEdit="1"/>
              </p:cNvSpPr>
              <p:nvPr/>
            </p:nvSpPr>
            <p:spPr>
              <a:xfrm>
                <a:off x="0" y="1630940"/>
                <a:ext cx="1371595" cy="583108"/>
              </a:xfrm>
              <a:prstGeom prst="rect">
                <a:avLst/>
              </a:prstGeom>
              <a:blipFill>
                <a:blip r:embed="rId7"/>
                <a:stretch>
                  <a:fillRect b="-2128"/>
                </a:stretch>
              </a:blipFill>
            </p:spPr>
            <p:txBody>
              <a:bodyPr/>
              <a:lstStyle/>
              <a:p>
                <a:r>
                  <a:rPr lang="fr-FR">
                    <a:noFill/>
                  </a:rPr>
                  <a:t> </a:t>
                </a:r>
              </a:p>
            </p:txBody>
          </p:sp>
        </mc:Fallback>
      </mc:AlternateContent>
      <p:sp>
        <p:nvSpPr>
          <p:cNvPr id="63" name="Rectangle 62">
            <a:extLst>
              <a:ext uri="{FF2B5EF4-FFF2-40B4-BE49-F238E27FC236}">
                <a16:creationId xmlns:a16="http://schemas.microsoft.com/office/drawing/2014/main" id="{D744B58C-D696-C34D-9776-8B90D6387CA6}"/>
              </a:ext>
            </a:extLst>
          </p:cNvPr>
          <p:cNvSpPr/>
          <p:nvPr/>
        </p:nvSpPr>
        <p:spPr>
          <a:xfrm>
            <a:off x="3910175" y="3429722"/>
            <a:ext cx="1047307" cy="5133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fr-FR" sz="1600" dirty="0">
                <a:solidFill>
                  <a:srgbClr val="FF0000"/>
                </a:solidFill>
                <a:effectLst/>
                <a:ea typeface="Calibri" panose="020F0502020204030204" pitchFamily="34" charset="0"/>
                <a:cs typeface="Times New Roman" panose="02020603050405020304" pitchFamily="18" charset="0"/>
              </a:rPr>
              <a:t>DKM</a:t>
            </a:r>
          </a:p>
        </p:txBody>
      </p:sp>
      <p:cxnSp>
        <p:nvCxnSpPr>
          <p:cNvPr id="64" name="Connecteur droit avec flèche 63">
            <a:extLst>
              <a:ext uri="{FF2B5EF4-FFF2-40B4-BE49-F238E27FC236}">
                <a16:creationId xmlns:a16="http://schemas.microsoft.com/office/drawing/2014/main" id="{4FF68179-31BA-4647-B382-D6F1E18D1FF1}"/>
              </a:ext>
            </a:extLst>
          </p:cNvPr>
          <p:cNvCxnSpPr>
            <a:cxnSpLocks/>
            <a:endCxn id="63" idx="1"/>
          </p:cNvCxnSpPr>
          <p:nvPr/>
        </p:nvCxnSpPr>
        <p:spPr>
          <a:xfrm>
            <a:off x="1275050" y="3680181"/>
            <a:ext cx="2635125"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F78B7C64-D3AD-0F44-8320-233FEB139031}"/>
              </a:ext>
            </a:extLst>
          </p:cNvPr>
          <p:cNvSpPr/>
          <p:nvPr/>
        </p:nvSpPr>
        <p:spPr>
          <a:xfrm>
            <a:off x="4044359" y="1980172"/>
            <a:ext cx="1149915" cy="5322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fr-FR" sz="1600" dirty="0">
                <a:solidFill>
                  <a:schemeClr val="tx1"/>
                </a:solidFill>
                <a:ea typeface="Calibri" panose="020F0502020204030204" pitchFamily="34" charset="0"/>
                <a:cs typeface="Times New Roman" panose="02020603050405020304" pitchFamily="18" charset="0"/>
              </a:rPr>
              <a:t>???</a:t>
            </a:r>
            <a:endParaRPr lang="fr-FR" sz="1600" dirty="0">
              <a:solidFill>
                <a:schemeClr val="tx1"/>
              </a:solidFill>
              <a:effectLst/>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6" name="ZoneTexte 65">
                <a:extLst>
                  <a:ext uri="{FF2B5EF4-FFF2-40B4-BE49-F238E27FC236}">
                    <a16:creationId xmlns:a16="http://schemas.microsoft.com/office/drawing/2014/main" id="{9B277F20-7741-6A4A-9D5D-D731E94087DA}"/>
                  </a:ext>
                </a:extLst>
              </p:cNvPr>
              <p:cNvSpPr txBox="1"/>
              <p:nvPr/>
            </p:nvSpPr>
            <p:spPr>
              <a:xfrm>
                <a:off x="6347756" y="1381525"/>
                <a:ext cx="1448166" cy="57637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fr-FR" sz="1400" b="0" i="1" smtClean="0">
                              <a:latin typeface="Cambria Math" panose="02040503050406030204" pitchFamily="18" charset="0"/>
                            </a:rPr>
                          </m:ctrlPr>
                        </m:accPr>
                        <m:e>
                          <m:r>
                            <a:rPr lang="fr-FR" sz="1400" b="1" i="0" smtClean="0">
                              <a:latin typeface="Cambria Math" panose="02040503050406030204" pitchFamily="18" charset="0"/>
                            </a:rPr>
                            <m:t>𝐪</m:t>
                          </m:r>
                        </m:e>
                      </m:acc>
                      <m:r>
                        <a:rPr lang="fr-FR" sz="1400" b="0" i="1" smtClean="0">
                          <a:latin typeface="Cambria Math" panose="02040503050406030204" pitchFamily="18" charset="0"/>
                        </a:rPr>
                        <m:t>=</m:t>
                      </m:r>
                      <m:d>
                        <m:dPr>
                          <m:ctrlPr>
                            <a:rPr lang="fr-FR" sz="1400" b="0" i="1" smtClean="0">
                              <a:latin typeface="Cambria Math" panose="02040503050406030204" pitchFamily="18" charset="0"/>
                            </a:rPr>
                          </m:ctrlPr>
                        </m:dPr>
                        <m:e>
                          <m:eqArr>
                            <m:eqArrPr>
                              <m:ctrlPr>
                                <a:rPr lang="fr-FR" sz="1400" b="0" i="1" smtClean="0">
                                  <a:latin typeface="Cambria Math" panose="02040503050406030204" pitchFamily="18" charset="0"/>
                                </a:rPr>
                              </m:ctrlPr>
                            </m:eqArrPr>
                            <m:e>
                              <m:sSub>
                                <m:sSubPr>
                                  <m:ctrlPr>
                                    <a:rPr lang="fr-FR" sz="1400" b="0" i="1" smtClean="0">
                                      <a:latin typeface="Cambria Math" panose="02040503050406030204" pitchFamily="18" charset="0"/>
                                    </a:rPr>
                                  </m:ctrlPr>
                                </m:sSubPr>
                                <m:e>
                                  <m:acc>
                                    <m:accPr>
                                      <m:chr m:val="̇"/>
                                      <m:ctrlPr>
                                        <a:rPr lang="fr-FR" sz="1400" b="0" i="1" smtClean="0">
                                          <a:latin typeface="Cambria Math" panose="02040503050406030204" pitchFamily="18" charset="0"/>
                                        </a:rPr>
                                      </m:ctrlPr>
                                    </m:accPr>
                                    <m:e>
                                      <m:r>
                                        <a:rPr lang="fr-FR" sz="1400" i="1">
                                          <a:latin typeface="Cambria Math" panose="02040503050406030204" pitchFamily="18" charset="0"/>
                                          <a:ea typeface="Cambria Math" panose="02040503050406030204" pitchFamily="18" charset="0"/>
                                        </a:rPr>
                                        <m:t>𝜃</m:t>
                                      </m:r>
                                    </m:e>
                                  </m:acc>
                                </m:e>
                                <m:sub>
                                  <m:r>
                                    <a:rPr lang="fr-FR" sz="1400" b="0" i="1" smtClean="0">
                                      <a:latin typeface="Cambria Math" panose="02040503050406030204" pitchFamily="18" charset="0"/>
                                    </a:rPr>
                                    <m:t>1</m:t>
                                  </m:r>
                                </m:sub>
                              </m:sSub>
                            </m:e>
                            <m:e>
                              <m:sSub>
                                <m:sSubPr>
                                  <m:ctrlPr>
                                    <a:rPr lang="fr-FR" sz="1400" i="1">
                                      <a:latin typeface="Cambria Math" panose="02040503050406030204" pitchFamily="18" charset="0"/>
                                    </a:rPr>
                                  </m:ctrlPr>
                                </m:sSubPr>
                                <m:e>
                                  <m:acc>
                                    <m:accPr>
                                      <m:chr m:val="̇"/>
                                      <m:ctrlPr>
                                        <a:rPr lang="fr-FR" sz="1400" i="1">
                                          <a:latin typeface="Cambria Math" panose="02040503050406030204" pitchFamily="18" charset="0"/>
                                        </a:rPr>
                                      </m:ctrlPr>
                                    </m:accPr>
                                    <m:e>
                                      <m:r>
                                        <a:rPr lang="fr-FR" sz="1400" i="1">
                                          <a:latin typeface="Cambria Math" panose="02040503050406030204" pitchFamily="18" charset="0"/>
                                          <a:ea typeface="Cambria Math" panose="02040503050406030204" pitchFamily="18" charset="0"/>
                                        </a:rPr>
                                        <m:t>𝜃</m:t>
                                      </m:r>
                                    </m:e>
                                  </m:acc>
                                </m:e>
                                <m:sub>
                                  <m:r>
                                    <a:rPr lang="fr-FR" sz="1400" b="0" i="1" smtClean="0">
                                      <a:latin typeface="Cambria Math" panose="02040503050406030204" pitchFamily="18" charset="0"/>
                                      <a:ea typeface="Cambria Math" panose="02040503050406030204" pitchFamily="18" charset="0"/>
                                    </a:rPr>
                                    <m:t>2</m:t>
                                  </m:r>
                                </m:sub>
                              </m:sSub>
                            </m:e>
                          </m:eqArr>
                        </m:e>
                      </m:d>
                    </m:oMath>
                  </m:oMathPara>
                </a14:m>
                <a:endParaRPr lang="fr-FR" sz="1400" dirty="0"/>
              </a:p>
            </p:txBody>
          </p:sp>
        </mc:Choice>
        <mc:Fallback xmlns="">
          <p:sp>
            <p:nvSpPr>
              <p:cNvPr id="66" name="ZoneTexte 65">
                <a:extLst>
                  <a:ext uri="{FF2B5EF4-FFF2-40B4-BE49-F238E27FC236}">
                    <a16:creationId xmlns:a16="http://schemas.microsoft.com/office/drawing/2014/main" id="{9B277F20-7741-6A4A-9D5D-D731E94087DA}"/>
                  </a:ext>
                </a:extLst>
              </p:cNvPr>
              <p:cNvSpPr txBox="1">
                <a:spLocks noRot="1" noChangeAspect="1" noMove="1" noResize="1" noEditPoints="1" noAdjustHandles="1" noChangeArrowheads="1" noChangeShapeType="1" noTextEdit="1"/>
              </p:cNvSpPr>
              <p:nvPr/>
            </p:nvSpPr>
            <p:spPr>
              <a:xfrm>
                <a:off x="6347756" y="1381525"/>
                <a:ext cx="1448166" cy="576376"/>
              </a:xfrm>
              <a:prstGeom prst="rect">
                <a:avLst/>
              </a:prstGeom>
              <a:blipFill>
                <a:blip r:embed="rId8"/>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7" name="Rectangle 66">
                <a:extLst>
                  <a:ext uri="{FF2B5EF4-FFF2-40B4-BE49-F238E27FC236}">
                    <a16:creationId xmlns:a16="http://schemas.microsoft.com/office/drawing/2014/main" id="{B20D810B-7870-064B-9A86-D151F242137A}"/>
                  </a:ext>
                </a:extLst>
              </p:cNvPr>
              <p:cNvSpPr/>
              <p:nvPr/>
            </p:nvSpPr>
            <p:spPr>
              <a:xfrm>
                <a:off x="7387662" y="1967357"/>
                <a:ext cx="479376" cy="5322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14:m>
                  <m:oMathPara xmlns:m="http://schemas.openxmlformats.org/officeDocument/2006/math">
                    <m:oMathParaPr>
                      <m:jc m:val="centerGroup"/>
                    </m:oMathParaPr>
                    <m:oMath xmlns:m="http://schemas.openxmlformats.org/officeDocument/2006/math">
                      <m:f>
                        <m:fPr>
                          <m:ctrlPr>
                            <a:rPr lang="fr-FR" sz="1600" i="1" smtClean="0">
                              <a:solidFill>
                                <a:srgbClr val="000000"/>
                              </a:solidFill>
                              <a:effectLst/>
                              <a:latin typeface="Cambria Math" panose="02040503050406030204" pitchFamily="18" charset="0"/>
                              <a:cs typeface="Times New Roman" panose="02020603050405020304" pitchFamily="18" charset="0"/>
                            </a:rPr>
                          </m:ctrlPr>
                        </m:fPr>
                        <m:num>
                          <m:r>
                            <a:rPr lang="fr-FR" sz="1600" b="0" i="1" smtClean="0">
                              <a:solidFill>
                                <a:srgbClr val="000000"/>
                              </a:solidFill>
                              <a:effectLst/>
                              <a:latin typeface="Cambria Math" panose="02040503050406030204" pitchFamily="18" charset="0"/>
                              <a:cs typeface="Times New Roman" panose="02020603050405020304" pitchFamily="18" charset="0"/>
                            </a:rPr>
                            <m:t>1</m:t>
                          </m:r>
                        </m:num>
                        <m:den>
                          <m:r>
                            <a:rPr lang="fr-FR" sz="1600" b="0" i="1" smtClean="0">
                              <a:solidFill>
                                <a:srgbClr val="000000"/>
                              </a:solidFill>
                              <a:effectLst/>
                              <a:latin typeface="Cambria Math" panose="02040503050406030204" pitchFamily="18" charset="0"/>
                              <a:cs typeface="Times New Roman" panose="02020603050405020304" pitchFamily="18" charset="0"/>
                            </a:rPr>
                            <m:t>𝑠</m:t>
                          </m:r>
                        </m:den>
                      </m:f>
                    </m:oMath>
                  </m:oMathPara>
                </a14:m>
                <a:endParaRPr lang="fr-FR" sz="1600" dirty="0">
                  <a:effectLst/>
                  <a:ea typeface="Calibri" panose="020F0502020204030204" pitchFamily="34" charset="0"/>
                  <a:cs typeface="Times New Roman" panose="02020603050405020304" pitchFamily="18" charset="0"/>
                </a:endParaRPr>
              </a:p>
            </p:txBody>
          </p:sp>
        </mc:Choice>
        <mc:Fallback xmlns="">
          <p:sp>
            <p:nvSpPr>
              <p:cNvPr id="67" name="Rectangle 66">
                <a:extLst>
                  <a:ext uri="{FF2B5EF4-FFF2-40B4-BE49-F238E27FC236}">
                    <a16:creationId xmlns:a16="http://schemas.microsoft.com/office/drawing/2014/main" id="{B20D810B-7870-064B-9A86-D151F242137A}"/>
                  </a:ext>
                </a:extLst>
              </p:cNvPr>
              <p:cNvSpPr>
                <a:spLocks noRot="1" noChangeAspect="1" noMove="1" noResize="1" noEditPoints="1" noAdjustHandles="1" noChangeArrowheads="1" noChangeShapeType="1" noTextEdit="1"/>
              </p:cNvSpPr>
              <p:nvPr/>
            </p:nvSpPr>
            <p:spPr>
              <a:xfrm>
                <a:off x="7387662" y="1967357"/>
                <a:ext cx="479376" cy="532276"/>
              </a:xfrm>
              <a:prstGeom prst="rect">
                <a:avLst/>
              </a:prstGeom>
              <a:blipFill>
                <a:blip r:embed="rId9"/>
                <a:stretch>
                  <a:fillRect/>
                </a:stretch>
              </a:blipFill>
              <a:ln>
                <a:solidFill>
                  <a:schemeClr val="tx1"/>
                </a:solidFill>
              </a:ln>
            </p:spPr>
            <p:txBody>
              <a:bodyPr/>
              <a:lstStyle/>
              <a:p>
                <a:r>
                  <a:rPr lang="fr-FR">
                    <a:noFill/>
                  </a:rPr>
                  <a:t> </a:t>
                </a:r>
              </a:p>
            </p:txBody>
          </p:sp>
        </mc:Fallback>
      </mc:AlternateContent>
      <p:cxnSp>
        <p:nvCxnSpPr>
          <p:cNvPr id="68" name="Connecteur droit avec flèche 67">
            <a:extLst>
              <a:ext uri="{FF2B5EF4-FFF2-40B4-BE49-F238E27FC236}">
                <a16:creationId xmlns:a16="http://schemas.microsoft.com/office/drawing/2014/main" id="{8C980668-AF63-2A48-AF8A-5A939B46D634}"/>
              </a:ext>
            </a:extLst>
          </p:cNvPr>
          <p:cNvCxnSpPr>
            <a:cxnSpLocks/>
            <a:stCxn id="47" idx="3"/>
            <a:endCxn id="67" idx="1"/>
          </p:cNvCxnSpPr>
          <p:nvPr/>
        </p:nvCxnSpPr>
        <p:spPr>
          <a:xfrm>
            <a:off x="7095691" y="2224039"/>
            <a:ext cx="291971" cy="945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itre 2">
            <a:extLst>
              <a:ext uri="{FF2B5EF4-FFF2-40B4-BE49-F238E27FC236}">
                <a16:creationId xmlns:a16="http://schemas.microsoft.com/office/drawing/2014/main" id="{9A700A07-417A-E644-941E-FA7B10873D98}"/>
              </a:ext>
            </a:extLst>
          </p:cNvPr>
          <p:cNvSpPr>
            <a:spLocks noGrp="1"/>
          </p:cNvSpPr>
          <p:nvPr>
            <p:ph type="title"/>
          </p:nvPr>
        </p:nvSpPr>
        <p:spPr>
          <a:xfrm>
            <a:off x="300790" y="0"/>
            <a:ext cx="8229600" cy="785812"/>
          </a:xfrm>
        </p:spPr>
        <p:txBody>
          <a:bodyPr/>
          <a:lstStyle/>
          <a:p>
            <a:r>
              <a:rPr lang="en-GB" dirty="0"/>
              <a:t>Position control</a:t>
            </a:r>
          </a:p>
        </p:txBody>
      </p:sp>
    </p:spTree>
    <p:extLst>
      <p:ext uri="{BB962C8B-B14F-4D97-AF65-F5344CB8AC3E}">
        <p14:creationId xmlns:p14="http://schemas.microsoft.com/office/powerpoint/2010/main" val="40128480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a:extLst>
                  <a:ext uri="{FF2B5EF4-FFF2-40B4-BE49-F238E27FC236}">
                    <a16:creationId xmlns:a16="http://schemas.microsoft.com/office/drawing/2014/main" id="{29BD0A89-3246-264C-9835-A7CDBA1A8A86}"/>
                  </a:ext>
                </a:extLst>
              </p:cNvPr>
              <p:cNvSpPr>
                <a:spLocks noGrp="1"/>
              </p:cNvSpPr>
              <p:nvPr>
                <p:ph sz="quarter" idx="1"/>
              </p:nvPr>
            </p:nvSpPr>
            <p:spPr/>
            <p:txBody>
              <a:bodyPr/>
              <a:lstStyle/>
              <a:p>
                <a:pPr marL="0" indent="0">
                  <a:buNone/>
                </a:pPr>
                <a:r>
                  <a:rPr lang="en-GB" dirty="0"/>
                  <a:t>To establish the analytical Jacobian of the 2 DOF robot, it would be necessary to derive the direct kinematic model:
</a:t>
                </a:r>
              </a:p>
              <a:p>
                <a:pPr marL="0" indent="0">
                  <a:buNone/>
                </a:pPr>
                <a14:m>
                  <m:oMathPara xmlns:m="http://schemas.openxmlformats.org/officeDocument/2006/math">
                    <m:oMathParaPr>
                      <m:jc m:val="centerGroup"/>
                    </m:oMathParaPr>
                    <m:oMath xmlns:m="http://schemas.openxmlformats.org/officeDocument/2006/math">
                      <m:r>
                        <m:rPr>
                          <m:sty m:val="p"/>
                        </m:rPr>
                        <a:rPr lang="en-GB" b="0" i="0" smtClean="0">
                          <a:latin typeface="Cambria Math" panose="02040503050406030204" pitchFamily="18" charset="0"/>
                        </a:rPr>
                        <m:t>DKM</m:t>
                      </m:r>
                      <m:r>
                        <a:rPr lang="en-GB" b="0" i="0" smtClean="0">
                          <a:latin typeface="Cambria Math" panose="02040503050406030204" pitchFamily="18" charset="0"/>
                        </a:rPr>
                        <m:t>: </m:t>
                      </m:r>
                      <m:d>
                        <m:dPr>
                          <m:begChr m:val="{"/>
                          <m:endChr m:val=""/>
                          <m:ctrlPr>
                            <a:rPr lang="en-GB" i="1" smtClean="0">
                              <a:latin typeface="Cambria Math" panose="02040503050406030204" pitchFamily="18" charset="0"/>
                            </a:rPr>
                          </m:ctrlPr>
                        </m:dPr>
                        <m:e>
                          <m:eqArr>
                            <m:eqArrPr>
                              <m:ctrlPr>
                                <a:rPr lang="en-GB" i="1" smtClean="0">
                                  <a:latin typeface="Cambria Math" panose="02040503050406030204" pitchFamily="18" charset="0"/>
                                </a:rPr>
                              </m:ctrlPr>
                            </m:eqArrPr>
                            <m:e>
                              <m:r>
                                <a:rPr lang="en-GB" i="1" smtClean="0">
                                  <a:latin typeface="Cambria Math" panose="02040503050406030204" pitchFamily="18" charset="0"/>
                                </a:rPr>
                                <m:t>𝑥</m:t>
                              </m:r>
                              <m:r>
                                <a:rPr lang="en-GB" i="1" smtClean="0">
                                  <a:latin typeface="Cambria Math" panose="02040503050406030204" pitchFamily="18" charset="0"/>
                                </a:rPr>
                                <m:t>=</m:t>
                              </m:r>
                              <m:sSub>
                                <m:sSubPr>
                                  <m:ctrlPr>
                                    <a:rPr lang="en-GB" i="1" smtClean="0">
                                      <a:latin typeface="Cambria Math" panose="02040503050406030204" pitchFamily="18" charset="0"/>
                                    </a:rPr>
                                  </m:ctrlPr>
                                </m:sSubPr>
                                <m:e>
                                  <m:r>
                                    <a:rPr lang="en-GB" i="1" smtClean="0">
                                      <a:latin typeface="Cambria Math" panose="02040503050406030204" pitchFamily="18" charset="0"/>
                                    </a:rPr>
                                    <m:t>𝑎</m:t>
                                  </m:r>
                                </m:e>
                                <m:sub>
                                  <m:r>
                                    <a:rPr lang="en-GB" i="1" smtClean="0">
                                      <a:latin typeface="Cambria Math" panose="02040503050406030204" pitchFamily="18" charset="0"/>
                                    </a:rPr>
                                    <m:t>1</m:t>
                                  </m:r>
                                </m:sub>
                              </m:sSub>
                              <m:func>
                                <m:funcPr>
                                  <m:ctrlPr>
                                    <a:rPr lang="en-GB" i="1" smtClean="0">
                                      <a:latin typeface="Cambria Math" panose="02040503050406030204" pitchFamily="18" charset="0"/>
                                    </a:rPr>
                                  </m:ctrlPr>
                                </m:funcPr>
                                <m:fName>
                                  <m:r>
                                    <m:rPr>
                                      <m:sty m:val="p"/>
                                    </m:rPr>
                                    <a:rPr lang="en-GB" smtClean="0">
                                      <a:latin typeface="Cambria Math" panose="02040503050406030204" pitchFamily="18" charset="0"/>
                                    </a:rPr>
                                    <m:t>cos</m:t>
                                  </m:r>
                                </m:fName>
                                <m:e>
                                  <m:sSub>
                                    <m:sSubPr>
                                      <m:ctrlPr>
                                        <a:rPr lang="en-GB" i="1" smtClean="0">
                                          <a:latin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𝜃</m:t>
                                      </m:r>
                                    </m:e>
                                    <m:sub>
                                      <m:r>
                                        <a:rPr lang="en-GB" i="1" smtClean="0">
                                          <a:latin typeface="Cambria Math" panose="02040503050406030204" pitchFamily="18" charset="0"/>
                                        </a:rPr>
                                        <m:t>1</m:t>
                                      </m:r>
                                    </m:sub>
                                  </m:sSub>
                                </m:e>
                              </m:func>
                              <m:r>
                                <a:rPr lang="en-GB" i="1" smtClean="0">
                                  <a:latin typeface="Cambria Math" panose="02040503050406030204" pitchFamily="18" charset="0"/>
                                </a:rPr>
                                <m:t>+</m:t>
                              </m:r>
                              <m:sSub>
                                <m:sSubPr>
                                  <m:ctrlPr>
                                    <a:rPr lang="en-GB" i="1" smtClean="0">
                                      <a:latin typeface="Cambria Math" panose="02040503050406030204" pitchFamily="18" charset="0"/>
                                    </a:rPr>
                                  </m:ctrlPr>
                                </m:sSubPr>
                                <m:e>
                                  <m:r>
                                    <a:rPr lang="en-GB" i="1" smtClean="0">
                                      <a:latin typeface="Cambria Math" panose="02040503050406030204" pitchFamily="18" charset="0"/>
                                    </a:rPr>
                                    <m:t>𝑎</m:t>
                                  </m:r>
                                </m:e>
                                <m:sub>
                                  <m:r>
                                    <a:rPr lang="en-GB" i="1" smtClean="0">
                                      <a:latin typeface="Cambria Math" panose="02040503050406030204" pitchFamily="18" charset="0"/>
                                    </a:rPr>
                                    <m:t>2</m:t>
                                  </m:r>
                                </m:sub>
                              </m:sSub>
                              <m:func>
                                <m:funcPr>
                                  <m:ctrlPr>
                                    <a:rPr lang="en-GB" i="1" smtClean="0">
                                      <a:latin typeface="Cambria Math" panose="02040503050406030204" pitchFamily="18" charset="0"/>
                                    </a:rPr>
                                  </m:ctrlPr>
                                </m:funcPr>
                                <m:fName>
                                  <m:r>
                                    <m:rPr>
                                      <m:sty m:val="p"/>
                                    </m:rPr>
                                    <a:rPr lang="en-GB" smtClean="0">
                                      <a:latin typeface="Cambria Math" panose="02040503050406030204" pitchFamily="18" charset="0"/>
                                    </a:rPr>
                                    <m:t>cos</m:t>
                                  </m:r>
                                </m:fName>
                                <m:e>
                                  <m:d>
                                    <m:dPr>
                                      <m:ctrlPr>
                                        <a:rPr lang="en-GB" i="1" smtClean="0">
                                          <a:latin typeface="Cambria Math" panose="02040503050406030204" pitchFamily="18" charset="0"/>
                                        </a:rPr>
                                      </m:ctrlPr>
                                    </m:dPr>
                                    <m:e>
                                      <m:sSub>
                                        <m:sSubPr>
                                          <m:ctrlPr>
                                            <a:rPr lang="en-GB" i="1" smtClean="0">
                                              <a:latin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𝜃</m:t>
                                          </m:r>
                                        </m:e>
                                        <m:sub>
                                          <m:r>
                                            <a:rPr lang="en-GB" i="1" smtClean="0">
                                              <a:latin typeface="Cambria Math" panose="02040503050406030204" pitchFamily="18" charset="0"/>
                                            </a:rPr>
                                            <m:t>1</m:t>
                                          </m:r>
                                        </m:sub>
                                      </m:sSub>
                                      <m:r>
                                        <a:rPr lang="en-GB" i="1" smtClean="0">
                                          <a:latin typeface="Cambria Math" panose="02040503050406030204" pitchFamily="18" charset="0"/>
                                        </a:rPr>
                                        <m:t>+</m:t>
                                      </m:r>
                                      <m:sSub>
                                        <m:sSubPr>
                                          <m:ctrlPr>
                                            <a:rPr lang="en-GB" i="1" smtClean="0">
                                              <a:latin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𝜃</m:t>
                                          </m:r>
                                        </m:e>
                                        <m:sub>
                                          <m:r>
                                            <a:rPr lang="en-GB" i="1" smtClean="0">
                                              <a:latin typeface="Cambria Math" panose="02040503050406030204" pitchFamily="18" charset="0"/>
                                            </a:rPr>
                                            <m:t>2</m:t>
                                          </m:r>
                                        </m:sub>
                                      </m:sSub>
                                    </m:e>
                                  </m:d>
                                </m:e>
                              </m:func>
                            </m:e>
                            <m:e>
                              <m:r>
                                <a:rPr lang="en-GB" i="1" smtClean="0">
                                  <a:latin typeface="Cambria Math" panose="02040503050406030204" pitchFamily="18" charset="0"/>
                                </a:rPr>
                                <m:t>𝑦</m:t>
                              </m:r>
                              <m:r>
                                <a:rPr lang="en-GB" i="1" smtClean="0">
                                  <a:latin typeface="Cambria Math" panose="02040503050406030204" pitchFamily="18" charset="0"/>
                                </a:rPr>
                                <m:t>=</m:t>
                              </m:r>
                              <m:sSub>
                                <m:sSubPr>
                                  <m:ctrlPr>
                                    <a:rPr lang="en-GB" i="1" smtClean="0">
                                      <a:latin typeface="Cambria Math" panose="02040503050406030204" pitchFamily="18" charset="0"/>
                                    </a:rPr>
                                  </m:ctrlPr>
                                </m:sSubPr>
                                <m:e>
                                  <m:r>
                                    <a:rPr lang="en-GB" i="1" smtClean="0">
                                      <a:latin typeface="Cambria Math" panose="02040503050406030204" pitchFamily="18" charset="0"/>
                                    </a:rPr>
                                    <m:t>𝑎</m:t>
                                  </m:r>
                                </m:e>
                                <m:sub>
                                  <m:r>
                                    <a:rPr lang="en-GB" i="1" smtClean="0">
                                      <a:latin typeface="Cambria Math" panose="02040503050406030204" pitchFamily="18" charset="0"/>
                                    </a:rPr>
                                    <m:t>1</m:t>
                                  </m:r>
                                </m:sub>
                              </m:sSub>
                              <m:func>
                                <m:funcPr>
                                  <m:ctrlPr>
                                    <a:rPr lang="en-GB" i="1" smtClean="0">
                                      <a:latin typeface="Cambria Math" panose="02040503050406030204" pitchFamily="18" charset="0"/>
                                    </a:rPr>
                                  </m:ctrlPr>
                                </m:funcPr>
                                <m:fName>
                                  <m:r>
                                    <m:rPr>
                                      <m:sty m:val="p"/>
                                    </m:rPr>
                                    <a:rPr lang="en-GB" smtClean="0">
                                      <a:latin typeface="Cambria Math" panose="02040503050406030204" pitchFamily="18" charset="0"/>
                                    </a:rPr>
                                    <m:t>sin</m:t>
                                  </m:r>
                                </m:fName>
                                <m:e>
                                  <m:sSub>
                                    <m:sSubPr>
                                      <m:ctrlPr>
                                        <a:rPr lang="en-GB" i="1" smtClean="0">
                                          <a:latin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𝜃</m:t>
                                      </m:r>
                                    </m:e>
                                    <m:sub>
                                      <m:r>
                                        <a:rPr lang="en-GB" i="1" smtClean="0">
                                          <a:latin typeface="Cambria Math" panose="02040503050406030204" pitchFamily="18" charset="0"/>
                                        </a:rPr>
                                        <m:t>1</m:t>
                                      </m:r>
                                    </m:sub>
                                  </m:sSub>
                                </m:e>
                              </m:func>
                              <m:r>
                                <a:rPr lang="en-GB" i="1" smtClean="0">
                                  <a:latin typeface="Cambria Math" panose="02040503050406030204" pitchFamily="18" charset="0"/>
                                </a:rPr>
                                <m:t>+</m:t>
                              </m:r>
                              <m:sSub>
                                <m:sSubPr>
                                  <m:ctrlPr>
                                    <a:rPr lang="en-GB" i="1" smtClean="0">
                                      <a:latin typeface="Cambria Math" panose="02040503050406030204" pitchFamily="18" charset="0"/>
                                    </a:rPr>
                                  </m:ctrlPr>
                                </m:sSubPr>
                                <m:e>
                                  <m:r>
                                    <a:rPr lang="en-GB" i="1" smtClean="0">
                                      <a:latin typeface="Cambria Math" panose="02040503050406030204" pitchFamily="18" charset="0"/>
                                    </a:rPr>
                                    <m:t>𝑎</m:t>
                                  </m:r>
                                </m:e>
                                <m:sub>
                                  <m:r>
                                    <a:rPr lang="en-GB" i="1" smtClean="0">
                                      <a:latin typeface="Cambria Math" panose="02040503050406030204" pitchFamily="18" charset="0"/>
                                    </a:rPr>
                                    <m:t>2</m:t>
                                  </m:r>
                                </m:sub>
                              </m:sSub>
                              <m:func>
                                <m:funcPr>
                                  <m:ctrlPr>
                                    <a:rPr lang="en-GB" i="1" smtClean="0">
                                      <a:latin typeface="Cambria Math" panose="02040503050406030204" pitchFamily="18" charset="0"/>
                                    </a:rPr>
                                  </m:ctrlPr>
                                </m:funcPr>
                                <m:fName>
                                  <m:r>
                                    <m:rPr>
                                      <m:sty m:val="p"/>
                                    </m:rPr>
                                    <a:rPr lang="en-GB" smtClean="0">
                                      <a:latin typeface="Cambria Math" panose="02040503050406030204" pitchFamily="18" charset="0"/>
                                    </a:rPr>
                                    <m:t>sin</m:t>
                                  </m:r>
                                </m:fName>
                                <m:e>
                                  <m:d>
                                    <m:dPr>
                                      <m:ctrlPr>
                                        <a:rPr lang="en-GB" i="1" smtClean="0">
                                          <a:latin typeface="Cambria Math" panose="02040503050406030204" pitchFamily="18" charset="0"/>
                                        </a:rPr>
                                      </m:ctrlPr>
                                    </m:dPr>
                                    <m:e>
                                      <m:sSub>
                                        <m:sSubPr>
                                          <m:ctrlPr>
                                            <a:rPr lang="en-GB" i="1" smtClean="0">
                                              <a:latin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𝜃</m:t>
                                          </m:r>
                                        </m:e>
                                        <m:sub>
                                          <m:r>
                                            <a:rPr lang="en-GB" i="1" smtClean="0">
                                              <a:latin typeface="Cambria Math" panose="02040503050406030204" pitchFamily="18" charset="0"/>
                                            </a:rPr>
                                            <m:t>1</m:t>
                                          </m:r>
                                        </m:sub>
                                      </m:sSub>
                                      <m:r>
                                        <a:rPr lang="en-GB" i="1" smtClean="0">
                                          <a:latin typeface="Cambria Math" panose="02040503050406030204" pitchFamily="18" charset="0"/>
                                        </a:rPr>
                                        <m:t>+</m:t>
                                      </m:r>
                                      <m:sSub>
                                        <m:sSubPr>
                                          <m:ctrlPr>
                                            <a:rPr lang="en-GB" i="1" smtClean="0">
                                              <a:latin typeface="Cambria Math" panose="02040503050406030204" pitchFamily="18" charset="0"/>
                                            </a:rPr>
                                          </m:ctrlPr>
                                        </m:sSubPr>
                                        <m:e>
                                          <m:r>
                                            <a:rPr lang="en-GB" i="1" smtClean="0">
                                              <a:latin typeface="Cambria Math" panose="02040503050406030204" pitchFamily="18" charset="0"/>
                                              <a:ea typeface="Cambria Math" panose="02040503050406030204" pitchFamily="18" charset="0"/>
                                            </a:rPr>
                                            <m:t>𝜃</m:t>
                                          </m:r>
                                        </m:e>
                                        <m:sub>
                                          <m:r>
                                            <a:rPr lang="en-GB" i="1" smtClean="0">
                                              <a:latin typeface="Cambria Math" panose="02040503050406030204" pitchFamily="18" charset="0"/>
                                            </a:rPr>
                                            <m:t>2</m:t>
                                          </m:r>
                                        </m:sub>
                                      </m:sSub>
                                    </m:e>
                                  </m:d>
                                </m:e>
                              </m:func>
                            </m:e>
                          </m:eqArr>
                        </m:e>
                      </m:d>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acc>
                        <m:accPr>
                          <m:chr m:val="̇"/>
                          <m:ctrlPr>
                            <a:rPr lang="en-GB" b="1" i="1" smtClean="0">
                              <a:latin typeface="Cambria Math" panose="02040503050406030204" pitchFamily="18" charset="0"/>
                            </a:rPr>
                          </m:ctrlPr>
                        </m:accPr>
                        <m:e>
                          <m:r>
                            <a:rPr lang="en-GB" b="1" i="1" smtClean="0">
                              <a:latin typeface="Cambria Math" panose="02040503050406030204" pitchFamily="18" charset="0"/>
                            </a:rPr>
                            <m:t>𝐱</m:t>
                          </m:r>
                        </m:e>
                      </m:acc>
                      <m:r>
                        <a:rPr lang="en-GB" b="0" i="1" smtClean="0">
                          <a:latin typeface="Cambria Math" panose="02040503050406030204" pitchFamily="18" charset="0"/>
                        </a:rPr>
                        <m:t>=</m:t>
                      </m:r>
                      <m:d>
                        <m:dPr>
                          <m:ctrlPr>
                            <a:rPr lang="en-GB" b="0" i="1" smtClean="0">
                              <a:latin typeface="Cambria Math" panose="02040503050406030204" pitchFamily="18" charset="0"/>
                            </a:rPr>
                          </m:ctrlPr>
                        </m:dPr>
                        <m:e>
                          <m:eqArr>
                            <m:eqArrPr>
                              <m:ctrlPr>
                                <a:rPr lang="en-GB" b="0" i="1" smtClean="0">
                                  <a:latin typeface="Cambria Math" panose="02040503050406030204" pitchFamily="18" charset="0"/>
                                </a:rPr>
                              </m:ctrlPr>
                            </m:eqArrPr>
                            <m:e>
                              <m:acc>
                                <m:accPr>
                                  <m:chr m:val="̇"/>
                                  <m:ctrlPr>
                                    <a:rPr lang="en-GB" i="1" smtClean="0">
                                      <a:latin typeface="Cambria Math" panose="02040503050406030204" pitchFamily="18" charset="0"/>
                                    </a:rPr>
                                  </m:ctrlPr>
                                </m:accPr>
                                <m:e>
                                  <m:r>
                                    <a:rPr lang="en-GB" i="1" smtClean="0">
                                      <a:latin typeface="Cambria Math" panose="02040503050406030204" pitchFamily="18" charset="0"/>
                                    </a:rPr>
                                    <m:t>𝑥</m:t>
                                  </m:r>
                                </m:e>
                              </m:acc>
                            </m:e>
                            <m:e>
                              <m:acc>
                                <m:accPr>
                                  <m:chr m:val="̇"/>
                                  <m:ctrlPr>
                                    <a:rPr lang="en-GB" i="1" smtClean="0">
                                      <a:latin typeface="Cambria Math" panose="02040503050406030204" pitchFamily="18" charset="0"/>
                                    </a:rPr>
                                  </m:ctrlPr>
                                </m:accPr>
                                <m:e>
                                  <m:r>
                                    <a:rPr lang="en-GB" i="1" smtClean="0">
                                      <a:latin typeface="Cambria Math" panose="02040503050406030204" pitchFamily="18" charset="0"/>
                                    </a:rPr>
                                    <m:t>𝑦</m:t>
                                  </m:r>
                                </m:e>
                              </m:acc>
                            </m:e>
                          </m:eqArr>
                        </m:e>
                      </m:d>
                      <m:r>
                        <a:rPr lang="en-GB" b="0" i="1" smtClean="0">
                          <a:latin typeface="Cambria Math" panose="02040503050406030204" pitchFamily="18" charset="0"/>
                        </a:rPr>
                        <m:t>=</m:t>
                      </m:r>
                      <m:d>
                        <m:dPr>
                          <m:ctrlPr>
                            <a:rPr lang="en-GB" b="0" i="1" smtClean="0">
                              <a:latin typeface="Cambria Math" panose="02040503050406030204" pitchFamily="18" charset="0"/>
                            </a:rPr>
                          </m:ctrlPr>
                        </m:dPr>
                        <m:e>
                          <m:eqArr>
                            <m:eqArrPr>
                              <m:ctrlPr>
                                <a:rPr lang="en-GB" b="0" i="1" smtClean="0">
                                  <a:latin typeface="Cambria Math" panose="02040503050406030204" pitchFamily="18" charset="0"/>
                                </a:rPr>
                              </m:ctrlPr>
                            </m:eqArrPr>
                            <m:e>
                              <m:f>
                                <m:fPr>
                                  <m:ctrlPr>
                                    <a:rPr lang="en-GB" i="1" smtClean="0">
                                      <a:latin typeface="Cambria Math" panose="02040503050406030204" pitchFamily="18" charset="0"/>
                                    </a:rPr>
                                  </m:ctrlPr>
                                </m:fPr>
                                <m:num>
                                  <m:r>
                                    <a:rPr lang="en-GB" i="1" smtClean="0">
                                      <a:latin typeface="Cambria Math" panose="02040503050406030204" pitchFamily="18" charset="0"/>
                                    </a:rPr>
                                    <m:t>𝑑𝑥</m:t>
                                  </m:r>
                                </m:num>
                                <m:den>
                                  <m:r>
                                    <a:rPr lang="en-GB" i="1" smtClean="0">
                                      <a:latin typeface="Cambria Math" panose="02040503050406030204" pitchFamily="18" charset="0"/>
                                    </a:rPr>
                                    <m:t>𝑑𝑡</m:t>
                                  </m:r>
                                </m:den>
                              </m:f>
                            </m:e>
                            <m:e>
                              <m:f>
                                <m:fPr>
                                  <m:ctrlPr>
                                    <a:rPr lang="en-GB" i="1" smtClean="0">
                                      <a:latin typeface="Cambria Math" panose="02040503050406030204" pitchFamily="18" charset="0"/>
                                    </a:rPr>
                                  </m:ctrlPr>
                                </m:fPr>
                                <m:num>
                                  <m:r>
                                    <a:rPr lang="en-GB" i="1" smtClean="0">
                                      <a:latin typeface="Cambria Math" panose="02040503050406030204" pitchFamily="18" charset="0"/>
                                    </a:rPr>
                                    <m:t>𝑑</m:t>
                                  </m:r>
                                  <m:r>
                                    <a:rPr lang="en-GB" b="0" i="1" smtClean="0">
                                      <a:latin typeface="Cambria Math" panose="02040503050406030204" pitchFamily="18" charset="0"/>
                                    </a:rPr>
                                    <m:t>𝑦</m:t>
                                  </m:r>
                                </m:num>
                                <m:den>
                                  <m:r>
                                    <a:rPr lang="en-GB" i="1" smtClean="0">
                                      <a:latin typeface="Cambria Math" panose="02040503050406030204" pitchFamily="18" charset="0"/>
                                    </a:rPr>
                                    <m:t>𝑑𝑡</m:t>
                                  </m:r>
                                </m:den>
                              </m:f>
                            </m:e>
                          </m:eqArr>
                        </m:e>
                      </m:d>
                      <m:r>
                        <a:rPr lang="en-GB" b="0" i="1" smtClean="0">
                          <a:latin typeface="Cambria Math" panose="02040503050406030204" pitchFamily="18" charset="0"/>
                        </a:rPr>
                        <m:t>=??</m:t>
                      </m:r>
                    </m:oMath>
                  </m:oMathPara>
                </a14:m>
                <a:endParaRPr lang="en-GB" dirty="0"/>
              </a:p>
            </p:txBody>
          </p:sp>
        </mc:Choice>
        <mc:Fallback xmlns="">
          <p:sp>
            <p:nvSpPr>
              <p:cNvPr id="2" name="Espace réservé du contenu 1">
                <a:extLst>
                  <a:ext uri="{FF2B5EF4-FFF2-40B4-BE49-F238E27FC236}">
                    <a16:creationId xmlns:a16="http://schemas.microsoft.com/office/drawing/2014/main" id="{29BD0A89-3246-264C-9835-A7CDBA1A8A86}"/>
                  </a:ext>
                </a:extLst>
              </p:cNvPr>
              <p:cNvSpPr>
                <a:spLocks noGrp="1" noRot="1" noChangeAspect="1" noMove="1" noResize="1" noEditPoints="1" noAdjustHandles="1" noChangeArrowheads="1" noChangeShapeType="1" noTextEdit="1"/>
              </p:cNvSpPr>
              <p:nvPr>
                <p:ph sz="quarter" idx="1"/>
              </p:nvPr>
            </p:nvSpPr>
            <p:spPr>
              <a:blipFill>
                <a:blip r:embed="rId2"/>
                <a:stretch>
                  <a:fillRect l="-608" t="-8966"/>
                </a:stretch>
              </a:blipFill>
            </p:spPr>
            <p:txBody>
              <a:bodyPr/>
              <a:lstStyle/>
              <a:p>
                <a:r>
                  <a:rPr lang="fr-FR">
                    <a:noFill/>
                  </a:rPr>
                  <a:t> </a:t>
                </a:r>
              </a:p>
            </p:txBody>
          </p:sp>
        </mc:Fallback>
      </mc:AlternateContent>
      <p:sp>
        <p:nvSpPr>
          <p:cNvPr id="7" name="Titre 2">
            <a:extLst>
              <a:ext uri="{FF2B5EF4-FFF2-40B4-BE49-F238E27FC236}">
                <a16:creationId xmlns:a16="http://schemas.microsoft.com/office/drawing/2014/main" id="{3666A23D-6D9A-034D-A3BC-D6EC3FB0752C}"/>
              </a:ext>
            </a:extLst>
          </p:cNvPr>
          <p:cNvSpPr>
            <a:spLocks noGrp="1"/>
          </p:cNvSpPr>
          <p:nvPr>
            <p:ph type="title"/>
          </p:nvPr>
        </p:nvSpPr>
        <p:spPr>
          <a:xfrm>
            <a:off x="300790" y="0"/>
            <a:ext cx="8229600" cy="785812"/>
          </a:xfrm>
        </p:spPr>
        <p:txBody>
          <a:bodyPr/>
          <a:lstStyle/>
          <a:p>
            <a:r>
              <a:rPr lang="en-GB" dirty="0"/>
              <a:t>Position control</a:t>
            </a:r>
          </a:p>
        </p:txBody>
      </p:sp>
    </p:spTree>
    <p:extLst>
      <p:ext uri="{BB962C8B-B14F-4D97-AF65-F5344CB8AC3E}">
        <p14:creationId xmlns:p14="http://schemas.microsoft.com/office/powerpoint/2010/main" val="20814151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a:extLst>
                  <a:ext uri="{FF2B5EF4-FFF2-40B4-BE49-F238E27FC236}">
                    <a16:creationId xmlns:a16="http://schemas.microsoft.com/office/drawing/2014/main" id="{59F29AF2-A635-4149-B0D7-A31577D46E5C}"/>
                  </a:ext>
                </a:extLst>
              </p:cNvPr>
              <p:cNvSpPr>
                <a:spLocks noGrp="1"/>
              </p:cNvSpPr>
              <p:nvPr>
                <p:ph sz="quarter" idx="1"/>
              </p:nvPr>
            </p:nvSpPr>
            <p:spPr/>
            <p:txBody>
              <a:bodyPr/>
              <a:lstStyle/>
              <a:p>
                <a:pPr marL="0" indent="0">
                  <a:buNone/>
                </a:pPr>
                <a:endParaRPr lang="fr-FR"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d>
                        <m:dPr>
                          <m:begChr m:val="{"/>
                          <m:endChr m:val=""/>
                          <m:ctrlPr>
                            <a:rPr lang="fr-FR" i="1" smtClean="0">
                              <a:solidFill>
                                <a:srgbClr val="FF0000"/>
                              </a:solidFill>
                              <a:latin typeface="Cambria Math" panose="02040503050406030204" pitchFamily="18" charset="0"/>
                            </a:rPr>
                          </m:ctrlPr>
                        </m:dPr>
                        <m:e>
                          <m:eqArr>
                            <m:eqArrPr>
                              <m:ctrlPr>
                                <a:rPr lang="fr-FR" i="1" smtClean="0">
                                  <a:solidFill>
                                    <a:srgbClr val="FF0000"/>
                                  </a:solidFill>
                                  <a:latin typeface="Cambria Math" panose="02040503050406030204" pitchFamily="18" charset="0"/>
                                </a:rPr>
                              </m:ctrlPr>
                            </m:eqArrPr>
                            <m:e>
                              <m:f>
                                <m:fPr>
                                  <m:ctrlPr>
                                    <a:rPr lang="fr-FR" i="1">
                                      <a:solidFill>
                                        <a:srgbClr val="FF0000"/>
                                      </a:solidFill>
                                      <a:latin typeface="Cambria Math" panose="02040503050406030204" pitchFamily="18" charset="0"/>
                                    </a:rPr>
                                  </m:ctrlPr>
                                </m:fPr>
                                <m:num>
                                  <m:r>
                                    <a:rPr lang="fr-FR" i="1">
                                      <a:solidFill>
                                        <a:srgbClr val="FF0000"/>
                                      </a:solidFill>
                                      <a:latin typeface="Cambria Math" panose="02040503050406030204" pitchFamily="18" charset="0"/>
                                    </a:rPr>
                                    <m:t>𝑑</m:t>
                                  </m:r>
                                  <m:func>
                                    <m:funcPr>
                                      <m:ctrlPr>
                                        <a:rPr lang="fr-FR" i="1">
                                          <a:solidFill>
                                            <a:srgbClr val="FF0000"/>
                                          </a:solidFill>
                                          <a:latin typeface="Cambria Math" panose="02040503050406030204" pitchFamily="18" charset="0"/>
                                        </a:rPr>
                                      </m:ctrlPr>
                                    </m:funcPr>
                                    <m:fName>
                                      <m:r>
                                        <m:rPr>
                                          <m:sty m:val="p"/>
                                        </m:rPr>
                                        <a:rPr lang="fr-FR">
                                          <a:solidFill>
                                            <a:srgbClr val="FF0000"/>
                                          </a:solidFill>
                                          <a:latin typeface="Cambria Math" panose="02040503050406030204" pitchFamily="18" charset="0"/>
                                        </a:rPr>
                                        <m:t>sin</m:t>
                                      </m:r>
                                    </m:fName>
                                    <m:e>
                                      <m:r>
                                        <a:rPr lang="fr-FR" i="1">
                                          <a:solidFill>
                                            <a:srgbClr val="FF0000"/>
                                          </a:solidFill>
                                          <a:latin typeface="Cambria Math" panose="02040503050406030204" pitchFamily="18" charset="0"/>
                                          <a:ea typeface="Cambria Math" panose="02040503050406030204" pitchFamily="18" charset="0"/>
                                        </a:rPr>
                                        <m:t>𝜃</m:t>
                                      </m:r>
                                    </m:e>
                                  </m:func>
                                </m:num>
                                <m:den>
                                  <m:r>
                                    <a:rPr lang="fr-FR" i="1">
                                      <a:solidFill>
                                        <a:srgbClr val="FF0000"/>
                                      </a:solidFill>
                                      <a:latin typeface="Cambria Math" panose="02040503050406030204" pitchFamily="18" charset="0"/>
                                    </a:rPr>
                                    <m:t>𝑑</m:t>
                                  </m:r>
                                  <m:r>
                                    <a:rPr lang="fr-FR" i="1">
                                      <a:solidFill>
                                        <a:srgbClr val="FF0000"/>
                                      </a:solidFill>
                                      <a:latin typeface="Cambria Math" panose="02040503050406030204" pitchFamily="18" charset="0"/>
                                      <a:ea typeface="Cambria Math" panose="02040503050406030204" pitchFamily="18" charset="0"/>
                                    </a:rPr>
                                    <m:t>𝜃</m:t>
                                  </m:r>
                                </m:den>
                              </m:f>
                              <m:r>
                                <a:rPr lang="fr-FR" i="1">
                                  <a:solidFill>
                                    <a:srgbClr val="FF0000"/>
                                  </a:solidFill>
                                  <a:latin typeface="Cambria Math" panose="02040503050406030204" pitchFamily="18" charset="0"/>
                                </a:rPr>
                                <m:t>=</m:t>
                              </m:r>
                              <m:func>
                                <m:funcPr>
                                  <m:ctrlPr>
                                    <a:rPr lang="fr-FR" i="1">
                                      <a:solidFill>
                                        <a:srgbClr val="FF0000"/>
                                      </a:solidFill>
                                      <a:latin typeface="Cambria Math" panose="02040503050406030204" pitchFamily="18" charset="0"/>
                                    </a:rPr>
                                  </m:ctrlPr>
                                </m:funcPr>
                                <m:fName>
                                  <m:r>
                                    <m:rPr>
                                      <m:sty m:val="p"/>
                                    </m:rPr>
                                    <a:rPr lang="fr-FR">
                                      <a:solidFill>
                                        <a:srgbClr val="FF0000"/>
                                      </a:solidFill>
                                      <a:latin typeface="Cambria Math" panose="02040503050406030204" pitchFamily="18" charset="0"/>
                                    </a:rPr>
                                    <m:t>cos</m:t>
                                  </m:r>
                                </m:fName>
                                <m:e>
                                  <m:r>
                                    <a:rPr lang="fr-FR" i="1">
                                      <a:solidFill>
                                        <a:srgbClr val="FF0000"/>
                                      </a:solidFill>
                                      <a:latin typeface="Cambria Math" panose="02040503050406030204" pitchFamily="18" charset="0"/>
                                      <a:ea typeface="Cambria Math" panose="02040503050406030204" pitchFamily="18" charset="0"/>
                                    </a:rPr>
                                    <m:t>𝜃</m:t>
                                  </m:r>
                                </m:e>
                              </m:func>
                            </m:e>
                            <m:e>
                              <m:f>
                                <m:fPr>
                                  <m:ctrlPr>
                                    <a:rPr lang="fr-FR" i="1">
                                      <a:solidFill>
                                        <a:srgbClr val="FF0000"/>
                                      </a:solidFill>
                                      <a:latin typeface="Cambria Math" panose="02040503050406030204" pitchFamily="18" charset="0"/>
                                    </a:rPr>
                                  </m:ctrlPr>
                                </m:fPr>
                                <m:num>
                                  <m:r>
                                    <a:rPr lang="fr-FR" i="1">
                                      <a:solidFill>
                                        <a:srgbClr val="FF0000"/>
                                      </a:solidFill>
                                      <a:latin typeface="Cambria Math" panose="02040503050406030204" pitchFamily="18" charset="0"/>
                                    </a:rPr>
                                    <m:t>𝑑</m:t>
                                  </m:r>
                                  <m:func>
                                    <m:funcPr>
                                      <m:ctrlPr>
                                        <a:rPr lang="fr-FR" i="1">
                                          <a:solidFill>
                                            <a:srgbClr val="FF0000"/>
                                          </a:solidFill>
                                          <a:latin typeface="Cambria Math" panose="02040503050406030204" pitchFamily="18" charset="0"/>
                                        </a:rPr>
                                      </m:ctrlPr>
                                    </m:funcPr>
                                    <m:fName>
                                      <m:r>
                                        <m:rPr>
                                          <m:sty m:val="p"/>
                                        </m:rPr>
                                        <a:rPr lang="fr-FR">
                                          <a:solidFill>
                                            <a:srgbClr val="FF0000"/>
                                          </a:solidFill>
                                          <a:latin typeface="Cambria Math" panose="02040503050406030204" pitchFamily="18" charset="0"/>
                                        </a:rPr>
                                        <m:t>cos</m:t>
                                      </m:r>
                                    </m:fName>
                                    <m:e>
                                      <m:r>
                                        <a:rPr lang="fr-FR" i="1">
                                          <a:solidFill>
                                            <a:srgbClr val="FF0000"/>
                                          </a:solidFill>
                                          <a:latin typeface="Cambria Math" panose="02040503050406030204" pitchFamily="18" charset="0"/>
                                          <a:ea typeface="Cambria Math" panose="02040503050406030204" pitchFamily="18" charset="0"/>
                                        </a:rPr>
                                        <m:t>𝜃</m:t>
                                      </m:r>
                                    </m:e>
                                  </m:func>
                                </m:num>
                                <m:den>
                                  <m:r>
                                    <a:rPr lang="fr-FR" i="1">
                                      <a:solidFill>
                                        <a:srgbClr val="FF0000"/>
                                      </a:solidFill>
                                      <a:latin typeface="Cambria Math" panose="02040503050406030204" pitchFamily="18" charset="0"/>
                                    </a:rPr>
                                    <m:t>𝑑</m:t>
                                  </m:r>
                                  <m:r>
                                    <a:rPr lang="fr-FR" i="1">
                                      <a:solidFill>
                                        <a:srgbClr val="FF0000"/>
                                      </a:solidFill>
                                      <a:latin typeface="Cambria Math" panose="02040503050406030204" pitchFamily="18" charset="0"/>
                                      <a:ea typeface="Cambria Math" panose="02040503050406030204" pitchFamily="18" charset="0"/>
                                    </a:rPr>
                                    <m:t>𝜃</m:t>
                                  </m:r>
                                </m:den>
                              </m:f>
                              <m:r>
                                <a:rPr lang="fr-FR" i="1">
                                  <a:solidFill>
                                    <a:srgbClr val="FF0000"/>
                                  </a:solidFill>
                                  <a:latin typeface="Cambria Math" panose="02040503050406030204" pitchFamily="18" charset="0"/>
                                </a:rPr>
                                <m:t>=−</m:t>
                              </m:r>
                              <m:func>
                                <m:funcPr>
                                  <m:ctrlPr>
                                    <a:rPr lang="fr-FR" i="1">
                                      <a:solidFill>
                                        <a:srgbClr val="FF0000"/>
                                      </a:solidFill>
                                      <a:latin typeface="Cambria Math" panose="02040503050406030204" pitchFamily="18" charset="0"/>
                                    </a:rPr>
                                  </m:ctrlPr>
                                </m:funcPr>
                                <m:fName>
                                  <m:r>
                                    <m:rPr>
                                      <m:sty m:val="p"/>
                                    </m:rPr>
                                    <a:rPr lang="fr-FR">
                                      <a:solidFill>
                                        <a:srgbClr val="FF0000"/>
                                      </a:solidFill>
                                      <a:latin typeface="Cambria Math" panose="02040503050406030204" pitchFamily="18" charset="0"/>
                                    </a:rPr>
                                    <m:t>sin</m:t>
                                  </m:r>
                                </m:fName>
                                <m:e>
                                  <m:r>
                                    <a:rPr lang="fr-FR" i="1">
                                      <a:solidFill>
                                        <a:srgbClr val="FF0000"/>
                                      </a:solidFill>
                                      <a:latin typeface="Cambria Math" panose="02040503050406030204" pitchFamily="18" charset="0"/>
                                      <a:ea typeface="Cambria Math" panose="02040503050406030204" pitchFamily="18" charset="0"/>
                                    </a:rPr>
                                    <m:t>𝜃</m:t>
                                  </m:r>
                                </m:e>
                              </m:func>
                            </m:e>
                          </m:eqArr>
                        </m:e>
                      </m:d>
                    </m:oMath>
                  </m:oMathPara>
                </a14:m>
                <a:endParaRPr lang="fr-FR" i="1" dirty="0">
                  <a:latin typeface="Cambria Math" panose="02040503050406030204" pitchFamily="18" charset="0"/>
                </a:endParaRPr>
              </a:p>
              <a:p>
                <a:pPr marL="0" indent="0">
                  <a:buNone/>
                </a:pPr>
                <a:endParaRPr lang="fr-FR"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fr-FR" i="1" smtClean="0">
                              <a:latin typeface="Cambria Math" panose="02040503050406030204" pitchFamily="18" charset="0"/>
                            </a:rPr>
                          </m:ctrlPr>
                        </m:fPr>
                        <m:num>
                          <m:r>
                            <a:rPr lang="fr-FR" b="0" i="1" smtClean="0">
                              <a:latin typeface="Cambria Math" panose="02040503050406030204" pitchFamily="18" charset="0"/>
                            </a:rPr>
                            <m:t>𝑑𝑥</m:t>
                          </m:r>
                        </m:num>
                        <m:den>
                          <m:r>
                            <a:rPr lang="fr-FR" b="0" i="1" smtClean="0">
                              <a:latin typeface="Cambria Math" panose="02040503050406030204" pitchFamily="18" charset="0"/>
                            </a:rPr>
                            <m:t>𝑑𝑡</m:t>
                          </m:r>
                        </m:den>
                      </m:f>
                      <m:r>
                        <a:rPr lang="fr-FR" b="0" i="1" smtClean="0">
                          <a:latin typeface="Cambria Math" panose="02040503050406030204" pitchFamily="18" charset="0"/>
                        </a:rPr>
                        <m:t>=</m:t>
                      </m:r>
                      <m:f>
                        <m:fPr>
                          <m:ctrlPr>
                            <a:rPr lang="fr-FR" b="0" i="1" smtClean="0">
                              <a:latin typeface="Cambria Math" panose="02040503050406030204" pitchFamily="18" charset="0"/>
                            </a:rPr>
                          </m:ctrlPr>
                        </m:fPr>
                        <m:num>
                          <m:r>
                            <a:rPr lang="fr-FR" b="0"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𝑥</m:t>
                          </m:r>
                        </m:num>
                        <m:den>
                          <m:r>
                            <a:rPr lang="fr-FR" i="1">
                              <a:latin typeface="Cambria Math" panose="02040503050406030204" pitchFamily="18" charset="0"/>
                              <a:ea typeface="Cambria Math" panose="02040503050406030204" pitchFamily="18" charset="0"/>
                            </a:rPr>
                            <m:t>𝜕</m:t>
                          </m:r>
                          <m:sSub>
                            <m:sSubPr>
                              <m:ctrlPr>
                                <a:rPr lang="fr-FR" i="1" smtClean="0">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ea typeface="Cambria Math" panose="02040503050406030204" pitchFamily="18" charset="0"/>
                                </a:rPr>
                                <m:t>1</m:t>
                              </m:r>
                            </m:sub>
                          </m:sSub>
                        </m:den>
                      </m:f>
                      <m:f>
                        <m:fPr>
                          <m:ctrlPr>
                            <a:rPr lang="fr-FR" b="0" i="1" smtClean="0">
                              <a:latin typeface="Cambria Math" panose="02040503050406030204" pitchFamily="18" charset="0"/>
                            </a:rPr>
                          </m:ctrlPr>
                        </m:fPr>
                        <m:num>
                          <m:r>
                            <a:rPr lang="fr-FR" b="0" i="1" smtClean="0">
                              <a:latin typeface="Cambria Math" panose="02040503050406030204" pitchFamily="18" charset="0"/>
                            </a:rPr>
                            <m:t>𝑑</m:t>
                          </m:r>
                          <m:sSub>
                            <m:sSubPr>
                              <m:ctrlPr>
                                <a:rPr lang="fr-FR" b="0" i="1" smtClean="0">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rPr>
                                <m:t>1</m:t>
                              </m:r>
                            </m:sub>
                          </m:sSub>
                        </m:num>
                        <m:den>
                          <m:r>
                            <a:rPr lang="fr-FR" b="0" i="1" smtClean="0">
                              <a:latin typeface="Cambria Math" panose="02040503050406030204" pitchFamily="18" charset="0"/>
                            </a:rPr>
                            <m:t>𝑑𝑡</m:t>
                          </m:r>
                        </m:den>
                      </m:f>
                      <m:r>
                        <a:rPr lang="fr-FR" b="0" i="1" smtClean="0">
                          <a:latin typeface="Cambria Math" panose="02040503050406030204" pitchFamily="18" charset="0"/>
                        </a:rPr>
                        <m:t>+</m:t>
                      </m:r>
                      <m:f>
                        <m:fPr>
                          <m:ctrlPr>
                            <a:rPr lang="fr-FR" i="1">
                              <a:latin typeface="Cambria Math" panose="02040503050406030204" pitchFamily="18" charset="0"/>
                            </a:rPr>
                          </m:ctrlPr>
                        </m:fPr>
                        <m:num>
                          <m:r>
                            <a:rPr lang="fr-FR" i="1">
                              <a:latin typeface="Cambria Math" panose="02040503050406030204" pitchFamily="18" charset="0"/>
                              <a:ea typeface="Cambria Math" panose="02040503050406030204" pitchFamily="18" charset="0"/>
                            </a:rPr>
                            <m:t>𝜕</m:t>
                          </m:r>
                          <m:r>
                            <a:rPr lang="fr-FR" i="1">
                              <a:latin typeface="Cambria Math" panose="02040503050406030204" pitchFamily="18" charset="0"/>
                              <a:ea typeface="Cambria Math" panose="02040503050406030204" pitchFamily="18" charset="0"/>
                            </a:rPr>
                            <m:t>𝑥</m:t>
                          </m:r>
                        </m:num>
                        <m:den>
                          <m:r>
                            <a:rPr lang="fr-FR" i="1">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ea typeface="Cambria Math" panose="02040503050406030204" pitchFamily="18" charset="0"/>
                                </a:rPr>
                                <m:t>2</m:t>
                              </m:r>
                            </m:sub>
                          </m:sSub>
                        </m:den>
                      </m:f>
                      <m:f>
                        <m:fPr>
                          <m:ctrlPr>
                            <a:rPr lang="fr-FR" i="1">
                              <a:latin typeface="Cambria Math" panose="02040503050406030204" pitchFamily="18" charset="0"/>
                            </a:rPr>
                          </m:ctrlPr>
                        </m:fPr>
                        <m:num>
                          <m:r>
                            <a:rPr lang="fr-FR" i="1">
                              <a:latin typeface="Cambria Math" panose="02040503050406030204" pitchFamily="18" charset="0"/>
                            </a:rPr>
                            <m:t>𝑑</m:t>
                          </m:r>
                          <m:sSub>
                            <m:sSubPr>
                              <m:ctrlPr>
                                <a:rPr lang="fr-FR" i="1">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ea typeface="Cambria Math" panose="02040503050406030204" pitchFamily="18" charset="0"/>
                                </a:rPr>
                                <m:t>2</m:t>
                              </m:r>
                            </m:sub>
                          </m:sSub>
                        </m:num>
                        <m:den>
                          <m:r>
                            <a:rPr lang="fr-FR" i="1">
                              <a:latin typeface="Cambria Math" panose="02040503050406030204" pitchFamily="18" charset="0"/>
                            </a:rPr>
                            <m:t>𝑑𝑡</m:t>
                          </m:r>
                        </m:den>
                      </m:f>
                    </m:oMath>
                  </m:oMathPara>
                </a14:m>
                <a:endParaRPr lang="fr-FR" dirty="0"/>
              </a:p>
              <a:p>
                <a:pPr marL="0" indent="0">
                  <a:buNone/>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m:t>
                      </m:r>
                      <m:f>
                        <m:fPr>
                          <m:ctrlPr>
                            <a:rPr lang="fr-FR" i="1">
                              <a:latin typeface="Cambria Math" panose="02040503050406030204" pitchFamily="18" charset="0"/>
                            </a:rPr>
                          </m:ctrlPr>
                        </m:fPr>
                        <m:num>
                          <m:r>
                            <a:rPr lang="fr-FR" i="1">
                              <a:latin typeface="Cambria Math" panose="02040503050406030204" pitchFamily="18" charset="0"/>
                              <a:ea typeface="Cambria Math" panose="02040503050406030204" pitchFamily="18" charset="0"/>
                            </a:rPr>
                            <m:t>𝜕</m:t>
                          </m:r>
                          <m:r>
                            <a:rPr lang="fr-FR" i="1">
                              <a:latin typeface="Cambria Math" panose="02040503050406030204" pitchFamily="18" charset="0"/>
                              <a:ea typeface="Cambria Math" panose="02040503050406030204" pitchFamily="18" charset="0"/>
                            </a:rPr>
                            <m:t>𝑥</m:t>
                          </m:r>
                        </m:num>
                        <m:den>
                          <m:r>
                            <a:rPr lang="fr-FR" i="1">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i="1">
                                  <a:latin typeface="Cambria Math" panose="02040503050406030204" pitchFamily="18" charset="0"/>
                                  <a:ea typeface="Cambria Math" panose="02040503050406030204" pitchFamily="18" charset="0"/>
                                </a:rPr>
                                <m:t>1</m:t>
                              </m:r>
                            </m:sub>
                          </m:sSub>
                        </m:den>
                      </m:f>
                      <m:sSub>
                        <m:sSubPr>
                          <m:ctrlPr>
                            <a:rPr lang="fr-FR" i="1" smtClean="0">
                              <a:latin typeface="Cambria Math" panose="02040503050406030204" pitchFamily="18" charset="0"/>
                              <a:ea typeface="Cambria Math" panose="02040503050406030204" pitchFamily="18" charset="0"/>
                            </a:rPr>
                          </m:ctrlPr>
                        </m:sSubPr>
                        <m:e>
                          <m:acc>
                            <m:accPr>
                              <m:chr m:val="̇"/>
                              <m:ctrlPr>
                                <a:rPr lang="fr-FR" b="0" i="1" smtClean="0">
                                  <a:latin typeface="Cambria Math" panose="02040503050406030204" pitchFamily="18" charset="0"/>
                                  <a:ea typeface="Cambria Math" panose="02040503050406030204" pitchFamily="18" charset="0"/>
                                </a:rPr>
                              </m:ctrlPr>
                            </m:accPr>
                            <m:e>
                              <m:r>
                                <a:rPr lang="fr-FR" i="1">
                                  <a:latin typeface="Cambria Math" panose="02040503050406030204" pitchFamily="18" charset="0"/>
                                  <a:ea typeface="Cambria Math" panose="02040503050406030204" pitchFamily="18" charset="0"/>
                                </a:rPr>
                                <m:t>𝜃</m:t>
                              </m:r>
                            </m:e>
                          </m:acc>
                        </m:e>
                        <m:sub>
                          <m:r>
                            <a:rPr lang="fr-FR" b="0" i="1" smtClean="0">
                              <a:latin typeface="Cambria Math" panose="02040503050406030204" pitchFamily="18" charset="0"/>
                              <a:ea typeface="Cambria Math" panose="02040503050406030204" pitchFamily="18" charset="0"/>
                            </a:rPr>
                            <m:t>1</m:t>
                          </m:r>
                        </m:sub>
                      </m:sSub>
                      <m:r>
                        <a:rPr lang="fr-FR" i="1">
                          <a:latin typeface="Cambria Math" panose="02040503050406030204" pitchFamily="18" charset="0"/>
                        </a:rPr>
                        <m:t>+</m:t>
                      </m:r>
                      <m:f>
                        <m:fPr>
                          <m:ctrlPr>
                            <a:rPr lang="fr-FR" i="1">
                              <a:latin typeface="Cambria Math" panose="02040503050406030204" pitchFamily="18" charset="0"/>
                            </a:rPr>
                          </m:ctrlPr>
                        </m:fPr>
                        <m:num>
                          <m:r>
                            <a:rPr lang="fr-FR" i="1">
                              <a:latin typeface="Cambria Math" panose="02040503050406030204" pitchFamily="18" charset="0"/>
                              <a:ea typeface="Cambria Math" panose="02040503050406030204" pitchFamily="18" charset="0"/>
                            </a:rPr>
                            <m:t>𝜕</m:t>
                          </m:r>
                          <m:r>
                            <a:rPr lang="fr-FR" i="1">
                              <a:latin typeface="Cambria Math" panose="02040503050406030204" pitchFamily="18" charset="0"/>
                              <a:ea typeface="Cambria Math" panose="02040503050406030204" pitchFamily="18" charset="0"/>
                            </a:rPr>
                            <m:t>𝑥</m:t>
                          </m:r>
                        </m:num>
                        <m:den>
                          <m:r>
                            <a:rPr lang="fr-FR" i="1">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i="1">
                                  <a:latin typeface="Cambria Math" panose="02040503050406030204" pitchFamily="18" charset="0"/>
                                  <a:ea typeface="Cambria Math" panose="02040503050406030204" pitchFamily="18" charset="0"/>
                                </a:rPr>
                                <m:t>2</m:t>
                              </m:r>
                            </m:sub>
                          </m:sSub>
                        </m:den>
                      </m:f>
                      <m:sSub>
                        <m:sSubPr>
                          <m:ctrlPr>
                            <a:rPr lang="fr-FR" i="1">
                              <a:latin typeface="Cambria Math" panose="02040503050406030204" pitchFamily="18" charset="0"/>
                              <a:ea typeface="Cambria Math" panose="02040503050406030204" pitchFamily="18" charset="0"/>
                            </a:rPr>
                          </m:ctrlPr>
                        </m:sSubPr>
                        <m:e>
                          <m:acc>
                            <m:accPr>
                              <m:chr m:val="̇"/>
                              <m:ctrlPr>
                                <a:rPr lang="fr-FR" i="1">
                                  <a:latin typeface="Cambria Math" panose="02040503050406030204" pitchFamily="18" charset="0"/>
                                  <a:ea typeface="Cambria Math" panose="02040503050406030204" pitchFamily="18" charset="0"/>
                                </a:rPr>
                              </m:ctrlPr>
                            </m:accPr>
                            <m:e>
                              <m:r>
                                <a:rPr lang="fr-FR" i="1">
                                  <a:latin typeface="Cambria Math" panose="02040503050406030204" pitchFamily="18" charset="0"/>
                                  <a:ea typeface="Cambria Math" panose="02040503050406030204" pitchFamily="18" charset="0"/>
                                </a:rPr>
                                <m:t>𝜃</m:t>
                              </m:r>
                            </m:e>
                          </m:acc>
                        </m:e>
                        <m:sub>
                          <m:r>
                            <a:rPr lang="fr-FR" b="0" i="1" smtClean="0">
                              <a:latin typeface="Cambria Math" panose="02040503050406030204" pitchFamily="18" charset="0"/>
                              <a:ea typeface="Cambria Math" panose="02040503050406030204" pitchFamily="18" charset="0"/>
                            </a:rPr>
                            <m:t>2</m:t>
                          </m:r>
                        </m:sub>
                      </m:sSub>
                    </m:oMath>
                  </m:oMathPara>
                </a14:m>
                <a:endParaRPr lang="fr-FR" dirty="0"/>
              </a:p>
              <a:p>
                <a:pPr marL="0" indent="0">
                  <a:buNone/>
                </a:pPr>
                <a:r>
                  <a:rPr lang="fr-FR" dirty="0"/>
                  <a:t>For the record: </a:t>
                </a:r>
                <a:endParaRPr lang="fr-FR"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fr-FR" i="1">
                          <a:latin typeface="Cambria Math" panose="02040503050406030204" pitchFamily="18" charset="0"/>
                        </a:rPr>
                        <m:t>𝑥</m:t>
                      </m:r>
                      <m:r>
                        <a:rPr lang="fr-FR" i="1">
                          <a:latin typeface="Cambria Math" panose="02040503050406030204" pitchFamily="18" charset="0"/>
                        </a:rPr>
                        <m:t>=</m:t>
                      </m:r>
                      <m:sSub>
                        <m:sSubPr>
                          <m:ctrlPr>
                            <a:rPr lang="fr-FR" i="1">
                              <a:latin typeface="Cambria Math" panose="02040503050406030204" pitchFamily="18" charset="0"/>
                            </a:rPr>
                          </m:ctrlPr>
                        </m:sSubPr>
                        <m:e>
                          <m:r>
                            <a:rPr lang="fr-FR" i="1">
                              <a:latin typeface="Cambria Math" panose="02040503050406030204" pitchFamily="18" charset="0"/>
                            </a:rPr>
                            <m:t>𝑎</m:t>
                          </m:r>
                        </m:e>
                        <m:sub>
                          <m:r>
                            <a:rPr lang="fr-FR" i="1">
                              <a:latin typeface="Cambria Math" panose="02040503050406030204" pitchFamily="18" charset="0"/>
                            </a:rPr>
                            <m:t>1</m:t>
                          </m:r>
                        </m:sub>
                      </m:sSub>
                      <m:func>
                        <m:funcPr>
                          <m:ctrlPr>
                            <a:rPr lang="fr-FR" i="1">
                              <a:latin typeface="Cambria Math" panose="02040503050406030204" pitchFamily="18" charset="0"/>
                            </a:rPr>
                          </m:ctrlPr>
                        </m:funcPr>
                        <m:fName>
                          <m:r>
                            <m:rPr>
                              <m:sty m:val="p"/>
                            </m:rPr>
                            <a:rPr lang="fr-FR">
                              <a:latin typeface="Cambria Math" panose="02040503050406030204" pitchFamily="18" charset="0"/>
                            </a:rPr>
                            <m:t>cos</m:t>
                          </m:r>
                        </m:fName>
                        <m:e>
                          <m:sSub>
                            <m:sSubPr>
                              <m:ctrlPr>
                                <a:rPr lang="fr-FR" i="1">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i="1">
                                  <a:latin typeface="Cambria Math" panose="02040503050406030204" pitchFamily="18" charset="0"/>
                                </a:rPr>
                                <m:t>1</m:t>
                              </m:r>
                            </m:sub>
                          </m:sSub>
                        </m:e>
                      </m:func>
                      <m:r>
                        <a:rPr lang="fr-FR" i="1">
                          <a:latin typeface="Cambria Math" panose="02040503050406030204" pitchFamily="18" charset="0"/>
                        </a:rPr>
                        <m:t>+</m:t>
                      </m:r>
                      <m:sSub>
                        <m:sSubPr>
                          <m:ctrlPr>
                            <a:rPr lang="fr-FR" i="1">
                              <a:latin typeface="Cambria Math" panose="02040503050406030204" pitchFamily="18" charset="0"/>
                            </a:rPr>
                          </m:ctrlPr>
                        </m:sSubPr>
                        <m:e>
                          <m:r>
                            <a:rPr lang="fr-FR" i="1">
                              <a:latin typeface="Cambria Math" panose="02040503050406030204" pitchFamily="18" charset="0"/>
                            </a:rPr>
                            <m:t>𝑎</m:t>
                          </m:r>
                        </m:e>
                        <m:sub>
                          <m:r>
                            <a:rPr lang="fr-FR" i="1">
                              <a:latin typeface="Cambria Math" panose="02040503050406030204" pitchFamily="18" charset="0"/>
                            </a:rPr>
                            <m:t>2</m:t>
                          </m:r>
                        </m:sub>
                      </m:sSub>
                      <m:func>
                        <m:funcPr>
                          <m:ctrlPr>
                            <a:rPr lang="fr-FR" i="1">
                              <a:latin typeface="Cambria Math" panose="02040503050406030204" pitchFamily="18" charset="0"/>
                            </a:rPr>
                          </m:ctrlPr>
                        </m:funcPr>
                        <m:fName>
                          <m:r>
                            <m:rPr>
                              <m:sty m:val="p"/>
                            </m:rPr>
                            <a:rPr lang="fr-FR">
                              <a:latin typeface="Cambria Math" panose="02040503050406030204" pitchFamily="18" charset="0"/>
                            </a:rPr>
                            <m:t>cos</m:t>
                          </m:r>
                        </m:fName>
                        <m:e>
                          <m:d>
                            <m:dPr>
                              <m:ctrlPr>
                                <a:rPr lang="fr-FR" i="1">
                                  <a:latin typeface="Cambria Math" panose="02040503050406030204" pitchFamily="18" charset="0"/>
                                </a:rPr>
                              </m:ctrlPr>
                            </m:dPr>
                            <m:e>
                              <m:sSub>
                                <m:sSubPr>
                                  <m:ctrlPr>
                                    <a:rPr lang="fr-FR" i="1">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i="1">
                                      <a:latin typeface="Cambria Math" panose="02040503050406030204" pitchFamily="18" charset="0"/>
                                    </a:rPr>
                                    <m:t>1</m:t>
                                  </m:r>
                                </m:sub>
                              </m:sSub>
                              <m:r>
                                <a:rPr lang="fr-FR" i="1">
                                  <a:latin typeface="Cambria Math" panose="02040503050406030204" pitchFamily="18" charset="0"/>
                                </a:rPr>
                                <m:t>+</m:t>
                              </m:r>
                              <m:sSub>
                                <m:sSubPr>
                                  <m:ctrlPr>
                                    <a:rPr lang="fr-FR" i="1">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i="1">
                                      <a:latin typeface="Cambria Math" panose="02040503050406030204" pitchFamily="18" charset="0"/>
                                    </a:rPr>
                                    <m:t>2</m:t>
                                  </m:r>
                                </m:sub>
                              </m:sSub>
                            </m:e>
                          </m:d>
                        </m:e>
                      </m:func>
                    </m:oMath>
                  </m:oMathPara>
                </a14:m>
                <a:endParaRPr lang="fr-FR" i="1" dirty="0">
                  <a:latin typeface="Cambria Math" panose="02040503050406030204" pitchFamily="18" charset="0"/>
                </a:endParaRPr>
              </a:p>
              <a:p>
                <a:pPr marL="0" indent="0">
                  <a:buNone/>
                </a:pPr>
                <a:endParaRPr lang="fr-FR"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fr-FR" i="1">
                              <a:latin typeface="Cambria Math" panose="02040503050406030204" pitchFamily="18" charset="0"/>
                            </a:rPr>
                          </m:ctrlPr>
                        </m:fPr>
                        <m:num>
                          <m:r>
                            <a:rPr lang="fr-FR" i="1">
                              <a:latin typeface="Cambria Math" panose="02040503050406030204" pitchFamily="18" charset="0"/>
                              <a:ea typeface="Cambria Math" panose="02040503050406030204" pitchFamily="18" charset="0"/>
                            </a:rPr>
                            <m:t>𝜕</m:t>
                          </m:r>
                          <m:r>
                            <a:rPr lang="fr-FR" i="1">
                              <a:latin typeface="Cambria Math" panose="02040503050406030204" pitchFamily="18" charset="0"/>
                              <a:ea typeface="Cambria Math" panose="02040503050406030204" pitchFamily="18" charset="0"/>
                            </a:rPr>
                            <m:t>𝑥</m:t>
                          </m:r>
                        </m:num>
                        <m:den>
                          <m:r>
                            <a:rPr lang="fr-FR" i="1">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i="1">
                                  <a:latin typeface="Cambria Math" panose="02040503050406030204" pitchFamily="18" charset="0"/>
                                  <a:ea typeface="Cambria Math" panose="02040503050406030204" pitchFamily="18" charset="0"/>
                                </a:rPr>
                                <m:t>1</m:t>
                              </m:r>
                            </m:sub>
                          </m:sSub>
                        </m:den>
                      </m:f>
                      <m:r>
                        <a:rPr lang="fr-FR" b="0" i="1" smtClean="0">
                          <a:latin typeface="Cambria Math" panose="02040503050406030204" pitchFamily="18" charset="0"/>
                          <a:ea typeface="Cambria Math" panose="02040503050406030204" pitchFamily="18" charset="0"/>
                        </a:rPr>
                        <m:t>=−</m:t>
                      </m:r>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𝑎</m:t>
                          </m:r>
                        </m:e>
                        <m:sub>
                          <m:r>
                            <a:rPr lang="fr-FR" b="0" i="1" smtClean="0">
                              <a:latin typeface="Cambria Math" panose="02040503050406030204" pitchFamily="18" charset="0"/>
                              <a:ea typeface="Cambria Math" panose="02040503050406030204" pitchFamily="18" charset="0"/>
                            </a:rPr>
                            <m:t>1</m:t>
                          </m:r>
                        </m:sub>
                      </m:sSub>
                      <m:func>
                        <m:funcPr>
                          <m:ctrlPr>
                            <a:rPr lang="fr-FR" b="0" i="1" smtClean="0">
                              <a:latin typeface="Cambria Math" panose="02040503050406030204" pitchFamily="18" charset="0"/>
                              <a:ea typeface="Cambria Math" panose="02040503050406030204" pitchFamily="18" charset="0"/>
                            </a:rPr>
                          </m:ctrlPr>
                        </m:funcPr>
                        <m:fName>
                          <m:r>
                            <m:rPr>
                              <m:sty m:val="p"/>
                            </m:rPr>
                            <a:rPr lang="fr-FR" b="0" i="0" smtClean="0">
                              <a:latin typeface="Cambria Math" panose="02040503050406030204" pitchFamily="18" charset="0"/>
                              <a:ea typeface="Cambria Math" panose="02040503050406030204" pitchFamily="18" charset="0"/>
                            </a:rPr>
                            <m:t>sin</m:t>
                          </m:r>
                        </m:fName>
                        <m:e>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ea typeface="Cambria Math" panose="02040503050406030204" pitchFamily="18" charset="0"/>
                                </a:rPr>
                                <m:t>1</m:t>
                              </m:r>
                            </m:sub>
                          </m:sSub>
                        </m:e>
                      </m:func>
                      <m:r>
                        <a:rPr lang="fr-FR" b="0" i="1" smtClean="0">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𝑎</m:t>
                          </m:r>
                        </m:e>
                        <m:sub>
                          <m:r>
                            <a:rPr lang="fr-FR" b="0" i="1" smtClean="0">
                              <a:latin typeface="Cambria Math" panose="02040503050406030204" pitchFamily="18" charset="0"/>
                              <a:ea typeface="Cambria Math" panose="02040503050406030204" pitchFamily="18" charset="0"/>
                            </a:rPr>
                            <m:t>2</m:t>
                          </m:r>
                        </m:sub>
                      </m:sSub>
                      <m:func>
                        <m:funcPr>
                          <m:ctrlPr>
                            <a:rPr lang="fr-FR" i="1">
                              <a:latin typeface="Cambria Math" panose="02040503050406030204" pitchFamily="18" charset="0"/>
                              <a:ea typeface="Cambria Math" panose="02040503050406030204" pitchFamily="18" charset="0"/>
                            </a:rPr>
                          </m:ctrlPr>
                        </m:funcPr>
                        <m:fName>
                          <m:r>
                            <m:rPr>
                              <m:sty m:val="p"/>
                            </m:rPr>
                            <a:rPr lang="fr-FR">
                              <a:latin typeface="Cambria Math" panose="02040503050406030204" pitchFamily="18" charset="0"/>
                              <a:ea typeface="Cambria Math" panose="02040503050406030204" pitchFamily="18" charset="0"/>
                            </a:rPr>
                            <m:t>sin</m:t>
                          </m:r>
                        </m:fName>
                        <m:e>
                          <m:d>
                            <m:dPr>
                              <m:ctrlPr>
                                <a:rPr lang="fr-FR" i="1" smtClean="0">
                                  <a:latin typeface="Cambria Math" panose="02040503050406030204" pitchFamily="18" charset="0"/>
                                  <a:ea typeface="Cambria Math" panose="02040503050406030204" pitchFamily="18" charset="0"/>
                                </a:rPr>
                              </m:ctrlPr>
                            </m:dPr>
                            <m:e>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i="1">
                                      <a:latin typeface="Cambria Math" panose="02040503050406030204" pitchFamily="18" charset="0"/>
                                      <a:ea typeface="Cambria Math" panose="02040503050406030204" pitchFamily="18" charset="0"/>
                                    </a:rPr>
                                    <m:t>1</m:t>
                                  </m:r>
                                </m:sub>
                              </m:sSub>
                              <m:r>
                                <a:rPr lang="fr-FR" b="0" i="1" smtClean="0">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ea typeface="Cambria Math" panose="02040503050406030204" pitchFamily="18" charset="0"/>
                                    </a:rPr>
                                    <m:t>2</m:t>
                                  </m:r>
                                </m:sub>
                              </m:sSub>
                            </m:e>
                          </m:d>
                        </m:e>
                      </m:func>
                    </m:oMath>
                  </m:oMathPara>
                </a14:m>
                <a:endParaRPr lang="fr-FR"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fr-FR" i="1">
                              <a:latin typeface="Cambria Math" panose="02040503050406030204" pitchFamily="18" charset="0"/>
                            </a:rPr>
                          </m:ctrlPr>
                        </m:fPr>
                        <m:num>
                          <m:r>
                            <a:rPr lang="fr-FR" i="1">
                              <a:latin typeface="Cambria Math" panose="02040503050406030204" pitchFamily="18" charset="0"/>
                              <a:ea typeface="Cambria Math" panose="02040503050406030204" pitchFamily="18" charset="0"/>
                            </a:rPr>
                            <m:t>𝜕</m:t>
                          </m:r>
                          <m:r>
                            <a:rPr lang="fr-FR" i="1">
                              <a:latin typeface="Cambria Math" panose="02040503050406030204" pitchFamily="18" charset="0"/>
                              <a:ea typeface="Cambria Math" panose="02040503050406030204" pitchFamily="18" charset="0"/>
                            </a:rPr>
                            <m:t>𝑥</m:t>
                          </m:r>
                        </m:num>
                        <m:den>
                          <m:r>
                            <a:rPr lang="fr-FR" i="1">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i="1">
                                  <a:latin typeface="Cambria Math" panose="02040503050406030204" pitchFamily="18" charset="0"/>
                                  <a:ea typeface="Cambria Math" panose="02040503050406030204" pitchFamily="18" charset="0"/>
                                </a:rPr>
                                <m:t>2</m:t>
                              </m:r>
                            </m:sub>
                          </m:sSub>
                        </m:den>
                      </m:f>
                      <m:r>
                        <a:rPr lang="fr-FR" b="0" i="0" smtClean="0">
                          <a:latin typeface="Cambria Math" panose="02040503050406030204" pitchFamily="18" charset="0"/>
                          <a:ea typeface="Cambria Math" panose="02040503050406030204" pitchFamily="18" charset="0"/>
                        </a:rPr>
                        <m:t>=</m:t>
                      </m:r>
                      <m:r>
                        <a:rPr lang="fr-FR" i="1">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𝑎</m:t>
                          </m:r>
                        </m:e>
                        <m:sub>
                          <m:r>
                            <a:rPr lang="fr-FR" i="1">
                              <a:latin typeface="Cambria Math" panose="02040503050406030204" pitchFamily="18" charset="0"/>
                              <a:ea typeface="Cambria Math" panose="02040503050406030204" pitchFamily="18" charset="0"/>
                            </a:rPr>
                            <m:t>2</m:t>
                          </m:r>
                        </m:sub>
                      </m:sSub>
                      <m:func>
                        <m:funcPr>
                          <m:ctrlPr>
                            <a:rPr lang="fr-FR" i="1">
                              <a:latin typeface="Cambria Math" panose="02040503050406030204" pitchFamily="18" charset="0"/>
                              <a:ea typeface="Cambria Math" panose="02040503050406030204" pitchFamily="18" charset="0"/>
                            </a:rPr>
                          </m:ctrlPr>
                        </m:funcPr>
                        <m:fName>
                          <m:r>
                            <m:rPr>
                              <m:sty m:val="p"/>
                            </m:rPr>
                            <a:rPr lang="fr-FR">
                              <a:latin typeface="Cambria Math" panose="02040503050406030204" pitchFamily="18" charset="0"/>
                              <a:ea typeface="Cambria Math" panose="02040503050406030204" pitchFamily="18" charset="0"/>
                            </a:rPr>
                            <m:t>sin</m:t>
                          </m:r>
                        </m:fName>
                        <m:e>
                          <m:d>
                            <m:dPr>
                              <m:ctrlPr>
                                <a:rPr lang="fr-FR" i="1">
                                  <a:latin typeface="Cambria Math" panose="02040503050406030204" pitchFamily="18" charset="0"/>
                                  <a:ea typeface="Cambria Math" panose="02040503050406030204" pitchFamily="18" charset="0"/>
                                </a:rPr>
                              </m:ctrlPr>
                            </m:dPr>
                            <m:e>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i="1">
                                      <a:latin typeface="Cambria Math" panose="02040503050406030204" pitchFamily="18" charset="0"/>
                                      <a:ea typeface="Cambria Math" panose="02040503050406030204" pitchFamily="18" charset="0"/>
                                    </a:rPr>
                                    <m:t>1</m:t>
                                  </m:r>
                                </m:sub>
                              </m:sSub>
                              <m:r>
                                <a:rPr lang="fr-FR" i="1">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i="1">
                                      <a:latin typeface="Cambria Math" panose="02040503050406030204" pitchFamily="18" charset="0"/>
                                      <a:ea typeface="Cambria Math" panose="02040503050406030204" pitchFamily="18" charset="0"/>
                                    </a:rPr>
                                    <m:t>2</m:t>
                                  </m:r>
                                </m:sub>
                              </m:sSub>
                            </m:e>
                          </m:d>
                        </m:e>
                      </m:func>
                    </m:oMath>
                  </m:oMathPara>
                </a14:m>
                <a:endParaRPr lang="fr-FR" b="0" dirty="0">
                  <a:ea typeface="Cambria Math" panose="02040503050406030204" pitchFamily="18" charset="0"/>
                </a:endParaRPr>
              </a:p>
              <a:p>
                <a:pPr marL="0" indent="0">
                  <a:buNone/>
                </a:pPr>
                <a:endParaRPr lang="fr-FR" dirty="0"/>
              </a:p>
            </p:txBody>
          </p:sp>
        </mc:Choice>
        <mc:Fallback xmlns="">
          <p:sp>
            <p:nvSpPr>
              <p:cNvPr id="2" name="Espace réservé du contenu 1">
                <a:extLst>
                  <a:ext uri="{FF2B5EF4-FFF2-40B4-BE49-F238E27FC236}">
                    <a16:creationId xmlns:a16="http://schemas.microsoft.com/office/drawing/2014/main" id="{59F29AF2-A635-4149-B0D7-A31577D46E5C}"/>
                  </a:ext>
                </a:extLst>
              </p:cNvPr>
              <p:cNvSpPr>
                <a:spLocks noGrp="1" noRot="1" noChangeAspect="1" noMove="1" noResize="1" noEditPoints="1" noAdjustHandles="1" noChangeArrowheads="1" noChangeShapeType="1" noTextEdit="1"/>
              </p:cNvSpPr>
              <p:nvPr>
                <p:ph sz="quarter" idx="1"/>
              </p:nvPr>
            </p:nvSpPr>
            <p:spPr>
              <a:blipFill>
                <a:blip r:embed="rId2"/>
                <a:stretch>
                  <a:fillRect l="-608"/>
                </a:stretch>
              </a:blipFill>
            </p:spPr>
            <p:txBody>
              <a:bodyPr/>
              <a:lstStyle/>
              <a:p>
                <a:r>
                  <a:rPr lang="fr-FR">
                    <a:noFill/>
                  </a:rPr>
                  <a:t> </a:t>
                </a:r>
              </a:p>
            </p:txBody>
          </p:sp>
        </mc:Fallback>
      </mc:AlternateContent>
      <p:sp>
        <p:nvSpPr>
          <p:cNvPr id="4" name="Titre 2">
            <a:extLst>
              <a:ext uri="{FF2B5EF4-FFF2-40B4-BE49-F238E27FC236}">
                <a16:creationId xmlns:a16="http://schemas.microsoft.com/office/drawing/2014/main" id="{018D348F-EBFD-3544-A350-559A6B533A3C}"/>
              </a:ext>
            </a:extLst>
          </p:cNvPr>
          <p:cNvSpPr>
            <a:spLocks noGrp="1"/>
          </p:cNvSpPr>
          <p:nvPr>
            <p:ph type="title"/>
          </p:nvPr>
        </p:nvSpPr>
        <p:spPr>
          <a:xfrm>
            <a:off x="300790" y="0"/>
            <a:ext cx="8229600" cy="785812"/>
          </a:xfrm>
        </p:spPr>
        <p:txBody>
          <a:bodyPr/>
          <a:lstStyle/>
          <a:p>
            <a:r>
              <a:rPr lang="en-GB" dirty="0"/>
              <a:t>Position control</a:t>
            </a:r>
            <a:endParaRPr lang="fr-FR" dirty="0"/>
          </a:p>
        </p:txBody>
      </p:sp>
      <p:sp>
        <p:nvSpPr>
          <p:cNvPr id="5" name="Rectangle 4">
            <a:extLst>
              <a:ext uri="{FF2B5EF4-FFF2-40B4-BE49-F238E27FC236}">
                <a16:creationId xmlns:a16="http://schemas.microsoft.com/office/drawing/2014/main" id="{CF6FF0EC-0446-0F48-AFD2-3D3C5CAA9BC6}"/>
              </a:ext>
            </a:extLst>
          </p:cNvPr>
          <p:cNvSpPr/>
          <p:nvPr/>
        </p:nvSpPr>
        <p:spPr>
          <a:xfrm>
            <a:off x="2612572" y="4885509"/>
            <a:ext cx="3657600" cy="134547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Ellipse 5">
            <a:extLst>
              <a:ext uri="{FF2B5EF4-FFF2-40B4-BE49-F238E27FC236}">
                <a16:creationId xmlns:a16="http://schemas.microsoft.com/office/drawing/2014/main" id="{0290C62F-9960-9A48-9955-451D6AB2F3D1}"/>
              </a:ext>
            </a:extLst>
          </p:cNvPr>
          <p:cNvSpPr/>
          <p:nvPr/>
        </p:nvSpPr>
        <p:spPr>
          <a:xfrm>
            <a:off x="5917474" y="1515291"/>
            <a:ext cx="1698172" cy="165898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8" name="Connecteur droit 7">
            <a:extLst>
              <a:ext uri="{FF2B5EF4-FFF2-40B4-BE49-F238E27FC236}">
                <a16:creationId xmlns:a16="http://schemas.microsoft.com/office/drawing/2014/main" id="{C07C9250-CF29-BC40-B426-E735DDF4FFF1}"/>
              </a:ext>
            </a:extLst>
          </p:cNvPr>
          <p:cNvCxnSpPr>
            <a:endCxn id="6" idx="6"/>
          </p:cNvCxnSpPr>
          <p:nvPr/>
        </p:nvCxnSpPr>
        <p:spPr>
          <a:xfrm flipV="1">
            <a:off x="5878286" y="2344783"/>
            <a:ext cx="1737360" cy="195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36292D31-10FD-A947-9875-FEA24BE4E872}"/>
              </a:ext>
            </a:extLst>
          </p:cNvPr>
          <p:cNvCxnSpPr>
            <a:stCxn id="6" idx="0"/>
            <a:endCxn id="6" idx="4"/>
          </p:cNvCxnSpPr>
          <p:nvPr/>
        </p:nvCxnSpPr>
        <p:spPr>
          <a:xfrm>
            <a:off x="6766560" y="1515291"/>
            <a:ext cx="0" cy="1658983"/>
          </a:xfrm>
          <a:prstGeom prst="line">
            <a:avLst/>
          </a:prstGeom>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0DF60CFB-4FDA-2844-8EE2-755642D56DF2}"/>
              </a:ext>
            </a:extLst>
          </p:cNvPr>
          <p:cNvSpPr txBox="1"/>
          <p:nvPr/>
        </p:nvSpPr>
        <p:spPr>
          <a:xfrm>
            <a:off x="7863840" y="2037806"/>
            <a:ext cx="764111" cy="369332"/>
          </a:xfrm>
          <a:prstGeom prst="rect">
            <a:avLst/>
          </a:prstGeom>
          <a:noFill/>
        </p:spPr>
        <p:txBody>
          <a:bodyPr wrap="square" rtlCol="0">
            <a:spAutoFit/>
          </a:bodyPr>
          <a:lstStyle/>
          <a:p>
            <a:r>
              <a:rPr lang="fr-FR" dirty="0"/>
              <a:t>cos</a:t>
            </a:r>
          </a:p>
        </p:txBody>
      </p:sp>
      <p:sp>
        <p:nvSpPr>
          <p:cNvPr id="12" name="ZoneTexte 11">
            <a:extLst>
              <a:ext uri="{FF2B5EF4-FFF2-40B4-BE49-F238E27FC236}">
                <a16:creationId xmlns:a16="http://schemas.microsoft.com/office/drawing/2014/main" id="{76F76643-BEF3-6643-91D9-F1EDF3034686}"/>
              </a:ext>
            </a:extLst>
          </p:cNvPr>
          <p:cNvSpPr txBox="1"/>
          <p:nvPr/>
        </p:nvSpPr>
        <p:spPr>
          <a:xfrm>
            <a:off x="5248036" y="2179711"/>
            <a:ext cx="764111" cy="369332"/>
          </a:xfrm>
          <a:prstGeom prst="rect">
            <a:avLst/>
          </a:prstGeom>
          <a:noFill/>
        </p:spPr>
        <p:txBody>
          <a:bodyPr wrap="square" rtlCol="0">
            <a:spAutoFit/>
          </a:bodyPr>
          <a:lstStyle/>
          <a:p>
            <a:r>
              <a:rPr lang="fr-FR" dirty="0"/>
              <a:t>-cos</a:t>
            </a:r>
          </a:p>
        </p:txBody>
      </p:sp>
      <p:sp>
        <p:nvSpPr>
          <p:cNvPr id="13" name="ZoneTexte 12">
            <a:extLst>
              <a:ext uri="{FF2B5EF4-FFF2-40B4-BE49-F238E27FC236}">
                <a16:creationId xmlns:a16="http://schemas.microsoft.com/office/drawing/2014/main" id="{FB00C176-60C5-6543-A1F4-778AEBE14CA9}"/>
              </a:ext>
            </a:extLst>
          </p:cNvPr>
          <p:cNvSpPr txBox="1"/>
          <p:nvPr/>
        </p:nvSpPr>
        <p:spPr>
          <a:xfrm>
            <a:off x="6502069" y="1145959"/>
            <a:ext cx="764111" cy="369332"/>
          </a:xfrm>
          <a:prstGeom prst="rect">
            <a:avLst/>
          </a:prstGeom>
          <a:noFill/>
        </p:spPr>
        <p:txBody>
          <a:bodyPr wrap="square" rtlCol="0">
            <a:spAutoFit/>
          </a:bodyPr>
          <a:lstStyle/>
          <a:p>
            <a:r>
              <a:rPr lang="fr-FR" dirty="0"/>
              <a:t>sin</a:t>
            </a:r>
          </a:p>
        </p:txBody>
      </p:sp>
      <p:sp>
        <p:nvSpPr>
          <p:cNvPr id="14" name="ZoneTexte 13">
            <a:extLst>
              <a:ext uri="{FF2B5EF4-FFF2-40B4-BE49-F238E27FC236}">
                <a16:creationId xmlns:a16="http://schemas.microsoft.com/office/drawing/2014/main" id="{CF8EB936-75CF-BE44-8A6B-0BEE111C22B9}"/>
              </a:ext>
            </a:extLst>
          </p:cNvPr>
          <p:cNvSpPr txBox="1"/>
          <p:nvPr/>
        </p:nvSpPr>
        <p:spPr>
          <a:xfrm>
            <a:off x="6502069" y="3193869"/>
            <a:ext cx="764111" cy="369332"/>
          </a:xfrm>
          <a:prstGeom prst="rect">
            <a:avLst/>
          </a:prstGeom>
          <a:noFill/>
        </p:spPr>
        <p:txBody>
          <a:bodyPr wrap="square" rtlCol="0">
            <a:spAutoFit/>
          </a:bodyPr>
          <a:lstStyle/>
          <a:p>
            <a:r>
              <a:rPr lang="fr-FR" dirty="0"/>
              <a:t>-sin</a:t>
            </a:r>
          </a:p>
        </p:txBody>
      </p:sp>
      <p:sp>
        <p:nvSpPr>
          <p:cNvPr id="15" name="Arc 14">
            <a:extLst>
              <a:ext uri="{FF2B5EF4-FFF2-40B4-BE49-F238E27FC236}">
                <a16:creationId xmlns:a16="http://schemas.microsoft.com/office/drawing/2014/main" id="{D86A095D-C868-6649-9B4F-1BA03E732863}"/>
              </a:ext>
            </a:extLst>
          </p:cNvPr>
          <p:cNvSpPr/>
          <p:nvPr/>
        </p:nvSpPr>
        <p:spPr>
          <a:xfrm>
            <a:off x="7266180" y="1422958"/>
            <a:ext cx="754414" cy="941419"/>
          </a:xfrm>
          <a:prstGeom prst="arc">
            <a:avLst/>
          </a:prstGeom>
          <a:ln w="34925">
            <a:solidFill>
              <a:srgbClr val="FF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Tree>
    <p:extLst>
      <p:ext uri="{BB962C8B-B14F-4D97-AF65-F5344CB8AC3E}">
        <p14:creationId xmlns:p14="http://schemas.microsoft.com/office/powerpoint/2010/main" val="1215070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a:extLst>
                  <a:ext uri="{FF2B5EF4-FFF2-40B4-BE49-F238E27FC236}">
                    <a16:creationId xmlns:a16="http://schemas.microsoft.com/office/drawing/2014/main" id="{59F29AF2-A635-4149-B0D7-A31577D46E5C}"/>
                  </a:ext>
                </a:extLst>
              </p:cNvPr>
              <p:cNvSpPr>
                <a:spLocks noGrp="1"/>
              </p:cNvSpPr>
              <p:nvPr>
                <p:ph sz="quarter" idx="1"/>
              </p:nvPr>
            </p:nvSpPr>
            <p:spPr/>
            <p:txBody>
              <a:bodyPr/>
              <a:lstStyle/>
              <a:p>
                <a:pPr marL="0" indent="0">
                  <a:buNone/>
                </a:pPr>
                <a:endParaRPr lang="fr-FR"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d>
                        <m:dPr>
                          <m:begChr m:val="{"/>
                          <m:endChr m:val=""/>
                          <m:ctrlPr>
                            <a:rPr lang="fr-FR" i="1" smtClean="0">
                              <a:solidFill>
                                <a:srgbClr val="FF0000"/>
                              </a:solidFill>
                              <a:latin typeface="Cambria Math" panose="02040503050406030204" pitchFamily="18" charset="0"/>
                            </a:rPr>
                          </m:ctrlPr>
                        </m:dPr>
                        <m:e>
                          <m:eqArr>
                            <m:eqArrPr>
                              <m:ctrlPr>
                                <a:rPr lang="fr-FR" i="1" smtClean="0">
                                  <a:solidFill>
                                    <a:srgbClr val="FF0000"/>
                                  </a:solidFill>
                                  <a:latin typeface="Cambria Math" panose="02040503050406030204" pitchFamily="18" charset="0"/>
                                </a:rPr>
                              </m:ctrlPr>
                            </m:eqArrPr>
                            <m:e>
                              <m:f>
                                <m:fPr>
                                  <m:ctrlPr>
                                    <a:rPr lang="fr-FR" i="1">
                                      <a:solidFill>
                                        <a:srgbClr val="FF0000"/>
                                      </a:solidFill>
                                      <a:latin typeface="Cambria Math" panose="02040503050406030204" pitchFamily="18" charset="0"/>
                                    </a:rPr>
                                  </m:ctrlPr>
                                </m:fPr>
                                <m:num>
                                  <m:r>
                                    <a:rPr lang="fr-FR" i="1">
                                      <a:solidFill>
                                        <a:srgbClr val="FF0000"/>
                                      </a:solidFill>
                                      <a:latin typeface="Cambria Math" panose="02040503050406030204" pitchFamily="18" charset="0"/>
                                    </a:rPr>
                                    <m:t>𝑑</m:t>
                                  </m:r>
                                  <m:func>
                                    <m:funcPr>
                                      <m:ctrlPr>
                                        <a:rPr lang="fr-FR" i="1">
                                          <a:solidFill>
                                            <a:srgbClr val="FF0000"/>
                                          </a:solidFill>
                                          <a:latin typeface="Cambria Math" panose="02040503050406030204" pitchFamily="18" charset="0"/>
                                        </a:rPr>
                                      </m:ctrlPr>
                                    </m:funcPr>
                                    <m:fName>
                                      <m:r>
                                        <m:rPr>
                                          <m:sty m:val="p"/>
                                        </m:rPr>
                                        <a:rPr lang="fr-FR">
                                          <a:solidFill>
                                            <a:srgbClr val="FF0000"/>
                                          </a:solidFill>
                                          <a:latin typeface="Cambria Math" panose="02040503050406030204" pitchFamily="18" charset="0"/>
                                        </a:rPr>
                                        <m:t>sin</m:t>
                                      </m:r>
                                    </m:fName>
                                    <m:e>
                                      <m:r>
                                        <a:rPr lang="fr-FR" i="1">
                                          <a:solidFill>
                                            <a:srgbClr val="FF0000"/>
                                          </a:solidFill>
                                          <a:latin typeface="Cambria Math" panose="02040503050406030204" pitchFamily="18" charset="0"/>
                                          <a:ea typeface="Cambria Math" panose="02040503050406030204" pitchFamily="18" charset="0"/>
                                        </a:rPr>
                                        <m:t>𝜃</m:t>
                                      </m:r>
                                    </m:e>
                                  </m:func>
                                </m:num>
                                <m:den>
                                  <m:r>
                                    <a:rPr lang="fr-FR" i="1">
                                      <a:solidFill>
                                        <a:srgbClr val="FF0000"/>
                                      </a:solidFill>
                                      <a:latin typeface="Cambria Math" panose="02040503050406030204" pitchFamily="18" charset="0"/>
                                    </a:rPr>
                                    <m:t>𝑑</m:t>
                                  </m:r>
                                  <m:r>
                                    <a:rPr lang="fr-FR" i="1">
                                      <a:solidFill>
                                        <a:srgbClr val="FF0000"/>
                                      </a:solidFill>
                                      <a:latin typeface="Cambria Math" panose="02040503050406030204" pitchFamily="18" charset="0"/>
                                      <a:ea typeface="Cambria Math" panose="02040503050406030204" pitchFamily="18" charset="0"/>
                                    </a:rPr>
                                    <m:t>𝜃</m:t>
                                  </m:r>
                                </m:den>
                              </m:f>
                              <m:r>
                                <a:rPr lang="fr-FR" i="1">
                                  <a:solidFill>
                                    <a:srgbClr val="FF0000"/>
                                  </a:solidFill>
                                  <a:latin typeface="Cambria Math" panose="02040503050406030204" pitchFamily="18" charset="0"/>
                                </a:rPr>
                                <m:t>=</m:t>
                              </m:r>
                              <m:func>
                                <m:funcPr>
                                  <m:ctrlPr>
                                    <a:rPr lang="fr-FR" i="1">
                                      <a:solidFill>
                                        <a:srgbClr val="FF0000"/>
                                      </a:solidFill>
                                      <a:latin typeface="Cambria Math" panose="02040503050406030204" pitchFamily="18" charset="0"/>
                                    </a:rPr>
                                  </m:ctrlPr>
                                </m:funcPr>
                                <m:fName>
                                  <m:r>
                                    <m:rPr>
                                      <m:sty m:val="p"/>
                                    </m:rPr>
                                    <a:rPr lang="fr-FR">
                                      <a:solidFill>
                                        <a:srgbClr val="FF0000"/>
                                      </a:solidFill>
                                      <a:latin typeface="Cambria Math" panose="02040503050406030204" pitchFamily="18" charset="0"/>
                                    </a:rPr>
                                    <m:t>cos</m:t>
                                  </m:r>
                                </m:fName>
                                <m:e>
                                  <m:r>
                                    <a:rPr lang="fr-FR" i="1">
                                      <a:solidFill>
                                        <a:srgbClr val="FF0000"/>
                                      </a:solidFill>
                                      <a:latin typeface="Cambria Math" panose="02040503050406030204" pitchFamily="18" charset="0"/>
                                      <a:ea typeface="Cambria Math" panose="02040503050406030204" pitchFamily="18" charset="0"/>
                                    </a:rPr>
                                    <m:t>𝜃</m:t>
                                  </m:r>
                                </m:e>
                              </m:func>
                            </m:e>
                            <m:e>
                              <m:f>
                                <m:fPr>
                                  <m:ctrlPr>
                                    <a:rPr lang="fr-FR" i="1">
                                      <a:solidFill>
                                        <a:srgbClr val="FF0000"/>
                                      </a:solidFill>
                                      <a:latin typeface="Cambria Math" panose="02040503050406030204" pitchFamily="18" charset="0"/>
                                    </a:rPr>
                                  </m:ctrlPr>
                                </m:fPr>
                                <m:num>
                                  <m:r>
                                    <a:rPr lang="fr-FR" i="1">
                                      <a:solidFill>
                                        <a:srgbClr val="FF0000"/>
                                      </a:solidFill>
                                      <a:latin typeface="Cambria Math" panose="02040503050406030204" pitchFamily="18" charset="0"/>
                                    </a:rPr>
                                    <m:t>𝑑</m:t>
                                  </m:r>
                                  <m:func>
                                    <m:funcPr>
                                      <m:ctrlPr>
                                        <a:rPr lang="fr-FR" i="1">
                                          <a:solidFill>
                                            <a:srgbClr val="FF0000"/>
                                          </a:solidFill>
                                          <a:latin typeface="Cambria Math" panose="02040503050406030204" pitchFamily="18" charset="0"/>
                                        </a:rPr>
                                      </m:ctrlPr>
                                    </m:funcPr>
                                    <m:fName>
                                      <m:r>
                                        <m:rPr>
                                          <m:sty m:val="p"/>
                                        </m:rPr>
                                        <a:rPr lang="fr-FR">
                                          <a:solidFill>
                                            <a:srgbClr val="FF0000"/>
                                          </a:solidFill>
                                          <a:latin typeface="Cambria Math" panose="02040503050406030204" pitchFamily="18" charset="0"/>
                                        </a:rPr>
                                        <m:t>cos</m:t>
                                      </m:r>
                                    </m:fName>
                                    <m:e>
                                      <m:r>
                                        <a:rPr lang="fr-FR" i="1">
                                          <a:solidFill>
                                            <a:srgbClr val="FF0000"/>
                                          </a:solidFill>
                                          <a:latin typeface="Cambria Math" panose="02040503050406030204" pitchFamily="18" charset="0"/>
                                          <a:ea typeface="Cambria Math" panose="02040503050406030204" pitchFamily="18" charset="0"/>
                                        </a:rPr>
                                        <m:t>𝜃</m:t>
                                      </m:r>
                                    </m:e>
                                  </m:func>
                                </m:num>
                                <m:den>
                                  <m:r>
                                    <a:rPr lang="fr-FR" i="1">
                                      <a:solidFill>
                                        <a:srgbClr val="FF0000"/>
                                      </a:solidFill>
                                      <a:latin typeface="Cambria Math" panose="02040503050406030204" pitchFamily="18" charset="0"/>
                                    </a:rPr>
                                    <m:t>𝑑</m:t>
                                  </m:r>
                                  <m:r>
                                    <a:rPr lang="fr-FR" i="1">
                                      <a:solidFill>
                                        <a:srgbClr val="FF0000"/>
                                      </a:solidFill>
                                      <a:latin typeface="Cambria Math" panose="02040503050406030204" pitchFamily="18" charset="0"/>
                                      <a:ea typeface="Cambria Math" panose="02040503050406030204" pitchFamily="18" charset="0"/>
                                    </a:rPr>
                                    <m:t>𝜃</m:t>
                                  </m:r>
                                </m:den>
                              </m:f>
                              <m:r>
                                <a:rPr lang="fr-FR" i="1">
                                  <a:solidFill>
                                    <a:srgbClr val="FF0000"/>
                                  </a:solidFill>
                                  <a:latin typeface="Cambria Math" panose="02040503050406030204" pitchFamily="18" charset="0"/>
                                </a:rPr>
                                <m:t>=−</m:t>
                              </m:r>
                              <m:func>
                                <m:funcPr>
                                  <m:ctrlPr>
                                    <a:rPr lang="fr-FR" i="1">
                                      <a:solidFill>
                                        <a:srgbClr val="FF0000"/>
                                      </a:solidFill>
                                      <a:latin typeface="Cambria Math" panose="02040503050406030204" pitchFamily="18" charset="0"/>
                                    </a:rPr>
                                  </m:ctrlPr>
                                </m:funcPr>
                                <m:fName>
                                  <m:r>
                                    <m:rPr>
                                      <m:sty m:val="p"/>
                                    </m:rPr>
                                    <a:rPr lang="fr-FR">
                                      <a:solidFill>
                                        <a:srgbClr val="FF0000"/>
                                      </a:solidFill>
                                      <a:latin typeface="Cambria Math" panose="02040503050406030204" pitchFamily="18" charset="0"/>
                                    </a:rPr>
                                    <m:t>sin</m:t>
                                  </m:r>
                                </m:fName>
                                <m:e>
                                  <m:r>
                                    <a:rPr lang="fr-FR" i="1">
                                      <a:solidFill>
                                        <a:srgbClr val="FF0000"/>
                                      </a:solidFill>
                                      <a:latin typeface="Cambria Math" panose="02040503050406030204" pitchFamily="18" charset="0"/>
                                      <a:ea typeface="Cambria Math" panose="02040503050406030204" pitchFamily="18" charset="0"/>
                                    </a:rPr>
                                    <m:t>𝜃</m:t>
                                  </m:r>
                                </m:e>
                              </m:func>
                            </m:e>
                          </m:eqArr>
                        </m:e>
                      </m:d>
                    </m:oMath>
                  </m:oMathPara>
                </a14:m>
                <a:endParaRPr lang="fr-FR" i="1" dirty="0">
                  <a:latin typeface="Cambria Math" panose="02040503050406030204" pitchFamily="18" charset="0"/>
                </a:endParaRPr>
              </a:p>
              <a:p>
                <a:pPr marL="0" indent="0">
                  <a:buNone/>
                </a:pPr>
                <a:endParaRPr lang="fr-FR"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fr-FR" i="1" smtClean="0">
                              <a:latin typeface="Cambria Math" panose="02040503050406030204" pitchFamily="18" charset="0"/>
                            </a:rPr>
                          </m:ctrlPr>
                        </m:fPr>
                        <m:num>
                          <m:r>
                            <a:rPr lang="fr-FR" b="0" i="1" smtClean="0">
                              <a:latin typeface="Cambria Math" panose="02040503050406030204" pitchFamily="18" charset="0"/>
                            </a:rPr>
                            <m:t>𝑑𝑦</m:t>
                          </m:r>
                        </m:num>
                        <m:den>
                          <m:r>
                            <a:rPr lang="fr-FR" b="0" i="1" smtClean="0">
                              <a:latin typeface="Cambria Math" panose="02040503050406030204" pitchFamily="18" charset="0"/>
                            </a:rPr>
                            <m:t>𝑑𝑡</m:t>
                          </m:r>
                        </m:den>
                      </m:f>
                      <m:r>
                        <a:rPr lang="fr-FR" b="0" i="1" smtClean="0">
                          <a:latin typeface="Cambria Math" panose="02040503050406030204" pitchFamily="18" charset="0"/>
                        </a:rPr>
                        <m:t>=</m:t>
                      </m:r>
                      <m:f>
                        <m:fPr>
                          <m:ctrlPr>
                            <a:rPr lang="fr-FR" b="0" i="1" smtClean="0">
                              <a:latin typeface="Cambria Math" panose="02040503050406030204" pitchFamily="18" charset="0"/>
                            </a:rPr>
                          </m:ctrlPr>
                        </m:fPr>
                        <m:num>
                          <m:r>
                            <a:rPr lang="fr-FR" b="0"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𝑦</m:t>
                          </m:r>
                        </m:num>
                        <m:den>
                          <m:r>
                            <a:rPr lang="fr-FR" i="1">
                              <a:latin typeface="Cambria Math" panose="02040503050406030204" pitchFamily="18" charset="0"/>
                              <a:ea typeface="Cambria Math" panose="02040503050406030204" pitchFamily="18" charset="0"/>
                            </a:rPr>
                            <m:t>𝜕</m:t>
                          </m:r>
                          <m:sSub>
                            <m:sSubPr>
                              <m:ctrlPr>
                                <a:rPr lang="fr-FR" i="1" smtClean="0">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ea typeface="Cambria Math" panose="02040503050406030204" pitchFamily="18" charset="0"/>
                                </a:rPr>
                                <m:t>1</m:t>
                              </m:r>
                            </m:sub>
                          </m:sSub>
                        </m:den>
                      </m:f>
                      <m:f>
                        <m:fPr>
                          <m:ctrlPr>
                            <a:rPr lang="fr-FR" b="0" i="1" smtClean="0">
                              <a:latin typeface="Cambria Math" panose="02040503050406030204" pitchFamily="18" charset="0"/>
                            </a:rPr>
                          </m:ctrlPr>
                        </m:fPr>
                        <m:num>
                          <m:r>
                            <a:rPr lang="fr-FR" b="0" i="1" smtClean="0">
                              <a:latin typeface="Cambria Math" panose="02040503050406030204" pitchFamily="18" charset="0"/>
                            </a:rPr>
                            <m:t>𝑑</m:t>
                          </m:r>
                          <m:sSub>
                            <m:sSubPr>
                              <m:ctrlPr>
                                <a:rPr lang="fr-FR" b="0" i="1" smtClean="0">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rPr>
                                <m:t>1</m:t>
                              </m:r>
                            </m:sub>
                          </m:sSub>
                        </m:num>
                        <m:den>
                          <m:r>
                            <a:rPr lang="fr-FR" b="0" i="1" smtClean="0">
                              <a:latin typeface="Cambria Math" panose="02040503050406030204" pitchFamily="18" charset="0"/>
                            </a:rPr>
                            <m:t>𝑑𝑡</m:t>
                          </m:r>
                        </m:den>
                      </m:f>
                      <m:r>
                        <a:rPr lang="fr-FR" b="0" i="1" smtClean="0">
                          <a:latin typeface="Cambria Math" panose="02040503050406030204" pitchFamily="18" charset="0"/>
                        </a:rPr>
                        <m:t>+</m:t>
                      </m:r>
                      <m:f>
                        <m:fPr>
                          <m:ctrlPr>
                            <a:rPr lang="fr-FR" i="1">
                              <a:latin typeface="Cambria Math" panose="02040503050406030204" pitchFamily="18" charset="0"/>
                            </a:rPr>
                          </m:ctrlPr>
                        </m:fPr>
                        <m:num>
                          <m:r>
                            <a:rPr lang="fr-FR" i="1">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𝑦</m:t>
                          </m:r>
                        </m:num>
                        <m:den>
                          <m:r>
                            <a:rPr lang="fr-FR" i="1">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ea typeface="Cambria Math" panose="02040503050406030204" pitchFamily="18" charset="0"/>
                                </a:rPr>
                                <m:t>2</m:t>
                              </m:r>
                            </m:sub>
                          </m:sSub>
                        </m:den>
                      </m:f>
                      <m:f>
                        <m:fPr>
                          <m:ctrlPr>
                            <a:rPr lang="fr-FR" i="1">
                              <a:latin typeface="Cambria Math" panose="02040503050406030204" pitchFamily="18" charset="0"/>
                            </a:rPr>
                          </m:ctrlPr>
                        </m:fPr>
                        <m:num>
                          <m:r>
                            <a:rPr lang="fr-FR" i="1">
                              <a:latin typeface="Cambria Math" panose="02040503050406030204" pitchFamily="18" charset="0"/>
                            </a:rPr>
                            <m:t>𝑑</m:t>
                          </m:r>
                          <m:sSub>
                            <m:sSubPr>
                              <m:ctrlPr>
                                <a:rPr lang="fr-FR" i="1">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ea typeface="Cambria Math" panose="02040503050406030204" pitchFamily="18" charset="0"/>
                                </a:rPr>
                                <m:t>2</m:t>
                              </m:r>
                            </m:sub>
                          </m:sSub>
                        </m:num>
                        <m:den>
                          <m:r>
                            <a:rPr lang="fr-FR" i="1">
                              <a:latin typeface="Cambria Math" panose="02040503050406030204" pitchFamily="18" charset="0"/>
                            </a:rPr>
                            <m:t>𝑑𝑡</m:t>
                          </m:r>
                        </m:den>
                      </m:f>
                    </m:oMath>
                  </m:oMathPara>
                </a14:m>
                <a:endParaRPr lang="fr-FR" dirty="0"/>
              </a:p>
              <a:p>
                <a:pPr marL="0" indent="0">
                  <a:buNone/>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m:t>
                      </m:r>
                      <m:f>
                        <m:fPr>
                          <m:ctrlPr>
                            <a:rPr lang="fr-FR" i="1">
                              <a:latin typeface="Cambria Math" panose="02040503050406030204" pitchFamily="18" charset="0"/>
                            </a:rPr>
                          </m:ctrlPr>
                        </m:fPr>
                        <m:num>
                          <m:r>
                            <a:rPr lang="fr-FR" i="1">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𝑦</m:t>
                          </m:r>
                        </m:num>
                        <m:den>
                          <m:r>
                            <a:rPr lang="fr-FR" i="1">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i="1">
                                  <a:latin typeface="Cambria Math" panose="02040503050406030204" pitchFamily="18" charset="0"/>
                                  <a:ea typeface="Cambria Math" panose="02040503050406030204" pitchFamily="18" charset="0"/>
                                </a:rPr>
                                <m:t>1</m:t>
                              </m:r>
                            </m:sub>
                          </m:sSub>
                        </m:den>
                      </m:f>
                      <m:sSub>
                        <m:sSubPr>
                          <m:ctrlPr>
                            <a:rPr lang="fr-FR" i="1" smtClean="0">
                              <a:latin typeface="Cambria Math" panose="02040503050406030204" pitchFamily="18" charset="0"/>
                              <a:ea typeface="Cambria Math" panose="02040503050406030204" pitchFamily="18" charset="0"/>
                            </a:rPr>
                          </m:ctrlPr>
                        </m:sSubPr>
                        <m:e>
                          <m:acc>
                            <m:accPr>
                              <m:chr m:val="̇"/>
                              <m:ctrlPr>
                                <a:rPr lang="fr-FR" b="0" i="1" smtClean="0">
                                  <a:latin typeface="Cambria Math" panose="02040503050406030204" pitchFamily="18" charset="0"/>
                                  <a:ea typeface="Cambria Math" panose="02040503050406030204" pitchFamily="18" charset="0"/>
                                </a:rPr>
                              </m:ctrlPr>
                            </m:accPr>
                            <m:e>
                              <m:r>
                                <a:rPr lang="fr-FR" i="1">
                                  <a:latin typeface="Cambria Math" panose="02040503050406030204" pitchFamily="18" charset="0"/>
                                  <a:ea typeface="Cambria Math" panose="02040503050406030204" pitchFamily="18" charset="0"/>
                                </a:rPr>
                                <m:t>𝜃</m:t>
                              </m:r>
                            </m:e>
                          </m:acc>
                        </m:e>
                        <m:sub>
                          <m:r>
                            <a:rPr lang="fr-FR" b="0" i="1" smtClean="0">
                              <a:latin typeface="Cambria Math" panose="02040503050406030204" pitchFamily="18" charset="0"/>
                              <a:ea typeface="Cambria Math" panose="02040503050406030204" pitchFamily="18" charset="0"/>
                            </a:rPr>
                            <m:t>1</m:t>
                          </m:r>
                        </m:sub>
                      </m:sSub>
                      <m:r>
                        <a:rPr lang="fr-FR" i="1">
                          <a:latin typeface="Cambria Math" panose="02040503050406030204" pitchFamily="18" charset="0"/>
                        </a:rPr>
                        <m:t>+</m:t>
                      </m:r>
                      <m:f>
                        <m:fPr>
                          <m:ctrlPr>
                            <a:rPr lang="fr-FR" i="1">
                              <a:latin typeface="Cambria Math" panose="02040503050406030204" pitchFamily="18" charset="0"/>
                            </a:rPr>
                          </m:ctrlPr>
                        </m:fPr>
                        <m:num>
                          <m:r>
                            <a:rPr lang="fr-FR" i="1">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𝑦</m:t>
                          </m:r>
                        </m:num>
                        <m:den>
                          <m:r>
                            <a:rPr lang="fr-FR" i="1">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i="1">
                                  <a:latin typeface="Cambria Math" panose="02040503050406030204" pitchFamily="18" charset="0"/>
                                  <a:ea typeface="Cambria Math" panose="02040503050406030204" pitchFamily="18" charset="0"/>
                                </a:rPr>
                                <m:t>2</m:t>
                              </m:r>
                            </m:sub>
                          </m:sSub>
                        </m:den>
                      </m:f>
                      <m:sSub>
                        <m:sSubPr>
                          <m:ctrlPr>
                            <a:rPr lang="fr-FR" i="1">
                              <a:latin typeface="Cambria Math" panose="02040503050406030204" pitchFamily="18" charset="0"/>
                              <a:ea typeface="Cambria Math" panose="02040503050406030204" pitchFamily="18" charset="0"/>
                            </a:rPr>
                          </m:ctrlPr>
                        </m:sSubPr>
                        <m:e>
                          <m:acc>
                            <m:accPr>
                              <m:chr m:val="̇"/>
                              <m:ctrlPr>
                                <a:rPr lang="fr-FR" i="1">
                                  <a:latin typeface="Cambria Math" panose="02040503050406030204" pitchFamily="18" charset="0"/>
                                  <a:ea typeface="Cambria Math" panose="02040503050406030204" pitchFamily="18" charset="0"/>
                                </a:rPr>
                              </m:ctrlPr>
                            </m:accPr>
                            <m:e>
                              <m:r>
                                <a:rPr lang="fr-FR" i="1">
                                  <a:latin typeface="Cambria Math" panose="02040503050406030204" pitchFamily="18" charset="0"/>
                                  <a:ea typeface="Cambria Math" panose="02040503050406030204" pitchFamily="18" charset="0"/>
                                </a:rPr>
                                <m:t>𝜃</m:t>
                              </m:r>
                            </m:e>
                          </m:acc>
                        </m:e>
                        <m:sub>
                          <m:r>
                            <a:rPr lang="fr-FR" b="0" i="1" smtClean="0">
                              <a:latin typeface="Cambria Math" panose="02040503050406030204" pitchFamily="18" charset="0"/>
                              <a:ea typeface="Cambria Math" panose="02040503050406030204" pitchFamily="18" charset="0"/>
                            </a:rPr>
                            <m:t>2</m:t>
                          </m:r>
                        </m:sub>
                      </m:sSub>
                    </m:oMath>
                  </m:oMathPara>
                </a14:m>
                <a:endParaRPr lang="fr-FR" dirty="0"/>
              </a:p>
              <a:p>
                <a:pPr marL="0" indent="0">
                  <a:buNone/>
                </a:pPr>
                <a:r>
                  <a:rPr lang="fr-FR" dirty="0"/>
                  <a:t>For the record:
</a:t>
                </a:r>
                <a14:m>
                  <m:oMath xmlns:m="http://schemas.openxmlformats.org/officeDocument/2006/math">
                    <m:r>
                      <a:rPr lang="fr-FR" b="0" i="1" smtClean="0">
                        <a:latin typeface="Cambria Math" panose="02040503050406030204" pitchFamily="18" charset="0"/>
                      </a:rPr>
                      <m:t>𝑦</m:t>
                    </m:r>
                    <m:r>
                      <a:rPr lang="fr-FR" i="1">
                        <a:latin typeface="Cambria Math" panose="02040503050406030204" pitchFamily="18" charset="0"/>
                      </a:rPr>
                      <m:t>=</m:t>
                    </m:r>
                    <m:sSub>
                      <m:sSubPr>
                        <m:ctrlPr>
                          <a:rPr lang="fr-FR" i="1">
                            <a:latin typeface="Cambria Math" panose="02040503050406030204" pitchFamily="18" charset="0"/>
                          </a:rPr>
                        </m:ctrlPr>
                      </m:sSubPr>
                      <m:e>
                        <m:r>
                          <a:rPr lang="fr-FR" i="1">
                            <a:latin typeface="Cambria Math" panose="02040503050406030204" pitchFamily="18" charset="0"/>
                          </a:rPr>
                          <m:t>𝑎</m:t>
                        </m:r>
                      </m:e>
                      <m:sub>
                        <m:r>
                          <a:rPr lang="fr-FR" i="1">
                            <a:latin typeface="Cambria Math" panose="02040503050406030204" pitchFamily="18" charset="0"/>
                          </a:rPr>
                          <m:t>1</m:t>
                        </m:r>
                      </m:sub>
                    </m:sSub>
                    <m:func>
                      <m:funcPr>
                        <m:ctrlPr>
                          <a:rPr lang="fr-FR" i="1">
                            <a:latin typeface="Cambria Math" panose="02040503050406030204" pitchFamily="18" charset="0"/>
                          </a:rPr>
                        </m:ctrlPr>
                      </m:funcPr>
                      <m:fName>
                        <m:r>
                          <m:rPr>
                            <m:sty m:val="p"/>
                          </m:rPr>
                          <a:rPr lang="fr-FR" b="0" i="0" smtClean="0">
                            <a:latin typeface="Cambria Math" panose="02040503050406030204" pitchFamily="18" charset="0"/>
                          </a:rPr>
                          <m:t>sin</m:t>
                        </m:r>
                      </m:fName>
                      <m:e>
                        <m:sSub>
                          <m:sSubPr>
                            <m:ctrlPr>
                              <a:rPr lang="fr-FR" i="1">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i="1">
                                <a:latin typeface="Cambria Math" panose="02040503050406030204" pitchFamily="18" charset="0"/>
                              </a:rPr>
                              <m:t>1</m:t>
                            </m:r>
                          </m:sub>
                        </m:sSub>
                      </m:e>
                    </m:func>
                    <m:r>
                      <a:rPr lang="fr-FR" i="1">
                        <a:latin typeface="Cambria Math" panose="02040503050406030204" pitchFamily="18" charset="0"/>
                      </a:rPr>
                      <m:t>+</m:t>
                    </m:r>
                    <m:sSub>
                      <m:sSubPr>
                        <m:ctrlPr>
                          <a:rPr lang="fr-FR" i="1">
                            <a:latin typeface="Cambria Math" panose="02040503050406030204" pitchFamily="18" charset="0"/>
                          </a:rPr>
                        </m:ctrlPr>
                      </m:sSubPr>
                      <m:e>
                        <m:r>
                          <a:rPr lang="fr-FR" i="1">
                            <a:latin typeface="Cambria Math" panose="02040503050406030204" pitchFamily="18" charset="0"/>
                          </a:rPr>
                          <m:t>𝑎</m:t>
                        </m:r>
                      </m:e>
                      <m:sub>
                        <m:r>
                          <a:rPr lang="fr-FR" i="1">
                            <a:latin typeface="Cambria Math" panose="02040503050406030204" pitchFamily="18" charset="0"/>
                          </a:rPr>
                          <m:t>2</m:t>
                        </m:r>
                      </m:sub>
                    </m:sSub>
                    <m:func>
                      <m:funcPr>
                        <m:ctrlPr>
                          <a:rPr lang="fr-FR" i="1">
                            <a:latin typeface="Cambria Math" panose="02040503050406030204" pitchFamily="18" charset="0"/>
                          </a:rPr>
                        </m:ctrlPr>
                      </m:funcPr>
                      <m:fName>
                        <m:r>
                          <m:rPr>
                            <m:sty m:val="p"/>
                          </m:rPr>
                          <a:rPr lang="fr-FR">
                            <a:latin typeface="Cambria Math" panose="02040503050406030204" pitchFamily="18" charset="0"/>
                          </a:rPr>
                          <m:t>s</m:t>
                        </m:r>
                        <m:r>
                          <m:rPr>
                            <m:sty m:val="p"/>
                          </m:rPr>
                          <a:rPr lang="fr-FR" b="0" i="0" smtClean="0">
                            <a:latin typeface="Cambria Math" panose="02040503050406030204" pitchFamily="18" charset="0"/>
                          </a:rPr>
                          <m:t>in</m:t>
                        </m:r>
                      </m:fName>
                      <m:e>
                        <m:d>
                          <m:dPr>
                            <m:ctrlPr>
                              <a:rPr lang="fr-FR" i="1">
                                <a:latin typeface="Cambria Math" panose="02040503050406030204" pitchFamily="18" charset="0"/>
                              </a:rPr>
                            </m:ctrlPr>
                          </m:dPr>
                          <m:e>
                            <m:sSub>
                              <m:sSubPr>
                                <m:ctrlPr>
                                  <a:rPr lang="fr-FR" i="1">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i="1">
                                    <a:latin typeface="Cambria Math" panose="02040503050406030204" pitchFamily="18" charset="0"/>
                                  </a:rPr>
                                  <m:t>1</m:t>
                                </m:r>
                              </m:sub>
                            </m:sSub>
                            <m:r>
                              <a:rPr lang="fr-FR" i="1">
                                <a:latin typeface="Cambria Math" panose="02040503050406030204" pitchFamily="18" charset="0"/>
                              </a:rPr>
                              <m:t>+</m:t>
                            </m:r>
                            <m:sSub>
                              <m:sSubPr>
                                <m:ctrlPr>
                                  <a:rPr lang="fr-FR" i="1">
                                    <a:latin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i="1">
                                    <a:latin typeface="Cambria Math" panose="02040503050406030204" pitchFamily="18" charset="0"/>
                                  </a:rPr>
                                  <m:t>2</m:t>
                                </m:r>
                              </m:sub>
                            </m:sSub>
                          </m:e>
                        </m:d>
                      </m:e>
                    </m:func>
                  </m:oMath>
                </a14:m>
                <a:endParaRPr lang="fr-FR" i="1" dirty="0">
                  <a:latin typeface="Cambria Math" panose="02040503050406030204" pitchFamily="18" charset="0"/>
                </a:endParaRPr>
              </a:p>
              <a:p>
                <a:pPr marL="0" indent="0">
                  <a:buNone/>
                </a:pPr>
                <a:endParaRPr lang="fr-FR"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fr-FR" i="1">
                              <a:latin typeface="Cambria Math" panose="02040503050406030204" pitchFamily="18" charset="0"/>
                            </a:rPr>
                          </m:ctrlPr>
                        </m:fPr>
                        <m:num>
                          <m:r>
                            <a:rPr lang="fr-FR" i="1">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𝑦</m:t>
                          </m:r>
                        </m:num>
                        <m:den>
                          <m:r>
                            <a:rPr lang="fr-FR" i="1">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i="1">
                                  <a:latin typeface="Cambria Math" panose="02040503050406030204" pitchFamily="18" charset="0"/>
                                  <a:ea typeface="Cambria Math" panose="02040503050406030204" pitchFamily="18" charset="0"/>
                                </a:rPr>
                                <m:t>1</m:t>
                              </m:r>
                            </m:sub>
                          </m:sSub>
                        </m:den>
                      </m:f>
                      <m:r>
                        <a:rPr lang="fr-FR" b="0" i="1" smtClean="0">
                          <a:latin typeface="Cambria Math" panose="02040503050406030204" pitchFamily="18" charset="0"/>
                          <a:ea typeface="Cambria Math" panose="02040503050406030204" pitchFamily="18" charset="0"/>
                        </a:rPr>
                        <m:t>=</m:t>
                      </m:r>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𝑎</m:t>
                          </m:r>
                        </m:e>
                        <m:sub>
                          <m:r>
                            <a:rPr lang="fr-FR" b="0" i="1" smtClean="0">
                              <a:latin typeface="Cambria Math" panose="02040503050406030204" pitchFamily="18" charset="0"/>
                              <a:ea typeface="Cambria Math" panose="02040503050406030204" pitchFamily="18" charset="0"/>
                            </a:rPr>
                            <m:t>1</m:t>
                          </m:r>
                        </m:sub>
                      </m:sSub>
                      <m:func>
                        <m:funcPr>
                          <m:ctrlPr>
                            <a:rPr lang="fr-FR" b="0" i="1" smtClean="0">
                              <a:latin typeface="Cambria Math" panose="02040503050406030204" pitchFamily="18" charset="0"/>
                              <a:ea typeface="Cambria Math" panose="02040503050406030204" pitchFamily="18" charset="0"/>
                            </a:rPr>
                          </m:ctrlPr>
                        </m:funcPr>
                        <m:fName>
                          <m:r>
                            <m:rPr>
                              <m:sty m:val="p"/>
                            </m:rPr>
                            <a:rPr lang="fr-FR" b="0" i="0" smtClean="0">
                              <a:latin typeface="Cambria Math" panose="02040503050406030204" pitchFamily="18" charset="0"/>
                              <a:ea typeface="Cambria Math" panose="02040503050406030204" pitchFamily="18" charset="0"/>
                            </a:rPr>
                            <m:t>cos</m:t>
                          </m:r>
                        </m:fName>
                        <m:e>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ea typeface="Cambria Math" panose="02040503050406030204" pitchFamily="18" charset="0"/>
                                </a:rPr>
                                <m:t>1</m:t>
                              </m:r>
                            </m:sub>
                          </m:sSub>
                        </m:e>
                      </m:func>
                      <m:r>
                        <a:rPr lang="fr-FR" b="0" i="1" smtClean="0">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𝑎</m:t>
                          </m:r>
                        </m:e>
                        <m:sub>
                          <m:r>
                            <a:rPr lang="fr-FR" b="0" i="1" smtClean="0">
                              <a:latin typeface="Cambria Math" panose="02040503050406030204" pitchFamily="18" charset="0"/>
                              <a:ea typeface="Cambria Math" panose="02040503050406030204" pitchFamily="18" charset="0"/>
                            </a:rPr>
                            <m:t>2</m:t>
                          </m:r>
                        </m:sub>
                      </m:sSub>
                      <m:func>
                        <m:funcPr>
                          <m:ctrlPr>
                            <a:rPr lang="fr-FR" i="1">
                              <a:latin typeface="Cambria Math" panose="02040503050406030204" pitchFamily="18" charset="0"/>
                              <a:ea typeface="Cambria Math" panose="02040503050406030204" pitchFamily="18" charset="0"/>
                            </a:rPr>
                          </m:ctrlPr>
                        </m:funcPr>
                        <m:fName>
                          <m:r>
                            <m:rPr>
                              <m:sty m:val="p"/>
                            </m:rPr>
                            <a:rPr lang="fr-FR" b="0" i="0" smtClean="0">
                              <a:latin typeface="Cambria Math" panose="02040503050406030204" pitchFamily="18" charset="0"/>
                              <a:ea typeface="Cambria Math" panose="02040503050406030204" pitchFamily="18" charset="0"/>
                            </a:rPr>
                            <m:t>cos</m:t>
                          </m:r>
                        </m:fName>
                        <m:e>
                          <m:d>
                            <m:dPr>
                              <m:ctrlPr>
                                <a:rPr lang="fr-FR" i="1" smtClean="0">
                                  <a:latin typeface="Cambria Math" panose="02040503050406030204" pitchFamily="18" charset="0"/>
                                  <a:ea typeface="Cambria Math" panose="02040503050406030204" pitchFamily="18" charset="0"/>
                                </a:rPr>
                              </m:ctrlPr>
                            </m:dPr>
                            <m:e>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i="1">
                                      <a:latin typeface="Cambria Math" panose="02040503050406030204" pitchFamily="18" charset="0"/>
                                      <a:ea typeface="Cambria Math" panose="02040503050406030204" pitchFamily="18" charset="0"/>
                                    </a:rPr>
                                    <m:t>1</m:t>
                                  </m:r>
                                </m:sub>
                              </m:sSub>
                              <m:r>
                                <a:rPr lang="fr-FR" b="0" i="1" smtClean="0">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b="0" i="1" smtClean="0">
                                      <a:latin typeface="Cambria Math" panose="02040503050406030204" pitchFamily="18" charset="0"/>
                                      <a:ea typeface="Cambria Math" panose="02040503050406030204" pitchFamily="18" charset="0"/>
                                    </a:rPr>
                                    <m:t>2</m:t>
                                  </m:r>
                                </m:sub>
                              </m:sSub>
                            </m:e>
                          </m:d>
                        </m:e>
                      </m:func>
                    </m:oMath>
                  </m:oMathPara>
                </a14:m>
                <a:endParaRPr lang="fr-FR"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fr-FR" i="1">
                              <a:latin typeface="Cambria Math" panose="02040503050406030204" pitchFamily="18" charset="0"/>
                            </a:rPr>
                          </m:ctrlPr>
                        </m:fPr>
                        <m:num>
                          <m:r>
                            <a:rPr lang="fr-FR" i="1">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𝑦</m:t>
                          </m:r>
                        </m:num>
                        <m:den>
                          <m:r>
                            <a:rPr lang="fr-FR" i="1">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i="1">
                                  <a:latin typeface="Cambria Math" panose="02040503050406030204" pitchFamily="18" charset="0"/>
                                  <a:ea typeface="Cambria Math" panose="02040503050406030204" pitchFamily="18" charset="0"/>
                                </a:rPr>
                                <m:t>2</m:t>
                              </m:r>
                            </m:sub>
                          </m:sSub>
                        </m:den>
                      </m:f>
                      <m:r>
                        <a:rPr lang="fr-FR" b="0" i="0" smtClean="0">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𝑎</m:t>
                          </m:r>
                        </m:e>
                        <m:sub>
                          <m:r>
                            <a:rPr lang="fr-FR" i="1">
                              <a:latin typeface="Cambria Math" panose="02040503050406030204" pitchFamily="18" charset="0"/>
                              <a:ea typeface="Cambria Math" panose="02040503050406030204" pitchFamily="18" charset="0"/>
                            </a:rPr>
                            <m:t>2</m:t>
                          </m:r>
                        </m:sub>
                      </m:sSub>
                      <m:func>
                        <m:funcPr>
                          <m:ctrlPr>
                            <a:rPr lang="fr-FR" i="1">
                              <a:latin typeface="Cambria Math" panose="02040503050406030204" pitchFamily="18" charset="0"/>
                              <a:ea typeface="Cambria Math" panose="02040503050406030204" pitchFamily="18" charset="0"/>
                            </a:rPr>
                          </m:ctrlPr>
                        </m:funcPr>
                        <m:fName>
                          <m:r>
                            <m:rPr>
                              <m:sty m:val="p"/>
                            </m:rPr>
                            <a:rPr lang="fr-FR" b="0" i="0" smtClean="0">
                              <a:latin typeface="Cambria Math" panose="02040503050406030204" pitchFamily="18" charset="0"/>
                              <a:ea typeface="Cambria Math" panose="02040503050406030204" pitchFamily="18" charset="0"/>
                            </a:rPr>
                            <m:t>cos</m:t>
                          </m:r>
                        </m:fName>
                        <m:e>
                          <m:d>
                            <m:dPr>
                              <m:ctrlPr>
                                <a:rPr lang="fr-FR" i="1">
                                  <a:latin typeface="Cambria Math" panose="02040503050406030204" pitchFamily="18" charset="0"/>
                                  <a:ea typeface="Cambria Math" panose="02040503050406030204" pitchFamily="18" charset="0"/>
                                </a:rPr>
                              </m:ctrlPr>
                            </m:dPr>
                            <m:e>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i="1">
                                      <a:latin typeface="Cambria Math" panose="02040503050406030204" pitchFamily="18" charset="0"/>
                                      <a:ea typeface="Cambria Math" panose="02040503050406030204" pitchFamily="18" charset="0"/>
                                    </a:rPr>
                                    <m:t>1</m:t>
                                  </m:r>
                                </m:sub>
                              </m:sSub>
                              <m:r>
                                <a:rPr lang="fr-FR" i="1">
                                  <a:latin typeface="Cambria Math" panose="02040503050406030204" pitchFamily="18" charset="0"/>
                                  <a:ea typeface="Cambria Math" panose="02040503050406030204" pitchFamily="18" charset="0"/>
                                </a:rPr>
                                <m:t>+</m:t>
                              </m:r>
                              <m:sSub>
                                <m:sSubPr>
                                  <m:ctrlPr>
                                    <a:rPr lang="fr-FR" i="1">
                                      <a:latin typeface="Cambria Math" panose="02040503050406030204" pitchFamily="18" charset="0"/>
                                      <a:ea typeface="Cambria Math" panose="02040503050406030204" pitchFamily="18" charset="0"/>
                                    </a:rPr>
                                  </m:ctrlPr>
                                </m:sSubPr>
                                <m:e>
                                  <m:r>
                                    <a:rPr lang="fr-FR" i="1">
                                      <a:latin typeface="Cambria Math" panose="02040503050406030204" pitchFamily="18" charset="0"/>
                                      <a:ea typeface="Cambria Math" panose="02040503050406030204" pitchFamily="18" charset="0"/>
                                    </a:rPr>
                                    <m:t>𝜃</m:t>
                                  </m:r>
                                </m:e>
                                <m:sub>
                                  <m:r>
                                    <a:rPr lang="fr-FR" i="1">
                                      <a:latin typeface="Cambria Math" panose="02040503050406030204" pitchFamily="18" charset="0"/>
                                      <a:ea typeface="Cambria Math" panose="02040503050406030204" pitchFamily="18" charset="0"/>
                                    </a:rPr>
                                    <m:t>2</m:t>
                                  </m:r>
                                </m:sub>
                              </m:sSub>
                            </m:e>
                          </m:d>
                        </m:e>
                      </m:func>
                    </m:oMath>
                  </m:oMathPara>
                </a14:m>
                <a:endParaRPr lang="fr-FR" b="0" dirty="0">
                  <a:ea typeface="Cambria Math" panose="02040503050406030204" pitchFamily="18" charset="0"/>
                </a:endParaRPr>
              </a:p>
              <a:p>
                <a:pPr marL="0" indent="0">
                  <a:buNone/>
                </a:pPr>
                <a:endParaRPr lang="fr-FR" dirty="0"/>
              </a:p>
            </p:txBody>
          </p:sp>
        </mc:Choice>
        <mc:Fallback xmlns="">
          <p:sp>
            <p:nvSpPr>
              <p:cNvPr id="2" name="Espace réservé du contenu 1">
                <a:extLst>
                  <a:ext uri="{FF2B5EF4-FFF2-40B4-BE49-F238E27FC236}">
                    <a16:creationId xmlns:a16="http://schemas.microsoft.com/office/drawing/2014/main" id="{59F29AF2-A635-4149-B0D7-A31577D46E5C}"/>
                  </a:ext>
                </a:extLst>
              </p:cNvPr>
              <p:cNvSpPr>
                <a:spLocks noGrp="1" noRot="1" noChangeAspect="1" noMove="1" noResize="1" noEditPoints="1" noAdjustHandles="1" noChangeArrowheads="1" noChangeShapeType="1" noTextEdit="1"/>
              </p:cNvSpPr>
              <p:nvPr>
                <p:ph sz="quarter" idx="1"/>
              </p:nvPr>
            </p:nvSpPr>
            <p:spPr>
              <a:blipFill>
                <a:blip r:embed="rId2"/>
                <a:stretch>
                  <a:fillRect l="-456"/>
                </a:stretch>
              </a:blipFill>
            </p:spPr>
            <p:txBody>
              <a:bodyPr/>
              <a:lstStyle/>
              <a:p>
                <a:r>
                  <a:rPr lang="fr-FR">
                    <a:noFill/>
                  </a:rPr>
                  <a:t> </a:t>
                </a:r>
              </a:p>
            </p:txBody>
          </p:sp>
        </mc:Fallback>
      </mc:AlternateContent>
      <p:sp>
        <p:nvSpPr>
          <p:cNvPr id="4" name="Titre 2">
            <a:extLst>
              <a:ext uri="{FF2B5EF4-FFF2-40B4-BE49-F238E27FC236}">
                <a16:creationId xmlns:a16="http://schemas.microsoft.com/office/drawing/2014/main" id="{018D348F-EBFD-3544-A350-559A6B533A3C}"/>
              </a:ext>
            </a:extLst>
          </p:cNvPr>
          <p:cNvSpPr>
            <a:spLocks noGrp="1"/>
          </p:cNvSpPr>
          <p:nvPr>
            <p:ph type="title"/>
          </p:nvPr>
        </p:nvSpPr>
        <p:spPr>
          <a:xfrm>
            <a:off x="300790" y="0"/>
            <a:ext cx="8229600" cy="785812"/>
          </a:xfrm>
        </p:spPr>
        <p:txBody>
          <a:bodyPr/>
          <a:lstStyle/>
          <a:p>
            <a:r>
              <a:rPr lang="en-GB" dirty="0"/>
              <a:t>Position control</a:t>
            </a:r>
            <a:endParaRPr lang="fr-FR" dirty="0"/>
          </a:p>
        </p:txBody>
      </p:sp>
      <p:sp>
        <p:nvSpPr>
          <p:cNvPr id="5" name="Rectangle 4">
            <a:extLst>
              <a:ext uri="{FF2B5EF4-FFF2-40B4-BE49-F238E27FC236}">
                <a16:creationId xmlns:a16="http://schemas.microsoft.com/office/drawing/2014/main" id="{AA22871B-016D-404D-8CBB-AE78E25F66F8}"/>
              </a:ext>
            </a:extLst>
          </p:cNvPr>
          <p:cNvSpPr/>
          <p:nvPr/>
        </p:nvSpPr>
        <p:spPr>
          <a:xfrm>
            <a:off x="2612572" y="4885509"/>
            <a:ext cx="3657600" cy="134547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83154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Espace réservé du contenu 1">
                <a:extLst>
                  <a:ext uri="{FF2B5EF4-FFF2-40B4-BE49-F238E27FC236}">
                    <a16:creationId xmlns:a16="http://schemas.microsoft.com/office/drawing/2014/main" id="{0A9909BC-624C-CB46-AC9C-30AAF4066972}"/>
                  </a:ext>
                </a:extLst>
              </p:cNvPr>
              <p:cNvSpPr>
                <a:spLocks noGrp="1"/>
              </p:cNvSpPr>
              <p:nvPr>
                <p:ph sz="quarter" idx="1"/>
              </p:nvPr>
            </p:nvSpPr>
            <p:spPr/>
            <p:txBody>
              <a:bodyPr/>
              <a:lstStyle/>
              <a:p>
                <a:pPr marL="0" indent="0">
                  <a:buNone/>
                </a:pPr>
                <a:endParaRPr lang="en-GB" b="1"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𝑑</m:t>
                          </m:r>
                          <m:r>
                            <a:rPr lang="en-GB" b="0" i="1" smtClean="0">
                              <a:latin typeface="Cambria Math" panose="02040503050406030204" pitchFamily="18" charset="0"/>
                            </a:rPr>
                            <m:t>𝑥</m:t>
                          </m:r>
                        </m:num>
                        <m:den>
                          <m:r>
                            <a:rPr lang="en-GB" i="1">
                              <a:latin typeface="Cambria Math" panose="02040503050406030204" pitchFamily="18" charset="0"/>
                            </a:rPr>
                            <m:t>𝑑𝑡</m:t>
                          </m:r>
                        </m:den>
                      </m:f>
                      <m:r>
                        <a:rPr lang="en-GB" i="1">
                          <a:latin typeface="Cambria Math" panose="02040503050406030204" pitchFamily="18" charset="0"/>
                        </a:rPr>
                        <m:t>=</m:t>
                      </m:r>
                      <m:d>
                        <m:dPr>
                          <m:begChr m:val="{"/>
                          <m:endChr m:val="}"/>
                          <m:ctrlPr>
                            <a:rPr lang="en-GB" i="1">
                              <a:latin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1</m:t>
                              </m:r>
                            </m:sub>
                          </m:sSub>
                          <m:func>
                            <m:funcPr>
                              <m:ctrlPr>
                                <a:rPr lang="en-GB" i="1">
                                  <a:latin typeface="Cambria Math" panose="02040503050406030204" pitchFamily="18" charset="0"/>
                                  <a:ea typeface="Cambria Math" panose="02040503050406030204" pitchFamily="18" charset="0"/>
                                </a:rPr>
                              </m:ctrlPr>
                            </m:funcPr>
                            <m:fName>
                              <m:r>
                                <m:rPr>
                                  <m:sty m:val="p"/>
                                </m:rPr>
                                <a:rPr lang="en-GB" b="0" i="0" smtClean="0">
                                  <a:latin typeface="Cambria Math" panose="02040503050406030204" pitchFamily="18" charset="0"/>
                                  <a:ea typeface="Cambria Math" panose="02040503050406030204" pitchFamily="18" charset="0"/>
                                </a:rPr>
                                <m:t>sin</m:t>
                              </m:r>
                            </m:fName>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e>
                          </m:func>
                          <m:r>
                            <a:rPr lang="en-GB"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2</m:t>
                              </m:r>
                            </m:sub>
                          </m:sSub>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s</m:t>
                              </m:r>
                              <m:r>
                                <m:rPr>
                                  <m:sty m:val="p"/>
                                </m:rPr>
                                <a:rPr lang="en-GB" b="0" i="0" smtClean="0">
                                  <a:latin typeface="Cambria Math" panose="02040503050406030204" pitchFamily="18" charset="0"/>
                                  <a:ea typeface="Cambria Math" panose="02040503050406030204" pitchFamily="18" charset="0"/>
                                </a:rPr>
                                <m:t>in</m:t>
                              </m:r>
                            </m:fName>
                            <m:e>
                              <m:d>
                                <m:dPr>
                                  <m:ctrlPr>
                                    <a:rPr lang="en-GB" i="1">
                                      <a:latin typeface="Cambria Math" panose="02040503050406030204" pitchFamily="18" charset="0"/>
                                      <a:ea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2</m:t>
                                      </m:r>
                                    </m:sub>
                                  </m:sSub>
                                </m:e>
                              </m:d>
                            </m:e>
                          </m:func>
                        </m:e>
                      </m:d>
                      <m:sSub>
                        <m:sSubPr>
                          <m:ctrlPr>
                            <a:rPr lang="en-GB" i="1">
                              <a:latin typeface="Cambria Math" panose="02040503050406030204" pitchFamily="18" charset="0"/>
                              <a:ea typeface="Cambria Math" panose="02040503050406030204" pitchFamily="18" charset="0"/>
                            </a:rPr>
                          </m:ctrlPr>
                        </m:sSubPr>
                        <m:e>
                          <m:acc>
                            <m:accPr>
                              <m:chr m:val="̇"/>
                              <m:ctrlPr>
                                <a:rPr lang="en-GB" i="1">
                                  <a:latin typeface="Cambria Math" panose="02040503050406030204" pitchFamily="18" charset="0"/>
                                  <a:ea typeface="Cambria Math" panose="02040503050406030204" pitchFamily="18" charset="0"/>
                                </a:rPr>
                              </m:ctrlPr>
                            </m:accPr>
                            <m:e>
                              <m:r>
                                <a:rPr lang="en-GB" i="1">
                                  <a:latin typeface="Cambria Math" panose="02040503050406030204" pitchFamily="18" charset="0"/>
                                  <a:ea typeface="Cambria Math" panose="02040503050406030204" pitchFamily="18" charset="0"/>
                                </a:rPr>
                                <m:t>𝜃</m:t>
                              </m:r>
                            </m:e>
                          </m:acc>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d>
                        <m:dPr>
                          <m:begChr m:val="{"/>
                          <m:endChr m:val="}"/>
                          <m:ctrlPr>
                            <a:rPr lang="en-GB" i="1">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2</m:t>
                              </m:r>
                            </m:sub>
                          </m:sSub>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s</m:t>
                              </m:r>
                              <m:r>
                                <m:rPr>
                                  <m:sty m:val="p"/>
                                </m:rPr>
                                <a:rPr lang="en-GB" b="0" i="0" smtClean="0">
                                  <a:latin typeface="Cambria Math" panose="02040503050406030204" pitchFamily="18" charset="0"/>
                                  <a:ea typeface="Cambria Math" panose="02040503050406030204" pitchFamily="18" charset="0"/>
                                </a:rPr>
                                <m:t>in</m:t>
                              </m:r>
                            </m:fName>
                            <m:e>
                              <m:d>
                                <m:dPr>
                                  <m:ctrlPr>
                                    <a:rPr lang="en-GB" i="1">
                                      <a:latin typeface="Cambria Math" panose="02040503050406030204" pitchFamily="18" charset="0"/>
                                      <a:ea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2</m:t>
                                      </m:r>
                                    </m:sub>
                                  </m:sSub>
                                </m:e>
                              </m:d>
                            </m:e>
                          </m:func>
                        </m:e>
                      </m:d>
                      <m:sSub>
                        <m:sSubPr>
                          <m:ctrlPr>
                            <a:rPr lang="en-GB" i="1">
                              <a:latin typeface="Cambria Math" panose="02040503050406030204" pitchFamily="18" charset="0"/>
                              <a:ea typeface="Cambria Math" panose="02040503050406030204" pitchFamily="18" charset="0"/>
                            </a:rPr>
                          </m:ctrlPr>
                        </m:sSubPr>
                        <m:e>
                          <m:acc>
                            <m:accPr>
                              <m:chr m:val="̇"/>
                              <m:ctrlPr>
                                <a:rPr lang="en-GB" i="1">
                                  <a:latin typeface="Cambria Math" panose="02040503050406030204" pitchFamily="18" charset="0"/>
                                  <a:ea typeface="Cambria Math" panose="02040503050406030204" pitchFamily="18" charset="0"/>
                                </a:rPr>
                              </m:ctrlPr>
                            </m:accPr>
                            <m:e>
                              <m:r>
                                <a:rPr lang="en-GB" i="1">
                                  <a:latin typeface="Cambria Math" panose="02040503050406030204" pitchFamily="18" charset="0"/>
                                  <a:ea typeface="Cambria Math" panose="02040503050406030204" pitchFamily="18" charset="0"/>
                                </a:rPr>
                                <m:t>𝜃</m:t>
                              </m:r>
                            </m:e>
                          </m:acc>
                        </m:e>
                        <m:sub>
                          <m:r>
                            <a:rPr lang="en-GB" i="1">
                              <a:latin typeface="Cambria Math" panose="02040503050406030204" pitchFamily="18" charset="0"/>
                              <a:ea typeface="Cambria Math" panose="02040503050406030204" pitchFamily="18" charset="0"/>
                            </a:rPr>
                            <m:t>2</m:t>
                          </m:r>
                        </m:sub>
                      </m:sSub>
                    </m:oMath>
                  </m:oMathPara>
                </a14:m>
                <a:endParaRPr lang="en-GB" b="1" i="1" dirty="0">
                  <a:latin typeface="Cambria Math" panose="02040503050406030204" pitchFamily="18" charset="0"/>
                </a:endParaRPr>
              </a:p>
              <a:p>
                <a:pPr marL="0" indent="0">
                  <a:buNone/>
                </a:pPr>
                <a:endParaRPr lang="en-GB"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𝑑𝑦</m:t>
                          </m:r>
                        </m:num>
                        <m:den>
                          <m:r>
                            <a:rPr lang="en-GB" i="1">
                              <a:latin typeface="Cambria Math" panose="02040503050406030204" pitchFamily="18" charset="0"/>
                            </a:rPr>
                            <m:t>𝑑𝑡</m:t>
                          </m:r>
                        </m:den>
                      </m:f>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1</m:t>
                              </m:r>
                            </m:sub>
                          </m:sSub>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cos</m:t>
                              </m:r>
                            </m:fName>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e>
                          </m:func>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2</m:t>
                              </m:r>
                            </m:sub>
                          </m:sSub>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cos</m:t>
                              </m:r>
                            </m:fName>
                            <m:e>
                              <m:d>
                                <m:dPr>
                                  <m:ctrlPr>
                                    <a:rPr lang="en-GB" i="1">
                                      <a:latin typeface="Cambria Math" panose="02040503050406030204" pitchFamily="18" charset="0"/>
                                      <a:ea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2</m:t>
                                      </m:r>
                                    </m:sub>
                                  </m:sSub>
                                </m:e>
                              </m:d>
                            </m:e>
                          </m:func>
                        </m:e>
                      </m:d>
                      <m:sSub>
                        <m:sSubPr>
                          <m:ctrlPr>
                            <a:rPr lang="en-GB" i="1">
                              <a:latin typeface="Cambria Math" panose="02040503050406030204" pitchFamily="18" charset="0"/>
                              <a:ea typeface="Cambria Math" panose="02040503050406030204" pitchFamily="18" charset="0"/>
                            </a:rPr>
                          </m:ctrlPr>
                        </m:sSubPr>
                        <m:e>
                          <m:acc>
                            <m:accPr>
                              <m:chr m:val="̇"/>
                              <m:ctrlPr>
                                <a:rPr lang="en-GB" i="1">
                                  <a:latin typeface="Cambria Math" panose="02040503050406030204" pitchFamily="18" charset="0"/>
                                  <a:ea typeface="Cambria Math" panose="02040503050406030204" pitchFamily="18" charset="0"/>
                                </a:rPr>
                              </m:ctrlPr>
                            </m:accPr>
                            <m:e>
                              <m:r>
                                <a:rPr lang="en-GB" i="1">
                                  <a:latin typeface="Cambria Math" panose="02040503050406030204" pitchFamily="18" charset="0"/>
                                  <a:ea typeface="Cambria Math" panose="02040503050406030204" pitchFamily="18" charset="0"/>
                                </a:rPr>
                                <m:t>𝜃</m:t>
                              </m:r>
                            </m:e>
                          </m:acc>
                        </m:e>
                        <m:sub>
                          <m:r>
                            <a:rPr lang="en-GB" i="1">
                              <a:latin typeface="Cambria Math" panose="02040503050406030204" pitchFamily="18" charset="0"/>
                              <a:ea typeface="Cambria Math" panose="02040503050406030204" pitchFamily="18" charset="0"/>
                            </a:rPr>
                            <m:t>1</m:t>
                          </m:r>
                        </m:sub>
                      </m:sSub>
                      <m:r>
                        <a:rPr lang="en-GB" b="0" i="1" smtClean="0">
                          <a:latin typeface="Cambria Math" panose="02040503050406030204" pitchFamily="18" charset="0"/>
                          <a:ea typeface="Cambria Math" panose="02040503050406030204" pitchFamily="18" charset="0"/>
                        </a:rPr>
                        <m:t>+</m:t>
                      </m:r>
                      <m:d>
                        <m:dPr>
                          <m:begChr m:val="{"/>
                          <m:endChr m:val="}"/>
                          <m:ctrlPr>
                            <a:rPr lang="en-GB" b="0" i="1" smtClean="0">
                              <a:latin typeface="Cambria Math" panose="02040503050406030204" pitchFamily="18" charset="0"/>
                              <a:ea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2</m:t>
                              </m:r>
                            </m:sub>
                          </m:sSub>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cos</m:t>
                              </m:r>
                            </m:fName>
                            <m:e>
                              <m:d>
                                <m:dPr>
                                  <m:ctrlPr>
                                    <a:rPr lang="en-GB" i="1">
                                      <a:latin typeface="Cambria Math" panose="02040503050406030204" pitchFamily="18" charset="0"/>
                                      <a:ea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2</m:t>
                                      </m:r>
                                    </m:sub>
                                  </m:sSub>
                                </m:e>
                              </m:d>
                            </m:e>
                          </m:func>
                        </m:e>
                      </m:d>
                      <m:sSub>
                        <m:sSubPr>
                          <m:ctrlPr>
                            <a:rPr lang="en-GB" i="1">
                              <a:latin typeface="Cambria Math" panose="02040503050406030204" pitchFamily="18" charset="0"/>
                              <a:ea typeface="Cambria Math" panose="02040503050406030204" pitchFamily="18" charset="0"/>
                            </a:rPr>
                          </m:ctrlPr>
                        </m:sSubPr>
                        <m:e>
                          <m:acc>
                            <m:accPr>
                              <m:chr m:val="̇"/>
                              <m:ctrlPr>
                                <a:rPr lang="en-GB" i="1">
                                  <a:latin typeface="Cambria Math" panose="02040503050406030204" pitchFamily="18" charset="0"/>
                                  <a:ea typeface="Cambria Math" panose="02040503050406030204" pitchFamily="18" charset="0"/>
                                </a:rPr>
                              </m:ctrlPr>
                            </m:accPr>
                            <m:e>
                              <m:r>
                                <a:rPr lang="en-GB" i="1">
                                  <a:latin typeface="Cambria Math" panose="02040503050406030204" pitchFamily="18" charset="0"/>
                                  <a:ea typeface="Cambria Math" panose="02040503050406030204" pitchFamily="18" charset="0"/>
                                </a:rPr>
                                <m:t>𝜃</m:t>
                              </m:r>
                            </m:e>
                          </m:acc>
                        </m:e>
                        <m:sub>
                          <m:r>
                            <a:rPr lang="en-GB" i="1">
                              <a:latin typeface="Cambria Math" panose="02040503050406030204" pitchFamily="18" charset="0"/>
                              <a:ea typeface="Cambria Math" panose="02040503050406030204" pitchFamily="18" charset="0"/>
                            </a:rPr>
                            <m:t>2</m:t>
                          </m:r>
                        </m:sub>
                      </m:sSub>
                    </m:oMath>
                  </m:oMathPara>
                </a14:m>
                <a:endParaRPr lang="en-GB" b="1" i="1" dirty="0">
                  <a:latin typeface="Cambria Math" panose="02040503050406030204" pitchFamily="18" charset="0"/>
                </a:endParaRPr>
              </a:p>
              <a:p>
                <a:pPr marL="0" indent="0">
                  <a:buNone/>
                </a:pPr>
                <a:endParaRPr lang="en-GB" b="1"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n-GB" b="1" i="1">
                              <a:latin typeface="Cambria Math" panose="02040503050406030204" pitchFamily="18" charset="0"/>
                            </a:rPr>
                          </m:ctrlPr>
                        </m:accPr>
                        <m:e>
                          <m:r>
                            <a:rPr lang="en-GB" b="1" i="1">
                              <a:latin typeface="Cambria Math" panose="02040503050406030204" pitchFamily="18" charset="0"/>
                            </a:rPr>
                            <m:t>𝐱</m:t>
                          </m:r>
                        </m:e>
                      </m:acc>
                      <m:r>
                        <a:rPr lang="en-GB" i="1">
                          <a:latin typeface="Cambria Math" panose="02040503050406030204" pitchFamily="18" charset="0"/>
                        </a:rPr>
                        <m:t>=</m:t>
                      </m:r>
                      <m:d>
                        <m:dPr>
                          <m:ctrlPr>
                            <a:rPr lang="en-GB" i="1">
                              <a:latin typeface="Cambria Math" panose="02040503050406030204" pitchFamily="18" charset="0"/>
                            </a:rPr>
                          </m:ctrlPr>
                        </m:dPr>
                        <m:e>
                          <m:eqArr>
                            <m:eqArrPr>
                              <m:ctrlPr>
                                <a:rPr lang="en-GB" i="1">
                                  <a:latin typeface="Cambria Math" panose="02040503050406030204" pitchFamily="18" charset="0"/>
                                </a:rPr>
                              </m:ctrlPr>
                            </m:eqArrPr>
                            <m:e>
                              <m:acc>
                                <m:accPr>
                                  <m:chr m:val="̇"/>
                                  <m:ctrlPr>
                                    <a:rPr lang="en-GB" i="1">
                                      <a:latin typeface="Cambria Math" panose="02040503050406030204" pitchFamily="18" charset="0"/>
                                    </a:rPr>
                                  </m:ctrlPr>
                                </m:accPr>
                                <m:e>
                                  <m:r>
                                    <a:rPr lang="en-GB" i="1">
                                      <a:latin typeface="Cambria Math" panose="02040503050406030204" pitchFamily="18" charset="0"/>
                                    </a:rPr>
                                    <m:t>𝑥</m:t>
                                  </m:r>
                                </m:e>
                              </m:acc>
                            </m:e>
                            <m:e>
                              <m:acc>
                                <m:accPr>
                                  <m:chr m:val="̇"/>
                                  <m:ctrlPr>
                                    <a:rPr lang="en-GB" i="1">
                                      <a:latin typeface="Cambria Math" panose="02040503050406030204" pitchFamily="18" charset="0"/>
                                    </a:rPr>
                                  </m:ctrlPr>
                                </m:accPr>
                                <m:e>
                                  <m:r>
                                    <a:rPr lang="en-GB" i="1">
                                      <a:latin typeface="Cambria Math" panose="02040503050406030204" pitchFamily="18" charset="0"/>
                                    </a:rPr>
                                    <m:t>𝑦</m:t>
                                  </m:r>
                                </m:e>
                              </m:acc>
                            </m:e>
                          </m:eqArr>
                        </m:e>
                      </m:d>
                      <m:r>
                        <a:rPr lang="en-GB" i="1">
                          <a:latin typeface="Cambria Math" panose="02040503050406030204" pitchFamily="18" charset="0"/>
                        </a:rPr>
                        <m:t>=</m:t>
                      </m:r>
                      <m:d>
                        <m:dPr>
                          <m:ctrlPr>
                            <a:rPr lang="en-GB" i="1">
                              <a:latin typeface="Cambria Math" panose="02040503050406030204" pitchFamily="18" charset="0"/>
                            </a:rPr>
                          </m:ctrlPr>
                        </m:dPr>
                        <m:e>
                          <m:eqArr>
                            <m:eqArrPr>
                              <m:ctrlPr>
                                <a:rPr lang="en-GB" i="1">
                                  <a:latin typeface="Cambria Math" panose="02040503050406030204" pitchFamily="18" charset="0"/>
                                </a:rPr>
                              </m:ctrlPr>
                            </m:eqArrPr>
                            <m:e>
                              <m:f>
                                <m:fPr>
                                  <m:ctrlPr>
                                    <a:rPr lang="en-GB" i="1">
                                      <a:latin typeface="Cambria Math" panose="02040503050406030204" pitchFamily="18" charset="0"/>
                                    </a:rPr>
                                  </m:ctrlPr>
                                </m:fPr>
                                <m:num>
                                  <m:r>
                                    <a:rPr lang="en-GB" i="1">
                                      <a:latin typeface="Cambria Math" panose="02040503050406030204" pitchFamily="18" charset="0"/>
                                    </a:rPr>
                                    <m:t>𝑑𝑥</m:t>
                                  </m:r>
                                </m:num>
                                <m:den>
                                  <m:r>
                                    <a:rPr lang="en-GB" i="1">
                                      <a:latin typeface="Cambria Math" panose="02040503050406030204" pitchFamily="18" charset="0"/>
                                    </a:rPr>
                                    <m:t>𝑑𝑡</m:t>
                                  </m:r>
                                </m:den>
                              </m:f>
                            </m:e>
                            <m:e>
                              <m:f>
                                <m:fPr>
                                  <m:ctrlPr>
                                    <a:rPr lang="en-GB" i="1">
                                      <a:latin typeface="Cambria Math" panose="02040503050406030204" pitchFamily="18" charset="0"/>
                                    </a:rPr>
                                  </m:ctrlPr>
                                </m:fPr>
                                <m:num>
                                  <m:r>
                                    <a:rPr lang="en-GB" i="1">
                                      <a:latin typeface="Cambria Math" panose="02040503050406030204" pitchFamily="18" charset="0"/>
                                    </a:rPr>
                                    <m:t>𝑑𝑦</m:t>
                                  </m:r>
                                </m:num>
                                <m:den>
                                  <m:r>
                                    <a:rPr lang="en-GB" i="1">
                                      <a:latin typeface="Cambria Math" panose="02040503050406030204" pitchFamily="18" charset="0"/>
                                    </a:rPr>
                                    <m:t>𝑑𝑡</m:t>
                                  </m:r>
                                </m:den>
                              </m:f>
                            </m:e>
                          </m:eqArr>
                        </m:e>
                      </m:d>
                      <m:r>
                        <a:rPr lang="en-GB" i="1">
                          <a:latin typeface="Cambria Math" panose="02040503050406030204" pitchFamily="18" charset="0"/>
                        </a:rPr>
                        <m:t>=</m:t>
                      </m:r>
                      <m:d>
                        <m:dPr>
                          <m:ctrlPr>
                            <a:rPr lang="en-GB" i="1" smtClean="0">
                              <a:latin typeface="Cambria Math" panose="02040503050406030204" pitchFamily="18" charset="0"/>
                            </a:rPr>
                          </m:ctrlPr>
                        </m:dPr>
                        <m:e>
                          <m:m>
                            <m:mPr>
                              <m:mcs>
                                <m:mc>
                                  <m:mcPr>
                                    <m:count m:val="2"/>
                                    <m:mcJc m:val="center"/>
                                  </m:mcPr>
                                </m:mc>
                              </m:mcs>
                              <m:ctrlPr>
                                <a:rPr lang="en-GB" i="1" smtClean="0">
                                  <a:latin typeface="Cambria Math" panose="02040503050406030204" pitchFamily="18" charset="0"/>
                                </a:rPr>
                              </m:ctrlPr>
                            </m:mPr>
                            <m:m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1</m:t>
                                    </m:r>
                                  </m:sub>
                                </m:sSub>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sin</m:t>
                                    </m:r>
                                  </m:fName>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e>
                                </m:func>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2</m:t>
                                    </m:r>
                                  </m:sub>
                                </m:sSub>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sin</m:t>
                                    </m:r>
                                  </m:fName>
                                  <m:e>
                                    <m:d>
                                      <m:dPr>
                                        <m:ctrlPr>
                                          <a:rPr lang="en-GB" i="1">
                                            <a:latin typeface="Cambria Math" panose="02040503050406030204" pitchFamily="18" charset="0"/>
                                            <a:ea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2</m:t>
                                            </m:r>
                                          </m:sub>
                                        </m:sSub>
                                      </m:e>
                                    </m:d>
                                  </m:e>
                                </m:func>
                              </m:e>
                              <m:e>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2</m:t>
                                    </m:r>
                                  </m:sub>
                                </m:sSub>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sin</m:t>
                                    </m:r>
                                  </m:fName>
                                  <m:e>
                                    <m:d>
                                      <m:dPr>
                                        <m:ctrlPr>
                                          <a:rPr lang="en-GB" i="1">
                                            <a:latin typeface="Cambria Math" panose="02040503050406030204" pitchFamily="18" charset="0"/>
                                            <a:ea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2</m:t>
                                            </m:r>
                                          </m:sub>
                                        </m:sSub>
                                      </m:e>
                                    </m:d>
                                  </m:e>
                                </m:func>
                              </m:e>
                            </m:mr>
                            <m:m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1</m:t>
                                    </m:r>
                                  </m:sub>
                                </m:sSub>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cos</m:t>
                                    </m:r>
                                  </m:fName>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e>
                                </m:func>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2</m:t>
                                    </m:r>
                                  </m:sub>
                                </m:sSub>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cos</m:t>
                                    </m:r>
                                  </m:fName>
                                  <m:e>
                                    <m:d>
                                      <m:dPr>
                                        <m:ctrlPr>
                                          <a:rPr lang="en-GB" i="1">
                                            <a:latin typeface="Cambria Math" panose="02040503050406030204" pitchFamily="18" charset="0"/>
                                            <a:ea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2</m:t>
                                            </m:r>
                                          </m:sub>
                                        </m:sSub>
                                      </m:e>
                                    </m:d>
                                  </m:e>
                                </m:func>
                              </m:e>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2</m:t>
                                    </m:r>
                                  </m:sub>
                                </m:sSub>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cos</m:t>
                                    </m:r>
                                  </m:fName>
                                  <m:e>
                                    <m:d>
                                      <m:dPr>
                                        <m:ctrlPr>
                                          <a:rPr lang="en-GB" i="1">
                                            <a:latin typeface="Cambria Math" panose="02040503050406030204" pitchFamily="18" charset="0"/>
                                            <a:ea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2</m:t>
                                            </m:r>
                                          </m:sub>
                                        </m:sSub>
                                      </m:e>
                                    </m:d>
                                  </m:e>
                                </m:func>
                              </m:e>
                            </m:mr>
                          </m:m>
                        </m:e>
                      </m:d>
                      <m:d>
                        <m:dPr>
                          <m:ctrlPr>
                            <a:rPr lang="en-GB" i="1" smtClean="0">
                              <a:latin typeface="Cambria Math" panose="02040503050406030204" pitchFamily="18" charset="0"/>
                            </a:rPr>
                          </m:ctrlPr>
                        </m:dPr>
                        <m:e>
                          <m:eqArr>
                            <m:eqArrPr>
                              <m:ctrlPr>
                                <a:rPr lang="en-GB" i="1" smtClean="0">
                                  <a:latin typeface="Cambria Math" panose="02040503050406030204" pitchFamily="18" charset="0"/>
                                </a:rPr>
                              </m:ctrlPr>
                            </m:eqArrPr>
                            <m:e>
                              <m:sSub>
                                <m:sSubPr>
                                  <m:ctrlPr>
                                    <a:rPr lang="en-GB" i="1" smtClean="0">
                                      <a:latin typeface="Cambria Math" panose="02040503050406030204" pitchFamily="18" charset="0"/>
                                    </a:rPr>
                                  </m:ctrlPr>
                                </m:sSubPr>
                                <m:e>
                                  <m:acc>
                                    <m:accPr>
                                      <m:chr m:val="̇"/>
                                      <m:ctrlPr>
                                        <a:rPr lang="en-GB" b="1" i="1" smtClean="0">
                                          <a:latin typeface="Cambria Math" panose="02040503050406030204" pitchFamily="18" charset="0"/>
                                        </a:rPr>
                                      </m:ctrlPr>
                                    </m:accPr>
                                    <m:e>
                                      <m:r>
                                        <a:rPr lang="en-GB" b="0" i="1" smtClean="0">
                                          <a:latin typeface="Cambria Math" panose="02040503050406030204" pitchFamily="18" charset="0"/>
                                          <a:ea typeface="Cambria Math" panose="02040503050406030204" pitchFamily="18" charset="0"/>
                                        </a:rPr>
                                        <m:t>𝜃</m:t>
                                      </m:r>
                                    </m:e>
                                  </m:acc>
                                </m:e>
                                <m:sub>
                                  <m:r>
                                    <a:rPr lang="en-GB" b="0" i="1" smtClean="0">
                                      <a:latin typeface="Cambria Math" panose="02040503050406030204" pitchFamily="18" charset="0"/>
                                    </a:rPr>
                                    <m:t>1</m:t>
                                  </m:r>
                                </m:sub>
                              </m:sSub>
                            </m:e>
                            <m:e>
                              <m:sSub>
                                <m:sSubPr>
                                  <m:ctrlPr>
                                    <a:rPr lang="en-GB" i="1" smtClean="0">
                                      <a:latin typeface="Cambria Math" panose="02040503050406030204" pitchFamily="18" charset="0"/>
                                    </a:rPr>
                                  </m:ctrlPr>
                                </m:sSubPr>
                                <m:e>
                                  <m:acc>
                                    <m:accPr>
                                      <m:chr m:val="̇"/>
                                      <m:ctrlPr>
                                        <a:rPr lang="en-GB" b="1" i="1" smtClean="0">
                                          <a:latin typeface="Cambria Math" panose="02040503050406030204" pitchFamily="18" charset="0"/>
                                        </a:rPr>
                                      </m:ctrlPr>
                                    </m:accPr>
                                    <m:e>
                                      <m:r>
                                        <a:rPr lang="en-GB" b="0" i="1" smtClean="0">
                                          <a:latin typeface="Cambria Math" panose="02040503050406030204" pitchFamily="18" charset="0"/>
                                          <a:ea typeface="Cambria Math" panose="02040503050406030204" pitchFamily="18" charset="0"/>
                                        </a:rPr>
                                        <m:t>𝜃</m:t>
                                      </m:r>
                                    </m:e>
                                  </m:acc>
                                </m:e>
                                <m:sub>
                                  <m:r>
                                    <a:rPr lang="en-GB" b="0" i="1" smtClean="0">
                                      <a:latin typeface="Cambria Math" panose="02040503050406030204" pitchFamily="18" charset="0"/>
                                    </a:rPr>
                                    <m:t>2</m:t>
                                  </m:r>
                                </m:sub>
                              </m:sSub>
                            </m:e>
                          </m:eqArr>
                        </m:e>
                      </m:d>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1" i="0" smtClean="0">
                          <a:latin typeface="Cambria Math" panose="02040503050406030204" pitchFamily="18" charset="0"/>
                        </a:rPr>
                        <m:t>=</m:t>
                      </m:r>
                      <m:sSub>
                        <m:sSubPr>
                          <m:ctrlPr>
                            <a:rPr lang="en-GB" b="1" i="1" smtClean="0">
                              <a:latin typeface="Cambria Math" panose="02040503050406030204" pitchFamily="18" charset="0"/>
                            </a:rPr>
                          </m:ctrlPr>
                        </m:sSubPr>
                        <m:e>
                          <m:r>
                            <a:rPr lang="en-GB" b="1" i="0" smtClean="0">
                              <a:latin typeface="Cambria Math" panose="02040503050406030204" pitchFamily="18" charset="0"/>
                            </a:rPr>
                            <m:t>𝐉</m:t>
                          </m:r>
                        </m:e>
                        <m:sub>
                          <m:r>
                            <a:rPr lang="en-GB" b="1" i="1" smtClean="0">
                              <a:latin typeface="Cambria Math" panose="02040503050406030204" pitchFamily="18" charset="0"/>
                            </a:rPr>
                            <m:t>𝑨</m:t>
                          </m:r>
                        </m:sub>
                      </m:sSub>
                      <m:d>
                        <m:dPr>
                          <m:ctrlPr>
                            <a:rPr lang="en-GB" b="1" i="1" smtClean="0">
                              <a:latin typeface="Cambria Math" panose="02040503050406030204" pitchFamily="18" charset="0"/>
                            </a:rPr>
                          </m:ctrlPr>
                        </m:dPr>
                        <m:e>
                          <m:r>
                            <a:rPr lang="en-GB" b="1" i="0" smtClean="0">
                              <a:latin typeface="Cambria Math" panose="02040503050406030204" pitchFamily="18" charset="0"/>
                            </a:rPr>
                            <m:t>𝐪</m:t>
                          </m:r>
                        </m:e>
                      </m:d>
                      <m:acc>
                        <m:accPr>
                          <m:chr m:val="̇"/>
                          <m:ctrlPr>
                            <a:rPr lang="en-GB" i="1">
                              <a:latin typeface="Cambria Math" panose="02040503050406030204" pitchFamily="18" charset="0"/>
                            </a:rPr>
                          </m:ctrlPr>
                        </m:accPr>
                        <m:e>
                          <m:r>
                            <a:rPr lang="en-GB" b="1" i="1">
                              <a:latin typeface="Cambria Math" panose="02040503050406030204" pitchFamily="18" charset="0"/>
                            </a:rPr>
                            <m:t>𝐪</m:t>
                          </m:r>
                        </m:e>
                      </m:acc>
                    </m:oMath>
                  </m:oMathPara>
                </a14:m>
                <a:endParaRPr lang="en-GB" dirty="0"/>
              </a:p>
              <a:p>
                <a:pPr marL="0" indent="0">
                  <a:buNone/>
                </a:pPr>
                <a:endParaRPr lang="en-GB" dirty="0"/>
              </a:p>
              <a:p>
                <a:pPr marL="0" indent="0">
                  <a:buNone/>
                </a:pPr>
                <a:r>
                  <a:rPr lang="en-GB" dirty="0"/>
                  <a:t>with:</a:t>
                </a:r>
              </a:p>
              <a:p>
                <a:pPr marL="0" indent="0">
                  <a:buNone/>
                </a:pPr>
                <a14:m>
                  <m:oMathPara xmlns:m="http://schemas.openxmlformats.org/officeDocument/2006/math">
                    <m:oMathParaPr>
                      <m:jc m:val="centerGroup"/>
                    </m:oMathParaPr>
                    <m:oMath xmlns:m="http://schemas.openxmlformats.org/officeDocument/2006/math">
                      <m:sSub>
                        <m:sSubPr>
                          <m:ctrlPr>
                            <a:rPr lang="en-GB" b="1" i="1">
                              <a:latin typeface="Cambria Math" panose="02040503050406030204" pitchFamily="18" charset="0"/>
                            </a:rPr>
                          </m:ctrlPr>
                        </m:sSubPr>
                        <m:e>
                          <m:r>
                            <a:rPr lang="en-GB" b="1">
                              <a:latin typeface="Cambria Math" panose="02040503050406030204" pitchFamily="18" charset="0"/>
                            </a:rPr>
                            <m:t>𝐉</m:t>
                          </m:r>
                        </m:e>
                        <m:sub>
                          <m:r>
                            <a:rPr lang="en-GB" b="1" i="1">
                              <a:latin typeface="Cambria Math" panose="02040503050406030204" pitchFamily="18" charset="0"/>
                            </a:rPr>
                            <m:t>𝑨</m:t>
                          </m:r>
                        </m:sub>
                      </m:sSub>
                      <m:d>
                        <m:dPr>
                          <m:ctrlPr>
                            <a:rPr lang="en-GB" b="1" i="1">
                              <a:latin typeface="Cambria Math" panose="02040503050406030204" pitchFamily="18" charset="0"/>
                            </a:rPr>
                          </m:ctrlPr>
                        </m:dPr>
                        <m:e>
                          <m:r>
                            <a:rPr lang="en-GB" b="1">
                              <a:latin typeface="Cambria Math" panose="02040503050406030204" pitchFamily="18" charset="0"/>
                            </a:rPr>
                            <m:t>𝐪</m:t>
                          </m:r>
                        </m:e>
                      </m:d>
                      <m:r>
                        <a:rPr lang="fr-FR" b="1" i="1" smtClean="0">
                          <a:latin typeface="Cambria Math" panose="02040503050406030204" pitchFamily="18" charset="0"/>
                        </a:rPr>
                        <m:t>=</m:t>
                      </m:r>
                      <m:sSub>
                        <m:sSubPr>
                          <m:ctrlPr>
                            <a:rPr lang="en-GB" b="1" i="1">
                              <a:latin typeface="Cambria Math" panose="02040503050406030204" pitchFamily="18" charset="0"/>
                            </a:rPr>
                          </m:ctrlPr>
                        </m:sSubPr>
                        <m:e>
                          <m:r>
                            <a:rPr lang="en-GB" b="1">
                              <a:latin typeface="Cambria Math" panose="02040503050406030204" pitchFamily="18" charset="0"/>
                            </a:rPr>
                            <m:t>𝐉</m:t>
                          </m:r>
                        </m:e>
                        <m:sub>
                          <m:r>
                            <a:rPr lang="fr-FR" b="1" i="1" smtClean="0">
                              <a:latin typeface="Cambria Math" panose="02040503050406030204" pitchFamily="18" charset="0"/>
                            </a:rPr>
                            <m:t>𝒙</m:t>
                          </m:r>
                        </m:sub>
                      </m:sSub>
                      <m:d>
                        <m:dPr>
                          <m:ctrlPr>
                            <a:rPr lang="en-GB" b="1" i="1">
                              <a:latin typeface="Cambria Math" panose="02040503050406030204" pitchFamily="18" charset="0"/>
                            </a:rPr>
                          </m:ctrlPr>
                        </m:dPr>
                        <m:e>
                          <m:r>
                            <a:rPr lang="en-GB" b="1">
                              <a:latin typeface="Cambria Math" panose="02040503050406030204" pitchFamily="18" charset="0"/>
                            </a:rPr>
                            <m:t>𝐪</m:t>
                          </m:r>
                        </m:e>
                      </m:d>
                      <m:r>
                        <a:rPr lang="en-GB" b="1" i="0" smtClean="0">
                          <a:latin typeface="Cambria Math" panose="02040503050406030204" pitchFamily="18" charset="0"/>
                        </a:rPr>
                        <m:t>=</m:t>
                      </m:r>
                      <m:d>
                        <m:dPr>
                          <m:ctrlPr>
                            <a:rPr lang="en-GB" i="1">
                              <a:latin typeface="Cambria Math" panose="02040503050406030204" pitchFamily="18" charset="0"/>
                            </a:rPr>
                          </m:ctrlPr>
                        </m:dPr>
                        <m:e>
                          <m:m>
                            <m:mPr>
                              <m:mcs>
                                <m:mc>
                                  <m:mcPr>
                                    <m:count m:val="2"/>
                                    <m:mcJc m:val="center"/>
                                  </m:mcPr>
                                </m:mc>
                              </m:mcs>
                              <m:ctrlPr>
                                <a:rPr lang="en-GB" i="1">
                                  <a:latin typeface="Cambria Math" panose="02040503050406030204" pitchFamily="18" charset="0"/>
                                </a:rPr>
                              </m:ctrlPr>
                            </m:mPr>
                            <m:m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1</m:t>
                                    </m:r>
                                  </m:sub>
                                </m:sSub>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sin</m:t>
                                    </m:r>
                                  </m:fName>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e>
                                </m:func>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2</m:t>
                                    </m:r>
                                  </m:sub>
                                </m:sSub>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sin</m:t>
                                    </m:r>
                                  </m:fName>
                                  <m:e>
                                    <m:d>
                                      <m:dPr>
                                        <m:ctrlPr>
                                          <a:rPr lang="en-GB" i="1">
                                            <a:latin typeface="Cambria Math" panose="02040503050406030204" pitchFamily="18" charset="0"/>
                                            <a:ea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2</m:t>
                                            </m:r>
                                          </m:sub>
                                        </m:sSub>
                                      </m:e>
                                    </m:d>
                                  </m:e>
                                </m:func>
                              </m:e>
                              <m:e>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2</m:t>
                                    </m:r>
                                  </m:sub>
                                </m:sSub>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sin</m:t>
                                    </m:r>
                                  </m:fName>
                                  <m:e>
                                    <m:d>
                                      <m:dPr>
                                        <m:ctrlPr>
                                          <a:rPr lang="en-GB" i="1">
                                            <a:latin typeface="Cambria Math" panose="02040503050406030204" pitchFamily="18" charset="0"/>
                                            <a:ea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2</m:t>
                                            </m:r>
                                          </m:sub>
                                        </m:sSub>
                                      </m:e>
                                    </m:d>
                                  </m:e>
                                </m:func>
                              </m:e>
                            </m:mr>
                            <m:m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1</m:t>
                                    </m:r>
                                  </m:sub>
                                </m:sSub>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cos</m:t>
                                    </m:r>
                                  </m:fName>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e>
                                </m:func>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2</m:t>
                                    </m:r>
                                  </m:sub>
                                </m:sSub>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cos</m:t>
                                    </m:r>
                                  </m:fName>
                                  <m:e>
                                    <m:d>
                                      <m:dPr>
                                        <m:ctrlPr>
                                          <a:rPr lang="en-GB" i="1">
                                            <a:latin typeface="Cambria Math" panose="02040503050406030204" pitchFamily="18" charset="0"/>
                                            <a:ea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2</m:t>
                                            </m:r>
                                          </m:sub>
                                        </m:sSub>
                                      </m:e>
                                    </m:d>
                                  </m:e>
                                </m:func>
                              </m:e>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2</m:t>
                                    </m:r>
                                  </m:sub>
                                </m:sSub>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cos</m:t>
                                    </m:r>
                                  </m:fName>
                                  <m:e>
                                    <m:d>
                                      <m:dPr>
                                        <m:ctrlPr>
                                          <a:rPr lang="en-GB" i="1">
                                            <a:latin typeface="Cambria Math" panose="02040503050406030204" pitchFamily="18" charset="0"/>
                                            <a:ea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2</m:t>
                                            </m:r>
                                          </m:sub>
                                        </m:sSub>
                                      </m:e>
                                    </m:d>
                                  </m:e>
                                </m:func>
                              </m:e>
                            </m:mr>
                          </m:m>
                        </m:e>
                      </m:d>
                    </m:oMath>
                  </m:oMathPara>
                </a14:m>
                <a:endParaRPr lang="en-GB" dirty="0"/>
              </a:p>
            </p:txBody>
          </p:sp>
        </mc:Choice>
        <mc:Fallback>
          <p:sp>
            <p:nvSpPr>
              <p:cNvPr id="2" name="Espace réservé du contenu 1">
                <a:extLst>
                  <a:ext uri="{FF2B5EF4-FFF2-40B4-BE49-F238E27FC236}">
                    <a16:creationId xmlns:a16="http://schemas.microsoft.com/office/drawing/2014/main" id="{0A9909BC-624C-CB46-AC9C-30AAF4066972}"/>
                  </a:ext>
                </a:extLst>
              </p:cNvPr>
              <p:cNvSpPr>
                <a:spLocks noGrp="1" noRot="1" noChangeAspect="1" noMove="1" noResize="1" noEditPoints="1" noAdjustHandles="1" noChangeArrowheads="1" noChangeShapeType="1" noTextEdit="1"/>
              </p:cNvSpPr>
              <p:nvPr>
                <p:ph sz="quarter" idx="1"/>
              </p:nvPr>
            </p:nvSpPr>
            <p:spPr>
              <a:blipFill>
                <a:blip r:embed="rId2"/>
                <a:stretch>
                  <a:fillRect l="-608"/>
                </a:stretch>
              </a:blipFill>
            </p:spPr>
            <p:txBody>
              <a:bodyPr/>
              <a:lstStyle/>
              <a:p>
                <a:r>
                  <a:rPr lang="en-FR">
                    <a:noFill/>
                  </a:rPr>
                  <a:t> </a:t>
                </a:r>
              </a:p>
            </p:txBody>
          </p:sp>
        </mc:Fallback>
      </mc:AlternateContent>
      <p:sp>
        <p:nvSpPr>
          <p:cNvPr id="4" name="Titre 2">
            <a:extLst>
              <a:ext uri="{FF2B5EF4-FFF2-40B4-BE49-F238E27FC236}">
                <a16:creationId xmlns:a16="http://schemas.microsoft.com/office/drawing/2014/main" id="{FA09846C-13D3-7A45-85DC-91B50380A35D}"/>
              </a:ext>
            </a:extLst>
          </p:cNvPr>
          <p:cNvSpPr>
            <a:spLocks noGrp="1"/>
          </p:cNvSpPr>
          <p:nvPr>
            <p:ph type="title"/>
          </p:nvPr>
        </p:nvSpPr>
        <p:spPr>
          <a:xfrm>
            <a:off x="300790" y="0"/>
            <a:ext cx="8229600" cy="785812"/>
          </a:xfrm>
        </p:spPr>
        <p:txBody>
          <a:bodyPr/>
          <a:lstStyle/>
          <a:p>
            <a:r>
              <a:rPr lang="en-GB" dirty="0"/>
              <a:t>Position control</a:t>
            </a:r>
            <a:endParaRPr lang="fr-FR" dirty="0"/>
          </a:p>
        </p:txBody>
      </p:sp>
    </p:spTree>
    <p:extLst>
      <p:ext uri="{BB962C8B-B14F-4D97-AF65-F5344CB8AC3E}">
        <p14:creationId xmlns:p14="http://schemas.microsoft.com/office/powerpoint/2010/main" val="15325388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Espace réservé du contenu 1">
                <a:extLst>
                  <a:ext uri="{FF2B5EF4-FFF2-40B4-BE49-F238E27FC236}">
                    <a16:creationId xmlns:a16="http://schemas.microsoft.com/office/drawing/2014/main" id="{9272E19A-250C-BD43-8A6A-F3B45093AA47}"/>
                  </a:ext>
                </a:extLst>
              </p:cNvPr>
              <p:cNvSpPr>
                <a:spLocks noGrp="1"/>
              </p:cNvSpPr>
              <p:nvPr>
                <p:ph sz="quarter" idx="1"/>
              </p:nvPr>
            </p:nvSpPr>
            <p:spPr/>
            <p:txBody>
              <a:bodyPr/>
              <a:lstStyle/>
              <a:p>
                <a:pPr marL="0" indent="0">
                  <a:buNone/>
                </a:pPr>
                <a:endParaRPr lang="en-GB" b="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n-GB" b="1" i="1" smtClean="0">
                              <a:latin typeface="Cambria Math" panose="02040503050406030204" pitchFamily="18" charset="0"/>
                            </a:rPr>
                          </m:ctrlPr>
                        </m:accPr>
                        <m:e>
                          <m:r>
                            <a:rPr lang="en-GB" b="1" i="0" smtClean="0">
                              <a:latin typeface="Cambria Math" panose="02040503050406030204" pitchFamily="18" charset="0"/>
                            </a:rPr>
                            <m:t>𝐪</m:t>
                          </m:r>
                        </m:e>
                      </m:acc>
                      <m:r>
                        <a:rPr lang="en-GB" i="0" smtClean="0">
                          <a:latin typeface="Cambria Math" panose="02040503050406030204" pitchFamily="18" charset="0"/>
                        </a:rPr>
                        <m:t>=</m:t>
                      </m:r>
                      <m:sSup>
                        <m:sSupPr>
                          <m:ctrlPr>
                            <a:rPr lang="en-GB" i="1" smtClean="0">
                              <a:latin typeface="Cambria Math" panose="02040503050406030204" pitchFamily="18" charset="0"/>
                            </a:rPr>
                          </m:ctrlPr>
                        </m:sSupPr>
                        <m:e>
                          <m:sSub>
                            <m:sSubPr>
                              <m:ctrlPr>
                                <a:rPr lang="en-GB" i="1" smtClean="0">
                                  <a:latin typeface="Cambria Math" panose="02040503050406030204" pitchFamily="18" charset="0"/>
                                </a:rPr>
                              </m:ctrlPr>
                            </m:sSubPr>
                            <m:e>
                              <m:r>
                                <a:rPr lang="en-GB" b="1" i="0" smtClean="0">
                                  <a:latin typeface="Cambria Math" panose="02040503050406030204" pitchFamily="18" charset="0"/>
                                </a:rPr>
                                <m:t>𝐉</m:t>
                              </m:r>
                            </m:e>
                            <m:sub>
                              <m:r>
                                <a:rPr lang="fr-FR" b="0" i="1" smtClean="0">
                                  <a:latin typeface="Cambria Math" panose="02040503050406030204" pitchFamily="18" charset="0"/>
                                </a:rPr>
                                <m:t>𝑥</m:t>
                              </m:r>
                            </m:sub>
                          </m:sSub>
                          <m:d>
                            <m:dPr>
                              <m:ctrlPr>
                                <a:rPr lang="en-GB" i="1" smtClean="0">
                                  <a:latin typeface="Cambria Math" panose="02040503050406030204" pitchFamily="18" charset="0"/>
                                </a:rPr>
                              </m:ctrlPr>
                            </m:dPr>
                            <m:e>
                              <m:r>
                                <a:rPr lang="en-GB" b="1" i="1" smtClean="0">
                                  <a:latin typeface="Cambria Math" panose="02040503050406030204" pitchFamily="18" charset="0"/>
                                </a:rPr>
                                <m:t>𝒒</m:t>
                              </m:r>
                            </m:e>
                          </m:d>
                        </m:e>
                        <m:sup>
                          <m:r>
                            <a:rPr lang="en-GB" b="0" i="1" smtClean="0">
                              <a:latin typeface="Cambria Math" panose="02040503050406030204" pitchFamily="18" charset="0"/>
                            </a:rPr>
                            <m:t>−1</m:t>
                          </m:r>
                        </m:sup>
                      </m:sSup>
                      <m:acc>
                        <m:accPr>
                          <m:chr m:val="̇"/>
                          <m:ctrlPr>
                            <a:rPr lang="en-GB" i="1" smtClean="0">
                              <a:latin typeface="Cambria Math" panose="02040503050406030204" pitchFamily="18" charset="0"/>
                            </a:rPr>
                          </m:ctrlPr>
                        </m:accPr>
                        <m:e>
                          <m:r>
                            <a:rPr lang="en-GB" b="1" i="0" smtClean="0">
                              <a:latin typeface="Cambria Math" panose="02040503050406030204" pitchFamily="18" charset="0"/>
                            </a:rPr>
                            <m:t>𝐱</m:t>
                          </m:r>
                        </m:e>
                      </m:acc>
                    </m:oMath>
                  </m:oMathPara>
                </a14:m>
                <a:endParaRPr lang="en-GB" dirty="0"/>
              </a:p>
              <a:p>
                <a:pPr marL="0" indent="0">
                  <a:buNone/>
                </a:pPr>
                <a:endParaRPr lang="en-GB" dirty="0"/>
              </a:p>
              <a:p>
                <a:pPr marL="0" indent="0">
                  <a:buNone/>
                </a:pPr>
                <a14:m>
                  <m:oMath xmlns:m="http://schemas.openxmlformats.org/officeDocument/2006/math">
                    <m:sSup>
                      <m:sSupPr>
                        <m:ctrlPr>
                          <a:rPr lang="en-GB" i="1" smtClean="0">
                            <a:latin typeface="Cambria Math" panose="02040503050406030204" pitchFamily="18" charset="0"/>
                          </a:rPr>
                        </m:ctrlPr>
                      </m:sSupPr>
                      <m:e>
                        <m:sSub>
                          <m:sSubPr>
                            <m:ctrlPr>
                              <a:rPr lang="en-GB" i="1" smtClean="0">
                                <a:latin typeface="Cambria Math" panose="02040503050406030204" pitchFamily="18" charset="0"/>
                              </a:rPr>
                            </m:ctrlPr>
                          </m:sSubPr>
                          <m:e>
                            <m:r>
                              <a:rPr lang="en-GB" b="1" smtClean="0">
                                <a:latin typeface="Cambria Math" panose="02040503050406030204" pitchFamily="18" charset="0"/>
                              </a:rPr>
                              <m:t>𝐉</m:t>
                            </m:r>
                          </m:e>
                          <m:sub>
                            <m:r>
                              <a:rPr lang="en-GB" i="1" smtClean="0">
                                <a:latin typeface="Cambria Math" panose="02040503050406030204" pitchFamily="18" charset="0"/>
                              </a:rPr>
                              <m:t>𝐴</m:t>
                            </m:r>
                          </m:sub>
                        </m:sSub>
                        <m:d>
                          <m:dPr>
                            <m:ctrlPr>
                              <a:rPr lang="en-GB" i="1" smtClean="0">
                                <a:latin typeface="Cambria Math" panose="02040503050406030204" pitchFamily="18" charset="0"/>
                              </a:rPr>
                            </m:ctrlPr>
                          </m:dPr>
                          <m:e>
                            <m:r>
                              <a:rPr lang="en-GB" b="1" i="1" smtClean="0">
                                <a:latin typeface="Cambria Math" panose="02040503050406030204" pitchFamily="18" charset="0"/>
                              </a:rPr>
                              <m:t>𝒒</m:t>
                            </m:r>
                          </m:e>
                        </m:d>
                      </m:e>
                      <m:sup>
                        <m:r>
                          <a:rPr lang="en-GB" i="1" smtClean="0">
                            <a:latin typeface="Cambria Math" panose="02040503050406030204" pitchFamily="18" charset="0"/>
                          </a:rPr>
                          <m:t>−1</m:t>
                        </m:r>
                      </m:sup>
                    </m:sSup>
                    <m:r>
                      <a:rPr lang="en-GB" i="1" smtClean="0">
                        <a:latin typeface="Cambria Math" panose="02040503050406030204" pitchFamily="18" charset="0"/>
                      </a:rPr>
                      <m:t> </m:t>
                    </m:r>
                  </m:oMath>
                </a14:m>
                <a:r>
                  <a:rPr lang="en-GB" b="1" dirty="0"/>
                  <a:t> </a:t>
                </a:r>
                <a:r>
                  <a:rPr lang="en-GB" dirty="0"/>
                  <a:t>is the inverse of the analytical Jacobian of the robot.</a:t>
                </a:r>
              </a:p>
              <a:p>
                <a:pPr marL="0" indent="0">
                  <a:buNone/>
                </a:pPr>
                <a:endParaRPr lang="en-GB" dirty="0"/>
              </a:p>
            </p:txBody>
          </p:sp>
        </mc:Choice>
        <mc:Fallback>
          <p:sp>
            <p:nvSpPr>
              <p:cNvPr id="2" name="Espace réservé du contenu 1">
                <a:extLst>
                  <a:ext uri="{FF2B5EF4-FFF2-40B4-BE49-F238E27FC236}">
                    <a16:creationId xmlns:a16="http://schemas.microsoft.com/office/drawing/2014/main" id="{9272E19A-250C-BD43-8A6A-F3B45093AA47}"/>
                  </a:ext>
                </a:extLst>
              </p:cNvPr>
              <p:cNvSpPr>
                <a:spLocks noGrp="1" noRot="1" noChangeAspect="1" noMove="1" noResize="1" noEditPoints="1" noAdjustHandles="1" noChangeArrowheads="1" noChangeShapeType="1" noTextEdit="1"/>
              </p:cNvSpPr>
              <p:nvPr>
                <p:ph sz="quarter" idx="1"/>
              </p:nvPr>
            </p:nvSpPr>
            <p:spPr>
              <a:blipFill>
                <a:blip r:embed="rId2"/>
                <a:stretch>
                  <a:fillRect l="-152"/>
                </a:stretch>
              </a:blipFill>
            </p:spPr>
            <p:txBody>
              <a:bodyPr/>
              <a:lstStyle/>
              <a:p>
                <a:r>
                  <a:rPr lang="en-FR">
                    <a:noFill/>
                  </a:rPr>
                  <a:t> </a:t>
                </a:r>
              </a:p>
            </p:txBody>
          </p:sp>
        </mc:Fallback>
      </mc:AlternateContent>
      <p:sp>
        <p:nvSpPr>
          <p:cNvPr id="3" name="Titre 2">
            <a:extLst>
              <a:ext uri="{FF2B5EF4-FFF2-40B4-BE49-F238E27FC236}">
                <a16:creationId xmlns:a16="http://schemas.microsoft.com/office/drawing/2014/main" id="{196FB237-E241-1747-9B95-9EE16031DA25}"/>
              </a:ext>
            </a:extLst>
          </p:cNvPr>
          <p:cNvSpPr>
            <a:spLocks noGrp="1"/>
          </p:cNvSpPr>
          <p:nvPr>
            <p:ph type="title"/>
          </p:nvPr>
        </p:nvSpPr>
        <p:spPr/>
        <p:txBody>
          <a:bodyPr/>
          <a:lstStyle/>
          <a:p>
            <a:r>
              <a:rPr lang="en-GB" dirty="0"/>
              <a:t>Position control</a:t>
            </a:r>
            <a:endParaRPr lang="fr-FR" dirty="0"/>
          </a:p>
        </p:txBody>
      </p:sp>
      <p:sp>
        <p:nvSpPr>
          <p:cNvPr id="28" name="Rectangle 27">
            <a:extLst>
              <a:ext uri="{FF2B5EF4-FFF2-40B4-BE49-F238E27FC236}">
                <a16:creationId xmlns:a16="http://schemas.microsoft.com/office/drawing/2014/main" id="{4616412A-16AB-8B47-B8F4-7144C21B3C00}"/>
              </a:ext>
            </a:extLst>
          </p:cNvPr>
          <p:cNvSpPr/>
          <p:nvPr/>
        </p:nvSpPr>
        <p:spPr>
          <a:xfrm>
            <a:off x="5603961" y="3954991"/>
            <a:ext cx="1290359" cy="53141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1600" dirty="0">
                <a:solidFill>
                  <a:srgbClr val="000000"/>
                </a:solidFill>
                <a:ea typeface="Calibri" panose="020F0502020204030204" pitchFamily="34" charset="0"/>
                <a:cs typeface="Times New Roman" panose="02020603050405020304" pitchFamily="18" charset="0"/>
              </a:rPr>
              <a:t>motors</a:t>
            </a:r>
            <a:endParaRPr lang="en-GB" sz="1600" dirty="0">
              <a:ea typeface="Calibri" panose="020F0502020204030204" pitchFamily="34" charset="0"/>
              <a:cs typeface="Times New Roman" panose="02020603050405020304" pitchFamily="18" charset="0"/>
            </a:endParaRPr>
          </a:p>
        </p:txBody>
      </p:sp>
      <p:cxnSp>
        <p:nvCxnSpPr>
          <p:cNvPr id="29" name="Connecteur droit avec flèche 28">
            <a:extLst>
              <a:ext uri="{FF2B5EF4-FFF2-40B4-BE49-F238E27FC236}">
                <a16:creationId xmlns:a16="http://schemas.microsoft.com/office/drawing/2014/main" id="{EC5BB731-DBDF-A848-A897-CF90E2D6603B}"/>
              </a:ext>
            </a:extLst>
          </p:cNvPr>
          <p:cNvCxnSpPr>
            <a:cxnSpLocks/>
            <a:endCxn id="28" idx="1"/>
          </p:cNvCxnSpPr>
          <p:nvPr/>
        </p:nvCxnSpPr>
        <p:spPr>
          <a:xfrm>
            <a:off x="5214551" y="4209976"/>
            <a:ext cx="38941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eur droit avec flèche 29">
            <a:extLst>
              <a:ext uri="{FF2B5EF4-FFF2-40B4-BE49-F238E27FC236}">
                <a16:creationId xmlns:a16="http://schemas.microsoft.com/office/drawing/2014/main" id="{4435A655-DDEC-564A-9C68-B229804A4F7B}"/>
              </a:ext>
            </a:extLst>
          </p:cNvPr>
          <p:cNvCxnSpPr>
            <a:cxnSpLocks/>
            <a:stCxn id="28" idx="3"/>
          </p:cNvCxnSpPr>
          <p:nvPr/>
        </p:nvCxnSpPr>
        <p:spPr>
          <a:xfrm flipV="1">
            <a:off x="6894320" y="4209976"/>
            <a:ext cx="167827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ZoneTexte 30">
                <a:extLst>
                  <a:ext uri="{FF2B5EF4-FFF2-40B4-BE49-F238E27FC236}">
                    <a16:creationId xmlns:a16="http://schemas.microsoft.com/office/drawing/2014/main" id="{AE394BFE-846D-7546-BAC5-2E368610FF0A}"/>
                  </a:ext>
                </a:extLst>
              </p:cNvPr>
              <p:cNvSpPr txBox="1"/>
              <p:nvPr/>
            </p:nvSpPr>
            <p:spPr>
              <a:xfrm>
                <a:off x="5097717" y="3655103"/>
                <a:ext cx="601289" cy="31757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400" b="0" i="1" smtClean="0">
                              <a:latin typeface="Cambria Math" panose="02040503050406030204" pitchFamily="18" charset="0"/>
                            </a:rPr>
                          </m:ctrlPr>
                        </m:sSupPr>
                        <m:e>
                          <m:acc>
                            <m:accPr>
                              <m:chr m:val="̇"/>
                              <m:ctrlPr>
                                <a:rPr lang="fr-FR" sz="1400" b="0" i="1" smtClean="0">
                                  <a:latin typeface="Cambria Math" panose="02040503050406030204" pitchFamily="18" charset="0"/>
                                </a:rPr>
                              </m:ctrlPr>
                            </m:accPr>
                            <m:e>
                              <m:r>
                                <a:rPr lang="fr-FR" sz="1400" b="1" i="0" smtClean="0">
                                  <a:latin typeface="Cambria Math" panose="02040503050406030204" pitchFamily="18" charset="0"/>
                                </a:rPr>
                                <m:t>𝐪</m:t>
                              </m:r>
                            </m:e>
                          </m:acc>
                        </m:e>
                        <m:sup>
                          <m:r>
                            <a:rPr lang="fr-FR" sz="1400" b="0" i="1" smtClean="0">
                              <a:latin typeface="Cambria Math" panose="02040503050406030204" pitchFamily="18" charset="0"/>
                            </a:rPr>
                            <m:t>𝑑</m:t>
                          </m:r>
                        </m:sup>
                      </m:sSup>
                    </m:oMath>
                  </m:oMathPara>
                </a14:m>
                <a:endParaRPr lang="fr-FR" sz="1400" dirty="0"/>
              </a:p>
            </p:txBody>
          </p:sp>
        </mc:Choice>
        <mc:Fallback xmlns="">
          <p:sp>
            <p:nvSpPr>
              <p:cNvPr id="31" name="ZoneTexte 30">
                <a:extLst>
                  <a:ext uri="{FF2B5EF4-FFF2-40B4-BE49-F238E27FC236}">
                    <a16:creationId xmlns:a16="http://schemas.microsoft.com/office/drawing/2014/main" id="{AE394BFE-846D-7546-BAC5-2E368610FF0A}"/>
                  </a:ext>
                </a:extLst>
              </p:cNvPr>
              <p:cNvSpPr txBox="1">
                <a:spLocks noRot="1" noChangeAspect="1" noMove="1" noResize="1" noEditPoints="1" noAdjustHandles="1" noChangeArrowheads="1" noChangeShapeType="1" noTextEdit="1"/>
              </p:cNvSpPr>
              <p:nvPr/>
            </p:nvSpPr>
            <p:spPr>
              <a:xfrm>
                <a:off x="5097717" y="3655103"/>
                <a:ext cx="601289" cy="317578"/>
              </a:xfrm>
              <a:prstGeom prst="rect">
                <a:avLst/>
              </a:prstGeom>
              <a:blipFill>
                <a:blip r:embed="rId3"/>
                <a:stretch>
                  <a:fillRect b="-4000"/>
                </a:stretch>
              </a:blipFill>
            </p:spPr>
            <p:txBody>
              <a:bodyPr/>
              <a:lstStyle/>
              <a:p>
                <a:r>
                  <a:rPr lang="fr-FR">
                    <a:noFill/>
                  </a:rPr>
                  <a:t> </a:t>
                </a:r>
              </a:p>
            </p:txBody>
          </p:sp>
        </mc:Fallback>
      </mc:AlternateContent>
      <mc:AlternateContent xmlns:mc="http://schemas.openxmlformats.org/markup-compatibility/2006">
        <mc:Choice xmlns:a14="http://schemas.microsoft.com/office/drawing/2010/main" Requires="a14">
          <p:sp>
            <p:nvSpPr>
              <p:cNvPr id="32" name="ZoneTexte 31">
                <a:extLst>
                  <a:ext uri="{FF2B5EF4-FFF2-40B4-BE49-F238E27FC236}">
                    <a16:creationId xmlns:a16="http://schemas.microsoft.com/office/drawing/2014/main" id="{460478DA-E5E4-FF45-BC47-9DE4C66D3CC0}"/>
                  </a:ext>
                </a:extLst>
              </p:cNvPr>
              <p:cNvSpPr txBox="1"/>
              <p:nvPr/>
            </p:nvSpPr>
            <p:spPr>
              <a:xfrm>
                <a:off x="7118970" y="3608826"/>
                <a:ext cx="1448166" cy="5525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1" i="0" smtClean="0">
                          <a:latin typeface="Cambria Math" panose="02040503050406030204" pitchFamily="18" charset="0"/>
                        </a:rPr>
                        <m:t>𝐪</m:t>
                      </m:r>
                      <m:r>
                        <a:rPr lang="fr-FR" sz="1600" b="0" i="1" smtClean="0">
                          <a:latin typeface="Cambria Math" panose="02040503050406030204" pitchFamily="18" charset="0"/>
                        </a:rPr>
                        <m:t>=</m:t>
                      </m:r>
                      <m:d>
                        <m:dPr>
                          <m:ctrlPr>
                            <a:rPr lang="fr-FR" sz="1600" b="0" i="1" smtClean="0">
                              <a:latin typeface="Cambria Math" panose="02040503050406030204" pitchFamily="18" charset="0"/>
                            </a:rPr>
                          </m:ctrlPr>
                        </m:dPr>
                        <m:e>
                          <m:eqArr>
                            <m:eqArrPr>
                              <m:ctrlPr>
                                <a:rPr lang="fr-FR" sz="1600" b="0" i="1" smtClean="0">
                                  <a:latin typeface="Cambria Math" panose="02040503050406030204" pitchFamily="18" charset="0"/>
                                </a:rPr>
                              </m:ctrlPr>
                            </m:eqArrPr>
                            <m:e>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𝜃</m:t>
                                  </m:r>
                                </m:e>
                                <m:sub>
                                  <m:r>
                                    <a:rPr lang="fr-FR" sz="1600" b="0" i="1" smtClean="0">
                                      <a:latin typeface="Cambria Math" panose="02040503050406030204" pitchFamily="18" charset="0"/>
                                    </a:rPr>
                                    <m:t>1</m:t>
                                  </m:r>
                                </m:sub>
                              </m:sSub>
                            </m:e>
                            <m:e>
                              <m:sSub>
                                <m:sSubPr>
                                  <m:ctrlPr>
                                    <a:rPr lang="fr-FR" sz="1600" i="1" smtClean="0">
                                      <a:latin typeface="Cambria Math" panose="02040503050406030204" pitchFamily="18" charset="0"/>
                                    </a:rPr>
                                  </m:ctrlPr>
                                </m:sSubPr>
                                <m:e>
                                  <m:r>
                                    <a:rPr lang="fr-FR" sz="1600" i="1" smtClean="0">
                                      <a:latin typeface="Cambria Math" panose="02040503050406030204" pitchFamily="18" charset="0"/>
                                      <a:ea typeface="Cambria Math" panose="02040503050406030204" pitchFamily="18" charset="0"/>
                                    </a:rPr>
                                    <m:t>𝜃</m:t>
                                  </m:r>
                                </m:e>
                                <m:sub>
                                  <m:r>
                                    <a:rPr lang="fr-FR" sz="1600" b="0" i="1" smtClean="0">
                                      <a:latin typeface="Cambria Math" panose="02040503050406030204" pitchFamily="18" charset="0"/>
                                    </a:rPr>
                                    <m:t>2</m:t>
                                  </m:r>
                                </m:sub>
                              </m:sSub>
                            </m:e>
                          </m:eqArr>
                        </m:e>
                      </m:d>
                    </m:oMath>
                  </m:oMathPara>
                </a14:m>
                <a:endParaRPr lang="fr-FR" sz="1600" dirty="0"/>
              </a:p>
            </p:txBody>
          </p:sp>
        </mc:Choice>
        <mc:Fallback>
          <p:sp>
            <p:nvSpPr>
              <p:cNvPr id="32" name="ZoneTexte 31">
                <a:extLst>
                  <a:ext uri="{FF2B5EF4-FFF2-40B4-BE49-F238E27FC236}">
                    <a16:creationId xmlns:a16="http://schemas.microsoft.com/office/drawing/2014/main" id="{460478DA-E5E4-FF45-BC47-9DE4C66D3CC0}"/>
                  </a:ext>
                </a:extLst>
              </p:cNvPr>
              <p:cNvSpPr txBox="1">
                <a:spLocks noRot="1" noChangeAspect="1" noMove="1" noResize="1" noEditPoints="1" noAdjustHandles="1" noChangeArrowheads="1" noChangeShapeType="1" noTextEdit="1"/>
              </p:cNvSpPr>
              <p:nvPr/>
            </p:nvSpPr>
            <p:spPr>
              <a:xfrm>
                <a:off x="7118970" y="3608826"/>
                <a:ext cx="1448166" cy="552587"/>
              </a:xfrm>
              <a:prstGeom prst="rect">
                <a:avLst/>
              </a:prstGeom>
              <a:blipFill>
                <a:blip r:embed="rId4"/>
                <a:stretch>
                  <a:fillRect b="-2273"/>
                </a:stretch>
              </a:blipFill>
            </p:spPr>
            <p:txBody>
              <a:bodyPr/>
              <a:lstStyle/>
              <a:p>
                <a:r>
                  <a:rPr lang="en-FR">
                    <a:noFill/>
                  </a:rPr>
                  <a:t> </a:t>
                </a:r>
              </a:p>
            </p:txBody>
          </p:sp>
        </mc:Fallback>
      </mc:AlternateContent>
      <p:cxnSp>
        <p:nvCxnSpPr>
          <p:cNvPr id="33" name="Connecteur droit avec flèche 32">
            <a:extLst>
              <a:ext uri="{FF2B5EF4-FFF2-40B4-BE49-F238E27FC236}">
                <a16:creationId xmlns:a16="http://schemas.microsoft.com/office/drawing/2014/main" id="{ECCAA310-D529-5843-8C67-F56BC6D1A680}"/>
              </a:ext>
            </a:extLst>
          </p:cNvPr>
          <p:cNvCxnSpPr>
            <a:cxnSpLocks/>
            <a:stCxn id="35" idx="3"/>
          </p:cNvCxnSpPr>
          <p:nvPr/>
        </p:nvCxnSpPr>
        <p:spPr>
          <a:xfrm>
            <a:off x="3466716" y="4238820"/>
            <a:ext cx="528138"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34" name="Ellipse 33">
            <a:extLst>
              <a:ext uri="{FF2B5EF4-FFF2-40B4-BE49-F238E27FC236}">
                <a16:creationId xmlns:a16="http://schemas.microsoft.com/office/drawing/2014/main" id="{36B4F643-BD8C-7A4D-8C02-2895329D7C5A}"/>
              </a:ext>
            </a:extLst>
          </p:cNvPr>
          <p:cNvSpPr/>
          <p:nvPr/>
        </p:nvSpPr>
        <p:spPr>
          <a:xfrm>
            <a:off x="1136030" y="4099014"/>
            <a:ext cx="280936" cy="28077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35" name="Rectangle 34">
            <a:extLst>
              <a:ext uri="{FF2B5EF4-FFF2-40B4-BE49-F238E27FC236}">
                <a16:creationId xmlns:a16="http://schemas.microsoft.com/office/drawing/2014/main" id="{90EB3DD4-D449-0C40-9F3A-381CD7714E8B}"/>
              </a:ext>
            </a:extLst>
          </p:cNvPr>
          <p:cNvSpPr/>
          <p:nvPr/>
        </p:nvSpPr>
        <p:spPr>
          <a:xfrm>
            <a:off x="2095121" y="3972681"/>
            <a:ext cx="1371595" cy="5322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fr-FR" sz="1600" dirty="0">
                <a:solidFill>
                  <a:schemeClr val="tx1"/>
                </a:solidFill>
                <a:ea typeface="Calibri" panose="020F0502020204030204" pitchFamily="34" charset="0"/>
                <a:cs typeface="Times New Roman" panose="02020603050405020304" pitchFamily="18" charset="0"/>
              </a:rPr>
              <a:t>???</a:t>
            </a:r>
            <a:endParaRPr lang="fr-FR" sz="1600" dirty="0">
              <a:solidFill>
                <a:schemeClr val="tx1"/>
              </a:solidFill>
              <a:effectLst/>
              <a:ea typeface="Calibri" panose="020F0502020204030204" pitchFamily="34" charset="0"/>
              <a:cs typeface="Times New Roman" panose="02020603050405020304" pitchFamily="18" charset="0"/>
            </a:endParaRPr>
          </a:p>
        </p:txBody>
      </p:sp>
      <p:cxnSp>
        <p:nvCxnSpPr>
          <p:cNvPr id="36" name="Connecteur droit avec flèche 35">
            <a:extLst>
              <a:ext uri="{FF2B5EF4-FFF2-40B4-BE49-F238E27FC236}">
                <a16:creationId xmlns:a16="http://schemas.microsoft.com/office/drawing/2014/main" id="{B8CA4927-077C-1542-AAA3-3E5F1BD3A494}"/>
              </a:ext>
            </a:extLst>
          </p:cNvPr>
          <p:cNvCxnSpPr/>
          <p:nvPr/>
        </p:nvCxnSpPr>
        <p:spPr>
          <a:xfrm>
            <a:off x="1416966" y="4233945"/>
            <a:ext cx="648001"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37" name="Connecteur droit avec flèche 36">
            <a:extLst>
              <a:ext uri="{FF2B5EF4-FFF2-40B4-BE49-F238E27FC236}">
                <a16:creationId xmlns:a16="http://schemas.microsoft.com/office/drawing/2014/main" id="{63403A59-BB48-F348-BAC4-F38A42D2374C}"/>
              </a:ext>
            </a:extLst>
          </p:cNvPr>
          <p:cNvCxnSpPr/>
          <p:nvPr/>
        </p:nvCxnSpPr>
        <p:spPr>
          <a:xfrm>
            <a:off x="183546" y="4233945"/>
            <a:ext cx="900000"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38" name="Connecteur droit avec flèche 37">
            <a:extLst>
              <a:ext uri="{FF2B5EF4-FFF2-40B4-BE49-F238E27FC236}">
                <a16:creationId xmlns:a16="http://schemas.microsoft.com/office/drawing/2014/main" id="{625A254E-63D1-4F42-B18C-FA8D50FF9B5C}"/>
              </a:ext>
            </a:extLst>
          </p:cNvPr>
          <p:cNvCxnSpPr/>
          <p:nvPr/>
        </p:nvCxnSpPr>
        <p:spPr>
          <a:xfrm flipV="1">
            <a:off x="1280965" y="4378797"/>
            <a:ext cx="0" cy="129600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39" name="Connecteur droit avec flèche 38">
            <a:extLst>
              <a:ext uri="{FF2B5EF4-FFF2-40B4-BE49-F238E27FC236}">
                <a16:creationId xmlns:a16="http://schemas.microsoft.com/office/drawing/2014/main" id="{94E34C54-4F55-5D40-A206-AB91DD7738D3}"/>
              </a:ext>
            </a:extLst>
          </p:cNvPr>
          <p:cNvCxnSpPr>
            <a:cxnSpLocks/>
          </p:cNvCxnSpPr>
          <p:nvPr/>
        </p:nvCxnSpPr>
        <p:spPr>
          <a:xfrm flipV="1">
            <a:off x="8134608" y="4220881"/>
            <a:ext cx="0" cy="145399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Zone de texte 2">
                <a:extLst>
                  <a:ext uri="{FF2B5EF4-FFF2-40B4-BE49-F238E27FC236}">
                    <a16:creationId xmlns:a16="http://schemas.microsoft.com/office/drawing/2014/main" id="{B686CBAC-D2C1-594F-A4AB-334A5D3C279F}"/>
                  </a:ext>
                </a:extLst>
              </p:cNvPr>
              <p:cNvSpPr txBox="1">
                <a:spLocks noChangeArrowheads="1"/>
              </p:cNvSpPr>
              <p:nvPr/>
            </p:nvSpPr>
            <p:spPr bwMode="auto">
              <a:xfrm>
                <a:off x="1161989" y="4340220"/>
                <a:ext cx="505289" cy="368084"/>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r>
                        <a:rPr lang="fr-FR" sz="11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0" name="Zone de texte 2">
                <a:extLst>
                  <a:ext uri="{FF2B5EF4-FFF2-40B4-BE49-F238E27FC236}">
                    <a16:creationId xmlns:a16="http://schemas.microsoft.com/office/drawing/2014/main" id="{B686CBAC-D2C1-594F-A4AB-334A5D3C279F}"/>
                  </a:ext>
                </a:extLst>
              </p:cNvPr>
              <p:cNvSpPr txBox="1">
                <a:spLocks noRot="1" noChangeAspect="1" noMove="1" noResize="1" noEditPoints="1" noAdjustHandles="1" noChangeArrowheads="1" noChangeShapeType="1" noTextEdit="1"/>
              </p:cNvSpPr>
              <p:nvPr/>
            </p:nvSpPr>
            <p:spPr bwMode="auto">
              <a:xfrm>
                <a:off x="1161989" y="4340220"/>
                <a:ext cx="505289" cy="368084"/>
              </a:xfrm>
              <a:prstGeom prst="rect">
                <a:avLst/>
              </a:prstGeom>
              <a:blipFill>
                <a:blip r:embed="rId5"/>
                <a:stretch>
                  <a:fillRect/>
                </a:stretch>
              </a:blipFill>
              <a:ln w="9525">
                <a:noFill/>
                <a:miter lim="800000"/>
                <a:headEnd/>
                <a:tailEnd/>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1" name="Zone de texte 2">
                <a:extLst>
                  <a:ext uri="{FF2B5EF4-FFF2-40B4-BE49-F238E27FC236}">
                    <a16:creationId xmlns:a16="http://schemas.microsoft.com/office/drawing/2014/main" id="{895357E0-0E49-6549-AA5D-BB3709D10028}"/>
                  </a:ext>
                </a:extLst>
              </p:cNvPr>
              <p:cNvSpPr txBox="1">
                <a:spLocks noChangeArrowheads="1"/>
              </p:cNvSpPr>
              <p:nvPr/>
            </p:nvSpPr>
            <p:spPr bwMode="auto">
              <a:xfrm>
                <a:off x="746959" y="4190952"/>
                <a:ext cx="506281" cy="369076"/>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r>
                        <a:rPr lang="fr-FR" sz="11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1" name="Zone de texte 2">
                <a:extLst>
                  <a:ext uri="{FF2B5EF4-FFF2-40B4-BE49-F238E27FC236}">
                    <a16:creationId xmlns:a16="http://schemas.microsoft.com/office/drawing/2014/main" id="{895357E0-0E49-6549-AA5D-BB3709D10028}"/>
                  </a:ext>
                </a:extLst>
              </p:cNvPr>
              <p:cNvSpPr txBox="1">
                <a:spLocks noRot="1" noChangeAspect="1" noMove="1" noResize="1" noEditPoints="1" noAdjustHandles="1" noChangeArrowheads="1" noChangeShapeType="1" noTextEdit="1"/>
              </p:cNvSpPr>
              <p:nvPr/>
            </p:nvSpPr>
            <p:spPr bwMode="auto">
              <a:xfrm>
                <a:off x="746959" y="4190952"/>
                <a:ext cx="506281" cy="369076"/>
              </a:xfrm>
              <a:prstGeom prst="rect">
                <a:avLst/>
              </a:prstGeom>
              <a:blipFill>
                <a:blip r:embed="rId6"/>
                <a:stretch>
                  <a:fillRect/>
                </a:stretch>
              </a:blipFill>
              <a:ln w="9525">
                <a:noFill/>
                <a:miter lim="800000"/>
                <a:headEnd/>
                <a:tailEnd/>
              </a:ln>
            </p:spPr>
            <p:txBody>
              <a:bodyPr/>
              <a:lstStyle/>
              <a:p>
                <a:r>
                  <a:rPr lang="fr-FR">
                    <a:noFill/>
                  </a:rPr>
                  <a:t> </a:t>
                </a:r>
              </a:p>
            </p:txBody>
          </p:sp>
        </mc:Fallback>
      </mc:AlternateContent>
      <p:cxnSp>
        <p:nvCxnSpPr>
          <p:cNvPr id="42" name="Connecteur droit avec flèche 41">
            <a:extLst>
              <a:ext uri="{FF2B5EF4-FFF2-40B4-BE49-F238E27FC236}">
                <a16:creationId xmlns:a16="http://schemas.microsoft.com/office/drawing/2014/main" id="{6A6CE9AC-A50E-CF43-8A42-817A45A25873}"/>
              </a:ext>
            </a:extLst>
          </p:cNvPr>
          <p:cNvCxnSpPr>
            <a:cxnSpLocks/>
          </p:cNvCxnSpPr>
          <p:nvPr/>
        </p:nvCxnSpPr>
        <p:spPr>
          <a:xfrm flipV="1">
            <a:off x="4946285" y="5674037"/>
            <a:ext cx="3175260" cy="429"/>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ZoneTexte 42">
                <a:extLst>
                  <a:ext uri="{FF2B5EF4-FFF2-40B4-BE49-F238E27FC236}">
                    <a16:creationId xmlns:a16="http://schemas.microsoft.com/office/drawing/2014/main" id="{0655DD1D-E592-C34A-872B-901C36AE7CAB}"/>
                  </a:ext>
                </a:extLst>
              </p:cNvPr>
              <p:cNvSpPr txBox="1"/>
              <p:nvPr/>
            </p:nvSpPr>
            <p:spPr>
              <a:xfrm>
                <a:off x="0" y="3618574"/>
                <a:ext cx="1371595" cy="58310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600" b="0" i="1" smtClean="0">
                              <a:latin typeface="Cambria Math" panose="02040503050406030204" pitchFamily="18" charset="0"/>
                            </a:rPr>
                          </m:ctrlPr>
                        </m:sSupPr>
                        <m:e>
                          <m:r>
                            <a:rPr lang="fr-FR" sz="1600" b="1" i="0" smtClean="0">
                              <a:latin typeface="Cambria Math" panose="02040503050406030204" pitchFamily="18" charset="0"/>
                            </a:rPr>
                            <m:t>𝐱</m:t>
                          </m:r>
                        </m:e>
                        <m:sup>
                          <m:r>
                            <a:rPr lang="fr-FR" sz="1600" b="0" i="1" smtClean="0">
                              <a:latin typeface="Cambria Math" panose="02040503050406030204" pitchFamily="18" charset="0"/>
                            </a:rPr>
                            <m:t>𝑑</m:t>
                          </m:r>
                        </m:sup>
                      </m:sSup>
                      <m:r>
                        <a:rPr lang="fr-FR" sz="1600" b="0" i="1" smtClean="0">
                          <a:latin typeface="Cambria Math" panose="02040503050406030204" pitchFamily="18" charset="0"/>
                        </a:rPr>
                        <m:t>=</m:t>
                      </m:r>
                      <m:d>
                        <m:dPr>
                          <m:ctrlPr>
                            <a:rPr lang="fr-FR" sz="1600" b="0" i="1" smtClean="0">
                              <a:latin typeface="Cambria Math" panose="02040503050406030204" pitchFamily="18" charset="0"/>
                            </a:rPr>
                          </m:ctrlPr>
                        </m:dPr>
                        <m:e>
                          <m:eqArr>
                            <m:eqArrPr>
                              <m:ctrlPr>
                                <a:rPr lang="fr-FR" sz="1600" b="0" i="1" smtClean="0">
                                  <a:latin typeface="Cambria Math" panose="02040503050406030204" pitchFamily="18" charset="0"/>
                                </a:rPr>
                              </m:ctrlPr>
                            </m:eqArrPr>
                            <m:e>
                              <m:sSup>
                                <m:sSupPr>
                                  <m:ctrlPr>
                                    <a:rPr lang="fr-FR" sz="1600" i="1">
                                      <a:latin typeface="Cambria Math" panose="02040503050406030204" pitchFamily="18" charset="0"/>
                                      <a:cs typeface="Times New Roman" panose="02020603050405020304" pitchFamily="18" charset="0"/>
                                    </a:rPr>
                                  </m:ctrlPr>
                                </m:sSupPr>
                                <m:e>
                                  <m:r>
                                    <a:rPr lang="fr-FR" sz="1600" b="0" i="1" smtClean="0">
                                      <a:latin typeface="Cambria Math" panose="02040503050406030204" pitchFamily="18" charset="0"/>
                                      <a:cs typeface="Times New Roman" panose="02020603050405020304" pitchFamily="18" charset="0"/>
                                    </a:rPr>
                                    <m:t>𝑥</m:t>
                                  </m:r>
                                </m:e>
                                <m:sup>
                                  <m:r>
                                    <a:rPr lang="fr-FR" sz="1600" i="1">
                                      <a:latin typeface="Cambria Math" panose="02040503050406030204" pitchFamily="18" charset="0"/>
                                      <a:cs typeface="Times New Roman" panose="02020603050405020304" pitchFamily="18" charset="0"/>
                                    </a:rPr>
                                    <m:t>𝑑</m:t>
                                  </m:r>
                                </m:sup>
                              </m:sSup>
                            </m:e>
                            <m:e>
                              <m:sSup>
                                <m:sSupPr>
                                  <m:ctrlPr>
                                    <a:rPr lang="fr-FR" sz="1600" i="1">
                                      <a:latin typeface="Cambria Math" panose="02040503050406030204" pitchFamily="18" charset="0"/>
                                      <a:cs typeface="Times New Roman" panose="02020603050405020304" pitchFamily="18" charset="0"/>
                                    </a:rPr>
                                  </m:ctrlPr>
                                </m:sSupPr>
                                <m:e>
                                  <m:r>
                                    <a:rPr lang="fr-FR" sz="1600" b="0" i="1" smtClean="0">
                                      <a:latin typeface="Cambria Math" panose="02040503050406030204" pitchFamily="18" charset="0"/>
                                      <a:cs typeface="Times New Roman" panose="02020603050405020304" pitchFamily="18" charset="0"/>
                                    </a:rPr>
                                    <m:t>𝑦</m:t>
                                  </m:r>
                                </m:e>
                                <m:sup>
                                  <m:r>
                                    <a:rPr lang="fr-FR" sz="1600" i="1">
                                      <a:latin typeface="Cambria Math" panose="02040503050406030204" pitchFamily="18" charset="0"/>
                                      <a:cs typeface="Times New Roman" panose="02020603050405020304" pitchFamily="18" charset="0"/>
                                    </a:rPr>
                                    <m:t>𝑑</m:t>
                                  </m:r>
                                </m:sup>
                              </m:sSup>
                            </m:e>
                          </m:eqArr>
                        </m:e>
                      </m:d>
                    </m:oMath>
                  </m:oMathPara>
                </a14:m>
                <a:endParaRPr lang="fr-FR" sz="1600" dirty="0"/>
              </a:p>
            </p:txBody>
          </p:sp>
        </mc:Choice>
        <mc:Fallback xmlns="">
          <p:sp>
            <p:nvSpPr>
              <p:cNvPr id="43" name="ZoneTexte 42">
                <a:extLst>
                  <a:ext uri="{FF2B5EF4-FFF2-40B4-BE49-F238E27FC236}">
                    <a16:creationId xmlns:a16="http://schemas.microsoft.com/office/drawing/2014/main" id="{0655DD1D-E592-C34A-872B-901C36AE7CAB}"/>
                  </a:ext>
                </a:extLst>
              </p:cNvPr>
              <p:cNvSpPr txBox="1">
                <a:spLocks noRot="1" noChangeAspect="1" noMove="1" noResize="1" noEditPoints="1" noAdjustHandles="1" noChangeArrowheads="1" noChangeShapeType="1" noTextEdit="1"/>
              </p:cNvSpPr>
              <p:nvPr/>
            </p:nvSpPr>
            <p:spPr>
              <a:xfrm>
                <a:off x="0" y="3618574"/>
                <a:ext cx="1371595" cy="583108"/>
              </a:xfrm>
              <a:prstGeom prst="rect">
                <a:avLst/>
              </a:prstGeom>
              <a:blipFill>
                <a:blip r:embed="rId7"/>
                <a:stretch>
                  <a:fillRect b="-2128"/>
                </a:stretch>
              </a:blipFill>
            </p:spPr>
            <p:txBody>
              <a:bodyPr/>
              <a:lstStyle/>
              <a:p>
                <a:r>
                  <a:rPr lang="fr-FR">
                    <a:noFill/>
                  </a:rPr>
                  <a:t> </a:t>
                </a:r>
              </a:p>
            </p:txBody>
          </p:sp>
        </mc:Fallback>
      </mc:AlternateContent>
      <p:sp>
        <p:nvSpPr>
          <p:cNvPr id="44" name="Rectangle 43">
            <a:extLst>
              <a:ext uri="{FF2B5EF4-FFF2-40B4-BE49-F238E27FC236}">
                <a16:creationId xmlns:a16="http://schemas.microsoft.com/office/drawing/2014/main" id="{3E46C338-345C-9846-A2FD-C8DCA9771910}"/>
              </a:ext>
            </a:extLst>
          </p:cNvPr>
          <p:cNvSpPr/>
          <p:nvPr/>
        </p:nvSpPr>
        <p:spPr>
          <a:xfrm>
            <a:off x="3910175" y="5417356"/>
            <a:ext cx="1047307" cy="5133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fr-FR" sz="1600" dirty="0">
                <a:solidFill>
                  <a:srgbClr val="000000"/>
                </a:solidFill>
                <a:effectLst/>
                <a:ea typeface="Calibri" panose="020F0502020204030204" pitchFamily="34" charset="0"/>
                <a:cs typeface="Times New Roman" panose="02020603050405020304" pitchFamily="18" charset="0"/>
              </a:rPr>
              <a:t>DKM</a:t>
            </a:r>
            <a:endParaRPr lang="fr-FR" sz="1600" dirty="0">
              <a:effectLst/>
              <a:ea typeface="Calibri" panose="020F0502020204030204" pitchFamily="34" charset="0"/>
              <a:cs typeface="Times New Roman" panose="02020603050405020304" pitchFamily="18" charset="0"/>
            </a:endParaRPr>
          </a:p>
        </p:txBody>
      </p:sp>
      <p:cxnSp>
        <p:nvCxnSpPr>
          <p:cNvPr id="45" name="Connecteur droit avec flèche 44">
            <a:extLst>
              <a:ext uri="{FF2B5EF4-FFF2-40B4-BE49-F238E27FC236}">
                <a16:creationId xmlns:a16="http://schemas.microsoft.com/office/drawing/2014/main" id="{BDD78543-EE76-994F-8B5D-1A87C8B9ECD5}"/>
              </a:ext>
            </a:extLst>
          </p:cNvPr>
          <p:cNvCxnSpPr>
            <a:cxnSpLocks/>
            <a:endCxn id="44" idx="1"/>
          </p:cNvCxnSpPr>
          <p:nvPr/>
        </p:nvCxnSpPr>
        <p:spPr>
          <a:xfrm>
            <a:off x="1275050" y="5667815"/>
            <a:ext cx="2635125"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6" name="Rectangle 45">
                <a:extLst>
                  <a:ext uri="{FF2B5EF4-FFF2-40B4-BE49-F238E27FC236}">
                    <a16:creationId xmlns:a16="http://schemas.microsoft.com/office/drawing/2014/main" id="{3081670E-2D23-D741-B35F-61E17A0E210E}"/>
                  </a:ext>
                </a:extLst>
              </p:cNvPr>
              <p:cNvSpPr/>
              <p:nvPr/>
            </p:nvSpPr>
            <p:spPr>
              <a:xfrm>
                <a:off x="4044359" y="3967806"/>
                <a:ext cx="1149915" cy="5322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14:m>
                  <m:oMathPara xmlns:m="http://schemas.openxmlformats.org/officeDocument/2006/math">
                    <m:oMathParaPr>
                      <m:jc m:val="centerGroup"/>
                    </m:oMathParaPr>
                    <m:oMath xmlns:m="http://schemas.openxmlformats.org/officeDocument/2006/math">
                      <m:sSup>
                        <m:sSupPr>
                          <m:ctrlPr>
                            <a:rPr lang="fr-FR" sz="1600" b="1" i="1" smtClean="0">
                              <a:solidFill>
                                <a:srgbClr val="FF0000"/>
                              </a:solidFill>
                              <a:latin typeface="Cambria Math" panose="02040503050406030204" pitchFamily="18" charset="0"/>
                            </a:rPr>
                          </m:ctrlPr>
                        </m:sSupPr>
                        <m:e>
                          <m:sSub>
                            <m:sSubPr>
                              <m:ctrlPr>
                                <a:rPr lang="fr-FR" sz="1600" b="1" i="1" smtClean="0">
                                  <a:solidFill>
                                    <a:srgbClr val="FF0000"/>
                                  </a:solidFill>
                                  <a:latin typeface="Cambria Math" panose="02040503050406030204" pitchFamily="18" charset="0"/>
                                </a:rPr>
                              </m:ctrlPr>
                            </m:sSubPr>
                            <m:e>
                              <m:r>
                                <a:rPr lang="fr-FR" sz="1600" b="1" i="1" smtClean="0">
                                  <a:solidFill>
                                    <a:srgbClr val="FF0000"/>
                                  </a:solidFill>
                                  <a:latin typeface="Cambria Math" panose="02040503050406030204" pitchFamily="18" charset="0"/>
                                </a:rPr>
                                <m:t>𝑱</m:t>
                              </m:r>
                            </m:e>
                            <m:sub>
                              <m:r>
                                <a:rPr lang="fr-FR" sz="1600" b="1" i="1" smtClean="0">
                                  <a:solidFill>
                                    <a:srgbClr val="FF0000"/>
                                  </a:solidFill>
                                  <a:latin typeface="Cambria Math" panose="02040503050406030204" pitchFamily="18" charset="0"/>
                                </a:rPr>
                                <m:t>𝒙</m:t>
                              </m:r>
                            </m:sub>
                          </m:sSub>
                        </m:e>
                        <m:sup>
                          <m:r>
                            <a:rPr lang="fr-FR" sz="1600" b="1" i="1" smtClean="0">
                              <a:solidFill>
                                <a:srgbClr val="FF0000"/>
                              </a:solidFill>
                              <a:latin typeface="Cambria Math" panose="02040503050406030204" pitchFamily="18" charset="0"/>
                            </a:rPr>
                            <m:t>−</m:t>
                          </m:r>
                          <m:r>
                            <a:rPr lang="fr-FR" sz="1600" b="1" i="1" smtClean="0">
                              <a:solidFill>
                                <a:srgbClr val="FF0000"/>
                              </a:solidFill>
                              <a:latin typeface="Cambria Math" panose="02040503050406030204" pitchFamily="18" charset="0"/>
                            </a:rPr>
                            <m:t>𝟏</m:t>
                          </m:r>
                        </m:sup>
                      </m:sSup>
                    </m:oMath>
                  </m:oMathPara>
                </a14:m>
                <a:endParaRPr lang="fr-FR" sz="1600" dirty="0">
                  <a:solidFill>
                    <a:srgbClr val="FF0000"/>
                  </a:solidFill>
                  <a:ea typeface="Calibri" panose="020F0502020204030204" pitchFamily="34" charset="0"/>
                  <a:cs typeface="Times New Roman" panose="02020603050405020304" pitchFamily="18" charset="0"/>
                </a:endParaRPr>
              </a:p>
            </p:txBody>
          </p:sp>
        </mc:Choice>
        <mc:Fallback>
          <p:sp>
            <p:nvSpPr>
              <p:cNvPr id="46" name="Rectangle 45">
                <a:extLst>
                  <a:ext uri="{FF2B5EF4-FFF2-40B4-BE49-F238E27FC236}">
                    <a16:creationId xmlns:a16="http://schemas.microsoft.com/office/drawing/2014/main" id="{3081670E-2D23-D741-B35F-61E17A0E210E}"/>
                  </a:ext>
                </a:extLst>
              </p:cNvPr>
              <p:cNvSpPr>
                <a:spLocks noRot="1" noChangeAspect="1" noMove="1" noResize="1" noEditPoints="1" noAdjustHandles="1" noChangeArrowheads="1" noChangeShapeType="1" noTextEdit="1"/>
              </p:cNvSpPr>
              <p:nvPr/>
            </p:nvSpPr>
            <p:spPr>
              <a:xfrm>
                <a:off x="4044359" y="3967806"/>
                <a:ext cx="1149915" cy="532277"/>
              </a:xfrm>
              <a:prstGeom prst="rect">
                <a:avLst/>
              </a:prstGeom>
              <a:blipFill>
                <a:blip r:embed="rId8"/>
                <a:stretch>
                  <a:fillRect/>
                </a:stretch>
              </a:blipFill>
              <a:ln>
                <a:solidFill>
                  <a:schemeClr val="tx1"/>
                </a:solidFill>
              </a:ln>
            </p:spPr>
            <p:txBody>
              <a:bodyPr/>
              <a:lstStyle/>
              <a:p>
                <a:r>
                  <a:rPr lang="en-FR">
                    <a:noFill/>
                  </a:rPr>
                  <a:t> </a:t>
                </a:r>
              </a:p>
            </p:txBody>
          </p:sp>
        </mc:Fallback>
      </mc:AlternateContent>
      <p:sp>
        <p:nvSpPr>
          <p:cNvPr id="50" name="ZoneTexte 49">
            <a:extLst>
              <a:ext uri="{FF2B5EF4-FFF2-40B4-BE49-F238E27FC236}">
                <a16:creationId xmlns:a16="http://schemas.microsoft.com/office/drawing/2014/main" id="{C0E0B444-56AD-B349-ACBD-AA3AEC912679}"/>
              </a:ext>
            </a:extLst>
          </p:cNvPr>
          <p:cNvSpPr txBox="1"/>
          <p:nvPr/>
        </p:nvSpPr>
        <p:spPr>
          <a:xfrm>
            <a:off x="4144871" y="3629252"/>
            <a:ext cx="979714" cy="338554"/>
          </a:xfrm>
          <a:prstGeom prst="rect">
            <a:avLst/>
          </a:prstGeom>
          <a:noFill/>
        </p:spPr>
        <p:txBody>
          <a:bodyPr wrap="square" rtlCol="0">
            <a:spAutoFit/>
          </a:bodyPr>
          <a:lstStyle/>
          <a:p>
            <a:pPr algn="ctr"/>
            <a:r>
              <a:rPr lang="fr-FR" sz="1600" dirty="0">
                <a:solidFill>
                  <a:srgbClr val="FF0000"/>
                </a:solidFill>
                <a:latin typeface="+mn-lt"/>
                <a:cs typeface="Times New Roman" panose="02020603050405020304" pitchFamily="18" charset="0"/>
              </a:rPr>
              <a:t>IDKM</a:t>
            </a:r>
          </a:p>
        </p:txBody>
      </p:sp>
      <mc:AlternateContent xmlns:mc="http://schemas.openxmlformats.org/markup-compatibility/2006" xmlns:a14="http://schemas.microsoft.com/office/drawing/2010/main">
        <mc:Choice Requires="a14">
          <p:sp>
            <p:nvSpPr>
              <p:cNvPr id="51" name="ZoneTexte 50">
                <a:extLst>
                  <a:ext uri="{FF2B5EF4-FFF2-40B4-BE49-F238E27FC236}">
                    <a16:creationId xmlns:a16="http://schemas.microsoft.com/office/drawing/2014/main" id="{BDFF9D6E-5C14-2E48-AF1C-27ABA44E9D3E}"/>
                  </a:ext>
                </a:extLst>
              </p:cNvPr>
              <p:cNvSpPr txBox="1"/>
              <p:nvPr/>
            </p:nvSpPr>
            <p:spPr>
              <a:xfrm>
                <a:off x="3457506" y="3874291"/>
                <a:ext cx="601289" cy="3115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400" b="0" i="1" smtClean="0">
                              <a:solidFill>
                                <a:srgbClr val="FF0000"/>
                              </a:solidFill>
                              <a:latin typeface="Cambria Math" panose="02040503050406030204" pitchFamily="18" charset="0"/>
                            </a:rPr>
                          </m:ctrlPr>
                        </m:sSupPr>
                        <m:e>
                          <m:acc>
                            <m:accPr>
                              <m:chr m:val="̇"/>
                              <m:ctrlPr>
                                <a:rPr lang="fr-FR" sz="1400" b="0" i="1" smtClean="0">
                                  <a:solidFill>
                                    <a:srgbClr val="FF0000"/>
                                  </a:solidFill>
                                  <a:latin typeface="Cambria Math" panose="02040503050406030204" pitchFamily="18" charset="0"/>
                                </a:rPr>
                              </m:ctrlPr>
                            </m:accPr>
                            <m:e>
                              <m:r>
                                <a:rPr lang="fr-FR" sz="1400" b="1" i="0" smtClean="0">
                                  <a:solidFill>
                                    <a:srgbClr val="FF0000"/>
                                  </a:solidFill>
                                  <a:latin typeface="Cambria Math" panose="02040503050406030204" pitchFamily="18" charset="0"/>
                                </a:rPr>
                                <m:t>𝐱</m:t>
                              </m:r>
                            </m:e>
                          </m:acc>
                        </m:e>
                        <m:sup>
                          <m:r>
                            <a:rPr lang="fr-FR" sz="1400" b="0" i="1" smtClean="0">
                              <a:solidFill>
                                <a:srgbClr val="FF0000"/>
                              </a:solidFill>
                              <a:latin typeface="Cambria Math" panose="02040503050406030204" pitchFamily="18" charset="0"/>
                            </a:rPr>
                            <m:t>𝑑</m:t>
                          </m:r>
                        </m:sup>
                      </m:sSup>
                    </m:oMath>
                  </m:oMathPara>
                </a14:m>
                <a:endParaRPr lang="fr-FR" sz="1400" dirty="0"/>
              </a:p>
            </p:txBody>
          </p:sp>
        </mc:Choice>
        <mc:Fallback xmlns="">
          <p:sp>
            <p:nvSpPr>
              <p:cNvPr id="51" name="ZoneTexte 50">
                <a:extLst>
                  <a:ext uri="{FF2B5EF4-FFF2-40B4-BE49-F238E27FC236}">
                    <a16:creationId xmlns:a16="http://schemas.microsoft.com/office/drawing/2014/main" id="{BDFF9D6E-5C14-2E48-AF1C-27ABA44E9D3E}"/>
                  </a:ext>
                </a:extLst>
              </p:cNvPr>
              <p:cNvSpPr txBox="1">
                <a:spLocks noRot="1" noChangeAspect="1" noMove="1" noResize="1" noEditPoints="1" noAdjustHandles="1" noChangeArrowheads="1" noChangeShapeType="1" noTextEdit="1"/>
              </p:cNvSpPr>
              <p:nvPr/>
            </p:nvSpPr>
            <p:spPr>
              <a:xfrm>
                <a:off x="3457506" y="3874291"/>
                <a:ext cx="601289" cy="311560"/>
              </a:xfrm>
              <a:prstGeom prst="rect">
                <a:avLst/>
              </a:prstGeom>
              <a:blipFill>
                <a:blip r:embed="rId11"/>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2" name="ZoneTexte 51">
                <a:extLst>
                  <a:ext uri="{FF2B5EF4-FFF2-40B4-BE49-F238E27FC236}">
                    <a16:creationId xmlns:a16="http://schemas.microsoft.com/office/drawing/2014/main" id="{7402887C-E809-C340-B885-A14D3D9B35C1}"/>
                  </a:ext>
                </a:extLst>
              </p:cNvPr>
              <p:cNvSpPr txBox="1"/>
              <p:nvPr/>
            </p:nvSpPr>
            <p:spPr>
              <a:xfrm>
                <a:off x="1631278" y="5667815"/>
                <a:ext cx="1371595" cy="5041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1" i="0" smtClean="0">
                          <a:latin typeface="Cambria Math" panose="02040503050406030204" pitchFamily="18" charset="0"/>
                        </a:rPr>
                        <m:t>𝐱</m:t>
                      </m:r>
                      <m:r>
                        <a:rPr lang="fr-FR" sz="1600" b="0" i="1" smtClean="0">
                          <a:latin typeface="Cambria Math" panose="02040503050406030204" pitchFamily="18" charset="0"/>
                        </a:rPr>
                        <m:t>=</m:t>
                      </m:r>
                      <m:d>
                        <m:dPr>
                          <m:ctrlPr>
                            <a:rPr lang="fr-FR" sz="1600" b="0" i="1" smtClean="0">
                              <a:latin typeface="Cambria Math" panose="02040503050406030204" pitchFamily="18" charset="0"/>
                            </a:rPr>
                          </m:ctrlPr>
                        </m:dPr>
                        <m:e>
                          <m:eqArr>
                            <m:eqArrPr>
                              <m:ctrlPr>
                                <a:rPr lang="fr-FR" sz="1600" b="0" i="1" smtClean="0">
                                  <a:latin typeface="Cambria Math" panose="02040503050406030204" pitchFamily="18" charset="0"/>
                                </a:rPr>
                              </m:ctrlPr>
                            </m:eqArrPr>
                            <m:e>
                              <m:r>
                                <a:rPr lang="fr-FR" sz="1600" b="0" i="1" smtClean="0">
                                  <a:latin typeface="Cambria Math" panose="02040503050406030204" pitchFamily="18" charset="0"/>
                                </a:rPr>
                                <m:t>𝑥</m:t>
                              </m:r>
                            </m:e>
                            <m:e>
                              <m:r>
                                <a:rPr lang="fr-FR" sz="1600" b="0" i="1" smtClean="0">
                                  <a:latin typeface="Cambria Math" panose="02040503050406030204" pitchFamily="18" charset="0"/>
                                </a:rPr>
                                <m:t>𝑦</m:t>
                              </m:r>
                            </m:e>
                          </m:eqArr>
                        </m:e>
                      </m:d>
                    </m:oMath>
                  </m:oMathPara>
                </a14:m>
                <a:endParaRPr lang="fr-FR" sz="1600" dirty="0"/>
              </a:p>
            </p:txBody>
          </p:sp>
        </mc:Choice>
        <mc:Fallback xmlns="">
          <p:sp>
            <p:nvSpPr>
              <p:cNvPr id="52" name="ZoneTexte 51">
                <a:extLst>
                  <a:ext uri="{FF2B5EF4-FFF2-40B4-BE49-F238E27FC236}">
                    <a16:creationId xmlns:a16="http://schemas.microsoft.com/office/drawing/2014/main" id="{7402887C-E809-C340-B885-A14D3D9B35C1}"/>
                  </a:ext>
                </a:extLst>
              </p:cNvPr>
              <p:cNvSpPr txBox="1">
                <a:spLocks noRot="1" noChangeAspect="1" noMove="1" noResize="1" noEditPoints="1" noAdjustHandles="1" noChangeArrowheads="1" noChangeShapeType="1" noTextEdit="1"/>
              </p:cNvSpPr>
              <p:nvPr/>
            </p:nvSpPr>
            <p:spPr>
              <a:xfrm>
                <a:off x="1631278" y="5667815"/>
                <a:ext cx="1371595" cy="504112"/>
              </a:xfrm>
              <a:prstGeom prst="rect">
                <a:avLst/>
              </a:prstGeom>
              <a:blipFill>
                <a:blip r:embed="rId12"/>
                <a:stretch>
                  <a:fillRect b="-2439"/>
                </a:stretch>
              </a:blipFill>
            </p:spPr>
            <p:txBody>
              <a:bodyPr/>
              <a:lstStyle/>
              <a:p>
                <a:r>
                  <a:rPr lang="fr-FR">
                    <a:noFill/>
                  </a:rPr>
                  <a:t> </a:t>
                </a:r>
              </a:p>
            </p:txBody>
          </p:sp>
        </mc:Fallback>
      </mc:AlternateContent>
    </p:spTree>
    <p:extLst>
      <p:ext uri="{BB962C8B-B14F-4D97-AF65-F5344CB8AC3E}">
        <p14:creationId xmlns:p14="http://schemas.microsoft.com/office/powerpoint/2010/main" val="9102361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a:extLst>
                  <a:ext uri="{FF2B5EF4-FFF2-40B4-BE49-F238E27FC236}">
                    <a16:creationId xmlns:a16="http://schemas.microsoft.com/office/drawing/2014/main" id="{4D9532DC-F9A1-DF41-A150-7C461F494E43}"/>
                  </a:ext>
                </a:extLst>
              </p:cNvPr>
              <p:cNvSpPr>
                <a:spLocks noGrp="1"/>
              </p:cNvSpPr>
              <p:nvPr>
                <p:ph sz="quarter" idx="1"/>
              </p:nvPr>
            </p:nvSpPr>
            <p:spPr/>
            <p:txBody>
              <a:bodyPr/>
              <a:lstStyle/>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14:m>
                  <m:oMathPara xmlns:m="http://schemas.openxmlformats.org/officeDocument/2006/math">
                    <m:oMathParaPr>
                      <m:jc m:val="centerGroup"/>
                    </m:oMathParaPr>
                    <m:oMath xmlns:m="http://schemas.openxmlformats.org/officeDocument/2006/math">
                      <m:r>
                        <a:rPr lang="fr-FR" b="1" i="0" smtClean="0">
                          <a:solidFill>
                            <a:srgbClr val="FF0000"/>
                          </a:solidFill>
                          <a:latin typeface="Cambria Math" panose="02040503050406030204" pitchFamily="18" charset="0"/>
                        </a:rPr>
                        <m:t>𝐚</m:t>
                      </m:r>
                      <m:r>
                        <a:rPr lang="fr-FR" b="1" i="0" smtClean="0">
                          <a:latin typeface="Cambria Math" panose="02040503050406030204" pitchFamily="18" charset="0"/>
                        </a:rPr>
                        <m:t>=</m:t>
                      </m:r>
                      <m:sSup>
                        <m:sSupPr>
                          <m:ctrlPr>
                            <a:rPr lang="fr-FR" b="1" i="1" smtClean="0">
                              <a:latin typeface="Cambria Math" panose="02040503050406030204" pitchFamily="18" charset="0"/>
                            </a:rPr>
                          </m:ctrlPr>
                        </m:sSupPr>
                        <m:e>
                          <m:r>
                            <a:rPr lang="fr-FR" b="1" i="0" smtClean="0">
                              <a:latin typeface="Cambria Math" panose="02040503050406030204" pitchFamily="18" charset="0"/>
                            </a:rPr>
                            <m:t>𝐱</m:t>
                          </m:r>
                        </m:e>
                        <m:sup>
                          <m:r>
                            <a:rPr lang="fr-FR" b="1" i="0" smtClean="0">
                              <a:latin typeface="Cambria Math" panose="02040503050406030204" pitchFamily="18" charset="0"/>
                            </a:rPr>
                            <m:t>𝐝</m:t>
                          </m:r>
                        </m:sup>
                      </m:sSup>
                      <m:r>
                        <a:rPr lang="fr-FR" b="1" i="0" smtClean="0">
                          <a:latin typeface="Cambria Math" panose="02040503050406030204" pitchFamily="18" charset="0"/>
                        </a:rPr>
                        <m:t>−</m:t>
                      </m:r>
                      <m:r>
                        <a:rPr lang="fr-FR" b="1" i="0" smtClean="0">
                          <a:latin typeface="Cambria Math" panose="02040503050406030204" pitchFamily="18" charset="0"/>
                        </a:rPr>
                        <m:t>𝐱</m:t>
                      </m:r>
                    </m:oMath>
                  </m:oMathPara>
                </a14:m>
                <a:endParaRPr lang="fr-FR" b="1" dirty="0">
                  <a:latin typeface="Cambria Math" panose="02040503050406030204" pitchFamily="18" charset="0"/>
                </a:endParaRPr>
              </a:p>
              <a:p>
                <a:pPr marL="0" indent="0">
                  <a:buNone/>
                </a:pPr>
                <a:endParaRPr lang="fr-FR" b="1" i="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m:t>
                      </m:r>
                      <m:d>
                        <m:dPr>
                          <m:ctrlPr>
                            <a:rPr lang="fr-FR" i="1">
                              <a:latin typeface="Cambria Math" panose="02040503050406030204" pitchFamily="18" charset="0"/>
                            </a:rPr>
                          </m:ctrlPr>
                        </m:dPr>
                        <m:e>
                          <m:eqArr>
                            <m:eqArrPr>
                              <m:ctrlPr>
                                <a:rPr lang="fr-FR" i="1">
                                  <a:latin typeface="Cambria Math" panose="02040503050406030204" pitchFamily="18" charset="0"/>
                                </a:rPr>
                              </m:ctrlPr>
                            </m:eqArrPr>
                            <m:e>
                              <m:sSup>
                                <m:sSupPr>
                                  <m:ctrlPr>
                                    <a:rPr lang="fr-FR" i="1">
                                      <a:latin typeface="Cambria Math" panose="02040503050406030204" pitchFamily="18" charset="0"/>
                                      <a:cs typeface="Times New Roman" panose="02020603050405020304" pitchFamily="18" charset="0"/>
                                    </a:rPr>
                                  </m:ctrlPr>
                                </m:sSupPr>
                                <m:e>
                                  <m:r>
                                    <a:rPr lang="fr-FR" i="1">
                                      <a:latin typeface="Cambria Math" panose="02040503050406030204" pitchFamily="18" charset="0"/>
                                      <a:cs typeface="Times New Roman" panose="02020603050405020304" pitchFamily="18" charset="0"/>
                                    </a:rPr>
                                    <m:t>𝑥</m:t>
                                  </m:r>
                                </m:e>
                                <m:sup>
                                  <m:r>
                                    <a:rPr lang="fr-FR" i="1">
                                      <a:latin typeface="Cambria Math" panose="02040503050406030204" pitchFamily="18" charset="0"/>
                                      <a:cs typeface="Times New Roman" panose="02020603050405020304" pitchFamily="18" charset="0"/>
                                    </a:rPr>
                                    <m:t>𝑑</m:t>
                                  </m:r>
                                </m:sup>
                              </m:sSup>
                            </m:e>
                            <m:e>
                              <m:sSup>
                                <m:sSupPr>
                                  <m:ctrlPr>
                                    <a:rPr lang="fr-FR" i="1">
                                      <a:latin typeface="Cambria Math" panose="02040503050406030204" pitchFamily="18" charset="0"/>
                                      <a:cs typeface="Times New Roman" panose="02020603050405020304" pitchFamily="18" charset="0"/>
                                    </a:rPr>
                                  </m:ctrlPr>
                                </m:sSupPr>
                                <m:e>
                                  <m:r>
                                    <a:rPr lang="fr-FR" i="1">
                                      <a:latin typeface="Cambria Math" panose="02040503050406030204" pitchFamily="18" charset="0"/>
                                      <a:cs typeface="Times New Roman" panose="02020603050405020304" pitchFamily="18" charset="0"/>
                                    </a:rPr>
                                    <m:t>𝑦</m:t>
                                  </m:r>
                                </m:e>
                                <m:sup>
                                  <m:r>
                                    <a:rPr lang="fr-FR" i="1">
                                      <a:latin typeface="Cambria Math" panose="02040503050406030204" pitchFamily="18" charset="0"/>
                                      <a:cs typeface="Times New Roman" panose="02020603050405020304" pitchFamily="18" charset="0"/>
                                    </a:rPr>
                                    <m:t>𝑑</m:t>
                                  </m:r>
                                </m:sup>
                              </m:sSup>
                            </m:e>
                          </m:eqArr>
                        </m:e>
                      </m:d>
                      <m:r>
                        <a:rPr lang="fr-FR" b="0" i="1" smtClean="0">
                          <a:latin typeface="Cambria Math" panose="02040503050406030204" pitchFamily="18" charset="0"/>
                          <a:cs typeface="Times New Roman" panose="02020603050405020304" pitchFamily="18" charset="0"/>
                        </a:rPr>
                        <m:t>−</m:t>
                      </m:r>
                      <m:d>
                        <m:dPr>
                          <m:ctrlPr>
                            <a:rPr lang="fr-FR" i="1">
                              <a:latin typeface="Cambria Math" panose="02040503050406030204" pitchFamily="18" charset="0"/>
                            </a:rPr>
                          </m:ctrlPr>
                        </m:dPr>
                        <m:e>
                          <m:eqArr>
                            <m:eqArrPr>
                              <m:ctrlPr>
                                <a:rPr lang="fr-FR" i="1">
                                  <a:latin typeface="Cambria Math" panose="02040503050406030204" pitchFamily="18" charset="0"/>
                                </a:rPr>
                              </m:ctrlPr>
                            </m:eqArrPr>
                            <m:e>
                              <m:r>
                                <a:rPr lang="fr-FR" i="1">
                                  <a:latin typeface="Cambria Math" panose="02040503050406030204" pitchFamily="18" charset="0"/>
                                </a:rPr>
                                <m:t>𝑥</m:t>
                              </m:r>
                            </m:e>
                            <m:e>
                              <m:r>
                                <a:rPr lang="fr-FR" i="1">
                                  <a:latin typeface="Cambria Math" panose="02040503050406030204" pitchFamily="18" charset="0"/>
                                </a:rPr>
                                <m:t>𝑦</m:t>
                              </m:r>
                            </m:e>
                          </m:eqArr>
                        </m:e>
                      </m:d>
                      <m:r>
                        <a:rPr lang="fr-FR" b="0" i="1" smtClean="0">
                          <a:latin typeface="Cambria Math" panose="02040503050406030204" pitchFamily="18" charset="0"/>
                        </a:rPr>
                        <m:t>=</m:t>
                      </m:r>
                      <m:d>
                        <m:dPr>
                          <m:ctrlPr>
                            <a:rPr lang="fr-FR" i="1">
                              <a:latin typeface="Cambria Math" panose="02040503050406030204" pitchFamily="18" charset="0"/>
                            </a:rPr>
                          </m:ctrlPr>
                        </m:dPr>
                        <m:e>
                          <m:eqArr>
                            <m:eqArrPr>
                              <m:ctrlPr>
                                <a:rPr lang="fr-FR" i="1">
                                  <a:latin typeface="Cambria Math" panose="02040503050406030204" pitchFamily="18" charset="0"/>
                                </a:rPr>
                              </m:ctrlPr>
                            </m:eqArrPr>
                            <m:e>
                              <m:sSup>
                                <m:sSupPr>
                                  <m:ctrlPr>
                                    <a:rPr lang="fr-FR" i="1">
                                      <a:latin typeface="Cambria Math" panose="02040503050406030204" pitchFamily="18" charset="0"/>
                                      <a:cs typeface="Times New Roman" panose="02020603050405020304" pitchFamily="18" charset="0"/>
                                    </a:rPr>
                                  </m:ctrlPr>
                                </m:sSupPr>
                                <m:e>
                                  <m:r>
                                    <a:rPr lang="fr-FR" i="1">
                                      <a:latin typeface="Cambria Math" panose="02040503050406030204" pitchFamily="18" charset="0"/>
                                      <a:cs typeface="Times New Roman" panose="02020603050405020304" pitchFamily="18" charset="0"/>
                                    </a:rPr>
                                    <m:t>𝑥</m:t>
                                  </m:r>
                                </m:e>
                                <m:sup>
                                  <m:r>
                                    <a:rPr lang="fr-FR" i="1">
                                      <a:latin typeface="Cambria Math" panose="02040503050406030204" pitchFamily="18" charset="0"/>
                                      <a:cs typeface="Times New Roman" panose="02020603050405020304" pitchFamily="18" charset="0"/>
                                    </a:rPr>
                                    <m:t>𝑑</m:t>
                                  </m:r>
                                </m:sup>
                              </m:sSup>
                              <m:r>
                                <a:rPr lang="fr-FR" b="0" i="1" smtClean="0">
                                  <a:latin typeface="Cambria Math" panose="02040503050406030204" pitchFamily="18" charset="0"/>
                                  <a:cs typeface="Times New Roman" panose="02020603050405020304" pitchFamily="18" charset="0"/>
                                </a:rPr>
                                <m:t>−</m:t>
                              </m:r>
                              <m:r>
                                <a:rPr lang="fr-FR" i="1">
                                  <a:latin typeface="Cambria Math" panose="02040503050406030204" pitchFamily="18" charset="0"/>
                                </a:rPr>
                                <m:t>𝑥</m:t>
                              </m:r>
                            </m:e>
                            <m:e>
                              <m:sSup>
                                <m:sSupPr>
                                  <m:ctrlPr>
                                    <a:rPr lang="fr-FR" i="1">
                                      <a:latin typeface="Cambria Math" panose="02040503050406030204" pitchFamily="18" charset="0"/>
                                      <a:cs typeface="Times New Roman" panose="02020603050405020304" pitchFamily="18" charset="0"/>
                                    </a:rPr>
                                  </m:ctrlPr>
                                </m:sSupPr>
                                <m:e>
                                  <m:r>
                                    <a:rPr lang="fr-FR" i="1">
                                      <a:latin typeface="Cambria Math" panose="02040503050406030204" pitchFamily="18" charset="0"/>
                                      <a:cs typeface="Times New Roman" panose="02020603050405020304" pitchFamily="18" charset="0"/>
                                    </a:rPr>
                                    <m:t>𝑦</m:t>
                                  </m:r>
                                </m:e>
                                <m:sup>
                                  <m:r>
                                    <a:rPr lang="fr-FR" i="1">
                                      <a:latin typeface="Cambria Math" panose="02040503050406030204" pitchFamily="18" charset="0"/>
                                      <a:cs typeface="Times New Roman" panose="02020603050405020304" pitchFamily="18" charset="0"/>
                                    </a:rPr>
                                    <m:t>𝑑</m:t>
                                  </m:r>
                                </m:sup>
                              </m:sSup>
                              <m:r>
                                <a:rPr lang="fr-FR" b="0" i="1" smtClean="0">
                                  <a:latin typeface="Cambria Math" panose="02040503050406030204" pitchFamily="18" charset="0"/>
                                  <a:cs typeface="Times New Roman" panose="02020603050405020304" pitchFamily="18" charset="0"/>
                                </a:rPr>
                                <m:t>−</m:t>
                              </m:r>
                              <m:r>
                                <a:rPr lang="fr-FR" i="1">
                                  <a:latin typeface="Cambria Math" panose="02040503050406030204" pitchFamily="18" charset="0"/>
                                </a:rPr>
                                <m:t>𝑦</m:t>
                              </m:r>
                            </m:e>
                          </m:eqArr>
                        </m:e>
                      </m:d>
                    </m:oMath>
                  </m:oMathPara>
                </a14:m>
                <a:endParaRPr lang="fr-FR" b="1" dirty="0"/>
              </a:p>
              <a:p>
                <a:pPr marL="0" indent="0">
                  <a:buNone/>
                </a:pPr>
                <a:endParaRPr lang="fr-FR" b="1" dirty="0"/>
              </a:p>
              <a:p>
                <a:pPr marL="0" indent="0">
                  <a:buNone/>
                </a:pPr>
                <a14:m>
                  <m:oMathPara xmlns:m="http://schemas.openxmlformats.org/officeDocument/2006/math">
                    <m:oMathParaPr>
                      <m:jc m:val="centerGroup"/>
                    </m:oMathParaPr>
                    <m:oMath xmlns:m="http://schemas.openxmlformats.org/officeDocument/2006/math">
                      <m:sSup>
                        <m:sSupPr>
                          <m:ctrlPr>
                            <a:rPr lang="fr-FR" i="1">
                              <a:latin typeface="Cambria Math" panose="02040503050406030204" pitchFamily="18" charset="0"/>
                            </a:rPr>
                          </m:ctrlPr>
                        </m:sSupPr>
                        <m:e>
                          <m:acc>
                            <m:accPr>
                              <m:chr m:val="̇"/>
                              <m:ctrlPr>
                                <a:rPr lang="fr-FR" i="1">
                                  <a:latin typeface="Cambria Math" panose="02040503050406030204" pitchFamily="18" charset="0"/>
                                </a:rPr>
                              </m:ctrlPr>
                            </m:accPr>
                            <m:e>
                              <m:r>
                                <a:rPr lang="fr-FR" b="1">
                                  <a:latin typeface="Cambria Math" panose="02040503050406030204" pitchFamily="18" charset="0"/>
                                </a:rPr>
                                <m:t>𝐱</m:t>
                              </m:r>
                            </m:e>
                          </m:acc>
                        </m:e>
                        <m:sup>
                          <m:r>
                            <a:rPr lang="fr-FR" i="1">
                              <a:latin typeface="Cambria Math" panose="02040503050406030204" pitchFamily="18" charset="0"/>
                            </a:rPr>
                            <m:t>𝑑</m:t>
                          </m:r>
                        </m:sup>
                      </m:sSup>
                      <m:r>
                        <a:rPr lang="fr-FR" b="0" i="1" smtClean="0">
                          <a:latin typeface="Cambria Math" panose="02040503050406030204" pitchFamily="18" charset="0"/>
                        </a:rPr>
                        <m:t>=</m:t>
                      </m:r>
                      <m:d>
                        <m:dPr>
                          <m:ctrlPr>
                            <a:rPr lang="fr-FR" b="0" i="1" smtClean="0">
                              <a:latin typeface="Cambria Math" panose="02040503050406030204" pitchFamily="18" charset="0"/>
                            </a:rPr>
                          </m:ctrlPr>
                        </m:dPr>
                        <m:e>
                          <m:eqArr>
                            <m:eqArrPr>
                              <m:ctrlPr>
                                <a:rPr lang="fr-FR" b="0" i="1" smtClean="0">
                                  <a:latin typeface="Cambria Math" panose="02040503050406030204" pitchFamily="18" charset="0"/>
                                </a:rPr>
                              </m:ctrlPr>
                            </m:eqArrPr>
                            <m:e>
                              <m:sSup>
                                <m:sSupPr>
                                  <m:ctrlPr>
                                    <a:rPr lang="fr-FR" b="0" i="1" smtClean="0">
                                      <a:latin typeface="Cambria Math" panose="02040503050406030204" pitchFamily="18" charset="0"/>
                                    </a:rPr>
                                  </m:ctrlPr>
                                </m:sSupPr>
                                <m:e>
                                  <m:acc>
                                    <m:accPr>
                                      <m:chr m:val="̇"/>
                                      <m:ctrlPr>
                                        <a:rPr lang="fr-FR" b="0" i="1" smtClean="0">
                                          <a:latin typeface="Cambria Math" panose="02040503050406030204" pitchFamily="18" charset="0"/>
                                        </a:rPr>
                                      </m:ctrlPr>
                                    </m:accPr>
                                    <m:e>
                                      <m:r>
                                        <a:rPr lang="fr-FR" b="0" i="1" smtClean="0">
                                          <a:latin typeface="Cambria Math" panose="02040503050406030204" pitchFamily="18" charset="0"/>
                                        </a:rPr>
                                        <m:t>𝑥</m:t>
                                      </m:r>
                                    </m:e>
                                  </m:acc>
                                </m:e>
                                <m:sup>
                                  <m:r>
                                    <a:rPr lang="fr-FR" b="0" i="1" smtClean="0">
                                      <a:latin typeface="Cambria Math" panose="02040503050406030204" pitchFamily="18" charset="0"/>
                                    </a:rPr>
                                    <m:t>𝑑</m:t>
                                  </m:r>
                                </m:sup>
                              </m:sSup>
                            </m:e>
                            <m:e>
                              <m:sSup>
                                <m:sSupPr>
                                  <m:ctrlPr>
                                    <a:rPr lang="fr-FR" i="1">
                                      <a:latin typeface="Cambria Math" panose="02040503050406030204" pitchFamily="18" charset="0"/>
                                    </a:rPr>
                                  </m:ctrlPr>
                                </m:sSupPr>
                                <m:e>
                                  <m:acc>
                                    <m:accPr>
                                      <m:chr m:val="̇"/>
                                      <m:ctrlPr>
                                        <a:rPr lang="fr-FR" i="1">
                                          <a:latin typeface="Cambria Math" panose="02040503050406030204" pitchFamily="18" charset="0"/>
                                        </a:rPr>
                                      </m:ctrlPr>
                                    </m:accPr>
                                    <m:e>
                                      <m:r>
                                        <a:rPr lang="fr-FR" b="0" i="1" smtClean="0">
                                          <a:latin typeface="Cambria Math" panose="02040503050406030204" pitchFamily="18" charset="0"/>
                                        </a:rPr>
                                        <m:t>𝑦</m:t>
                                      </m:r>
                                    </m:e>
                                  </m:acc>
                                </m:e>
                                <m:sup>
                                  <m:r>
                                    <a:rPr lang="fr-FR" i="1">
                                      <a:latin typeface="Cambria Math" panose="02040503050406030204" pitchFamily="18" charset="0"/>
                                    </a:rPr>
                                    <m:t>𝑑</m:t>
                                  </m:r>
                                </m:sup>
                              </m:sSup>
                            </m:e>
                          </m:eqArr>
                        </m:e>
                      </m:d>
                    </m:oMath>
                  </m:oMathPara>
                </a14:m>
                <a:endParaRPr lang="fr-FR" b="0" dirty="0"/>
              </a:p>
              <a:p>
                <a:pPr marL="0" indent="0">
                  <a:buNone/>
                </a:pPr>
                <a:endParaRPr lang="fr-FR" b="1" dirty="0">
                  <a:solidFill>
                    <a:srgbClr val="FF0000"/>
                  </a:solidFill>
                </a:endParaRPr>
              </a:p>
              <a:p>
                <a:pPr marL="0" indent="0">
                  <a:buNone/>
                </a:pPr>
                <a:endParaRPr lang="fr-FR" dirty="0"/>
              </a:p>
              <a:p>
                <a:pPr marL="0" indent="0">
                  <a:buNone/>
                </a:pPr>
                <a:endParaRPr lang="fr-FR" b="1" dirty="0"/>
              </a:p>
              <a:p>
                <a:pPr marL="0" indent="0">
                  <a:buNone/>
                </a:pPr>
                <a:endParaRPr lang="fr-FR" b="1" dirty="0"/>
              </a:p>
            </p:txBody>
          </p:sp>
        </mc:Choice>
        <mc:Fallback xmlns="">
          <p:sp>
            <p:nvSpPr>
              <p:cNvPr id="2" name="Espace réservé du contenu 1">
                <a:extLst>
                  <a:ext uri="{FF2B5EF4-FFF2-40B4-BE49-F238E27FC236}">
                    <a16:creationId xmlns:a16="http://schemas.microsoft.com/office/drawing/2014/main" id="{4D9532DC-F9A1-DF41-A150-7C461F494E43}"/>
                  </a:ext>
                </a:extLst>
              </p:cNvPr>
              <p:cNvSpPr>
                <a:spLocks noGrp="1" noRot="1" noChangeAspect="1" noMove="1" noResize="1" noEditPoints="1" noAdjustHandles="1" noChangeArrowheads="1" noChangeShapeType="1" noTextEdit="1"/>
              </p:cNvSpPr>
              <p:nvPr>
                <p:ph sz="quarter" idx="1"/>
              </p:nvPr>
            </p:nvSpPr>
            <p:spPr>
              <a:blipFill>
                <a:blip r:embed="rId2"/>
                <a:stretch>
                  <a:fillRect/>
                </a:stretch>
              </a:blipFill>
            </p:spPr>
            <p:txBody>
              <a:bodyPr/>
              <a:lstStyle/>
              <a:p>
                <a:r>
                  <a:rPr lang="fr-FR">
                    <a:noFill/>
                  </a:rPr>
                  <a:t> </a:t>
                </a:r>
              </a:p>
            </p:txBody>
          </p:sp>
        </mc:Fallback>
      </mc:AlternateContent>
      <p:sp>
        <p:nvSpPr>
          <p:cNvPr id="3" name="Titre 2">
            <a:extLst>
              <a:ext uri="{FF2B5EF4-FFF2-40B4-BE49-F238E27FC236}">
                <a16:creationId xmlns:a16="http://schemas.microsoft.com/office/drawing/2014/main" id="{0D0B5EE2-BCC3-E844-8E7C-9BB5D1795E53}"/>
              </a:ext>
            </a:extLst>
          </p:cNvPr>
          <p:cNvSpPr>
            <a:spLocks noGrp="1"/>
          </p:cNvSpPr>
          <p:nvPr>
            <p:ph type="title"/>
          </p:nvPr>
        </p:nvSpPr>
        <p:spPr/>
        <p:txBody>
          <a:bodyPr/>
          <a:lstStyle/>
          <a:p>
            <a:r>
              <a:rPr lang="en-GB" dirty="0"/>
              <a:t>Position control</a:t>
            </a:r>
            <a:endParaRPr lang="fr-FR" dirty="0"/>
          </a:p>
        </p:txBody>
      </p:sp>
      <p:sp>
        <p:nvSpPr>
          <p:cNvPr id="30" name="Rectangle 29">
            <a:extLst>
              <a:ext uri="{FF2B5EF4-FFF2-40B4-BE49-F238E27FC236}">
                <a16:creationId xmlns:a16="http://schemas.microsoft.com/office/drawing/2014/main" id="{43F1E45D-F326-BE43-BFAA-05165D151D9B}"/>
              </a:ext>
            </a:extLst>
          </p:cNvPr>
          <p:cNvSpPr/>
          <p:nvPr/>
        </p:nvSpPr>
        <p:spPr>
          <a:xfrm>
            <a:off x="6237444" y="1578069"/>
            <a:ext cx="1324679" cy="54423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1600" dirty="0">
                <a:solidFill>
                  <a:srgbClr val="000000"/>
                </a:solidFill>
                <a:ea typeface="Calibri" panose="020F0502020204030204" pitchFamily="34" charset="0"/>
                <a:cs typeface="Times New Roman" panose="02020603050405020304" pitchFamily="18" charset="0"/>
              </a:rPr>
              <a:t>motors</a:t>
            </a:r>
            <a:endParaRPr lang="en-GB" sz="1600" dirty="0">
              <a:ea typeface="Calibri" panose="020F0502020204030204" pitchFamily="34" charset="0"/>
              <a:cs typeface="Times New Roman" panose="02020603050405020304" pitchFamily="18" charset="0"/>
            </a:endParaRPr>
          </a:p>
        </p:txBody>
      </p:sp>
      <p:cxnSp>
        <p:nvCxnSpPr>
          <p:cNvPr id="31" name="Connecteur droit avec flèche 30">
            <a:extLst>
              <a:ext uri="{FF2B5EF4-FFF2-40B4-BE49-F238E27FC236}">
                <a16:creationId xmlns:a16="http://schemas.microsoft.com/office/drawing/2014/main" id="{5255E4F5-5466-5B41-9EA5-C2287B5583A6}"/>
              </a:ext>
            </a:extLst>
          </p:cNvPr>
          <p:cNvCxnSpPr>
            <a:cxnSpLocks/>
          </p:cNvCxnSpPr>
          <p:nvPr/>
        </p:nvCxnSpPr>
        <p:spPr>
          <a:xfrm>
            <a:off x="5194274" y="1879300"/>
            <a:ext cx="104317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EA27B9CD-8FE3-5F4A-8877-C4BA86284448}"/>
              </a:ext>
            </a:extLst>
          </p:cNvPr>
          <p:cNvCxnSpPr>
            <a:cxnSpLocks/>
            <a:stCxn id="30" idx="3"/>
          </p:cNvCxnSpPr>
          <p:nvPr/>
        </p:nvCxnSpPr>
        <p:spPr>
          <a:xfrm flipV="1">
            <a:off x="7562123" y="1819473"/>
            <a:ext cx="101047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3" name="ZoneTexte 32">
                <a:extLst>
                  <a:ext uri="{FF2B5EF4-FFF2-40B4-BE49-F238E27FC236}">
                    <a16:creationId xmlns:a16="http://schemas.microsoft.com/office/drawing/2014/main" id="{6F2012FE-C3CD-BE42-9316-1DBCD99A84AD}"/>
                  </a:ext>
                </a:extLst>
              </p:cNvPr>
              <p:cNvSpPr txBox="1"/>
              <p:nvPr/>
            </p:nvSpPr>
            <p:spPr>
              <a:xfrm>
                <a:off x="5474930" y="1512056"/>
                <a:ext cx="601289" cy="31757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400" b="0" i="1" smtClean="0">
                              <a:latin typeface="Cambria Math" panose="02040503050406030204" pitchFamily="18" charset="0"/>
                            </a:rPr>
                          </m:ctrlPr>
                        </m:sSupPr>
                        <m:e>
                          <m:acc>
                            <m:accPr>
                              <m:chr m:val="̇"/>
                              <m:ctrlPr>
                                <a:rPr lang="fr-FR" sz="1400" b="0" i="1" smtClean="0">
                                  <a:latin typeface="Cambria Math" panose="02040503050406030204" pitchFamily="18" charset="0"/>
                                </a:rPr>
                              </m:ctrlPr>
                            </m:accPr>
                            <m:e>
                              <m:r>
                                <a:rPr lang="fr-FR" sz="1400" b="1" i="0" smtClean="0">
                                  <a:latin typeface="Cambria Math" panose="02040503050406030204" pitchFamily="18" charset="0"/>
                                </a:rPr>
                                <m:t>𝐪</m:t>
                              </m:r>
                            </m:e>
                          </m:acc>
                        </m:e>
                        <m:sup>
                          <m:r>
                            <a:rPr lang="fr-FR" sz="1400" b="0" i="1" smtClean="0">
                              <a:latin typeface="Cambria Math" panose="02040503050406030204" pitchFamily="18" charset="0"/>
                            </a:rPr>
                            <m:t>𝑑</m:t>
                          </m:r>
                        </m:sup>
                      </m:sSup>
                    </m:oMath>
                  </m:oMathPara>
                </a14:m>
                <a:endParaRPr lang="fr-FR" sz="1400" dirty="0"/>
              </a:p>
            </p:txBody>
          </p:sp>
        </mc:Choice>
        <mc:Fallback>
          <p:sp>
            <p:nvSpPr>
              <p:cNvPr id="33" name="ZoneTexte 32">
                <a:extLst>
                  <a:ext uri="{FF2B5EF4-FFF2-40B4-BE49-F238E27FC236}">
                    <a16:creationId xmlns:a16="http://schemas.microsoft.com/office/drawing/2014/main" id="{6F2012FE-C3CD-BE42-9316-1DBCD99A84AD}"/>
                  </a:ext>
                </a:extLst>
              </p:cNvPr>
              <p:cNvSpPr txBox="1">
                <a:spLocks noRot="1" noChangeAspect="1" noMove="1" noResize="1" noEditPoints="1" noAdjustHandles="1" noChangeArrowheads="1" noChangeShapeType="1" noTextEdit="1"/>
              </p:cNvSpPr>
              <p:nvPr/>
            </p:nvSpPr>
            <p:spPr>
              <a:xfrm>
                <a:off x="5474930" y="1512056"/>
                <a:ext cx="601289" cy="317578"/>
              </a:xfrm>
              <a:prstGeom prst="rect">
                <a:avLst/>
              </a:prstGeom>
              <a:blipFill>
                <a:blip r:embed="rId3"/>
                <a:stretch>
                  <a:fillRect b="-4000"/>
                </a:stretch>
              </a:blipFill>
            </p:spPr>
            <p:txBody>
              <a:bodyPr/>
              <a:lstStyle/>
              <a:p>
                <a:r>
                  <a:rPr lang="en-FR">
                    <a:noFill/>
                  </a:rPr>
                  <a:t> </a:t>
                </a:r>
              </a:p>
            </p:txBody>
          </p:sp>
        </mc:Fallback>
      </mc:AlternateContent>
      <mc:AlternateContent xmlns:mc="http://schemas.openxmlformats.org/markup-compatibility/2006">
        <mc:Choice xmlns:a14="http://schemas.microsoft.com/office/drawing/2010/main" Requires="a14">
          <p:sp>
            <p:nvSpPr>
              <p:cNvPr id="34" name="ZoneTexte 33">
                <a:extLst>
                  <a:ext uri="{FF2B5EF4-FFF2-40B4-BE49-F238E27FC236}">
                    <a16:creationId xmlns:a16="http://schemas.microsoft.com/office/drawing/2014/main" id="{F8C69AB7-92CC-7C43-A9F0-189477272B7C}"/>
                  </a:ext>
                </a:extLst>
              </p:cNvPr>
              <p:cNvSpPr txBox="1"/>
              <p:nvPr/>
            </p:nvSpPr>
            <p:spPr>
              <a:xfrm>
                <a:off x="7475273" y="1238749"/>
                <a:ext cx="1448166" cy="5525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1" i="0" smtClean="0">
                          <a:latin typeface="Cambria Math" panose="02040503050406030204" pitchFamily="18" charset="0"/>
                        </a:rPr>
                        <m:t>𝐪</m:t>
                      </m:r>
                      <m:r>
                        <a:rPr lang="fr-FR" sz="1600" b="0" i="1" smtClean="0">
                          <a:latin typeface="Cambria Math" panose="02040503050406030204" pitchFamily="18" charset="0"/>
                        </a:rPr>
                        <m:t>=</m:t>
                      </m:r>
                      <m:d>
                        <m:dPr>
                          <m:ctrlPr>
                            <a:rPr lang="fr-FR" sz="1600" b="0" i="1" smtClean="0">
                              <a:latin typeface="Cambria Math" panose="02040503050406030204" pitchFamily="18" charset="0"/>
                            </a:rPr>
                          </m:ctrlPr>
                        </m:dPr>
                        <m:e>
                          <m:eqArr>
                            <m:eqArrPr>
                              <m:ctrlPr>
                                <a:rPr lang="fr-FR" sz="1600" b="0" i="1" smtClean="0">
                                  <a:latin typeface="Cambria Math" panose="02040503050406030204" pitchFamily="18" charset="0"/>
                                </a:rPr>
                              </m:ctrlPr>
                            </m:eqArrPr>
                            <m:e>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𝜃</m:t>
                                  </m:r>
                                </m:e>
                                <m:sub>
                                  <m:r>
                                    <a:rPr lang="fr-FR" sz="1600" b="0" i="1" smtClean="0">
                                      <a:latin typeface="Cambria Math" panose="02040503050406030204" pitchFamily="18" charset="0"/>
                                    </a:rPr>
                                    <m:t>1</m:t>
                                  </m:r>
                                </m:sub>
                              </m:sSub>
                            </m:e>
                            <m:e>
                              <m:sSub>
                                <m:sSubPr>
                                  <m:ctrlPr>
                                    <a:rPr lang="fr-FR" sz="1600" i="1" smtClean="0">
                                      <a:latin typeface="Cambria Math" panose="02040503050406030204" pitchFamily="18" charset="0"/>
                                    </a:rPr>
                                  </m:ctrlPr>
                                </m:sSubPr>
                                <m:e>
                                  <m:r>
                                    <a:rPr lang="fr-FR" sz="1600" i="1" smtClean="0">
                                      <a:latin typeface="Cambria Math" panose="02040503050406030204" pitchFamily="18" charset="0"/>
                                      <a:ea typeface="Cambria Math" panose="02040503050406030204" pitchFamily="18" charset="0"/>
                                    </a:rPr>
                                    <m:t>𝜃</m:t>
                                  </m:r>
                                </m:e>
                                <m:sub>
                                  <m:r>
                                    <a:rPr lang="fr-FR" sz="1600" b="0" i="1" smtClean="0">
                                      <a:latin typeface="Cambria Math" panose="02040503050406030204" pitchFamily="18" charset="0"/>
                                    </a:rPr>
                                    <m:t>2</m:t>
                                  </m:r>
                                </m:sub>
                              </m:sSub>
                            </m:e>
                          </m:eqArr>
                        </m:e>
                      </m:d>
                    </m:oMath>
                  </m:oMathPara>
                </a14:m>
                <a:endParaRPr lang="fr-FR" sz="1600" dirty="0"/>
              </a:p>
            </p:txBody>
          </p:sp>
        </mc:Choice>
        <mc:Fallback>
          <p:sp>
            <p:nvSpPr>
              <p:cNvPr id="34" name="ZoneTexte 33">
                <a:extLst>
                  <a:ext uri="{FF2B5EF4-FFF2-40B4-BE49-F238E27FC236}">
                    <a16:creationId xmlns:a16="http://schemas.microsoft.com/office/drawing/2014/main" id="{F8C69AB7-92CC-7C43-A9F0-189477272B7C}"/>
                  </a:ext>
                </a:extLst>
              </p:cNvPr>
              <p:cNvSpPr txBox="1">
                <a:spLocks noRot="1" noChangeAspect="1" noMove="1" noResize="1" noEditPoints="1" noAdjustHandles="1" noChangeArrowheads="1" noChangeShapeType="1" noTextEdit="1"/>
              </p:cNvSpPr>
              <p:nvPr/>
            </p:nvSpPr>
            <p:spPr>
              <a:xfrm>
                <a:off x="7475273" y="1238749"/>
                <a:ext cx="1448166" cy="552587"/>
              </a:xfrm>
              <a:prstGeom prst="rect">
                <a:avLst/>
              </a:prstGeom>
              <a:blipFill>
                <a:blip r:embed="rId4"/>
                <a:stretch>
                  <a:fillRect/>
                </a:stretch>
              </a:blipFill>
            </p:spPr>
            <p:txBody>
              <a:bodyPr/>
              <a:lstStyle/>
              <a:p>
                <a:r>
                  <a:rPr lang="en-FR">
                    <a:noFill/>
                  </a:rPr>
                  <a:t> </a:t>
                </a:r>
              </a:p>
            </p:txBody>
          </p:sp>
        </mc:Fallback>
      </mc:AlternateContent>
      <p:cxnSp>
        <p:nvCxnSpPr>
          <p:cNvPr id="35" name="Connecteur droit avec flèche 34">
            <a:extLst>
              <a:ext uri="{FF2B5EF4-FFF2-40B4-BE49-F238E27FC236}">
                <a16:creationId xmlns:a16="http://schemas.microsoft.com/office/drawing/2014/main" id="{3941AEE6-99A6-554C-A686-398A6F52C8E9}"/>
              </a:ext>
            </a:extLst>
          </p:cNvPr>
          <p:cNvCxnSpPr>
            <a:cxnSpLocks/>
            <a:stCxn id="37" idx="3"/>
          </p:cNvCxnSpPr>
          <p:nvPr/>
        </p:nvCxnSpPr>
        <p:spPr>
          <a:xfrm>
            <a:off x="3466716" y="1848317"/>
            <a:ext cx="528138"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36" name="Ellipse 35">
            <a:extLst>
              <a:ext uri="{FF2B5EF4-FFF2-40B4-BE49-F238E27FC236}">
                <a16:creationId xmlns:a16="http://schemas.microsoft.com/office/drawing/2014/main" id="{618172FB-0E63-584E-B30C-BE2B10BB0E66}"/>
              </a:ext>
            </a:extLst>
          </p:cNvPr>
          <p:cNvSpPr/>
          <p:nvPr/>
        </p:nvSpPr>
        <p:spPr>
          <a:xfrm>
            <a:off x="1136030" y="1708511"/>
            <a:ext cx="280936" cy="28077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37" name="Rectangle 36">
            <a:extLst>
              <a:ext uri="{FF2B5EF4-FFF2-40B4-BE49-F238E27FC236}">
                <a16:creationId xmlns:a16="http://schemas.microsoft.com/office/drawing/2014/main" id="{E9D0C2F8-D2A8-F848-8096-ABAAE307B53A}"/>
              </a:ext>
            </a:extLst>
          </p:cNvPr>
          <p:cNvSpPr/>
          <p:nvPr/>
        </p:nvSpPr>
        <p:spPr>
          <a:xfrm>
            <a:off x="2095121" y="1582178"/>
            <a:ext cx="1371595" cy="5322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fr-FR" sz="1600" dirty="0">
                <a:solidFill>
                  <a:schemeClr val="tx1"/>
                </a:solidFill>
                <a:ea typeface="Calibri" panose="020F0502020204030204" pitchFamily="34" charset="0"/>
                <a:cs typeface="Times New Roman" panose="02020603050405020304" pitchFamily="18" charset="0"/>
              </a:rPr>
              <a:t>???</a:t>
            </a:r>
            <a:endParaRPr lang="fr-FR" sz="1600" dirty="0">
              <a:solidFill>
                <a:schemeClr val="tx1"/>
              </a:solidFill>
              <a:effectLst/>
              <a:ea typeface="Calibri" panose="020F0502020204030204" pitchFamily="34" charset="0"/>
              <a:cs typeface="Times New Roman" panose="02020603050405020304" pitchFamily="18" charset="0"/>
            </a:endParaRPr>
          </a:p>
        </p:txBody>
      </p:sp>
      <p:cxnSp>
        <p:nvCxnSpPr>
          <p:cNvPr id="38" name="Connecteur droit avec flèche 37">
            <a:extLst>
              <a:ext uri="{FF2B5EF4-FFF2-40B4-BE49-F238E27FC236}">
                <a16:creationId xmlns:a16="http://schemas.microsoft.com/office/drawing/2014/main" id="{0536C983-160D-0C42-9736-7F7EF7CFD8B2}"/>
              </a:ext>
            </a:extLst>
          </p:cNvPr>
          <p:cNvCxnSpPr/>
          <p:nvPr/>
        </p:nvCxnSpPr>
        <p:spPr>
          <a:xfrm>
            <a:off x="1416966" y="1843442"/>
            <a:ext cx="648001"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39" name="Connecteur droit avec flèche 38">
            <a:extLst>
              <a:ext uri="{FF2B5EF4-FFF2-40B4-BE49-F238E27FC236}">
                <a16:creationId xmlns:a16="http://schemas.microsoft.com/office/drawing/2014/main" id="{5D3D3D1E-BC03-BB48-BA07-B35EE00DE09F}"/>
              </a:ext>
            </a:extLst>
          </p:cNvPr>
          <p:cNvCxnSpPr/>
          <p:nvPr/>
        </p:nvCxnSpPr>
        <p:spPr>
          <a:xfrm>
            <a:off x="183546" y="1843442"/>
            <a:ext cx="900000"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40" name="Connecteur droit avec flèche 39">
            <a:extLst>
              <a:ext uri="{FF2B5EF4-FFF2-40B4-BE49-F238E27FC236}">
                <a16:creationId xmlns:a16="http://schemas.microsoft.com/office/drawing/2014/main" id="{7F5DACBD-E961-644A-97FB-90E3EE6B2DD0}"/>
              </a:ext>
            </a:extLst>
          </p:cNvPr>
          <p:cNvCxnSpPr/>
          <p:nvPr/>
        </p:nvCxnSpPr>
        <p:spPr>
          <a:xfrm flipV="1">
            <a:off x="1280965" y="1988294"/>
            <a:ext cx="0" cy="129600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854D4F2D-E47C-B340-AA40-E46232DA3722}"/>
              </a:ext>
            </a:extLst>
          </p:cNvPr>
          <p:cNvCxnSpPr>
            <a:cxnSpLocks/>
          </p:cNvCxnSpPr>
          <p:nvPr/>
        </p:nvCxnSpPr>
        <p:spPr>
          <a:xfrm flipV="1">
            <a:off x="8134608" y="1830378"/>
            <a:ext cx="0" cy="145399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Zone de texte 2">
                <a:extLst>
                  <a:ext uri="{FF2B5EF4-FFF2-40B4-BE49-F238E27FC236}">
                    <a16:creationId xmlns:a16="http://schemas.microsoft.com/office/drawing/2014/main" id="{5A1088A6-D200-1E47-9B4C-74108B7FBA85}"/>
                  </a:ext>
                </a:extLst>
              </p:cNvPr>
              <p:cNvSpPr txBox="1">
                <a:spLocks noChangeArrowheads="1"/>
              </p:cNvSpPr>
              <p:nvPr/>
            </p:nvSpPr>
            <p:spPr bwMode="auto">
              <a:xfrm>
                <a:off x="1161989" y="1949717"/>
                <a:ext cx="505289" cy="368084"/>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r>
                        <a:rPr lang="fr-FR" sz="11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2" name="Zone de texte 2">
                <a:extLst>
                  <a:ext uri="{FF2B5EF4-FFF2-40B4-BE49-F238E27FC236}">
                    <a16:creationId xmlns:a16="http://schemas.microsoft.com/office/drawing/2014/main" id="{5A1088A6-D200-1E47-9B4C-74108B7FBA85}"/>
                  </a:ext>
                </a:extLst>
              </p:cNvPr>
              <p:cNvSpPr txBox="1">
                <a:spLocks noRot="1" noChangeAspect="1" noMove="1" noResize="1" noEditPoints="1" noAdjustHandles="1" noChangeArrowheads="1" noChangeShapeType="1" noTextEdit="1"/>
              </p:cNvSpPr>
              <p:nvPr/>
            </p:nvSpPr>
            <p:spPr bwMode="auto">
              <a:xfrm>
                <a:off x="1161989" y="1949717"/>
                <a:ext cx="505289" cy="368084"/>
              </a:xfrm>
              <a:prstGeom prst="rect">
                <a:avLst/>
              </a:prstGeom>
              <a:blipFill>
                <a:blip r:embed="rId5"/>
                <a:stretch>
                  <a:fillRect/>
                </a:stretch>
              </a:blipFill>
              <a:ln w="9525">
                <a:noFill/>
                <a:miter lim="800000"/>
                <a:headEnd/>
                <a:tailEnd/>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3" name="Zone de texte 2">
                <a:extLst>
                  <a:ext uri="{FF2B5EF4-FFF2-40B4-BE49-F238E27FC236}">
                    <a16:creationId xmlns:a16="http://schemas.microsoft.com/office/drawing/2014/main" id="{2725FFCA-F0EE-0947-BB01-18778A95D0F7}"/>
                  </a:ext>
                </a:extLst>
              </p:cNvPr>
              <p:cNvSpPr txBox="1">
                <a:spLocks noChangeArrowheads="1"/>
              </p:cNvSpPr>
              <p:nvPr/>
            </p:nvSpPr>
            <p:spPr bwMode="auto">
              <a:xfrm>
                <a:off x="746959" y="1800449"/>
                <a:ext cx="506281" cy="369076"/>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r>
                        <a:rPr lang="fr-FR" sz="11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3" name="Zone de texte 2">
                <a:extLst>
                  <a:ext uri="{FF2B5EF4-FFF2-40B4-BE49-F238E27FC236}">
                    <a16:creationId xmlns:a16="http://schemas.microsoft.com/office/drawing/2014/main" id="{2725FFCA-F0EE-0947-BB01-18778A95D0F7}"/>
                  </a:ext>
                </a:extLst>
              </p:cNvPr>
              <p:cNvSpPr txBox="1">
                <a:spLocks noRot="1" noChangeAspect="1" noMove="1" noResize="1" noEditPoints="1" noAdjustHandles="1" noChangeArrowheads="1" noChangeShapeType="1" noTextEdit="1"/>
              </p:cNvSpPr>
              <p:nvPr/>
            </p:nvSpPr>
            <p:spPr bwMode="auto">
              <a:xfrm>
                <a:off x="746959" y="1800449"/>
                <a:ext cx="506281" cy="369076"/>
              </a:xfrm>
              <a:prstGeom prst="rect">
                <a:avLst/>
              </a:prstGeom>
              <a:blipFill>
                <a:blip r:embed="rId6"/>
                <a:stretch>
                  <a:fillRect/>
                </a:stretch>
              </a:blipFill>
              <a:ln w="9525">
                <a:noFill/>
                <a:miter lim="800000"/>
                <a:headEnd/>
                <a:tailEnd/>
              </a:ln>
            </p:spPr>
            <p:txBody>
              <a:bodyPr/>
              <a:lstStyle/>
              <a:p>
                <a:r>
                  <a:rPr lang="fr-FR">
                    <a:noFill/>
                  </a:rPr>
                  <a:t> </a:t>
                </a:r>
              </a:p>
            </p:txBody>
          </p:sp>
        </mc:Fallback>
      </mc:AlternateContent>
      <p:cxnSp>
        <p:nvCxnSpPr>
          <p:cNvPr id="44" name="Connecteur droit avec flèche 43">
            <a:extLst>
              <a:ext uri="{FF2B5EF4-FFF2-40B4-BE49-F238E27FC236}">
                <a16:creationId xmlns:a16="http://schemas.microsoft.com/office/drawing/2014/main" id="{8DC6A6BD-55BA-0F44-8213-1C1EC6D91E45}"/>
              </a:ext>
            </a:extLst>
          </p:cNvPr>
          <p:cNvCxnSpPr>
            <a:cxnSpLocks/>
          </p:cNvCxnSpPr>
          <p:nvPr/>
        </p:nvCxnSpPr>
        <p:spPr>
          <a:xfrm flipV="1">
            <a:off x="4946285" y="3283534"/>
            <a:ext cx="3175260" cy="429"/>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ZoneTexte 44">
                <a:extLst>
                  <a:ext uri="{FF2B5EF4-FFF2-40B4-BE49-F238E27FC236}">
                    <a16:creationId xmlns:a16="http://schemas.microsoft.com/office/drawing/2014/main" id="{E6C152BE-80D3-9E4A-B563-FDCEA1C1709F}"/>
                  </a:ext>
                </a:extLst>
              </p:cNvPr>
              <p:cNvSpPr txBox="1"/>
              <p:nvPr/>
            </p:nvSpPr>
            <p:spPr>
              <a:xfrm>
                <a:off x="0" y="1228071"/>
                <a:ext cx="1371595" cy="58310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600" b="0" i="1" smtClean="0">
                              <a:latin typeface="Cambria Math" panose="02040503050406030204" pitchFamily="18" charset="0"/>
                            </a:rPr>
                          </m:ctrlPr>
                        </m:sSupPr>
                        <m:e>
                          <m:r>
                            <a:rPr lang="fr-FR" sz="1600" b="1" i="0" smtClean="0">
                              <a:latin typeface="Cambria Math" panose="02040503050406030204" pitchFamily="18" charset="0"/>
                            </a:rPr>
                            <m:t>𝐱</m:t>
                          </m:r>
                        </m:e>
                        <m:sup>
                          <m:r>
                            <a:rPr lang="fr-FR" sz="1600" b="0" i="1" smtClean="0">
                              <a:latin typeface="Cambria Math" panose="02040503050406030204" pitchFamily="18" charset="0"/>
                            </a:rPr>
                            <m:t>𝑑</m:t>
                          </m:r>
                        </m:sup>
                      </m:sSup>
                      <m:r>
                        <a:rPr lang="fr-FR" sz="1600" b="0" i="1" smtClean="0">
                          <a:latin typeface="Cambria Math" panose="02040503050406030204" pitchFamily="18" charset="0"/>
                        </a:rPr>
                        <m:t>=</m:t>
                      </m:r>
                      <m:d>
                        <m:dPr>
                          <m:ctrlPr>
                            <a:rPr lang="fr-FR" sz="1600" b="0" i="1" smtClean="0">
                              <a:latin typeface="Cambria Math" panose="02040503050406030204" pitchFamily="18" charset="0"/>
                            </a:rPr>
                          </m:ctrlPr>
                        </m:dPr>
                        <m:e>
                          <m:eqArr>
                            <m:eqArrPr>
                              <m:ctrlPr>
                                <a:rPr lang="fr-FR" sz="1600" b="0" i="1" smtClean="0">
                                  <a:latin typeface="Cambria Math" panose="02040503050406030204" pitchFamily="18" charset="0"/>
                                </a:rPr>
                              </m:ctrlPr>
                            </m:eqArrPr>
                            <m:e>
                              <m:sSup>
                                <m:sSupPr>
                                  <m:ctrlPr>
                                    <a:rPr lang="fr-FR" sz="1600" i="1">
                                      <a:latin typeface="Cambria Math" panose="02040503050406030204" pitchFamily="18" charset="0"/>
                                      <a:cs typeface="Times New Roman" panose="02020603050405020304" pitchFamily="18" charset="0"/>
                                    </a:rPr>
                                  </m:ctrlPr>
                                </m:sSupPr>
                                <m:e>
                                  <m:r>
                                    <a:rPr lang="fr-FR" sz="1600" b="0" i="1" smtClean="0">
                                      <a:latin typeface="Cambria Math" panose="02040503050406030204" pitchFamily="18" charset="0"/>
                                      <a:cs typeface="Times New Roman" panose="02020603050405020304" pitchFamily="18" charset="0"/>
                                    </a:rPr>
                                    <m:t>𝑥</m:t>
                                  </m:r>
                                </m:e>
                                <m:sup>
                                  <m:r>
                                    <a:rPr lang="fr-FR" sz="1600" i="1">
                                      <a:latin typeface="Cambria Math" panose="02040503050406030204" pitchFamily="18" charset="0"/>
                                      <a:cs typeface="Times New Roman" panose="02020603050405020304" pitchFamily="18" charset="0"/>
                                    </a:rPr>
                                    <m:t>𝑑</m:t>
                                  </m:r>
                                </m:sup>
                              </m:sSup>
                            </m:e>
                            <m:e>
                              <m:sSup>
                                <m:sSupPr>
                                  <m:ctrlPr>
                                    <a:rPr lang="fr-FR" sz="1600" i="1">
                                      <a:latin typeface="Cambria Math" panose="02040503050406030204" pitchFamily="18" charset="0"/>
                                      <a:cs typeface="Times New Roman" panose="02020603050405020304" pitchFamily="18" charset="0"/>
                                    </a:rPr>
                                  </m:ctrlPr>
                                </m:sSupPr>
                                <m:e>
                                  <m:r>
                                    <a:rPr lang="fr-FR" sz="1600" b="0" i="1" smtClean="0">
                                      <a:latin typeface="Cambria Math" panose="02040503050406030204" pitchFamily="18" charset="0"/>
                                      <a:cs typeface="Times New Roman" panose="02020603050405020304" pitchFamily="18" charset="0"/>
                                    </a:rPr>
                                    <m:t>𝑦</m:t>
                                  </m:r>
                                </m:e>
                                <m:sup>
                                  <m:r>
                                    <a:rPr lang="fr-FR" sz="1600" i="1">
                                      <a:latin typeface="Cambria Math" panose="02040503050406030204" pitchFamily="18" charset="0"/>
                                      <a:cs typeface="Times New Roman" panose="02020603050405020304" pitchFamily="18" charset="0"/>
                                    </a:rPr>
                                    <m:t>𝑑</m:t>
                                  </m:r>
                                </m:sup>
                              </m:sSup>
                            </m:e>
                          </m:eqArr>
                        </m:e>
                      </m:d>
                    </m:oMath>
                  </m:oMathPara>
                </a14:m>
                <a:endParaRPr lang="fr-FR" sz="1600" dirty="0"/>
              </a:p>
            </p:txBody>
          </p:sp>
        </mc:Choice>
        <mc:Fallback xmlns="">
          <p:sp>
            <p:nvSpPr>
              <p:cNvPr id="45" name="ZoneTexte 44">
                <a:extLst>
                  <a:ext uri="{FF2B5EF4-FFF2-40B4-BE49-F238E27FC236}">
                    <a16:creationId xmlns:a16="http://schemas.microsoft.com/office/drawing/2014/main" id="{E6C152BE-80D3-9E4A-B563-FDCEA1C1709F}"/>
                  </a:ext>
                </a:extLst>
              </p:cNvPr>
              <p:cNvSpPr txBox="1">
                <a:spLocks noRot="1" noChangeAspect="1" noMove="1" noResize="1" noEditPoints="1" noAdjustHandles="1" noChangeArrowheads="1" noChangeShapeType="1" noTextEdit="1"/>
              </p:cNvSpPr>
              <p:nvPr/>
            </p:nvSpPr>
            <p:spPr>
              <a:xfrm>
                <a:off x="0" y="1228071"/>
                <a:ext cx="1371595" cy="583108"/>
              </a:xfrm>
              <a:prstGeom prst="rect">
                <a:avLst/>
              </a:prstGeom>
              <a:blipFill>
                <a:blip r:embed="rId7"/>
                <a:stretch>
                  <a:fillRect b="-2128"/>
                </a:stretch>
              </a:blipFill>
            </p:spPr>
            <p:txBody>
              <a:bodyPr/>
              <a:lstStyle/>
              <a:p>
                <a:r>
                  <a:rPr lang="fr-FR">
                    <a:noFill/>
                  </a:rPr>
                  <a:t> </a:t>
                </a:r>
              </a:p>
            </p:txBody>
          </p:sp>
        </mc:Fallback>
      </mc:AlternateContent>
      <p:sp>
        <p:nvSpPr>
          <p:cNvPr id="46" name="Rectangle 45">
            <a:extLst>
              <a:ext uri="{FF2B5EF4-FFF2-40B4-BE49-F238E27FC236}">
                <a16:creationId xmlns:a16="http://schemas.microsoft.com/office/drawing/2014/main" id="{9B434C2F-BC49-4A44-A096-758A36AA4FA5}"/>
              </a:ext>
            </a:extLst>
          </p:cNvPr>
          <p:cNvSpPr/>
          <p:nvPr/>
        </p:nvSpPr>
        <p:spPr>
          <a:xfrm>
            <a:off x="3910175" y="3026853"/>
            <a:ext cx="1047307" cy="5133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fr-FR" sz="1600" dirty="0">
                <a:solidFill>
                  <a:srgbClr val="000000"/>
                </a:solidFill>
                <a:effectLst/>
                <a:ea typeface="Calibri" panose="020F0502020204030204" pitchFamily="34" charset="0"/>
                <a:cs typeface="Times New Roman" panose="02020603050405020304" pitchFamily="18" charset="0"/>
              </a:rPr>
              <a:t>DKM</a:t>
            </a:r>
            <a:endParaRPr lang="fr-FR" sz="1600" dirty="0">
              <a:effectLst/>
              <a:ea typeface="Calibri" panose="020F0502020204030204" pitchFamily="34" charset="0"/>
              <a:cs typeface="Times New Roman" panose="02020603050405020304" pitchFamily="18" charset="0"/>
            </a:endParaRPr>
          </a:p>
        </p:txBody>
      </p:sp>
      <p:cxnSp>
        <p:nvCxnSpPr>
          <p:cNvPr id="47" name="Connecteur droit avec flèche 46">
            <a:extLst>
              <a:ext uri="{FF2B5EF4-FFF2-40B4-BE49-F238E27FC236}">
                <a16:creationId xmlns:a16="http://schemas.microsoft.com/office/drawing/2014/main" id="{B1EB70CD-0C80-9548-88D1-28BF17A97E43}"/>
              </a:ext>
            </a:extLst>
          </p:cNvPr>
          <p:cNvCxnSpPr>
            <a:cxnSpLocks/>
            <a:endCxn id="46" idx="1"/>
          </p:cNvCxnSpPr>
          <p:nvPr/>
        </p:nvCxnSpPr>
        <p:spPr>
          <a:xfrm>
            <a:off x="1275050" y="3277312"/>
            <a:ext cx="2635125" cy="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8" name="Rectangle 47">
                <a:extLst>
                  <a:ext uri="{FF2B5EF4-FFF2-40B4-BE49-F238E27FC236}">
                    <a16:creationId xmlns:a16="http://schemas.microsoft.com/office/drawing/2014/main" id="{7001846A-2DB0-BC40-85A0-DE27B6C5331B}"/>
                  </a:ext>
                </a:extLst>
              </p:cNvPr>
              <p:cNvSpPr/>
              <p:nvPr/>
            </p:nvSpPr>
            <p:spPr>
              <a:xfrm>
                <a:off x="4044359" y="1577303"/>
                <a:ext cx="1149915" cy="5322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14:m>
                  <m:oMathPara xmlns:m="http://schemas.openxmlformats.org/officeDocument/2006/math">
                    <m:oMathParaPr>
                      <m:jc m:val="centerGroup"/>
                    </m:oMathParaPr>
                    <m:oMath xmlns:m="http://schemas.openxmlformats.org/officeDocument/2006/math">
                      <m:sSup>
                        <m:sSupPr>
                          <m:ctrlPr>
                            <a:rPr lang="fr-FR" sz="1600" b="1" i="1" smtClean="0">
                              <a:solidFill>
                                <a:srgbClr val="FF0000"/>
                              </a:solidFill>
                              <a:latin typeface="Cambria Math" panose="02040503050406030204" pitchFamily="18" charset="0"/>
                            </a:rPr>
                          </m:ctrlPr>
                        </m:sSupPr>
                        <m:e>
                          <m:sSub>
                            <m:sSubPr>
                              <m:ctrlPr>
                                <a:rPr lang="fr-FR" sz="1600" b="1" i="1">
                                  <a:solidFill>
                                    <a:srgbClr val="FF0000"/>
                                  </a:solidFill>
                                  <a:latin typeface="Cambria Math" panose="02040503050406030204" pitchFamily="18" charset="0"/>
                                </a:rPr>
                              </m:ctrlPr>
                            </m:sSubPr>
                            <m:e>
                              <m:r>
                                <a:rPr lang="fr-FR" sz="1600" b="1" i="1">
                                  <a:solidFill>
                                    <a:srgbClr val="FF0000"/>
                                  </a:solidFill>
                                  <a:latin typeface="Cambria Math" panose="02040503050406030204" pitchFamily="18" charset="0"/>
                                </a:rPr>
                                <m:t>𝑱</m:t>
                              </m:r>
                            </m:e>
                            <m:sub>
                              <m:r>
                                <a:rPr lang="fr-FR" sz="1600" b="1" i="1" smtClean="0">
                                  <a:solidFill>
                                    <a:srgbClr val="FF0000"/>
                                  </a:solidFill>
                                  <a:latin typeface="Cambria Math" panose="02040503050406030204" pitchFamily="18" charset="0"/>
                                </a:rPr>
                                <m:t>𝒙</m:t>
                              </m:r>
                            </m:sub>
                          </m:sSub>
                        </m:e>
                        <m:sup>
                          <m:r>
                            <a:rPr lang="fr-FR" sz="1600" b="1" i="1">
                              <a:solidFill>
                                <a:srgbClr val="FF0000"/>
                              </a:solidFill>
                              <a:latin typeface="Cambria Math" panose="02040503050406030204" pitchFamily="18" charset="0"/>
                            </a:rPr>
                            <m:t>−</m:t>
                          </m:r>
                          <m:r>
                            <a:rPr lang="fr-FR" sz="1600" b="1" i="1">
                              <a:solidFill>
                                <a:srgbClr val="FF0000"/>
                              </a:solidFill>
                              <a:latin typeface="Cambria Math" panose="02040503050406030204" pitchFamily="18" charset="0"/>
                            </a:rPr>
                            <m:t>𝟏</m:t>
                          </m:r>
                        </m:sup>
                      </m:sSup>
                    </m:oMath>
                  </m:oMathPara>
                </a14:m>
                <a:endParaRPr lang="fr-FR" sz="1600" dirty="0">
                  <a:solidFill>
                    <a:srgbClr val="FF0000"/>
                  </a:solidFill>
                  <a:ea typeface="Calibri" panose="020F0502020204030204" pitchFamily="34" charset="0"/>
                  <a:cs typeface="Times New Roman" panose="02020603050405020304" pitchFamily="18" charset="0"/>
                </a:endParaRPr>
              </a:p>
            </p:txBody>
          </p:sp>
        </mc:Choice>
        <mc:Fallback>
          <p:sp>
            <p:nvSpPr>
              <p:cNvPr id="48" name="Rectangle 47">
                <a:extLst>
                  <a:ext uri="{FF2B5EF4-FFF2-40B4-BE49-F238E27FC236}">
                    <a16:creationId xmlns:a16="http://schemas.microsoft.com/office/drawing/2014/main" id="{7001846A-2DB0-BC40-85A0-DE27B6C5331B}"/>
                  </a:ext>
                </a:extLst>
              </p:cNvPr>
              <p:cNvSpPr>
                <a:spLocks noRot="1" noChangeAspect="1" noMove="1" noResize="1" noEditPoints="1" noAdjustHandles="1" noChangeArrowheads="1" noChangeShapeType="1" noTextEdit="1"/>
              </p:cNvSpPr>
              <p:nvPr/>
            </p:nvSpPr>
            <p:spPr>
              <a:xfrm>
                <a:off x="4044359" y="1577303"/>
                <a:ext cx="1149915" cy="532277"/>
              </a:xfrm>
              <a:prstGeom prst="rect">
                <a:avLst/>
              </a:prstGeom>
              <a:blipFill>
                <a:blip r:embed="rId8"/>
                <a:stretch>
                  <a:fillRect/>
                </a:stretch>
              </a:blipFill>
              <a:ln>
                <a:solidFill>
                  <a:schemeClr val="tx1"/>
                </a:solidFill>
              </a:ln>
            </p:spPr>
            <p:txBody>
              <a:bodyPr/>
              <a:lstStyle/>
              <a:p>
                <a:r>
                  <a:rPr lang="en-FR">
                    <a:noFill/>
                  </a:rPr>
                  <a:t> </a:t>
                </a:r>
              </a:p>
            </p:txBody>
          </p:sp>
        </mc:Fallback>
      </mc:AlternateContent>
      <p:sp>
        <p:nvSpPr>
          <p:cNvPr id="52" name="ZoneTexte 51">
            <a:extLst>
              <a:ext uri="{FF2B5EF4-FFF2-40B4-BE49-F238E27FC236}">
                <a16:creationId xmlns:a16="http://schemas.microsoft.com/office/drawing/2014/main" id="{437CCE24-24DD-5946-AC9F-A9C4D478E71E}"/>
              </a:ext>
            </a:extLst>
          </p:cNvPr>
          <p:cNvSpPr txBox="1"/>
          <p:nvPr/>
        </p:nvSpPr>
        <p:spPr>
          <a:xfrm>
            <a:off x="4144871" y="1238749"/>
            <a:ext cx="979714" cy="338554"/>
          </a:xfrm>
          <a:prstGeom prst="rect">
            <a:avLst/>
          </a:prstGeom>
          <a:noFill/>
        </p:spPr>
        <p:txBody>
          <a:bodyPr wrap="square" rtlCol="0">
            <a:spAutoFit/>
          </a:bodyPr>
          <a:lstStyle/>
          <a:p>
            <a:pPr algn="ctr"/>
            <a:r>
              <a:rPr lang="fr-FR" sz="1600" dirty="0">
                <a:solidFill>
                  <a:srgbClr val="FF0000"/>
                </a:solidFill>
                <a:latin typeface="+mn-lt"/>
                <a:cs typeface="Times New Roman" panose="02020603050405020304" pitchFamily="18" charset="0"/>
              </a:rPr>
              <a:t>IDKM</a:t>
            </a:r>
          </a:p>
        </p:txBody>
      </p:sp>
      <mc:AlternateContent xmlns:mc="http://schemas.openxmlformats.org/markup-compatibility/2006" xmlns:a14="http://schemas.microsoft.com/office/drawing/2010/main">
        <mc:Choice Requires="a14">
          <p:sp>
            <p:nvSpPr>
              <p:cNvPr id="53" name="ZoneTexte 52">
                <a:extLst>
                  <a:ext uri="{FF2B5EF4-FFF2-40B4-BE49-F238E27FC236}">
                    <a16:creationId xmlns:a16="http://schemas.microsoft.com/office/drawing/2014/main" id="{619E240D-D7D6-E74C-9B01-7C96327F786F}"/>
                  </a:ext>
                </a:extLst>
              </p:cNvPr>
              <p:cNvSpPr txBox="1"/>
              <p:nvPr/>
            </p:nvSpPr>
            <p:spPr>
              <a:xfrm>
                <a:off x="3457506" y="1483788"/>
                <a:ext cx="601289" cy="3115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400" b="0" i="1" smtClean="0">
                              <a:solidFill>
                                <a:srgbClr val="FF0000"/>
                              </a:solidFill>
                              <a:latin typeface="Cambria Math" panose="02040503050406030204" pitchFamily="18" charset="0"/>
                            </a:rPr>
                          </m:ctrlPr>
                        </m:sSupPr>
                        <m:e>
                          <m:acc>
                            <m:accPr>
                              <m:chr m:val="̇"/>
                              <m:ctrlPr>
                                <a:rPr lang="fr-FR" sz="1400" b="0" i="1" smtClean="0">
                                  <a:solidFill>
                                    <a:srgbClr val="FF0000"/>
                                  </a:solidFill>
                                  <a:latin typeface="Cambria Math" panose="02040503050406030204" pitchFamily="18" charset="0"/>
                                </a:rPr>
                              </m:ctrlPr>
                            </m:accPr>
                            <m:e>
                              <m:r>
                                <a:rPr lang="fr-FR" sz="1400" b="1" i="0" smtClean="0">
                                  <a:solidFill>
                                    <a:srgbClr val="FF0000"/>
                                  </a:solidFill>
                                  <a:latin typeface="Cambria Math" panose="02040503050406030204" pitchFamily="18" charset="0"/>
                                </a:rPr>
                                <m:t>𝐱</m:t>
                              </m:r>
                            </m:e>
                          </m:acc>
                        </m:e>
                        <m:sup>
                          <m:r>
                            <a:rPr lang="fr-FR" sz="1400" b="0" i="1" smtClean="0">
                              <a:solidFill>
                                <a:srgbClr val="FF0000"/>
                              </a:solidFill>
                              <a:latin typeface="Cambria Math" panose="02040503050406030204" pitchFamily="18" charset="0"/>
                            </a:rPr>
                            <m:t>𝑑</m:t>
                          </m:r>
                        </m:sup>
                      </m:sSup>
                    </m:oMath>
                  </m:oMathPara>
                </a14:m>
                <a:endParaRPr lang="fr-FR" sz="1400" dirty="0"/>
              </a:p>
            </p:txBody>
          </p:sp>
        </mc:Choice>
        <mc:Fallback xmlns="">
          <p:sp>
            <p:nvSpPr>
              <p:cNvPr id="53" name="ZoneTexte 52">
                <a:extLst>
                  <a:ext uri="{FF2B5EF4-FFF2-40B4-BE49-F238E27FC236}">
                    <a16:creationId xmlns:a16="http://schemas.microsoft.com/office/drawing/2014/main" id="{619E240D-D7D6-E74C-9B01-7C96327F786F}"/>
                  </a:ext>
                </a:extLst>
              </p:cNvPr>
              <p:cNvSpPr txBox="1">
                <a:spLocks noRot="1" noChangeAspect="1" noMove="1" noResize="1" noEditPoints="1" noAdjustHandles="1" noChangeArrowheads="1" noChangeShapeType="1" noTextEdit="1"/>
              </p:cNvSpPr>
              <p:nvPr/>
            </p:nvSpPr>
            <p:spPr>
              <a:xfrm>
                <a:off x="3457506" y="1483788"/>
                <a:ext cx="601289" cy="311560"/>
              </a:xfrm>
              <a:prstGeom prst="rect">
                <a:avLst/>
              </a:prstGeom>
              <a:blipFill>
                <a:blip r:embed="rId11"/>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4" name="ZoneTexte 53">
                <a:extLst>
                  <a:ext uri="{FF2B5EF4-FFF2-40B4-BE49-F238E27FC236}">
                    <a16:creationId xmlns:a16="http://schemas.microsoft.com/office/drawing/2014/main" id="{2F3C9290-0CF9-E343-8BA4-DA5D656EC6A9}"/>
                  </a:ext>
                </a:extLst>
              </p:cNvPr>
              <p:cNvSpPr txBox="1"/>
              <p:nvPr/>
            </p:nvSpPr>
            <p:spPr>
              <a:xfrm>
                <a:off x="1631278" y="3277312"/>
                <a:ext cx="1371595" cy="5041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1" i="0" smtClean="0">
                          <a:latin typeface="Cambria Math" panose="02040503050406030204" pitchFamily="18" charset="0"/>
                        </a:rPr>
                        <m:t>𝐱</m:t>
                      </m:r>
                      <m:r>
                        <a:rPr lang="fr-FR" sz="1600" b="0" i="1" smtClean="0">
                          <a:latin typeface="Cambria Math" panose="02040503050406030204" pitchFamily="18" charset="0"/>
                        </a:rPr>
                        <m:t>=</m:t>
                      </m:r>
                      <m:d>
                        <m:dPr>
                          <m:ctrlPr>
                            <a:rPr lang="fr-FR" sz="1600" b="0" i="1" smtClean="0">
                              <a:latin typeface="Cambria Math" panose="02040503050406030204" pitchFamily="18" charset="0"/>
                            </a:rPr>
                          </m:ctrlPr>
                        </m:dPr>
                        <m:e>
                          <m:eqArr>
                            <m:eqArrPr>
                              <m:ctrlPr>
                                <a:rPr lang="fr-FR" sz="1600" b="0" i="1" smtClean="0">
                                  <a:latin typeface="Cambria Math" panose="02040503050406030204" pitchFamily="18" charset="0"/>
                                </a:rPr>
                              </m:ctrlPr>
                            </m:eqArrPr>
                            <m:e>
                              <m:r>
                                <a:rPr lang="fr-FR" sz="1600" b="0" i="1" smtClean="0">
                                  <a:latin typeface="Cambria Math" panose="02040503050406030204" pitchFamily="18" charset="0"/>
                                </a:rPr>
                                <m:t>𝑥</m:t>
                              </m:r>
                            </m:e>
                            <m:e>
                              <m:r>
                                <a:rPr lang="fr-FR" sz="1600" b="0" i="1" smtClean="0">
                                  <a:latin typeface="Cambria Math" panose="02040503050406030204" pitchFamily="18" charset="0"/>
                                </a:rPr>
                                <m:t>𝑦</m:t>
                              </m:r>
                            </m:e>
                          </m:eqArr>
                        </m:e>
                      </m:d>
                    </m:oMath>
                  </m:oMathPara>
                </a14:m>
                <a:endParaRPr lang="fr-FR" sz="1600" dirty="0"/>
              </a:p>
            </p:txBody>
          </p:sp>
        </mc:Choice>
        <mc:Fallback xmlns="">
          <p:sp>
            <p:nvSpPr>
              <p:cNvPr id="54" name="ZoneTexte 53">
                <a:extLst>
                  <a:ext uri="{FF2B5EF4-FFF2-40B4-BE49-F238E27FC236}">
                    <a16:creationId xmlns:a16="http://schemas.microsoft.com/office/drawing/2014/main" id="{2F3C9290-0CF9-E343-8BA4-DA5D656EC6A9}"/>
                  </a:ext>
                </a:extLst>
              </p:cNvPr>
              <p:cNvSpPr txBox="1">
                <a:spLocks noRot="1" noChangeAspect="1" noMove="1" noResize="1" noEditPoints="1" noAdjustHandles="1" noChangeArrowheads="1" noChangeShapeType="1" noTextEdit="1"/>
              </p:cNvSpPr>
              <p:nvPr/>
            </p:nvSpPr>
            <p:spPr>
              <a:xfrm>
                <a:off x="1631278" y="3277312"/>
                <a:ext cx="1371595" cy="504112"/>
              </a:xfrm>
              <a:prstGeom prst="rect">
                <a:avLst/>
              </a:prstGeom>
              <a:blipFill>
                <a:blip r:embed="rId12"/>
                <a:stretch>
                  <a:fillRect b="-2439"/>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5" name="ZoneTexte 54">
                <a:extLst>
                  <a:ext uri="{FF2B5EF4-FFF2-40B4-BE49-F238E27FC236}">
                    <a16:creationId xmlns:a16="http://schemas.microsoft.com/office/drawing/2014/main" id="{0339FB1A-B43F-694E-85BE-9DA1F3F02479}"/>
                  </a:ext>
                </a:extLst>
              </p:cNvPr>
              <p:cNvSpPr txBox="1"/>
              <p:nvPr/>
            </p:nvSpPr>
            <p:spPr>
              <a:xfrm>
                <a:off x="989217" y="1497907"/>
                <a:ext cx="1371595"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1" i="0" smtClean="0">
                          <a:solidFill>
                            <a:srgbClr val="FF0000"/>
                          </a:solidFill>
                          <a:latin typeface="Cambria Math" panose="02040503050406030204" pitchFamily="18" charset="0"/>
                        </a:rPr>
                        <m:t>𝐚</m:t>
                      </m:r>
                    </m:oMath>
                  </m:oMathPara>
                </a14:m>
                <a:endParaRPr lang="fr-FR" sz="1600" dirty="0">
                  <a:solidFill>
                    <a:srgbClr val="FF0000"/>
                  </a:solidFill>
                </a:endParaRPr>
              </a:p>
            </p:txBody>
          </p:sp>
        </mc:Choice>
        <mc:Fallback xmlns="">
          <p:sp>
            <p:nvSpPr>
              <p:cNvPr id="55" name="ZoneTexte 54">
                <a:extLst>
                  <a:ext uri="{FF2B5EF4-FFF2-40B4-BE49-F238E27FC236}">
                    <a16:creationId xmlns:a16="http://schemas.microsoft.com/office/drawing/2014/main" id="{0339FB1A-B43F-694E-85BE-9DA1F3F02479}"/>
                  </a:ext>
                </a:extLst>
              </p:cNvPr>
              <p:cNvSpPr txBox="1">
                <a:spLocks noRot="1" noChangeAspect="1" noMove="1" noResize="1" noEditPoints="1" noAdjustHandles="1" noChangeArrowheads="1" noChangeShapeType="1" noTextEdit="1"/>
              </p:cNvSpPr>
              <p:nvPr/>
            </p:nvSpPr>
            <p:spPr>
              <a:xfrm>
                <a:off x="989217" y="1497907"/>
                <a:ext cx="1371595" cy="338554"/>
              </a:xfrm>
              <a:prstGeom prst="rect">
                <a:avLst/>
              </a:prstGeom>
              <a:blipFill>
                <a:blip r:embed="rId13"/>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1036652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a:extLst>
                  <a:ext uri="{FF2B5EF4-FFF2-40B4-BE49-F238E27FC236}">
                    <a16:creationId xmlns:a16="http://schemas.microsoft.com/office/drawing/2014/main" id="{4D9532DC-F9A1-DF41-A150-7C461F494E43}"/>
                  </a:ext>
                </a:extLst>
              </p:cNvPr>
              <p:cNvSpPr>
                <a:spLocks noGrp="1"/>
              </p:cNvSpPr>
              <p:nvPr>
                <p:ph sz="quarter" idx="1"/>
              </p:nvPr>
            </p:nvSpPr>
            <p:spPr/>
            <p:txBody>
              <a:bodyPr/>
              <a:lstStyle/>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1" i="0" smtClean="0">
                          <a:solidFill>
                            <a:srgbClr val="FF0000"/>
                          </a:solidFill>
                          <a:latin typeface="Cambria Math" panose="02040503050406030204" pitchFamily="18" charset="0"/>
                        </a:rPr>
                        <m:t>𝐚</m:t>
                      </m:r>
                      <m:r>
                        <a:rPr lang="en-GB" b="0" i="1" smtClean="0">
                          <a:latin typeface="Cambria Math" panose="02040503050406030204" pitchFamily="18" charset="0"/>
                        </a:rPr>
                        <m:t>=</m:t>
                      </m:r>
                      <m:d>
                        <m:dPr>
                          <m:ctrlPr>
                            <a:rPr lang="en-GB" i="1" smtClean="0">
                              <a:latin typeface="Cambria Math" panose="02040503050406030204" pitchFamily="18" charset="0"/>
                            </a:rPr>
                          </m:ctrlPr>
                        </m:dPr>
                        <m:e>
                          <m:eqArr>
                            <m:eqArrPr>
                              <m:ctrlPr>
                                <a:rPr lang="en-GB" i="1" smtClean="0">
                                  <a:latin typeface="Cambria Math" panose="02040503050406030204" pitchFamily="18" charset="0"/>
                                </a:rPr>
                              </m:ctrlPr>
                            </m:eqArrPr>
                            <m:e>
                              <m:sSup>
                                <m:sSupPr>
                                  <m:ctrlPr>
                                    <a:rPr lang="en-GB" i="1" smtClean="0">
                                      <a:latin typeface="Cambria Math" panose="02040503050406030204" pitchFamily="18" charset="0"/>
                                      <a:cs typeface="Times New Roman" panose="02020603050405020304" pitchFamily="18" charset="0"/>
                                    </a:rPr>
                                  </m:ctrlPr>
                                </m:sSupPr>
                                <m:e>
                                  <m:r>
                                    <a:rPr lang="en-GB" i="1" smtClean="0">
                                      <a:latin typeface="Cambria Math" panose="02040503050406030204" pitchFamily="18" charset="0"/>
                                      <a:cs typeface="Times New Roman" panose="02020603050405020304" pitchFamily="18" charset="0"/>
                                    </a:rPr>
                                    <m:t>𝑥</m:t>
                                  </m:r>
                                </m:e>
                                <m:sup>
                                  <m:r>
                                    <a:rPr lang="en-GB" i="1" smtClean="0">
                                      <a:latin typeface="Cambria Math" panose="02040503050406030204" pitchFamily="18" charset="0"/>
                                      <a:cs typeface="Times New Roman" panose="02020603050405020304" pitchFamily="18" charset="0"/>
                                    </a:rPr>
                                    <m:t>𝑑</m:t>
                                  </m:r>
                                </m:sup>
                              </m:sSup>
                              <m:r>
                                <a:rPr lang="en-GB" b="0" i="1" smtClean="0">
                                  <a:latin typeface="Cambria Math" panose="02040503050406030204" pitchFamily="18" charset="0"/>
                                  <a:cs typeface="Times New Roman" panose="02020603050405020304" pitchFamily="18" charset="0"/>
                                </a:rPr>
                                <m:t>−</m:t>
                              </m:r>
                              <m:r>
                                <a:rPr lang="en-GB" i="1" smtClean="0">
                                  <a:latin typeface="Cambria Math" panose="02040503050406030204" pitchFamily="18" charset="0"/>
                                </a:rPr>
                                <m:t>𝑥</m:t>
                              </m:r>
                            </m:e>
                            <m:e>
                              <m:sSup>
                                <m:sSupPr>
                                  <m:ctrlPr>
                                    <a:rPr lang="en-GB" i="1" smtClean="0">
                                      <a:latin typeface="Cambria Math" panose="02040503050406030204" pitchFamily="18" charset="0"/>
                                      <a:cs typeface="Times New Roman" panose="02020603050405020304" pitchFamily="18" charset="0"/>
                                    </a:rPr>
                                  </m:ctrlPr>
                                </m:sSupPr>
                                <m:e>
                                  <m:r>
                                    <a:rPr lang="en-GB" i="1" smtClean="0">
                                      <a:latin typeface="Cambria Math" panose="02040503050406030204" pitchFamily="18" charset="0"/>
                                      <a:cs typeface="Times New Roman" panose="02020603050405020304" pitchFamily="18" charset="0"/>
                                    </a:rPr>
                                    <m:t>𝑦</m:t>
                                  </m:r>
                                </m:e>
                                <m:sup>
                                  <m:r>
                                    <a:rPr lang="en-GB" i="1" smtClean="0">
                                      <a:latin typeface="Cambria Math" panose="02040503050406030204" pitchFamily="18" charset="0"/>
                                      <a:cs typeface="Times New Roman" panose="02020603050405020304" pitchFamily="18" charset="0"/>
                                    </a:rPr>
                                    <m:t>𝑑</m:t>
                                  </m:r>
                                </m:sup>
                              </m:sSup>
                              <m:r>
                                <a:rPr lang="en-GB" b="0" i="1" smtClean="0">
                                  <a:latin typeface="Cambria Math" panose="02040503050406030204" pitchFamily="18" charset="0"/>
                                  <a:cs typeface="Times New Roman" panose="02020603050405020304" pitchFamily="18" charset="0"/>
                                </a:rPr>
                                <m:t>−</m:t>
                              </m:r>
                              <m:r>
                                <a:rPr lang="en-GB" i="1" smtClean="0">
                                  <a:latin typeface="Cambria Math" panose="02040503050406030204" pitchFamily="18" charset="0"/>
                                </a:rPr>
                                <m:t>𝑦</m:t>
                              </m:r>
                            </m:e>
                          </m:eqArr>
                        </m:e>
                      </m:d>
                    </m:oMath>
                  </m:oMathPara>
                </a14:m>
                <a:endParaRPr lang="en-GB" b="1" dirty="0"/>
              </a:p>
              <a:p>
                <a:pPr marL="0" indent="0">
                  <a:buNone/>
                </a:pPr>
                <a14:m>
                  <m:oMathPara xmlns:m="http://schemas.openxmlformats.org/officeDocument/2006/math">
                    <m:oMathParaPr>
                      <m:jc m:val="centerGroup"/>
                    </m:oMathParaPr>
                    <m:oMath xmlns:m="http://schemas.openxmlformats.org/officeDocument/2006/math">
                      <m:acc>
                        <m:accPr>
                          <m:chr m:val="̇"/>
                          <m:ctrlPr>
                            <a:rPr lang="en-GB" b="1" i="1">
                              <a:latin typeface="Cambria Math" panose="02040503050406030204" pitchFamily="18" charset="0"/>
                            </a:rPr>
                          </m:ctrlPr>
                        </m:accPr>
                        <m:e>
                          <m:r>
                            <a:rPr lang="en-GB" b="1">
                              <a:latin typeface="Cambria Math" panose="02040503050406030204" pitchFamily="18" charset="0"/>
                            </a:rPr>
                            <m:t>𝐱</m:t>
                          </m:r>
                        </m:e>
                      </m:acc>
                      <m:r>
                        <a:rPr lang="en-GB" b="0" i="1" smtClean="0">
                          <a:latin typeface="Cambria Math" panose="02040503050406030204" pitchFamily="18" charset="0"/>
                        </a:rPr>
                        <m:t>=</m:t>
                      </m:r>
                      <m:d>
                        <m:dPr>
                          <m:ctrlPr>
                            <a:rPr lang="en-GB" b="0" i="1" smtClean="0">
                              <a:latin typeface="Cambria Math" panose="02040503050406030204" pitchFamily="18" charset="0"/>
                            </a:rPr>
                          </m:ctrlPr>
                        </m:dPr>
                        <m:e>
                          <m:eqArr>
                            <m:eqArrPr>
                              <m:ctrlPr>
                                <a:rPr lang="en-GB" b="0" i="1" smtClean="0">
                                  <a:latin typeface="Cambria Math" panose="02040503050406030204" pitchFamily="18" charset="0"/>
                                </a:rPr>
                              </m:ctrlPr>
                            </m:eqArrPr>
                            <m:e>
                              <m:acc>
                                <m:accPr>
                                  <m:chr m:val="̇"/>
                                  <m:ctrlPr>
                                    <a:rPr lang="en-GB" b="1" i="1">
                                      <a:latin typeface="Cambria Math" panose="02040503050406030204" pitchFamily="18" charset="0"/>
                                    </a:rPr>
                                  </m:ctrlPr>
                                </m:accPr>
                                <m:e>
                                  <m:r>
                                    <a:rPr lang="fr-FR" b="0" i="1" smtClean="0">
                                      <a:latin typeface="Cambria Math" panose="02040503050406030204" pitchFamily="18" charset="0"/>
                                    </a:rPr>
                                    <m:t>𝑥</m:t>
                                  </m:r>
                                </m:e>
                              </m:acc>
                            </m:e>
                            <m:e>
                              <m:acc>
                                <m:accPr>
                                  <m:chr m:val="̇"/>
                                  <m:ctrlPr>
                                    <a:rPr lang="en-GB" b="1" i="1">
                                      <a:latin typeface="Cambria Math" panose="02040503050406030204" pitchFamily="18" charset="0"/>
                                    </a:rPr>
                                  </m:ctrlPr>
                                </m:accPr>
                                <m:e>
                                  <m:r>
                                    <a:rPr lang="fr-FR" b="0" i="1" smtClean="0">
                                      <a:latin typeface="Cambria Math" panose="02040503050406030204" pitchFamily="18" charset="0"/>
                                    </a:rPr>
                                    <m:t>𝑦</m:t>
                                  </m:r>
                                </m:e>
                              </m:acc>
                            </m:e>
                          </m:eqArr>
                        </m:e>
                      </m:d>
                    </m:oMath>
                  </m:oMathPara>
                </a14:m>
                <a:endParaRPr lang="en-GB" b="0" dirty="0"/>
              </a:p>
              <a:p>
                <a:pPr marL="0" indent="0">
                  <a:buNone/>
                </a:pPr>
                <a:r>
                  <a:rPr lang="en-GB" dirty="0"/>
                  <a:t>Link between</a:t>
                </a:r>
                <a:r>
                  <a:rPr lang="en-GB" dirty="0">
                    <a:solidFill>
                      <a:schemeClr val="tx1"/>
                    </a:solidFill>
                  </a:rPr>
                  <a:t> </a:t>
                </a:r>
                <a14:m>
                  <m:oMath xmlns:m="http://schemas.openxmlformats.org/officeDocument/2006/math">
                    <m:r>
                      <a:rPr lang="en-GB" b="1" i="0" smtClean="0">
                        <a:solidFill>
                          <a:schemeClr val="tx1"/>
                        </a:solidFill>
                        <a:latin typeface="Cambria Math" panose="02040503050406030204" pitchFamily="18" charset="0"/>
                      </a:rPr>
                      <m:t>𝐚</m:t>
                    </m:r>
                  </m:oMath>
                </a14:m>
                <a:r>
                  <a:rPr lang="en-GB" dirty="0">
                    <a:solidFill>
                      <a:schemeClr val="tx1"/>
                    </a:solidFill>
                  </a:rPr>
                  <a:t> and </a:t>
                </a:r>
                <a14:m>
                  <m:oMath xmlns:m="http://schemas.openxmlformats.org/officeDocument/2006/math">
                    <m:acc>
                      <m:accPr>
                        <m:chr m:val="̇"/>
                        <m:ctrlPr>
                          <a:rPr lang="en-GB" b="1" i="1">
                            <a:latin typeface="Cambria Math" panose="02040503050406030204" pitchFamily="18" charset="0"/>
                          </a:rPr>
                        </m:ctrlPr>
                      </m:accPr>
                      <m:e>
                        <m:r>
                          <a:rPr lang="en-GB" b="1">
                            <a:latin typeface="Cambria Math" panose="02040503050406030204" pitchFamily="18" charset="0"/>
                          </a:rPr>
                          <m:t>𝐱</m:t>
                        </m:r>
                      </m:e>
                    </m:acc>
                  </m:oMath>
                </a14:m>
                <a:r>
                  <a:rPr lang="en-GB" b="1" dirty="0">
                    <a:solidFill>
                      <a:schemeClr val="tx1"/>
                    </a:solidFill>
                  </a:rPr>
                  <a:t> ??</a:t>
                </a:r>
                <a:endParaRPr lang="en-GB" dirty="0"/>
              </a:p>
              <a:p>
                <a:pPr marL="0" indent="0">
                  <a:buNone/>
                </a:pPr>
                <a14:m>
                  <m:oMathPara xmlns:m="http://schemas.openxmlformats.org/officeDocument/2006/math">
                    <m:oMathParaPr>
                      <m:jc m:val="centerGroup"/>
                    </m:oMathParaPr>
                    <m:oMath xmlns:m="http://schemas.openxmlformats.org/officeDocument/2006/math">
                      <m:acc>
                        <m:accPr>
                          <m:chr m:val="̇"/>
                          <m:ctrlPr>
                            <a:rPr lang="en-GB" b="1" i="1">
                              <a:latin typeface="Cambria Math" panose="02040503050406030204" pitchFamily="18" charset="0"/>
                            </a:rPr>
                          </m:ctrlPr>
                        </m:accPr>
                        <m:e>
                          <m:r>
                            <a:rPr lang="en-GB" b="1">
                              <a:latin typeface="Cambria Math" panose="02040503050406030204" pitchFamily="18" charset="0"/>
                            </a:rPr>
                            <m:t>𝐱</m:t>
                          </m:r>
                        </m:e>
                      </m:acc>
                      <m:r>
                        <a:rPr lang="en-GB" b="0" i="0" smtClean="0">
                          <a:latin typeface="Cambria Math" panose="02040503050406030204" pitchFamily="18" charset="0"/>
                        </a:rPr>
                        <m:t>=</m:t>
                      </m:r>
                      <m:d>
                        <m:dPr>
                          <m:ctrlPr>
                            <a:rPr lang="en-GB" b="0" i="1" smtClean="0">
                              <a:latin typeface="Cambria Math" panose="02040503050406030204" pitchFamily="18" charset="0"/>
                            </a:rPr>
                          </m:ctrlPr>
                        </m:dPr>
                        <m:e>
                          <m:m>
                            <m:mPr>
                              <m:mcs>
                                <m:mc>
                                  <m:mcPr>
                                    <m:count m:val="2"/>
                                    <m:mcJc m:val="center"/>
                                  </m:mcPr>
                                </m:mc>
                              </m:mcs>
                              <m:ctrlPr>
                                <a:rPr lang="en-GB" b="0" i="1" smtClean="0">
                                  <a:latin typeface="Cambria Math" panose="02040503050406030204" pitchFamily="18" charset="0"/>
                                </a:rPr>
                              </m:ctrlPr>
                            </m:mPr>
                            <m:mr>
                              <m:e>
                                <m:f>
                                  <m:fPr>
                                    <m:ctrlPr>
                                      <a:rPr lang="en-GB" b="0" i="1" smtClean="0">
                                        <a:latin typeface="Cambria Math" panose="02040503050406030204" pitchFamily="18" charset="0"/>
                                      </a:rPr>
                                    </m:ctrlPr>
                                  </m:fPr>
                                  <m:num>
                                    <m:r>
                                      <a:rPr lang="en-GB" b="0" i="0" smtClean="0">
                                        <a:latin typeface="Cambria Math" panose="02040503050406030204" pitchFamily="18" charset="0"/>
                                      </a:rPr>
                                      <m:t>1</m:t>
                                    </m:r>
                                  </m:num>
                                  <m:den>
                                    <m:r>
                                      <m:rPr>
                                        <m:sty m:val="p"/>
                                      </m:rPr>
                                      <a:rPr lang="en-GB" b="0" i="0" smtClean="0">
                                        <a:latin typeface="Cambria Math" panose="02040503050406030204" pitchFamily="18" charset="0"/>
                                        <a:ea typeface="Cambria Math" panose="02040503050406030204" pitchFamily="18" charset="0"/>
                                      </a:rPr>
                                      <m:t>ΔT</m:t>
                                    </m:r>
                                  </m:den>
                                </m:f>
                              </m:e>
                              <m:e>
                                <m:r>
                                  <a:rPr lang="en-GB" b="0" i="0" smtClean="0">
                                    <a:latin typeface="Cambria Math" panose="02040503050406030204" pitchFamily="18" charset="0"/>
                                  </a:rPr>
                                  <m:t>0</m:t>
                                </m:r>
                              </m:e>
                            </m:mr>
                            <m:mr>
                              <m:e>
                                <m:r>
                                  <a:rPr lang="en-GB" b="0" i="0" smtClean="0">
                                    <a:latin typeface="Cambria Math" panose="02040503050406030204" pitchFamily="18" charset="0"/>
                                  </a:rPr>
                                  <m:t>0</m:t>
                                </m:r>
                              </m:e>
                              <m:e>
                                <m:f>
                                  <m:fPr>
                                    <m:ctrlPr>
                                      <a:rPr lang="en-GB" i="1" smtClean="0">
                                        <a:latin typeface="Cambria Math" panose="02040503050406030204" pitchFamily="18" charset="0"/>
                                      </a:rPr>
                                    </m:ctrlPr>
                                  </m:fPr>
                                  <m:num>
                                    <m:r>
                                      <a:rPr lang="en-GB" i="0" smtClean="0">
                                        <a:latin typeface="Cambria Math" panose="02040503050406030204" pitchFamily="18" charset="0"/>
                                      </a:rPr>
                                      <m:t>1</m:t>
                                    </m:r>
                                  </m:num>
                                  <m:den>
                                    <m:r>
                                      <m:rPr>
                                        <m:sty m:val="p"/>
                                      </m:rPr>
                                      <a:rPr lang="en-GB" i="0" smtClean="0">
                                        <a:latin typeface="Cambria Math" panose="02040503050406030204" pitchFamily="18" charset="0"/>
                                        <a:ea typeface="Cambria Math" panose="02040503050406030204" pitchFamily="18" charset="0"/>
                                      </a:rPr>
                                      <m:t>ΔT</m:t>
                                    </m:r>
                                  </m:den>
                                </m:f>
                              </m:e>
                            </m:mr>
                          </m:m>
                        </m:e>
                      </m:d>
                      <m:d>
                        <m:dPr>
                          <m:ctrlPr>
                            <a:rPr lang="en-GB" i="1" smtClean="0">
                              <a:solidFill>
                                <a:srgbClr val="FF0000"/>
                              </a:solidFill>
                              <a:latin typeface="Cambria Math" panose="02040503050406030204" pitchFamily="18" charset="0"/>
                            </a:rPr>
                          </m:ctrlPr>
                        </m:dPr>
                        <m:e>
                          <m:eqArr>
                            <m:eqArrPr>
                              <m:ctrlPr>
                                <a:rPr lang="en-GB" i="1" smtClean="0">
                                  <a:solidFill>
                                    <a:srgbClr val="FF0000"/>
                                  </a:solidFill>
                                  <a:latin typeface="Cambria Math" panose="02040503050406030204" pitchFamily="18" charset="0"/>
                                </a:rPr>
                              </m:ctrlPr>
                            </m:eqArrPr>
                            <m:e>
                              <m:sSup>
                                <m:sSupPr>
                                  <m:ctrlPr>
                                    <a:rPr lang="en-GB" i="1" smtClean="0">
                                      <a:solidFill>
                                        <a:srgbClr val="FF0000"/>
                                      </a:solidFill>
                                      <a:latin typeface="Cambria Math" panose="02040503050406030204" pitchFamily="18" charset="0"/>
                                      <a:cs typeface="Times New Roman" panose="02020603050405020304" pitchFamily="18" charset="0"/>
                                    </a:rPr>
                                  </m:ctrlPr>
                                </m:sSupPr>
                                <m:e>
                                  <m:r>
                                    <a:rPr lang="en-GB" i="1" smtClean="0">
                                      <a:solidFill>
                                        <a:srgbClr val="FF0000"/>
                                      </a:solidFill>
                                      <a:latin typeface="Cambria Math" panose="02040503050406030204" pitchFamily="18" charset="0"/>
                                      <a:cs typeface="Times New Roman" panose="02020603050405020304" pitchFamily="18" charset="0"/>
                                    </a:rPr>
                                    <m:t>𝑥</m:t>
                                  </m:r>
                                </m:e>
                                <m:sup>
                                  <m:r>
                                    <a:rPr lang="en-GB" i="1" smtClean="0">
                                      <a:solidFill>
                                        <a:srgbClr val="FF0000"/>
                                      </a:solidFill>
                                      <a:latin typeface="Cambria Math" panose="02040503050406030204" pitchFamily="18" charset="0"/>
                                      <a:cs typeface="Times New Roman" panose="02020603050405020304" pitchFamily="18" charset="0"/>
                                    </a:rPr>
                                    <m:t>𝑑</m:t>
                                  </m:r>
                                </m:sup>
                              </m:sSup>
                              <m:r>
                                <a:rPr lang="en-GB" i="1" smtClean="0">
                                  <a:solidFill>
                                    <a:srgbClr val="FF0000"/>
                                  </a:solidFill>
                                  <a:latin typeface="Cambria Math" panose="02040503050406030204" pitchFamily="18" charset="0"/>
                                  <a:cs typeface="Times New Roman" panose="02020603050405020304" pitchFamily="18" charset="0"/>
                                </a:rPr>
                                <m:t>−</m:t>
                              </m:r>
                              <m:r>
                                <a:rPr lang="en-GB" i="1" smtClean="0">
                                  <a:solidFill>
                                    <a:srgbClr val="FF0000"/>
                                  </a:solidFill>
                                  <a:latin typeface="Cambria Math" panose="02040503050406030204" pitchFamily="18" charset="0"/>
                                </a:rPr>
                                <m:t>𝑥</m:t>
                              </m:r>
                            </m:e>
                            <m:e>
                              <m:sSup>
                                <m:sSupPr>
                                  <m:ctrlPr>
                                    <a:rPr lang="en-GB" i="1" smtClean="0">
                                      <a:solidFill>
                                        <a:srgbClr val="FF0000"/>
                                      </a:solidFill>
                                      <a:latin typeface="Cambria Math" panose="02040503050406030204" pitchFamily="18" charset="0"/>
                                      <a:cs typeface="Times New Roman" panose="02020603050405020304" pitchFamily="18" charset="0"/>
                                    </a:rPr>
                                  </m:ctrlPr>
                                </m:sSupPr>
                                <m:e>
                                  <m:r>
                                    <a:rPr lang="en-GB" i="1" smtClean="0">
                                      <a:solidFill>
                                        <a:srgbClr val="FF0000"/>
                                      </a:solidFill>
                                      <a:latin typeface="Cambria Math" panose="02040503050406030204" pitchFamily="18" charset="0"/>
                                      <a:cs typeface="Times New Roman" panose="02020603050405020304" pitchFamily="18" charset="0"/>
                                    </a:rPr>
                                    <m:t>𝑦</m:t>
                                  </m:r>
                                </m:e>
                                <m:sup>
                                  <m:r>
                                    <a:rPr lang="en-GB" i="1" smtClean="0">
                                      <a:solidFill>
                                        <a:srgbClr val="FF0000"/>
                                      </a:solidFill>
                                      <a:latin typeface="Cambria Math" panose="02040503050406030204" pitchFamily="18" charset="0"/>
                                      <a:cs typeface="Times New Roman" panose="02020603050405020304" pitchFamily="18" charset="0"/>
                                    </a:rPr>
                                    <m:t>𝑑</m:t>
                                  </m:r>
                                </m:sup>
                              </m:sSup>
                              <m:r>
                                <a:rPr lang="en-GB" i="1" smtClean="0">
                                  <a:solidFill>
                                    <a:srgbClr val="FF0000"/>
                                  </a:solidFill>
                                  <a:latin typeface="Cambria Math" panose="02040503050406030204" pitchFamily="18" charset="0"/>
                                  <a:cs typeface="Times New Roman" panose="02020603050405020304" pitchFamily="18" charset="0"/>
                                </a:rPr>
                                <m:t>−</m:t>
                              </m:r>
                              <m:r>
                                <a:rPr lang="en-GB" i="1" smtClean="0">
                                  <a:solidFill>
                                    <a:srgbClr val="FF0000"/>
                                  </a:solidFill>
                                  <a:latin typeface="Cambria Math" panose="02040503050406030204" pitchFamily="18" charset="0"/>
                                </a:rPr>
                                <m:t>𝑦</m:t>
                              </m:r>
                            </m:e>
                          </m:eqArr>
                        </m:e>
                      </m:d>
                      <m:r>
                        <a:rPr lang="en-GB" b="1" i="0" smtClean="0">
                          <a:latin typeface="Cambria Math" panose="02040503050406030204" pitchFamily="18" charset="0"/>
                        </a:rPr>
                        <m:t>=</m:t>
                      </m:r>
                      <m:d>
                        <m:dPr>
                          <m:ctrlPr>
                            <a:rPr lang="en-GB" b="1" i="1" smtClean="0">
                              <a:latin typeface="Cambria Math" panose="02040503050406030204" pitchFamily="18" charset="0"/>
                            </a:rPr>
                          </m:ctrlPr>
                        </m:dPr>
                        <m:e>
                          <m:eqArr>
                            <m:eqArrPr>
                              <m:ctrlPr>
                                <a:rPr lang="en-GB" b="1" i="1" smtClean="0">
                                  <a:latin typeface="Cambria Math" panose="02040503050406030204" pitchFamily="18" charset="0"/>
                                </a:rPr>
                              </m:ctrlPr>
                            </m:eqArrPr>
                            <m:e>
                              <m:f>
                                <m:fPr>
                                  <m:ctrlPr>
                                    <a:rPr lang="en-GB" b="1" i="1" smtClean="0">
                                      <a:latin typeface="Cambria Math" panose="02040503050406030204" pitchFamily="18" charset="0"/>
                                    </a:rPr>
                                  </m:ctrlPr>
                                </m:fPr>
                                <m:num>
                                  <m:sSup>
                                    <m:sSupPr>
                                      <m:ctrlPr>
                                        <a:rPr lang="en-GB" i="1" smtClean="0">
                                          <a:latin typeface="Cambria Math" panose="02040503050406030204" pitchFamily="18" charset="0"/>
                                          <a:cs typeface="Times New Roman" panose="02020603050405020304" pitchFamily="18" charset="0"/>
                                        </a:rPr>
                                      </m:ctrlPr>
                                    </m:sSupPr>
                                    <m:e>
                                      <m:r>
                                        <a:rPr lang="en-GB" i="1" smtClean="0">
                                          <a:latin typeface="Cambria Math" panose="02040503050406030204" pitchFamily="18" charset="0"/>
                                          <a:cs typeface="Times New Roman" panose="02020603050405020304" pitchFamily="18" charset="0"/>
                                        </a:rPr>
                                        <m:t>𝑥</m:t>
                                      </m:r>
                                    </m:e>
                                    <m:sup>
                                      <m:r>
                                        <a:rPr lang="en-GB" i="1" smtClean="0">
                                          <a:latin typeface="Cambria Math" panose="02040503050406030204" pitchFamily="18" charset="0"/>
                                          <a:cs typeface="Times New Roman" panose="02020603050405020304" pitchFamily="18" charset="0"/>
                                        </a:rPr>
                                        <m:t>𝑑</m:t>
                                      </m:r>
                                    </m:sup>
                                  </m:sSup>
                                  <m:r>
                                    <a:rPr lang="en-GB" i="1" smtClean="0">
                                      <a:latin typeface="Cambria Math" panose="02040503050406030204" pitchFamily="18" charset="0"/>
                                      <a:cs typeface="Times New Roman" panose="02020603050405020304" pitchFamily="18" charset="0"/>
                                    </a:rPr>
                                    <m:t>−</m:t>
                                  </m:r>
                                  <m:r>
                                    <a:rPr lang="en-GB" i="1" smtClean="0">
                                      <a:latin typeface="Cambria Math" panose="02040503050406030204" pitchFamily="18" charset="0"/>
                                    </a:rPr>
                                    <m:t>𝑥</m:t>
                                  </m:r>
                                </m:num>
                                <m:den>
                                  <m:r>
                                    <m:rPr>
                                      <m:sty m:val="p"/>
                                    </m:rPr>
                                    <a:rPr lang="en-GB" smtClean="0">
                                      <a:latin typeface="Cambria Math" panose="02040503050406030204" pitchFamily="18" charset="0"/>
                                      <a:ea typeface="Cambria Math" panose="02040503050406030204" pitchFamily="18" charset="0"/>
                                    </a:rPr>
                                    <m:t>ΔT</m:t>
                                  </m:r>
                                </m:den>
                              </m:f>
                            </m:e>
                            <m:e>
                              <m:f>
                                <m:fPr>
                                  <m:ctrlPr>
                                    <a:rPr lang="en-GB" i="1" smtClean="0">
                                      <a:latin typeface="Cambria Math" panose="02040503050406030204" pitchFamily="18" charset="0"/>
                                    </a:rPr>
                                  </m:ctrlPr>
                                </m:fPr>
                                <m:num>
                                  <m:sSup>
                                    <m:sSupPr>
                                      <m:ctrlPr>
                                        <a:rPr lang="en-GB" i="1" smtClean="0">
                                          <a:latin typeface="Cambria Math" panose="02040503050406030204" pitchFamily="18" charset="0"/>
                                          <a:cs typeface="Times New Roman" panose="02020603050405020304" pitchFamily="18" charset="0"/>
                                        </a:rPr>
                                      </m:ctrlPr>
                                    </m:sSupPr>
                                    <m:e>
                                      <m:r>
                                        <a:rPr lang="en-GB" i="1" smtClean="0">
                                          <a:latin typeface="Cambria Math" panose="02040503050406030204" pitchFamily="18" charset="0"/>
                                          <a:cs typeface="Times New Roman" panose="02020603050405020304" pitchFamily="18" charset="0"/>
                                        </a:rPr>
                                        <m:t>𝑦</m:t>
                                      </m:r>
                                    </m:e>
                                    <m:sup>
                                      <m:r>
                                        <a:rPr lang="en-GB" i="1" smtClean="0">
                                          <a:latin typeface="Cambria Math" panose="02040503050406030204" pitchFamily="18" charset="0"/>
                                          <a:cs typeface="Times New Roman" panose="02020603050405020304" pitchFamily="18" charset="0"/>
                                        </a:rPr>
                                        <m:t>𝑑</m:t>
                                      </m:r>
                                    </m:sup>
                                  </m:sSup>
                                  <m:r>
                                    <a:rPr lang="en-GB" i="1" smtClean="0">
                                      <a:latin typeface="Cambria Math" panose="02040503050406030204" pitchFamily="18" charset="0"/>
                                      <a:cs typeface="Times New Roman" panose="02020603050405020304" pitchFamily="18" charset="0"/>
                                    </a:rPr>
                                    <m:t>−</m:t>
                                  </m:r>
                                  <m:r>
                                    <a:rPr lang="en-GB" i="1" smtClean="0">
                                      <a:latin typeface="Cambria Math" panose="02040503050406030204" pitchFamily="18" charset="0"/>
                                    </a:rPr>
                                    <m:t>𝑦</m:t>
                                  </m:r>
                                </m:num>
                                <m:den>
                                  <m:r>
                                    <m:rPr>
                                      <m:sty m:val="p"/>
                                    </m:rPr>
                                    <a:rPr lang="en-GB" smtClean="0">
                                      <a:latin typeface="Cambria Math" panose="02040503050406030204" pitchFamily="18" charset="0"/>
                                      <a:ea typeface="Cambria Math" panose="02040503050406030204" pitchFamily="18" charset="0"/>
                                    </a:rPr>
                                    <m:t>ΔT</m:t>
                                  </m:r>
                                </m:den>
                              </m:f>
                            </m:e>
                          </m:eqArr>
                        </m:e>
                      </m:d>
                    </m:oMath>
                  </m:oMathPara>
                </a14:m>
                <a:endParaRPr lang="en-GB" b="1" dirty="0"/>
              </a:p>
              <a:p>
                <a:pPr marL="0" indent="0">
                  <a:buNone/>
                </a:pPr>
                <a:endParaRPr lang="en-GB" b="1" dirty="0"/>
              </a:p>
            </p:txBody>
          </p:sp>
        </mc:Choice>
        <mc:Fallback xmlns="">
          <p:sp>
            <p:nvSpPr>
              <p:cNvPr id="2" name="Espace réservé du contenu 1">
                <a:extLst>
                  <a:ext uri="{FF2B5EF4-FFF2-40B4-BE49-F238E27FC236}">
                    <a16:creationId xmlns:a16="http://schemas.microsoft.com/office/drawing/2014/main" id="{4D9532DC-F9A1-DF41-A150-7C461F494E43}"/>
                  </a:ext>
                </a:extLst>
              </p:cNvPr>
              <p:cNvSpPr>
                <a:spLocks noGrp="1" noRot="1" noChangeAspect="1" noMove="1" noResize="1" noEditPoints="1" noAdjustHandles="1" noChangeArrowheads="1" noChangeShapeType="1" noTextEdit="1"/>
              </p:cNvSpPr>
              <p:nvPr>
                <p:ph sz="quarter" idx="1"/>
              </p:nvPr>
            </p:nvSpPr>
            <p:spPr>
              <a:blipFill>
                <a:blip r:embed="rId2"/>
                <a:stretch>
                  <a:fillRect l="-608"/>
                </a:stretch>
              </a:blipFill>
            </p:spPr>
            <p:txBody>
              <a:bodyPr/>
              <a:lstStyle/>
              <a:p>
                <a:r>
                  <a:rPr lang="fr-FR">
                    <a:noFill/>
                  </a:rPr>
                  <a:t> </a:t>
                </a:r>
              </a:p>
            </p:txBody>
          </p:sp>
        </mc:Fallback>
      </mc:AlternateContent>
      <p:sp>
        <p:nvSpPr>
          <p:cNvPr id="3" name="Titre 2">
            <a:extLst>
              <a:ext uri="{FF2B5EF4-FFF2-40B4-BE49-F238E27FC236}">
                <a16:creationId xmlns:a16="http://schemas.microsoft.com/office/drawing/2014/main" id="{0D0B5EE2-BCC3-E844-8E7C-9BB5D1795E53}"/>
              </a:ext>
            </a:extLst>
          </p:cNvPr>
          <p:cNvSpPr>
            <a:spLocks noGrp="1"/>
          </p:cNvSpPr>
          <p:nvPr>
            <p:ph type="title"/>
          </p:nvPr>
        </p:nvSpPr>
        <p:spPr/>
        <p:txBody>
          <a:bodyPr/>
          <a:lstStyle/>
          <a:p>
            <a:r>
              <a:rPr lang="en-GB" dirty="0"/>
              <a:t>Position control</a:t>
            </a:r>
            <a:endParaRPr lang="fr-FR" dirty="0"/>
          </a:p>
        </p:txBody>
      </p:sp>
      <p:grpSp>
        <p:nvGrpSpPr>
          <p:cNvPr id="29" name="Groupe 28">
            <a:extLst>
              <a:ext uri="{FF2B5EF4-FFF2-40B4-BE49-F238E27FC236}">
                <a16:creationId xmlns:a16="http://schemas.microsoft.com/office/drawing/2014/main" id="{039F36A5-3656-8D43-A7A9-24425450C317}"/>
              </a:ext>
            </a:extLst>
          </p:cNvPr>
          <p:cNvGrpSpPr/>
          <p:nvPr/>
        </p:nvGrpSpPr>
        <p:grpSpPr>
          <a:xfrm>
            <a:off x="42732" y="1144928"/>
            <a:ext cx="9003866" cy="2571881"/>
            <a:chOff x="42732" y="1144928"/>
            <a:chExt cx="9003866" cy="2571881"/>
          </a:xfrm>
        </p:grpSpPr>
        <p:grpSp>
          <p:nvGrpSpPr>
            <p:cNvPr id="4" name="Groupe 3">
              <a:extLst>
                <a:ext uri="{FF2B5EF4-FFF2-40B4-BE49-F238E27FC236}">
                  <a16:creationId xmlns:a16="http://schemas.microsoft.com/office/drawing/2014/main" id="{9E49E764-9275-3C46-B464-DCE79A751FD8}"/>
                </a:ext>
              </a:extLst>
            </p:cNvPr>
            <p:cNvGrpSpPr/>
            <p:nvPr/>
          </p:nvGrpSpPr>
          <p:grpSpPr>
            <a:xfrm>
              <a:off x="42732" y="1144928"/>
              <a:ext cx="9003866" cy="2571881"/>
              <a:chOff x="40203" y="3902071"/>
              <a:chExt cx="9003866" cy="2571881"/>
            </a:xfrm>
          </p:grpSpPr>
          <p:grpSp>
            <p:nvGrpSpPr>
              <p:cNvPr id="5" name="Groupe 4">
                <a:extLst>
                  <a:ext uri="{FF2B5EF4-FFF2-40B4-BE49-F238E27FC236}">
                    <a16:creationId xmlns:a16="http://schemas.microsoft.com/office/drawing/2014/main" id="{25E2EBE1-FFAE-3A46-9D5F-7A35B129CE8A}"/>
                  </a:ext>
                </a:extLst>
              </p:cNvPr>
              <p:cNvGrpSpPr/>
              <p:nvPr/>
            </p:nvGrpSpPr>
            <p:grpSpPr>
              <a:xfrm>
                <a:off x="40203" y="3902071"/>
                <a:ext cx="9003866" cy="2571881"/>
                <a:chOff x="40203" y="3902071"/>
                <a:chExt cx="9003866" cy="2571881"/>
              </a:xfrm>
            </p:grpSpPr>
            <p:sp>
              <p:nvSpPr>
                <p:cNvPr id="8" name="Rectangle 7">
                  <a:extLst>
                    <a:ext uri="{FF2B5EF4-FFF2-40B4-BE49-F238E27FC236}">
                      <a16:creationId xmlns:a16="http://schemas.microsoft.com/office/drawing/2014/main" id="{2240D008-2EAA-364F-A697-A08C7CC47748}"/>
                    </a:ext>
                  </a:extLst>
                </p:cNvPr>
                <p:cNvSpPr/>
                <p:nvPr/>
              </p:nvSpPr>
              <p:spPr>
                <a:xfrm>
                  <a:off x="6573833" y="4243115"/>
                  <a:ext cx="1015022" cy="5133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1400" dirty="0">
                      <a:solidFill>
                        <a:srgbClr val="000000"/>
                      </a:solidFill>
                      <a:effectLst/>
                      <a:ea typeface="Calibri" panose="020F0502020204030204" pitchFamily="34" charset="0"/>
                      <a:cs typeface="Times New Roman" panose="02020603050405020304" pitchFamily="18" charset="0"/>
                    </a:rPr>
                    <a:t>motors</a:t>
                  </a:r>
                  <a:endParaRPr lang="en-GB" sz="1400" dirty="0">
                    <a:effectLst/>
                    <a:ea typeface="Calibri" panose="020F0502020204030204" pitchFamily="34" charset="0"/>
                    <a:cs typeface="Times New Roman" panose="02020603050405020304" pitchFamily="18" charset="0"/>
                  </a:endParaRPr>
                </a:p>
              </p:txBody>
            </p:sp>
            <p:cxnSp>
              <p:nvCxnSpPr>
                <p:cNvPr id="9" name="Connecteur droit avec flèche 8">
                  <a:extLst>
                    <a:ext uri="{FF2B5EF4-FFF2-40B4-BE49-F238E27FC236}">
                      <a16:creationId xmlns:a16="http://schemas.microsoft.com/office/drawing/2014/main" id="{A625FAF6-1AAB-3A48-A030-1DA38472F506}"/>
                    </a:ext>
                  </a:extLst>
                </p:cNvPr>
                <p:cNvCxnSpPr>
                  <a:cxnSpLocks/>
                </p:cNvCxnSpPr>
                <p:nvPr/>
              </p:nvCxnSpPr>
              <p:spPr>
                <a:xfrm flipV="1">
                  <a:off x="5698621" y="4493473"/>
                  <a:ext cx="875211" cy="632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eur droit avec flèche 9">
                  <a:extLst>
                    <a:ext uri="{FF2B5EF4-FFF2-40B4-BE49-F238E27FC236}">
                      <a16:creationId xmlns:a16="http://schemas.microsoft.com/office/drawing/2014/main" id="{208BA9F8-6021-7846-B5D1-049356451192}"/>
                    </a:ext>
                  </a:extLst>
                </p:cNvPr>
                <p:cNvCxnSpPr>
                  <a:cxnSpLocks/>
                </p:cNvCxnSpPr>
                <p:nvPr/>
              </p:nvCxnSpPr>
              <p:spPr>
                <a:xfrm flipV="1">
                  <a:off x="7621138" y="4503374"/>
                  <a:ext cx="972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ZoneTexte 10">
                      <a:extLst>
                        <a:ext uri="{FF2B5EF4-FFF2-40B4-BE49-F238E27FC236}">
                          <a16:creationId xmlns:a16="http://schemas.microsoft.com/office/drawing/2014/main" id="{5A4A462F-FEBE-8443-B746-E41E85A429DE}"/>
                        </a:ext>
                      </a:extLst>
                    </p:cNvPr>
                    <p:cNvSpPr txBox="1"/>
                    <p:nvPr/>
                  </p:nvSpPr>
                  <p:spPr>
                    <a:xfrm>
                      <a:off x="5782853" y="4151770"/>
                      <a:ext cx="601289" cy="31757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400" b="0" i="1" smtClean="0">
                                    <a:latin typeface="Cambria Math" panose="02040503050406030204" pitchFamily="18" charset="0"/>
                                  </a:rPr>
                                </m:ctrlPr>
                              </m:sSupPr>
                              <m:e>
                                <m:acc>
                                  <m:accPr>
                                    <m:chr m:val="̇"/>
                                    <m:ctrlPr>
                                      <a:rPr lang="fr-FR" sz="1400" b="0" i="1" smtClean="0">
                                        <a:latin typeface="Cambria Math" panose="02040503050406030204" pitchFamily="18" charset="0"/>
                                      </a:rPr>
                                    </m:ctrlPr>
                                  </m:accPr>
                                  <m:e>
                                    <m:r>
                                      <a:rPr lang="fr-FR" sz="1400" b="1" i="0" smtClean="0">
                                        <a:latin typeface="Cambria Math" panose="02040503050406030204" pitchFamily="18" charset="0"/>
                                      </a:rPr>
                                      <m:t>𝐪</m:t>
                                    </m:r>
                                  </m:e>
                                </m:acc>
                              </m:e>
                              <m:sup>
                                <m:r>
                                  <a:rPr lang="fr-FR" sz="1400" b="0" i="1" smtClean="0">
                                    <a:latin typeface="Cambria Math" panose="02040503050406030204" pitchFamily="18" charset="0"/>
                                  </a:rPr>
                                  <m:t>𝑑</m:t>
                                </m:r>
                              </m:sup>
                            </m:sSup>
                          </m:oMath>
                        </m:oMathPara>
                      </a14:m>
                      <a:endParaRPr lang="fr-FR" sz="1400" dirty="0"/>
                    </a:p>
                  </p:txBody>
                </p:sp>
              </mc:Choice>
              <mc:Fallback xmlns="">
                <p:sp>
                  <p:nvSpPr>
                    <p:cNvPr id="11" name="ZoneTexte 10">
                      <a:extLst>
                        <a:ext uri="{FF2B5EF4-FFF2-40B4-BE49-F238E27FC236}">
                          <a16:creationId xmlns:a16="http://schemas.microsoft.com/office/drawing/2014/main" id="{5A4A462F-FEBE-8443-B746-E41E85A429DE}"/>
                        </a:ext>
                      </a:extLst>
                    </p:cNvPr>
                    <p:cNvSpPr txBox="1">
                      <a:spLocks noRot="1" noChangeAspect="1" noMove="1" noResize="1" noEditPoints="1" noAdjustHandles="1" noChangeArrowheads="1" noChangeShapeType="1" noTextEdit="1"/>
                    </p:cNvSpPr>
                    <p:nvPr/>
                  </p:nvSpPr>
                  <p:spPr>
                    <a:xfrm>
                      <a:off x="5782853" y="4151770"/>
                      <a:ext cx="601289" cy="317578"/>
                    </a:xfrm>
                    <a:prstGeom prst="rect">
                      <a:avLst/>
                    </a:prstGeom>
                    <a:blipFill>
                      <a:blip r:embed="rId3"/>
                      <a:stretch>
                        <a:fillRect/>
                      </a:stretch>
                    </a:blipFill>
                  </p:spPr>
                  <p:txBody>
                    <a:bodyPr/>
                    <a:lstStyle/>
                    <a:p>
                      <a:r>
                        <a:rPr lang="fr-FR">
                          <a:noFill/>
                        </a:rPr>
                        <a:t> </a:t>
                      </a:r>
                    </a:p>
                  </p:txBody>
                </p:sp>
              </mc:Fallback>
            </mc:AlternateContent>
            <mc:AlternateContent xmlns:mc="http://schemas.openxmlformats.org/markup-compatibility/2006">
              <mc:Choice xmlns:a14="http://schemas.microsoft.com/office/drawing/2010/main" Requires="a14">
                <p:sp>
                  <p:nvSpPr>
                    <p:cNvPr id="12" name="ZoneTexte 11">
                      <a:extLst>
                        <a:ext uri="{FF2B5EF4-FFF2-40B4-BE49-F238E27FC236}">
                          <a16:creationId xmlns:a16="http://schemas.microsoft.com/office/drawing/2014/main" id="{91CB5DA9-2C28-1045-B0BC-A47201D56F9E}"/>
                        </a:ext>
                      </a:extLst>
                    </p:cNvPr>
                    <p:cNvSpPr txBox="1"/>
                    <p:nvPr/>
                  </p:nvSpPr>
                  <p:spPr>
                    <a:xfrm>
                      <a:off x="7595903" y="3916761"/>
                      <a:ext cx="1448166" cy="5525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1" i="0" smtClean="0">
                                <a:latin typeface="Cambria Math" panose="02040503050406030204" pitchFamily="18" charset="0"/>
                              </a:rPr>
                              <m:t>𝐪</m:t>
                            </m:r>
                            <m:r>
                              <a:rPr lang="fr-FR" sz="1600" b="0" i="1" smtClean="0">
                                <a:latin typeface="Cambria Math" panose="02040503050406030204" pitchFamily="18" charset="0"/>
                              </a:rPr>
                              <m:t>=</m:t>
                            </m:r>
                            <m:d>
                              <m:dPr>
                                <m:ctrlPr>
                                  <a:rPr lang="fr-FR" sz="1600" b="0" i="1" smtClean="0">
                                    <a:latin typeface="Cambria Math" panose="02040503050406030204" pitchFamily="18" charset="0"/>
                                  </a:rPr>
                                </m:ctrlPr>
                              </m:dPr>
                              <m:e>
                                <m:eqArr>
                                  <m:eqArrPr>
                                    <m:ctrlPr>
                                      <a:rPr lang="fr-FR" sz="1600" b="0" i="1" smtClean="0">
                                        <a:latin typeface="Cambria Math" panose="02040503050406030204" pitchFamily="18" charset="0"/>
                                      </a:rPr>
                                    </m:ctrlPr>
                                  </m:eqArrPr>
                                  <m:e>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𝜃</m:t>
                                        </m:r>
                                      </m:e>
                                      <m:sub>
                                        <m:r>
                                          <a:rPr lang="fr-FR" sz="1600" b="0" i="1" smtClean="0">
                                            <a:latin typeface="Cambria Math" panose="02040503050406030204" pitchFamily="18" charset="0"/>
                                          </a:rPr>
                                          <m:t>1</m:t>
                                        </m:r>
                                      </m:sub>
                                    </m:sSub>
                                  </m:e>
                                  <m:e>
                                    <m:sSub>
                                      <m:sSubPr>
                                        <m:ctrlPr>
                                          <a:rPr lang="fr-FR" sz="1600" i="1" smtClean="0">
                                            <a:latin typeface="Cambria Math" panose="02040503050406030204" pitchFamily="18" charset="0"/>
                                          </a:rPr>
                                        </m:ctrlPr>
                                      </m:sSubPr>
                                      <m:e>
                                        <m:r>
                                          <a:rPr lang="fr-FR" sz="1600" i="1" smtClean="0">
                                            <a:latin typeface="Cambria Math" panose="02040503050406030204" pitchFamily="18" charset="0"/>
                                            <a:ea typeface="Cambria Math" panose="02040503050406030204" pitchFamily="18" charset="0"/>
                                          </a:rPr>
                                          <m:t>𝜃</m:t>
                                        </m:r>
                                      </m:e>
                                      <m:sub>
                                        <m:r>
                                          <a:rPr lang="fr-FR" sz="1600" b="0" i="1" smtClean="0">
                                            <a:latin typeface="Cambria Math" panose="02040503050406030204" pitchFamily="18" charset="0"/>
                                          </a:rPr>
                                          <m:t>2</m:t>
                                        </m:r>
                                      </m:sub>
                                    </m:sSub>
                                  </m:e>
                                </m:eqArr>
                              </m:e>
                            </m:d>
                          </m:oMath>
                        </m:oMathPara>
                      </a14:m>
                      <a:endParaRPr lang="fr-FR" sz="1600" dirty="0"/>
                    </a:p>
                  </p:txBody>
                </p:sp>
              </mc:Choice>
              <mc:Fallback>
                <p:sp>
                  <p:nvSpPr>
                    <p:cNvPr id="12" name="ZoneTexte 11">
                      <a:extLst>
                        <a:ext uri="{FF2B5EF4-FFF2-40B4-BE49-F238E27FC236}">
                          <a16:creationId xmlns:a16="http://schemas.microsoft.com/office/drawing/2014/main" id="{91CB5DA9-2C28-1045-B0BC-A47201D56F9E}"/>
                        </a:ext>
                      </a:extLst>
                    </p:cNvPr>
                    <p:cNvSpPr txBox="1">
                      <a:spLocks noRot="1" noChangeAspect="1" noMove="1" noResize="1" noEditPoints="1" noAdjustHandles="1" noChangeArrowheads="1" noChangeShapeType="1" noTextEdit="1"/>
                    </p:cNvSpPr>
                    <p:nvPr/>
                  </p:nvSpPr>
                  <p:spPr>
                    <a:xfrm>
                      <a:off x="7595903" y="3916761"/>
                      <a:ext cx="1448166" cy="552587"/>
                    </a:xfrm>
                    <a:prstGeom prst="rect">
                      <a:avLst/>
                    </a:prstGeom>
                    <a:blipFill>
                      <a:blip r:embed="rId4"/>
                      <a:stretch>
                        <a:fillRect b="-2273"/>
                      </a:stretch>
                    </a:blipFill>
                  </p:spPr>
                  <p:txBody>
                    <a:bodyPr/>
                    <a:lstStyle/>
                    <a:p>
                      <a:r>
                        <a:rPr lang="en-FR">
                          <a:noFill/>
                        </a:rPr>
                        <a:t> </a:t>
                      </a:r>
                    </a:p>
                  </p:txBody>
                </p:sp>
              </mc:Fallback>
            </mc:AlternateContent>
            <p:cxnSp>
              <p:nvCxnSpPr>
                <p:cNvPr id="13" name="Connecteur droit avec flèche 12">
                  <a:extLst>
                    <a:ext uri="{FF2B5EF4-FFF2-40B4-BE49-F238E27FC236}">
                      <a16:creationId xmlns:a16="http://schemas.microsoft.com/office/drawing/2014/main" id="{CA44464F-128A-7648-840C-B55ED3B25138}"/>
                    </a:ext>
                  </a:extLst>
                </p:cNvPr>
                <p:cNvCxnSpPr/>
                <p:nvPr/>
              </p:nvCxnSpPr>
              <p:spPr>
                <a:xfrm>
                  <a:off x="3506924" y="4533821"/>
                  <a:ext cx="972000"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4" name="Ellipse 13">
                  <a:extLst>
                    <a:ext uri="{FF2B5EF4-FFF2-40B4-BE49-F238E27FC236}">
                      <a16:creationId xmlns:a16="http://schemas.microsoft.com/office/drawing/2014/main" id="{0B843EE0-E12B-5340-8D56-4D0AAD7F60FE}"/>
                    </a:ext>
                  </a:extLst>
                </p:cNvPr>
                <p:cNvSpPr/>
                <p:nvPr/>
              </p:nvSpPr>
              <p:spPr>
                <a:xfrm>
                  <a:off x="1176233" y="4382511"/>
                  <a:ext cx="280936" cy="28077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F2E4DA12-CAD7-F049-BBBA-841FC26B9CA5}"/>
                        </a:ext>
                      </a:extLst>
                    </p:cNvPr>
                    <p:cNvSpPr/>
                    <p:nvPr/>
                  </p:nvSpPr>
                  <p:spPr>
                    <a:xfrm>
                      <a:off x="2135325" y="4112485"/>
                      <a:ext cx="1362068" cy="83878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fr-FR" sz="1100" i="1" smtClean="0">
                                    <a:solidFill>
                                      <a:schemeClr val="tx1"/>
                                    </a:solidFill>
                                    <a:latin typeface="Cambria Math" panose="02040503050406030204" pitchFamily="18" charset="0"/>
                                  </a:rPr>
                                </m:ctrlPr>
                              </m:sSubPr>
                              <m:e>
                                <m:r>
                                  <a:rPr lang="fr-FR" sz="1100" b="0" i="1" smtClean="0">
                                    <a:solidFill>
                                      <a:schemeClr val="tx1"/>
                                    </a:solidFill>
                                    <a:latin typeface="Cambria Math" panose="02040503050406030204" pitchFamily="18" charset="0"/>
                                  </a:rPr>
                                  <m:t>𝐾</m:t>
                                </m:r>
                              </m:e>
                              <m:sub>
                                <m:r>
                                  <a:rPr lang="fr-FR" sz="1100" b="0" i="1" smtClean="0">
                                    <a:solidFill>
                                      <a:schemeClr val="tx1"/>
                                    </a:solidFill>
                                    <a:latin typeface="Cambria Math" panose="02040503050406030204" pitchFamily="18" charset="0"/>
                                  </a:rPr>
                                  <m:t>𝑝</m:t>
                                </m:r>
                              </m:sub>
                            </m:sSub>
                            <m:r>
                              <a:rPr lang="fr-FR" sz="1100" b="0" i="1" smtClean="0">
                                <a:solidFill>
                                  <a:schemeClr val="tx1"/>
                                </a:solidFill>
                                <a:latin typeface="Cambria Math" panose="02040503050406030204" pitchFamily="18" charset="0"/>
                              </a:rPr>
                              <m:t>=</m:t>
                            </m:r>
                            <m:d>
                              <m:dPr>
                                <m:ctrlPr>
                                  <a:rPr lang="fr-FR" sz="1100" i="1" smtClean="0">
                                    <a:solidFill>
                                      <a:schemeClr val="tx1"/>
                                    </a:solidFill>
                                    <a:latin typeface="Cambria Math" panose="02040503050406030204" pitchFamily="18" charset="0"/>
                                  </a:rPr>
                                </m:ctrlPr>
                              </m:dPr>
                              <m:e>
                                <m:m>
                                  <m:mPr>
                                    <m:mcs>
                                      <m:mc>
                                        <m:mcPr>
                                          <m:count m:val="2"/>
                                          <m:mcJc m:val="center"/>
                                        </m:mcPr>
                                      </m:mc>
                                    </m:mcs>
                                    <m:ctrlPr>
                                      <a:rPr lang="fr-FR" sz="1100" i="1">
                                        <a:solidFill>
                                          <a:schemeClr val="tx1"/>
                                        </a:solidFill>
                                        <a:latin typeface="Cambria Math" panose="02040503050406030204" pitchFamily="18" charset="0"/>
                                      </a:rPr>
                                    </m:ctrlPr>
                                  </m:mPr>
                                  <m:mr>
                                    <m:e>
                                      <m:f>
                                        <m:fPr>
                                          <m:ctrlPr>
                                            <a:rPr lang="fr-FR" sz="1100" i="1">
                                              <a:solidFill>
                                                <a:schemeClr val="tx1"/>
                                              </a:solidFill>
                                              <a:latin typeface="Cambria Math" panose="02040503050406030204" pitchFamily="18" charset="0"/>
                                            </a:rPr>
                                          </m:ctrlPr>
                                        </m:fPr>
                                        <m:num>
                                          <m:r>
                                            <a:rPr lang="fr-FR" sz="1100">
                                              <a:solidFill>
                                                <a:schemeClr val="tx1"/>
                                              </a:solidFill>
                                              <a:latin typeface="Cambria Math" panose="02040503050406030204" pitchFamily="18" charset="0"/>
                                            </a:rPr>
                                            <m:t>1</m:t>
                                          </m:r>
                                        </m:num>
                                        <m:den>
                                          <m:r>
                                            <m:rPr>
                                              <m:sty m:val="p"/>
                                            </m:rPr>
                                            <a:rPr lang="el-GR" sz="1100">
                                              <a:solidFill>
                                                <a:schemeClr val="tx1"/>
                                              </a:solidFill>
                                              <a:latin typeface="Cambria Math" panose="02040503050406030204" pitchFamily="18" charset="0"/>
                                              <a:ea typeface="Cambria Math" panose="02040503050406030204" pitchFamily="18" charset="0"/>
                                            </a:rPr>
                                            <m:t>Δ</m:t>
                                          </m:r>
                                          <m:r>
                                            <m:rPr>
                                              <m:sty m:val="p"/>
                                            </m:rPr>
                                            <a:rPr lang="fr-FR" sz="1100">
                                              <a:solidFill>
                                                <a:schemeClr val="tx1"/>
                                              </a:solidFill>
                                              <a:latin typeface="Cambria Math" panose="02040503050406030204" pitchFamily="18" charset="0"/>
                                              <a:ea typeface="Cambria Math" panose="02040503050406030204" pitchFamily="18" charset="0"/>
                                            </a:rPr>
                                            <m:t>T</m:t>
                                          </m:r>
                                        </m:den>
                                      </m:f>
                                    </m:e>
                                    <m:e>
                                      <m:r>
                                        <a:rPr lang="fr-FR" sz="1100">
                                          <a:solidFill>
                                            <a:schemeClr val="tx1"/>
                                          </a:solidFill>
                                          <a:latin typeface="Cambria Math" panose="02040503050406030204" pitchFamily="18" charset="0"/>
                                        </a:rPr>
                                        <m:t>0</m:t>
                                      </m:r>
                                    </m:e>
                                  </m:mr>
                                  <m:mr>
                                    <m:e>
                                      <m:r>
                                        <a:rPr lang="fr-FR" sz="1100">
                                          <a:solidFill>
                                            <a:schemeClr val="tx1"/>
                                          </a:solidFill>
                                          <a:latin typeface="Cambria Math" panose="02040503050406030204" pitchFamily="18" charset="0"/>
                                        </a:rPr>
                                        <m:t>0</m:t>
                                      </m:r>
                                    </m:e>
                                    <m:e>
                                      <m:f>
                                        <m:fPr>
                                          <m:ctrlPr>
                                            <a:rPr lang="fr-FR" sz="1100" i="1">
                                              <a:solidFill>
                                                <a:schemeClr val="tx1"/>
                                              </a:solidFill>
                                              <a:latin typeface="Cambria Math" panose="02040503050406030204" pitchFamily="18" charset="0"/>
                                            </a:rPr>
                                          </m:ctrlPr>
                                        </m:fPr>
                                        <m:num>
                                          <m:r>
                                            <a:rPr lang="fr-FR" sz="1100">
                                              <a:solidFill>
                                                <a:schemeClr val="tx1"/>
                                              </a:solidFill>
                                              <a:latin typeface="Cambria Math" panose="02040503050406030204" pitchFamily="18" charset="0"/>
                                            </a:rPr>
                                            <m:t>1</m:t>
                                          </m:r>
                                        </m:num>
                                        <m:den>
                                          <m:r>
                                            <m:rPr>
                                              <m:sty m:val="p"/>
                                            </m:rPr>
                                            <a:rPr lang="el-GR" sz="1100">
                                              <a:solidFill>
                                                <a:schemeClr val="tx1"/>
                                              </a:solidFill>
                                              <a:latin typeface="Cambria Math" panose="02040503050406030204" pitchFamily="18" charset="0"/>
                                              <a:ea typeface="Cambria Math" panose="02040503050406030204" pitchFamily="18" charset="0"/>
                                            </a:rPr>
                                            <m:t>Δ</m:t>
                                          </m:r>
                                          <m:r>
                                            <m:rPr>
                                              <m:sty m:val="p"/>
                                            </m:rPr>
                                            <a:rPr lang="fr-FR" sz="1100">
                                              <a:solidFill>
                                                <a:schemeClr val="tx1"/>
                                              </a:solidFill>
                                              <a:latin typeface="Cambria Math" panose="02040503050406030204" pitchFamily="18" charset="0"/>
                                              <a:ea typeface="Cambria Math" panose="02040503050406030204" pitchFamily="18" charset="0"/>
                                            </a:rPr>
                                            <m:t>T</m:t>
                                          </m:r>
                                        </m:den>
                                      </m:f>
                                    </m:e>
                                  </m:mr>
                                </m:m>
                              </m:e>
                            </m:d>
                          </m:oMath>
                        </m:oMathPara>
                      </a14:m>
                      <a:endParaRPr lang="fr-FR" sz="1600" dirty="0">
                        <a:solidFill>
                          <a:schemeClr val="tx1"/>
                        </a:solidFill>
                        <a:effectLst/>
                        <a:ea typeface="Calibri" panose="020F0502020204030204" pitchFamily="34" charset="0"/>
                        <a:cs typeface="Times New Roman" panose="02020603050405020304" pitchFamily="18" charset="0"/>
                      </a:endParaRPr>
                    </a:p>
                  </p:txBody>
                </p:sp>
              </mc:Choice>
              <mc:Fallback xmlns="">
                <p:sp>
                  <p:nvSpPr>
                    <p:cNvPr id="15" name="Rectangle 14">
                      <a:extLst>
                        <a:ext uri="{FF2B5EF4-FFF2-40B4-BE49-F238E27FC236}">
                          <a16:creationId xmlns:a16="http://schemas.microsoft.com/office/drawing/2014/main" id="{F2E4DA12-CAD7-F049-BBBA-841FC26B9CA5}"/>
                        </a:ext>
                      </a:extLst>
                    </p:cNvPr>
                    <p:cNvSpPr>
                      <a:spLocks noRot="1" noChangeAspect="1" noMove="1" noResize="1" noEditPoints="1" noAdjustHandles="1" noChangeArrowheads="1" noChangeShapeType="1" noTextEdit="1"/>
                    </p:cNvSpPr>
                    <p:nvPr/>
                  </p:nvSpPr>
                  <p:spPr>
                    <a:xfrm>
                      <a:off x="2135325" y="4112485"/>
                      <a:ext cx="1362068" cy="838789"/>
                    </a:xfrm>
                    <a:prstGeom prst="rect">
                      <a:avLst/>
                    </a:prstGeom>
                    <a:blipFill>
                      <a:blip r:embed="rId5"/>
                      <a:stretch>
                        <a:fillRect/>
                      </a:stretch>
                    </a:blipFill>
                    <a:ln>
                      <a:solidFill>
                        <a:schemeClr val="tx1"/>
                      </a:solidFill>
                    </a:ln>
                  </p:spPr>
                  <p:txBody>
                    <a:bodyPr/>
                    <a:lstStyle/>
                    <a:p>
                      <a:r>
                        <a:rPr lang="fr-FR">
                          <a:noFill/>
                        </a:rPr>
                        <a:t> </a:t>
                      </a:r>
                    </a:p>
                  </p:txBody>
                </p:sp>
              </mc:Fallback>
            </mc:AlternateContent>
            <p:cxnSp>
              <p:nvCxnSpPr>
                <p:cNvPr id="16" name="Connecteur droit avec flèche 15">
                  <a:extLst>
                    <a:ext uri="{FF2B5EF4-FFF2-40B4-BE49-F238E27FC236}">
                      <a16:creationId xmlns:a16="http://schemas.microsoft.com/office/drawing/2014/main" id="{DDC6A2CB-5395-E741-BAC1-682B7DE9D2CE}"/>
                    </a:ext>
                  </a:extLst>
                </p:cNvPr>
                <p:cNvCxnSpPr/>
                <p:nvPr/>
              </p:nvCxnSpPr>
              <p:spPr>
                <a:xfrm>
                  <a:off x="1457169" y="4517442"/>
                  <a:ext cx="648001"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7" name="Connecteur droit avec flèche 16">
                  <a:extLst>
                    <a:ext uri="{FF2B5EF4-FFF2-40B4-BE49-F238E27FC236}">
                      <a16:creationId xmlns:a16="http://schemas.microsoft.com/office/drawing/2014/main" id="{BB2D6C70-0580-E840-B42E-2C9DAE779D61}"/>
                    </a:ext>
                  </a:extLst>
                </p:cNvPr>
                <p:cNvCxnSpPr/>
                <p:nvPr/>
              </p:nvCxnSpPr>
              <p:spPr>
                <a:xfrm>
                  <a:off x="223749" y="4517442"/>
                  <a:ext cx="900000"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8" name="Connecteur droit avec flèche 17">
                  <a:extLst>
                    <a:ext uri="{FF2B5EF4-FFF2-40B4-BE49-F238E27FC236}">
                      <a16:creationId xmlns:a16="http://schemas.microsoft.com/office/drawing/2014/main" id="{61B56EB6-D2CF-854D-A244-648BA5CB9167}"/>
                    </a:ext>
                  </a:extLst>
                </p:cNvPr>
                <p:cNvCxnSpPr/>
                <p:nvPr/>
              </p:nvCxnSpPr>
              <p:spPr>
                <a:xfrm flipV="1">
                  <a:off x="1321168" y="4662294"/>
                  <a:ext cx="0" cy="129600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9" name="Connecteur droit avec flèche 18">
                  <a:extLst>
                    <a:ext uri="{FF2B5EF4-FFF2-40B4-BE49-F238E27FC236}">
                      <a16:creationId xmlns:a16="http://schemas.microsoft.com/office/drawing/2014/main" id="{3822E5FE-C65D-004F-8675-1C53FE24383E}"/>
                    </a:ext>
                  </a:extLst>
                </p:cNvPr>
                <p:cNvCxnSpPr/>
                <p:nvPr/>
              </p:nvCxnSpPr>
              <p:spPr>
                <a:xfrm flipV="1">
                  <a:off x="8247549" y="4533821"/>
                  <a:ext cx="0" cy="140400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Zone de texte 2">
                      <a:extLst>
                        <a:ext uri="{FF2B5EF4-FFF2-40B4-BE49-F238E27FC236}">
                          <a16:creationId xmlns:a16="http://schemas.microsoft.com/office/drawing/2014/main" id="{73C8F3D0-DF24-9447-B6CA-44106884A6CD}"/>
                        </a:ext>
                      </a:extLst>
                    </p:cNvPr>
                    <p:cNvSpPr txBox="1">
                      <a:spLocks noChangeArrowheads="1"/>
                    </p:cNvSpPr>
                    <p:nvPr/>
                  </p:nvSpPr>
                  <p:spPr bwMode="auto">
                    <a:xfrm>
                      <a:off x="1202192" y="4623717"/>
                      <a:ext cx="505289" cy="368084"/>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r>
                              <a:rPr lang="fr-FR" sz="11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0" name="Zone de texte 2">
                      <a:extLst>
                        <a:ext uri="{FF2B5EF4-FFF2-40B4-BE49-F238E27FC236}">
                          <a16:creationId xmlns:a16="http://schemas.microsoft.com/office/drawing/2014/main" id="{73C8F3D0-DF24-9447-B6CA-44106884A6CD}"/>
                        </a:ext>
                      </a:extLst>
                    </p:cNvPr>
                    <p:cNvSpPr txBox="1">
                      <a:spLocks noRot="1" noChangeAspect="1" noMove="1" noResize="1" noEditPoints="1" noAdjustHandles="1" noChangeArrowheads="1" noChangeShapeType="1" noTextEdit="1"/>
                    </p:cNvSpPr>
                    <p:nvPr/>
                  </p:nvSpPr>
                  <p:spPr bwMode="auto">
                    <a:xfrm>
                      <a:off x="1202192" y="4623717"/>
                      <a:ext cx="505289" cy="368084"/>
                    </a:xfrm>
                    <a:prstGeom prst="rect">
                      <a:avLst/>
                    </a:prstGeom>
                    <a:blipFill>
                      <a:blip r:embed="rId6"/>
                      <a:stretch>
                        <a:fillRect/>
                      </a:stretch>
                    </a:blipFill>
                    <a:ln w="9525">
                      <a:noFill/>
                      <a:miter lim="800000"/>
                      <a:headEnd/>
                      <a:tailEnd/>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1" name="Zone de texte 2">
                      <a:extLst>
                        <a:ext uri="{FF2B5EF4-FFF2-40B4-BE49-F238E27FC236}">
                          <a16:creationId xmlns:a16="http://schemas.microsoft.com/office/drawing/2014/main" id="{D20EC5D3-CE07-904C-8C96-ADD0163B1FB0}"/>
                        </a:ext>
                      </a:extLst>
                    </p:cNvPr>
                    <p:cNvSpPr txBox="1">
                      <a:spLocks noChangeArrowheads="1"/>
                    </p:cNvSpPr>
                    <p:nvPr/>
                  </p:nvSpPr>
                  <p:spPr bwMode="auto">
                    <a:xfrm>
                      <a:off x="787162" y="4474449"/>
                      <a:ext cx="506281" cy="369076"/>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r>
                              <a:rPr lang="fr-FR" sz="11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1" name="Zone de texte 2">
                      <a:extLst>
                        <a:ext uri="{FF2B5EF4-FFF2-40B4-BE49-F238E27FC236}">
                          <a16:creationId xmlns:a16="http://schemas.microsoft.com/office/drawing/2014/main" id="{D20EC5D3-CE07-904C-8C96-ADD0163B1FB0}"/>
                        </a:ext>
                      </a:extLst>
                    </p:cNvPr>
                    <p:cNvSpPr txBox="1">
                      <a:spLocks noRot="1" noChangeAspect="1" noMove="1" noResize="1" noEditPoints="1" noAdjustHandles="1" noChangeArrowheads="1" noChangeShapeType="1" noTextEdit="1"/>
                    </p:cNvSpPr>
                    <p:nvPr/>
                  </p:nvSpPr>
                  <p:spPr bwMode="auto">
                    <a:xfrm>
                      <a:off x="787162" y="4474449"/>
                      <a:ext cx="506281" cy="369076"/>
                    </a:xfrm>
                    <a:prstGeom prst="rect">
                      <a:avLst/>
                    </a:prstGeom>
                    <a:blipFill>
                      <a:blip r:embed="rId7"/>
                      <a:stretch>
                        <a:fillRect/>
                      </a:stretch>
                    </a:blipFill>
                    <a:ln w="9525">
                      <a:noFill/>
                      <a:miter lim="800000"/>
                      <a:headEnd/>
                      <a:tailEnd/>
                    </a:ln>
                  </p:spPr>
                  <p:txBody>
                    <a:bodyPr/>
                    <a:lstStyle/>
                    <a:p>
                      <a:r>
                        <a:rPr lang="fr-FR">
                          <a:noFill/>
                        </a:rPr>
                        <a:t> </a:t>
                      </a:r>
                    </a:p>
                  </p:txBody>
                </p:sp>
              </mc:Fallback>
            </mc:AlternateContent>
            <p:cxnSp>
              <p:nvCxnSpPr>
                <p:cNvPr id="22" name="Connecteur droit avec flèche 21">
                  <a:extLst>
                    <a:ext uri="{FF2B5EF4-FFF2-40B4-BE49-F238E27FC236}">
                      <a16:creationId xmlns:a16="http://schemas.microsoft.com/office/drawing/2014/main" id="{1802F14A-7E2F-F44D-969D-C42691159422}"/>
                    </a:ext>
                  </a:extLst>
                </p:cNvPr>
                <p:cNvCxnSpPr/>
                <p:nvPr/>
              </p:nvCxnSpPr>
              <p:spPr>
                <a:xfrm flipV="1">
                  <a:off x="5430355" y="5957535"/>
                  <a:ext cx="2808000" cy="427"/>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ZoneTexte 22">
                      <a:extLst>
                        <a:ext uri="{FF2B5EF4-FFF2-40B4-BE49-F238E27FC236}">
                          <a16:creationId xmlns:a16="http://schemas.microsoft.com/office/drawing/2014/main" id="{16C1883B-0080-C44F-9A6E-6B6F907BEEE1}"/>
                        </a:ext>
                      </a:extLst>
                    </p:cNvPr>
                    <p:cNvSpPr txBox="1"/>
                    <p:nvPr/>
                  </p:nvSpPr>
                  <p:spPr>
                    <a:xfrm>
                      <a:off x="40203" y="3902071"/>
                      <a:ext cx="1371595" cy="58310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600" b="0" i="1" smtClean="0">
                                    <a:latin typeface="Cambria Math" panose="02040503050406030204" pitchFamily="18" charset="0"/>
                                  </a:rPr>
                                </m:ctrlPr>
                              </m:sSupPr>
                              <m:e>
                                <m:r>
                                  <a:rPr lang="fr-FR" sz="1600" b="1" i="0" smtClean="0">
                                    <a:latin typeface="Cambria Math" panose="02040503050406030204" pitchFamily="18" charset="0"/>
                                  </a:rPr>
                                  <m:t>𝐱</m:t>
                                </m:r>
                              </m:e>
                              <m:sup>
                                <m:r>
                                  <a:rPr lang="fr-FR" sz="1600" b="0" i="1" smtClean="0">
                                    <a:latin typeface="Cambria Math" panose="02040503050406030204" pitchFamily="18" charset="0"/>
                                  </a:rPr>
                                  <m:t>𝑑</m:t>
                                </m:r>
                              </m:sup>
                            </m:sSup>
                            <m:r>
                              <a:rPr lang="fr-FR" sz="1600" b="0" i="1" smtClean="0">
                                <a:latin typeface="Cambria Math" panose="02040503050406030204" pitchFamily="18" charset="0"/>
                              </a:rPr>
                              <m:t>=</m:t>
                            </m:r>
                            <m:d>
                              <m:dPr>
                                <m:ctrlPr>
                                  <a:rPr lang="fr-FR" sz="1600" b="0" i="1" smtClean="0">
                                    <a:latin typeface="Cambria Math" panose="02040503050406030204" pitchFamily="18" charset="0"/>
                                  </a:rPr>
                                </m:ctrlPr>
                              </m:dPr>
                              <m:e>
                                <m:eqArr>
                                  <m:eqArrPr>
                                    <m:ctrlPr>
                                      <a:rPr lang="fr-FR" sz="1600" b="0" i="1" smtClean="0">
                                        <a:latin typeface="Cambria Math" panose="02040503050406030204" pitchFamily="18" charset="0"/>
                                      </a:rPr>
                                    </m:ctrlPr>
                                  </m:eqArrPr>
                                  <m:e>
                                    <m:sSup>
                                      <m:sSupPr>
                                        <m:ctrlPr>
                                          <a:rPr lang="fr-FR" sz="1600" i="1">
                                            <a:latin typeface="Cambria Math" panose="02040503050406030204" pitchFamily="18" charset="0"/>
                                            <a:cs typeface="Times New Roman" panose="02020603050405020304" pitchFamily="18" charset="0"/>
                                          </a:rPr>
                                        </m:ctrlPr>
                                      </m:sSupPr>
                                      <m:e>
                                        <m:r>
                                          <a:rPr lang="fr-FR" sz="1600" b="0" i="1" smtClean="0">
                                            <a:latin typeface="Cambria Math" panose="02040503050406030204" pitchFamily="18" charset="0"/>
                                            <a:cs typeface="Times New Roman" panose="02020603050405020304" pitchFamily="18" charset="0"/>
                                          </a:rPr>
                                          <m:t>𝑥</m:t>
                                        </m:r>
                                      </m:e>
                                      <m:sup>
                                        <m:r>
                                          <a:rPr lang="fr-FR" sz="1600" i="1">
                                            <a:latin typeface="Cambria Math" panose="02040503050406030204" pitchFamily="18" charset="0"/>
                                            <a:cs typeface="Times New Roman" panose="02020603050405020304" pitchFamily="18" charset="0"/>
                                          </a:rPr>
                                          <m:t>𝑑</m:t>
                                        </m:r>
                                      </m:sup>
                                    </m:sSup>
                                  </m:e>
                                  <m:e>
                                    <m:sSup>
                                      <m:sSupPr>
                                        <m:ctrlPr>
                                          <a:rPr lang="fr-FR" sz="1600" i="1">
                                            <a:latin typeface="Cambria Math" panose="02040503050406030204" pitchFamily="18" charset="0"/>
                                            <a:cs typeface="Times New Roman" panose="02020603050405020304" pitchFamily="18" charset="0"/>
                                          </a:rPr>
                                        </m:ctrlPr>
                                      </m:sSupPr>
                                      <m:e>
                                        <m:r>
                                          <a:rPr lang="fr-FR" sz="1600" b="0" i="1" smtClean="0">
                                            <a:latin typeface="Cambria Math" panose="02040503050406030204" pitchFamily="18" charset="0"/>
                                            <a:cs typeface="Times New Roman" panose="02020603050405020304" pitchFamily="18" charset="0"/>
                                          </a:rPr>
                                          <m:t>𝑦</m:t>
                                        </m:r>
                                      </m:e>
                                      <m:sup>
                                        <m:r>
                                          <a:rPr lang="fr-FR" sz="1600" i="1">
                                            <a:latin typeface="Cambria Math" panose="02040503050406030204" pitchFamily="18" charset="0"/>
                                            <a:cs typeface="Times New Roman" panose="02020603050405020304" pitchFamily="18" charset="0"/>
                                          </a:rPr>
                                          <m:t>𝑑</m:t>
                                        </m:r>
                                      </m:sup>
                                    </m:sSup>
                                  </m:e>
                                </m:eqArr>
                              </m:e>
                            </m:d>
                          </m:oMath>
                        </m:oMathPara>
                      </a14:m>
                      <a:endParaRPr lang="fr-FR" sz="1600" dirty="0"/>
                    </a:p>
                  </p:txBody>
                </p:sp>
              </mc:Choice>
              <mc:Fallback xmlns="">
                <p:sp>
                  <p:nvSpPr>
                    <p:cNvPr id="23" name="ZoneTexte 22">
                      <a:extLst>
                        <a:ext uri="{FF2B5EF4-FFF2-40B4-BE49-F238E27FC236}">
                          <a16:creationId xmlns:a16="http://schemas.microsoft.com/office/drawing/2014/main" id="{16C1883B-0080-C44F-9A6E-6B6F907BEEE1}"/>
                        </a:ext>
                      </a:extLst>
                    </p:cNvPr>
                    <p:cNvSpPr txBox="1">
                      <a:spLocks noRot="1" noChangeAspect="1" noMove="1" noResize="1" noEditPoints="1" noAdjustHandles="1" noChangeArrowheads="1" noChangeShapeType="1" noTextEdit="1"/>
                    </p:cNvSpPr>
                    <p:nvPr/>
                  </p:nvSpPr>
                  <p:spPr>
                    <a:xfrm>
                      <a:off x="40203" y="3902071"/>
                      <a:ext cx="1371595" cy="583108"/>
                    </a:xfrm>
                    <a:prstGeom prst="rect">
                      <a:avLst/>
                    </a:prstGeom>
                    <a:blipFill>
                      <a:blip r:embed="rId8"/>
                      <a:stretch>
                        <a:fillRect b="-2128"/>
                      </a:stretch>
                    </a:blipFill>
                  </p:spPr>
                  <p:txBody>
                    <a:bodyPr/>
                    <a:lstStyle/>
                    <a:p>
                      <a:r>
                        <a:rPr lang="fr-FR">
                          <a:noFill/>
                        </a:rPr>
                        <a:t> </a:t>
                      </a:r>
                    </a:p>
                  </p:txBody>
                </p:sp>
              </mc:Fallback>
            </mc:AlternateContent>
            <p:sp>
              <p:nvSpPr>
                <p:cNvPr id="24" name="Rectangle 23">
                  <a:extLst>
                    <a:ext uri="{FF2B5EF4-FFF2-40B4-BE49-F238E27FC236}">
                      <a16:creationId xmlns:a16="http://schemas.microsoft.com/office/drawing/2014/main" id="{814EA99C-6461-274B-BD4D-4FDE288902D6}"/>
                    </a:ext>
                  </a:extLst>
                </p:cNvPr>
                <p:cNvSpPr/>
                <p:nvPr/>
              </p:nvSpPr>
              <p:spPr>
                <a:xfrm>
                  <a:off x="4394245" y="5700853"/>
                  <a:ext cx="1047307" cy="5133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fr-FR" sz="1600" dirty="0">
                      <a:solidFill>
                        <a:schemeClr val="tx1"/>
                      </a:solidFill>
                      <a:ea typeface="Calibri" panose="020F0502020204030204" pitchFamily="34" charset="0"/>
                      <a:cs typeface="Times New Roman" panose="02020603050405020304" pitchFamily="18" charset="0"/>
                    </a:rPr>
                    <a:t>DKM</a:t>
                  </a:r>
                  <a:endParaRPr lang="fr-FR" sz="1600" dirty="0">
                    <a:solidFill>
                      <a:schemeClr val="tx1"/>
                    </a:solidFill>
                    <a:effectLst/>
                    <a:ea typeface="Calibri" panose="020F0502020204030204" pitchFamily="34" charset="0"/>
                    <a:cs typeface="Times New Roman" panose="02020603050405020304" pitchFamily="18" charset="0"/>
                  </a:endParaRPr>
                </a:p>
              </p:txBody>
            </p:sp>
            <p:cxnSp>
              <p:nvCxnSpPr>
                <p:cNvPr id="25" name="Connecteur droit avec flèche 24">
                  <a:extLst>
                    <a:ext uri="{FF2B5EF4-FFF2-40B4-BE49-F238E27FC236}">
                      <a16:creationId xmlns:a16="http://schemas.microsoft.com/office/drawing/2014/main" id="{8D2220CA-324F-7142-B3A4-BC7A3AE380C9}"/>
                    </a:ext>
                  </a:extLst>
                </p:cNvPr>
                <p:cNvCxnSpPr/>
                <p:nvPr/>
              </p:nvCxnSpPr>
              <p:spPr>
                <a:xfrm flipV="1">
                  <a:off x="1315253" y="5950884"/>
                  <a:ext cx="3024000" cy="427"/>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6" name="Rectangle 25">
                      <a:extLst>
                        <a:ext uri="{FF2B5EF4-FFF2-40B4-BE49-F238E27FC236}">
                          <a16:creationId xmlns:a16="http://schemas.microsoft.com/office/drawing/2014/main" id="{0EE993D8-BCB8-2148-8DFF-7676D21C5912}"/>
                        </a:ext>
                      </a:extLst>
                    </p:cNvPr>
                    <p:cNvSpPr/>
                    <p:nvPr/>
                  </p:nvSpPr>
                  <p:spPr>
                    <a:xfrm>
                      <a:off x="4528429" y="4251303"/>
                      <a:ext cx="1149915" cy="5322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14:m>
                        <m:oMathPara xmlns:m="http://schemas.openxmlformats.org/officeDocument/2006/math">
                          <m:oMathParaPr>
                            <m:jc m:val="centerGroup"/>
                          </m:oMathParaPr>
                          <m:oMath xmlns:m="http://schemas.openxmlformats.org/officeDocument/2006/math">
                            <m:sSup>
                              <m:sSupPr>
                                <m:ctrlPr>
                                  <a:rPr lang="fr-FR" sz="1600" b="1" i="1" smtClean="0">
                                    <a:solidFill>
                                      <a:schemeClr val="tx1"/>
                                    </a:solidFill>
                                    <a:latin typeface="Cambria Math" panose="02040503050406030204" pitchFamily="18" charset="0"/>
                                  </a:rPr>
                                </m:ctrlPr>
                              </m:sSupPr>
                              <m:e>
                                <m:sSub>
                                  <m:sSubPr>
                                    <m:ctrlPr>
                                      <a:rPr lang="fr-FR" sz="1600" b="1" i="1">
                                        <a:solidFill>
                                          <a:schemeClr val="tx1"/>
                                        </a:solidFill>
                                        <a:latin typeface="Cambria Math" panose="02040503050406030204" pitchFamily="18" charset="0"/>
                                      </a:rPr>
                                    </m:ctrlPr>
                                  </m:sSubPr>
                                  <m:e>
                                    <m:r>
                                      <a:rPr lang="fr-FR" sz="1600" b="1" i="1">
                                        <a:solidFill>
                                          <a:schemeClr val="tx1"/>
                                        </a:solidFill>
                                        <a:latin typeface="Cambria Math" panose="02040503050406030204" pitchFamily="18" charset="0"/>
                                      </a:rPr>
                                      <m:t>𝑱</m:t>
                                    </m:r>
                                  </m:e>
                                  <m:sub>
                                    <m:r>
                                      <a:rPr lang="fr-FR" sz="1600" b="1" i="1" smtClean="0">
                                        <a:solidFill>
                                          <a:schemeClr val="tx1"/>
                                        </a:solidFill>
                                        <a:latin typeface="Cambria Math" panose="02040503050406030204" pitchFamily="18" charset="0"/>
                                      </a:rPr>
                                      <m:t>𝒙</m:t>
                                    </m:r>
                                  </m:sub>
                                </m:sSub>
                              </m:e>
                              <m:sup>
                                <m:r>
                                  <a:rPr lang="fr-FR" sz="1600" b="1" i="1" smtClean="0">
                                    <a:solidFill>
                                      <a:schemeClr val="tx1"/>
                                    </a:solidFill>
                                    <a:latin typeface="Cambria Math" panose="02040503050406030204" pitchFamily="18" charset="0"/>
                                  </a:rPr>
                                  <m:t>−</m:t>
                                </m:r>
                                <m:r>
                                  <a:rPr lang="fr-FR" sz="1600" b="1" i="1" smtClean="0">
                                    <a:solidFill>
                                      <a:schemeClr val="tx1"/>
                                    </a:solidFill>
                                    <a:latin typeface="Cambria Math" panose="02040503050406030204" pitchFamily="18" charset="0"/>
                                  </a:rPr>
                                  <m:t>𝟏</m:t>
                                </m:r>
                              </m:sup>
                            </m:sSup>
                          </m:oMath>
                        </m:oMathPara>
                      </a14:m>
                      <a:endParaRPr lang="fr-FR" sz="1600" dirty="0">
                        <a:solidFill>
                          <a:schemeClr val="tx1"/>
                        </a:solidFill>
                        <a:effectLst/>
                        <a:ea typeface="Calibri" panose="020F0502020204030204" pitchFamily="34" charset="0"/>
                        <a:cs typeface="Times New Roman" panose="02020603050405020304" pitchFamily="18" charset="0"/>
                      </a:endParaRPr>
                    </a:p>
                  </p:txBody>
                </p:sp>
              </mc:Choice>
              <mc:Fallback>
                <p:sp>
                  <p:nvSpPr>
                    <p:cNvPr id="26" name="Rectangle 25">
                      <a:extLst>
                        <a:ext uri="{FF2B5EF4-FFF2-40B4-BE49-F238E27FC236}">
                          <a16:creationId xmlns:a16="http://schemas.microsoft.com/office/drawing/2014/main" id="{0EE993D8-BCB8-2148-8DFF-7676D21C5912}"/>
                        </a:ext>
                      </a:extLst>
                    </p:cNvPr>
                    <p:cNvSpPr>
                      <a:spLocks noRot="1" noChangeAspect="1" noMove="1" noResize="1" noEditPoints="1" noAdjustHandles="1" noChangeArrowheads="1" noChangeShapeType="1" noTextEdit="1"/>
                    </p:cNvSpPr>
                    <p:nvPr/>
                  </p:nvSpPr>
                  <p:spPr>
                    <a:xfrm>
                      <a:off x="4528429" y="4251303"/>
                      <a:ext cx="1149915" cy="532277"/>
                    </a:xfrm>
                    <a:prstGeom prst="rect">
                      <a:avLst/>
                    </a:prstGeom>
                    <a:blipFill>
                      <a:blip r:embed="rId9"/>
                      <a:stretch>
                        <a:fillRect/>
                      </a:stretch>
                    </a:blipFill>
                    <a:ln>
                      <a:solidFill>
                        <a:schemeClr val="tx1"/>
                      </a:solidFill>
                    </a:ln>
                  </p:spPr>
                  <p:txBody>
                    <a:bodyPr/>
                    <a:lstStyle/>
                    <a:p>
                      <a:r>
                        <a:rPr lang="en-FR">
                          <a:noFill/>
                        </a:rPr>
                        <a:t> </a:t>
                      </a:r>
                    </a:p>
                  </p:txBody>
                </p:sp>
              </mc:Fallback>
            </mc:AlternateContent>
            <mc:AlternateContent xmlns:mc="http://schemas.openxmlformats.org/markup-compatibility/2006" xmlns:a14="http://schemas.microsoft.com/office/drawing/2010/main">
              <mc:Choice Requires="a14">
                <p:sp>
                  <p:nvSpPr>
                    <p:cNvPr id="27" name="ZoneTexte 26">
                      <a:extLst>
                        <a:ext uri="{FF2B5EF4-FFF2-40B4-BE49-F238E27FC236}">
                          <a16:creationId xmlns:a16="http://schemas.microsoft.com/office/drawing/2014/main" id="{F96A6DC8-3199-3B4F-8E04-FA89256802FC}"/>
                        </a:ext>
                      </a:extLst>
                    </p:cNvPr>
                    <p:cNvSpPr txBox="1"/>
                    <p:nvPr/>
                  </p:nvSpPr>
                  <p:spPr>
                    <a:xfrm>
                      <a:off x="2105170" y="5969840"/>
                      <a:ext cx="1371595" cy="5041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1" i="0" smtClean="0">
                                <a:latin typeface="Cambria Math" panose="02040503050406030204" pitchFamily="18" charset="0"/>
                              </a:rPr>
                              <m:t>𝐱</m:t>
                            </m:r>
                            <m:r>
                              <a:rPr lang="fr-FR" sz="1600" b="0" i="1" smtClean="0">
                                <a:latin typeface="Cambria Math" panose="02040503050406030204" pitchFamily="18" charset="0"/>
                              </a:rPr>
                              <m:t>=</m:t>
                            </m:r>
                            <m:d>
                              <m:dPr>
                                <m:ctrlPr>
                                  <a:rPr lang="fr-FR" sz="1600" b="0" i="1" smtClean="0">
                                    <a:latin typeface="Cambria Math" panose="02040503050406030204" pitchFamily="18" charset="0"/>
                                  </a:rPr>
                                </m:ctrlPr>
                              </m:dPr>
                              <m:e>
                                <m:eqArr>
                                  <m:eqArrPr>
                                    <m:ctrlPr>
                                      <a:rPr lang="fr-FR" sz="1600" b="0" i="1" smtClean="0">
                                        <a:latin typeface="Cambria Math" panose="02040503050406030204" pitchFamily="18" charset="0"/>
                                      </a:rPr>
                                    </m:ctrlPr>
                                  </m:eqArrPr>
                                  <m:e>
                                    <m:r>
                                      <a:rPr lang="fr-FR" sz="1600" b="0" i="1" smtClean="0">
                                        <a:latin typeface="Cambria Math" panose="02040503050406030204" pitchFamily="18" charset="0"/>
                                      </a:rPr>
                                      <m:t>𝑥</m:t>
                                    </m:r>
                                  </m:e>
                                  <m:e>
                                    <m:r>
                                      <a:rPr lang="fr-FR" sz="1600" b="0" i="1" smtClean="0">
                                        <a:latin typeface="Cambria Math" panose="02040503050406030204" pitchFamily="18" charset="0"/>
                                      </a:rPr>
                                      <m:t>𝑦</m:t>
                                    </m:r>
                                  </m:e>
                                </m:eqArr>
                              </m:e>
                            </m:d>
                          </m:oMath>
                        </m:oMathPara>
                      </a14:m>
                      <a:endParaRPr lang="fr-FR" sz="1600" dirty="0"/>
                    </a:p>
                  </p:txBody>
                </p:sp>
              </mc:Choice>
              <mc:Fallback xmlns="">
                <p:sp>
                  <p:nvSpPr>
                    <p:cNvPr id="27" name="ZoneTexte 26">
                      <a:extLst>
                        <a:ext uri="{FF2B5EF4-FFF2-40B4-BE49-F238E27FC236}">
                          <a16:creationId xmlns:a16="http://schemas.microsoft.com/office/drawing/2014/main" id="{F96A6DC8-3199-3B4F-8E04-FA89256802FC}"/>
                        </a:ext>
                      </a:extLst>
                    </p:cNvPr>
                    <p:cNvSpPr txBox="1">
                      <a:spLocks noRot="1" noChangeAspect="1" noMove="1" noResize="1" noEditPoints="1" noAdjustHandles="1" noChangeArrowheads="1" noChangeShapeType="1" noTextEdit="1"/>
                    </p:cNvSpPr>
                    <p:nvPr/>
                  </p:nvSpPr>
                  <p:spPr>
                    <a:xfrm>
                      <a:off x="2105170" y="5969840"/>
                      <a:ext cx="1371595" cy="504112"/>
                    </a:xfrm>
                    <a:prstGeom prst="rect">
                      <a:avLst/>
                    </a:prstGeom>
                    <a:blipFill>
                      <a:blip r:embed="rId10"/>
                      <a:stretch>
                        <a:fillRect b="-2439"/>
                      </a:stretch>
                    </a:blipFill>
                  </p:spPr>
                  <p:txBody>
                    <a:bodyPr/>
                    <a:lstStyle/>
                    <a:p>
                      <a:r>
                        <a:rPr lang="fr-FR">
                          <a:noFill/>
                        </a:rPr>
                        <a:t> </a:t>
                      </a:r>
                    </a:p>
                  </p:txBody>
                </p:sp>
              </mc:Fallback>
            </mc:AlternateContent>
          </p:grpSp>
          <p:sp>
            <p:nvSpPr>
              <p:cNvPr id="7" name="ZoneTexte 6">
                <a:extLst>
                  <a:ext uri="{FF2B5EF4-FFF2-40B4-BE49-F238E27FC236}">
                    <a16:creationId xmlns:a16="http://schemas.microsoft.com/office/drawing/2014/main" id="{A354C30D-3901-8941-A30C-15422DAC1D88}"/>
                  </a:ext>
                </a:extLst>
              </p:cNvPr>
              <p:cNvSpPr txBox="1"/>
              <p:nvPr/>
            </p:nvSpPr>
            <p:spPr>
              <a:xfrm>
                <a:off x="4572000" y="3902071"/>
                <a:ext cx="979714" cy="338554"/>
              </a:xfrm>
              <a:prstGeom prst="rect">
                <a:avLst/>
              </a:prstGeom>
              <a:noFill/>
            </p:spPr>
            <p:txBody>
              <a:bodyPr wrap="square" rtlCol="0">
                <a:spAutoFit/>
              </a:bodyPr>
              <a:lstStyle/>
              <a:p>
                <a:pPr algn="ctr"/>
                <a:r>
                  <a:rPr lang="fr-FR" sz="1600" dirty="0">
                    <a:latin typeface="+mn-lt"/>
                    <a:cs typeface="Times New Roman" panose="02020603050405020304" pitchFamily="18" charset="0"/>
                  </a:rPr>
                  <a:t>IDKM</a:t>
                </a:r>
              </a:p>
            </p:txBody>
          </p:sp>
        </p:grpSp>
        <mc:AlternateContent xmlns:mc="http://schemas.openxmlformats.org/markup-compatibility/2006" xmlns:a14="http://schemas.microsoft.com/office/drawing/2010/main">
          <mc:Choice Requires="a14">
            <p:sp>
              <p:nvSpPr>
                <p:cNvPr id="28" name="ZoneTexte 27">
                  <a:extLst>
                    <a:ext uri="{FF2B5EF4-FFF2-40B4-BE49-F238E27FC236}">
                      <a16:creationId xmlns:a16="http://schemas.microsoft.com/office/drawing/2014/main" id="{16C19022-6370-5D41-9793-BF73D7E5FA95}"/>
                    </a:ext>
                  </a:extLst>
                </p:cNvPr>
                <p:cNvSpPr txBox="1"/>
                <p:nvPr/>
              </p:nvSpPr>
              <p:spPr>
                <a:xfrm>
                  <a:off x="1090293" y="1421744"/>
                  <a:ext cx="1371595"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1" i="0" smtClean="0">
                            <a:solidFill>
                              <a:srgbClr val="FF0000"/>
                            </a:solidFill>
                            <a:latin typeface="Cambria Math" panose="02040503050406030204" pitchFamily="18" charset="0"/>
                          </a:rPr>
                          <m:t>𝐚</m:t>
                        </m:r>
                      </m:oMath>
                    </m:oMathPara>
                  </a14:m>
                  <a:endParaRPr lang="fr-FR" sz="1600" dirty="0">
                    <a:solidFill>
                      <a:srgbClr val="FF0000"/>
                    </a:solidFill>
                  </a:endParaRPr>
                </a:p>
              </p:txBody>
            </p:sp>
          </mc:Choice>
          <mc:Fallback xmlns="">
            <p:sp>
              <p:nvSpPr>
                <p:cNvPr id="28" name="ZoneTexte 27">
                  <a:extLst>
                    <a:ext uri="{FF2B5EF4-FFF2-40B4-BE49-F238E27FC236}">
                      <a16:creationId xmlns:a16="http://schemas.microsoft.com/office/drawing/2014/main" id="{16C19022-6370-5D41-9793-BF73D7E5FA95}"/>
                    </a:ext>
                  </a:extLst>
                </p:cNvPr>
                <p:cNvSpPr txBox="1">
                  <a:spLocks noRot="1" noChangeAspect="1" noMove="1" noResize="1" noEditPoints="1" noAdjustHandles="1" noChangeArrowheads="1" noChangeShapeType="1" noTextEdit="1"/>
                </p:cNvSpPr>
                <p:nvPr/>
              </p:nvSpPr>
              <p:spPr>
                <a:xfrm>
                  <a:off x="1090293" y="1421744"/>
                  <a:ext cx="1371595" cy="338554"/>
                </a:xfrm>
                <a:prstGeom prst="rect">
                  <a:avLst/>
                </a:prstGeom>
                <a:blipFill>
                  <a:blip r:embed="rId12"/>
                  <a:stretch>
                    <a:fillRect/>
                  </a:stretch>
                </a:blipFill>
              </p:spPr>
              <p:txBody>
                <a:bodyPr/>
                <a:lstStyle/>
                <a:p>
                  <a:r>
                    <a:rPr lang="fr-FR">
                      <a:noFill/>
                    </a:rPr>
                    <a:t> </a:t>
                  </a:r>
                </a:p>
              </p:txBody>
            </p:sp>
          </mc:Fallback>
        </mc:AlternateContent>
      </p:grpSp>
    </p:spTree>
    <p:extLst>
      <p:ext uri="{BB962C8B-B14F-4D97-AF65-F5344CB8AC3E}">
        <p14:creationId xmlns:p14="http://schemas.microsoft.com/office/powerpoint/2010/main" val="2698056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73777508-BEBB-604D-BC92-3C015A8B82DA}"/>
              </a:ext>
            </a:extLst>
          </p:cNvPr>
          <p:cNvSpPr>
            <a:spLocks noGrp="1"/>
          </p:cNvSpPr>
          <p:nvPr>
            <p:ph type="title"/>
          </p:nvPr>
        </p:nvSpPr>
        <p:spPr/>
        <p:txBody>
          <a:bodyPr/>
          <a:lstStyle/>
          <a:p>
            <a:r>
              <a:rPr lang="en-GB" dirty="0"/>
              <a:t>Position control</a:t>
            </a:r>
            <a:endParaRPr lang="fr-FR" dirty="0"/>
          </a:p>
        </p:txBody>
      </p:sp>
      <p:sp>
        <p:nvSpPr>
          <p:cNvPr id="4" name="Rectangle 3">
            <a:extLst>
              <a:ext uri="{FF2B5EF4-FFF2-40B4-BE49-F238E27FC236}">
                <a16:creationId xmlns:a16="http://schemas.microsoft.com/office/drawing/2014/main" id="{F7649955-216C-9B4A-B124-0330E9C4BFF0}"/>
              </a:ext>
            </a:extLst>
          </p:cNvPr>
          <p:cNvSpPr/>
          <p:nvPr/>
        </p:nvSpPr>
        <p:spPr>
          <a:xfrm>
            <a:off x="6017589" y="1681998"/>
            <a:ext cx="1114241" cy="5133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en-GB" sz="1600" dirty="0">
                <a:solidFill>
                  <a:srgbClr val="000000"/>
                </a:solidFill>
                <a:cs typeface="Times New Roman" panose="02020603050405020304" pitchFamily="18" charset="0"/>
              </a:rPr>
              <a:t>Motors</a:t>
            </a:r>
          </a:p>
        </p:txBody>
      </p:sp>
      <p:cxnSp>
        <p:nvCxnSpPr>
          <p:cNvPr id="5" name="Connecteur droit avec flèche 4">
            <a:extLst>
              <a:ext uri="{FF2B5EF4-FFF2-40B4-BE49-F238E27FC236}">
                <a16:creationId xmlns:a16="http://schemas.microsoft.com/office/drawing/2014/main" id="{2B78C8A8-AA56-8045-A250-CBA38580FE3B}"/>
              </a:ext>
            </a:extLst>
          </p:cNvPr>
          <p:cNvCxnSpPr>
            <a:cxnSpLocks/>
            <a:stCxn id="21" idx="3"/>
            <a:endCxn id="4" idx="1"/>
          </p:cNvCxnSpPr>
          <p:nvPr/>
        </p:nvCxnSpPr>
        <p:spPr>
          <a:xfrm flipV="1">
            <a:off x="5597610" y="1938680"/>
            <a:ext cx="41997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necteur droit avec flèche 5">
            <a:extLst>
              <a:ext uri="{FF2B5EF4-FFF2-40B4-BE49-F238E27FC236}">
                <a16:creationId xmlns:a16="http://schemas.microsoft.com/office/drawing/2014/main" id="{A3146247-A8FA-3244-93C0-0BABD1C5E6DB}"/>
              </a:ext>
            </a:extLst>
          </p:cNvPr>
          <p:cNvCxnSpPr>
            <a:cxnSpLocks/>
            <a:stCxn id="4" idx="3"/>
          </p:cNvCxnSpPr>
          <p:nvPr/>
        </p:nvCxnSpPr>
        <p:spPr>
          <a:xfrm flipV="1">
            <a:off x="7131830" y="1933718"/>
            <a:ext cx="163676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E785A6DF-C7BF-3D48-9240-E6F097705E95}"/>
                  </a:ext>
                </a:extLst>
              </p:cNvPr>
              <p:cNvSpPr txBox="1"/>
              <p:nvPr/>
            </p:nvSpPr>
            <p:spPr>
              <a:xfrm>
                <a:off x="5525122" y="1436702"/>
                <a:ext cx="601289" cy="31757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400" b="0" i="1" smtClean="0">
                              <a:latin typeface="Cambria Math" panose="02040503050406030204" pitchFamily="18" charset="0"/>
                            </a:rPr>
                          </m:ctrlPr>
                        </m:sSupPr>
                        <m:e>
                          <m:acc>
                            <m:accPr>
                              <m:chr m:val="̇"/>
                              <m:ctrlPr>
                                <a:rPr lang="fr-FR" sz="1400" b="0" i="1" smtClean="0">
                                  <a:latin typeface="Cambria Math" panose="02040503050406030204" pitchFamily="18" charset="0"/>
                                </a:rPr>
                              </m:ctrlPr>
                            </m:accPr>
                            <m:e>
                              <m:r>
                                <a:rPr lang="fr-FR" sz="1400" b="1" i="0" smtClean="0">
                                  <a:latin typeface="Cambria Math" panose="02040503050406030204" pitchFamily="18" charset="0"/>
                                </a:rPr>
                                <m:t>𝐪</m:t>
                              </m:r>
                            </m:e>
                          </m:acc>
                        </m:e>
                        <m:sup>
                          <m:r>
                            <a:rPr lang="fr-FR" sz="1400" b="0" i="1" smtClean="0">
                              <a:latin typeface="Cambria Math" panose="02040503050406030204" pitchFamily="18" charset="0"/>
                            </a:rPr>
                            <m:t>𝑑</m:t>
                          </m:r>
                        </m:sup>
                      </m:sSup>
                    </m:oMath>
                  </m:oMathPara>
                </a14:m>
                <a:endParaRPr lang="fr-FR" sz="1400" dirty="0"/>
              </a:p>
            </p:txBody>
          </p:sp>
        </mc:Choice>
        <mc:Fallback xmlns="">
          <p:sp>
            <p:nvSpPr>
              <p:cNvPr id="7" name="ZoneTexte 6">
                <a:extLst>
                  <a:ext uri="{FF2B5EF4-FFF2-40B4-BE49-F238E27FC236}">
                    <a16:creationId xmlns:a16="http://schemas.microsoft.com/office/drawing/2014/main" id="{E785A6DF-C7BF-3D48-9240-E6F097705E95}"/>
                  </a:ext>
                </a:extLst>
              </p:cNvPr>
              <p:cNvSpPr txBox="1">
                <a:spLocks noRot="1" noChangeAspect="1" noMove="1" noResize="1" noEditPoints="1" noAdjustHandles="1" noChangeArrowheads="1" noChangeShapeType="1" noTextEdit="1"/>
              </p:cNvSpPr>
              <p:nvPr/>
            </p:nvSpPr>
            <p:spPr>
              <a:xfrm>
                <a:off x="5525122" y="1436702"/>
                <a:ext cx="601289" cy="317578"/>
              </a:xfrm>
              <a:prstGeom prst="rect">
                <a:avLst/>
              </a:prstGeom>
              <a:blipFill>
                <a:blip r:embed="rId3"/>
                <a:stretch>
                  <a:fillRect b="-3846"/>
                </a:stretch>
              </a:blipFill>
            </p:spPr>
            <p:txBody>
              <a:bodyPr/>
              <a:lstStyle/>
              <a:p>
                <a:r>
                  <a:rPr lang="fr-FR">
                    <a:noFill/>
                  </a:rPr>
                  <a:t> </a:t>
                </a:r>
              </a:p>
            </p:txBody>
          </p:sp>
        </mc:Fallback>
      </mc:AlternateContent>
      <p:cxnSp>
        <p:nvCxnSpPr>
          <p:cNvPr id="8" name="Connecteur droit avec flèche 7">
            <a:extLst>
              <a:ext uri="{FF2B5EF4-FFF2-40B4-BE49-F238E27FC236}">
                <a16:creationId xmlns:a16="http://schemas.microsoft.com/office/drawing/2014/main" id="{0F4730A5-0BBF-1D4E-B2AC-BADB6769745B}"/>
              </a:ext>
            </a:extLst>
          </p:cNvPr>
          <p:cNvCxnSpPr>
            <a:cxnSpLocks/>
            <a:endCxn id="34" idx="2"/>
          </p:cNvCxnSpPr>
          <p:nvPr/>
        </p:nvCxnSpPr>
        <p:spPr>
          <a:xfrm flipV="1">
            <a:off x="3426190" y="1948082"/>
            <a:ext cx="347901"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9" name="Ellipse 8">
            <a:extLst>
              <a:ext uri="{FF2B5EF4-FFF2-40B4-BE49-F238E27FC236}">
                <a16:creationId xmlns:a16="http://schemas.microsoft.com/office/drawing/2014/main" id="{992DD7B2-CD76-4D40-96EE-C6B3C03880E3}"/>
              </a:ext>
            </a:extLst>
          </p:cNvPr>
          <p:cNvSpPr/>
          <p:nvPr/>
        </p:nvSpPr>
        <p:spPr>
          <a:xfrm>
            <a:off x="1095499" y="1822756"/>
            <a:ext cx="280936" cy="28077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cxnSp>
        <p:nvCxnSpPr>
          <p:cNvPr id="11" name="Connecteur droit avec flèche 10">
            <a:extLst>
              <a:ext uri="{FF2B5EF4-FFF2-40B4-BE49-F238E27FC236}">
                <a16:creationId xmlns:a16="http://schemas.microsoft.com/office/drawing/2014/main" id="{DB700A8E-386E-9B49-A9C1-E526E3AB26C4}"/>
              </a:ext>
            </a:extLst>
          </p:cNvPr>
          <p:cNvCxnSpPr>
            <a:cxnSpLocks/>
          </p:cNvCxnSpPr>
          <p:nvPr/>
        </p:nvCxnSpPr>
        <p:spPr>
          <a:xfrm>
            <a:off x="1376435" y="1957687"/>
            <a:ext cx="648001"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0A2E466D-534C-0743-BD68-4DE0F3B93554}"/>
              </a:ext>
            </a:extLst>
          </p:cNvPr>
          <p:cNvCxnSpPr/>
          <p:nvPr/>
        </p:nvCxnSpPr>
        <p:spPr>
          <a:xfrm>
            <a:off x="143015" y="1957687"/>
            <a:ext cx="900000"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3" name="Connecteur droit avec flèche 12">
            <a:extLst>
              <a:ext uri="{FF2B5EF4-FFF2-40B4-BE49-F238E27FC236}">
                <a16:creationId xmlns:a16="http://schemas.microsoft.com/office/drawing/2014/main" id="{43959A78-DD9E-A643-B4CB-0D389B09F1E7}"/>
              </a:ext>
            </a:extLst>
          </p:cNvPr>
          <p:cNvCxnSpPr/>
          <p:nvPr/>
        </p:nvCxnSpPr>
        <p:spPr>
          <a:xfrm flipV="1">
            <a:off x="1240434" y="2102539"/>
            <a:ext cx="0" cy="129600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4" name="Connecteur droit avec flèche 13">
            <a:extLst>
              <a:ext uri="{FF2B5EF4-FFF2-40B4-BE49-F238E27FC236}">
                <a16:creationId xmlns:a16="http://schemas.microsoft.com/office/drawing/2014/main" id="{CFDC5A66-5425-4645-86B9-450E98B6808A}"/>
              </a:ext>
            </a:extLst>
          </p:cNvPr>
          <p:cNvCxnSpPr/>
          <p:nvPr/>
        </p:nvCxnSpPr>
        <p:spPr>
          <a:xfrm flipV="1">
            <a:off x="8331250" y="1957686"/>
            <a:ext cx="0" cy="1404000"/>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Zone de texte 2">
                <a:extLst>
                  <a:ext uri="{FF2B5EF4-FFF2-40B4-BE49-F238E27FC236}">
                    <a16:creationId xmlns:a16="http://schemas.microsoft.com/office/drawing/2014/main" id="{BC2271A5-11A3-8943-9B7D-FDE9264E967F}"/>
                  </a:ext>
                </a:extLst>
              </p:cNvPr>
              <p:cNvSpPr txBox="1">
                <a:spLocks noChangeArrowheads="1"/>
              </p:cNvSpPr>
              <p:nvPr/>
            </p:nvSpPr>
            <p:spPr bwMode="auto">
              <a:xfrm>
                <a:off x="1121458" y="2063962"/>
                <a:ext cx="505289" cy="368084"/>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r>
                        <a:rPr lang="fr-FR" sz="11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5" name="Zone de texte 2">
                <a:extLst>
                  <a:ext uri="{FF2B5EF4-FFF2-40B4-BE49-F238E27FC236}">
                    <a16:creationId xmlns:a16="http://schemas.microsoft.com/office/drawing/2014/main" id="{BC2271A5-11A3-8943-9B7D-FDE9264E967F}"/>
                  </a:ext>
                </a:extLst>
              </p:cNvPr>
              <p:cNvSpPr txBox="1">
                <a:spLocks noRot="1" noChangeAspect="1" noMove="1" noResize="1" noEditPoints="1" noAdjustHandles="1" noChangeArrowheads="1" noChangeShapeType="1" noTextEdit="1"/>
              </p:cNvSpPr>
              <p:nvPr/>
            </p:nvSpPr>
            <p:spPr bwMode="auto">
              <a:xfrm>
                <a:off x="1121458" y="2063962"/>
                <a:ext cx="505289" cy="368084"/>
              </a:xfrm>
              <a:prstGeom prst="rect">
                <a:avLst/>
              </a:prstGeom>
              <a:blipFill>
                <a:blip r:embed="rId4"/>
                <a:stretch>
                  <a:fillRect/>
                </a:stretch>
              </a:blipFill>
              <a:ln w="9525">
                <a:noFill/>
                <a:miter lim="800000"/>
                <a:headEnd/>
                <a:tailEnd/>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6" name="Zone de texte 2">
                <a:extLst>
                  <a:ext uri="{FF2B5EF4-FFF2-40B4-BE49-F238E27FC236}">
                    <a16:creationId xmlns:a16="http://schemas.microsoft.com/office/drawing/2014/main" id="{7465E323-FA19-6B4F-91CC-845EAFE1D8D2}"/>
                  </a:ext>
                </a:extLst>
              </p:cNvPr>
              <p:cNvSpPr txBox="1">
                <a:spLocks noChangeArrowheads="1"/>
              </p:cNvSpPr>
              <p:nvPr/>
            </p:nvSpPr>
            <p:spPr bwMode="auto">
              <a:xfrm>
                <a:off x="706428" y="1914694"/>
                <a:ext cx="506281" cy="369076"/>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r>
                        <a:rPr lang="fr-FR" sz="11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6" name="Zone de texte 2">
                <a:extLst>
                  <a:ext uri="{FF2B5EF4-FFF2-40B4-BE49-F238E27FC236}">
                    <a16:creationId xmlns:a16="http://schemas.microsoft.com/office/drawing/2014/main" id="{7465E323-FA19-6B4F-91CC-845EAFE1D8D2}"/>
                  </a:ext>
                </a:extLst>
              </p:cNvPr>
              <p:cNvSpPr txBox="1">
                <a:spLocks noRot="1" noChangeAspect="1" noMove="1" noResize="1" noEditPoints="1" noAdjustHandles="1" noChangeArrowheads="1" noChangeShapeType="1" noTextEdit="1"/>
              </p:cNvSpPr>
              <p:nvPr/>
            </p:nvSpPr>
            <p:spPr bwMode="auto">
              <a:xfrm>
                <a:off x="706428" y="1914694"/>
                <a:ext cx="506281" cy="369076"/>
              </a:xfrm>
              <a:prstGeom prst="rect">
                <a:avLst/>
              </a:prstGeom>
              <a:blipFill>
                <a:blip r:embed="rId5"/>
                <a:stretch>
                  <a:fillRect/>
                </a:stretch>
              </a:blipFill>
              <a:ln w="9525">
                <a:noFill/>
                <a:miter lim="800000"/>
                <a:headEnd/>
                <a:tailEnd/>
              </a:ln>
            </p:spPr>
            <p:txBody>
              <a:bodyPr/>
              <a:lstStyle/>
              <a:p>
                <a:r>
                  <a:rPr lang="fr-FR">
                    <a:noFill/>
                  </a:rPr>
                  <a:t> </a:t>
                </a:r>
              </a:p>
            </p:txBody>
          </p:sp>
        </mc:Fallback>
      </mc:AlternateContent>
      <p:cxnSp>
        <p:nvCxnSpPr>
          <p:cNvPr id="17" name="Connecteur droit avec flèche 16">
            <a:extLst>
              <a:ext uri="{FF2B5EF4-FFF2-40B4-BE49-F238E27FC236}">
                <a16:creationId xmlns:a16="http://schemas.microsoft.com/office/drawing/2014/main" id="{944129B0-30DC-AC40-B014-182C4F1B9785}"/>
              </a:ext>
            </a:extLst>
          </p:cNvPr>
          <p:cNvCxnSpPr/>
          <p:nvPr/>
        </p:nvCxnSpPr>
        <p:spPr>
          <a:xfrm flipV="1">
            <a:off x="5349621" y="3397780"/>
            <a:ext cx="2988000" cy="427"/>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 name="ZoneTexte 17">
                <a:extLst>
                  <a:ext uri="{FF2B5EF4-FFF2-40B4-BE49-F238E27FC236}">
                    <a16:creationId xmlns:a16="http://schemas.microsoft.com/office/drawing/2014/main" id="{EEDEA608-066E-EC4A-9206-955910B79F08}"/>
                  </a:ext>
                </a:extLst>
              </p:cNvPr>
              <p:cNvSpPr txBox="1"/>
              <p:nvPr/>
            </p:nvSpPr>
            <p:spPr>
              <a:xfrm>
                <a:off x="-29902" y="1015635"/>
                <a:ext cx="1371595" cy="58310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600" b="0" i="1" smtClean="0">
                              <a:latin typeface="Cambria Math" panose="02040503050406030204" pitchFamily="18" charset="0"/>
                            </a:rPr>
                          </m:ctrlPr>
                        </m:sSupPr>
                        <m:e>
                          <m:r>
                            <a:rPr lang="fr-FR" sz="1600" b="1" i="0" smtClean="0">
                              <a:latin typeface="Cambria Math" panose="02040503050406030204" pitchFamily="18" charset="0"/>
                            </a:rPr>
                            <m:t>𝐱</m:t>
                          </m:r>
                        </m:e>
                        <m:sup>
                          <m:r>
                            <a:rPr lang="fr-FR" sz="1600" b="0" i="1" smtClean="0">
                              <a:latin typeface="Cambria Math" panose="02040503050406030204" pitchFamily="18" charset="0"/>
                            </a:rPr>
                            <m:t>𝑑</m:t>
                          </m:r>
                        </m:sup>
                      </m:sSup>
                      <m:r>
                        <a:rPr lang="fr-FR" sz="1600" b="0" i="1" smtClean="0">
                          <a:latin typeface="Cambria Math" panose="02040503050406030204" pitchFamily="18" charset="0"/>
                        </a:rPr>
                        <m:t>=</m:t>
                      </m:r>
                      <m:d>
                        <m:dPr>
                          <m:ctrlPr>
                            <a:rPr lang="fr-FR" sz="1600" b="0" i="1" smtClean="0">
                              <a:latin typeface="Cambria Math" panose="02040503050406030204" pitchFamily="18" charset="0"/>
                            </a:rPr>
                          </m:ctrlPr>
                        </m:dPr>
                        <m:e>
                          <m:m>
                            <m:mPr>
                              <m:mcs>
                                <m:mc>
                                  <m:mcPr>
                                    <m:count m:val="1"/>
                                    <m:mcJc m:val="center"/>
                                  </m:mcPr>
                                </m:mc>
                              </m:mcs>
                              <m:ctrlPr>
                                <a:rPr lang="fr-FR" sz="1600" b="0" i="1" smtClean="0">
                                  <a:latin typeface="Cambria Math" panose="02040503050406030204" pitchFamily="18" charset="0"/>
                                </a:rPr>
                              </m:ctrlPr>
                            </m:mPr>
                            <m:mr>
                              <m:e>
                                <m:sSup>
                                  <m:sSupPr>
                                    <m:ctrlPr>
                                      <a:rPr lang="fr-FR" sz="1600" i="1">
                                        <a:latin typeface="Cambria Math" panose="02040503050406030204" pitchFamily="18" charset="0"/>
                                        <a:cs typeface="Times New Roman" panose="02020603050405020304" pitchFamily="18" charset="0"/>
                                      </a:rPr>
                                    </m:ctrlPr>
                                  </m:sSupPr>
                                  <m:e>
                                    <m:r>
                                      <a:rPr lang="fr-FR" sz="1600" i="1">
                                        <a:latin typeface="Cambria Math" panose="02040503050406030204" pitchFamily="18" charset="0"/>
                                        <a:cs typeface="Times New Roman" panose="02020603050405020304" pitchFamily="18" charset="0"/>
                                      </a:rPr>
                                      <m:t>𝑥</m:t>
                                    </m:r>
                                  </m:e>
                                  <m:sup>
                                    <m:r>
                                      <a:rPr lang="fr-FR" sz="1600" i="1">
                                        <a:latin typeface="Cambria Math" panose="02040503050406030204" pitchFamily="18" charset="0"/>
                                        <a:cs typeface="Times New Roman" panose="02020603050405020304" pitchFamily="18" charset="0"/>
                                      </a:rPr>
                                      <m:t>𝑑</m:t>
                                    </m:r>
                                  </m:sup>
                                </m:sSup>
                              </m:e>
                            </m:mr>
                            <m:mr>
                              <m:e>
                                <m:sSup>
                                  <m:sSupPr>
                                    <m:ctrlPr>
                                      <a:rPr lang="fr-FR" sz="1600" i="1">
                                        <a:latin typeface="Cambria Math" panose="02040503050406030204" pitchFamily="18" charset="0"/>
                                        <a:cs typeface="Times New Roman" panose="02020603050405020304" pitchFamily="18" charset="0"/>
                                      </a:rPr>
                                    </m:ctrlPr>
                                  </m:sSupPr>
                                  <m:e>
                                    <m:r>
                                      <a:rPr lang="fr-FR" sz="1600" b="0" i="1" smtClean="0">
                                        <a:latin typeface="Cambria Math" panose="02040503050406030204" pitchFamily="18" charset="0"/>
                                        <a:cs typeface="Times New Roman" panose="02020603050405020304" pitchFamily="18" charset="0"/>
                                      </a:rPr>
                                      <m:t>𝑦</m:t>
                                    </m:r>
                                  </m:e>
                                  <m:sup>
                                    <m:r>
                                      <a:rPr lang="fr-FR" sz="1600" i="1">
                                        <a:latin typeface="Cambria Math" panose="02040503050406030204" pitchFamily="18" charset="0"/>
                                        <a:cs typeface="Times New Roman" panose="02020603050405020304" pitchFamily="18" charset="0"/>
                                      </a:rPr>
                                      <m:t>𝑑</m:t>
                                    </m:r>
                                  </m:sup>
                                </m:sSup>
                              </m:e>
                            </m:mr>
                          </m:m>
                        </m:e>
                      </m:d>
                    </m:oMath>
                  </m:oMathPara>
                </a14:m>
                <a:endParaRPr lang="fr-FR" sz="1600" dirty="0"/>
              </a:p>
            </p:txBody>
          </p:sp>
        </mc:Choice>
        <mc:Fallback>
          <p:sp>
            <p:nvSpPr>
              <p:cNvPr id="18" name="ZoneTexte 17">
                <a:extLst>
                  <a:ext uri="{FF2B5EF4-FFF2-40B4-BE49-F238E27FC236}">
                    <a16:creationId xmlns:a16="http://schemas.microsoft.com/office/drawing/2014/main" id="{EEDEA608-066E-EC4A-9206-955910B79F08}"/>
                  </a:ext>
                </a:extLst>
              </p:cNvPr>
              <p:cNvSpPr txBox="1">
                <a:spLocks noRot="1" noChangeAspect="1" noMove="1" noResize="1" noEditPoints="1" noAdjustHandles="1" noChangeArrowheads="1" noChangeShapeType="1" noTextEdit="1"/>
              </p:cNvSpPr>
              <p:nvPr/>
            </p:nvSpPr>
            <p:spPr>
              <a:xfrm>
                <a:off x="-29902" y="1015635"/>
                <a:ext cx="1371595" cy="583108"/>
              </a:xfrm>
              <a:prstGeom prst="rect">
                <a:avLst/>
              </a:prstGeom>
              <a:blipFill>
                <a:blip r:embed="rId6"/>
                <a:stretch>
                  <a:fillRect b="-4348"/>
                </a:stretch>
              </a:blipFill>
            </p:spPr>
            <p:txBody>
              <a:bodyPr/>
              <a:lstStyle/>
              <a:p>
                <a:r>
                  <a:rPr lang="en-FR">
                    <a:noFill/>
                  </a:rPr>
                  <a:t> </a:t>
                </a:r>
              </a:p>
            </p:txBody>
          </p:sp>
        </mc:Fallback>
      </mc:AlternateContent>
      <p:sp>
        <p:nvSpPr>
          <p:cNvPr id="19" name="Rectangle 18">
            <a:extLst>
              <a:ext uri="{FF2B5EF4-FFF2-40B4-BE49-F238E27FC236}">
                <a16:creationId xmlns:a16="http://schemas.microsoft.com/office/drawing/2014/main" id="{459B12A9-CCF5-C444-875C-9C3E99957C52}"/>
              </a:ext>
            </a:extLst>
          </p:cNvPr>
          <p:cNvSpPr/>
          <p:nvPr/>
        </p:nvSpPr>
        <p:spPr>
          <a:xfrm>
            <a:off x="4313511" y="3141098"/>
            <a:ext cx="1047307" cy="5133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r>
              <a:rPr lang="fr-FR" sz="1600" dirty="0">
                <a:solidFill>
                  <a:srgbClr val="000000"/>
                </a:solidFill>
                <a:effectLst/>
                <a:ea typeface="Calibri" panose="020F0502020204030204" pitchFamily="34" charset="0"/>
                <a:cs typeface="Times New Roman" panose="02020603050405020304" pitchFamily="18" charset="0"/>
              </a:rPr>
              <a:t>DKM</a:t>
            </a:r>
            <a:endParaRPr lang="fr-FR" sz="1600" dirty="0">
              <a:effectLst/>
              <a:ea typeface="Calibri" panose="020F0502020204030204" pitchFamily="34" charset="0"/>
              <a:cs typeface="Times New Roman" panose="02020603050405020304" pitchFamily="18" charset="0"/>
            </a:endParaRPr>
          </a:p>
        </p:txBody>
      </p:sp>
      <p:cxnSp>
        <p:nvCxnSpPr>
          <p:cNvPr id="20" name="Connecteur droit avec flèche 19">
            <a:extLst>
              <a:ext uri="{FF2B5EF4-FFF2-40B4-BE49-F238E27FC236}">
                <a16:creationId xmlns:a16="http://schemas.microsoft.com/office/drawing/2014/main" id="{4F43D5DA-408D-C74E-AE44-FC5D488E6C32}"/>
              </a:ext>
            </a:extLst>
          </p:cNvPr>
          <p:cNvCxnSpPr/>
          <p:nvPr/>
        </p:nvCxnSpPr>
        <p:spPr>
          <a:xfrm flipV="1">
            <a:off x="1234519" y="3391129"/>
            <a:ext cx="3024000" cy="427"/>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1" name="Rectangle 20">
                <a:extLst>
                  <a:ext uri="{FF2B5EF4-FFF2-40B4-BE49-F238E27FC236}">
                    <a16:creationId xmlns:a16="http://schemas.microsoft.com/office/drawing/2014/main" id="{FA12EC57-C94D-DC4D-8B38-2ED07C9B3785}"/>
                  </a:ext>
                </a:extLst>
              </p:cNvPr>
              <p:cNvSpPr/>
              <p:nvPr/>
            </p:nvSpPr>
            <p:spPr>
              <a:xfrm>
                <a:off x="4447695" y="1691548"/>
                <a:ext cx="1149915" cy="5322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14:m>
                  <m:oMathPara xmlns:m="http://schemas.openxmlformats.org/officeDocument/2006/math">
                    <m:oMathParaPr>
                      <m:jc m:val="centerGroup"/>
                    </m:oMathParaPr>
                    <m:oMath xmlns:m="http://schemas.openxmlformats.org/officeDocument/2006/math">
                      <m:sSup>
                        <m:sSupPr>
                          <m:ctrlPr>
                            <a:rPr lang="fr-FR" sz="1600" b="1" i="1" smtClean="0">
                              <a:solidFill>
                                <a:schemeClr val="tx1"/>
                              </a:solidFill>
                              <a:latin typeface="Cambria Math" panose="02040503050406030204" pitchFamily="18" charset="0"/>
                            </a:rPr>
                          </m:ctrlPr>
                        </m:sSupPr>
                        <m:e>
                          <m:sSub>
                            <m:sSubPr>
                              <m:ctrlPr>
                                <a:rPr lang="fr-FR" sz="1600" b="1" i="1">
                                  <a:solidFill>
                                    <a:schemeClr val="tx1"/>
                                  </a:solidFill>
                                  <a:latin typeface="Cambria Math" panose="02040503050406030204" pitchFamily="18" charset="0"/>
                                </a:rPr>
                              </m:ctrlPr>
                            </m:sSubPr>
                            <m:e>
                              <m:r>
                                <a:rPr lang="fr-FR" sz="1600" b="1" i="0">
                                  <a:solidFill>
                                    <a:schemeClr val="tx1"/>
                                  </a:solidFill>
                                  <a:latin typeface="Cambria Math" panose="02040503050406030204" pitchFamily="18" charset="0"/>
                                </a:rPr>
                                <m:t>𝐉</m:t>
                              </m:r>
                            </m:e>
                            <m:sub>
                              <m:r>
                                <a:rPr lang="fr-FR" sz="1600" b="1" i="1" smtClean="0">
                                  <a:solidFill>
                                    <a:schemeClr val="tx1"/>
                                  </a:solidFill>
                                  <a:latin typeface="Cambria Math" panose="02040503050406030204" pitchFamily="18" charset="0"/>
                                </a:rPr>
                                <m:t>𝒙</m:t>
                              </m:r>
                            </m:sub>
                          </m:sSub>
                        </m:e>
                        <m:sup>
                          <m:r>
                            <a:rPr lang="fr-FR" sz="1600" b="1" i="1" smtClean="0">
                              <a:solidFill>
                                <a:schemeClr val="tx1"/>
                              </a:solidFill>
                              <a:latin typeface="Cambria Math" panose="02040503050406030204" pitchFamily="18" charset="0"/>
                            </a:rPr>
                            <m:t>−</m:t>
                          </m:r>
                          <m:r>
                            <a:rPr lang="fr-FR" sz="1600" b="1" i="1" smtClean="0">
                              <a:solidFill>
                                <a:schemeClr val="tx1"/>
                              </a:solidFill>
                              <a:latin typeface="Cambria Math" panose="02040503050406030204" pitchFamily="18" charset="0"/>
                            </a:rPr>
                            <m:t>𝟏</m:t>
                          </m:r>
                        </m:sup>
                      </m:sSup>
                    </m:oMath>
                  </m:oMathPara>
                </a14:m>
                <a:endParaRPr lang="fr-FR" sz="1600" dirty="0">
                  <a:solidFill>
                    <a:schemeClr val="tx1"/>
                  </a:solidFill>
                  <a:ea typeface="Calibri" panose="020F0502020204030204" pitchFamily="34" charset="0"/>
                  <a:cs typeface="Times New Roman" panose="02020603050405020304" pitchFamily="18" charset="0"/>
                </a:endParaRPr>
              </a:p>
            </p:txBody>
          </p:sp>
        </mc:Choice>
        <mc:Fallback>
          <p:sp>
            <p:nvSpPr>
              <p:cNvPr id="21" name="Rectangle 20">
                <a:extLst>
                  <a:ext uri="{FF2B5EF4-FFF2-40B4-BE49-F238E27FC236}">
                    <a16:creationId xmlns:a16="http://schemas.microsoft.com/office/drawing/2014/main" id="{FA12EC57-C94D-DC4D-8B38-2ED07C9B3785}"/>
                  </a:ext>
                </a:extLst>
              </p:cNvPr>
              <p:cNvSpPr>
                <a:spLocks noRot="1" noChangeAspect="1" noMove="1" noResize="1" noEditPoints="1" noAdjustHandles="1" noChangeArrowheads="1" noChangeShapeType="1" noTextEdit="1"/>
              </p:cNvSpPr>
              <p:nvPr/>
            </p:nvSpPr>
            <p:spPr>
              <a:xfrm>
                <a:off x="4447695" y="1691548"/>
                <a:ext cx="1149915" cy="532277"/>
              </a:xfrm>
              <a:prstGeom prst="rect">
                <a:avLst/>
              </a:prstGeom>
              <a:blipFill>
                <a:blip r:embed="rId7"/>
                <a:stretch>
                  <a:fillRect/>
                </a:stretch>
              </a:blipFill>
              <a:ln>
                <a:solidFill>
                  <a:schemeClr val="tx1"/>
                </a:solidFill>
              </a:ln>
            </p:spPr>
            <p:txBody>
              <a:bodyPr/>
              <a:lstStyle/>
              <a:p>
                <a:r>
                  <a:rPr lang="en-FR">
                    <a:noFill/>
                  </a:rPr>
                  <a:t> </a:t>
                </a:r>
              </a:p>
            </p:txBody>
          </p:sp>
        </mc:Fallback>
      </mc:AlternateContent>
      <p:sp>
        <p:nvSpPr>
          <p:cNvPr id="52" name="ZoneTexte 51">
            <a:extLst>
              <a:ext uri="{FF2B5EF4-FFF2-40B4-BE49-F238E27FC236}">
                <a16:creationId xmlns:a16="http://schemas.microsoft.com/office/drawing/2014/main" id="{C46FF2D5-86FA-6F4E-AB5E-C491DEEFDA90}"/>
              </a:ext>
            </a:extLst>
          </p:cNvPr>
          <p:cNvSpPr txBox="1"/>
          <p:nvPr/>
        </p:nvSpPr>
        <p:spPr>
          <a:xfrm>
            <a:off x="4559117" y="1379632"/>
            <a:ext cx="979714" cy="338554"/>
          </a:xfrm>
          <a:prstGeom prst="rect">
            <a:avLst/>
          </a:prstGeom>
          <a:noFill/>
        </p:spPr>
        <p:txBody>
          <a:bodyPr wrap="square" rtlCol="0">
            <a:spAutoFit/>
          </a:bodyPr>
          <a:lstStyle/>
          <a:p>
            <a:pPr algn="ctr"/>
            <a:r>
              <a:rPr lang="fr-FR" sz="1600" dirty="0">
                <a:latin typeface="+mn-lt"/>
                <a:cs typeface="Times New Roman" panose="02020603050405020304" pitchFamily="18" charset="0"/>
              </a:rPr>
              <a:t>IDKM</a:t>
            </a:r>
          </a:p>
        </p:txBody>
      </p:sp>
      <mc:AlternateContent xmlns:mc="http://schemas.openxmlformats.org/markup-compatibility/2006" xmlns:a14="http://schemas.microsoft.com/office/drawing/2010/main">
        <mc:Choice Requires="a14">
          <p:sp>
            <p:nvSpPr>
              <p:cNvPr id="53" name="ZoneTexte 52">
                <a:extLst>
                  <a:ext uri="{FF2B5EF4-FFF2-40B4-BE49-F238E27FC236}">
                    <a16:creationId xmlns:a16="http://schemas.microsoft.com/office/drawing/2014/main" id="{CE204E5C-C2E2-1E4B-85BC-1E2BEF2D3881}"/>
                  </a:ext>
                </a:extLst>
              </p:cNvPr>
              <p:cNvSpPr txBox="1"/>
              <p:nvPr/>
            </p:nvSpPr>
            <p:spPr>
              <a:xfrm>
                <a:off x="1209218" y="929407"/>
                <a:ext cx="601289" cy="31156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400" b="0" i="1" smtClean="0">
                              <a:solidFill>
                                <a:schemeClr val="tx1"/>
                              </a:solidFill>
                              <a:latin typeface="Cambria Math" panose="02040503050406030204" pitchFamily="18" charset="0"/>
                            </a:rPr>
                          </m:ctrlPr>
                        </m:sSupPr>
                        <m:e>
                          <m:acc>
                            <m:accPr>
                              <m:chr m:val="̇"/>
                              <m:ctrlPr>
                                <a:rPr lang="fr-FR" sz="1400" b="0" i="1" smtClean="0">
                                  <a:solidFill>
                                    <a:schemeClr val="tx1"/>
                                  </a:solidFill>
                                  <a:latin typeface="Cambria Math" panose="02040503050406030204" pitchFamily="18" charset="0"/>
                                </a:rPr>
                              </m:ctrlPr>
                            </m:accPr>
                            <m:e>
                              <m:r>
                                <a:rPr lang="fr-FR" sz="1400" b="1" i="0" smtClean="0">
                                  <a:solidFill>
                                    <a:schemeClr val="tx1"/>
                                  </a:solidFill>
                                  <a:latin typeface="Cambria Math" panose="02040503050406030204" pitchFamily="18" charset="0"/>
                                </a:rPr>
                                <m:t>𝐱</m:t>
                              </m:r>
                            </m:e>
                          </m:acc>
                        </m:e>
                        <m:sup>
                          <m:r>
                            <a:rPr lang="fr-FR" sz="1400" b="0" i="1" smtClean="0">
                              <a:solidFill>
                                <a:schemeClr val="tx1"/>
                              </a:solidFill>
                              <a:latin typeface="Cambria Math" panose="02040503050406030204" pitchFamily="18" charset="0"/>
                            </a:rPr>
                            <m:t>𝑑</m:t>
                          </m:r>
                        </m:sup>
                      </m:sSup>
                    </m:oMath>
                  </m:oMathPara>
                </a14:m>
                <a:endParaRPr lang="fr-FR" sz="1400" dirty="0"/>
              </a:p>
            </p:txBody>
          </p:sp>
        </mc:Choice>
        <mc:Fallback xmlns="">
          <p:sp>
            <p:nvSpPr>
              <p:cNvPr id="53" name="ZoneTexte 52">
                <a:extLst>
                  <a:ext uri="{FF2B5EF4-FFF2-40B4-BE49-F238E27FC236}">
                    <a16:creationId xmlns:a16="http://schemas.microsoft.com/office/drawing/2014/main" id="{CE204E5C-C2E2-1E4B-85BC-1E2BEF2D3881}"/>
                  </a:ext>
                </a:extLst>
              </p:cNvPr>
              <p:cNvSpPr txBox="1">
                <a:spLocks noRot="1" noChangeAspect="1" noMove="1" noResize="1" noEditPoints="1" noAdjustHandles="1" noChangeArrowheads="1" noChangeShapeType="1" noTextEdit="1"/>
              </p:cNvSpPr>
              <p:nvPr/>
            </p:nvSpPr>
            <p:spPr>
              <a:xfrm>
                <a:off x="1209218" y="929407"/>
                <a:ext cx="601289" cy="311560"/>
              </a:xfrm>
              <a:prstGeom prst="rect">
                <a:avLst/>
              </a:prstGeom>
              <a:blipFill>
                <a:blip r:embed="rId10"/>
                <a:stretch>
                  <a:fillRect/>
                </a:stretch>
              </a:blipFill>
            </p:spPr>
            <p:txBody>
              <a:bodyPr/>
              <a:lstStyle/>
              <a:p>
                <a:r>
                  <a:rPr lang="fr-FR">
                    <a:noFill/>
                  </a:rPr>
                  <a:t> </a:t>
                </a:r>
              </a:p>
            </p:txBody>
          </p:sp>
        </mc:Fallback>
      </mc:AlternateContent>
      <mc:AlternateContent xmlns:mc="http://schemas.openxmlformats.org/markup-compatibility/2006">
        <mc:Choice xmlns:a14="http://schemas.microsoft.com/office/drawing/2010/main" Requires="a14">
          <p:sp>
            <p:nvSpPr>
              <p:cNvPr id="56" name="ZoneTexte 55">
                <a:extLst>
                  <a:ext uri="{FF2B5EF4-FFF2-40B4-BE49-F238E27FC236}">
                    <a16:creationId xmlns:a16="http://schemas.microsoft.com/office/drawing/2014/main" id="{33914C32-75C6-574C-BCF0-7198979E765E}"/>
                  </a:ext>
                </a:extLst>
              </p:cNvPr>
              <p:cNvSpPr txBox="1"/>
              <p:nvPr/>
            </p:nvSpPr>
            <p:spPr>
              <a:xfrm>
                <a:off x="7320424" y="1315903"/>
                <a:ext cx="1448166" cy="5525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1" i="0" smtClean="0">
                          <a:latin typeface="Cambria Math" panose="02040503050406030204" pitchFamily="18" charset="0"/>
                        </a:rPr>
                        <m:t>𝐪</m:t>
                      </m:r>
                      <m:r>
                        <a:rPr lang="fr-FR" sz="1600" b="0" i="1" smtClean="0">
                          <a:latin typeface="Cambria Math" panose="02040503050406030204" pitchFamily="18" charset="0"/>
                        </a:rPr>
                        <m:t>=</m:t>
                      </m:r>
                      <m:d>
                        <m:dPr>
                          <m:ctrlPr>
                            <a:rPr lang="fr-FR" sz="1600" b="0" i="1" smtClean="0">
                              <a:latin typeface="Cambria Math" panose="02040503050406030204" pitchFamily="18" charset="0"/>
                            </a:rPr>
                          </m:ctrlPr>
                        </m:dPr>
                        <m:e>
                          <m:eqArr>
                            <m:eqArrPr>
                              <m:ctrlPr>
                                <a:rPr lang="fr-FR" sz="1600" b="0" i="1" smtClean="0">
                                  <a:latin typeface="Cambria Math" panose="02040503050406030204" pitchFamily="18" charset="0"/>
                                </a:rPr>
                              </m:ctrlPr>
                            </m:eqArrPr>
                            <m:e>
                              <m:sSub>
                                <m:sSubPr>
                                  <m:ctrlPr>
                                    <a:rPr lang="fr-FR" sz="1600" b="0" i="1" smtClean="0">
                                      <a:latin typeface="Cambria Math" panose="02040503050406030204" pitchFamily="18" charset="0"/>
                                    </a:rPr>
                                  </m:ctrlPr>
                                </m:sSubPr>
                                <m:e>
                                  <m:r>
                                    <a:rPr lang="fr-FR" sz="1600" b="0" i="1" smtClean="0">
                                      <a:latin typeface="Cambria Math" panose="02040503050406030204" pitchFamily="18" charset="0"/>
                                      <a:ea typeface="Cambria Math" panose="02040503050406030204" pitchFamily="18" charset="0"/>
                                    </a:rPr>
                                    <m:t>𝜃</m:t>
                                  </m:r>
                                </m:e>
                                <m:sub>
                                  <m:r>
                                    <a:rPr lang="fr-FR" sz="1600" b="0" i="1" smtClean="0">
                                      <a:latin typeface="Cambria Math" panose="02040503050406030204" pitchFamily="18" charset="0"/>
                                    </a:rPr>
                                    <m:t>1</m:t>
                                  </m:r>
                                </m:sub>
                              </m:sSub>
                            </m:e>
                            <m:e>
                              <m:sSub>
                                <m:sSubPr>
                                  <m:ctrlPr>
                                    <a:rPr lang="fr-FR" sz="1600" i="1" smtClean="0">
                                      <a:latin typeface="Cambria Math" panose="02040503050406030204" pitchFamily="18" charset="0"/>
                                    </a:rPr>
                                  </m:ctrlPr>
                                </m:sSubPr>
                                <m:e>
                                  <m:r>
                                    <a:rPr lang="fr-FR" sz="1600" i="1" smtClean="0">
                                      <a:latin typeface="Cambria Math" panose="02040503050406030204" pitchFamily="18" charset="0"/>
                                      <a:ea typeface="Cambria Math" panose="02040503050406030204" pitchFamily="18" charset="0"/>
                                    </a:rPr>
                                    <m:t>𝜃</m:t>
                                  </m:r>
                                </m:e>
                                <m:sub>
                                  <m:r>
                                    <a:rPr lang="fr-FR" sz="1600" b="0" i="1" smtClean="0">
                                      <a:latin typeface="Cambria Math" panose="02040503050406030204" pitchFamily="18" charset="0"/>
                                    </a:rPr>
                                    <m:t>2</m:t>
                                  </m:r>
                                </m:sub>
                              </m:sSub>
                            </m:e>
                          </m:eqArr>
                        </m:e>
                      </m:d>
                    </m:oMath>
                  </m:oMathPara>
                </a14:m>
                <a:endParaRPr lang="fr-FR" sz="1600" dirty="0"/>
              </a:p>
            </p:txBody>
          </p:sp>
        </mc:Choice>
        <mc:Fallback>
          <p:sp>
            <p:nvSpPr>
              <p:cNvPr id="56" name="ZoneTexte 55">
                <a:extLst>
                  <a:ext uri="{FF2B5EF4-FFF2-40B4-BE49-F238E27FC236}">
                    <a16:creationId xmlns:a16="http://schemas.microsoft.com/office/drawing/2014/main" id="{33914C32-75C6-574C-BCF0-7198979E765E}"/>
                  </a:ext>
                </a:extLst>
              </p:cNvPr>
              <p:cNvSpPr txBox="1">
                <a:spLocks noRot="1" noChangeAspect="1" noMove="1" noResize="1" noEditPoints="1" noAdjustHandles="1" noChangeArrowheads="1" noChangeShapeType="1" noTextEdit="1"/>
              </p:cNvSpPr>
              <p:nvPr/>
            </p:nvSpPr>
            <p:spPr>
              <a:xfrm>
                <a:off x="7320424" y="1315903"/>
                <a:ext cx="1448166" cy="552587"/>
              </a:xfrm>
              <a:prstGeom prst="rect">
                <a:avLst/>
              </a:prstGeom>
              <a:blipFill>
                <a:blip r:embed="rId11"/>
                <a:stretch>
                  <a:fillRect/>
                </a:stretch>
              </a:blipFill>
            </p:spPr>
            <p:txBody>
              <a:bodyPr/>
              <a:lstStyle/>
              <a:p>
                <a:r>
                  <a:rPr lang="en-FR">
                    <a:noFill/>
                  </a:rPr>
                  <a:t> </a:t>
                </a:r>
              </a:p>
            </p:txBody>
          </p:sp>
        </mc:Fallback>
      </mc:AlternateContent>
      <mc:AlternateContent xmlns:mc="http://schemas.openxmlformats.org/markup-compatibility/2006">
        <mc:Choice xmlns:a14="http://schemas.microsoft.com/office/drawing/2010/main" Requires="a14">
          <p:sp>
            <p:nvSpPr>
              <p:cNvPr id="57" name="ZoneTexte 56">
                <a:extLst>
                  <a:ext uri="{FF2B5EF4-FFF2-40B4-BE49-F238E27FC236}">
                    <a16:creationId xmlns:a16="http://schemas.microsoft.com/office/drawing/2014/main" id="{EFF86EA4-FF6A-3F49-8504-A370950CEA58}"/>
                  </a:ext>
                </a:extLst>
              </p:cNvPr>
              <p:cNvSpPr txBox="1"/>
              <p:nvPr/>
            </p:nvSpPr>
            <p:spPr>
              <a:xfrm>
                <a:off x="1014637" y="3459462"/>
                <a:ext cx="1371595" cy="5041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600" b="1" i="0" smtClean="0">
                          <a:latin typeface="Cambria Math" panose="02040503050406030204" pitchFamily="18" charset="0"/>
                        </a:rPr>
                        <m:t>𝐱</m:t>
                      </m:r>
                      <m:r>
                        <a:rPr lang="fr-FR" sz="1600" b="0" i="1" smtClean="0">
                          <a:latin typeface="Cambria Math" panose="02040503050406030204" pitchFamily="18" charset="0"/>
                        </a:rPr>
                        <m:t>=</m:t>
                      </m:r>
                      <m:d>
                        <m:dPr>
                          <m:ctrlPr>
                            <a:rPr lang="fr-FR" sz="1600" b="0" i="1" smtClean="0">
                              <a:latin typeface="Cambria Math" panose="02040503050406030204" pitchFamily="18" charset="0"/>
                            </a:rPr>
                          </m:ctrlPr>
                        </m:dPr>
                        <m:e>
                          <m:m>
                            <m:mPr>
                              <m:mcs>
                                <m:mc>
                                  <m:mcPr>
                                    <m:count m:val="1"/>
                                    <m:mcJc m:val="center"/>
                                  </m:mcPr>
                                </m:mc>
                              </m:mcs>
                              <m:ctrlPr>
                                <a:rPr lang="fr-FR" sz="1600" b="0" i="1" smtClean="0">
                                  <a:latin typeface="Cambria Math" panose="02040503050406030204" pitchFamily="18" charset="0"/>
                                </a:rPr>
                              </m:ctrlPr>
                            </m:mPr>
                            <m:mr>
                              <m:e>
                                <m:r>
                                  <m:rPr>
                                    <m:brk m:alnAt="7"/>
                                  </m:rPr>
                                  <a:rPr lang="fr-FR" sz="1600" b="0" i="1" smtClean="0">
                                    <a:latin typeface="Cambria Math" panose="02040503050406030204" pitchFamily="18" charset="0"/>
                                  </a:rPr>
                                  <m:t>𝑥</m:t>
                                </m:r>
                              </m:e>
                            </m:mr>
                            <m:mr>
                              <m:e>
                                <m:r>
                                  <a:rPr lang="fr-FR" sz="1600" b="0" i="1" smtClean="0">
                                    <a:latin typeface="Cambria Math" panose="02040503050406030204" pitchFamily="18" charset="0"/>
                                  </a:rPr>
                                  <m:t>𝑦</m:t>
                                </m:r>
                              </m:e>
                            </m:mr>
                          </m:m>
                        </m:e>
                      </m:d>
                    </m:oMath>
                  </m:oMathPara>
                </a14:m>
                <a:endParaRPr lang="fr-FR" sz="1600" dirty="0"/>
              </a:p>
            </p:txBody>
          </p:sp>
        </mc:Choice>
        <mc:Fallback>
          <p:sp>
            <p:nvSpPr>
              <p:cNvPr id="57" name="ZoneTexte 56">
                <a:extLst>
                  <a:ext uri="{FF2B5EF4-FFF2-40B4-BE49-F238E27FC236}">
                    <a16:creationId xmlns:a16="http://schemas.microsoft.com/office/drawing/2014/main" id="{EFF86EA4-FF6A-3F49-8504-A370950CEA58}"/>
                  </a:ext>
                </a:extLst>
              </p:cNvPr>
              <p:cNvSpPr txBox="1">
                <a:spLocks noRot="1" noChangeAspect="1" noMove="1" noResize="1" noEditPoints="1" noAdjustHandles="1" noChangeArrowheads="1" noChangeShapeType="1" noTextEdit="1"/>
              </p:cNvSpPr>
              <p:nvPr/>
            </p:nvSpPr>
            <p:spPr>
              <a:xfrm>
                <a:off x="1014637" y="3459462"/>
                <a:ext cx="1371595" cy="504112"/>
              </a:xfrm>
              <a:prstGeom prst="rect">
                <a:avLst/>
              </a:prstGeom>
              <a:blipFill>
                <a:blip r:embed="rId12"/>
                <a:stretch>
                  <a:fillRect b="-5000"/>
                </a:stretch>
              </a:blipFill>
            </p:spPr>
            <p:txBody>
              <a:bodyPr/>
              <a:lstStyle/>
              <a:p>
                <a:r>
                  <a:rPr lang="en-FR">
                    <a:noFill/>
                  </a:rPr>
                  <a:t> </a:t>
                </a:r>
              </a:p>
            </p:txBody>
          </p:sp>
        </mc:Fallback>
      </mc:AlternateContent>
      <p:sp>
        <p:nvSpPr>
          <p:cNvPr id="28" name="ZoneTexte 27">
            <a:extLst>
              <a:ext uri="{FF2B5EF4-FFF2-40B4-BE49-F238E27FC236}">
                <a16:creationId xmlns:a16="http://schemas.microsoft.com/office/drawing/2014/main" id="{A1DECC40-A89E-B842-8328-37CDFC01BB31}"/>
              </a:ext>
            </a:extLst>
          </p:cNvPr>
          <p:cNvSpPr txBox="1"/>
          <p:nvPr/>
        </p:nvSpPr>
        <p:spPr>
          <a:xfrm>
            <a:off x="2623327" y="3841660"/>
            <a:ext cx="3897345" cy="646331"/>
          </a:xfrm>
          <a:prstGeom prst="rect">
            <a:avLst/>
          </a:prstGeom>
          <a:noFill/>
        </p:spPr>
        <p:txBody>
          <a:bodyPr wrap="square" rtlCol="0">
            <a:spAutoFit/>
          </a:bodyPr>
          <a:lstStyle/>
          <a:p>
            <a:r>
              <a:rPr lang="en-GB" sz="3600" dirty="0">
                <a:solidFill>
                  <a:srgbClr val="FF0000"/>
                </a:solidFill>
              </a:rPr>
              <a:t>kinematic control</a:t>
            </a:r>
            <a:endParaRPr lang="fr-FR" sz="3600" dirty="0">
              <a:solidFill>
                <a:srgbClr val="FF0000"/>
              </a:solidFill>
            </a:endParaRPr>
          </a:p>
        </p:txBody>
      </p:sp>
      <p:sp>
        <p:nvSpPr>
          <p:cNvPr id="34" name="Ellipse 33">
            <a:extLst>
              <a:ext uri="{FF2B5EF4-FFF2-40B4-BE49-F238E27FC236}">
                <a16:creationId xmlns:a16="http://schemas.microsoft.com/office/drawing/2014/main" id="{CC6AA54C-2054-1A47-BAF5-3FF803214594}"/>
              </a:ext>
            </a:extLst>
          </p:cNvPr>
          <p:cNvSpPr/>
          <p:nvPr/>
        </p:nvSpPr>
        <p:spPr>
          <a:xfrm>
            <a:off x="3774091" y="1807694"/>
            <a:ext cx="280936" cy="28077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cxnSp>
        <p:nvCxnSpPr>
          <p:cNvPr id="30" name="Connecteur droit 29">
            <a:extLst>
              <a:ext uri="{FF2B5EF4-FFF2-40B4-BE49-F238E27FC236}">
                <a16:creationId xmlns:a16="http://schemas.microsoft.com/office/drawing/2014/main" id="{7DD14D7A-38F4-4A45-BBAE-33454BB6C9D3}"/>
              </a:ext>
            </a:extLst>
          </p:cNvPr>
          <p:cNvCxnSpPr>
            <a:cxnSpLocks/>
            <a:stCxn id="53" idx="3"/>
          </p:cNvCxnSpPr>
          <p:nvPr/>
        </p:nvCxnSpPr>
        <p:spPr>
          <a:xfrm>
            <a:off x="1810507" y="1085187"/>
            <a:ext cx="210168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3DFF703A-F107-B14A-B0AC-85992E4E15B7}"/>
              </a:ext>
            </a:extLst>
          </p:cNvPr>
          <p:cNvCxnSpPr>
            <a:endCxn id="34" idx="0"/>
          </p:cNvCxnSpPr>
          <p:nvPr/>
        </p:nvCxnSpPr>
        <p:spPr>
          <a:xfrm>
            <a:off x="3912190" y="1093501"/>
            <a:ext cx="2369" cy="71419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Zone de texte 2">
                <a:extLst>
                  <a:ext uri="{FF2B5EF4-FFF2-40B4-BE49-F238E27FC236}">
                    <a16:creationId xmlns:a16="http://schemas.microsoft.com/office/drawing/2014/main" id="{8B336711-8DE6-0244-83CF-82B206B9D67A}"/>
                  </a:ext>
                </a:extLst>
              </p:cNvPr>
              <p:cNvSpPr txBox="1">
                <a:spLocks noChangeArrowheads="1"/>
              </p:cNvSpPr>
              <p:nvPr/>
            </p:nvSpPr>
            <p:spPr bwMode="auto">
              <a:xfrm>
                <a:off x="3784789" y="1499414"/>
                <a:ext cx="506281" cy="369076"/>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r>
                        <a:rPr lang="fr-FR" sz="11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9" name="Zone de texte 2">
                <a:extLst>
                  <a:ext uri="{FF2B5EF4-FFF2-40B4-BE49-F238E27FC236}">
                    <a16:creationId xmlns:a16="http://schemas.microsoft.com/office/drawing/2014/main" id="{8B336711-8DE6-0244-83CF-82B206B9D67A}"/>
                  </a:ext>
                </a:extLst>
              </p:cNvPr>
              <p:cNvSpPr txBox="1">
                <a:spLocks noRot="1" noChangeAspect="1" noMove="1" noResize="1" noEditPoints="1" noAdjustHandles="1" noChangeArrowheads="1" noChangeShapeType="1" noTextEdit="1"/>
              </p:cNvSpPr>
              <p:nvPr/>
            </p:nvSpPr>
            <p:spPr bwMode="auto">
              <a:xfrm>
                <a:off x="3784789" y="1499414"/>
                <a:ext cx="506281" cy="369076"/>
              </a:xfrm>
              <a:prstGeom prst="rect">
                <a:avLst/>
              </a:prstGeom>
              <a:blipFill>
                <a:blip r:embed="rId15"/>
                <a:stretch>
                  <a:fillRect/>
                </a:stretch>
              </a:blipFill>
              <a:ln w="9525">
                <a:noFill/>
                <a:miter lim="800000"/>
                <a:headEnd/>
                <a:tailEnd/>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0" name="Zone de texte 2">
                <a:extLst>
                  <a:ext uri="{FF2B5EF4-FFF2-40B4-BE49-F238E27FC236}">
                    <a16:creationId xmlns:a16="http://schemas.microsoft.com/office/drawing/2014/main" id="{5D3D6B45-CEBC-F741-841E-6436017A666A}"/>
                  </a:ext>
                </a:extLst>
              </p:cNvPr>
              <p:cNvSpPr txBox="1">
                <a:spLocks noChangeArrowheads="1"/>
              </p:cNvSpPr>
              <p:nvPr/>
            </p:nvSpPr>
            <p:spPr bwMode="auto">
              <a:xfrm>
                <a:off x="3407139" y="1953747"/>
                <a:ext cx="506281" cy="369076"/>
              </a:xfrm>
              <a:prstGeom prst="rect">
                <a:avLst/>
              </a:prstGeom>
              <a:noFill/>
              <a:ln w="9525">
                <a:noFill/>
                <a:miter lim="800000"/>
                <a:headEnd/>
                <a:tailEnd/>
              </a:ln>
            </p:spPr>
            <p:txBody>
              <a:bodyPr rot="0" vert="horz" wrap="square" lIns="91440" tIns="45720" rIns="91440" bIns="45720" anchor="t" anchorCtr="0">
                <a:noAutofit/>
              </a:bodyPr>
              <a:lstStyle/>
              <a:p>
                <a:pPr>
                  <a:lnSpc>
                    <a:spcPct val="115000"/>
                  </a:lnSpc>
                  <a:spcAft>
                    <a:spcPts val="1000"/>
                  </a:spcAft>
                </a:pPr>
                <a14:m>
                  <m:oMathPara xmlns:m="http://schemas.openxmlformats.org/officeDocument/2006/math">
                    <m:oMathParaPr>
                      <m:jc m:val="centerGroup"/>
                    </m:oMathParaPr>
                    <m:oMath xmlns:m="http://schemas.openxmlformats.org/officeDocument/2006/math">
                      <m:r>
                        <a:rPr lang="fr-FR" sz="11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fr-FR" sz="11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40" name="Zone de texte 2">
                <a:extLst>
                  <a:ext uri="{FF2B5EF4-FFF2-40B4-BE49-F238E27FC236}">
                    <a16:creationId xmlns:a16="http://schemas.microsoft.com/office/drawing/2014/main" id="{5D3D6B45-CEBC-F741-841E-6436017A666A}"/>
                  </a:ext>
                </a:extLst>
              </p:cNvPr>
              <p:cNvSpPr txBox="1">
                <a:spLocks noRot="1" noChangeAspect="1" noMove="1" noResize="1" noEditPoints="1" noAdjustHandles="1" noChangeArrowheads="1" noChangeShapeType="1" noTextEdit="1"/>
              </p:cNvSpPr>
              <p:nvPr/>
            </p:nvSpPr>
            <p:spPr bwMode="auto">
              <a:xfrm>
                <a:off x="3407139" y="1953747"/>
                <a:ext cx="506281" cy="369076"/>
              </a:xfrm>
              <a:prstGeom prst="rect">
                <a:avLst/>
              </a:prstGeom>
              <a:blipFill>
                <a:blip r:embed="rId16"/>
                <a:stretch>
                  <a:fillRect/>
                </a:stretch>
              </a:blipFill>
              <a:ln w="9525">
                <a:noFill/>
                <a:miter lim="800000"/>
                <a:headEnd/>
                <a:tailEnd/>
              </a:ln>
            </p:spPr>
            <p:txBody>
              <a:bodyPr/>
              <a:lstStyle/>
              <a:p>
                <a:r>
                  <a:rPr lang="fr-FR">
                    <a:noFill/>
                  </a:rPr>
                  <a:t> </a:t>
                </a:r>
              </a:p>
            </p:txBody>
          </p:sp>
        </mc:Fallback>
      </mc:AlternateContent>
      <p:cxnSp>
        <p:nvCxnSpPr>
          <p:cNvPr id="42" name="Connecteur droit avec flèche 41">
            <a:extLst>
              <a:ext uri="{FF2B5EF4-FFF2-40B4-BE49-F238E27FC236}">
                <a16:creationId xmlns:a16="http://schemas.microsoft.com/office/drawing/2014/main" id="{3FE81B9D-D5CB-B144-89B2-A6AC0B45F3C3}"/>
              </a:ext>
            </a:extLst>
          </p:cNvPr>
          <p:cNvCxnSpPr>
            <a:cxnSpLocks/>
          </p:cNvCxnSpPr>
          <p:nvPr/>
        </p:nvCxnSpPr>
        <p:spPr>
          <a:xfrm flipV="1">
            <a:off x="4099794" y="1946736"/>
            <a:ext cx="347901" cy="0"/>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ZoneTexte 37">
                <a:extLst>
                  <a:ext uri="{FF2B5EF4-FFF2-40B4-BE49-F238E27FC236}">
                    <a16:creationId xmlns:a16="http://schemas.microsoft.com/office/drawing/2014/main" id="{63F8A383-B438-9549-93EE-4A14BCE16490}"/>
                  </a:ext>
                </a:extLst>
              </p:cNvPr>
              <p:cNvSpPr txBox="1"/>
              <p:nvPr/>
            </p:nvSpPr>
            <p:spPr>
              <a:xfrm>
                <a:off x="1360566" y="1605563"/>
                <a:ext cx="601289" cy="32438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solidFill>
                                <a:schemeClr val="tx1"/>
                              </a:solidFill>
                              <a:latin typeface="Cambria Math" panose="02040503050406030204" pitchFamily="18" charset="0"/>
                            </a:rPr>
                          </m:ctrlPr>
                        </m:sSubPr>
                        <m:e>
                          <m:r>
                            <a:rPr lang="fr-FR" sz="1400" b="1" i="0" smtClean="0">
                              <a:solidFill>
                                <a:schemeClr val="tx1"/>
                              </a:solidFill>
                              <a:latin typeface="Cambria Math" panose="02040503050406030204" pitchFamily="18" charset="0"/>
                            </a:rPr>
                            <m:t>𝐞</m:t>
                          </m:r>
                        </m:e>
                        <m:sub>
                          <m:r>
                            <a:rPr lang="fr-FR" sz="1400" b="0" i="1" smtClean="0">
                              <a:solidFill>
                                <a:schemeClr val="tx1"/>
                              </a:solidFill>
                              <a:latin typeface="Cambria Math" panose="02040503050406030204" pitchFamily="18" charset="0"/>
                            </a:rPr>
                            <m:t>𝑝</m:t>
                          </m:r>
                        </m:sub>
                      </m:sSub>
                    </m:oMath>
                  </m:oMathPara>
                </a14:m>
                <a:endParaRPr lang="fr-FR" sz="1400" dirty="0"/>
              </a:p>
            </p:txBody>
          </p:sp>
        </mc:Choice>
        <mc:Fallback xmlns="">
          <p:sp>
            <p:nvSpPr>
              <p:cNvPr id="38" name="ZoneTexte 37">
                <a:extLst>
                  <a:ext uri="{FF2B5EF4-FFF2-40B4-BE49-F238E27FC236}">
                    <a16:creationId xmlns:a16="http://schemas.microsoft.com/office/drawing/2014/main" id="{63F8A383-B438-9549-93EE-4A14BCE16490}"/>
                  </a:ext>
                </a:extLst>
              </p:cNvPr>
              <p:cNvSpPr txBox="1">
                <a:spLocks noRot="1" noChangeAspect="1" noMove="1" noResize="1" noEditPoints="1" noAdjustHandles="1" noChangeArrowheads="1" noChangeShapeType="1" noTextEdit="1"/>
              </p:cNvSpPr>
              <p:nvPr/>
            </p:nvSpPr>
            <p:spPr>
              <a:xfrm>
                <a:off x="1360566" y="1605563"/>
                <a:ext cx="601289" cy="324384"/>
              </a:xfrm>
              <a:prstGeom prst="rect">
                <a:avLst/>
              </a:prstGeom>
              <a:blipFill>
                <a:blip r:embed="rId17"/>
                <a:stretch>
                  <a:fillRect/>
                </a:stretch>
              </a:blipFill>
            </p:spPr>
            <p:txBody>
              <a:bodyPr/>
              <a:lstStyle/>
              <a:p>
                <a:r>
                  <a:rPr lang="fr-FR">
                    <a:noFill/>
                  </a:rPr>
                  <a:t> </a:t>
                </a:r>
              </a:p>
            </p:txBody>
          </p:sp>
        </mc:Fallback>
      </mc:AlternateContent>
      <mc:AlternateContent xmlns:mc="http://schemas.openxmlformats.org/markup-compatibility/2006">
        <mc:Choice xmlns:a14="http://schemas.microsoft.com/office/drawing/2010/main" Requires="a14">
          <p:sp>
            <p:nvSpPr>
              <p:cNvPr id="25" name="Rectangle 24">
                <a:extLst>
                  <a:ext uri="{FF2B5EF4-FFF2-40B4-BE49-F238E27FC236}">
                    <a16:creationId xmlns:a16="http://schemas.microsoft.com/office/drawing/2014/main" id="{73FE47E0-A55C-1D34-F085-C06A8B752D2D}"/>
                  </a:ext>
                </a:extLst>
              </p:cNvPr>
              <p:cNvSpPr/>
              <p:nvPr/>
            </p:nvSpPr>
            <p:spPr>
              <a:xfrm>
                <a:off x="2069203" y="1534352"/>
                <a:ext cx="1362068" cy="83878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1000"/>
                  </a:spcAft>
                </a:pPr>
                <a14:m>
                  <m:oMathPara xmlns:m="http://schemas.openxmlformats.org/officeDocument/2006/math">
                    <m:oMathParaPr>
                      <m:jc m:val="centerGroup"/>
                    </m:oMathParaPr>
                    <m:oMath xmlns:m="http://schemas.openxmlformats.org/officeDocument/2006/math">
                      <m:sSub>
                        <m:sSubPr>
                          <m:ctrlPr>
                            <a:rPr lang="fr-FR" sz="1100" i="1" smtClean="0">
                              <a:solidFill>
                                <a:schemeClr val="tx1"/>
                              </a:solidFill>
                              <a:latin typeface="Cambria Math" panose="02040503050406030204" pitchFamily="18" charset="0"/>
                            </a:rPr>
                          </m:ctrlPr>
                        </m:sSubPr>
                        <m:e>
                          <m:r>
                            <a:rPr lang="fr-FR" sz="1100" b="0" i="1" smtClean="0">
                              <a:solidFill>
                                <a:schemeClr val="tx1"/>
                              </a:solidFill>
                              <a:latin typeface="Cambria Math" panose="02040503050406030204" pitchFamily="18" charset="0"/>
                            </a:rPr>
                            <m:t>𝐾</m:t>
                          </m:r>
                        </m:e>
                        <m:sub>
                          <m:r>
                            <a:rPr lang="fr-FR" sz="1100" b="0" i="1" smtClean="0">
                              <a:solidFill>
                                <a:schemeClr val="tx1"/>
                              </a:solidFill>
                              <a:latin typeface="Cambria Math" panose="02040503050406030204" pitchFamily="18" charset="0"/>
                            </a:rPr>
                            <m:t>𝑝</m:t>
                          </m:r>
                        </m:sub>
                      </m:sSub>
                      <m:r>
                        <a:rPr lang="fr-FR" sz="1100" b="0" i="1" smtClean="0">
                          <a:solidFill>
                            <a:schemeClr val="tx1"/>
                          </a:solidFill>
                          <a:latin typeface="Cambria Math" panose="02040503050406030204" pitchFamily="18" charset="0"/>
                        </a:rPr>
                        <m:t>=</m:t>
                      </m:r>
                      <m:d>
                        <m:dPr>
                          <m:ctrlPr>
                            <a:rPr lang="fr-FR" sz="1100" i="1" smtClean="0">
                              <a:solidFill>
                                <a:schemeClr val="tx1"/>
                              </a:solidFill>
                              <a:latin typeface="Cambria Math" panose="02040503050406030204" pitchFamily="18" charset="0"/>
                            </a:rPr>
                          </m:ctrlPr>
                        </m:dPr>
                        <m:e>
                          <m:m>
                            <m:mPr>
                              <m:mcs>
                                <m:mc>
                                  <m:mcPr>
                                    <m:count m:val="2"/>
                                    <m:mcJc m:val="center"/>
                                  </m:mcPr>
                                </m:mc>
                              </m:mcs>
                              <m:ctrlPr>
                                <a:rPr lang="fr-FR" sz="1100" i="1">
                                  <a:solidFill>
                                    <a:schemeClr val="tx1"/>
                                  </a:solidFill>
                                  <a:latin typeface="Cambria Math" panose="02040503050406030204" pitchFamily="18" charset="0"/>
                                </a:rPr>
                              </m:ctrlPr>
                            </m:mPr>
                            <m:mr>
                              <m:e>
                                <m:f>
                                  <m:fPr>
                                    <m:ctrlPr>
                                      <a:rPr lang="fr-FR" sz="1100" i="1">
                                        <a:solidFill>
                                          <a:schemeClr val="tx1"/>
                                        </a:solidFill>
                                        <a:latin typeface="Cambria Math" panose="02040503050406030204" pitchFamily="18" charset="0"/>
                                      </a:rPr>
                                    </m:ctrlPr>
                                  </m:fPr>
                                  <m:num>
                                    <m:r>
                                      <a:rPr lang="fr-FR" sz="1100">
                                        <a:solidFill>
                                          <a:schemeClr val="tx1"/>
                                        </a:solidFill>
                                        <a:latin typeface="Cambria Math" panose="02040503050406030204" pitchFamily="18" charset="0"/>
                                      </a:rPr>
                                      <m:t>1</m:t>
                                    </m:r>
                                  </m:num>
                                  <m:den>
                                    <m:r>
                                      <m:rPr>
                                        <m:sty m:val="p"/>
                                      </m:rPr>
                                      <a:rPr lang="el-GR" sz="1100">
                                        <a:solidFill>
                                          <a:schemeClr val="tx1"/>
                                        </a:solidFill>
                                        <a:latin typeface="Cambria Math" panose="02040503050406030204" pitchFamily="18" charset="0"/>
                                        <a:ea typeface="Cambria Math" panose="02040503050406030204" pitchFamily="18" charset="0"/>
                                      </a:rPr>
                                      <m:t>Δ</m:t>
                                    </m:r>
                                    <m:r>
                                      <m:rPr>
                                        <m:sty m:val="p"/>
                                      </m:rPr>
                                      <a:rPr lang="fr-FR" sz="1100">
                                        <a:solidFill>
                                          <a:schemeClr val="tx1"/>
                                        </a:solidFill>
                                        <a:latin typeface="Cambria Math" panose="02040503050406030204" pitchFamily="18" charset="0"/>
                                        <a:ea typeface="Cambria Math" panose="02040503050406030204" pitchFamily="18" charset="0"/>
                                      </a:rPr>
                                      <m:t>T</m:t>
                                    </m:r>
                                  </m:den>
                                </m:f>
                              </m:e>
                              <m:e>
                                <m:r>
                                  <a:rPr lang="fr-FR" sz="1100">
                                    <a:solidFill>
                                      <a:schemeClr val="tx1"/>
                                    </a:solidFill>
                                    <a:latin typeface="Cambria Math" panose="02040503050406030204" pitchFamily="18" charset="0"/>
                                  </a:rPr>
                                  <m:t>0</m:t>
                                </m:r>
                              </m:e>
                            </m:mr>
                            <m:mr>
                              <m:e>
                                <m:r>
                                  <a:rPr lang="fr-FR" sz="1100">
                                    <a:solidFill>
                                      <a:schemeClr val="tx1"/>
                                    </a:solidFill>
                                    <a:latin typeface="Cambria Math" panose="02040503050406030204" pitchFamily="18" charset="0"/>
                                  </a:rPr>
                                  <m:t>0</m:t>
                                </m:r>
                              </m:e>
                              <m:e>
                                <m:f>
                                  <m:fPr>
                                    <m:ctrlPr>
                                      <a:rPr lang="fr-FR" sz="1100" i="1">
                                        <a:solidFill>
                                          <a:schemeClr val="tx1"/>
                                        </a:solidFill>
                                        <a:latin typeface="Cambria Math" panose="02040503050406030204" pitchFamily="18" charset="0"/>
                                      </a:rPr>
                                    </m:ctrlPr>
                                  </m:fPr>
                                  <m:num>
                                    <m:r>
                                      <a:rPr lang="fr-FR" sz="1100">
                                        <a:solidFill>
                                          <a:schemeClr val="tx1"/>
                                        </a:solidFill>
                                        <a:latin typeface="Cambria Math" panose="02040503050406030204" pitchFamily="18" charset="0"/>
                                      </a:rPr>
                                      <m:t>1</m:t>
                                    </m:r>
                                  </m:num>
                                  <m:den>
                                    <m:r>
                                      <m:rPr>
                                        <m:sty m:val="p"/>
                                      </m:rPr>
                                      <a:rPr lang="el-GR" sz="1100">
                                        <a:solidFill>
                                          <a:schemeClr val="tx1"/>
                                        </a:solidFill>
                                        <a:latin typeface="Cambria Math" panose="02040503050406030204" pitchFamily="18" charset="0"/>
                                        <a:ea typeface="Cambria Math" panose="02040503050406030204" pitchFamily="18" charset="0"/>
                                      </a:rPr>
                                      <m:t>Δ</m:t>
                                    </m:r>
                                    <m:r>
                                      <m:rPr>
                                        <m:sty m:val="p"/>
                                      </m:rPr>
                                      <a:rPr lang="fr-FR" sz="1100">
                                        <a:solidFill>
                                          <a:schemeClr val="tx1"/>
                                        </a:solidFill>
                                        <a:latin typeface="Cambria Math" panose="02040503050406030204" pitchFamily="18" charset="0"/>
                                        <a:ea typeface="Cambria Math" panose="02040503050406030204" pitchFamily="18" charset="0"/>
                                      </a:rPr>
                                      <m:t>T</m:t>
                                    </m:r>
                                  </m:den>
                                </m:f>
                              </m:e>
                            </m:mr>
                          </m:m>
                        </m:e>
                      </m:d>
                    </m:oMath>
                  </m:oMathPara>
                </a14:m>
                <a:endParaRPr lang="fr-FR" sz="1600" dirty="0">
                  <a:solidFill>
                    <a:schemeClr val="tx1"/>
                  </a:solidFill>
                  <a:effectLst/>
                  <a:ea typeface="Calibri" panose="020F0502020204030204" pitchFamily="34" charset="0"/>
                  <a:cs typeface="Times New Roman" panose="02020603050405020304" pitchFamily="18" charset="0"/>
                </a:endParaRPr>
              </a:p>
            </p:txBody>
          </p:sp>
        </mc:Choice>
        <mc:Fallback>
          <p:sp>
            <p:nvSpPr>
              <p:cNvPr id="25" name="Rectangle 24">
                <a:extLst>
                  <a:ext uri="{FF2B5EF4-FFF2-40B4-BE49-F238E27FC236}">
                    <a16:creationId xmlns:a16="http://schemas.microsoft.com/office/drawing/2014/main" id="{73FE47E0-A55C-1D34-F085-C06A8B752D2D}"/>
                  </a:ext>
                </a:extLst>
              </p:cNvPr>
              <p:cNvSpPr>
                <a:spLocks noRot="1" noChangeAspect="1" noMove="1" noResize="1" noEditPoints="1" noAdjustHandles="1" noChangeArrowheads="1" noChangeShapeType="1" noTextEdit="1"/>
              </p:cNvSpPr>
              <p:nvPr/>
            </p:nvSpPr>
            <p:spPr>
              <a:xfrm>
                <a:off x="2069203" y="1534352"/>
                <a:ext cx="1362068" cy="838789"/>
              </a:xfrm>
              <a:prstGeom prst="rect">
                <a:avLst/>
              </a:prstGeom>
              <a:blipFill>
                <a:blip r:embed="rId18"/>
                <a:stretch>
                  <a:fillRect/>
                </a:stretch>
              </a:blipFill>
              <a:ln>
                <a:solidFill>
                  <a:schemeClr val="tx1"/>
                </a:solidFill>
              </a:ln>
            </p:spPr>
            <p:txBody>
              <a:bodyPr/>
              <a:lstStyle/>
              <a:p>
                <a:r>
                  <a:rPr lang="en-FR">
                    <a:noFill/>
                  </a:rPr>
                  <a:t> </a:t>
                </a:r>
              </a:p>
            </p:txBody>
          </p:sp>
        </mc:Fallback>
      </mc:AlternateContent>
    </p:spTree>
    <p:extLst>
      <p:ext uri="{BB962C8B-B14F-4D97-AF65-F5344CB8AC3E}">
        <p14:creationId xmlns:p14="http://schemas.microsoft.com/office/powerpoint/2010/main" val="414774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AE2E6E2E-8377-9D4C-9077-94A5ED5EBB09}"/>
                  </a:ext>
                </a:extLst>
              </p:cNvPr>
              <p:cNvSpPr txBox="1"/>
              <p:nvPr/>
            </p:nvSpPr>
            <p:spPr>
              <a:xfrm>
                <a:off x="2207304" y="1455608"/>
                <a:ext cx="4501820" cy="434927"/>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Sup>
                        <m:sSupPr>
                          <m:ctrlPr>
                            <a:rPr lang="fr-FR" i="1" smtClean="0">
                              <a:latin typeface="Cambria Math" panose="02040503050406030204" pitchFamily="18" charset="0"/>
                            </a:rPr>
                          </m:ctrlPr>
                        </m:sSupPr>
                        <m:e>
                          <m:acc>
                            <m:accPr>
                              <m:chr m:val="̇"/>
                              <m:ctrlPr>
                                <a:rPr lang="fr-FR" i="1">
                                  <a:latin typeface="Cambria Math" panose="02040503050406030204" pitchFamily="18" charset="0"/>
                                </a:rPr>
                              </m:ctrlPr>
                            </m:accPr>
                            <m:e>
                              <m:r>
                                <a:rPr lang="fr-FR" b="1">
                                  <a:latin typeface="Cambria Math" panose="02040503050406030204" pitchFamily="18" charset="0"/>
                                </a:rPr>
                                <m:t>𝐪</m:t>
                              </m:r>
                            </m:e>
                          </m:acc>
                        </m:e>
                        <m:sup>
                          <m:r>
                            <a:rPr lang="fr-FR" b="0" i="1" smtClean="0">
                              <a:latin typeface="Cambria Math" panose="02040503050406030204" pitchFamily="18" charset="0"/>
                            </a:rPr>
                            <m:t>𝑑</m:t>
                          </m:r>
                        </m:sup>
                      </m:sSup>
                      <m:r>
                        <a:rPr lang="fr-FR" b="0" i="1" smtClean="0">
                          <a:latin typeface="Cambria Math" panose="02040503050406030204" pitchFamily="18" charset="0"/>
                        </a:rPr>
                        <m:t>=</m:t>
                      </m:r>
                      <m:sSup>
                        <m:sSupPr>
                          <m:ctrlPr>
                            <a:rPr lang="fr-FR" b="1" i="1">
                              <a:latin typeface="Cambria Math" panose="02040503050406030204" pitchFamily="18" charset="0"/>
                            </a:rPr>
                          </m:ctrlPr>
                        </m:sSupPr>
                        <m:e>
                          <m:sSub>
                            <m:sSubPr>
                              <m:ctrlPr>
                                <a:rPr lang="fr-FR" b="1" i="1">
                                  <a:latin typeface="Cambria Math" panose="02040503050406030204" pitchFamily="18" charset="0"/>
                                </a:rPr>
                              </m:ctrlPr>
                            </m:sSubPr>
                            <m:e>
                              <m:r>
                                <a:rPr lang="fr-FR" b="1" i="1">
                                  <a:latin typeface="Cambria Math" panose="02040503050406030204" pitchFamily="18" charset="0"/>
                                </a:rPr>
                                <m:t>𝑱</m:t>
                              </m:r>
                            </m:e>
                            <m:sub>
                              <m:r>
                                <a:rPr lang="fr-FR" b="1" i="1">
                                  <a:latin typeface="Cambria Math" panose="02040503050406030204" pitchFamily="18" charset="0"/>
                                </a:rPr>
                                <m:t>𝑨</m:t>
                              </m:r>
                            </m:sub>
                          </m:sSub>
                        </m:e>
                        <m:sup>
                          <m:r>
                            <a:rPr lang="fr-FR" b="1" i="1">
                              <a:latin typeface="Cambria Math" panose="02040503050406030204" pitchFamily="18" charset="0"/>
                            </a:rPr>
                            <m:t>−</m:t>
                          </m:r>
                          <m:r>
                            <a:rPr lang="fr-FR" b="1" i="1">
                              <a:latin typeface="Cambria Math" panose="02040503050406030204" pitchFamily="18" charset="0"/>
                            </a:rPr>
                            <m:t>𝟏</m:t>
                          </m:r>
                        </m:sup>
                      </m:sSup>
                      <m:d>
                        <m:dPr>
                          <m:ctrlPr>
                            <a:rPr lang="fr-FR" b="1" i="1" smtClean="0">
                              <a:latin typeface="Cambria Math" panose="02040503050406030204" pitchFamily="18" charset="0"/>
                            </a:rPr>
                          </m:ctrlPr>
                        </m:dPr>
                        <m:e>
                          <m:sSup>
                            <m:sSupPr>
                              <m:ctrlPr>
                                <a:rPr lang="fr-FR" i="1">
                                  <a:latin typeface="Cambria Math" panose="02040503050406030204" pitchFamily="18" charset="0"/>
                                </a:rPr>
                              </m:ctrlPr>
                            </m:sSupPr>
                            <m:e>
                              <m:acc>
                                <m:accPr>
                                  <m:chr m:val="̇"/>
                                  <m:ctrlPr>
                                    <a:rPr lang="fr-FR" i="1">
                                      <a:latin typeface="Cambria Math" panose="02040503050406030204" pitchFamily="18" charset="0"/>
                                    </a:rPr>
                                  </m:ctrlPr>
                                </m:accPr>
                                <m:e>
                                  <m:r>
                                    <a:rPr lang="fr-FR" b="1">
                                      <a:latin typeface="Cambria Math" panose="02040503050406030204" pitchFamily="18" charset="0"/>
                                    </a:rPr>
                                    <m:t>𝐱</m:t>
                                  </m:r>
                                </m:e>
                              </m:acc>
                            </m:e>
                            <m:sup>
                              <m:r>
                                <a:rPr lang="fr-FR" i="1">
                                  <a:latin typeface="Cambria Math" panose="02040503050406030204" pitchFamily="18" charset="0"/>
                                </a:rPr>
                                <m:t>𝑑</m:t>
                              </m:r>
                            </m:sup>
                          </m:sSup>
                          <m:r>
                            <a:rPr lang="fr-FR" b="1" i="1" smtClean="0">
                              <a:latin typeface="Cambria Math" panose="02040503050406030204" pitchFamily="18" charset="0"/>
                            </a:rPr>
                            <m:t>+</m:t>
                          </m:r>
                          <m:sSub>
                            <m:sSubPr>
                              <m:ctrlPr>
                                <a:rPr lang="fr-FR" b="1" i="1" smtClean="0">
                                  <a:latin typeface="Cambria Math" panose="02040503050406030204" pitchFamily="18" charset="0"/>
                                </a:rPr>
                              </m:ctrlPr>
                            </m:sSubPr>
                            <m:e>
                              <m:r>
                                <a:rPr lang="fr-FR" b="1" i="1" smtClean="0">
                                  <a:latin typeface="Cambria Math" panose="02040503050406030204" pitchFamily="18" charset="0"/>
                                </a:rPr>
                                <m:t>𝑲</m:t>
                              </m:r>
                            </m:e>
                            <m:sub>
                              <m:r>
                                <a:rPr lang="fr-FR" b="1" i="1" smtClean="0">
                                  <a:latin typeface="Cambria Math" panose="02040503050406030204" pitchFamily="18" charset="0"/>
                                </a:rPr>
                                <m:t>𝒑</m:t>
                              </m:r>
                            </m:sub>
                          </m:sSub>
                          <m:sSub>
                            <m:sSubPr>
                              <m:ctrlPr>
                                <a:rPr lang="fr-FR" i="1">
                                  <a:latin typeface="Cambria Math" panose="02040503050406030204" pitchFamily="18" charset="0"/>
                                </a:rPr>
                              </m:ctrlPr>
                            </m:sSubPr>
                            <m:e>
                              <m:r>
                                <a:rPr lang="fr-FR" b="1">
                                  <a:latin typeface="Cambria Math" panose="02040503050406030204" pitchFamily="18" charset="0"/>
                                </a:rPr>
                                <m:t>𝐞</m:t>
                              </m:r>
                            </m:e>
                            <m:sub>
                              <m:r>
                                <a:rPr lang="fr-FR" b="0" i="1" smtClean="0">
                                  <a:latin typeface="Cambria Math" panose="02040503050406030204" pitchFamily="18" charset="0"/>
                                </a:rPr>
                                <m:t>𝑝</m:t>
                              </m:r>
                            </m:sub>
                          </m:sSub>
                        </m:e>
                      </m:d>
                    </m:oMath>
                  </m:oMathPara>
                </a14:m>
                <a:endParaRPr lang="fr-FR" dirty="0"/>
              </a:p>
            </p:txBody>
          </p:sp>
        </mc:Choice>
        <mc:Fallback xmlns="">
          <p:sp>
            <p:nvSpPr>
              <p:cNvPr id="4" name="ZoneTexte 3">
                <a:extLst>
                  <a:ext uri="{FF2B5EF4-FFF2-40B4-BE49-F238E27FC236}">
                    <a16:creationId xmlns:a16="http://schemas.microsoft.com/office/drawing/2014/main" id="{AE2E6E2E-8377-9D4C-9077-94A5ED5EBB09}"/>
                  </a:ext>
                </a:extLst>
              </p:cNvPr>
              <p:cNvSpPr txBox="1">
                <a:spLocks noRot="1" noChangeAspect="1" noMove="1" noResize="1" noEditPoints="1" noAdjustHandles="1" noChangeArrowheads="1" noChangeShapeType="1" noTextEdit="1"/>
              </p:cNvSpPr>
              <p:nvPr/>
            </p:nvSpPr>
            <p:spPr>
              <a:xfrm>
                <a:off x="2207304" y="1455608"/>
                <a:ext cx="4501820" cy="434927"/>
              </a:xfrm>
              <a:prstGeom prst="rect">
                <a:avLst/>
              </a:prstGeom>
              <a:blipFill>
                <a:blip r:embed="rId2"/>
                <a:stretch>
                  <a:fillRect/>
                </a:stretch>
              </a:blipFill>
            </p:spPr>
            <p:txBody>
              <a:bodyPr/>
              <a:lstStyle/>
              <a:p>
                <a:r>
                  <a:rPr lang="fr-FR">
                    <a:noFill/>
                  </a:rPr>
                  <a:t> </a:t>
                </a:r>
              </a:p>
            </p:txBody>
          </p:sp>
        </mc:Fallback>
      </mc:AlternateContent>
      <p:sp>
        <p:nvSpPr>
          <p:cNvPr id="5" name="ZoneTexte 4">
            <a:extLst>
              <a:ext uri="{FF2B5EF4-FFF2-40B4-BE49-F238E27FC236}">
                <a16:creationId xmlns:a16="http://schemas.microsoft.com/office/drawing/2014/main" id="{0E69A361-74F5-DB47-9E43-503EF3E93CEF}"/>
              </a:ext>
            </a:extLst>
          </p:cNvPr>
          <p:cNvSpPr txBox="1"/>
          <p:nvPr/>
        </p:nvSpPr>
        <p:spPr>
          <a:xfrm>
            <a:off x="227697" y="1015104"/>
            <a:ext cx="2771775" cy="369332"/>
          </a:xfrm>
          <a:prstGeom prst="rect">
            <a:avLst/>
          </a:prstGeom>
          <a:noFill/>
        </p:spPr>
        <p:txBody>
          <a:bodyPr wrap="square" rtlCol="0">
            <a:spAutoFit/>
          </a:bodyPr>
          <a:lstStyle/>
          <a:p>
            <a:r>
              <a:rPr lang="en-GB" dirty="0"/>
              <a:t>Control law:</a:t>
            </a:r>
          </a:p>
        </p:txBody>
      </p:sp>
      <p:sp>
        <p:nvSpPr>
          <p:cNvPr id="6" name="ZoneTexte 5">
            <a:extLst>
              <a:ext uri="{FF2B5EF4-FFF2-40B4-BE49-F238E27FC236}">
                <a16:creationId xmlns:a16="http://schemas.microsoft.com/office/drawing/2014/main" id="{2C58F96B-9A1D-9848-AFC8-E03795CA118E}"/>
              </a:ext>
            </a:extLst>
          </p:cNvPr>
          <p:cNvSpPr txBox="1"/>
          <p:nvPr/>
        </p:nvSpPr>
        <p:spPr>
          <a:xfrm>
            <a:off x="300789" y="1959779"/>
            <a:ext cx="2771775" cy="369332"/>
          </a:xfrm>
          <a:prstGeom prst="rect">
            <a:avLst/>
          </a:prstGeom>
          <a:noFill/>
        </p:spPr>
        <p:txBody>
          <a:bodyPr wrap="square" rtlCol="0">
            <a:spAutoFit/>
          </a:bodyPr>
          <a:lstStyle/>
          <a:p>
            <a:r>
              <a:rPr lang="en-GB" dirty="0"/>
              <a:t>Robot model:</a:t>
            </a:r>
          </a:p>
        </p:txBody>
      </p:sp>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371F9758-161D-BB47-8A8C-74F1C41FAD82}"/>
                  </a:ext>
                </a:extLst>
              </p:cNvPr>
              <p:cNvSpPr txBox="1"/>
              <p:nvPr/>
            </p:nvSpPr>
            <p:spPr>
              <a:xfrm>
                <a:off x="3539008" y="2330831"/>
                <a:ext cx="2065984" cy="403700"/>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acc>
                        <m:accPr>
                          <m:chr m:val="̇"/>
                          <m:ctrlPr>
                            <a:rPr lang="fr-FR" i="1" smtClean="0">
                              <a:latin typeface="Cambria Math" panose="02040503050406030204" pitchFamily="18" charset="0"/>
                            </a:rPr>
                          </m:ctrlPr>
                        </m:accPr>
                        <m:e>
                          <m:r>
                            <a:rPr lang="fr-FR" b="1" i="0" smtClean="0">
                              <a:latin typeface="Cambria Math" panose="02040503050406030204" pitchFamily="18" charset="0"/>
                            </a:rPr>
                            <m:t>𝐪</m:t>
                          </m:r>
                        </m:e>
                      </m:acc>
                      <m:r>
                        <a:rPr lang="fr-FR" b="0" i="1" smtClean="0">
                          <a:latin typeface="Cambria Math" panose="02040503050406030204" pitchFamily="18" charset="0"/>
                        </a:rPr>
                        <m:t>=</m:t>
                      </m:r>
                      <m:sSup>
                        <m:sSupPr>
                          <m:ctrlPr>
                            <a:rPr lang="fr-FR" b="1" i="1">
                              <a:latin typeface="Cambria Math" panose="02040503050406030204" pitchFamily="18" charset="0"/>
                            </a:rPr>
                          </m:ctrlPr>
                        </m:sSupPr>
                        <m:e>
                          <m:sSub>
                            <m:sSubPr>
                              <m:ctrlPr>
                                <a:rPr lang="fr-FR" b="1" i="1">
                                  <a:latin typeface="Cambria Math" panose="02040503050406030204" pitchFamily="18" charset="0"/>
                                </a:rPr>
                              </m:ctrlPr>
                            </m:sSubPr>
                            <m:e>
                              <m:r>
                                <a:rPr lang="fr-FR" b="1" i="1">
                                  <a:latin typeface="Cambria Math" panose="02040503050406030204" pitchFamily="18" charset="0"/>
                                </a:rPr>
                                <m:t>𝑱</m:t>
                              </m:r>
                            </m:e>
                            <m:sub>
                              <m:r>
                                <a:rPr lang="fr-FR" b="1" i="1">
                                  <a:latin typeface="Cambria Math" panose="02040503050406030204" pitchFamily="18" charset="0"/>
                                </a:rPr>
                                <m:t>𝑨</m:t>
                              </m:r>
                            </m:sub>
                          </m:sSub>
                        </m:e>
                        <m:sup>
                          <m:r>
                            <a:rPr lang="fr-FR" b="1" i="1">
                              <a:latin typeface="Cambria Math" panose="02040503050406030204" pitchFamily="18" charset="0"/>
                            </a:rPr>
                            <m:t>−</m:t>
                          </m:r>
                          <m:r>
                            <a:rPr lang="fr-FR" b="1" i="1">
                              <a:latin typeface="Cambria Math" panose="02040503050406030204" pitchFamily="18" charset="0"/>
                            </a:rPr>
                            <m:t>𝟏</m:t>
                          </m:r>
                        </m:sup>
                      </m:sSup>
                      <m:acc>
                        <m:accPr>
                          <m:chr m:val="̇"/>
                          <m:ctrlPr>
                            <a:rPr lang="fr-FR" b="1" i="1" smtClean="0">
                              <a:latin typeface="Cambria Math" panose="02040503050406030204" pitchFamily="18" charset="0"/>
                            </a:rPr>
                          </m:ctrlPr>
                        </m:accPr>
                        <m:e>
                          <m:r>
                            <a:rPr lang="fr-FR" b="1" i="0" smtClean="0">
                              <a:latin typeface="Cambria Math" panose="02040503050406030204" pitchFamily="18" charset="0"/>
                            </a:rPr>
                            <m:t>𝐱</m:t>
                          </m:r>
                        </m:e>
                      </m:acc>
                    </m:oMath>
                  </m:oMathPara>
                </a14:m>
                <a:endParaRPr lang="fr-FR" b="1" dirty="0"/>
              </a:p>
            </p:txBody>
          </p:sp>
        </mc:Choice>
        <mc:Fallback xmlns="">
          <p:sp>
            <p:nvSpPr>
              <p:cNvPr id="7" name="ZoneTexte 6">
                <a:extLst>
                  <a:ext uri="{FF2B5EF4-FFF2-40B4-BE49-F238E27FC236}">
                    <a16:creationId xmlns:a16="http://schemas.microsoft.com/office/drawing/2014/main" id="{371F9758-161D-BB47-8A8C-74F1C41FAD82}"/>
                  </a:ext>
                </a:extLst>
              </p:cNvPr>
              <p:cNvSpPr txBox="1">
                <a:spLocks noRot="1" noChangeAspect="1" noMove="1" noResize="1" noEditPoints="1" noAdjustHandles="1" noChangeArrowheads="1" noChangeShapeType="1" noTextEdit="1"/>
              </p:cNvSpPr>
              <p:nvPr/>
            </p:nvSpPr>
            <p:spPr>
              <a:xfrm>
                <a:off x="3539008" y="2330831"/>
                <a:ext cx="2065984" cy="403700"/>
              </a:xfrm>
              <a:prstGeom prst="rect">
                <a:avLst/>
              </a:prstGeom>
              <a:blipFill>
                <a:blip r:embed="rId3"/>
                <a:stretch>
                  <a:fillRect b="-3030"/>
                </a:stretch>
              </a:blipFill>
            </p:spPr>
            <p:txBody>
              <a:bodyPr/>
              <a:lstStyle/>
              <a:p>
                <a:r>
                  <a:rPr lang="fr-FR">
                    <a:noFill/>
                  </a:rPr>
                  <a:t> </a:t>
                </a:r>
              </a:p>
            </p:txBody>
          </p:sp>
        </mc:Fallback>
      </mc:AlternateContent>
      <p:sp>
        <p:nvSpPr>
          <p:cNvPr id="8" name="Titre 2">
            <a:extLst>
              <a:ext uri="{FF2B5EF4-FFF2-40B4-BE49-F238E27FC236}">
                <a16:creationId xmlns:a16="http://schemas.microsoft.com/office/drawing/2014/main" id="{76C480F2-E760-864D-9A00-061DD07370EC}"/>
              </a:ext>
            </a:extLst>
          </p:cNvPr>
          <p:cNvSpPr>
            <a:spLocks noGrp="1"/>
          </p:cNvSpPr>
          <p:nvPr>
            <p:ph type="title"/>
          </p:nvPr>
        </p:nvSpPr>
        <p:spPr>
          <a:xfrm>
            <a:off x="300790" y="0"/>
            <a:ext cx="8229600" cy="785812"/>
          </a:xfrm>
        </p:spPr>
        <p:txBody>
          <a:bodyPr/>
          <a:lstStyle/>
          <a:p>
            <a:r>
              <a:rPr lang="en-GB" dirty="0"/>
              <a:t>Position control</a:t>
            </a:r>
            <a:endParaRPr lang="fr-FR" dirty="0"/>
          </a:p>
        </p:txBody>
      </p:sp>
      <p:sp>
        <p:nvSpPr>
          <p:cNvPr id="9" name="ZoneTexte 8">
            <a:extLst>
              <a:ext uri="{FF2B5EF4-FFF2-40B4-BE49-F238E27FC236}">
                <a16:creationId xmlns:a16="http://schemas.microsoft.com/office/drawing/2014/main" id="{CDED7BB0-FE0E-7948-85C9-2A6E33AD26F3}"/>
              </a:ext>
            </a:extLst>
          </p:cNvPr>
          <p:cNvSpPr txBox="1"/>
          <p:nvPr/>
        </p:nvSpPr>
        <p:spPr>
          <a:xfrm>
            <a:off x="300789" y="2959048"/>
            <a:ext cx="4271210" cy="369332"/>
          </a:xfrm>
          <a:prstGeom prst="rect">
            <a:avLst/>
          </a:prstGeom>
          <a:noFill/>
        </p:spPr>
        <p:txBody>
          <a:bodyPr wrap="square" rtlCol="0">
            <a:spAutoFit/>
          </a:bodyPr>
          <a:lstStyle/>
          <a:p>
            <a:r>
              <a:rPr lang="en-GB" dirty="0"/>
              <a:t>If the actuators are correctly controlled:</a:t>
            </a:r>
          </a:p>
        </p:txBody>
      </p:sp>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442C1A2A-AC9B-3A4A-ADA1-AA27B8B42846}"/>
                  </a:ext>
                </a:extLst>
              </p:cNvPr>
              <p:cNvSpPr txBox="1"/>
              <p:nvPr/>
            </p:nvSpPr>
            <p:spPr>
              <a:xfrm>
                <a:off x="3543770" y="3381983"/>
                <a:ext cx="2065984" cy="374270"/>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acc>
                        <m:accPr>
                          <m:chr m:val="̇"/>
                          <m:ctrlPr>
                            <a:rPr lang="fr-FR" i="1" smtClean="0">
                              <a:latin typeface="Cambria Math" panose="02040503050406030204" pitchFamily="18" charset="0"/>
                            </a:rPr>
                          </m:ctrlPr>
                        </m:accPr>
                        <m:e>
                          <m:r>
                            <a:rPr lang="fr-FR" b="1" i="0" smtClean="0">
                              <a:latin typeface="Cambria Math" panose="02040503050406030204" pitchFamily="18" charset="0"/>
                            </a:rPr>
                            <m:t>𝐪</m:t>
                          </m:r>
                        </m:e>
                      </m:acc>
                      <m:r>
                        <a:rPr lang="fr-FR" b="0" i="1" smtClean="0">
                          <a:latin typeface="Cambria Math" panose="02040503050406030204" pitchFamily="18" charset="0"/>
                        </a:rPr>
                        <m:t>=</m:t>
                      </m:r>
                      <m:sSup>
                        <m:sSupPr>
                          <m:ctrlPr>
                            <a:rPr lang="fr-FR" i="1">
                              <a:latin typeface="Cambria Math" panose="02040503050406030204" pitchFamily="18" charset="0"/>
                            </a:rPr>
                          </m:ctrlPr>
                        </m:sSupPr>
                        <m:e>
                          <m:acc>
                            <m:accPr>
                              <m:chr m:val="̇"/>
                              <m:ctrlPr>
                                <a:rPr lang="fr-FR" i="1">
                                  <a:latin typeface="Cambria Math" panose="02040503050406030204" pitchFamily="18" charset="0"/>
                                </a:rPr>
                              </m:ctrlPr>
                            </m:accPr>
                            <m:e>
                              <m:r>
                                <a:rPr lang="fr-FR" b="1">
                                  <a:latin typeface="Cambria Math" panose="02040503050406030204" pitchFamily="18" charset="0"/>
                                </a:rPr>
                                <m:t>𝐪</m:t>
                              </m:r>
                            </m:e>
                          </m:acc>
                        </m:e>
                        <m:sup>
                          <m:r>
                            <a:rPr lang="fr-FR" i="1">
                              <a:latin typeface="Cambria Math" panose="02040503050406030204" pitchFamily="18" charset="0"/>
                            </a:rPr>
                            <m:t>𝑑</m:t>
                          </m:r>
                        </m:sup>
                      </m:sSup>
                    </m:oMath>
                  </m:oMathPara>
                </a14:m>
                <a:endParaRPr lang="fr-FR" b="1" dirty="0"/>
              </a:p>
            </p:txBody>
          </p:sp>
        </mc:Choice>
        <mc:Fallback xmlns="">
          <p:sp>
            <p:nvSpPr>
              <p:cNvPr id="10" name="ZoneTexte 9">
                <a:extLst>
                  <a:ext uri="{FF2B5EF4-FFF2-40B4-BE49-F238E27FC236}">
                    <a16:creationId xmlns:a16="http://schemas.microsoft.com/office/drawing/2014/main" id="{442C1A2A-AC9B-3A4A-ADA1-AA27B8B42846}"/>
                  </a:ext>
                </a:extLst>
              </p:cNvPr>
              <p:cNvSpPr txBox="1">
                <a:spLocks noRot="1" noChangeAspect="1" noMove="1" noResize="1" noEditPoints="1" noAdjustHandles="1" noChangeArrowheads="1" noChangeShapeType="1" noTextEdit="1"/>
              </p:cNvSpPr>
              <p:nvPr/>
            </p:nvSpPr>
            <p:spPr>
              <a:xfrm>
                <a:off x="3543770" y="3381983"/>
                <a:ext cx="2065984" cy="374270"/>
              </a:xfrm>
              <a:prstGeom prst="rect">
                <a:avLst/>
              </a:prstGeom>
              <a:blipFill>
                <a:blip r:embed="rId4"/>
                <a:stretch>
                  <a:fillRect b="-10000"/>
                </a:stretch>
              </a:blipFill>
            </p:spPr>
            <p:txBody>
              <a:bodyPr/>
              <a:lstStyle/>
              <a:p>
                <a:r>
                  <a:rPr lang="fr-FR">
                    <a:noFill/>
                  </a:rPr>
                  <a:t> </a:t>
                </a:r>
              </a:p>
            </p:txBody>
          </p:sp>
        </mc:Fallback>
      </mc:AlternateContent>
      <p:sp>
        <p:nvSpPr>
          <p:cNvPr id="11" name="ZoneTexte 10">
            <a:extLst>
              <a:ext uri="{FF2B5EF4-FFF2-40B4-BE49-F238E27FC236}">
                <a16:creationId xmlns:a16="http://schemas.microsoft.com/office/drawing/2014/main" id="{55CE8346-08BB-AB44-AABB-F51F104C53D1}"/>
              </a:ext>
            </a:extLst>
          </p:cNvPr>
          <p:cNvSpPr txBox="1"/>
          <p:nvPr/>
        </p:nvSpPr>
        <p:spPr>
          <a:xfrm>
            <a:off x="300790" y="3845001"/>
            <a:ext cx="4271210" cy="369332"/>
          </a:xfrm>
          <a:prstGeom prst="rect">
            <a:avLst/>
          </a:prstGeom>
          <a:noFill/>
        </p:spPr>
        <p:txBody>
          <a:bodyPr wrap="square" rtlCol="0">
            <a:spAutoFit/>
          </a:bodyPr>
          <a:lstStyle/>
          <a:p>
            <a:r>
              <a:rPr lang="en-GB" dirty="0"/>
              <a:t>This leads to:</a:t>
            </a:r>
          </a:p>
        </p:txBody>
      </p:sp>
      <mc:AlternateContent xmlns:mc="http://schemas.openxmlformats.org/markup-compatibility/2006" xmlns:a14="http://schemas.microsoft.com/office/drawing/2010/main">
        <mc:Choice Requires="a14">
          <p:sp>
            <p:nvSpPr>
              <p:cNvPr id="12" name="ZoneTexte 11">
                <a:extLst>
                  <a:ext uri="{FF2B5EF4-FFF2-40B4-BE49-F238E27FC236}">
                    <a16:creationId xmlns:a16="http://schemas.microsoft.com/office/drawing/2014/main" id="{3B5A45B4-B8E4-5C49-8CAD-5BD736F74D06}"/>
                  </a:ext>
                </a:extLst>
              </p:cNvPr>
              <p:cNvSpPr txBox="1"/>
              <p:nvPr/>
            </p:nvSpPr>
            <p:spPr>
              <a:xfrm>
                <a:off x="3539008" y="4338803"/>
                <a:ext cx="2065984" cy="405496"/>
              </a:xfrm>
              <a:prstGeom prst="rect">
                <a:avLst/>
              </a:prstGeom>
              <a:noFill/>
            </p:spPr>
            <p:txBody>
              <a:bodyPr wrap="square" rtlCol="0">
                <a:spAutoFit/>
              </a:bodyPr>
              <a:lstStyle/>
              <a:p>
                <a:pPr algn="ctr"/>
                <a14:m>
                  <m:oMath xmlns:m="http://schemas.openxmlformats.org/officeDocument/2006/math">
                    <m:acc>
                      <m:accPr>
                        <m:chr m:val="̇"/>
                        <m:ctrlPr>
                          <a:rPr lang="fr-FR" b="1" i="1" smtClean="0">
                            <a:latin typeface="Cambria Math" panose="02040503050406030204" pitchFamily="18" charset="0"/>
                          </a:rPr>
                        </m:ctrlPr>
                      </m:accPr>
                      <m:e>
                        <m:r>
                          <a:rPr lang="fr-FR" b="1">
                            <a:latin typeface="Cambria Math" panose="02040503050406030204" pitchFamily="18" charset="0"/>
                          </a:rPr>
                          <m:t>𝐱</m:t>
                        </m:r>
                      </m:e>
                    </m:acc>
                    <m:r>
                      <a:rPr lang="fr-FR" b="0" i="1" smtClean="0">
                        <a:latin typeface="Cambria Math" panose="02040503050406030204" pitchFamily="18" charset="0"/>
                      </a:rPr>
                      <m:t>=</m:t>
                    </m:r>
                  </m:oMath>
                </a14:m>
                <a:r>
                  <a:rPr lang="fr-FR" dirty="0"/>
                  <a:t> </a:t>
                </a:r>
                <a14:m>
                  <m:oMath xmlns:m="http://schemas.openxmlformats.org/officeDocument/2006/math">
                    <m:sSup>
                      <m:sSupPr>
                        <m:ctrlPr>
                          <a:rPr lang="fr-FR" i="1">
                            <a:latin typeface="Cambria Math" panose="02040503050406030204" pitchFamily="18" charset="0"/>
                          </a:rPr>
                        </m:ctrlPr>
                      </m:sSupPr>
                      <m:e>
                        <m:acc>
                          <m:accPr>
                            <m:chr m:val="̇"/>
                            <m:ctrlPr>
                              <a:rPr lang="fr-FR" i="1">
                                <a:latin typeface="Cambria Math" panose="02040503050406030204" pitchFamily="18" charset="0"/>
                              </a:rPr>
                            </m:ctrlPr>
                          </m:accPr>
                          <m:e>
                            <m:r>
                              <a:rPr lang="fr-FR" b="1">
                                <a:latin typeface="Cambria Math" panose="02040503050406030204" pitchFamily="18" charset="0"/>
                              </a:rPr>
                              <m:t>𝐱</m:t>
                            </m:r>
                          </m:e>
                        </m:acc>
                      </m:e>
                      <m:sup>
                        <m:r>
                          <a:rPr lang="fr-FR" i="1">
                            <a:latin typeface="Cambria Math" panose="02040503050406030204" pitchFamily="18" charset="0"/>
                          </a:rPr>
                          <m:t>𝑑</m:t>
                        </m:r>
                      </m:sup>
                    </m:sSup>
                    <m:r>
                      <a:rPr lang="fr-FR" b="1" i="1">
                        <a:latin typeface="Cambria Math" panose="02040503050406030204" pitchFamily="18" charset="0"/>
                      </a:rPr>
                      <m:t>+</m:t>
                    </m:r>
                    <m:sSub>
                      <m:sSubPr>
                        <m:ctrlPr>
                          <a:rPr lang="fr-FR" b="1" i="1">
                            <a:latin typeface="Cambria Math" panose="02040503050406030204" pitchFamily="18" charset="0"/>
                          </a:rPr>
                        </m:ctrlPr>
                      </m:sSubPr>
                      <m:e>
                        <m:r>
                          <a:rPr lang="fr-FR" b="1" i="1">
                            <a:latin typeface="Cambria Math" panose="02040503050406030204" pitchFamily="18" charset="0"/>
                          </a:rPr>
                          <m:t>𝑲</m:t>
                        </m:r>
                      </m:e>
                      <m:sub>
                        <m:r>
                          <a:rPr lang="fr-FR" b="1" i="1">
                            <a:latin typeface="Cambria Math" panose="02040503050406030204" pitchFamily="18" charset="0"/>
                          </a:rPr>
                          <m:t>𝒑</m:t>
                        </m:r>
                      </m:sub>
                    </m:sSub>
                    <m:sSub>
                      <m:sSubPr>
                        <m:ctrlPr>
                          <a:rPr lang="fr-FR" i="1">
                            <a:latin typeface="Cambria Math" panose="02040503050406030204" pitchFamily="18" charset="0"/>
                          </a:rPr>
                        </m:ctrlPr>
                      </m:sSubPr>
                      <m:e>
                        <m:r>
                          <a:rPr lang="fr-FR" b="1">
                            <a:latin typeface="Cambria Math" panose="02040503050406030204" pitchFamily="18" charset="0"/>
                          </a:rPr>
                          <m:t>𝐞</m:t>
                        </m:r>
                      </m:e>
                      <m:sub>
                        <m:r>
                          <a:rPr lang="fr-FR" b="1" i="1" smtClean="0">
                            <a:latin typeface="Cambria Math" panose="02040503050406030204" pitchFamily="18" charset="0"/>
                          </a:rPr>
                          <m:t>𝒑</m:t>
                        </m:r>
                      </m:sub>
                    </m:sSub>
                  </m:oMath>
                </a14:m>
                <a:endParaRPr lang="fr-FR" b="1" dirty="0"/>
              </a:p>
            </p:txBody>
          </p:sp>
        </mc:Choice>
        <mc:Fallback xmlns="">
          <p:sp>
            <p:nvSpPr>
              <p:cNvPr id="12" name="ZoneTexte 11">
                <a:extLst>
                  <a:ext uri="{FF2B5EF4-FFF2-40B4-BE49-F238E27FC236}">
                    <a16:creationId xmlns:a16="http://schemas.microsoft.com/office/drawing/2014/main" id="{3B5A45B4-B8E4-5C49-8CAD-5BD736F74D06}"/>
                  </a:ext>
                </a:extLst>
              </p:cNvPr>
              <p:cNvSpPr txBox="1">
                <a:spLocks noRot="1" noChangeAspect="1" noMove="1" noResize="1" noEditPoints="1" noAdjustHandles="1" noChangeArrowheads="1" noChangeShapeType="1" noTextEdit="1"/>
              </p:cNvSpPr>
              <p:nvPr/>
            </p:nvSpPr>
            <p:spPr>
              <a:xfrm>
                <a:off x="3539008" y="4338803"/>
                <a:ext cx="2065984" cy="405496"/>
              </a:xfrm>
              <a:prstGeom prst="rect">
                <a:avLst/>
              </a:prstGeom>
              <a:blipFill>
                <a:blip r:embed="rId5"/>
                <a:stretch>
                  <a:fillRect b="-3030"/>
                </a:stretch>
              </a:blipFill>
            </p:spPr>
            <p:txBody>
              <a:bodyPr/>
              <a:lstStyle/>
              <a:p>
                <a:r>
                  <a:rPr lang="fr-FR">
                    <a:noFill/>
                  </a:rPr>
                  <a:t> </a:t>
                </a:r>
              </a:p>
            </p:txBody>
          </p:sp>
        </mc:Fallback>
      </mc:AlternateContent>
      <p:sp>
        <p:nvSpPr>
          <p:cNvPr id="15" name="Flèche à angle droit 14">
            <a:extLst>
              <a:ext uri="{FF2B5EF4-FFF2-40B4-BE49-F238E27FC236}">
                <a16:creationId xmlns:a16="http://schemas.microsoft.com/office/drawing/2014/main" id="{7940D80C-687D-6D45-85B1-EA23A744CF4F}"/>
              </a:ext>
            </a:extLst>
          </p:cNvPr>
          <p:cNvSpPr/>
          <p:nvPr/>
        </p:nvSpPr>
        <p:spPr>
          <a:xfrm rot="5400000">
            <a:off x="4246901" y="4795183"/>
            <a:ext cx="650196" cy="638175"/>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16" name="ZoneTexte 15">
                <a:extLst>
                  <a:ext uri="{FF2B5EF4-FFF2-40B4-BE49-F238E27FC236}">
                    <a16:creationId xmlns:a16="http://schemas.microsoft.com/office/drawing/2014/main" id="{CDDC67C3-2C48-934C-A3ED-A78E6C5A0239}"/>
                  </a:ext>
                </a:extLst>
              </p:cNvPr>
              <p:cNvSpPr txBox="1"/>
              <p:nvPr/>
            </p:nvSpPr>
            <p:spPr>
              <a:xfrm>
                <a:off x="5120158" y="5072403"/>
                <a:ext cx="2065984" cy="3942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fr-FR" b="1" i="1" smtClean="0">
                              <a:latin typeface="Cambria Math" panose="02040503050406030204" pitchFamily="18" charset="0"/>
                            </a:rPr>
                          </m:ctrlPr>
                        </m:sSubPr>
                        <m:e>
                          <m:acc>
                            <m:accPr>
                              <m:chr m:val="̇"/>
                              <m:ctrlPr>
                                <a:rPr lang="fr-FR" b="1" i="1" smtClean="0">
                                  <a:latin typeface="Cambria Math" panose="02040503050406030204" pitchFamily="18" charset="0"/>
                                </a:rPr>
                              </m:ctrlPr>
                            </m:accPr>
                            <m:e>
                              <m:r>
                                <a:rPr lang="fr-FR" b="1" i="0" smtClean="0">
                                  <a:latin typeface="Cambria Math" panose="02040503050406030204" pitchFamily="18" charset="0"/>
                                </a:rPr>
                                <m:t>𝐞</m:t>
                              </m:r>
                            </m:e>
                          </m:acc>
                        </m:e>
                        <m:sub>
                          <m:r>
                            <a:rPr lang="fr-FR" b="0" i="1" smtClean="0">
                              <a:latin typeface="Cambria Math" panose="02040503050406030204" pitchFamily="18" charset="0"/>
                            </a:rPr>
                            <m:t>𝑝</m:t>
                          </m:r>
                        </m:sub>
                      </m:sSub>
                      <m:r>
                        <a:rPr lang="fr-FR" b="1" i="1" smtClean="0">
                          <a:latin typeface="Cambria Math" panose="02040503050406030204" pitchFamily="18" charset="0"/>
                        </a:rPr>
                        <m:t>+</m:t>
                      </m:r>
                      <m:sSub>
                        <m:sSubPr>
                          <m:ctrlPr>
                            <a:rPr lang="fr-FR" b="1" i="1">
                              <a:latin typeface="Cambria Math" panose="02040503050406030204" pitchFamily="18" charset="0"/>
                            </a:rPr>
                          </m:ctrlPr>
                        </m:sSubPr>
                        <m:e>
                          <m:r>
                            <a:rPr lang="fr-FR" b="1" i="1">
                              <a:latin typeface="Cambria Math" panose="02040503050406030204" pitchFamily="18" charset="0"/>
                            </a:rPr>
                            <m:t>𝑲</m:t>
                          </m:r>
                        </m:e>
                        <m:sub>
                          <m:r>
                            <a:rPr lang="fr-FR" b="1" i="1">
                              <a:latin typeface="Cambria Math" panose="02040503050406030204" pitchFamily="18" charset="0"/>
                            </a:rPr>
                            <m:t>𝒑</m:t>
                          </m:r>
                        </m:sub>
                      </m:sSub>
                      <m:sSub>
                        <m:sSubPr>
                          <m:ctrlPr>
                            <a:rPr lang="fr-FR" i="1">
                              <a:latin typeface="Cambria Math" panose="02040503050406030204" pitchFamily="18" charset="0"/>
                            </a:rPr>
                          </m:ctrlPr>
                        </m:sSubPr>
                        <m:e>
                          <m:r>
                            <a:rPr lang="fr-FR" b="1">
                              <a:latin typeface="Cambria Math" panose="02040503050406030204" pitchFamily="18" charset="0"/>
                            </a:rPr>
                            <m:t>𝐞</m:t>
                          </m:r>
                        </m:e>
                        <m:sub>
                          <m:r>
                            <a:rPr lang="fr-FR" b="0" i="1" smtClean="0">
                              <a:latin typeface="Cambria Math" panose="02040503050406030204" pitchFamily="18" charset="0"/>
                            </a:rPr>
                            <m:t>𝑝</m:t>
                          </m:r>
                        </m:sub>
                      </m:sSub>
                      <m:r>
                        <a:rPr lang="fr-FR" b="1" i="1" smtClean="0">
                          <a:latin typeface="Cambria Math" panose="02040503050406030204" pitchFamily="18" charset="0"/>
                        </a:rPr>
                        <m:t>=</m:t>
                      </m:r>
                      <m:r>
                        <a:rPr lang="fr-FR" b="1" i="1" smtClean="0">
                          <a:latin typeface="Cambria Math" panose="02040503050406030204" pitchFamily="18" charset="0"/>
                        </a:rPr>
                        <m:t>𝟎</m:t>
                      </m:r>
                    </m:oMath>
                  </m:oMathPara>
                </a14:m>
                <a:endParaRPr lang="fr-FR" b="1" dirty="0"/>
              </a:p>
            </p:txBody>
          </p:sp>
        </mc:Choice>
        <mc:Fallback xmlns="">
          <p:sp>
            <p:nvSpPr>
              <p:cNvPr id="16" name="ZoneTexte 15">
                <a:extLst>
                  <a:ext uri="{FF2B5EF4-FFF2-40B4-BE49-F238E27FC236}">
                    <a16:creationId xmlns:a16="http://schemas.microsoft.com/office/drawing/2014/main" id="{CDDC67C3-2C48-934C-A3ED-A78E6C5A0239}"/>
                  </a:ext>
                </a:extLst>
              </p:cNvPr>
              <p:cNvSpPr txBox="1">
                <a:spLocks noRot="1" noChangeAspect="1" noMove="1" noResize="1" noEditPoints="1" noAdjustHandles="1" noChangeArrowheads="1" noChangeShapeType="1" noTextEdit="1"/>
              </p:cNvSpPr>
              <p:nvPr/>
            </p:nvSpPr>
            <p:spPr>
              <a:xfrm>
                <a:off x="5120158" y="5072403"/>
                <a:ext cx="2065984" cy="394210"/>
              </a:xfrm>
              <a:prstGeom prst="rect">
                <a:avLst/>
              </a:prstGeom>
              <a:blipFill>
                <a:blip r:embed="rId6"/>
                <a:stretch>
                  <a:fillRect b="-312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7" name="ZoneTexte 16">
                <a:extLst>
                  <a:ext uri="{FF2B5EF4-FFF2-40B4-BE49-F238E27FC236}">
                    <a16:creationId xmlns:a16="http://schemas.microsoft.com/office/drawing/2014/main" id="{CF8F36FA-4C3F-AF46-B1F9-3D0E9EC55EAC}"/>
                  </a:ext>
                </a:extLst>
              </p:cNvPr>
              <p:cNvSpPr txBox="1"/>
              <p:nvPr/>
            </p:nvSpPr>
            <p:spPr>
              <a:xfrm>
                <a:off x="300789" y="5808313"/>
                <a:ext cx="8309811" cy="671209"/>
              </a:xfrm>
              <a:prstGeom prst="rect">
                <a:avLst/>
              </a:prstGeom>
              <a:noFill/>
            </p:spPr>
            <p:txBody>
              <a:bodyPr wrap="square" rtlCol="0">
                <a:spAutoFit/>
              </a:bodyPr>
              <a:lstStyle/>
              <a:p>
                <a:r>
                  <a:rPr lang="en-GB" dirty="0">
                    <a:solidFill>
                      <a:srgbClr val="FF0000"/>
                    </a:solidFill>
                  </a:rPr>
                  <a:t>If </a:t>
                </a:r>
                <a14:m>
                  <m:oMath xmlns:m="http://schemas.openxmlformats.org/officeDocument/2006/math">
                    <m:sSub>
                      <m:sSubPr>
                        <m:ctrlPr>
                          <a:rPr lang="fr-FR" b="1" i="1">
                            <a:solidFill>
                              <a:srgbClr val="FF0000"/>
                            </a:solidFill>
                            <a:latin typeface="Cambria Math" panose="02040503050406030204" pitchFamily="18" charset="0"/>
                          </a:rPr>
                        </m:ctrlPr>
                      </m:sSubPr>
                      <m:e>
                        <m:r>
                          <a:rPr lang="fr-FR" b="1" i="1">
                            <a:solidFill>
                              <a:srgbClr val="FF0000"/>
                            </a:solidFill>
                            <a:latin typeface="Cambria Math" panose="02040503050406030204" pitchFamily="18" charset="0"/>
                          </a:rPr>
                          <m:t>𝑲</m:t>
                        </m:r>
                      </m:e>
                      <m:sub>
                        <m:r>
                          <a:rPr lang="fr-FR" b="1" i="1">
                            <a:solidFill>
                              <a:srgbClr val="FF0000"/>
                            </a:solidFill>
                            <a:latin typeface="Cambria Math" panose="02040503050406030204" pitchFamily="18" charset="0"/>
                          </a:rPr>
                          <m:t>𝒑</m:t>
                        </m:r>
                      </m:sub>
                    </m:sSub>
                  </m:oMath>
                </a14:m>
                <a:r>
                  <a:rPr lang="en-GB" dirty="0">
                    <a:solidFill>
                      <a:srgbClr val="FF0000"/>
                    </a:solidFill>
                  </a:rPr>
                  <a:t> is positive definite (usually diagonal) matrix, the system is </a:t>
                </a:r>
                <a:r>
                  <a:rPr lang="en-GB" i="1" dirty="0">
                    <a:solidFill>
                      <a:srgbClr val="FF0000"/>
                    </a:solidFill>
                  </a:rPr>
                  <a:t>asymptotically stable  </a:t>
                </a:r>
              </a:p>
            </p:txBody>
          </p:sp>
        </mc:Choice>
        <mc:Fallback xmlns="">
          <p:sp>
            <p:nvSpPr>
              <p:cNvPr id="17" name="ZoneTexte 16">
                <a:extLst>
                  <a:ext uri="{FF2B5EF4-FFF2-40B4-BE49-F238E27FC236}">
                    <a16:creationId xmlns:a16="http://schemas.microsoft.com/office/drawing/2014/main" id="{CF8F36FA-4C3F-AF46-B1F9-3D0E9EC55EAC}"/>
                  </a:ext>
                </a:extLst>
              </p:cNvPr>
              <p:cNvSpPr txBox="1">
                <a:spLocks noRot="1" noChangeAspect="1" noMove="1" noResize="1" noEditPoints="1" noAdjustHandles="1" noChangeArrowheads="1" noChangeShapeType="1" noTextEdit="1"/>
              </p:cNvSpPr>
              <p:nvPr/>
            </p:nvSpPr>
            <p:spPr>
              <a:xfrm>
                <a:off x="300789" y="5808313"/>
                <a:ext cx="8309811" cy="671209"/>
              </a:xfrm>
              <a:prstGeom prst="rect">
                <a:avLst/>
              </a:prstGeom>
              <a:blipFill>
                <a:blip r:embed="rId7"/>
                <a:stretch>
                  <a:fillRect l="-610" t="-5556" b="-11111"/>
                </a:stretch>
              </a:blipFill>
            </p:spPr>
            <p:txBody>
              <a:bodyPr/>
              <a:lstStyle/>
              <a:p>
                <a:r>
                  <a:rPr lang="fr-FR">
                    <a:noFill/>
                  </a:rPr>
                  <a:t> </a:t>
                </a:r>
              </a:p>
            </p:txBody>
          </p:sp>
        </mc:Fallback>
      </mc:AlternateContent>
    </p:spTree>
    <p:extLst>
      <p:ext uri="{BB962C8B-B14F-4D97-AF65-F5344CB8AC3E}">
        <p14:creationId xmlns:p14="http://schemas.microsoft.com/office/powerpoint/2010/main" val="34068500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a:extLst>
                  <a:ext uri="{FF2B5EF4-FFF2-40B4-BE49-F238E27FC236}">
                    <a16:creationId xmlns:a16="http://schemas.microsoft.com/office/drawing/2014/main" id="{B9F99AA0-C939-0C47-821C-80B8396A1EC5}"/>
                  </a:ext>
                </a:extLst>
              </p:cNvPr>
              <p:cNvSpPr>
                <a:spLocks noGrp="1"/>
              </p:cNvSpPr>
              <p:nvPr>
                <p:ph sz="quarter" idx="1"/>
              </p:nvPr>
            </p:nvSpPr>
            <p:spPr/>
            <p:txBody>
              <a:bodyPr/>
              <a:lstStyle/>
              <a:p>
                <a:r>
                  <a:rPr lang="en-GB" dirty="0"/>
                  <a:t>In the case of redundant manipulator, the control law </a:t>
                </a:r>
                <a14:m>
                  <m:oMath xmlns:m="http://schemas.openxmlformats.org/officeDocument/2006/math">
                    <m:sSup>
                      <m:sSupPr>
                        <m:ctrlPr>
                          <a:rPr lang="fr-FR" i="1">
                            <a:latin typeface="Cambria Math" panose="02040503050406030204" pitchFamily="18" charset="0"/>
                          </a:rPr>
                        </m:ctrlPr>
                      </m:sSupPr>
                      <m:e>
                        <m:acc>
                          <m:accPr>
                            <m:chr m:val="̇"/>
                            <m:ctrlPr>
                              <a:rPr lang="fr-FR" i="1">
                                <a:latin typeface="Cambria Math" panose="02040503050406030204" pitchFamily="18" charset="0"/>
                              </a:rPr>
                            </m:ctrlPr>
                          </m:accPr>
                          <m:e>
                            <m:r>
                              <a:rPr lang="fr-FR" b="1">
                                <a:latin typeface="Cambria Math" panose="02040503050406030204" pitchFamily="18" charset="0"/>
                              </a:rPr>
                              <m:t>𝐪</m:t>
                            </m:r>
                          </m:e>
                        </m:acc>
                      </m:e>
                      <m:sup>
                        <m:r>
                          <a:rPr lang="fr-FR" i="1">
                            <a:latin typeface="Cambria Math" panose="02040503050406030204" pitchFamily="18" charset="0"/>
                          </a:rPr>
                          <m:t>𝑑</m:t>
                        </m:r>
                      </m:sup>
                    </m:sSup>
                    <m:r>
                      <a:rPr lang="fr-FR" i="1">
                        <a:latin typeface="Cambria Math" panose="02040503050406030204" pitchFamily="18" charset="0"/>
                      </a:rPr>
                      <m:t>=</m:t>
                    </m:r>
                    <m:sSup>
                      <m:sSupPr>
                        <m:ctrlPr>
                          <a:rPr lang="fr-FR" b="1" i="1">
                            <a:latin typeface="Cambria Math" panose="02040503050406030204" pitchFamily="18" charset="0"/>
                          </a:rPr>
                        </m:ctrlPr>
                      </m:sSupPr>
                      <m:e>
                        <m:sSub>
                          <m:sSubPr>
                            <m:ctrlPr>
                              <a:rPr lang="fr-FR" b="1" i="1">
                                <a:latin typeface="Cambria Math" panose="02040503050406030204" pitchFamily="18" charset="0"/>
                              </a:rPr>
                            </m:ctrlPr>
                          </m:sSubPr>
                          <m:e>
                            <m:r>
                              <a:rPr lang="fr-FR" b="1" i="1">
                                <a:latin typeface="Cambria Math" panose="02040503050406030204" pitchFamily="18" charset="0"/>
                              </a:rPr>
                              <m:t>𝑱</m:t>
                            </m:r>
                          </m:e>
                          <m:sub>
                            <m:r>
                              <a:rPr lang="fr-FR" b="1" i="1">
                                <a:latin typeface="Cambria Math" panose="02040503050406030204" pitchFamily="18" charset="0"/>
                              </a:rPr>
                              <m:t>𝑨</m:t>
                            </m:r>
                          </m:sub>
                        </m:sSub>
                      </m:e>
                      <m:sup>
                        <m:r>
                          <a:rPr lang="fr-FR" b="1" i="1">
                            <a:latin typeface="Cambria Math" panose="02040503050406030204" pitchFamily="18" charset="0"/>
                          </a:rPr>
                          <m:t>−</m:t>
                        </m:r>
                        <m:r>
                          <a:rPr lang="fr-FR" b="1" i="1">
                            <a:latin typeface="Cambria Math" panose="02040503050406030204" pitchFamily="18" charset="0"/>
                          </a:rPr>
                          <m:t>𝟏</m:t>
                        </m:r>
                      </m:sup>
                    </m:sSup>
                    <m:d>
                      <m:dPr>
                        <m:ctrlPr>
                          <a:rPr lang="fr-FR" b="1" i="1">
                            <a:latin typeface="Cambria Math" panose="02040503050406030204" pitchFamily="18" charset="0"/>
                          </a:rPr>
                        </m:ctrlPr>
                      </m:dPr>
                      <m:e>
                        <m:sSup>
                          <m:sSupPr>
                            <m:ctrlPr>
                              <a:rPr lang="fr-FR" i="1">
                                <a:latin typeface="Cambria Math" panose="02040503050406030204" pitchFamily="18" charset="0"/>
                              </a:rPr>
                            </m:ctrlPr>
                          </m:sSupPr>
                          <m:e>
                            <m:acc>
                              <m:accPr>
                                <m:chr m:val="̇"/>
                                <m:ctrlPr>
                                  <a:rPr lang="fr-FR" i="1">
                                    <a:latin typeface="Cambria Math" panose="02040503050406030204" pitchFamily="18" charset="0"/>
                                  </a:rPr>
                                </m:ctrlPr>
                              </m:accPr>
                              <m:e>
                                <m:r>
                                  <a:rPr lang="fr-FR" b="1">
                                    <a:latin typeface="Cambria Math" panose="02040503050406030204" pitchFamily="18" charset="0"/>
                                  </a:rPr>
                                  <m:t>𝐱</m:t>
                                </m:r>
                              </m:e>
                            </m:acc>
                          </m:e>
                          <m:sup>
                            <m:r>
                              <a:rPr lang="fr-FR" i="1">
                                <a:latin typeface="Cambria Math" panose="02040503050406030204" pitchFamily="18" charset="0"/>
                              </a:rPr>
                              <m:t>𝑑</m:t>
                            </m:r>
                          </m:sup>
                        </m:sSup>
                        <m:r>
                          <a:rPr lang="fr-FR" b="1" i="1">
                            <a:latin typeface="Cambria Math" panose="02040503050406030204" pitchFamily="18" charset="0"/>
                          </a:rPr>
                          <m:t>+</m:t>
                        </m:r>
                        <m:sSub>
                          <m:sSubPr>
                            <m:ctrlPr>
                              <a:rPr lang="fr-FR" b="1" i="1">
                                <a:latin typeface="Cambria Math" panose="02040503050406030204" pitchFamily="18" charset="0"/>
                              </a:rPr>
                            </m:ctrlPr>
                          </m:sSubPr>
                          <m:e>
                            <m:r>
                              <a:rPr lang="fr-FR" b="1" i="1">
                                <a:latin typeface="Cambria Math" panose="02040503050406030204" pitchFamily="18" charset="0"/>
                              </a:rPr>
                              <m:t>𝑲</m:t>
                            </m:r>
                          </m:e>
                          <m:sub>
                            <m:r>
                              <a:rPr lang="fr-FR" b="1" i="1">
                                <a:latin typeface="Cambria Math" panose="02040503050406030204" pitchFamily="18" charset="0"/>
                              </a:rPr>
                              <m:t>𝒑</m:t>
                            </m:r>
                          </m:sub>
                        </m:sSub>
                        <m:sSub>
                          <m:sSubPr>
                            <m:ctrlPr>
                              <a:rPr lang="fr-FR" i="1">
                                <a:latin typeface="Cambria Math" panose="02040503050406030204" pitchFamily="18" charset="0"/>
                              </a:rPr>
                            </m:ctrlPr>
                          </m:sSubPr>
                          <m:e>
                            <m:r>
                              <a:rPr lang="fr-FR" b="1">
                                <a:latin typeface="Cambria Math" panose="02040503050406030204" pitchFamily="18" charset="0"/>
                              </a:rPr>
                              <m:t>𝐞</m:t>
                            </m:r>
                          </m:e>
                          <m:sub>
                            <m:r>
                              <a:rPr lang="fr-FR" b="0" i="1" smtClean="0">
                                <a:latin typeface="Cambria Math" panose="02040503050406030204" pitchFamily="18" charset="0"/>
                              </a:rPr>
                              <m:t>𝑝</m:t>
                            </m:r>
                          </m:sub>
                        </m:sSub>
                      </m:e>
                    </m:d>
                  </m:oMath>
                </a14:m>
                <a:r>
                  <a:rPr lang="en-GB" dirty="0"/>
                  <a:t> can be generalized into:</a:t>
                </a:r>
              </a:p>
              <a:p>
                <a:pPr marL="0" indent="0">
                  <a:buNone/>
                </a:pPr>
                <a:r>
                  <a:rPr lang="en-GB" dirty="0"/>
                  <a:t> </a:t>
                </a:r>
              </a:p>
              <a:p>
                <a:pPr marL="0" indent="0">
                  <a:buNone/>
                </a:pPr>
                <a:endParaRPr lang="en-GB" dirty="0"/>
              </a:p>
              <a:p>
                <a:pPr marL="0" indent="0">
                  <a:buNone/>
                </a:pPr>
                <a:endParaRPr lang="en-GB" dirty="0"/>
              </a:p>
              <a:p>
                <a:r>
                  <a:rPr lang="fr-FR" dirty="0"/>
                  <a:t>The matrix </a:t>
                </a:r>
                <a14:m>
                  <m:oMath xmlns:m="http://schemas.openxmlformats.org/officeDocument/2006/math">
                    <m:d>
                      <m:dPr>
                        <m:ctrlPr>
                          <a:rPr lang="fr-FR" b="1" i="1">
                            <a:latin typeface="Cambria Math" panose="02040503050406030204" pitchFamily="18" charset="0"/>
                          </a:rPr>
                        </m:ctrlPr>
                      </m:dPr>
                      <m:e>
                        <m:sSub>
                          <m:sSubPr>
                            <m:ctrlPr>
                              <a:rPr lang="fr-FR" b="1" i="1">
                                <a:latin typeface="Cambria Math" panose="02040503050406030204" pitchFamily="18" charset="0"/>
                              </a:rPr>
                            </m:ctrlPr>
                          </m:sSubPr>
                          <m:e>
                            <m:r>
                              <a:rPr lang="fr-FR" b="1" i="1">
                                <a:latin typeface="Cambria Math" panose="02040503050406030204" pitchFamily="18" charset="0"/>
                              </a:rPr>
                              <m:t>𝑰</m:t>
                            </m:r>
                          </m:e>
                          <m:sub>
                            <m:r>
                              <a:rPr lang="fr-FR" b="1" i="1">
                                <a:latin typeface="Cambria Math" panose="02040503050406030204" pitchFamily="18" charset="0"/>
                              </a:rPr>
                              <m:t>𝒏</m:t>
                            </m:r>
                          </m:sub>
                        </m:sSub>
                        <m:r>
                          <a:rPr lang="fr-FR" b="1" i="1">
                            <a:latin typeface="Cambria Math" panose="02040503050406030204" pitchFamily="18" charset="0"/>
                          </a:rPr>
                          <m:t>−</m:t>
                        </m:r>
                        <m:sSup>
                          <m:sSupPr>
                            <m:ctrlPr>
                              <a:rPr lang="fr-FR" b="1" i="1">
                                <a:latin typeface="Cambria Math" panose="02040503050406030204" pitchFamily="18" charset="0"/>
                              </a:rPr>
                            </m:ctrlPr>
                          </m:sSupPr>
                          <m:e>
                            <m:sSub>
                              <m:sSubPr>
                                <m:ctrlPr>
                                  <a:rPr lang="fr-FR" b="1" i="1">
                                    <a:latin typeface="Cambria Math" panose="02040503050406030204" pitchFamily="18" charset="0"/>
                                  </a:rPr>
                                </m:ctrlPr>
                              </m:sSubPr>
                              <m:e>
                                <m:r>
                                  <a:rPr lang="fr-FR" b="1" i="1">
                                    <a:latin typeface="Cambria Math" panose="02040503050406030204" pitchFamily="18" charset="0"/>
                                  </a:rPr>
                                  <m:t>𝑱</m:t>
                                </m:r>
                              </m:e>
                              <m:sub>
                                <m:r>
                                  <a:rPr lang="fr-FR" b="1" i="1">
                                    <a:latin typeface="Cambria Math" panose="02040503050406030204" pitchFamily="18" charset="0"/>
                                  </a:rPr>
                                  <m:t>𝑨</m:t>
                                </m:r>
                              </m:sub>
                            </m:sSub>
                          </m:e>
                          <m:sup>
                            <m:r>
                              <a:rPr lang="fr-FR" b="1" i="1">
                                <a:latin typeface="Cambria Math" panose="02040503050406030204" pitchFamily="18" charset="0"/>
                              </a:rPr>
                              <m:t>+</m:t>
                            </m:r>
                          </m:sup>
                        </m:sSup>
                        <m:sSub>
                          <m:sSubPr>
                            <m:ctrlPr>
                              <a:rPr lang="fr-FR" b="1" i="1">
                                <a:latin typeface="Cambria Math" panose="02040503050406030204" pitchFamily="18" charset="0"/>
                              </a:rPr>
                            </m:ctrlPr>
                          </m:sSubPr>
                          <m:e>
                            <m:r>
                              <a:rPr lang="fr-FR" b="1" i="1">
                                <a:latin typeface="Cambria Math" panose="02040503050406030204" pitchFamily="18" charset="0"/>
                              </a:rPr>
                              <m:t>𝑱</m:t>
                            </m:r>
                          </m:e>
                          <m:sub>
                            <m:r>
                              <a:rPr lang="fr-FR" b="1" i="1">
                                <a:latin typeface="Cambria Math" panose="02040503050406030204" pitchFamily="18" charset="0"/>
                              </a:rPr>
                              <m:t>𝑨</m:t>
                            </m:r>
                          </m:sub>
                        </m:sSub>
                      </m:e>
                    </m:d>
                    <m:r>
                      <a:rPr lang="fr-FR" b="1" i="1">
                        <a:latin typeface="Cambria Math" panose="02040503050406030204" pitchFamily="18" charset="0"/>
                      </a:rPr>
                      <m:t> </m:t>
                    </m:r>
                  </m:oMath>
                </a14:m>
                <a:r>
                  <a:rPr lang="en-GB" dirty="0"/>
                  <a:t>allows to generate internal motion described by</a:t>
                </a:r>
              </a:p>
              <a:p>
                <a:pPr marL="0" indent="0">
                  <a:buNone/>
                </a:pPr>
                <a:r>
                  <a:rPr lang="en-GB" dirty="0"/>
                  <a:t> </a:t>
                </a:r>
                <a14:m>
                  <m:oMath xmlns:m="http://schemas.openxmlformats.org/officeDocument/2006/math">
                    <m:d>
                      <m:dPr>
                        <m:ctrlPr>
                          <a:rPr lang="fr-FR" b="1" i="1">
                            <a:latin typeface="Cambria Math" panose="02040503050406030204" pitchFamily="18" charset="0"/>
                          </a:rPr>
                        </m:ctrlPr>
                      </m:dPr>
                      <m:e>
                        <m:sSub>
                          <m:sSubPr>
                            <m:ctrlPr>
                              <a:rPr lang="fr-FR" b="1" i="1">
                                <a:latin typeface="Cambria Math" panose="02040503050406030204" pitchFamily="18" charset="0"/>
                              </a:rPr>
                            </m:ctrlPr>
                          </m:sSubPr>
                          <m:e>
                            <m:r>
                              <a:rPr lang="fr-FR" b="1" i="1">
                                <a:latin typeface="Cambria Math" panose="02040503050406030204" pitchFamily="18" charset="0"/>
                              </a:rPr>
                              <m:t>𝑰</m:t>
                            </m:r>
                          </m:e>
                          <m:sub>
                            <m:r>
                              <a:rPr lang="fr-FR" b="1" i="1">
                                <a:latin typeface="Cambria Math" panose="02040503050406030204" pitchFamily="18" charset="0"/>
                              </a:rPr>
                              <m:t>𝒏</m:t>
                            </m:r>
                          </m:sub>
                        </m:sSub>
                        <m:r>
                          <a:rPr lang="fr-FR" b="1" i="1">
                            <a:latin typeface="Cambria Math" panose="02040503050406030204" pitchFamily="18" charset="0"/>
                          </a:rPr>
                          <m:t>−</m:t>
                        </m:r>
                        <m:sSup>
                          <m:sSupPr>
                            <m:ctrlPr>
                              <a:rPr lang="fr-FR" b="1" i="1">
                                <a:latin typeface="Cambria Math" panose="02040503050406030204" pitchFamily="18" charset="0"/>
                              </a:rPr>
                            </m:ctrlPr>
                          </m:sSupPr>
                          <m:e>
                            <m:sSub>
                              <m:sSubPr>
                                <m:ctrlPr>
                                  <a:rPr lang="fr-FR" b="1" i="1">
                                    <a:latin typeface="Cambria Math" panose="02040503050406030204" pitchFamily="18" charset="0"/>
                                  </a:rPr>
                                </m:ctrlPr>
                              </m:sSubPr>
                              <m:e>
                                <m:r>
                                  <a:rPr lang="fr-FR" b="1" i="1">
                                    <a:latin typeface="Cambria Math" panose="02040503050406030204" pitchFamily="18" charset="0"/>
                                  </a:rPr>
                                  <m:t>𝑱</m:t>
                                </m:r>
                              </m:e>
                              <m:sub>
                                <m:r>
                                  <a:rPr lang="fr-FR" b="1" i="1">
                                    <a:latin typeface="Cambria Math" panose="02040503050406030204" pitchFamily="18" charset="0"/>
                                  </a:rPr>
                                  <m:t>𝑨</m:t>
                                </m:r>
                              </m:sub>
                            </m:sSub>
                          </m:e>
                          <m:sup>
                            <m:r>
                              <a:rPr lang="fr-FR" b="1" i="1">
                                <a:latin typeface="Cambria Math" panose="02040503050406030204" pitchFamily="18" charset="0"/>
                              </a:rPr>
                              <m:t>+</m:t>
                            </m:r>
                          </m:sup>
                        </m:sSup>
                        <m:sSub>
                          <m:sSubPr>
                            <m:ctrlPr>
                              <a:rPr lang="fr-FR" b="1" i="1">
                                <a:latin typeface="Cambria Math" panose="02040503050406030204" pitchFamily="18" charset="0"/>
                              </a:rPr>
                            </m:ctrlPr>
                          </m:sSubPr>
                          <m:e>
                            <m:r>
                              <a:rPr lang="fr-FR" b="1" i="1">
                                <a:latin typeface="Cambria Math" panose="02040503050406030204" pitchFamily="18" charset="0"/>
                              </a:rPr>
                              <m:t>𝑱</m:t>
                            </m:r>
                          </m:e>
                          <m:sub>
                            <m:r>
                              <a:rPr lang="fr-FR" b="1" i="1">
                                <a:latin typeface="Cambria Math" panose="02040503050406030204" pitchFamily="18" charset="0"/>
                              </a:rPr>
                              <m:t>𝑨</m:t>
                            </m:r>
                          </m:sub>
                        </m:sSub>
                      </m:e>
                    </m:d>
                    <m:sSub>
                      <m:sSubPr>
                        <m:ctrlPr>
                          <a:rPr lang="fr-FR" b="1" i="1">
                            <a:latin typeface="Cambria Math" panose="02040503050406030204" pitchFamily="18" charset="0"/>
                          </a:rPr>
                        </m:ctrlPr>
                      </m:sSubPr>
                      <m:e>
                        <m:acc>
                          <m:accPr>
                            <m:chr m:val="̇"/>
                            <m:ctrlPr>
                              <a:rPr lang="fr-FR" b="1" i="1">
                                <a:latin typeface="Cambria Math" panose="02040503050406030204" pitchFamily="18" charset="0"/>
                              </a:rPr>
                            </m:ctrlPr>
                          </m:accPr>
                          <m:e>
                            <m:r>
                              <a:rPr lang="fr-FR" b="1">
                                <a:latin typeface="Cambria Math" panose="02040503050406030204" pitchFamily="18" charset="0"/>
                              </a:rPr>
                              <m:t>𝐪</m:t>
                            </m:r>
                          </m:e>
                        </m:acc>
                      </m:e>
                      <m:sub>
                        <m:r>
                          <a:rPr lang="fr-FR" b="1" i="1">
                            <a:latin typeface="Cambria Math" panose="02040503050406030204" pitchFamily="18" charset="0"/>
                          </a:rPr>
                          <m:t>𝟎</m:t>
                        </m:r>
                      </m:sub>
                    </m:sSub>
                  </m:oMath>
                </a14:m>
                <a:r>
                  <a:rPr lang="en-GB" dirty="0"/>
                  <a:t> without changing the end effector position and orientation.</a:t>
                </a:r>
              </a:p>
              <a:p>
                <a:pPr marL="0" indent="0">
                  <a:buNone/>
                </a:pPr>
                <a:endParaRPr lang="en-GB" dirty="0"/>
              </a:p>
              <a:p>
                <a:pPr marL="0" indent="0">
                  <a:buNone/>
                </a:pPr>
                <a:endParaRPr lang="en-GB" dirty="0"/>
              </a:p>
            </p:txBody>
          </p:sp>
        </mc:Choice>
        <mc:Fallback xmlns="">
          <p:sp>
            <p:nvSpPr>
              <p:cNvPr id="2" name="Espace réservé du contenu 1">
                <a:extLst>
                  <a:ext uri="{FF2B5EF4-FFF2-40B4-BE49-F238E27FC236}">
                    <a16:creationId xmlns:a16="http://schemas.microsoft.com/office/drawing/2014/main" id="{B9F99AA0-C939-0C47-821C-80B8396A1EC5}"/>
                  </a:ext>
                </a:extLst>
              </p:cNvPr>
              <p:cNvSpPr>
                <a:spLocks noGrp="1" noRot="1" noChangeAspect="1" noMove="1" noResize="1" noEditPoints="1" noAdjustHandles="1" noChangeArrowheads="1" noChangeShapeType="1" noTextEdit="1"/>
              </p:cNvSpPr>
              <p:nvPr>
                <p:ph sz="quarter" idx="1"/>
              </p:nvPr>
            </p:nvSpPr>
            <p:spPr>
              <a:blipFill>
                <a:blip r:embed="rId3"/>
                <a:stretch>
                  <a:fillRect/>
                </a:stretch>
              </a:blipFill>
            </p:spPr>
            <p:txBody>
              <a:bodyPr/>
              <a:lstStyle/>
              <a:p>
                <a:r>
                  <a:rPr lang="fr-FR">
                    <a:noFill/>
                  </a:rPr>
                  <a:t> </a:t>
                </a:r>
              </a:p>
            </p:txBody>
          </p:sp>
        </mc:Fallback>
      </mc:AlternateContent>
      <p:sp>
        <p:nvSpPr>
          <p:cNvPr id="4" name="Titre 2">
            <a:extLst>
              <a:ext uri="{FF2B5EF4-FFF2-40B4-BE49-F238E27FC236}">
                <a16:creationId xmlns:a16="http://schemas.microsoft.com/office/drawing/2014/main" id="{3753120A-C678-894A-A92B-E60370DCAC16}"/>
              </a:ext>
            </a:extLst>
          </p:cNvPr>
          <p:cNvSpPr>
            <a:spLocks noGrp="1"/>
          </p:cNvSpPr>
          <p:nvPr>
            <p:ph type="title"/>
          </p:nvPr>
        </p:nvSpPr>
        <p:spPr>
          <a:xfrm>
            <a:off x="300790" y="0"/>
            <a:ext cx="8229600" cy="785812"/>
          </a:xfrm>
        </p:spPr>
        <p:txBody>
          <a:bodyPr/>
          <a:lstStyle/>
          <a:p>
            <a:r>
              <a:rPr lang="en-GB" dirty="0"/>
              <a:t>Position control</a:t>
            </a:r>
            <a:endParaRPr lang="fr-FR" dirty="0"/>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D79C5212-4F57-C846-9E54-AF67C208B6C0}"/>
                  </a:ext>
                </a:extLst>
              </p:cNvPr>
              <p:cNvSpPr txBox="1"/>
              <p:nvPr/>
            </p:nvSpPr>
            <p:spPr>
              <a:xfrm>
                <a:off x="2203393" y="1827083"/>
                <a:ext cx="4501820" cy="413959"/>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sSup>
                        <m:sSupPr>
                          <m:ctrlPr>
                            <a:rPr lang="fr-FR" i="1" smtClean="0">
                              <a:latin typeface="Cambria Math" panose="02040503050406030204" pitchFamily="18" charset="0"/>
                            </a:rPr>
                          </m:ctrlPr>
                        </m:sSupPr>
                        <m:e>
                          <m:acc>
                            <m:accPr>
                              <m:chr m:val="̇"/>
                              <m:ctrlPr>
                                <a:rPr lang="fr-FR" i="1">
                                  <a:latin typeface="Cambria Math" panose="02040503050406030204" pitchFamily="18" charset="0"/>
                                </a:rPr>
                              </m:ctrlPr>
                            </m:accPr>
                            <m:e>
                              <m:r>
                                <a:rPr lang="fr-FR" b="1">
                                  <a:latin typeface="Cambria Math" panose="02040503050406030204" pitchFamily="18" charset="0"/>
                                </a:rPr>
                                <m:t>𝐪</m:t>
                              </m:r>
                            </m:e>
                          </m:acc>
                        </m:e>
                        <m:sup>
                          <m:r>
                            <a:rPr lang="fr-FR" b="0" i="1" smtClean="0">
                              <a:latin typeface="Cambria Math" panose="02040503050406030204" pitchFamily="18" charset="0"/>
                            </a:rPr>
                            <m:t>𝑑</m:t>
                          </m:r>
                        </m:sup>
                      </m:sSup>
                      <m:r>
                        <a:rPr lang="fr-FR" b="0" i="1" smtClean="0">
                          <a:latin typeface="Cambria Math" panose="02040503050406030204" pitchFamily="18" charset="0"/>
                        </a:rPr>
                        <m:t>=</m:t>
                      </m:r>
                      <m:sSup>
                        <m:sSupPr>
                          <m:ctrlPr>
                            <a:rPr lang="fr-FR" b="1" i="1">
                              <a:latin typeface="Cambria Math" panose="02040503050406030204" pitchFamily="18" charset="0"/>
                            </a:rPr>
                          </m:ctrlPr>
                        </m:sSupPr>
                        <m:e>
                          <m:sSub>
                            <m:sSubPr>
                              <m:ctrlPr>
                                <a:rPr lang="fr-FR" b="1" i="1">
                                  <a:latin typeface="Cambria Math" panose="02040503050406030204" pitchFamily="18" charset="0"/>
                                </a:rPr>
                              </m:ctrlPr>
                            </m:sSubPr>
                            <m:e>
                              <m:r>
                                <a:rPr lang="fr-FR" b="1" i="1">
                                  <a:latin typeface="Cambria Math" panose="02040503050406030204" pitchFamily="18" charset="0"/>
                                </a:rPr>
                                <m:t>𝑱</m:t>
                              </m:r>
                            </m:e>
                            <m:sub>
                              <m:r>
                                <a:rPr lang="fr-FR" b="1" i="1">
                                  <a:latin typeface="Cambria Math" panose="02040503050406030204" pitchFamily="18" charset="0"/>
                                </a:rPr>
                                <m:t>𝑨</m:t>
                              </m:r>
                            </m:sub>
                          </m:sSub>
                        </m:e>
                        <m:sup>
                          <m:r>
                            <a:rPr lang="fr-FR" b="1" i="1" smtClean="0">
                              <a:latin typeface="Cambria Math" panose="02040503050406030204" pitchFamily="18" charset="0"/>
                            </a:rPr>
                            <m:t>+</m:t>
                          </m:r>
                        </m:sup>
                      </m:sSup>
                      <m:d>
                        <m:dPr>
                          <m:ctrlPr>
                            <a:rPr lang="fr-FR" b="1" i="1" smtClean="0">
                              <a:latin typeface="Cambria Math" panose="02040503050406030204" pitchFamily="18" charset="0"/>
                            </a:rPr>
                          </m:ctrlPr>
                        </m:dPr>
                        <m:e>
                          <m:sSup>
                            <m:sSupPr>
                              <m:ctrlPr>
                                <a:rPr lang="fr-FR" i="1">
                                  <a:latin typeface="Cambria Math" panose="02040503050406030204" pitchFamily="18" charset="0"/>
                                </a:rPr>
                              </m:ctrlPr>
                            </m:sSupPr>
                            <m:e>
                              <m:acc>
                                <m:accPr>
                                  <m:chr m:val="̇"/>
                                  <m:ctrlPr>
                                    <a:rPr lang="fr-FR" i="1">
                                      <a:latin typeface="Cambria Math" panose="02040503050406030204" pitchFamily="18" charset="0"/>
                                    </a:rPr>
                                  </m:ctrlPr>
                                </m:accPr>
                                <m:e>
                                  <m:r>
                                    <a:rPr lang="fr-FR" b="1">
                                      <a:latin typeface="Cambria Math" panose="02040503050406030204" pitchFamily="18" charset="0"/>
                                    </a:rPr>
                                    <m:t>𝐱</m:t>
                                  </m:r>
                                </m:e>
                              </m:acc>
                            </m:e>
                            <m:sup>
                              <m:r>
                                <a:rPr lang="fr-FR" i="1">
                                  <a:latin typeface="Cambria Math" panose="02040503050406030204" pitchFamily="18" charset="0"/>
                                </a:rPr>
                                <m:t>𝑑</m:t>
                              </m:r>
                            </m:sup>
                          </m:sSup>
                          <m:r>
                            <a:rPr lang="fr-FR" b="1" i="1" smtClean="0">
                              <a:latin typeface="Cambria Math" panose="02040503050406030204" pitchFamily="18" charset="0"/>
                            </a:rPr>
                            <m:t>+</m:t>
                          </m:r>
                          <m:sSub>
                            <m:sSubPr>
                              <m:ctrlPr>
                                <a:rPr lang="fr-FR" b="1" i="1" smtClean="0">
                                  <a:latin typeface="Cambria Math" panose="02040503050406030204" pitchFamily="18" charset="0"/>
                                </a:rPr>
                              </m:ctrlPr>
                            </m:sSubPr>
                            <m:e>
                              <m:r>
                                <a:rPr lang="fr-FR" b="1" i="1" smtClean="0">
                                  <a:latin typeface="Cambria Math" panose="02040503050406030204" pitchFamily="18" charset="0"/>
                                </a:rPr>
                                <m:t>𝑲</m:t>
                              </m:r>
                            </m:e>
                            <m:sub>
                              <m:r>
                                <a:rPr lang="fr-FR" b="1" i="1" smtClean="0">
                                  <a:latin typeface="Cambria Math" panose="02040503050406030204" pitchFamily="18" charset="0"/>
                                </a:rPr>
                                <m:t>𝒑</m:t>
                              </m:r>
                            </m:sub>
                          </m:sSub>
                          <m:sSub>
                            <m:sSubPr>
                              <m:ctrlPr>
                                <a:rPr lang="fr-FR" i="1">
                                  <a:latin typeface="Cambria Math" panose="02040503050406030204" pitchFamily="18" charset="0"/>
                                </a:rPr>
                              </m:ctrlPr>
                            </m:sSubPr>
                            <m:e>
                              <m:r>
                                <a:rPr lang="fr-FR" b="1">
                                  <a:latin typeface="Cambria Math" panose="02040503050406030204" pitchFamily="18" charset="0"/>
                                </a:rPr>
                                <m:t>𝐞</m:t>
                              </m:r>
                            </m:e>
                            <m:sub>
                              <m:r>
                                <a:rPr lang="fr-FR" b="0" i="1" smtClean="0">
                                  <a:latin typeface="Cambria Math" panose="02040503050406030204" pitchFamily="18" charset="0"/>
                                </a:rPr>
                                <m:t>𝑝</m:t>
                              </m:r>
                            </m:sub>
                          </m:sSub>
                        </m:e>
                      </m:d>
                      <m:r>
                        <a:rPr lang="fr-FR" b="1" i="1" smtClean="0">
                          <a:latin typeface="Cambria Math" panose="02040503050406030204" pitchFamily="18" charset="0"/>
                        </a:rPr>
                        <m:t>+</m:t>
                      </m:r>
                      <m:d>
                        <m:dPr>
                          <m:ctrlPr>
                            <a:rPr lang="fr-FR" b="1" i="1" smtClean="0">
                              <a:latin typeface="Cambria Math" panose="02040503050406030204" pitchFamily="18" charset="0"/>
                            </a:rPr>
                          </m:ctrlPr>
                        </m:dPr>
                        <m:e>
                          <m:sSub>
                            <m:sSubPr>
                              <m:ctrlPr>
                                <a:rPr lang="fr-FR" b="1" i="1" smtClean="0">
                                  <a:latin typeface="Cambria Math" panose="02040503050406030204" pitchFamily="18" charset="0"/>
                                </a:rPr>
                              </m:ctrlPr>
                            </m:sSubPr>
                            <m:e>
                              <m:r>
                                <a:rPr lang="fr-FR" b="1" i="1" smtClean="0">
                                  <a:latin typeface="Cambria Math" panose="02040503050406030204" pitchFamily="18" charset="0"/>
                                </a:rPr>
                                <m:t>𝑰</m:t>
                              </m:r>
                            </m:e>
                            <m:sub>
                              <m:r>
                                <a:rPr lang="fr-FR" b="1" i="1" smtClean="0">
                                  <a:latin typeface="Cambria Math" panose="02040503050406030204" pitchFamily="18" charset="0"/>
                                </a:rPr>
                                <m:t>𝒏</m:t>
                              </m:r>
                            </m:sub>
                          </m:sSub>
                          <m:r>
                            <a:rPr lang="fr-FR" b="1" i="1" smtClean="0">
                              <a:latin typeface="Cambria Math" panose="02040503050406030204" pitchFamily="18" charset="0"/>
                            </a:rPr>
                            <m:t>−</m:t>
                          </m:r>
                          <m:sSup>
                            <m:sSupPr>
                              <m:ctrlPr>
                                <a:rPr lang="fr-FR" b="1" i="1">
                                  <a:latin typeface="Cambria Math" panose="02040503050406030204" pitchFamily="18" charset="0"/>
                                </a:rPr>
                              </m:ctrlPr>
                            </m:sSupPr>
                            <m:e>
                              <m:sSub>
                                <m:sSubPr>
                                  <m:ctrlPr>
                                    <a:rPr lang="fr-FR" b="1" i="1">
                                      <a:latin typeface="Cambria Math" panose="02040503050406030204" pitchFamily="18" charset="0"/>
                                    </a:rPr>
                                  </m:ctrlPr>
                                </m:sSubPr>
                                <m:e>
                                  <m:r>
                                    <a:rPr lang="fr-FR" b="1" i="1">
                                      <a:latin typeface="Cambria Math" panose="02040503050406030204" pitchFamily="18" charset="0"/>
                                    </a:rPr>
                                    <m:t>𝑱</m:t>
                                  </m:r>
                                </m:e>
                                <m:sub>
                                  <m:r>
                                    <a:rPr lang="fr-FR" b="1" i="1">
                                      <a:latin typeface="Cambria Math" panose="02040503050406030204" pitchFamily="18" charset="0"/>
                                    </a:rPr>
                                    <m:t>𝑨</m:t>
                                  </m:r>
                                </m:sub>
                              </m:sSub>
                            </m:e>
                            <m:sup>
                              <m:r>
                                <a:rPr lang="fr-FR" b="1" i="1">
                                  <a:latin typeface="Cambria Math" panose="02040503050406030204" pitchFamily="18" charset="0"/>
                                </a:rPr>
                                <m:t>+</m:t>
                              </m:r>
                            </m:sup>
                          </m:sSup>
                          <m:sSub>
                            <m:sSubPr>
                              <m:ctrlPr>
                                <a:rPr lang="fr-FR" b="1" i="1" smtClean="0">
                                  <a:latin typeface="Cambria Math" panose="02040503050406030204" pitchFamily="18" charset="0"/>
                                </a:rPr>
                              </m:ctrlPr>
                            </m:sSubPr>
                            <m:e>
                              <m:r>
                                <a:rPr lang="fr-FR" b="1" i="1" smtClean="0">
                                  <a:latin typeface="Cambria Math" panose="02040503050406030204" pitchFamily="18" charset="0"/>
                                </a:rPr>
                                <m:t>𝑱</m:t>
                              </m:r>
                            </m:e>
                            <m:sub>
                              <m:r>
                                <a:rPr lang="fr-FR" b="1" i="1" smtClean="0">
                                  <a:latin typeface="Cambria Math" panose="02040503050406030204" pitchFamily="18" charset="0"/>
                                </a:rPr>
                                <m:t>𝑨</m:t>
                              </m:r>
                            </m:sub>
                          </m:sSub>
                        </m:e>
                      </m:d>
                      <m:sSub>
                        <m:sSubPr>
                          <m:ctrlPr>
                            <a:rPr lang="fr-FR" b="1" i="1" smtClean="0">
                              <a:latin typeface="Cambria Math" panose="02040503050406030204" pitchFamily="18" charset="0"/>
                            </a:rPr>
                          </m:ctrlPr>
                        </m:sSubPr>
                        <m:e>
                          <m:acc>
                            <m:accPr>
                              <m:chr m:val="̇"/>
                              <m:ctrlPr>
                                <a:rPr lang="fr-FR" b="1" i="1" smtClean="0">
                                  <a:latin typeface="Cambria Math" panose="02040503050406030204" pitchFamily="18" charset="0"/>
                                </a:rPr>
                              </m:ctrlPr>
                            </m:accPr>
                            <m:e>
                              <m:r>
                                <a:rPr lang="fr-FR" b="1" i="0" smtClean="0">
                                  <a:latin typeface="Cambria Math" panose="02040503050406030204" pitchFamily="18" charset="0"/>
                                </a:rPr>
                                <m:t>𝐪</m:t>
                              </m:r>
                            </m:e>
                          </m:acc>
                        </m:e>
                        <m:sub>
                          <m:r>
                            <a:rPr lang="fr-FR" b="1" i="1" smtClean="0">
                              <a:latin typeface="Cambria Math" panose="02040503050406030204" pitchFamily="18" charset="0"/>
                            </a:rPr>
                            <m:t>𝟎</m:t>
                          </m:r>
                        </m:sub>
                      </m:sSub>
                    </m:oMath>
                  </m:oMathPara>
                </a14:m>
                <a:endParaRPr lang="fr-FR" dirty="0"/>
              </a:p>
            </p:txBody>
          </p:sp>
        </mc:Choice>
        <mc:Fallback xmlns="">
          <p:sp>
            <p:nvSpPr>
              <p:cNvPr id="5" name="ZoneTexte 4">
                <a:extLst>
                  <a:ext uri="{FF2B5EF4-FFF2-40B4-BE49-F238E27FC236}">
                    <a16:creationId xmlns:a16="http://schemas.microsoft.com/office/drawing/2014/main" id="{D79C5212-4F57-C846-9E54-AF67C208B6C0}"/>
                  </a:ext>
                </a:extLst>
              </p:cNvPr>
              <p:cNvSpPr txBox="1">
                <a:spLocks noRot="1" noChangeAspect="1" noMove="1" noResize="1" noEditPoints="1" noAdjustHandles="1" noChangeArrowheads="1" noChangeShapeType="1" noTextEdit="1"/>
              </p:cNvSpPr>
              <p:nvPr/>
            </p:nvSpPr>
            <p:spPr>
              <a:xfrm>
                <a:off x="2203393" y="1827083"/>
                <a:ext cx="4501820" cy="413959"/>
              </a:xfrm>
              <a:prstGeom prst="rect">
                <a:avLst/>
              </a:prstGeom>
              <a:blipFill>
                <a:blip r:embed="rId4"/>
                <a:stretch>
                  <a:fillRect b="-6061"/>
                </a:stretch>
              </a:blipFill>
            </p:spPr>
            <p:txBody>
              <a:bodyPr/>
              <a:lstStyle/>
              <a:p>
                <a:r>
                  <a:rPr lang="fr-FR">
                    <a:noFill/>
                  </a:rPr>
                  <a:t> </a:t>
                </a:r>
              </a:p>
            </p:txBody>
          </p:sp>
        </mc:Fallback>
      </mc:AlternateContent>
    </p:spTree>
    <p:extLst>
      <p:ext uri="{BB962C8B-B14F-4D97-AF65-F5344CB8AC3E}">
        <p14:creationId xmlns:p14="http://schemas.microsoft.com/office/powerpoint/2010/main" val="18194553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a:extLst>
                  <a:ext uri="{FF2B5EF4-FFF2-40B4-BE49-F238E27FC236}">
                    <a16:creationId xmlns:a16="http://schemas.microsoft.com/office/drawing/2014/main" id="{8CC6D773-C3E5-3E48-A9DA-53E9F6E63C0D}"/>
                  </a:ext>
                </a:extLst>
              </p:cNvPr>
              <p:cNvSpPr>
                <a:spLocks noGrp="1"/>
              </p:cNvSpPr>
              <p:nvPr>
                <p:ph sz="quarter" idx="1"/>
              </p:nvPr>
            </p:nvSpPr>
            <p:spPr/>
            <p:txBody>
              <a:bodyPr/>
              <a:lstStyle/>
              <a:p>
                <a:r>
                  <a:rPr lang="en-GB" dirty="0"/>
                  <a:t>The kinematic control scheme above presented uses the analytical Jacobian. </a:t>
                </a:r>
              </a:p>
              <a:p>
                <a:r>
                  <a:rPr lang="en-GB" dirty="0"/>
                  <a:t>For the position error, the expression is:</a:t>
                </a:r>
              </a:p>
              <a:p>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b="1" i="1" smtClean="0">
                              <a:latin typeface="Cambria Math" panose="02040503050406030204" pitchFamily="18" charset="0"/>
                            </a:rPr>
                          </m:ctrlPr>
                        </m:sSubPr>
                        <m:e>
                          <m:r>
                            <a:rPr lang="fr-FR" b="1" i="0" smtClean="0">
                              <a:latin typeface="Cambria Math" panose="02040503050406030204" pitchFamily="18" charset="0"/>
                            </a:rPr>
                            <m:t>𝐞</m:t>
                          </m:r>
                        </m:e>
                        <m:sub>
                          <m:r>
                            <a:rPr lang="fr-FR" b="0" i="1" smtClean="0">
                              <a:latin typeface="Cambria Math" panose="02040503050406030204" pitchFamily="18" charset="0"/>
                            </a:rPr>
                            <m:t>𝑝</m:t>
                          </m:r>
                        </m:sub>
                      </m:sSub>
                      <m:r>
                        <a:rPr lang="fr-FR" b="0" i="1" smtClean="0">
                          <a:latin typeface="Cambria Math" panose="02040503050406030204" pitchFamily="18" charset="0"/>
                        </a:rPr>
                        <m:t>=</m:t>
                      </m:r>
                      <m:sSup>
                        <m:sSupPr>
                          <m:ctrlPr>
                            <a:rPr lang="fr-FR" b="0" i="1" smtClean="0">
                              <a:latin typeface="Cambria Math" panose="02040503050406030204" pitchFamily="18" charset="0"/>
                            </a:rPr>
                          </m:ctrlPr>
                        </m:sSupPr>
                        <m:e>
                          <m:r>
                            <a:rPr lang="fr-FR" b="1" i="0" smtClean="0">
                              <a:latin typeface="Cambria Math" panose="02040503050406030204" pitchFamily="18" charset="0"/>
                            </a:rPr>
                            <m:t>𝐱</m:t>
                          </m:r>
                        </m:e>
                        <m:sup>
                          <m:r>
                            <a:rPr lang="fr-FR" b="0" i="1" smtClean="0">
                              <a:latin typeface="Cambria Math" panose="02040503050406030204" pitchFamily="18" charset="0"/>
                            </a:rPr>
                            <m:t>𝑑</m:t>
                          </m:r>
                        </m:sup>
                      </m:sSup>
                      <m:r>
                        <a:rPr lang="fr-FR" b="0" i="1" smtClean="0">
                          <a:latin typeface="Cambria Math" panose="02040503050406030204" pitchFamily="18" charset="0"/>
                        </a:rPr>
                        <m:t>−</m:t>
                      </m:r>
                      <m:r>
                        <a:rPr lang="fr-FR" b="1" i="0" smtClean="0">
                          <a:latin typeface="Cambria Math" panose="02040503050406030204" pitchFamily="18" charset="0"/>
                        </a:rPr>
                        <m:t>𝐱</m:t>
                      </m:r>
                    </m:oMath>
                  </m:oMathPara>
                </a14:m>
                <a:endParaRPr lang="en-GB" b="1" dirty="0"/>
              </a:p>
              <a:p>
                <a:pPr marL="0" indent="0">
                  <a:buNone/>
                </a:pPr>
                <a14:m>
                  <m:oMath xmlns:m="http://schemas.openxmlformats.org/officeDocument/2006/math">
                    <m:sSup>
                      <m:sSupPr>
                        <m:ctrlPr>
                          <a:rPr lang="fr-FR" i="1">
                            <a:latin typeface="Cambria Math" panose="02040503050406030204" pitchFamily="18" charset="0"/>
                          </a:rPr>
                        </m:ctrlPr>
                      </m:sSupPr>
                      <m:e>
                        <m:r>
                          <a:rPr lang="fr-FR" b="1">
                            <a:latin typeface="Cambria Math" panose="02040503050406030204" pitchFamily="18" charset="0"/>
                          </a:rPr>
                          <m:t>𝐱</m:t>
                        </m:r>
                      </m:e>
                      <m:sup>
                        <m:r>
                          <a:rPr lang="fr-FR" i="1">
                            <a:latin typeface="Cambria Math" panose="02040503050406030204" pitchFamily="18" charset="0"/>
                          </a:rPr>
                          <m:t>𝑑</m:t>
                        </m:r>
                      </m:sup>
                    </m:sSup>
                  </m:oMath>
                </a14:m>
                <a:r>
                  <a:rPr lang="en-GB" b="1" dirty="0"/>
                  <a:t> </a:t>
                </a:r>
                <a:r>
                  <a:rPr lang="en-GB" dirty="0"/>
                  <a:t>is the desired position of the end effector</a:t>
                </a:r>
              </a:p>
              <a:p>
                <a:pPr marL="0" indent="0">
                  <a:buNone/>
                </a:pPr>
                <a14:m>
                  <m:oMath xmlns:m="http://schemas.openxmlformats.org/officeDocument/2006/math">
                    <m:r>
                      <a:rPr lang="fr-FR" b="1" i="0" smtClean="0">
                        <a:latin typeface="Cambria Math" panose="02040503050406030204" pitchFamily="18" charset="0"/>
                      </a:rPr>
                      <m:t>𝐱</m:t>
                    </m:r>
                  </m:oMath>
                </a14:m>
                <a:r>
                  <a:rPr lang="en-GB" b="1" dirty="0"/>
                  <a:t> </a:t>
                </a:r>
                <a:r>
                  <a:rPr lang="en-GB" dirty="0"/>
                  <a:t>is the computed end effector position</a:t>
                </a:r>
              </a:p>
              <a:p>
                <a:pPr marL="0" indent="0">
                  <a:buNone/>
                </a:pPr>
                <a:endParaRPr lang="en-GB" dirty="0"/>
              </a:p>
              <a:p>
                <a:r>
                  <a:rPr lang="en-GB" dirty="0"/>
                  <a:t>The first time derivative of the position error is:</a:t>
                </a:r>
              </a:p>
              <a:p>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b="1" i="1">
                              <a:latin typeface="Cambria Math" panose="02040503050406030204" pitchFamily="18" charset="0"/>
                            </a:rPr>
                          </m:ctrlPr>
                        </m:sSubPr>
                        <m:e>
                          <m:acc>
                            <m:accPr>
                              <m:chr m:val="̇"/>
                              <m:ctrlPr>
                                <a:rPr lang="en-GB" b="1" i="1">
                                  <a:latin typeface="Cambria Math" panose="02040503050406030204" pitchFamily="18" charset="0"/>
                                </a:rPr>
                              </m:ctrlPr>
                            </m:accPr>
                            <m:e>
                              <m:r>
                                <a:rPr lang="fr-FR" b="1">
                                  <a:latin typeface="Cambria Math" panose="02040503050406030204" pitchFamily="18" charset="0"/>
                                </a:rPr>
                                <m:t>𝐞</m:t>
                              </m:r>
                            </m:e>
                          </m:acc>
                        </m:e>
                        <m:sub>
                          <m:r>
                            <a:rPr lang="fr-FR" b="0" i="1" smtClean="0">
                              <a:latin typeface="Cambria Math" panose="02040503050406030204" pitchFamily="18" charset="0"/>
                            </a:rPr>
                            <m:t>𝑝</m:t>
                          </m:r>
                        </m:sub>
                      </m:sSub>
                      <m:r>
                        <a:rPr lang="fr-FR" i="1">
                          <a:latin typeface="Cambria Math" panose="02040503050406030204" pitchFamily="18" charset="0"/>
                        </a:rPr>
                        <m:t>=</m:t>
                      </m:r>
                      <m:sSup>
                        <m:sSupPr>
                          <m:ctrlPr>
                            <a:rPr lang="fr-FR" i="1">
                              <a:latin typeface="Cambria Math" panose="02040503050406030204" pitchFamily="18" charset="0"/>
                            </a:rPr>
                          </m:ctrlPr>
                        </m:sSupPr>
                        <m:e>
                          <m:acc>
                            <m:accPr>
                              <m:chr m:val="̇"/>
                              <m:ctrlPr>
                                <a:rPr lang="fr-FR" i="1">
                                  <a:latin typeface="Cambria Math" panose="02040503050406030204" pitchFamily="18" charset="0"/>
                                </a:rPr>
                              </m:ctrlPr>
                            </m:accPr>
                            <m:e>
                              <m:r>
                                <a:rPr lang="fr-FR" b="1" i="0" smtClean="0">
                                  <a:latin typeface="Cambria Math" panose="02040503050406030204" pitchFamily="18" charset="0"/>
                                  <a:ea typeface="Cambria Math" panose="02040503050406030204" pitchFamily="18" charset="0"/>
                                </a:rPr>
                                <m:t>𝐱</m:t>
                              </m:r>
                            </m:e>
                          </m:acc>
                        </m:e>
                        <m:sup>
                          <m:r>
                            <a:rPr lang="fr-FR" i="1">
                              <a:latin typeface="Cambria Math" panose="02040503050406030204" pitchFamily="18" charset="0"/>
                            </a:rPr>
                            <m:t>𝑑</m:t>
                          </m:r>
                        </m:sup>
                      </m:sSup>
                      <m:r>
                        <a:rPr lang="fr-FR" i="1">
                          <a:latin typeface="Cambria Math" panose="02040503050406030204" pitchFamily="18" charset="0"/>
                        </a:rPr>
                        <m:t>−</m:t>
                      </m:r>
                      <m:acc>
                        <m:accPr>
                          <m:chr m:val="̇"/>
                          <m:ctrlPr>
                            <a:rPr lang="fr-FR" i="1">
                              <a:latin typeface="Cambria Math" panose="02040503050406030204" pitchFamily="18" charset="0"/>
                            </a:rPr>
                          </m:ctrlPr>
                        </m:accPr>
                        <m:e>
                          <m:r>
                            <a:rPr lang="fr-FR" b="1" i="0" smtClean="0">
                              <a:latin typeface="Cambria Math" panose="02040503050406030204" pitchFamily="18" charset="0"/>
                              <a:ea typeface="Cambria Math" panose="02040503050406030204" pitchFamily="18" charset="0"/>
                            </a:rPr>
                            <m:t>𝐱</m:t>
                          </m:r>
                        </m:e>
                      </m:acc>
                    </m:oMath>
                  </m:oMathPara>
                </a14:m>
                <a:endParaRPr lang="en-GB" dirty="0"/>
              </a:p>
              <a:p>
                <a:pPr marL="0" indent="0">
                  <a:buNone/>
                </a:pPr>
                <a:endParaRPr lang="en-GB" dirty="0"/>
              </a:p>
              <a:p>
                <a:pPr marL="0" indent="0">
                  <a:buNone/>
                </a:pPr>
                <a:endParaRPr lang="en-GB" dirty="0"/>
              </a:p>
              <a:p>
                <a:r>
                  <a:rPr lang="en-GB" dirty="0"/>
                  <a:t>Orientation error depends on the particular representation of the end effector orientation, namely Euler angles, angle and axis, and unit quaternion</a:t>
                </a:r>
              </a:p>
              <a:p>
                <a:endParaRPr lang="en-GB" dirty="0"/>
              </a:p>
            </p:txBody>
          </p:sp>
        </mc:Choice>
        <mc:Fallback xmlns="">
          <p:sp>
            <p:nvSpPr>
              <p:cNvPr id="2" name="Espace réservé du contenu 1">
                <a:extLst>
                  <a:ext uri="{FF2B5EF4-FFF2-40B4-BE49-F238E27FC236}">
                    <a16:creationId xmlns:a16="http://schemas.microsoft.com/office/drawing/2014/main" id="{8CC6D773-C3E5-3E48-A9DA-53E9F6E63C0D}"/>
                  </a:ext>
                </a:extLst>
              </p:cNvPr>
              <p:cNvSpPr>
                <a:spLocks noGrp="1" noRot="1" noChangeAspect="1" noMove="1" noResize="1" noEditPoints="1" noAdjustHandles="1" noChangeArrowheads="1" noChangeShapeType="1" noTextEdit="1"/>
              </p:cNvSpPr>
              <p:nvPr>
                <p:ph sz="quarter" idx="1"/>
              </p:nvPr>
            </p:nvSpPr>
            <p:spPr>
              <a:blipFill>
                <a:blip r:embed="rId2"/>
                <a:stretch>
                  <a:fillRect t="-460"/>
                </a:stretch>
              </a:blipFill>
            </p:spPr>
            <p:txBody>
              <a:bodyPr/>
              <a:lstStyle/>
              <a:p>
                <a:r>
                  <a:rPr lang="fr-FR">
                    <a:noFill/>
                  </a:rPr>
                  <a:t> </a:t>
                </a:r>
              </a:p>
            </p:txBody>
          </p:sp>
        </mc:Fallback>
      </mc:AlternateContent>
      <p:sp>
        <p:nvSpPr>
          <p:cNvPr id="6" name="Titre 2">
            <a:extLst>
              <a:ext uri="{FF2B5EF4-FFF2-40B4-BE49-F238E27FC236}">
                <a16:creationId xmlns:a16="http://schemas.microsoft.com/office/drawing/2014/main" id="{087D6099-465E-364D-A8C8-2999CB87C07C}"/>
              </a:ext>
            </a:extLst>
          </p:cNvPr>
          <p:cNvSpPr>
            <a:spLocks noGrp="1"/>
          </p:cNvSpPr>
          <p:nvPr>
            <p:ph type="title"/>
          </p:nvPr>
        </p:nvSpPr>
        <p:spPr>
          <a:xfrm>
            <a:off x="300790" y="0"/>
            <a:ext cx="8229600" cy="785812"/>
          </a:xfrm>
        </p:spPr>
        <p:txBody>
          <a:bodyPr/>
          <a:lstStyle/>
          <a:p>
            <a:r>
              <a:rPr lang="en-GB" sz="2400" dirty="0"/>
              <a:t>Pose control in operational space - position error</a:t>
            </a:r>
            <a:endParaRPr lang="fr-FR" sz="2400" dirty="0"/>
          </a:p>
        </p:txBody>
      </p:sp>
    </p:spTree>
    <p:extLst>
      <p:ext uri="{BB962C8B-B14F-4D97-AF65-F5344CB8AC3E}">
        <p14:creationId xmlns:p14="http://schemas.microsoft.com/office/powerpoint/2010/main" val="33545311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a:extLst>
                  <a:ext uri="{FF2B5EF4-FFF2-40B4-BE49-F238E27FC236}">
                    <a16:creationId xmlns:a16="http://schemas.microsoft.com/office/drawing/2014/main" id="{9988F2E5-5D73-104D-AE8F-BF6F2984B2B8}"/>
                  </a:ext>
                </a:extLst>
              </p:cNvPr>
              <p:cNvSpPr>
                <a:spLocks noGrp="1"/>
              </p:cNvSpPr>
              <p:nvPr>
                <p:ph sz="quarter" idx="1"/>
              </p:nvPr>
            </p:nvSpPr>
            <p:spPr/>
            <p:txBody>
              <a:bodyPr/>
              <a:lstStyle/>
              <a:p>
                <a:r>
                  <a:rPr lang="en-GB" dirty="0"/>
                  <a:t>Let’s define:</a:t>
                </a:r>
              </a:p>
              <a:p>
                <a:pPr marL="0" indent="0">
                  <a:buNone/>
                </a:pPr>
                <a14:m>
                  <m:oMath xmlns:m="http://schemas.openxmlformats.org/officeDocument/2006/math">
                    <m:r>
                      <a:rPr lang="en-GB" b="1" i="1" smtClean="0">
                        <a:latin typeface="Cambria Math" panose="02040503050406030204" pitchFamily="18" charset="0"/>
                        <a:ea typeface="Cambria Math" panose="02040503050406030204" pitchFamily="18" charset="0"/>
                      </a:rPr>
                      <m:t>𝝓</m:t>
                    </m:r>
                    <m:r>
                      <a:rPr lang="fr-FR" b="0" i="1" smtClean="0">
                        <a:latin typeface="Cambria Math" panose="02040503050406030204" pitchFamily="18" charset="0"/>
                        <a:ea typeface="Cambria Math" panose="02040503050406030204" pitchFamily="18" charset="0"/>
                      </a:rPr>
                      <m:t>=</m:t>
                    </m:r>
                    <m:d>
                      <m:dPr>
                        <m:ctrlPr>
                          <a:rPr lang="fr-FR" b="0" i="1" smtClean="0">
                            <a:latin typeface="Cambria Math" panose="02040503050406030204" pitchFamily="18" charset="0"/>
                            <a:ea typeface="Cambria Math" panose="02040503050406030204" pitchFamily="18" charset="0"/>
                          </a:rPr>
                        </m:ctrlPr>
                      </m:dPr>
                      <m:e>
                        <m:m>
                          <m:mPr>
                            <m:mcs>
                              <m:mc>
                                <m:mcPr>
                                  <m:count m:val="1"/>
                                  <m:mcJc m:val="center"/>
                                </m:mcPr>
                              </m:mc>
                            </m:mcs>
                            <m:ctrlPr>
                              <a:rPr lang="fr-FR" b="0" i="1" smtClean="0">
                                <a:latin typeface="Cambria Math" panose="02040503050406030204" pitchFamily="18" charset="0"/>
                                <a:ea typeface="Cambria Math" panose="02040503050406030204" pitchFamily="18" charset="0"/>
                              </a:rPr>
                            </m:ctrlPr>
                          </m:mPr>
                          <m:mr>
                            <m:e>
                              <m:r>
                                <m:rPr>
                                  <m:brk m:alnAt="7"/>
                                </m:rPr>
                                <a:rPr lang="fr-FR" b="0" i="1" smtClean="0">
                                  <a:latin typeface="Cambria Math" panose="02040503050406030204" pitchFamily="18" charset="0"/>
                                  <a:ea typeface="Cambria Math" panose="02040503050406030204" pitchFamily="18" charset="0"/>
                                </a:rPr>
                                <m:t>𝜑</m:t>
                              </m:r>
                            </m:e>
                          </m:mr>
                          <m:mr>
                            <m:e>
                              <m:r>
                                <a:rPr lang="fr-FR" b="0" i="1" smtClean="0">
                                  <a:latin typeface="Cambria Math" panose="02040503050406030204" pitchFamily="18" charset="0"/>
                                  <a:ea typeface="Cambria Math" panose="02040503050406030204" pitchFamily="18" charset="0"/>
                                </a:rPr>
                                <m:t>𝜃</m:t>
                              </m:r>
                            </m:e>
                          </m:mr>
                          <m:mr>
                            <m:e>
                              <m:r>
                                <a:rPr lang="fr-FR" b="0" i="1" smtClean="0">
                                  <a:latin typeface="Cambria Math" panose="02040503050406030204" pitchFamily="18" charset="0"/>
                                  <a:ea typeface="Cambria Math" panose="02040503050406030204" pitchFamily="18" charset="0"/>
                                </a:rPr>
                                <m:t>𝜓</m:t>
                              </m:r>
                            </m:e>
                          </m:mr>
                        </m:m>
                      </m:e>
                    </m:d>
                  </m:oMath>
                </a14:m>
                <a:r>
                  <a:rPr lang="en-GB" dirty="0"/>
                  <a:t> as the orientation of the end-effector</a:t>
                </a:r>
              </a:p>
              <a:p>
                <a:pPr marL="0" indent="0">
                  <a:buNone/>
                </a:pPr>
                <a:endParaRPr lang="en-GB" dirty="0"/>
              </a:p>
              <a:p>
                <a:r>
                  <a:rPr lang="en-GB" dirty="0"/>
                  <a:t>The orientation error is:</a:t>
                </a:r>
              </a:p>
              <a:p>
                <a:pPr marL="0" indent="0">
                  <a:buNone/>
                </a:pPr>
                <a14:m>
                  <m:oMathPara xmlns:m="http://schemas.openxmlformats.org/officeDocument/2006/math">
                    <m:oMathParaPr>
                      <m:jc m:val="centerGroup"/>
                    </m:oMathParaPr>
                    <m:oMath xmlns:m="http://schemas.openxmlformats.org/officeDocument/2006/math">
                      <m:sSub>
                        <m:sSubPr>
                          <m:ctrlPr>
                            <a:rPr lang="en-GB" b="1" i="1" smtClean="0">
                              <a:latin typeface="Cambria Math" panose="02040503050406030204" pitchFamily="18" charset="0"/>
                            </a:rPr>
                          </m:ctrlPr>
                        </m:sSubPr>
                        <m:e>
                          <m:r>
                            <a:rPr lang="fr-FR" b="1" i="0" smtClean="0">
                              <a:latin typeface="Cambria Math" panose="02040503050406030204" pitchFamily="18" charset="0"/>
                            </a:rPr>
                            <m:t>𝐞</m:t>
                          </m:r>
                        </m:e>
                        <m:sub>
                          <m:r>
                            <a:rPr lang="fr-FR" b="0" i="1" smtClean="0">
                              <a:latin typeface="Cambria Math" panose="02040503050406030204" pitchFamily="18" charset="0"/>
                            </a:rPr>
                            <m:t>𝑂</m:t>
                          </m:r>
                        </m:sub>
                      </m:sSub>
                      <m:r>
                        <a:rPr lang="fr-FR" b="0" i="1" smtClean="0">
                          <a:latin typeface="Cambria Math" panose="02040503050406030204" pitchFamily="18" charset="0"/>
                        </a:rPr>
                        <m:t>=</m:t>
                      </m:r>
                      <m:sSup>
                        <m:sSupPr>
                          <m:ctrlPr>
                            <a:rPr lang="fr-FR" b="0" i="1" smtClean="0">
                              <a:latin typeface="Cambria Math" panose="02040503050406030204" pitchFamily="18" charset="0"/>
                            </a:rPr>
                          </m:ctrlPr>
                        </m:sSupPr>
                        <m:e>
                          <m:r>
                            <a:rPr lang="en-GB" b="1" i="1">
                              <a:latin typeface="Cambria Math" panose="02040503050406030204" pitchFamily="18" charset="0"/>
                              <a:ea typeface="Cambria Math" panose="02040503050406030204" pitchFamily="18" charset="0"/>
                            </a:rPr>
                            <m:t>𝝓</m:t>
                          </m:r>
                        </m:e>
                        <m:sup>
                          <m:r>
                            <a:rPr lang="fr-FR" b="0" i="1" smtClean="0">
                              <a:latin typeface="Cambria Math" panose="02040503050406030204" pitchFamily="18" charset="0"/>
                            </a:rPr>
                            <m:t>𝑑</m:t>
                          </m:r>
                        </m:sup>
                      </m:sSup>
                      <m:r>
                        <a:rPr lang="fr-FR" b="0" i="1" smtClean="0">
                          <a:latin typeface="Cambria Math" panose="02040503050406030204" pitchFamily="18" charset="0"/>
                        </a:rPr>
                        <m:t>−</m:t>
                      </m:r>
                      <m:r>
                        <a:rPr lang="en-GB" b="1" i="1">
                          <a:latin typeface="Cambria Math" panose="02040503050406030204" pitchFamily="18" charset="0"/>
                          <a:ea typeface="Cambria Math" panose="02040503050406030204" pitchFamily="18" charset="0"/>
                        </a:rPr>
                        <m:t>𝝓</m:t>
                      </m:r>
                      <m:d>
                        <m:dPr>
                          <m:ctrlPr>
                            <a:rPr lang="en-GB" b="1" i="1" smtClean="0">
                              <a:latin typeface="Cambria Math" panose="02040503050406030204" pitchFamily="18" charset="0"/>
                              <a:ea typeface="Cambria Math" panose="02040503050406030204" pitchFamily="18" charset="0"/>
                            </a:rPr>
                          </m:ctrlPr>
                        </m:dPr>
                        <m:e>
                          <m:r>
                            <a:rPr lang="fr-FR" b="1" i="0" smtClean="0">
                              <a:latin typeface="Cambria Math" panose="02040503050406030204" pitchFamily="18" charset="0"/>
                              <a:ea typeface="Cambria Math" panose="02040503050406030204" pitchFamily="18" charset="0"/>
                            </a:rPr>
                            <m:t>𝐪</m:t>
                          </m:r>
                        </m:e>
                      </m:d>
                    </m:oMath>
                  </m:oMathPara>
                </a14:m>
                <a:endParaRPr lang="en-GB" dirty="0"/>
              </a:p>
              <a:p>
                <a:pPr marL="0" indent="0">
                  <a:buNone/>
                </a:pPr>
                <a14:m>
                  <m:oMath xmlns:m="http://schemas.openxmlformats.org/officeDocument/2006/math">
                    <m:sSup>
                      <m:sSupPr>
                        <m:ctrlPr>
                          <a:rPr lang="fr-FR" i="1">
                            <a:latin typeface="Cambria Math" panose="02040503050406030204" pitchFamily="18" charset="0"/>
                          </a:rPr>
                        </m:ctrlPr>
                      </m:sSupPr>
                      <m:e>
                        <m:r>
                          <a:rPr lang="en-GB" b="1" i="1">
                            <a:latin typeface="Cambria Math" panose="02040503050406030204" pitchFamily="18" charset="0"/>
                            <a:ea typeface="Cambria Math" panose="02040503050406030204" pitchFamily="18" charset="0"/>
                          </a:rPr>
                          <m:t>𝝓</m:t>
                        </m:r>
                      </m:e>
                      <m:sup>
                        <m:r>
                          <a:rPr lang="fr-FR" i="1">
                            <a:latin typeface="Cambria Math" panose="02040503050406030204" pitchFamily="18" charset="0"/>
                          </a:rPr>
                          <m:t>𝑑</m:t>
                        </m:r>
                      </m:sup>
                    </m:sSup>
                  </m:oMath>
                </a14:m>
                <a:r>
                  <a:rPr lang="en-GB" dirty="0"/>
                  <a:t> represents the desired orientation </a:t>
                </a:r>
              </a:p>
              <a:p>
                <a:pPr marL="0" indent="0">
                  <a:buNone/>
                </a:pPr>
                <a14:m>
                  <m:oMath xmlns:m="http://schemas.openxmlformats.org/officeDocument/2006/math">
                    <m:r>
                      <a:rPr lang="en-GB" b="1" i="1">
                        <a:latin typeface="Cambria Math" panose="02040503050406030204" pitchFamily="18" charset="0"/>
                        <a:ea typeface="Cambria Math" panose="02040503050406030204" pitchFamily="18" charset="0"/>
                      </a:rPr>
                      <m:t>𝝓</m:t>
                    </m:r>
                    <m:d>
                      <m:dPr>
                        <m:ctrlPr>
                          <a:rPr lang="en-GB" b="1" i="1">
                            <a:latin typeface="Cambria Math" panose="02040503050406030204" pitchFamily="18" charset="0"/>
                            <a:ea typeface="Cambria Math" panose="02040503050406030204" pitchFamily="18" charset="0"/>
                          </a:rPr>
                        </m:ctrlPr>
                      </m:dPr>
                      <m:e>
                        <m:r>
                          <a:rPr lang="fr-FR" b="1">
                            <a:latin typeface="Cambria Math" panose="02040503050406030204" pitchFamily="18" charset="0"/>
                            <a:ea typeface="Cambria Math" panose="02040503050406030204" pitchFamily="18" charset="0"/>
                          </a:rPr>
                          <m:t>𝐪</m:t>
                        </m:r>
                      </m:e>
                    </m:d>
                  </m:oMath>
                </a14:m>
                <a:r>
                  <a:rPr lang="en-GB" dirty="0"/>
                  <a:t> is the computed set of Euler angles (orientation of the end effector)</a:t>
                </a:r>
              </a:p>
              <a:p>
                <a:pPr marL="0" indent="0">
                  <a:buNone/>
                </a:pPr>
                <a:endParaRPr lang="en-GB" dirty="0"/>
              </a:p>
              <a:p>
                <a:r>
                  <a:rPr lang="en-GB" dirty="0"/>
                  <a:t>The first time derivative of the orientation error is:</a:t>
                </a:r>
              </a:p>
              <a:p>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b="1" i="1" smtClean="0">
                              <a:latin typeface="Cambria Math" panose="02040503050406030204" pitchFamily="18" charset="0"/>
                            </a:rPr>
                          </m:ctrlPr>
                        </m:sSubPr>
                        <m:e>
                          <m:acc>
                            <m:accPr>
                              <m:chr m:val="̇"/>
                              <m:ctrlPr>
                                <a:rPr lang="en-GB" b="1" i="1" smtClean="0">
                                  <a:latin typeface="Cambria Math" panose="02040503050406030204" pitchFamily="18" charset="0"/>
                                </a:rPr>
                              </m:ctrlPr>
                            </m:accPr>
                            <m:e>
                              <m:r>
                                <a:rPr lang="fr-FR" b="1" i="0" smtClean="0">
                                  <a:latin typeface="Cambria Math" panose="02040503050406030204" pitchFamily="18" charset="0"/>
                                </a:rPr>
                                <m:t>𝐞</m:t>
                              </m:r>
                            </m:e>
                          </m:acc>
                        </m:e>
                        <m:sub>
                          <m:r>
                            <a:rPr lang="fr-FR" b="0" i="1" smtClean="0">
                              <a:latin typeface="Cambria Math" panose="02040503050406030204" pitchFamily="18" charset="0"/>
                            </a:rPr>
                            <m:t>𝑂</m:t>
                          </m:r>
                        </m:sub>
                      </m:sSub>
                      <m:r>
                        <a:rPr lang="fr-FR" b="0" i="1" smtClean="0">
                          <a:latin typeface="Cambria Math" panose="02040503050406030204" pitchFamily="18" charset="0"/>
                        </a:rPr>
                        <m:t>=</m:t>
                      </m:r>
                      <m:sSup>
                        <m:sSupPr>
                          <m:ctrlPr>
                            <a:rPr lang="fr-FR" b="0" i="1" smtClean="0">
                              <a:latin typeface="Cambria Math" panose="02040503050406030204" pitchFamily="18" charset="0"/>
                            </a:rPr>
                          </m:ctrlPr>
                        </m:sSupPr>
                        <m:e>
                          <m:acc>
                            <m:accPr>
                              <m:chr m:val="̇"/>
                              <m:ctrlPr>
                                <a:rPr lang="fr-FR" b="0" i="1" smtClean="0">
                                  <a:latin typeface="Cambria Math" panose="02040503050406030204" pitchFamily="18" charset="0"/>
                                </a:rPr>
                              </m:ctrlPr>
                            </m:accPr>
                            <m:e>
                              <m:r>
                                <a:rPr lang="en-GB" b="1" i="1">
                                  <a:latin typeface="Cambria Math" panose="02040503050406030204" pitchFamily="18" charset="0"/>
                                  <a:ea typeface="Cambria Math" panose="02040503050406030204" pitchFamily="18" charset="0"/>
                                </a:rPr>
                                <m:t>𝝓</m:t>
                              </m:r>
                            </m:e>
                          </m:acc>
                        </m:e>
                        <m:sup>
                          <m:r>
                            <a:rPr lang="fr-FR" b="0" i="1" smtClean="0">
                              <a:latin typeface="Cambria Math" panose="02040503050406030204" pitchFamily="18" charset="0"/>
                            </a:rPr>
                            <m:t>𝑑</m:t>
                          </m:r>
                        </m:sup>
                      </m:sSup>
                      <m:r>
                        <a:rPr lang="fr-FR" b="0" i="1" smtClean="0">
                          <a:latin typeface="Cambria Math" panose="02040503050406030204" pitchFamily="18" charset="0"/>
                        </a:rPr>
                        <m:t>−</m:t>
                      </m:r>
                      <m:acc>
                        <m:accPr>
                          <m:chr m:val="̇"/>
                          <m:ctrlPr>
                            <a:rPr lang="fr-FR" b="0" i="1" smtClean="0">
                              <a:latin typeface="Cambria Math" panose="02040503050406030204" pitchFamily="18" charset="0"/>
                            </a:rPr>
                          </m:ctrlPr>
                        </m:accPr>
                        <m:e>
                          <m:r>
                            <a:rPr lang="en-GB" b="1" i="1">
                              <a:latin typeface="Cambria Math" panose="02040503050406030204" pitchFamily="18" charset="0"/>
                              <a:ea typeface="Cambria Math" panose="02040503050406030204" pitchFamily="18" charset="0"/>
                            </a:rPr>
                            <m:t>𝝓</m:t>
                          </m:r>
                        </m:e>
                      </m:acc>
                    </m:oMath>
                  </m:oMathPara>
                </a14:m>
                <a:endParaRPr lang="en-GB" dirty="0"/>
              </a:p>
              <a:p>
                <a:pPr marL="0" indent="0">
                  <a:buNone/>
                </a:pPr>
                <a:endParaRPr lang="en-GB" dirty="0"/>
              </a:p>
              <a:p>
                <a:endParaRPr lang="en-GB" dirty="0"/>
              </a:p>
            </p:txBody>
          </p:sp>
        </mc:Choice>
        <mc:Fallback xmlns="">
          <p:sp>
            <p:nvSpPr>
              <p:cNvPr id="2" name="Espace réservé du contenu 1">
                <a:extLst>
                  <a:ext uri="{FF2B5EF4-FFF2-40B4-BE49-F238E27FC236}">
                    <a16:creationId xmlns:a16="http://schemas.microsoft.com/office/drawing/2014/main" id="{9988F2E5-5D73-104D-AE8F-BF6F2984B2B8}"/>
                  </a:ext>
                </a:extLst>
              </p:cNvPr>
              <p:cNvSpPr>
                <a:spLocks noGrp="1" noRot="1" noChangeAspect="1" noMove="1" noResize="1" noEditPoints="1" noAdjustHandles="1" noChangeArrowheads="1" noChangeShapeType="1" noTextEdit="1"/>
              </p:cNvSpPr>
              <p:nvPr>
                <p:ph sz="quarter" idx="1"/>
              </p:nvPr>
            </p:nvSpPr>
            <p:spPr>
              <a:blipFill>
                <a:blip r:embed="rId2"/>
                <a:stretch>
                  <a:fillRect l="-152" t="-460"/>
                </a:stretch>
              </a:blipFill>
            </p:spPr>
            <p:txBody>
              <a:bodyPr/>
              <a:lstStyle/>
              <a:p>
                <a:r>
                  <a:rPr lang="fr-FR">
                    <a:noFill/>
                  </a:rPr>
                  <a:t> </a:t>
                </a:r>
              </a:p>
            </p:txBody>
          </p:sp>
        </mc:Fallback>
      </mc:AlternateContent>
      <p:sp>
        <p:nvSpPr>
          <p:cNvPr id="6" name="Titre 2">
            <a:extLst>
              <a:ext uri="{FF2B5EF4-FFF2-40B4-BE49-F238E27FC236}">
                <a16:creationId xmlns:a16="http://schemas.microsoft.com/office/drawing/2014/main" id="{30DF2346-C0A7-B542-A0EF-A1AD41337C1C}"/>
              </a:ext>
            </a:extLst>
          </p:cNvPr>
          <p:cNvSpPr>
            <a:spLocks noGrp="1"/>
          </p:cNvSpPr>
          <p:nvPr>
            <p:ph type="title"/>
          </p:nvPr>
        </p:nvSpPr>
        <p:spPr>
          <a:xfrm>
            <a:off x="300790" y="0"/>
            <a:ext cx="8229600" cy="785812"/>
          </a:xfrm>
        </p:spPr>
        <p:txBody>
          <a:bodyPr/>
          <a:lstStyle/>
          <a:p>
            <a:r>
              <a:rPr lang="en-GB" sz="2400" dirty="0"/>
              <a:t>Pose control in operational space - orientation error using Euler angles</a:t>
            </a:r>
            <a:endParaRPr lang="fr-FR" sz="2400" dirty="0"/>
          </a:p>
        </p:txBody>
      </p:sp>
    </p:spTree>
    <p:extLst>
      <p:ext uri="{BB962C8B-B14F-4D97-AF65-F5344CB8AC3E}">
        <p14:creationId xmlns:p14="http://schemas.microsoft.com/office/powerpoint/2010/main" val="27735898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a:extLst>
                  <a:ext uri="{FF2B5EF4-FFF2-40B4-BE49-F238E27FC236}">
                    <a16:creationId xmlns:a16="http://schemas.microsoft.com/office/drawing/2014/main" id="{0DBE180F-C577-624F-BB77-95CAF7764D6F}"/>
                  </a:ext>
                </a:extLst>
              </p:cNvPr>
              <p:cNvSpPr>
                <a:spLocks noGrp="1"/>
              </p:cNvSpPr>
              <p:nvPr>
                <p:ph sz="quarter" idx="1"/>
              </p:nvPr>
            </p:nvSpPr>
            <p:spPr/>
            <p:txBody>
              <a:bodyPr/>
              <a:lstStyle/>
              <a:p>
                <a:r>
                  <a:rPr lang="en-GB" dirty="0"/>
                  <a:t>Assuming that neither kinematic nor orientation representation singularities occur, the Jacobian inverse solution for nonredundant manipulator is:</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acc>
                        <m:accPr>
                          <m:chr m:val="̇"/>
                          <m:ctrlPr>
                            <a:rPr lang="en-GB" b="1" i="1" smtClean="0">
                              <a:latin typeface="Cambria Math" panose="02040503050406030204" pitchFamily="18" charset="0"/>
                            </a:rPr>
                          </m:ctrlPr>
                        </m:accPr>
                        <m:e>
                          <m:r>
                            <a:rPr lang="fr-FR" b="1" i="0" smtClean="0">
                              <a:latin typeface="Cambria Math" panose="02040503050406030204" pitchFamily="18" charset="0"/>
                            </a:rPr>
                            <m:t>𝐪</m:t>
                          </m:r>
                        </m:e>
                      </m:acc>
                      <m:r>
                        <a:rPr lang="fr-FR" b="0" i="1" smtClean="0">
                          <a:latin typeface="Cambria Math" panose="02040503050406030204" pitchFamily="18" charset="0"/>
                        </a:rPr>
                        <m:t>=</m:t>
                      </m:r>
                      <m:sSup>
                        <m:sSupPr>
                          <m:ctrlPr>
                            <a:rPr lang="fr-FR" b="1" i="1">
                              <a:latin typeface="Cambria Math" panose="02040503050406030204" pitchFamily="18" charset="0"/>
                            </a:rPr>
                          </m:ctrlPr>
                        </m:sSupPr>
                        <m:e>
                          <m:sSub>
                            <m:sSubPr>
                              <m:ctrlPr>
                                <a:rPr lang="fr-FR" b="1" i="1">
                                  <a:latin typeface="Cambria Math" panose="02040503050406030204" pitchFamily="18" charset="0"/>
                                </a:rPr>
                              </m:ctrlPr>
                            </m:sSubPr>
                            <m:e>
                              <m:r>
                                <a:rPr lang="fr-FR" b="1" i="1">
                                  <a:latin typeface="Cambria Math" panose="02040503050406030204" pitchFamily="18" charset="0"/>
                                </a:rPr>
                                <m:t>𝑱</m:t>
                              </m:r>
                            </m:e>
                            <m:sub>
                              <m:r>
                                <a:rPr lang="fr-FR" b="1" i="1">
                                  <a:latin typeface="Cambria Math" panose="02040503050406030204" pitchFamily="18" charset="0"/>
                                </a:rPr>
                                <m:t>𝑨</m:t>
                              </m:r>
                            </m:sub>
                          </m:sSub>
                        </m:e>
                        <m:sup>
                          <m:r>
                            <a:rPr lang="fr-FR" b="1" i="1">
                              <a:latin typeface="Cambria Math" panose="02040503050406030204" pitchFamily="18" charset="0"/>
                            </a:rPr>
                            <m:t>−</m:t>
                          </m:r>
                          <m:r>
                            <a:rPr lang="fr-FR" b="1" i="1">
                              <a:latin typeface="Cambria Math" panose="02040503050406030204" pitchFamily="18" charset="0"/>
                            </a:rPr>
                            <m:t>𝟏</m:t>
                          </m:r>
                        </m:sup>
                      </m:sSup>
                      <m:d>
                        <m:dPr>
                          <m:begChr m:val="["/>
                          <m:endChr m:val="]"/>
                          <m:ctrlPr>
                            <a:rPr lang="fr-FR" b="1" i="1" smtClean="0">
                              <a:latin typeface="Cambria Math" panose="02040503050406030204" pitchFamily="18" charset="0"/>
                            </a:rPr>
                          </m:ctrlPr>
                        </m:dPr>
                        <m:e>
                          <m:m>
                            <m:mPr>
                              <m:mcs>
                                <m:mc>
                                  <m:mcPr>
                                    <m:count m:val="1"/>
                                    <m:mcJc m:val="center"/>
                                  </m:mcPr>
                                </m:mc>
                              </m:mcs>
                              <m:ctrlPr>
                                <a:rPr lang="fr-FR" b="1" i="1" smtClean="0">
                                  <a:latin typeface="Cambria Math" panose="02040503050406030204" pitchFamily="18" charset="0"/>
                                </a:rPr>
                              </m:ctrlPr>
                            </m:mPr>
                            <m:mr>
                              <m:e>
                                <m:sSup>
                                  <m:sSupPr>
                                    <m:ctrlPr>
                                      <a:rPr lang="fr-FR" b="1" i="1" smtClean="0">
                                        <a:latin typeface="Cambria Math" panose="02040503050406030204" pitchFamily="18" charset="0"/>
                                      </a:rPr>
                                    </m:ctrlPr>
                                  </m:sSupPr>
                                  <m:e>
                                    <m:acc>
                                      <m:accPr>
                                        <m:chr m:val="̇"/>
                                        <m:ctrlPr>
                                          <a:rPr lang="fr-FR" b="1" i="1" smtClean="0">
                                            <a:latin typeface="Cambria Math" panose="02040503050406030204" pitchFamily="18" charset="0"/>
                                          </a:rPr>
                                        </m:ctrlPr>
                                      </m:accPr>
                                      <m:e>
                                        <m:r>
                                          <a:rPr lang="fr-FR" b="1" i="0" smtClean="0">
                                            <a:latin typeface="Cambria Math" panose="02040503050406030204" pitchFamily="18" charset="0"/>
                                          </a:rPr>
                                          <m:t>𝐱</m:t>
                                        </m:r>
                                      </m:e>
                                    </m:acc>
                                  </m:e>
                                  <m:sup>
                                    <m:r>
                                      <a:rPr lang="fr-FR" b="1" i="1" smtClean="0">
                                        <a:latin typeface="Cambria Math" panose="02040503050406030204" pitchFamily="18" charset="0"/>
                                      </a:rPr>
                                      <m:t>𝒅</m:t>
                                    </m:r>
                                  </m:sup>
                                </m:sSup>
                                <m:r>
                                  <m:rPr>
                                    <m:brk m:alnAt="7"/>
                                  </m:rPr>
                                  <a:rPr lang="fr-FR" b="1" i="1" smtClean="0">
                                    <a:latin typeface="Cambria Math" panose="02040503050406030204" pitchFamily="18" charset="0"/>
                                  </a:rPr>
                                  <m:t>+</m:t>
                                </m:r>
                                <m:sSub>
                                  <m:sSubPr>
                                    <m:ctrlPr>
                                      <a:rPr lang="fr-FR" b="1" i="1" smtClean="0">
                                        <a:latin typeface="Cambria Math" panose="02040503050406030204" pitchFamily="18" charset="0"/>
                                      </a:rPr>
                                    </m:ctrlPr>
                                  </m:sSubPr>
                                  <m:e>
                                    <m:r>
                                      <a:rPr lang="fr-FR" b="1" i="0" smtClean="0">
                                        <a:latin typeface="Cambria Math" panose="02040503050406030204" pitchFamily="18" charset="0"/>
                                      </a:rPr>
                                      <m:t>𝐊</m:t>
                                    </m:r>
                                  </m:e>
                                  <m:sub>
                                    <m:r>
                                      <a:rPr lang="fr-FR" b="0" i="1" smtClean="0">
                                        <a:latin typeface="Cambria Math" panose="02040503050406030204" pitchFamily="18" charset="0"/>
                                      </a:rPr>
                                      <m:t>𝑝</m:t>
                                    </m:r>
                                  </m:sub>
                                </m:sSub>
                                <m:sSub>
                                  <m:sSubPr>
                                    <m:ctrlPr>
                                      <a:rPr lang="fr-FR" b="1" i="1" smtClean="0">
                                        <a:latin typeface="Cambria Math" panose="02040503050406030204" pitchFamily="18" charset="0"/>
                                      </a:rPr>
                                    </m:ctrlPr>
                                  </m:sSubPr>
                                  <m:e>
                                    <m:r>
                                      <a:rPr lang="fr-FR" b="1" i="1" smtClean="0">
                                        <a:latin typeface="Cambria Math" panose="02040503050406030204" pitchFamily="18" charset="0"/>
                                      </a:rPr>
                                      <m:t>𝒆</m:t>
                                    </m:r>
                                  </m:e>
                                  <m:sub>
                                    <m:r>
                                      <a:rPr lang="fr-FR" b="0" i="1" smtClean="0">
                                        <a:latin typeface="Cambria Math" panose="02040503050406030204" pitchFamily="18" charset="0"/>
                                      </a:rPr>
                                      <m:t>𝑝</m:t>
                                    </m:r>
                                  </m:sub>
                                </m:sSub>
                              </m:e>
                            </m:mr>
                            <m:mr>
                              <m:e>
                                <m:sSup>
                                  <m:sSupPr>
                                    <m:ctrlPr>
                                      <a:rPr lang="fr-FR" b="1" i="1">
                                        <a:latin typeface="Cambria Math" panose="02040503050406030204" pitchFamily="18" charset="0"/>
                                      </a:rPr>
                                    </m:ctrlPr>
                                  </m:sSupPr>
                                  <m:e>
                                    <m:acc>
                                      <m:accPr>
                                        <m:chr m:val="̇"/>
                                        <m:ctrlPr>
                                          <a:rPr lang="fr-FR" b="1" i="1">
                                            <a:latin typeface="Cambria Math" panose="02040503050406030204" pitchFamily="18" charset="0"/>
                                          </a:rPr>
                                        </m:ctrlPr>
                                      </m:accPr>
                                      <m:e>
                                        <m:r>
                                          <a:rPr lang="en-GB" b="1" i="1">
                                            <a:latin typeface="Cambria Math" panose="02040503050406030204" pitchFamily="18" charset="0"/>
                                            <a:ea typeface="Cambria Math" panose="02040503050406030204" pitchFamily="18" charset="0"/>
                                          </a:rPr>
                                          <m:t>𝝓</m:t>
                                        </m:r>
                                      </m:e>
                                    </m:acc>
                                  </m:e>
                                  <m:sup>
                                    <m:r>
                                      <a:rPr lang="fr-FR" b="1" i="1">
                                        <a:latin typeface="Cambria Math" panose="02040503050406030204" pitchFamily="18" charset="0"/>
                                      </a:rPr>
                                      <m:t>𝒅</m:t>
                                    </m:r>
                                  </m:sup>
                                </m:sSup>
                                <m:r>
                                  <m:rPr>
                                    <m:brk m:alnAt="7"/>
                                  </m:rPr>
                                  <a:rPr lang="fr-FR" b="1" i="1">
                                    <a:latin typeface="Cambria Math" panose="02040503050406030204" pitchFamily="18" charset="0"/>
                                  </a:rPr>
                                  <m:t>+</m:t>
                                </m:r>
                                <m:sSub>
                                  <m:sSubPr>
                                    <m:ctrlPr>
                                      <a:rPr lang="fr-FR" b="1" i="1">
                                        <a:latin typeface="Cambria Math" panose="02040503050406030204" pitchFamily="18" charset="0"/>
                                      </a:rPr>
                                    </m:ctrlPr>
                                  </m:sSubPr>
                                  <m:e>
                                    <m:r>
                                      <a:rPr lang="fr-FR" b="1">
                                        <a:latin typeface="Cambria Math" panose="02040503050406030204" pitchFamily="18" charset="0"/>
                                      </a:rPr>
                                      <m:t>𝐊</m:t>
                                    </m:r>
                                  </m:e>
                                  <m:sub>
                                    <m:r>
                                      <a:rPr lang="fr-FR" b="0" i="1" smtClean="0">
                                        <a:latin typeface="Cambria Math" panose="02040503050406030204" pitchFamily="18" charset="0"/>
                                      </a:rPr>
                                      <m:t>𝑂</m:t>
                                    </m:r>
                                  </m:sub>
                                </m:sSub>
                                <m:sSub>
                                  <m:sSubPr>
                                    <m:ctrlPr>
                                      <a:rPr lang="fr-FR" b="1" i="1">
                                        <a:latin typeface="Cambria Math" panose="02040503050406030204" pitchFamily="18" charset="0"/>
                                      </a:rPr>
                                    </m:ctrlPr>
                                  </m:sSubPr>
                                  <m:e>
                                    <m:r>
                                      <a:rPr lang="fr-FR" b="1" i="1">
                                        <a:latin typeface="Cambria Math" panose="02040503050406030204" pitchFamily="18" charset="0"/>
                                      </a:rPr>
                                      <m:t>𝒆</m:t>
                                    </m:r>
                                  </m:e>
                                  <m:sub>
                                    <m:r>
                                      <a:rPr lang="fr-FR" b="0" i="1" smtClean="0">
                                        <a:latin typeface="Cambria Math" panose="02040503050406030204" pitchFamily="18" charset="0"/>
                                      </a:rPr>
                                      <m:t>𝑂</m:t>
                                    </m:r>
                                  </m:sub>
                                </m:sSub>
                              </m:e>
                            </m:mr>
                          </m:m>
                        </m:e>
                      </m:d>
                    </m:oMath>
                  </m:oMathPara>
                </a14:m>
                <a:endParaRPr lang="en-GB" dirty="0"/>
              </a:p>
              <a:p>
                <a:pPr marL="0" indent="0">
                  <a:buNone/>
                </a:pPr>
                <a14:m>
                  <m:oMath xmlns:m="http://schemas.openxmlformats.org/officeDocument/2006/math">
                    <m:sSub>
                      <m:sSubPr>
                        <m:ctrlPr>
                          <a:rPr lang="fr-FR" b="1" i="1">
                            <a:latin typeface="Cambria Math" panose="02040503050406030204" pitchFamily="18" charset="0"/>
                          </a:rPr>
                        </m:ctrlPr>
                      </m:sSubPr>
                      <m:e>
                        <m:r>
                          <a:rPr lang="fr-FR" b="1">
                            <a:latin typeface="Cambria Math" panose="02040503050406030204" pitchFamily="18" charset="0"/>
                          </a:rPr>
                          <m:t>𝐊</m:t>
                        </m:r>
                      </m:e>
                      <m:sub>
                        <m:r>
                          <a:rPr lang="fr-FR" i="1">
                            <a:latin typeface="Cambria Math" panose="02040503050406030204" pitchFamily="18" charset="0"/>
                          </a:rPr>
                          <m:t>𝑝</m:t>
                        </m:r>
                      </m:sub>
                    </m:sSub>
                  </m:oMath>
                </a14:m>
                <a:r>
                  <a:rPr lang="en-GB" dirty="0"/>
                  <a:t> and </a:t>
                </a:r>
                <a14:m>
                  <m:oMath xmlns:m="http://schemas.openxmlformats.org/officeDocument/2006/math">
                    <m:sSub>
                      <m:sSubPr>
                        <m:ctrlPr>
                          <a:rPr lang="fr-FR" b="1" i="1">
                            <a:latin typeface="Cambria Math" panose="02040503050406030204" pitchFamily="18" charset="0"/>
                          </a:rPr>
                        </m:ctrlPr>
                      </m:sSubPr>
                      <m:e>
                        <m:r>
                          <a:rPr lang="fr-FR" b="1">
                            <a:latin typeface="Cambria Math" panose="02040503050406030204" pitchFamily="18" charset="0"/>
                          </a:rPr>
                          <m:t>𝐊</m:t>
                        </m:r>
                      </m:e>
                      <m:sub>
                        <m:r>
                          <a:rPr lang="fr-FR" i="1">
                            <a:latin typeface="Cambria Math" panose="02040503050406030204" pitchFamily="18" charset="0"/>
                          </a:rPr>
                          <m:t>𝑂</m:t>
                        </m:r>
                      </m:sub>
                    </m:sSub>
                  </m:oMath>
                </a14:m>
                <a:r>
                  <a:rPr lang="en-GB" dirty="0"/>
                  <a:t> are positive definite matrices</a:t>
                </a:r>
              </a:p>
              <a:p>
                <a:pPr marL="0" indent="0">
                  <a:buNone/>
                </a:pPr>
                <a:endParaRPr lang="en-GB" b="1" dirty="0"/>
              </a:p>
              <a:p>
                <a:pPr marL="0" indent="0">
                  <a:buNone/>
                </a:pPr>
                <a:r>
                  <a:rPr lang="en-GB" b="1" dirty="0"/>
                  <a:t>Difficulties:</a:t>
                </a:r>
              </a:p>
              <a:p>
                <a:r>
                  <a:rPr lang="en-GB" dirty="0"/>
                  <a:t>Computation of the orientation variables</a:t>
                </a:r>
                <a:r>
                  <a:rPr lang="en-GB" b="1" dirty="0">
                    <a:ea typeface="Cambria Math" panose="02040503050406030204" pitchFamily="18" charset="0"/>
                  </a:rPr>
                  <a:t> </a:t>
                </a:r>
                <a14:m>
                  <m:oMath xmlns:m="http://schemas.openxmlformats.org/officeDocument/2006/math">
                    <m:r>
                      <a:rPr lang="en-GB" b="1" i="1">
                        <a:latin typeface="Cambria Math" panose="02040503050406030204" pitchFamily="18" charset="0"/>
                        <a:ea typeface="Cambria Math" panose="02040503050406030204" pitchFamily="18" charset="0"/>
                      </a:rPr>
                      <m:t>𝝓</m:t>
                    </m:r>
                  </m:oMath>
                </a14:m>
                <a:r>
                  <a:rPr lang="en-GB" dirty="0"/>
                  <a:t> from the joint variables </a:t>
                </a:r>
                <a14:m>
                  <m:oMath xmlns:m="http://schemas.openxmlformats.org/officeDocument/2006/math">
                    <m:r>
                      <a:rPr lang="en-GB" b="1" i="0" dirty="0" smtClean="0">
                        <a:latin typeface="Cambria Math" panose="02040503050406030204" pitchFamily="18" charset="0"/>
                      </a:rPr>
                      <m:t>𝐪</m:t>
                    </m:r>
                  </m:oMath>
                </a14:m>
                <a:r>
                  <a:rPr lang="en-GB" dirty="0"/>
                  <a:t> is not easy, except for simple cases</a:t>
                </a:r>
              </a:p>
              <a:p>
                <a:endParaRPr lang="en-GB" dirty="0"/>
              </a:p>
              <a:p>
                <a:r>
                  <a:rPr lang="en-GB" dirty="0"/>
                  <a:t>The computation of the orientation variables </a:t>
                </a:r>
                <a14:m>
                  <m:oMath xmlns:m="http://schemas.openxmlformats.org/officeDocument/2006/math">
                    <m:r>
                      <a:rPr lang="en-GB" b="1" i="1">
                        <a:latin typeface="Cambria Math" panose="02040503050406030204" pitchFamily="18" charset="0"/>
                        <a:ea typeface="Cambria Math" panose="02040503050406030204" pitchFamily="18" charset="0"/>
                      </a:rPr>
                      <m:t>𝝓</m:t>
                    </m:r>
                  </m:oMath>
                </a14:m>
                <a:r>
                  <a:rPr lang="en-GB" dirty="0"/>
                  <a:t> requires the computation of the rotation matrix </a:t>
                </a:r>
                <a14:m>
                  <m:oMath xmlns:m="http://schemas.openxmlformats.org/officeDocument/2006/math">
                    <m:sSub>
                      <m:sSubPr>
                        <m:ctrlPr>
                          <a:rPr lang="en-GB" i="1">
                            <a:latin typeface="Cambria Math" panose="02040503050406030204" pitchFamily="18" charset="0"/>
                          </a:rPr>
                        </m:ctrlPr>
                      </m:sSubPr>
                      <m:e>
                        <m:sPre>
                          <m:sPrePr>
                            <m:ctrlPr>
                              <a:rPr lang="en-GB" i="1" smtClean="0">
                                <a:latin typeface="Cambria Math" panose="02040503050406030204" pitchFamily="18" charset="0"/>
                              </a:rPr>
                            </m:ctrlPr>
                          </m:sPrePr>
                          <m:sub/>
                          <m:sup>
                            <m:r>
                              <a:rPr lang="en-GB">
                                <a:latin typeface="Cambria Math"/>
                              </a:rPr>
                              <m:t>0</m:t>
                            </m:r>
                          </m:sup>
                          <m:e>
                            <m:r>
                              <a:rPr lang="fr-FR" b="1" i="0" smtClean="0">
                                <a:latin typeface="Cambria Math" panose="02040503050406030204" pitchFamily="18" charset="0"/>
                              </a:rPr>
                              <m:t>𝐑</m:t>
                            </m:r>
                          </m:e>
                        </m:sPre>
                      </m:e>
                      <m:sub>
                        <m:r>
                          <a:rPr lang="fr-FR" b="0" i="1" smtClean="0">
                            <a:latin typeface="Cambria Math" panose="02040503050406030204" pitchFamily="18" charset="0"/>
                          </a:rPr>
                          <m:t>𝑛</m:t>
                        </m:r>
                      </m:sub>
                    </m:sSub>
                  </m:oMath>
                </a14:m>
                <a:r>
                  <a:rPr lang="en-GB" dirty="0"/>
                  <a:t>. </a:t>
                </a:r>
              </a:p>
              <a:p>
                <a:r>
                  <a:rPr lang="en-GB" dirty="0"/>
                  <a:t>In fact, only the dependence of </a:t>
                </a:r>
                <a14:m>
                  <m:oMath xmlns:m="http://schemas.openxmlformats.org/officeDocument/2006/math">
                    <m:sSub>
                      <m:sSubPr>
                        <m:ctrlPr>
                          <a:rPr lang="en-GB" i="1">
                            <a:latin typeface="Cambria Math" panose="02040503050406030204" pitchFamily="18" charset="0"/>
                          </a:rPr>
                        </m:ctrlPr>
                      </m:sSubPr>
                      <m:e>
                        <m:sPre>
                          <m:sPrePr>
                            <m:ctrlPr>
                              <a:rPr lang="en-GB" i="1">
                                <a:latin typeface="Cambria Math" panose="02040503050406030204" pitchFamily="18" charset="0"/>
                              </a:rPr>
                            </m:ctrlPr>
                          </m:sPrePr>
                          <m:sub/>
                          <m:sup>
                            <m:r>
                              <a:rPr lang="en-GB">
                                <a:latin typeface="Cambria Math"/>
                              </a:rPr>
                              <m:t>0</m:t>
                            </m:r>
                          </m:sup>
                          <m:e>
                            <m:r>
                              <a:rPr lang="fr-FR" b="1">
                                <a:latin typeface="Cambria Math" panose="02040503050406030204" pitchFamily="18" charset="0"/>
                              </a:rPr>
                              <m:t>𝐑</m:t>
                            </m:r>
                          </m:e>
                        </m:sPre>
                      </m:e>
                      <m:sub>
                        <m:r>
                          <a:rPr lang="fr-FR" i="1">
                            <a:latin typeface="Cambria Math" panose="02040503050406030204" pitchFamily="18" charset="0"/>
                          </a:rPr>
                          <m:t>𝑛</m:t>
                        </m:r>
                      </m:sub>
                    </m:sSub>
                  </m:oMath>
                </a14:m>
                <a:r>
                  <a:rPr lang="en-GB" dirty="0"/>
                  <a:t> on </a:t>
                </a:r>
                <a14:m>
                  <m:oMath xmlns:m="http://schemas.openxmlformats.org/officeDocument/2006/math">
                    <m:r>
                      <a:rPr lang="en-GB" b="1" dirty="0">
                        <a:latin typeface="Cambria Math" panose="02040503050406030204" pitchFamily="18" charset="0"/>
                      </a:rPr>
                      <m:t>𝐪</m:t>
                    </m:r>
                  </m:oMath>
                </a14:m>
                <a:r>
                  <a:rPr lang="en-GB" dirty="0"/>
                  <a:t> is always known, but not that of </a:t>
                </a:r>
                <a14:m>
                  <m:oMath xmlns:m="http://schemas.openxmlformats.org/officeDocument/2006/math">
                    <m:r>
                      <a:rPr lang="en-GB" b="1" i="1">
                        <a:latin typeface="Cambria Math" panose="02040503050406030204" pitchFamily="18" charset="0"/>
                        <a:ea typeface="Cambria Math" panose="02040503050406030204" pitchFamily="18" charset="0"/>
                      </a:rPr>
                      <m:t>𝝓</m:t>
                    </m:r>
                  </m:oMath>
                </a14:m>
                <a:r>
                  <a:rPr lang="en-GB" dirty="0"/>
                  <a:t> on </a:t>
                </a:r>
                <a14:m>
                  <m:oMath xmlns:m="http://schemas.openxmlformats.org/officeDocument/2006/math">
                    <m:r>
                      <a:rPr lang="en-GB" b="1" dirty="0">
                        <a:latin typeface="Cambria Math" panose="02040503050406030204" pitchFamily="18" charset="0"/>
                      </a:rPr>
                      <m:t>𝐪</m:t>
                    </m:r>
                  </m:oMath>
                </a14:m>
                <a:r>
                  <a:rPr lang="en-GB" dirty="0"/>
                  <a:t> </a:t>
                </a:r>
              </a:p>
              <a:p>
                <a:r>
                  <a:rPr lang="en-GB" dirty="0"/>
                  <a:t>The use of inverse functions atan2 involves a non-negligible complexity in the analytical Jacobian, and occurrence of representation singularities present another drawbacks</a:t>
                </a:r>
              </a:p>
              <a:p>
                <a:pPr marL="0" indent="0">
                  <a:buNone/>
                </a:pPr>
                <a:r>
                  <a:rPr lang="en-GB" dirty="0"/>
                  <a:t> </a:t>
                </a:r>
              </a:p>
              <a:p>
                <a:pPr marL="0" indent="0">
                  <a:buNone/>
                </a:pPr>
                <a:endParaRPr lang="en-GB" dirty="0"/>
              </a:p>
              <a:p>
                <a:pPr marL="0" indent="0">
                  <a:buNone/>
                </a:pPr>
                <a:endParaRPr lang="en-GB" dirty="0"/>
              </a:p>
              <a:p>
                <a:endParaRPr lang="fr-FR" dirty="0"/>
              </a:p>
            </p:txBody>
          </p:sp>
        </mc:Choice>
        <mc:Fallback xmlns="">
          <p:sp>
            <p:nvSpPr>
              <p:cNvPr id="2" name="Espace réservé du contenu 1">
                <a:extLst>
                  <a:ext uri="{FF2B5EF4-FFF2-40B4-BE49-F238E27FC236}">
                    <a16:creationId xmlns:a16="http://schemas.microsoft.com/office/drawing/2014/main" id="{0DBE180F-C577-624F-BB77-95CAF7764D6F}"/>
                  </a:ext>
                </a:extLst>
              </p:cNvPr>
              <p:cNvSpPr>
                <a:spLocks noGrp="1" noRot="1" noChangeAspect="1" noMove="1" noResize="1" noEditPoints="1" noAdjustHandles="1" noChangeArrowheads="1" noChangeShapeType="1" noTextEdit="1"/>
              </p:cNvSpPr>
              <p:nvPr>
                <p:ph sz="quarter" idx="1"/>
              </p:nvPr>
            </p:nvSpPr>
            <p:spPr>
              <a:blipFill>
                <a:blip r:embed="rId3"/>
                <a:stretch>
                  <a:fillRect l="-608" t="-460" b="-3678"/>
                </a:stretch>
              </a:blipFill>
            </p:spPr>
            <p:txBody>
              <a:bodyPr/>
              <a:lstStyle/>
              <a:p>
                <a:r>
                  <a:rPr lang="fr-FR">
                    <a:noFill/>
                  </a:rPr>
                  <a:t> </a:t>
                </a:r>
              </a:p>
            </p:txBody>
          </p:sp>
        </mc:Fallback>
      </mc:AlternateContent>
      <p:sp>
        <p:nvSpPr>
          <p:cNvPr id="3" name="Titre 2">
            <a:extLst>
              <a:ext uri="{FF2B5EF4-FFF2-40B4-BE49-F238E27FC236}">
                <a16:creationId xmlns:a16="http://schemas.microsoft.com/office/drawing/2014/main" id="{978D45FB-017D-D347-9D88-FD775F7D5BA4}"/>
              </a:ext>
            </a:extLst>
          </p:cNvPr>
          <p:cNvSpPr>
            <a:spLocks noGrp="1"/>
          </p:cNvSpPr>
          <p:nvPr>
            <p:ph type="title"/>
          </p:nvPr>
        </p:nvSpPr>
        <p:spPr/>
        <p:txBody>
          <a:bodyPr/>
          <a:lstStyle/>
          <a:p>
            <a:r>
              <a:rPr lang="en-GB" sz="2400" dirty="0"/>
              <a:t>Pose control in operational space - orientation error using Euler angles</a:t>
            </a:r>
            <a:endParaRPr lang="fr-FR" sz="2400" dirty="0"/>
          </a:p>
        </p:txBody>
      </p:sp>
    </p:spTree>
    <p:extLst>
      <p:ext uri="{BB962C8B-B14F-4D97-AF65-F5344CB8AC3E}">
        <p14:creationId xmlns:p14="http://schemas.microsoft.com/office/powerpoint/2010/main" val="11291070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a:extLst>
                  <a:ext uri="{FF2B5EF4-FFF2-40B4-BE49-F238E27FC236}">
                    <a16:creationId xmlns:a16="http://schemas.microsoft.com/office/drawing/2014/main" id="{2D68CB72-21C1-DD4E-B7C2-B2511F083971}"/>
                  </a:ext>
                </a:extLst>
              </p:cNvPr>
              <p:cNvSpPr>
                <a:spLocks noGrp="1"/>
              </p:cNvSpPr>
              <p:nvPr>
                <p:ph sz="quarter" idx="1"/>
              </p:nvPr>
            </p:nvSpPr>
            <p:spPr/>
            <p:txBody>
              <a:bodyPr/>
              <a:lstStyle/>
              <a:p>
                <a:r>
                  <a:rPr lang="en-GB" dirty="0"/>
                  <a:t>From trajectory planning :</a:t>
                </a:r>
              </a:p>
              <a:p>
                <a:pPr marL="0" indent="0">
                  <a:buNone/>
                </a:pPr>
                <a14:m>
                  <m:oMathPara xmlns:m="http://schemas.openxmlformats.org/officeDocument/2006/math">
                    <m:oMathParaPr>
                      <m:jc m:val="centerGroup"/>
                    </m:oMathParaPr>
                    <m:oMath xmlns:m="http://schemas.openxmlformats.org/officeDocument/2006/math">
                      <m:sSup>
                        <m:sSupPr>
                          <m:ctrlPr>
                            <a:rPr lang="en-GB" i="1">
                              <a:latin typeface="Cambria Math" panose="02040503050406030204" pitchFamily="18" charset="0"/>
                            </a:rPr>
                          </m:ctrlPr>
                        </m:sSupPr>
                        <m:e>
                          <m:r>
                            <a:rPr lang="en-GB" b="1" smtClean="0">
                              <a:latin typeface="Cambria Math" panose="02040503050406030204" pitchFamily="18" charset="0"/>
                            </a:rPr>
                            <m:t>𝐑</m:t>
                          </m:r>
                        </m:e>
                        <m:sup>
                          <m:r>
                            <a:rPr lang="en-GB" i="1" smtClean="0">
                              <a:latin typeface="Cambria Math" panose="02040503050406030204" pitchFamily="18" charset="0"/>
                            </a:rPr>
                            <m:t>𝑑</m:t>
                          </m:r>
                        </m:sup>
                      </m:sSup>
                      <m:d>
                        <m:dPr>
                          <m:ctrlPr>
                            <a:rPr lang="en-GB" i="1">
                              <a:latin typeface="Cambria Math" panose="02040503050406030204" pitchFamily="18" charset="0"/>
                            </a:rPr>
                          </m:ctrlPr>
                        </m:dPr>
                        <m:e>
                          <m:r>
                            <m:rPr>
                              <m:sty m:val="p"/>
                            </m:rPr>
                            <a:rPr lang="en-GB">
                              <a:latin typeface="Cambria Math"/>
                            </a:rPr>
                            <m:t>t</m:t>
                          </m:r>
                        </m:e>
                      </m:d>
                      <m:r>
                        <a:rPr lang="en-GB" i="1">
                          <a:latin typeface="Cambria Math"/>
                        </a:rPr>
                        <m:t>=</m:t>
                      </m:r>
                      <m:sSup>
                        <m:sSupPr>
                          <m:ctrlPr>
                            <a:rPr lang="en-GB" i="1">
                              <a:latin typeface="Cambria Math" panose="02040503050406030204" pitchFamily="18" charset="0"/>
                            </a:rPr>
                          </m:ctrlPr>
                        </m:sSupPr>
                        <m:e>
                          <m:r>
                            <a:rPr lang="en-GB" b="1">
                              <a:latin typeface="Cambria Math" panose="02040503050406030204" pitchFamily="18" charset="0"/>
                            </a:rPr>
                            <m:t>𝐑</m:t>
                          </m:r>
                        </m:e>
                        <m:sup>
                          <m:r>
                            <m:rPr>
                              <m:sty m:val="p"/>
                            </m:rPr>
                            <a:rPr lang="en-GB">
                              <a:latin typeface="Cambria Math"/>
                            </a:rPr>
                            <m:t>i</m:t>
                          </m:r>
                        </m:sup>
                      </m:sSup>
                      <m:r>
                        <a:rPr lang="en-GB" i="1">
                          <a:latin typeface="Cambria Math"/>
                        </a:rPr>
                        <m:t> </m:t>
                      </m:r>
                      <m:r>
                        <a:rPr lang="en-GB" b="1">
                          <a:latin typeface="Cambria Math"/>
                        </a:rPr>
                        <m:t> </m:t>
                      </m:r>
                      <m:r>
                        <a:rPr lang="en-GB" b="1">
                          <a:latin typeface="Cambria Math" panose="02040503050406030204" pitchFamily="18" charset="0"/>
                        </a:rPr>
                        <m:t>𝐫</m:t>
                      </m:r>
                      <m:r>
                        <a:rPr lang="en-GB" b="1">
                          <a:latin typeface="Cambria Math"/>
                        </a:rPr>
                        <m:t>𝐨𝐭</m:t>
                      </m:r>
                      <m:d>
                        <m:dPr>
                          <m:ctrlPr>
                            <a:rPr lang="en-GB" i="1">
                              <a:latin typeface="Cambria Math" panose="02040503050406030204" pitchFamily="18" charset="0"/>
                            </a:rPr>
                          </m:ctrlPr>
                        </m:dPr>
                        <m:e>
                          <m:r>
                            <a:rPr lang="en-GB" b="1">
                              <a:latin typeface="Cambria Math"/>
                            </a:rPr>
                            <m:t>𝐮</m:t>
                          </m:r>
                          <m:r>
                            <a:rPr lang="en-GB" i="1">
                              <a:latin typeface="Cambria Math"/>
                            </a:rPr>
                            <m:t>, </m:t>
                          </m:r>
                          <m:r>
                            <m:rPr>
                              <m:sty m:val="p"/>
                            </m:rPr>
                            <a:rPr lang="en-GB">
                              <a:latin typeface="Cambria Math"/>
                            </a:rPr>
                            <m:t>r</m:t>
                          </m:r>
                          <m:r>
                            <a:rPr lang="en-GB">
                              <a:latin typeface="Cambria Math"/>
                            </a:rPr>
                            <m:t>(</m:t>
                          </m:r>
                          <m:r>
                            <m:rPr>
                              <m:sty m:val="p"/>
                            </m:rPr>
                            <a:rPr lang="en-GB">
                              <a:latin typeface="Cambria Math"/>
                            </a:rPr>
                            <m:t>t</m:t>
                          </m:r>
                          <m:r>
                            <a:rPr lang="en-GB">
                              <a:latin typeface="Cambria Math"/>
                            </a:rPr>
                            <m:t>)</m:t>
                          </m:r>
                          <m:r>
                            <a:rPr lang="en-GB" i="1">
                              <a:latin typeface="Cambria Math" panose="02040503050406030204" pitchFamily="18" charset="0"/>
                              <a:ea typeface="Cambria Math" panose="02040503050406030204" pitchFamily="18" charset="0"/>
                            </a:rPr>
                            <m:t>𝜗</m:t>
                          </m:r>
                        </m:e>
                      </m:d>
                    </m:oMath>
                  </m:oMathPara>
                </a14:m>
                <a:endParaRPr lang="en-GB" dirty="0"/>
              </a:p>
              <a:p>
                <a:r>
                  <a:rPr lang="en-GB" dirty="0"/>
                  <a:t>Let’s define the vectors </a:t>
                </a:r>
                <a14:m>
                  <m:oMath xmlns:m="http://schemas.openxmlformats.org/officeDocument/2006/math">
                    <m:sSup>
                      <m:sSupPr>
                        <m:ctrlPr>
                          <a:rPr lang="en-GB" i="1" smtClean="0">
                            <a:latin typeface="Cambria Math" panose="02040503050406030204" pitchFamily="18" charset="0"/>
                          </a:rPr>
                        </m:ctrlPr>
                      </m:sSupPr>
                      <m:e>
                        <m:r>
                          <a:rPr lang="en-GB" b="1" smtClean="0">
                            <a:latin typeface="Cambria Math" panose="02040503050406030204" pitchFamily="18" charset="0"/>
                          </a:rPr>
                          <m:t>𝐧</m:t>
                        </m:r>
                      </m:e>
                      <m:sup>
                        <m:r>
                          <a:rPr lang="en-GB" i="1" smtClean="0">
                            <a:latin typeface="Cambria Math" panose="02040503050406030204" pitchFamily="18" charset="0"/>
                          </a:rPr>
                          <m:t>𝑑</m:t>
                        </m:r>
                      </m:sup>
                    </m:sSup>
                  </m:oMath>
                </a14:m>
                <a:r>
                  <a:rPr lang="en-GB" dirty="0"/>
                  <a:t>, </a:t>
                </a:r>
                <a14:m>
                  <m:oMath xmlns:m="http://schemas.openxmlformats.org/officeDocument/2006/math">
                    <m:sSup>
                      <m:sSupPr>
                        <m:ctrlPr>
                          <a:rPr lang="en-GB" i="1" smtClean="0">
                            <a:latin typeface="Cambria Math" panose="02040503050406030204" pitchFamily="18" charset="0"/>
                          </a:rPr>
                        </m:ctrlPr>
                      </m:sSupPr>
                      <m:e>
                        <m:r>
                          <a:rPr lang="en-GB" b="1" smtClean="0">
                            <a:latin typeface="Cambria Math" panose="02040503050406030204" pitchFamily="18" charset="0"/>
                          </a:rPr>
                          <m:t>𝐬</m:t>
                        </m:r>
                      </m:e>
                      <m:sup>
                        <m:r>
                          <a:rPr lang="en-GB" i="1" smtClean="0">
                            <a:latin typeface="Cambria Math" panose="02040503050406030204" pitchFamily="18" charset="0"/>
                          </a:rPr>
                          <m:t>𝑑</m:t>
                        </m:r>
                      </m:sup>
                    </m:sSup>
                  </m:oMath>
                </a14:m>
                <a:r>
                  <a:rPr lang="en-GB" dirty="0"/>
                  <a:t> and </a:t>
                </a:r>
                <a14:m>
                  <m:oMath xmlns:m="http://schemas.openxmlformats.org/officeDocument/2006/math">
                    <m:sSup>
                      <m:sSupPr>
                        <m:ctrlPr>
                          <a:rPr lang="en-GB" i="1" smtClean="0">
                            <a:latin typeface="Cambria Math" panose="02040503050406030204" pitchFamily="18" charset="0"/>
                          </a:rPr>
                        </m:ctrlPr>
                      </m:sSupPr>
                      <m:e>
                        <m:r>
                          <a:rPr lang="en-GB" b="1" smtClean="0">
                            <a:latin typeface="Cambria Math" panose="02040503050406030204" pitchFamily="18" charset="0"/>
                          </a:rPr>
                          <m:t>𝐚</m:t>
                        </m:r>
                      </m:e>
                      <m:sup>
                        <m:r>
                          <a:rPr lang="en-GB" i="1" smtClean="0">
                            <a:latin typeface="Cambria Math" panose="02040503050406030204" pitchFamily="18" charset="0"/>
                          </a:rPr>
                          <m:t>𝑑</m:t>
                        </m:r>
                      </m:sup>
                    </m:sSup>
                  </m:oMath>
                </a14:m>
                <a:r>
                  <a:rPr lang="en-GB" dirty="0"/>
                  <a:t> as the column of the matrix </a:t>
                </a:r>
                <a14:m>
                  <m:oMath xmlns:m="http://schemas.openxmlformats.org/officeDocument/2006/math">
                    <m:sSup>
                      <m:sSupPr>
                        <m:ctrlPr>
                          <a:rPr lang="en-GB" i="1">
                            <a:latin typeface="Cambria Math" panose="02040503050406030204" pitchFamily="18" charset="0"/>
                          </a:rPr>
                        </m:ctrlPr>
                      </m:sSupPr>
                      <m:e>
                        <m:r>
                          <a:rPr lang="en-GB" b="1" smtClean="0">
                            <a:latin typeface="Cambria Math" panose="02040503050406030204" pitchFamily="18" charset="0"/>
                          </a:rPr>
                          <m:t>𝐑</m:t>
                        </m:r>
                      </m:e>
                      <m:sup>
                        <m:r>
                          <a:rPr lang="en-GB" i="1" smtClean="0">
                            <a:latin typeface="Cambria Math" panose="02040503050406030204" pitchFamily="18" charset="0"/>
                          </a:rPr>
                          <m:t>𝑑</m:t>
                        </m:r>
                      </m:sup>
                    </m:sSup>
                    <m:d>
                      <m:dPr>
                        <m:ctrlPr>
                          <a:rPr lang="en-GB" i="1">
                            <a:latin typeface="Cambria Math" panose="02040503050406030204" pitchFamily="18" charset="0"/>
                          </a:rPr>
                        </m:ctrlPr>
                      </m:dPr>
                      <m:e>
                        <m:r>
                          <m:rPr>
                            <m:sty m:val="p"/>
                          </m:rPr>
                          <a:rPr lang="en-GB">
                            <a:latin typeface="Cambria Math"/>
                          </a:rPr>
                          <m:t>t</m:t>
                        </m:r>
                      </m:e>
                    </m:d>
                  </m:oMath>
                </a14:m>
                <a:r>
                  <a:rPr lang="en-GB" dirty="0"/>
                  <a:t>:</a:t>
                </a:r>
              </a:p>
              <a:p>
                <a:pPr marL="0" indent="0">
                  <a:buNone/>
                </a:pPr>
                <a:endParaRPr lang="en-GB"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GB" i="1" smtClean="0">
                              <a:latin typeface="Cambria Math" panose="02040503050406030204" pitchFamily="18" charset="0"/>
                            </a:rPr>
                          </m:ctrlPr>
                        </m:sSupPr>
                        <m:e>
                          <m:r>
                            <a:rPr lang="en-GB" b="1" i="0" smtClean="0">
                              <a:latin typeface="Cambria Math" panose="02040503050406030204" pitchFamily="18" charset="0"/>
                            </a:rPr>
                            <m:t>𝐑</m:t>
                          </m:r>
                        </m:e>
                        <m:sup>
                          <m:r>
                            <a:rPr lang="en-GB" b="0" i="1" smtClean="0">
                              <a:latin typeface="Cambria Math" panose="02040503050406030204" pitchFamily="18" charset="0"/>
                            </a:rPr>
                            <m:t>𝑑</m:t>
                          </m:r>
                        </m:sup>
                      </m:sSup>
                      <m:r>
                        <a:rPr lang="en-GB" b="0" i="1" smtClean="0">
                          <a:latin typeface="Cambria Math" panose="02040503050406030204" pitchFamily="18" charset="0"/>
                        </a:rPr>
                        <m:t>=</m:t>
                      </m:r>
                      <m:d>
                        <m:dPr>
                          <m:ctrlPr>
                            <a:rPr lang="en-GB" b="0" i="1" smtClean="0">
                              <a:latin typeface="Cambria Math" panose="02040503050406030204" pitchFamily="18" charset="0"/>
                            </a:rPr>
                          </m:ctrlPr>
                        </m:dPr>
                        <m:e>
                          <m:m>
                            <m:mPr>
                              <m:mcs>
                                <m:mc>
                                  <m:mcPr>
                                    <m:count m:val="3"/>
                                    <m:mcJc m:val="center"/>
                                  </m:mcPr>
                                </m:mc>
                              </m:mcs>
                              <m:ctrlPr>
                                <a:rPr lang="en-GB" b="0" i="1" smtClean="0">
                                  <a:latin typeface="Cambria Math" panose="02040503050406030204" pitchFamily="18" charset="0"/>
                                </a:rPr>
                              </m:ctrlPr>
                            </m:mPr>
                            <m:mr>
                              <m:e>
                                <m:sSup>
                                  <m:sSupPr>
                                    <m:ctrlPr>
                                      <a:rPr lang="en-GB" b="0" i="1" smtClean="0">
                                        <a:latin typeface="Cambria Math" panose="02040503050406030204" pitchFamily="18" charset="0"/>
                                      </a:rPr>
                                    </m:ctrlPr>
                                  </m:sSupPr>
                                  <m:e>
                                    <m:r>
                                      <a:rPr lang="en-GB" b="1" i="0" smtClean="0">
                                        <a:latin typeface="Cambria Math" panose="02040503050406030204" pitchFamily="18" charset="0"/>
                                      </a:rPr>
                                      <m:t>𝐧</m:t>
                                    </m:r>
                                  </m:e>
                                  <m:sup>
                                    <m:r>
                                      <a:rPr lang="en-GB" b="0" i="1" smtClean="0">
                                        <a:latin typeface="Cambria Math" panose="02040503050406030204" pitchFamily="18" charset="0"/>
                                      </a:rPr>
                                      <m:t>𝑑</m:t>
                                    </m:r>
                                  </m:sup>
                                </m:sSup>
                              </m:e>
                              <m:e>
                                <m:sSup>
                                  <m:sSupPr>
                                    <m:ctrlPr>
                                      <a:rPr lang="en-GB" b="0" i="1" smtClean="0">
                                        <a:latin typeface="Cambria Math" panose="02040503050406030204" pitchFamily="18" charset="0"/>
                                      </a:rPr>
                                    </m:ctrlPr>
                                  </m:sSupPr>
                                  <m:e>
                                    <m:r>
                                      <a:rPr lang="en-GB" b="1" i="0" smtClean="0">
                                        <a:latin typeface="Cambria Math" panose="02040503050406030204" pitchFamily="18" charset="0"/>
                                      </a:rPr>
                                      <m:t>𝐬</m:t>
                                    </m:r>
                                  </m:e>
                                  <m:sup>
                                    <m:r>
                                      <a:rPr lang="en-GB" b="0" i="1" smtClean="0">
                                        <a:latin typeface="Cambria Math" panose="02040503050406030204" pitchFamily="18" charset="0"/>
                                      </a:rPr>
                                      <m:t>𝑑</m:t>
                                    </m:r>
                                  </m:sup>
                                </m:sSup>
                              </m:e>
                              <m:e>
                                <m:sSup>
                                  <m:sSupPr>
                                    <m:ctrlPr>
                                      <a:rPr lang="en-GB" b="0" i="1" smtClean="0">
                                        <a:latin typeface="Cambria Math" panose="02040503050406030204" pitchFamily="18" charset="0"/>
                                      </a:rPr>
                                    </m:ctrlPr>
                                  </m:sSupPr>
                                  <m:e>
                                    <m:r>
                                      <a:rPr lang="en-GB" b="1" i="0" smtClean="0">
                                        <a:latin typeface="Cambria Math" panose="02040503050406030204" pitchFamily="18" charset="0"/>
                                      </a:rPr>
                                      <m:t>𝐚</m:t>
                                    </m:r>
                                  </m:e>
                                  <m:sup>
                                    <m:r>
                                      <a:rPr lang="en-GB" b="0" i="1" smtClean="0">
                                        <a:latin typeface="Cambria Math" panose="02040503050406030204" pitchFamily="18" charset="0"/>
                                      </a:rPr>
                                      <m:t>𝑑</m:t>
                                    </m:r>
                                  </m:sup>
                                </m:sSup>
                              </m:e>
                            </m:mr>
                          </m:m>
                        </m:e>
                      </m:d>
                    </m:oMath>
                  </m:oMathPara>
                </a14:m>
                <a:endParaRPr lang="en-GB" dirty="0"/>
              </a:p>
              <a:p>
                <a:r>
                  <a:rPr lang="en-GB" dirty="0"/>
                  <a:t>Let’s define also define the vectors </a:t>
                </a:r>
                <a14:m>
                  <m:oMath xmlns:m="http://schemas.openxmlformats.org/officeDocument/2006/math">
                    <m:sSup>
                      <m:sSupPr>
                        <m:ctrlPr>
                          <a:rPr lang="en-GB" i="1" smtClean="0">
                            <a:latin typeface="Cambria Math" panose="02040503050406030204" pitchFamily="18" charset="0"/>
                          </a:rPr>
                        </m:ctrlPr>
                      </m:sSupPr>
                      <m:e>
                        <m:r>
                          <a:rPr lang="en-GB" b="1" smtClean="0">
                            <a:latin typeface="Cambria Math" panose="02040503050406030204" pitchFamily="18" charset="0"/>
                          </a:rPr>
                          <m:t>𝐧</m:t>
                        </m:r>
                      </m:e>
                      <m:sup>
                        <m:r>
                          <a:rPr lang="en-GB" b="0" i="1" smtClean="0">
                            <a:latin typeface="Cambria Math" panose="02040503050406030204" pitchFamily="18" charset="0"/>
                          </a:rPr>
                          <m:t>𝑒</m:t>
                        </m:r>
                      </m:sup>
                    </m:sSup>
                  </m:oMath>
                </a14:m>
                <a:r>
                  <a:rPr lang="en-GB" dirty="0"/>
                  <a:t>, </a:t>
                </a:r>
                <a14:m>
                  <m:oMath xmlns:m="http://schemas.openxmlformats.org/officeDocument/2006/math">
                    <m:sSup>
                      <m:sSupPr>
                        <m:ctrlPr>
                          <a:rPr lang="en-GB" i="1" smtClean="0">
                            <a:latin typeface="Cambria Math" panose="02040503050406030204" pitchFamily="18" charset="0"/>
                          </a:rPr>
                        </m:ctrlPr>
                      </m:sSupPr>
                      <m:e>
                        <m:r>
                          <a:rPr lang="en-GB" b="1" smtClean="0">
                            <a:latin typeface="Cambria Math" panose="02040503050406030204" pitchFamily="18" charset="0"/>
                          </a:rPr>
                          <m:t>𝐬</m:t>
                        </m:r>
                      </m:e>
                      <m:sup>
                        <m:r>
                          <a:rPr lang="en-GB" b="0" i="1" smtClean="0">
                            <a:latin typeface="Cambria Math" panose="02040503050406030204" pitchFamily="18" charset="0"/>
                          </a:rPr>
                          <m:t>𝑒</m:t>
                        </m:r>
                      </m:sup>
                    </m:sSup>
                  </m:oMath>
                </a14:m>
                <a:r>
                  <a:rPr lang="en-GB" dirty="0"/>
                  <a:t> and </a:t>
                </a:r>
                <a14:m>
                  <m:oMath xmlns:m="http://schemas.openxmlformats.org/officeDocument/2006/math">
                    <m:sSup>
                      <m:sSupPr>
                        <m:ctrlPr>
                          <a:rPr lang="en-GB" i="1" smtClean="0">
                            <a:latin typeface="Cambria Math" panose="02040503050406030204" pitchFamily="18" charset="0"/>
                          </a:rPr>
                        </m:ctrlPr>
                      </m:sSupPr>
                      <m:e>
                        <m:r>
                          <a:rPr lang="en-GB" b="1" smtClean="0">
                            <a:latin typeface="Cambria Math" panose="02040503050406030204" pitchFamily="18" charset="0"/>
                          </a:rPr>
                          <m:t>𝐚</m:t>
                        </m:r>
                      </m:e>
                      <m:sup>
                        <m:r>
                          <a:rPr lang="en-GB" b="0" i="1" smtClean="0">
                            <a:latin typeface="Cambria Math" panose="02040503050406030204" pitchFamily="18" charset="0"/>
                          </a:rPr>
                          <m:t>𝑒</m:t>
                        </m:r>
                      </m:sup>
                    </m:sSup>
                  </m:oMath>
                </a14:m>
                <a:r>
                  <a:rPr lang="en-GB" dirty="0"/>
                  <a:t> as the column of the matrix </a:t>
                </a:r>
                <a14:m>
                  <m:oMath xmlns:m="http://schemas.openxmlformats.org/officeDocument/2006/math">
                    <m:sSup>
                      <m:sSupPr>
                        <m:ctrlPr>
                          <a:rPr lang="en-GB" i="1">
                            <a:latin typeface="Cambria Math" panose="02040503050406030204" pitchFamily="18" charset="0"/>
                          </a:rPr>
                        </m:ctrlPr>
                      </m:sSupPr>
                      <m:e>
                        <m:r>
                          <a:rPr lang="en-GB" b="1">
                            <a:latin typeface="Cambria Math" panose="02040503050406030204" pitchFamily="18" charset="0"/>
                          </a:rPr>
                          <m:t>𝐑</m:t>
                        </m:r>
                      </m:e>
                      <m:sup>
                        <m:r>
                          <a:rPr lang="en-GB" i="1">
                            <a:latin typeface="Cambria Math" panose="02040503050406030204" pitchFamily="18" charset="0"/>
                          </a:rPr>
                          <m:t>𝑒</m:t>
                        </m:r>
                      </m:sup>
                    </m:sSup>
                  </m:oMath>
                </a14:m>
                <a:r>
                  <a:rPr lang="en-GB" dirty="0"/>
                  <a:t>:</a:t>
                </a:r>
              </a:p>
              <a:p>
                <a:endParaRPr lang="en-GB" dirty="0"/>
              </a:p>
              <a:p>
                <a:pPr marL="0" indent="0">
                  <a:buNone/>
                </a:pPr>
                <a14:m>
                  <m:oMathPara xmlns:m="http://schemas.openxmlformats.org/officeDocument/2006/math">
                    <m:oMathParaPr>
                      <m:jc m:val="centerGroup"/>
                    </m:oMathParaPr>
                    <m:oMath xmlns:m="http://schemas.openxmlformats.org/officeDocument/2006/math">
                      <m:sSup>
                        <m:sSupPr>
                          <m:ctrlPr>
                            <a:rPr lang="en-GB" i="1" smtClean="0">
                              <a:latin typeface="Cambria Math" panose="02040503050406030204" pitchFamily="18" charset="0"/>
                            </a:rPr>
                          </m:ctrlPr>
                        </m:sSupPr>
                        <m:e>
                          <m:r>
                            <a:rPr lang="en-GB" b="1" smtClean="0">
                              <a:latin typeface="Cambria Math" panose="02040503050406030204" pitchFamily="18" charset="0"/>
                            </a:rPr>
                            <m:t>𝐑</m:t>
                          </m:r>
                        </m:e>
                        <m:sup>
                          <m:r>
                            <a:rPr lang="en-GB" b="0" i="1" smtClean="0">
                              <a:latin typeface="Cambria Math" panose="02040503050406030204" pitchFamily="18" charset="0"/>
                            </a:rPr>
                            <m:t>𝑒</m:t>
                          </m:r>
                        </m:sup>
                      </m:sSup>
                      <m:r>
                        <a:rPr lang="en-GB" i="1" smtClean="0">
                          <a:latin typeface="Cambria Math" panose="02040503050406030204" pitchFamily="18" charset="0"/>
                        </a:rPr>
                        <m:t>=</m:t>
                      </m:r>
                      <m:d>
                        <m:dPr>
                          <m:ctrlPr>
                            <a:rPr lang="en-GB" i="1" smtClean="0">
                              <a:latin typeface="Cambria Math" panose="02040503050406030204" pitchFamily="18" charset="0"/>
                            </a:rPr>
                          </m:ctrlPr>
                        </m:dPr>
                        <m:e>
                          <m:m>
                            <m:mPr>
                              <m:mcs>
                                <m:mc>
                                  <m:mcPr>
                                    <m:count m:val="3"/>
                                    <m:mcJc m:val="center"/>
                                  </m:mcPr>
                                </m:mc>
                              </m:mcs>
                              <m:ctrlPr>
                                <a:rPr lang="en-GB" i="1" smtClean="0">
                                  <a:latin typeface="Cambria Math" panose="02040503050406030204" pitchFamily="18" charset="0"/>
                                </a:rPr>
                              </m:ctrlPr>
                            </m:mPr>
                            <m:mr>
                              <m:e>
                                <m:sSup>
                                  <m:sSupPr>
                                    <m:ctrlPr>
                                      <a:rPr lang="en-GB" i="1" smtClean="0">
                                        <a:latin typeface="Cambria Math" panose="02040503050406030204" pitchFamily="18" charset="0"/>
                                      </a:rPr>
                                    </m:ctrlPr>
                                  </m:sSupPr>
                                  <m:e>
                                    <m:r>
                                      <a:rPr lang="en-GB" b="1" smtClean="0">
                                        <a:latin typeface="Cambria Math" panose="02040503050406030204" pitchFamily="18" charset="0"/>
                                      </a:rPr>
                                      <m:t>𝐧</m:t>
                                    </m:r>
                                  </m:e>
                                  <m:sup>
                                    <m:r>
                                      <a:rPr lang="en-GB" b="0" i="1" smtClean="0">
                                        <a:latin typeface="Cambria Math" panose="02040503050406030204" pitchFamily="18" charset="0"/>
                                      </a:rPr>
                                      <m:t>𝑒</m:t>
                                    </m:r>
                                  </m:sup>
                                </m:sSup>
                              </m:e>
                              <m:e>
                                <m:sSup>
                                  <m:sSupPr>
                                    <m:ctrlPr>
                                      <a:rPr lang="en-GB" i="1" smtClean="0">
                                        <a:latin typeface="Cambria Math" panose="02040503050406030204" pitchFamily="18" charset="0"/>
                                      </a:rPr>
                                    </m:ctrlPr>
                                  </m:sSupPr>
                                  <m:e>
                                    <m:r>
                                      <a:rPr lang="en-GB" b="1" smtClean="0">
                                        <a:latin typeface="Cambria Math" panose="02040503050406030204" pitchFamily="18" charset="0"/>
                                      </a:rPr>
                                      <m:t>𝐬</m:t>
                                    </m:r>
                                  </m:e>
                                  <m:sup>
                                    <m:r>
                                      <a:rPr lang="en-GB" b="0" i="1" smtClean="0">
                                        <a:latin typeface="Cambria Math" panose="02040503050406030204" pitchFamily="18" charset="0"/>
                                      </a:rPr>
                                      <m:t>𝑒</m:t>
                                    </m:r>
                                  </m:sup>
                                </m:sSup>
                              </m:e>
                              <m:e>
                                <m:sSup>
                                  <m:sSupPr>
                                    <m:ctrlPr>
                                      <a:rPr lang="en-GB" i="1" smtClean="0">
                                        <a:latin typeface="Cambria Math" panose="02040503050406030204" pitchFamily="18" charset="0"/>
                                      </a:rPr>
                                    </m:ctrlPr>
                                  </m:sSupPr>
                                  <m:e>
                                    <m:r>
                                      <a:rPr lang="en-GB" b="1" smtClean="0">
                                        <a:latin typeface="Cambria Math" panose="02040503050406030204" pitchFamily="18" charset="0"/>
                                      </a:rPr>
                                      <m:t>𝐚</m:t>
                                    </m:r>
                                  </m:e>
                                  <m:sup>
                                    <m:r>
                                      <a:rPr lang="en-GB" b="0" i="1" smtClean="0">
                                        <a:latin typeface="Cambria Math" panose="02040503050406030204" pitchFamily="18" charset="0"/>
                                      </a:rPr>
                                      <m:t>𝑒</m:t>
                                    </m:r>
                                  </m:sup>
                                </m:sSup>
                              </m:e>
                            </m:mr>
                          </m:m>
                        </m:e>
                      </m:d>
                    </m:oMath>
                  </m:oMathPara>
                </a14:m>
                <a:endParaRPr lang="en-GB" dirty="0"/>
              </a:p>
              <a:p>
                <a:pPr marL="0" indent="0">
                  <a:buNone/>
                </a:pPr>
                <a:endParaRPr lang="en-GB" dirty="0"/>
              </a:p>
              <a:p>
                <a:pPr marL="0" indent="0">
                  <a:buNone/>
                </a:pPr>
                <a14:m>
                  <m:oMath xmlns:m="http://schemas.openxmlformats.org/officeDocument/2006/math">
                    <m:sSup>
                      <m:sSupPr>
                        <m:ctrlPr>
                          <a:rPr lang="en-GB" i="1">
                            <a:latin typeface="Cambria Math" panose="02040503050406030204" pitchFamily="18" charset="0"/>
                          </a:rPr>
                        </m:ctrlPr>
                      </m:sSupPr>
                      <m:e>
                        <m:r>
                          <a:rPr lang="en-GB" b="1">
                            <a:latin typeface="Cambria Math" panose="02040503050406030204" pitchFamily="18" charset="0"/>
                          </a:rPr>
                          <m:t>𝐑</m:t>
                        </m:r>
                      </m:e>
                      <m:sup>
                        <m:r>
                          <a:rPr lang="en-GB" i="1">
                            <a:latin typeface="Cambria Math" panose="02040503050406030204" pitchFamily="18" charset="0"/>
                          </a:rPr>
                          <m:t>𝑒</m:t>
                        </m:r>
                      </m:sup>
                    </m:sSup>
                  </m:oMath>
                </a14:m>
                <a:r>
                  <a:rPr lang="en-GB" dirty="0"/>
                  <a:t> represents the current orientation of the robot.</a:t>
                </a:r>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1" smtClean="0">
                              <a:latin typeface="Cambria Math" panose="02040503050406030204" pitchFamily="18" charset="0"/>
                            </a:rPr>
                            <m:t>𝐞</m:t>
                          </m:r>
                        </m:e>
                        <m:sub>
                          <m:r>
                            <a:rPr lang="en-GB" i="1" smtClean="0">
                              <a:latin typeface="Cambria Math" panose="02040503050406030204" pitchFamily="18" charset="0"/>
                            </a:rPr>
                            <m:t>𝑂</m:t>
                          </m:r>
                        </m:sub>
                      </m:sSub>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1" i="0" smtClean="0">
                                  <a:latin typeface="Cambria Math" panose="02040503050406030204" pitchFamily="18" charset="0"/>
                                </a:rPr>
                                <m:t>𝐧</m:t>
                              </m:r>
                            </m:e>
                            <m:sup>
                              <m:r>
                                <a:rPr lang="en-GB" b="0" i="1" smtClean="0">
                                  <a:latin typeface="Cambria Math" panose="02040503050406030204" pitchFamily="18" charset="0"/>
                                </a:rPr>
                                <m:t>𝑒</m:t>
                              </m:r>
                            </m:sup>
                          </m:sSup>
                          <m:r>
                            <a:rPr lang="en-GB" smtClean="0">
                              <a:latin typeface="Cambria Math"/>
                              <a:ea typeface="Cambria Math"/>
                            </a:rPr>
                            <m:t>∧</m:t>
                          </m:r>
                          <m:sSup>
                            <m:sSupPr>
                              <m:ctrlPr>
                                <a:rPr lang="en-GB" i="1" smtClean="0">
                                  <a:latin typeface="Cambria Math" panose="02040503050406030204" pitchFamily="18" charset="0"/>
                                </a:rPr>
                              </m:ctrlPr>
                            </m:sSupPr>
                            <m:e>
                              <m:r>
                                <a:rPr lang="en-GB" b="1" smtClean="0">
                                  <a:latin typeface="Cambria Math" panose="02040503050406030204" pitchFamily="18" charset="0"/>
                                </a:rPr>
                                <m:t>𝐧</m:t>
                              </m:r>
                            </m:e>
                            <m:sup>
                              <m:r>
                                <a:rPr lang="en-GB" i="1" smtClean="0">
                                  <a:latin typeface="Cambria Math" panose="02040503050406030204" pitchFamily="18" charset="0"/>
                                </a:rPr>
                                <m:t>𝑑</m:t>
                              </m:r>
                            </m:sup>
                          </m:sSup>
                          <m:r>
                            <a:rPr lang="en-GB" b="0" i="1" smtClean="0">
                              <a:latin typeface="Cambria Math" panose="02040503050406030204" pitchFamily="18" charset="0"/>
                            </a:rPr>
                            <m:t>+</m:t>
                          </m:r>
                          <m:sSup>
                            <m:sSupPr>
                              <m:ctrlPr>
                                <a:rPr lang="en-GB" i="1" smtClean="0">
                                  <a:latin typeface="Cambria Math" panose="02040503050406030204" pitchFamily="18" charset="0"/>
                                </a:rPr>
                              </m:ctrlPr>
                            </m:sSupPr>
                            <m:e>
                              <m:r>
                                <a:rPr lang="en-GB" b="1" smtClean="0">
                                  <a:latin typeface="Cambria Math" panose="02040503050406030204" pitchFamily="18" charset="0"/>
                                </a:rPr>
                                <m:t>𝐬</m:t>
                              </m:r>
                            </m:e>
                            <m:sup>
                              <m:r>
                                <a:rPr lang="en-GB" i="1" smtClean="0">
                                  <a:latin typeface="Cambria Math" panose="02040503050406030204" pitchFamily="18" charset="0"/>
                                </a:rPr>
                                <m:t>𝑒</m:t>
                              </m:r>
                            </m:sup>
                          </m:sSup>
                          <m:r>
                            <a:rPr lang="en-GB" smtClean="0">
                              <a:latin typeface="Cambria Math"/>
                              <a:ea typeface="Cambria Math"/>
                            </a:rPr>
                            <m:t>∧</m:t>
                          </m:r>
                          <m:sSup>
                            <m:sSupPr>
                              <m:ctrlPr>
                                <a:rPr lang="en-GB" i="1" smtClean="0">
                                  <a:latin typeface="Cambria Math" panose="02040503050406030204" pitchFamily="18" charset="0"/>
                                </a:rPr>
                              </m:ctrlPr>
                            </m:sSupPr>
                            <m:e>
                              <m:r>
                                <a:rPr lang="en-GB" b="1" smtClean="0">
                                  <a:latin typeface="Cambria Math" panose="02040503050406030204" pitchFamily="18" charset="0"/>
                                </a:rPr>
                                <m:t>𝐬</m:t>
                              </m:r>
                            </m:e>
                            <m:sup>
                              <m:r>
                                <a:rPr lang="en-GB" i="1" smtClean="0">
                                  <a:latin typeface="Cambria Math" panose="02040503050406030204" pitchFamily="18" charset="0"/>
                                </a:rPr>
                                <m:t>𝑑</m:t>
                              </m:r>
                            </m:sup>
                          </m:sSup>
                          <m:r>
                            <a:rPr lang="en-GB" b="0" i="1" smtClean="0">
                              <a:latin typeface="Cambria Math" panose="02040503050406030204" pitchFamily="18" charset="0"/>
                            </a:rPr>
                            <m:t>+</m:t>
                          </m:r>
                          <m:sSup>
                            <m:sSupPr>
                              <m:ctrlPr>
                                <a:rPr lang="en-GB" i="1" smtClean="0">
                                  <a:latin typeface="Cambria Math" panose="02040503050406030204" pitchFamily="18" charset="0"/>
                                </a:rPr>
                              </m:ctrlPr>
                            </m:sSupPr>
                            <m:e>
                              <m:r>
                                <a:rPr lang="en-GB" b="1" smtClean="0">
                                  <a:latin typeface="Cambria Math" panose="02040503050406030204" pitchFamily="18" charset="0"/>
                                </a:rPr>
                                <m:t>𝐚</m:t>
                              </m:r>
                            </m:e>
                            <m:sup>
                              <m:r>
                                <a:rPr lang="en-GB" i="1" smtClean="0">
                                  <a:latin typeface="Cambria Math" panose="02040503050406030204" pitchFamily="18" charset="0"/>
                                </a:rPr>
                                <m:t>𝑒</m:t>
                              </m:r>
                            </m:sup>
                          </m:sSup>
                          <m:r>
                            <a:rPr lang="en-GB" smtClean="0">
                              <a:latin typeface="Cambria Math"/>
                              <a:ea typeface="Cambria Math"/>
                            </a:rPr>
                            <m:t>∧</m:t>
                          </m:r>
                          <m:sSup>
                            <m:sSupPr>
                              <m:ctrlPr>
                                <a:rPr lang="en-GB" i="1" smtClean="0">
                                  <a:latin typeface="Cambria Math" panose="02040503050406030204" pitchFamily="18" charset="0"/>
                                </a:rPr>
                              </m:ctrlPr>
                            </m:sSupPr>
                            <m:e>
                              <m:r>
                                <a:rPr lang="en-GB" b="1" smtClean="0">
                                  <a:latin typeface="Cambria Math" panose="02040503050406030204" pitchFamily="18" charset="0"/>
                                </a:rPr>
                                <m:t>𝐚</m:t>
                              </m:r>
                            </m:e>
                            <m:sup>
                              <m:r>
                                <a:rPr lang="fr-FR" b="0" i="1" smtClean="0">
                                  <a:latin typeface="Cambria Math" panose="02040503050406030204" pitchFamily="18" charset="0"/>
                                </a:rPr>
                                <m:t>𝑑</m:t>
                              </m:r>
                            </m:sup>
                          </m:sSup>
                        </m:e>
                      </m:d>
                    </m:oMath>
                  </m:oMathPara>
                </a14:m>
                <a:endParaRPr lang="en-GB" dirty="0"/>
              </a:p>
              <a:p>
                <a:pPr marL="0" indent="0">
                  <a:buNone/>
                </a:pPr>
                <a:endParaRPr lang="en-GB" dirty="0"/>
              </a:p>
            </p:txBody>
          </p:sp>
        </mc:Choice>
        <mc:Fallback xmlns="">
          <p:sp>
            <p:nvSpPr>
              <p:cNvPr id="2" name="Espace réservé du contenu 1">
                <a:extLst>
                  <a:ext uri="{FF2B5EF4-FFF2-40B4-BE49-F238E27FC236}">
                    <a16:creationId xmlns:a16="http://schemas.microsoft.com/office/drawing/2014/main" id="{2D68CB72-21C1-DD4E-B7C2-B2511F083971}"/>
                  </a:ext>
                </a:extLst>
              </p:cNvPr>
              <p:cNvSpPr>
                <a:spLocks noGrp="1" noRot="1" noChangeAspect="1" noMove="1" noResize="1" noEditPoints="1" noAdjustHandles="1" noChangeArrowheads="1" noChangeShapeType="1" noTextEdit="1"/>
              </p:cNvSpPr>
              <p:nvPr>
                <p:ph sz="quarter" idx="1"/>
              </p:nvPr>
            </p:nvSpPr>
            <p:spPr>
              <a:blipFill>
                <a:blip r:embed="rId2"/>
                <a:stretch>
                  <a:fillRect t="-460"/>
                </a:stretch>
              </a:blipFill>
            </p:spPr>
            <p:txBody>
              <a:bodyPr/>
              <a:lstStyle/>
              <a:p>
                <a:r>
                  <a:rPr lang="fr-FR">
                    <a:noFill/>
                  </a:rPr>
                  <a:t> </a:t>
                </a:r>
              </a:p>
            </p:txBody>
          </p:sp>
        </mc:Fallback>
      </mc:AlternateContent>
      <p:sp>
        <p:nvSpPr>
          <p:cNvPr id="3" name="Titre 2">
            <a:extLst>
              <a:ext uri="{FF2B5EF4-FFF2-40B4-BE49-F238E27FC236}">
                <a16:creationId xmlns:a16="http://schemas.microsoft.com/office/drawing/2014/main" id="{19DD610A-1D79-3E4B-8E58-57885BFC3BE8}"/>
              </a:ext>
            </a:extLst>
          </p:cNvPr>
          <p:cNvSpPr>
            <a:spLocks noGrp="1"/>
          </p:cNvSpPr>
          <p:nvPr>
            <p:ph type="title"/>
          </p:nvPr>
        </p:nvSpPr>
        <p:spPr/>
        <p:txBody>
          <a:bodyPr/>
          <a:lstStyle/>
          <a:p>
            <a:r>
              <a:rPr lang="en-GB" sz="2400" dirty="0"/>
              <a:t>Pose control in operational space - orientation error using angle and axis</a:t>
            </a:r>
            <a:endParaRPr lang="fr-FR" sz="2400" dirty="0"/>
          </a:p>
        </p:txBody>
      </p:sp>
    </p:spTree>
    <p:extLst>
      <p:ext uri="{BB962C8B-B14F-4D97-AF65-F5344CB8AC3E}">
        <p14:creationId xmlns:p14="http://schemas.microsoft.com/office/powerpoint/2010/main" val="3212736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a:extLst>
                  <a:ext uri="{FF2B5EF4-FFF2-40B4-BE49-F238E27FC236}">
                    <a16:creationId xmlns:a16="http://schemas.microsoft.com/office/drawing/2014/main" id="{CB639A20-05E1-C04B-858B-8BADFD8DAA4D}"/>
                  </a:ext>
                </a:extLst>
              </p:cNvPr>
              <p:cNvSpPr>
                <a:spLocks noGrp="1"/>
              </p:cNvSpPr>
              <p:nvPr>
                <p:ph sz="quarter" idx="1"/>
              </p:nvPr>
            </p:nvSpPr>
            <p:spPr/>
            <p:txBody>
              <a:bodyPr/>
              <a:lstStyle/>
              <a:p>
                <a:r>
                  <a:rPr lang="en-GB" dirty="0"/>
                  <a:t>Differentiating </a:t>
                </a:r>
                <a14:m>
                  <m:oMath xmlns:m="http://schemas.openxmlformats.org/officeDocument/2006/math">
                    <m:sSub>
                      <m:sSubPr>
                        <m:ctrlPr>
                          <a:rPr lang="en-GB" i="1">
                            <a:latin typeface="Cambria Math" panose="02040503050406030204" pitchFamily="18" charset="0"/>
                          </a:rPr>
                        </m:ctrlPr>
                      </m:sSubPr>
                      <m:e>
                        <m:r>
                          <a:rPr lang="en-GB" b="1">
                            <a:latin typeface="Cambria Math" panose="02040503050406030204" pitchFamily="18" charset="0"/>
                          </a:rPr>
                          <m:t>𝐞</m:t>
                        </m:r>
                      </m:e>
                      <m:sub>
                        <m:r>
                          <a:rPr lang="en-GB" i="1">
                            <a:latin typeface="Cambria Math" panose="02040503050406030204" pitchFamily="18" charset="0"/>
                          </a:rPr>
                          <m:t>𝑂</m:t>
                        </m:r>
                      </m:sub>
                    </m:sSub>
                  </m:oMath>
                </a14:m>
                <a:r>
                  <a:rPr lang="en-GB" dirty="0"/>
                  <a:t> with respect to time gives:</a:t>
                </a:r>
              </a:p>
              <a:p>
                <a:pPr marL="0" indent="0">
                  <a:buNone/>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acc>
                            <m:accPr>
                              <m:chr m:val="̇"/>
                              <m:ctrlPr>
                                <a:rPr lang="en-GB" i="1" smtClean="0">
                                  <a:latin typeface="Cambria Math" panose="02040503050406030204" pitchFamily="18" charset="0"/>
                                </a:rPr>
                              </m:ctrlPr>
                            </m:accPr>
                            <m:e>
                              <m:r>
                                <a:rPr lang="fr-FR" b="1" i="0" smtClean="0">
                                  <a:latin typeface="Cambria Math" panose="02040503050406030204" pitchFamily="18" charset="0"/>
                                </a:rPr>
                                <m:t>𝐞</m:t>
                              </m:r>
                            </m:e>
                          </m:acc>
                        </m:e>
                        <m:sub>
                          <m:r>
                            <a:rPr lang="fr-FR" b="0" i="1" smtClean="0">
                              <a:latin typeface="Cambria Math" panose="02040503050406030204" pitchFamily="18" charset="0"/>
                            </a:rPr>
                            <m:t>𝑂</m:t>
                          </m:r>
                        </m:sub>
                      </m:sSub>
                      <m:r>
                        <a:rPr lang="fr-FR" b="0" i="1" smtClean="0">
                          <a:latin typeface="Cambria Math" panose="02040503050406030204" pitchFamily="18" charset="0"/>
                        </a:rPr>
                        <m:t>=</m:t>
                      </m:r>
                      <m:sSup>
                        <m:sSupPr>
                          <m:ctrlPr>
                            <a:rPr lang="fr-FR" b="0" i="1" smtClean="0">
                              <a:latin typeface="Cambria Math" panose="02040503050406030204" pitchFamily="18" charset="0"/>
                            </a:rPr>
                          </m:ctrlPr>
                        </m:sSupPr>
                        <m:e>
                          <m:r>
                            <a:rPr lang="fr-FR" b="1" i="0" smtClean="0">
                              <a:latin typeface="Cambria Math" panose="02040503050406030204" pitchFamily="18" charset="0"/>
                            </a:rPr>
                            <m:t>𝐋</m:t>
                          </m:r>
                        </m:e>
                        <m:sup>
                          <m:r>
                            <a:rPr lang="fr-FR" b="0" i="1" smtClean="0">
                              <a:latin typeface="Cambria Math" panose="02040503050406030204" pitchFamily="18" charset="0"/>
                            </a:rPr>
                            <m:t>𝑇</m:t>
                          </m:r>
                        </m:sup>
                      </m:sSup>
                      <m:sSub>
                        <m:sSubPr>
                          <m:ctrlPr>
                            <a:rPr lang="fr-FR" b="0" i="1" smtClean="0">
                              <a:latin typeface="Cambria Math" panose="02040503050406030204" pitchFamily="18" charset="0"/>
                            </a:rPr>
                          </m:ctrlPr>
                        </m:sSubPr>
                        <m:e>
                          <m:r>
                            <a:rPr lang="fr-FR" b="1" i="1" smtClean="0">
                              <a:latin typeface="Cambria Math" panose="02040503050406030204" pitchFamily="18" charset="0"/>
                              <a:ea typeface="Cambria Math" panose="02040503050406030204" pitchFamily="18" charset="0"/>
                            </a:rPr>
                            <m:t>𝝎</m:t>
                          </m:r>
                        </m:e>
                        <m:sub>
                          <m:r>
                            <a:rPr lang="fr-FR" b="0" i="1" smtClean="0">
                              <a:latin typeface="Cambria Math" panose="02040503050406030204" pitchFamily="18" charset="0"/>
                            </a:rPr>
                            <m:t>𝑑</m:t>
                          </m:r>
                        </m:sub>
                      </m:sSub>
                      <m:r>
                        <a:rPr lang="fr-FR" b="0" i="1" smtClean="0">
                          <a:latin typeface="Cambria Math" panose="02040503050406030204" pitchFamily="18" charset="0"/>
                        </a:rPr>
                        <m:t>−</m:t>
                      </m:r>
                      <m:r>
                        <a:rPr lang="fr-FR" b="1" i="0" smtClean="0">
                          <a:latin typeface="Cambria Math" panose="02040503050406030204" pitchFamily="18" charset="0"/>
                        </a:rPr>
                        <m:t>𝐋</m:t>
                      </m:r>
                      <m:sSub>
                        <m:sSubPr>
                          <m:ctrlPr>
                            <a:rPr lang="fr-FR" b="0" i="1" smtClean="0">
                              <a:latin typeface="Cambria Math" panose="02040503050406030204" pitchFamily="18" charset="0"/>
                            </a:rPr>
                          </m:ctrlPr>
                        </m:sSubPr>
                        <m:e>
                          <m:r>
                            <a:rPr lang="fr-FR" b="1" i="1" smtClean="0">
                              <a:latin typeface="Cambria Math" panose="02040503050406030204" pitchFamily="18" charset="0"/>
                              <a:ea typeface="Cambria Math" panose="02040503050406030204" pitchFamily="18" charset="0"/>
                            </a:rPr>
                            <m:t>𝝎</m:t>
                          </m:r>
                        </m:e>
                        <m:sub>
                          <m:r>
                            <a:rPr lang="fr-FR" b="0" i="1" smtClean="0">
                              <a:latin typeface="Cambria Math" panose="02040503050406030204" pitchFamily="18" charset="0"/>
                            </a:rPr>
                            <m:t>𝑒</m:t>
                          </m:r>
                        </m:sub>
                      </m:sSub>
                    </m:oMath>
                  </m:oMathPara>
                </a14:m>
                <a:endParaRPr lang="en-GB" dirty="0"/>
              </a:p>
              <a:p>
                <a:pPr marL="0" indent="0">
                  <a:buNone/>
                </a:pPr>
                <a:r>
                  <a:rPr lang="en-GB" dirty="0"/>
                  <a:t>With:</a:t>
                </a:r>
              </a:p>
              <a:p>
                <a:pPr marL="0" indent="0">
                  <a:buNone/>
                </a:pPr>
                <a14:m>
                  <m:oMathPara xmlns:m="http://schemas.openxmlformats.org/officeDocument/2006/math">
                    <m:oMathParaPr>
                      <m:jc m:val="centerGroup"/>
                    </m:oMathParaPr>
                    <m:oMath xmlns:m="http://schemas.openxmlformats.org/officeDocument/2006/math">
                      <m:r>
                        <a:rPr lang="fr-FR" b="1" i="0" smtClean="0">
                          <a:latin typeface="Cambria Math" panose="02040503050406030204" pitchFamily="18" charset="0"/>
                        </a:rPr>
                        <m:t>𝐋</m:t>
                      </m:r>
                      <m:r>
                        <a:rPr lang="fr-FR" b="0" i="1" smtClean="0">
                          <a:latin typeface="Cambria Math" panose="02040503050406030204" pitchFamily="18" charset="0"/>
                        </a:rPr>
                        <m:t>=</m:t>
                      </m:r>
                      <m:f>
                        <m:fPr>
                          <m:ctrlPr>
                            <a:rPr lang="fr-FR" b="0" i="1" smtClean="0">
                              <a:latin typeface="Cambria Math" panose="02040503050406030204" pitchFamily="18" charset="0"/>
                            </a:rPr>
                          </m:ctrlPr>
                        </m:fPr>
                        <m:num>
                          <m:r>
                            <a:rPr lang="fr-FR" b="0" i="1" smtClean="0">
                              <a:latin typeface="Cambria Math" panose="02040503050406030204" pitchFamily="18" charset="0"/>
                            </a:rPr>
                            <m:t>−1</m:t>
                          </m:r>
                        </m:num>
                        <m:den>
                          <m:r>
                            <a:rPr lang="fr-FR" b="0" i="1" smtClean="0">
                              <a:latin typeface="Cambria Math" panose="02040503050406030204" pitchFamily="18" charset="0"/>
                            </a:rPr>
                            <m:t>2</m:t>
                          </m:r>
                        </m:den>
                      </m:f>
                      <m:d>
                        <m:dPr>
                          <m:ctrlPr>
                            <a:rPr lang="fr-FR" b="0" i="1" smtClean="0">
                              <a:latin typeface="Cambria Math" panose="02040503050406030204" pitchFamily="18" charset="0"/>
                            </a:rPr>
                          </m:ctrlPr>
                        </m:dPr>
                        <m:e>
                          <m:r>
                            <a:rPr lang="fr-FR" b="1">
                              <a:latin typeface="Cambria Math" panose="02040503050406030204" pitchFamily="18" charset="0"/>
                            </a:rPr>
                            <m:t>𝐒</m:t>
                          </m:r>
                          <m:d>
                            <m:dPr>
                              <m:ctrlPr>
                                <a:rPr lang="fr-FR" i="1">
                                  <a:latin typeface="Cambria Math" panose="02040503050406030204" pitchFamily="18" charset="0"/>
                                </a:rPr>
                              </m:ctrlPr>
                            </m:dPr>
                            <m:e>
                              <m:sSup>
                                <m:sSupPr>
                                  <m:ctrlPr>
                                    <a:rPr lang="fr-FR" i="1">
                                      <a:latin typeface="Cambria Math" panose="02040503050406030204" pitchFamily="18" charset="0"/>
                                    </a:rPr>
                                  </m:ctrlPr>
                                </m:sSupPr>
                                <m:e>
                                  <m:r>
                                    <a:rPr lang="fr-FR" b="1">
                                      <a:latin typeface="Cambria Math" panose="02040503050406030204" pitchFamily="18" charset="0"/>
                                    </a:rPr>
                                    <m:t>𝐧</m:t>
                                  </m:r>
                                </m:e>
                                <m:sup>
                                  <m:r>
                                    <a:rPr lang="fr-FR" i="1">
                                      <a:latin typeface="Cambria Math" panose="02040503050406030204" pitchFamily="18" charset="0"/>
                                    </a:rPr>
                                    <m:t>𝑑</m:t>
                                  </m:r>
                                </m:sup>
                              </m:sSup>
                            </m:e>
                          </m:d>
                          <m:r>
                            <a:rPr lang="fr-FR" b="1">
                              <a:latin typeface="Cambria Math" panose="02040503050406030204" pitchFamily="18" charset="0"/>
                            </a:rPr>
                            <m:t>𝐒</m:t>
                          </m:r>
                          <m:d>
                            <m:dPr>
                              <m:ctrlPr>
                                <a:rPr lang="fr-FR" i="1">
                                  <a:latin typeface="Cambria Math" panose="02040503050406030204" pitchFamily="18" charset="0"/>
                                </a:rPr>
                              </m:ctrlPr>
                            </m:dPr>
                            <m:e>
                              <m:sSup>
                                <m:sSupPr>
                                  <m:ctrlPr>
                                    <a:rPr lang="fr-FR" i="1">
                                      <a:latin typeface="Cambria Math" panose="02040503050406030204" pitchFamily="18" charset="0"/>
                                    </a:rPr>
                                  </m:ctrlPr>
                                </m:sSupPr>
                                <m:e>
                                  <m:r>
                                    <a:rPr lang="fr-FR" b="1">
                                      <a:latin typeface="Cambria Math" panose="02040503050406030204" pitchFamily="18" charset="0"/>
                                    </a:rPr>
                                    <m:t>𝐧</m:t>
                                  </m:r>
                                </m:e>
                                <m:sup>
                                  <m:r>
                                    <a:rPr lang="fr-FR" i="1">
                                      <a:latin typeface="Cambria Math" panose="02040503050406030204" pitchFamily="18" charset="0"/>
                                    </a:rPr>
                                    <m:t>𝑒</m:t>
                                  </m:r>
                                </m:sup>
                              </m:sSup>
                            </m:e>
                          </m:d>
                          <m:r>
                            <a:rPr lang="fr-FR" i="1">
                              <a:latin typeface="Cambria Math" panose="02040503050406030204" pitchFamily="18" charset="0"/>
                            </a:rPr>
                            <m:t>+</m:t>
                          </m:r>
                          <m:r>
                            <a:rPr lang="fr-FR" b="1">
                              <a:latin typeface="Cambria Math" panose="02040503050406030204" pitchFamily="18" charset="0"/>
                            </a:rPr>
                            <m:t>𝐒</m:t>
                          </m:r>
                          <m:d>
                            <m:dPr>
                              <m:ctrlPr>
                                <a:rPr lang="fr-FR" i="1">
                                  <a:latin typeface="Cambria Math" panose="02040503050406030204" pitchFamily="18" charset="0"/>
                                </a:rPr>
                              </m:ctrlPr>
                            </m:dPr>
                            <m:e>
                              <m:sSup>
                                <m:sSupPr>
                                  <m:ctrlPr>
                                    <a:rPr lang="fr-FR" i="1">
                                      <a:latin typeface="Cambria Math" panose="02040503050406030204" pitchFamily="18" charset="0"/>
                                    </a:rPr>
                                  </m:ctrlPr>
                                </m:sSupPr>
                                <m:e>
                                  <m:r>
                                    <a:rPr lang="fr-FR" b="1" i="0" smtClean="0">
                                      <a:latin typeface="Cambria Math" panose="02040503050406030204" pitchFamily="18" charset="0"/>
                                    </a:rPr>
                                    <m:t>𝐬</m:t>
                                  </m:r>
                                </m:e>
                                <m:sup>
                                  <m:r>
                                    <a:rPr lang="fr-FR" i="1">
                                      <a:latin typeface="Cambria Math" panose="02040503050406030204" pitchFamily="18" charset="0"/>
                                    </a:rPr>
                                    <m:t>𝑑</m:t>
                                  </m:r>
                                </m:sup>
                              </m:sSup>
                            </m:e>
                          </m:d>
                          <m:r>
                            <a:rPr lang="fr-FR" b="1">
                              <a:latin typeface="Cambria Math" panose="02040503050406030204" pitchFamily="18" charset="0"/>
                            </a:rPr>
                            <m:t>𝐒</m:t>
                          </m:r>
                          <m:d>
                            <m:dPr>
                              <m:ctrlPr>
                                <a:rPr lang="fr-FR" i="1">
                                  <a:latin typeface="Cambria Math" panose="02040503050406030204" pitchFamily="18" charset="0"/>
                                </a:rPr>
                              </m:ctrlPr>
                            </m:dPr>
                            <m:e>
                              <m:sSup>
                                <m:sSupPr>
                                  <m:ctrlPr>
                                    <a:rPr lang="fr-FR" i="1">
                                      <a:latin typeface="Cambria Math" panose="02040503050406030204" pitchFamily="18" charset="0"/>
                                    </a:rPr>
                                  </m:ctrlPr>
                                </m:sSupPr>
                                <m:e>
                                  <m:r>
                                    <a:rPr lang="fr-FR" b="1" i="0" smtClean="0">
                                      <a:latin typeface="Cambria Math" panose="02040503050406030204" pitchFamily="18" charset="0"/>
                                    </a:rPr>
                                    <m:t>𝐬</m:t>
                                  </m:r>
                                </m:e>
                                <m:sup>
                                  <m:r>
                                    <a:rPr lang="fr-FR" i="1">
                                      <a:latin typeface="Cambria Math" panose="02040503050406030204" pitchFamily="18" charset="0"/>
                                    </a:rPr>
                                    <m:t>𝑒</m:t>
                                  </m:r>
                                </m:sup>
                              </m:sSup>
                            </m:e>
                          </m:d>
                          <m:r>
                            <a:rPr lang="fr-FR" b="0" i="1" smtClean="0">
                              <a:latin typeface="Cambria Math" panose="02040503050406030204" pitchFamily="18" charset="0"/>
                            </a:rPr>
                            <m:t>+</m:t>
                          </m:r>
                          <m:r>
                            <a:rPr lang="fr-FR" b="1">
                              <a:latin typeface="Cambria Math" panose="02040503050406030204" pitchFamily="18" charset="0"/>
                            </a:rPr>
                            <m:t>𝐒</m:t>
                          </m:r>
                          <m:d>
                            <m:dPr>
                              <m:ctrlPr>
                                <a:rPr lang="fr-FR" i="1">
                                  <a:latin typeface="Cambria Math" panose="02040503050406030204" pitchFamily="18" charset="0"/>
                                </a:rPr>
                              </m:ctrlPr>
                            </m:dPr>
                            <m:e>
                              <m:sSup>
                                <m:sSupPr>
                                  <m:ctrlPr>
                                    <a:rPr lang="fr-FR" i="1">
                                      <a:latin typeface="Cambria Math" panose="02040503050406030204" pitchFamily="18" charset="0"/>
                                    </a:rPr>
                                  </m:ctrlPr>
                                </m:sSupPr>
                                <m:e>
                                  <m:r>
                                    <a:rPr lang="fr-FR" b="1" i="0" smtClean="0">
                                      <a:latin typeface="Cambria Math" panose="02040503050406030204" pitchFamily="18" charset="0"/>
                                    </a:rPr>
                                    <m:t>𝐚</m:t>
                                  </m:r>
                                </m:e>
                                <m:sup>
                                  <m:r>
                                    <a:rPr lang="fr-FR" i="1">
                                      <a:latin typeface="Cambria Math" panose="02040503050406030204" pitchFamily="18" charset="0"/>
                                    </a:rPr>
                                    <m:t>𝑑</m:t>
                                  </m:r>
                                </m:sup>
                              </m:sSup>
                            </m:e>
                          </m:d>
                          <m:r>
                            <a:rPr lang="fr-FR" b="1">
                              <a:latin typeface="Cambria Math" panose="02040503050406030204" pitchFamily="18" charset="0"/>
                            </a:rPr>
                            <m:t>𝐒</m:t>
                          </m:r>
                          <m:d>
                            <m:dPr>
                              <m:ctrlPr>
                                <a:rPr lang="fr-FR" i="1">
                                  <a:latin typeface="Cambria Math" panose="02040503050406030204" pitchFamily="18" charset="0"/>
                                </a:rPr>
                              </m:ctrlPr>
                            </m:dPr>
                            <m:e>
                              <m:sSup>
                                <m:sSupPr>
                                  <m:ctrlPr>
                                    <a:rPr lang="fr-FR" i="1">
                                      <a:latin typeface="Cambria Math" panose="02040503050406030204" pitchFamily="18" charset="0"/>
                                    </a:rPr>
                                  </m:ctrlPr>
                                </m:sSupPr>
                                <m:e>
                                  <m:r>
                                    <a:rPr lang="fr-FR" b="1" i="0" smtClean="0">
                                      <a:latin typeface="Cambria Math" panose="02040503050406030204" pitchFamily="18" charset="0"/>
                                    </a:rPr>
                                    <m:t>𝐚</m:t>
                                  </m:r>
                                </m:e>
                                <m:sup>
                                  <m:r>
                                    <a:rPr lang="fr-FR" i="1">
                                      <a:latin typeface="Cambria Math" panose="02040503050406030204" pitchFamily="18" charset="0"/>
                                    </a:rPr>
                                    <m:t>𝑒</m:t>
                                  </m:r>
                                </m:sup>
                              </m:sSup>
                            </m:e>
                          </m:d>
                        </m:e>
                      </m:d>
                    </m:oMath>
                  </m:oMathPara>
                </a14:m>
                <a:endParaRPr lang="en-GB" dirty="0"/>
              </a:p>
              <a:p>
                <a:pPr marL="0" indent="0">
                  <a:buNone/>
                </a:pPr>
                <a:r>
                  <a:rPr lang="fr-FR" b="0" dirty="0"/>
                  <a:t>The matrix </a:t>
                </a:r>
                <a14:m>
                  <m:oMath xmlns:m="http://schemas.openxmlformats.org/officeDocument/2006/math">
                    <m:r>
                      <a:rPr lang="fr-FR" b="1" i="0" smtClean="0">
                        <a:latin typeface="Cambria Math" panose="02040503050406030204" pitchFamily="18" charset="0"/>
                      </a:rPr>
                      <m:t>𝐒</m:t>
                    </m:r>
                  </m:oMath>
                </a14:m>
                <a:r>
                  <a:rPr lang="en-GB" dirty="0"/>
                  <a:t> is defined for a vector </a:t>
                </a:r>
                <a14:m>
                  <m:oMath xmlns:m="http://schemas.openxmlformats.org/officeDocument/2006/math">
                    <m:r>
                      <a:rPr lang="fr-FR" b="1">
                        <a:latin typeface="Cambria Math" panose="02040503050406030204" pitchFamily="18" charset="0"/>
                      </a:rPr>
                      <m:t>𝐧</m:t>
                    </m:r>
                    <m:r>
                      <a:rPr lang="fr-FR" b="1" i="0" smtClean="0">
                        <a:latin typeface="Cambria Math" panose="02040503050406030204" pitchFamily="18" charset="0"/>
                      </a:rPr>
                      <m:t>=</m:t>
                    </m:r>
                    <m:sSup>
                      <m:sSupPr>
                        <m:ctrlPr>
                          <a:rPr lang="fr-FR" b="1" i="1" smtClean="0">
                            <a:latin typeface="Cambria Math" panose="02040503050406030204" pitchFamily="18" charset="0"/>
                          </a:rPr>
                        </m:ctrlPr>
                      </m:sSupPr>
                      <m:e>
                        <m:d>
                          <m:dPr>
                            <m:ctrlPr>
                              <a:rPr lang="fr-FR" b="1" i="1" smtClean="0">
                                <a:latin typeface="Cambria Math" panose="02040503050406030204" pitchFamily="18" charset="0"/>
                              </a:rPr>
                            </m:ctrlPr>
                          </m:dPr>
                          <m:e>
                            <m:m>
                              <m:mPr>
                                <m:mcs>
                                  <m:mc>
                                    <m:mcPr>
                                      <m:count m:val="3"/>
                                      <m:mcJc m:val="center"/>
                                    </m:mcPr>
                                  </m:mc>
                                </m:mcs>
                                <m:ctrlPr>
                                  <a:rPr lang="fr-FR" b="1" i="1" smtClean="0">
                                    <a:latin typeface="Cambria Math" panose="02040503050406030204" pitchFamily="18" charset="0"/>
                                  </a:rPr>
                                </m:ctrlPr>
                              </m:mPr>
                              <m:mr>
                                <m:e>
                                  <m:sSub>
                                    <m:sSubPr>
                                      <m:ctrlPr>
                                        <a:rPr lang="fr-FR" i="1">
                                          <a:latin typeface="Cambria Math" panose="02040503050406030204" pitchFamily="18" charset="0"/>
                                        </a:rPr>
                                      </m:ctrlPr>
                                    </m:sSubPr>
                                    <m:e>
                                      <m:r>
                                        <a:rPr lang="fr-FR" i="1">
                                          <a:latin typeface="Cambria Math" panose="02040503050406030204" pitchFamily="18" charset="0"/>
                                        </a:rPr>
                                        <m:t>𝑛</m:t>
                                      </m:r>
                                    </m:e>
                                    <m:sub>
                                      <m:r>
                                        <a:rPr lang="fr-FR" i="1">
                                          <a:latin typeface="Cambria Math" panose="02040503050406030204" pitchFamily="18" charset="0"/>
                                        </a:rPr>
                                        <m:t>𝑥</m:t>
                                      </m:r>
                                    </m:sub>
                                  </m:sSub>
                                </m:e>
                                <m:e>
                                  <m:sSub>
                                    <m:sSubPr>
                                      <m:ctrlPr>
                                        <a:rPr lang="fr-FR" i="1">
                                          <a:latin typeface="Cambria Math" panose="02040503050406030204" pitchFamily="18" charset="0"/>
                                        </a:rPr>
                                      </m:ctrlPr>
                                    </m:sSubPr>
                                    <m:e>
                                      <m:r>
                                        <a:rPr lang="fr-FR" i="1">
                                          <a:latin typeface="Cambria Math" panose="02040503050406030204" pitchFamily="18" charset="0"/>
                                        </a:rPr>
                                        <m:t>𝑛</m:t>
                                      </m:r>
                                    </m:e>
                                    <m:sub>
                                      <m:r>
                                        <a:rPr lang="fr-FR" b="0" i="1" smtClean="0">
                                          <a:latin typeface="Cambria Math" panose="02040503050406030204" pitchFamily="18" charset="0"/>
                                        </a:rPr>
                                        <m:t>𝑦</m:t>
                                      </m:r>
                                    </m:sub>
                                  </m:sSub>
                                </m:e>
                                <m:e>
                                  <m:sSub>
                                    <m:sSubPr>
                                      <m:ctrlPr>
                                        <a:rPr lang="fr-FR" i="1">
                                          <a:latin typeface="Cambria Math" panose="02040503050406030204" pitchFamily="18" charset="0"/>
                                        </a:rPr>
                                      </m:ctrlPr>
                                    </m:sSubPr>
                                    <m:e>
                                      <m:r>
                                        <a:rPr lang="fr-FR" i="1">
                                          <a:latin typeface="Cambria Math" panose="02040503050406030204" pitchFamily="18" charset="0"/>
                                        </a:rPr>
                                        <m:t>𝑛</m:t>
                                      </m:r>
                                    </m:e>
                                    <m:sub>
                                      <m:r>
                                        <a:rPr lang="fr-FR" b="0" i="1" smtClean="0">
                                          <a:latin typeface="Cambria Math" panose="02040503050406030204" pitchFamily="18" charset="0"/>
                                        </a:rPr>
                                        <m:t>𝑧</m:t>
                                      </m:r>
                                    </m:sub>
                                  </m:sSub>
                                </m:e>
                              </m:mr>
                            </m:m>
                          </m:e>
                        </m:d>
                      </m:e>
                      <m:sup>
                        <m:r>
                          <a:rPr lang="fr-FR" b="1" i="1" smtClean="0">
                            <a:latin typeface="Cambria Math" panose="02040503050406030204" pitchFamily="18" charset="0"/>
                          </a:rPr>
                          <m:t>𝑻</m:t>
                        </m:r>
                      </m:sup>
                    </m:sSup>
                  </m:oMath>
                </a14:m>
                <a:r>
                  <a:rPr lang="en-GB" dirty="0"/>
                  <a:t>  so that :</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fr-FR" b="1">
                          <a:latin typeface="Cambria Math" panose="02040503050406030204" pitchFamily="18" charset="0"/>
                        </a:rPr>
                        <m:t>𝐒</m:t>
                      </m:r>
                      <m:d>
                        <m:dPr>
                          <m:ctrlPr>
                            <a:rPr lang="fr-FR" i="1" smtClean="0">
                              <a:latin typeface="Cambria Math" panose="02040503050406030204" pitchFamily="18" charset="0"/>
                            </a:rPr>
                          </m:ctrlPr>
                        </m:dPr>
                        <m:e>
                          <m:r>
                            <a:rPr lang="fr-FR" b="1" i="0" smtClean="0">
                              <a:latin typeface="Cambria Math" panose="02040503050406030204" pitchFamily="18" charset="0"/>
                            </a:rPr>
                            <m:t>𝐧</m:t>
                          </m:r>
                        </m:e>
                      </m:d>
                      <m:r>
                        <a:rPr lang="fr-FR" b="0" i="1" smtClean="0">
                          <a:latin typeface="Cambria Math" panose="02040503050406030204" pitchFamily="18" charset="0"/>
                        </a:rPr>
                        <m:t>=</m:t>
                      </m:r>
                      <m:d>
                        <m:dPr>
                          <m:ctrlPr>
                            <a:rPr lang="fr-FR" b="0" i="1" smtClean="0">
                              <a:latin typeface="Cambria Math" panose="02040503050406030204" pitchFamily="18" charset="0"/>
                            </a:rPr>
                          </m:ctrlPr>
                        </m:dPr>
                        <m:e>
                          <m:m>
                            <m:mPr>
                              <m:mcs>
                                <m:mc>
                                  <m:mcPr>
                                    <m:count m:val="3"/>
                                    <m:mcJc m:val="center"/>
                                  </m:mcPr>
                                </m:mc>
                              </m:mcs>
                              <m:ctrlPr>
                                <a:rPr lang="fr-FR" b="0" i="1" smtClean="0">
                                  <a:latin typeface="Cambria Math" panose="02040503050406030204" pitchFamily="18" charset="0"/>
                                </a:rPr>
                              </m:ctrlPr>
                            </m:mPr>
                            <m:mr>
                              <m:e>
                                <m:r>
                                  <m:rPr>
                                    <m:brk m:alnAt="7"/>
                                  </m:rPr>
                                  <a:rPr lang="fr-FR" b="0" i="1" smtClean="0">
                                    <a:latin typeface="Cambria Math" panose="02040503050406030204" pitchFamily="18" charset="0"/>
                                  </a:rPr>
                                  <m:t>0</m:t>
                                </m:r>
                              </m:e>
                              <m:e>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𝑛</m:t>
                                    </m:r>
                                  </m:e>
                                  <m:sub>
                                    <m:r>
                                      <a:rPr lang="fr-FR" b="0" i="1" smtClean="0">
                                        <a:latin typeface="Cambria Math" panose="02040503050406030204" pitchFamily="18" charset="0"/>
                                      </a:rPr>
                                      <m:t>𝑧</m:t>
                                    </m:r>
                                  </m:sub>
                                </m:sSub>
                              </m:e>
                              <m:e>
                                <m:sSub>
                                  <m:sSubPr>
                                    <m:ctrlPr>
                                      <a:rPr lang="fr-FR" b="0" i="1" smtClean="0">
                                        <a:latin typeface="Cambria Math" panose="02040503050406030204" pitchFamily="18" charset="0"/>
                                      </a:rPr>
                                    </m:ctrlPr>
                                  </m:sSubPr>
                                  <m:e>
                                    <m:r>
                                      <a:rPr lang="fr-FR" b="0" i="1" smtClean="0">
                                        <a:latin typeface="Cambria Math" panose="02040503050406030204" pitchFamily="18" charset="0"/>
                                      </a:rPr>
                                      <m:t>𝑛</m:t>
                                    </m:r>
                                  </m:e>
                                  <m:sub>
                                    <m:r>
                                      <a:rPr lang="fr-FR" b="0" i="1" smtClean="0">
                                        <a:latin typeface="Cambria Math" panose="02040503050406030204" pitchFamily="18" charset="0"/>
                                      </a:rPr>
                                      <m:t>𝑦</m:t>
                                    </m:r>
                                  </m:sub>
                                </m:sSub>
                              </m:e>
                            </m:mr>
                            <m:mr>
                              <m:e>
                                <m:sSub>
                                  <m:sSubPr>
                                    <m:ctrlPr>
                                      <a:rPr lang="fr-FR" i="1">
                                        <a:latin typeface="Cambria Math" panose="02040503050406030204" pitchFamily="18" charset="0"/>
                                      </a:rPr>
                                    </m:ctrlPr>
                                  </m:sSubPr>
                                  <m:e>
                                    <m:r>
                                      <a:rPr lang="fr-FR" i="1">
                                        <a:latin typeface="Cambria Math" panose="02040503050406030204" pitchFamily="18" charset="0"/>
                                      </a:rPr>
                                      <m:t>𝑛</m:t>
                                    </m:r>
                                  </m:e>
                                  <m:sub>
                                    <m:r>
                                      <a:rPr lang="fr-FR" i="1">
                                        <a:latin typeface="Cambria Math" panose="02040503050406030204" pitchFamily="18" charset="0"/>
                                      </a:rPr>
                                      <m:t>𝑧</m:t>
                                    </m:r>
                                  </m:sub>
                                </m:sSub>
                              </m:e>
                              <m:e>
                                <m:r>
                                  <a:rPr lang="fr-FR" b="0" i="1" smtClean="0">
                                    <a:latin typeface="Cambria Math" panose="02040503050406030204" pitchFamily="18" charset="0"/>
                                  </a:rPr>
                                  <m:t>0</m:t>
                                </m:r>
                              </m:e>
                              <m:e>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𝑛</m:t>
                                    </m:r>
                                  </m:e>
                                  <m:sub>
                                    <m:r>
                                      <a:rPr lang="fr-FR" b="0" i="1" smtClean="0">
                                        <a:latin typeface="Cambria Math" panose="02040503050406030204" pitchFamily="18" charset="0"/>
                                      </a:rPr>
                                      <m:t>𝑥</m:t>
                                    </m:r>
                                  </m:sub>
                                </m:sSub>
                              </m:e>
                            </m:mr>
                            <m:mr>
                              <m:e>
                                <m:r>
                                  <a:rPr lang="fr-FR" b="0" i="1" smtClean="0">
                                    <a:latin typeface="Cambria Math" panose="02040503050406030204" pitchFamily="18" charset="0"/>
                                  </a:rPr>
                                  <m:t>−</m:t>
                                </m:r>
                                <m:sSub>
                                  <m:sSubPr>
                                    <m:ctrlPr>
                                      <a:rPr lang="fr-FR" i="1">
                                        <a:latin typeface="Cambria Math" panose="02040503050406030204" pitchFamily="18" charset="0"/>
                                      </a:rPr>
                                    </m:ctrlPr>
                                  </m:sSubPr>
                                  <m:e>
                                    <m:r>
                                      <a:rPr lang="fr-FR" i="1">
                                        <a:latin typeface="Cambria Math" panose="02040503050406030204" pitchFamily="18" charset="0"/>
                                      </a:rPr>
                                      <m:t>𝑛</m:t>
                                    </m:r>
                                  </m:e>
                                  <m:sub>
                                    <m:r>
                                      <a:rPr lang="fr-FR" i="1">
                                        <a:latin typeface="Cambria Math" panose="02040503050406030204" pitchFamily="18" charset="0"/>
                                      </a:rPr>
                                      <m:t>𝑦</m:t>
                                    </m:r>
                                  </m:sub>
                                </m:sSub>
                              </m:e>
                              <m:e>
                                <m:sSub>
                                  <m:sSubPr>
                                    <m:ctrlPr>
                                      <a:rPr lang="fr-FR" i="1">
                                        <a:latin typeface="Cambria Math" panose="02040503050406030204" pitchFamily="18" charset="0"/>
                                      </a:rPr>
                                    </m:ctrlPr>
                                  </m:sSubPr>
                                  <m:e>
                                    <m:r>
                                      <a:rPr lang="fr-FR" i="1">
                                        <a:latin typeface="Cambria Math" panose="02040503050406030204" pitchFamily="18" charset="0"/>
                                      </a:rPr>
                                      <m:t>𝑛</m:t>
                                    </m:r>
                                  </m:e>
                                  <m:sub>
                                    <m:r>
                                      <a:rPr lang="fr-FR" i="1">
                                        <a:latin typeface="Cambria Math" panose="02040503050406030204" pitchFamily="18" charset="0"/>
                                      </a:rPr>
                                      <m:t>𝑥</m:t>
                                    </m:r>
                                  </m:sub>
                                </m:sSub>
                              </m:e>
                              <m:e>
                                <m:r>
                                  <a:rPr lang="fr-FR" b="0" i="1" smtClean="0">
                                    <a:latin typeface="Cambria Math" panose="02040503050406030204" pitchFamily="18" charset="0"/>
                                  </a:rPr>
                                  <m:t>0</m:t>
                                </m:r>
                              </m:e>
                            </m:mr>
                          </m:m>
                        </m:e>
                      </m:d>
                    </m:oMath>
                  </m:oMathPara>
                </a14:m>
                <a:endParaRPr lang="en-GB" dirty="0"/>
              </a:p>
              <a:p>
                <a:pPr marL="0" indent="0">
                  <a:buNone/>
                </a:pPr>
                <a:r>
                  <a:rPr lang="en-GB" dirty="0"/>
                  <a:t>The control law can be defined as:</a:t>
                </a:r>
              </a:p>
              <a:p>
                <a:pPr marL="0" indent="0">
                  <a:buNone/>
                </a:pPr>
                <a14:m>
                  <m:oMathPara xmlns:m="http://schemas.openxmlformats.org/officeDocument/2006/math">
                    <m:oMathParaPr>
                      <m:jc m:val="centerGroup"/>
                    </m:oMathParaPr>
                    <m:oMath xmlns:m="http://schemas.openxmlformats.org/officeDocument/2006/math">
                      <m:sSup>
                        <m:sSupPr>
                          <m:ctrlPr>
                            <a:rPr lang="fr-FR" b="0" i="1" smtClean="0">
                              <a:latin typeface="Cambria Math" panose="02040503050406030204" pitchFamily="18" charset="0"/>
                            </a:rPr>
                          </m:ctrlPr>
                        </m:sSupPr>
                        <m:e>
                          <m:acc>
                            <m:accPr>
                              <m:chr m:val="̇"/>
                              <m:ctrlPr>
                                <a:rPr lang="en-GB" i="1">
                                  <a:latin typeface="Cambria Math" panose="02040503050406030204" pitchFamily="18" charset="0"/>
                                </a:rPr>
                              </m:ctrlPr>
                            </m:accPr>
                            <m:e>
                              <m:r>
                                <a:rPr lang="fr-FR" b="1">
                                  <a:latin typeface="Cambria Math" panose="02040503050406030204" pitchFamily="18" charset="0"/>
                                </a:rPr>
                                <m:t>𝐪</m:t>
                              </m:r>
                            </m:e>
                          </m:acc>
                        </m:e>
                        <m:sup>
                          <m:r>
                            <a:rPr lang="fr-FR" b="0" i="1" smtClean="0">
                              <a:latin typeface="Cambria Math" panose="02040503050406030204" pitchFamily="18" charset="0"/>
                            </a:rPr>
                            <m:t>𝑑</m:t>
                          </m:r>
                        </m:sup>
                      </m:sSup>
                      <m:r>
                        <a:rPr lang="fr-FR" b="0" i="1" smtClean="0">
                          <a:latin typeface="Cambria Math" panose="02040503050406030204" pitchFamily="18" charset="0"/>
                        </a:rPr>
                        <m:t>=</m:t>
                      </m:r>
                      <m:sSup>
                        <m:sSupPr>
                          <m:ctrlPr>
                            <a:rPr lang="fr-FR" b="0" i="1" smtClean="0">
                              <a:latin typeface="Cambria Math" panose="02040503050406030204" pitchFamily="18" charset="0"/>
                            </a:rPr>
                          </m:ctrlPr>
                        </m:sSupPr>
                        <m:e>
                          <m:r>
                            <a:rPr lang="fr-FR" b="1" i="0" smtClean="0">
                              <a:latin typeface="Cambria Math" panose="02040503050406030204" pitchFamily="18" charset="0"/>
                            </a:rPr>
                            <m:t>𝐉</m:t>
                          </m:r>
                        </m:e>
                        <m:sup>
                          <m:r>
                            <a:rPr lang="fr-FR" b="0" i="1" smtClean="0">
                              <a:latin typeface="Cambria Math" panose="02040503050406030204" pitchFamily="18" charset="0"/>
                            </a:rPr>
                            <m:t>−1</m:t>
                          </m:r>
                        </m:sup>
                      </m:sSup>
                      <m:r>
                        <a:rPr lang="fr-FR" b="0" i="1" smtClean="0">
                          <a:latin typeface="Cambria Math" panose="02040503050406030204" pitchFamily="18" charset="0"/>
                        </a:rPr>
                        <m:t>(</m:t>
                      </m:r>
                      <m:r>
                        <a:rPr lang="fr-FR" b="1" i="0" smtClean="0">
                          <a:latin typeface="Cambria Math" panose="02040503050406030204" pitchFamily="18" charset="0"/>
                        </a:rPr>
                        <m:t>𝐪</m:t>
                      </m:r>
                      <m:r>
                        <a:rPr lang="fr-FR" b="0" i="1" smtClean="0">
                          <a:latin typeface="Cambria Math" panose="02040503050406030204" pitchFamily="18" charset="0"/>
                        </a:rPr>
                        <m:t>)</m:t>
                      </m:r>
                      <m:d>
                        <m:dPr>
                          <m:begChr m:val="["/>
                          <m:endChr m:val="]"/>
                          <m:ctrlPr>
                            <a:rPr lang="fr-FR" b="0" i="1" smtClean="0">
                              <a:latin typeface="Cambria Math" panose="02040503050406030204" pitchFamily="18" charset="0"/>
                            </a:rPr>
                          </m:ctrlPr>
                        </m:dPr>
                        <m:e>
                          <m:m>
                            <m:mPr>
                              <m:mcs>
                                <m:mc>
                                  <m:mcPr>
                                    <m:count m:val="1"/>
                                    <m:mcJc m:val="center"/>
                                  </m:mcPr>
                                </m:mc>
                              </m:mcs>
                              <m:ctrlPr>
                                <a:rPr lang="fr-FR" b="0" i="1" smtClean="0">
                                  <a:latin typeface="Cambria Math" panose="02040503050406030204" pitchFamily="18" charset="0"/>
                                </a:rPr>
                              </m:ctrlPr>
                            </m:mPr>
                            <m:mr>
                              <m:e>
                                <m:sSup>
                                  <m:sSupPr>
                                    <m:ctrlPr>
                                      <a:rPr lang="fr-FR" b="1" i="1">
                                        <a:latin typeface="Cambria Math" panose="02040503050406030204" pitchFamily="18" charset="0"/>
                                      </a:rPr>
                                    </m:ctrlPr>
                                  </m:sSupPr>
                                  <m:e>
                                    <m:acc>
                                      <m:accPr>
                                        <m:chr m:val="̇"/>
                                        <m:ctrlPr>
                                          <a:rPr lang="fr-FR" b="1" i="1">
                                            <a:latin typeface="Cambria Math" panose="02040503050406030204" pitchFamily="18" charset="0"/>
                                          </a:rPr>
                                        </m:ctrlPr>
                                      </m:accPr>
                                      <m:e>
                                        <m:r>
                                          <a:rPr lang="fr-FR" b="1">
                                            <a:latin typeface="Cambria Math" panose="02040503050406030204" pitchFamily="18" charset="0"/>
                                          </a:rPr>
                                          <m:t>𝐱</m:t>
                                        </m:r>
                                      </m:e>
                                    </m:acc>
                                  </m:e>
                                  <m:sup>
                                    <m:r>
                                      <a:rPr lang="fr-FR" b="1" i="1">
                                        <a:latin typeface="Cambria Math" panose="02040503050406030204" pitchFamily="18" charset="0"/>
                                      </a:rPr>
                                      <m:t>𝒅</m:t>
                                    </m:r>
                                  </m:sup>
                                </m:sSup>
                                <m:r>
                                  <m:rPr>
                                    <m:brk m:alnAt="7"/>
                                  </m:rPr>
                                  <a:rPr lang="fr-FR" b="1" i="1">
                                    <a:latin typeface="Cambria Math" panose="02040503050406030204" pitchFamily="18" charset="0"/>
                                  </a:rPr>
                                  <m:t>+</m:t>
                                </m:r>
                                <m:sSub>
                                  <m:sSubPr>
                                    <m:ctrlPr>
                                      <a:rPr lang="fr-FR" b="1" i="1">
                                        <a:latin typeface="Cambria Math" panose="02040503050406030204" pitchFamily="18" charset="0"/>
                                      </a:rPr>
                                    </m:ctrlPr>
                                  </m:sSubPr>
                                  <m:e>
                                    <m:r>
                                      <a:rPr lang="fr-FR" b="1">
                                        <a:latin typeface="Cambria Math" panose="02040503050406030204" pitchFamily="18" charset="0"/>
                                      </a:rPr>
                                      <m:t>𝐊</m:t>
                                    </m:r>
                                  </m:e>
                                  <m:sub>
                                    <m:r>
                                      <a:rPr lang="fr-FR" i="1">
                                        <a:latin typeface="Cambria Math" panose="02040503050406030204" pitchFamily="18" charset="0"/>
                                      </a:rPr>
                                      <m:t>𝑝</m:t>
                                    </m:r>
                                  </m:sub>
                                </m:sSub>
                                <m:sSub>
                                  <m:sSubPr>
                                    <m:ctrlPr>
                                      <a:rPr lang="fr-FR" b="1" i="1">
                                        <a:latin typeface="Cambria Math" panose="02040503050406030204" pitchFamily="18" charset="0"/>
                                      </a:rPr>
                                    </m:ctrlPr>
                                  </m:sSubPr>
                                  <m:e>
                                    <m:r>
                                      <a:rPr lang="fr-FR" b="1" i="1">
                                        <a:latin typeface="Cambria Math" panose="02040503050406030204" pitchFamily="18" charset="0"/>
                                      </a:rPr>
                                      <m:t>𝒆</m:t>
                                    </m:r>
                                  </m:e>
                                  <m:sub>
                                    <m:r>
                                      <a:rPr lang="fr-FR" i="1">
                                        <a:latin typeface="Cambria Math" panose="02040503050406030204" pitchFamily="18" charset="0"/>
                                      </a:rPr>
                                      <m:t>𝑝</m:t>
                                    </m:r>
                                  </m:sub>
                                </m:sSub>
                              </m:e>
                            </m:mr>
                            <m:mr>
                              <m:e>
                                <m:sSup>
                                  <m:sSupPr>
                                    <m:ctrlPr>
                                      <a:rPr lang="fr-FR" b="0" i="1" smtClean="0">
                                        <a:latin typeface="Cambria Math" panose="02040503050406030204" pitchFamily="18" charset="0"/>
                                      </a:rPr>
                                    </m:ctrlPr>
                                  </m:sSupPr>
                                  <m:e>
                                    <m:r>
                                      <a:rPr lang="fr-FR" b="1" i="0" smtClean="0">
                                        <a:latin typeface="Cambria Math" panose="02040503050406030204" pitchFamily="18" charset="0"/>
                                      </a:rPr>
                                      <m:t>𝐋</m:t>
                                    </m:r>
                                  </m:e>
                                  <m:sup>
                                    <m:r>
                                      <a:rPr lang="fr-FR" b="0" i="1" smtClean="0">
                                        <a:latin typeface="Cambria Math" panose="02040503050406030204" pitchFamily="18" charset="0"/>
                                      </a:rPr>
                                      <m:t>−1</m:t>
                                    </m:r>
                                  </m:sup>
                                </m:sSup>
                                <m:d>
                                  <m:dPr>
                                    <m:ctrlPr>
                                      <a:rPr lang="fr-FR" b="0" i="1" smtClean="0">
                                        <a:latin typeface="Cambria Math" panose="02040503050406030204" pitchFamily="18" charset="0"/>
                                      </a:rPr>
                                    </m:ctrlPr>
                                  </m:dPr>
                                  <m:e>
                                    <m:sSup>
                                      <m:sSupPr>
                                        <m:ctrlPr>
                                          <a:rPr lang="fr-FR" b="0" i="1" smtClean="0">
                                            <a:latin typeface="Cambria Math" panose="02040503050406030204" pitchFamily="18" charset="0"/>
                                          </a:rPr>
                                        </m:ctrlPr>
                                      </m:sSupPr>
                                      <m:e>
                                        <m:r>
                                          <a:rPr lang="fr-FR" b="1" i="0" smtClean="0">
                                            <a:latin typeface="Cambria Math" panose="02040503050406030204" pitchFamily="18" charset="0"/>
                                          </a:rPr>
                                          <m:t>𝐋</m:t>
                                        </m:r>
                                      </m:e>
                                      <m:sup>
                                        <m:r>
                                          <a:rPr lang="fr-FR" b="0" i="1" smtClean="0">
                                            <a:latin typeface="Cambria Math" panose="02040503050406030204" pitchFamily="18" charset="0"/>
                                          </a:rPr>
                                          <m:t>𝑇</m:t>
                                        </m:r>
                                      </m:sup>
                                    </m:sSup>
                                    <m:sSub>
                                      <m:sSubPr>
                                        <m:ctrlPr>
                                          <a:rPr lang="fr-FR" i="1">
                                            <a:latin typeface="Cambria Math" panose="02040503050406030204" pitchFamily="18" charset="0"/>
                                          </a:rPr>
                                        </m:ctrlPr>
                                      </m:sSubPr>
                                      <m:e>
                                        <m:r>
                                          <a:rPr lang="fr-FR" b="1" i="1">
                                            <a:latin typeface="Cambria Math" panose="02040503050406030204" pitchFamily="18" charset="0"/>
                                            <a:ea typeface="Cambria Math" panose="02040503050406030204" pitchFamily="18" charset="0"/>
                                          </a:rPr>
                                          <m:t>𝝎</m:t>
                                        </m:r>
                                      </m:e>
                                      <m:sub>
                                        <m:r>
                                          <a:rPr lang="fr-FR" i="1">
                                            <a:latin typeface="Cambria Math" panose="02040503050406030204" pitchFamily="18" charset="0"/>
                                          </a:rPr>
                                          <m:t>𝑑</m:t>
                                        </m:r>
                                      </m:sub>
                                    </m:sSub>
                                    <m:r>
                                      <a:rPr lang="fr-FR" b="0" i="1" smtClean="0">
                                        <a:latin typeface="Cambria Math" panose="02040503050406030204" pitchFamily="18" charset="0"/>
                                      </a:rPr>
                                      <m:t>+</m:t>
                                    </m:r>
                                    <m:sSub>
                                      <m:sSubPr>
                                        <m:ctrlPr>
                                          <a:rPr lang="fr-FR" b="1" i="1">
                                            <a:latin typeface="Cambria Math" panose="02040503050406030204" pitchFamily="18" charset="0"/>
                                          </a:rPr>
                                        </m:ctrlPr>
                                      </m:sSubPr>
                                      <m:e>
                                        <m:r>
                                          <a:rPr lang="fr-FR" b="1">
                                            <a:latin typeface="Cambria Math" panose="02040503050406030204" pitchFamily="18" charset="0"/>
                                          </a:rPr>
                                          <m:t>𝐊</m:t>
                                        </m:r>
                                      </m:e>
                                      <m:sub>
                                        <m:r>
                                          <a:rPr lang="fr-FR" b="0" i="1" smtClean="0">
                                            <a:latin typeface="Cambria Math" panose="02040503050406030204" pitchFamily="18" charset="0"/>
                                          </a:rPr>
                                          <m:t>𝑂</m:t>
                                        </m:r>
                                      </m:sub>
                                    </m:sSub>
                                    <m:sSub>
                                      <m:sSubPr>
                                        <m:ctrlPr>
                                          <a:rPr lang="fr-FR" b="1" i="1">
                                            <a:latin typeface="Cambria Math" panose="02040503050406030204" pitchFamily="18" charset="0"/>
                                          </a:rPr>
                                        </m:ctrlPr>
                                      </m:sSubPr>
                                      <m:e>
                                        <m:r>
                                          <a:rPr lang="fr-FR" b="1" i="1">
                                            <a:latin typeface="Cambria Math" panose="02040503050406030204" pitchFamily="18" charset="0"/>
                                          </a:rPr>
                                          <m:t>𝒆</m:t>
                                        </m:r>
                                      </m:e>
                                      <m:sub>
                                        <m:r>
                                          <a:rPr lang="fr-FR" b="0" i="1" smtClean="0">
                                            <a:latin typeface="Cambria Math" panose="02040503050406030204" pitchFamily="18" charset="0"/>
                                          </a:rPr>
                                          <m:t>𝑂</m:t>
                                        </m:r>
                                      </m:sub>
                                    </m:sSub>
                                  </m:e>
                                </m:d>
                              </m:e>
                            </m:mr>
                          </m:m>
                        </m:e>
                      </m:d>
                    </m:oMath>
                  </m:oMathPara>
                </a14:m>
                <a:endParaRPr lang="en-GB" dirty="0"/>
              </a:p>
              <a:p>
                <a:pPr marL="0" indent="0">
                  <a:buNone/>
                </a:pPr>
                <a:r>
                  <a:rPr lang="fr-FR" dirty="0" err="1"/>
                  <a:t>With</a:t>
                </a:r>
                <a:r>
                  <a:rPr lang="fr-FR" dirty="0"/>
                  <a:t>: </a:t>
                </a:r>
                <a14:m>
                  <m:oMath xmlns:m="http://schemas.openxmlformats.org/officeDocument/2006/math">
                    <m:sSub>
                      <m:sSubPr>
                        <m:ctrlPr>
                          <a:rPr lang="fr-FR" i="1">
                            <a:latin typeface="Cambria Math" panose="02040503050406030204" pitchFamily="18" charset="0"/>
                          </a:rPr>
                        </m:ctrlPr>
                      </m:sSubPr>
                      <m:e>
                        <m:r>
                          <a:rPr lang="fr-FR" b="1" i="1">
                            <a:latin typeface="Cambria Math" panose="02040503050406030204" pitchFamily="18" charset="0"/>
                            <a:ea typeface="Cambria Math" panose="02040503050406030204" pitchFamily="18" charset="0"/>
                          </a:rPr>
                          <m:t>𝝎</m:t>
                        </m:r>
                      </m:e>
                      <m:sub>
                        <m:r>
                          <a:rPr lang="fr-FR" i="1">
                            <a:latin typeface="Cambria Math" panose="02040503050406030204" pitchFamily="18" charset="0"/>
                          </a:rPr>
                          <m:t>𝑑</m:t>
                        </m:r>
                      </m:sub>
                    </m:sSub>
                    <m:r>
                      <a:rPr lang="fr-FR" b="0" i="1" smtClean="0">
                        <a:latin typeface="Cambria Math" panose="02040503050406030204" pitchFamily="18" charset="0"/>
                      </a:rPr>
                      <m:t>=</m:t>
                    </m:r>
                    <m:sSup>
                      <m:sSupPr>
                        <m:ctrlPr>
                          <a:rPr lang="en-GB" i="1">
                            <a:latin typeface="Cambria Math" panose="02040503050406030204" pitchFamily="18" charset="0"/>
                          </a:rPr>
                        </m:ctrlPr>
                      </m:sSupPr>
                      <m:e>
                        <m:r>
                          <a:rPr lang="en-GB" b="1">
                            <a:latin typeface="Cambria Math" panose="02040503050406030204" pitchFamily="18" charset="0"/>
                          </a:rPr>
                          <m:t>𝐑</m:t>
                        </m:r>
                      </m:e>
                      <m:sup>
                        <m:r>
                          <m:rPr>
                            <m:sty m:val="p"/>
                          </m:rPr>
                          <a:rPr lang="en-GB">
                            <a:latin typeface="Cambria Math"/>
                          </a:rPr>
                          <m:t>i</m:t>
                        </m:r>
                      </m:sup>
                    </m:sSup>
                    <m:r>
                      <a:rPr lang="fr-FR" b="0" i="1" smtClean="0">
                        <a:latin typeface="Cambria Math" panose="02040503050406030204" pitchFamily="18" charset="0"/>
                      </a:rPr>
                      <m:t> </m:t>
                    </m:r>
                    <m:acc>
                      <m:accPr>
                        <m:chr m:val="̇"/>
                        <m:ctrlPr>
                          <a:rPr lang="en-GB" i="1" smtClean="0">
                            <a:latin typeface="Cambria Math" panose="02040503050406030204" pitchFamily="18" charset="0"/>
                          </a:rPr>
                        </m:ctrlPr>
                      </m:accPr>
                      <m:e>
                        <m:r>
                          <m:rPr>
                            <m:sty m:val="p"/>
                          </m:rPr>
                          <a:rPr lang="fr-FR" b="0" i="0" smtClean="0">
                            <a:latin typeface="Cambria Math" panose="02040503050406030204" pitchFamily="18" charset="0"/>
                          </a:rPr>
                          <m:t>r</m:t>
                        </m:r>
                        <m:r>
                          <a:rPr lang="fr-FR" b="0" i="1" smtClean="0">
                            <a:latin typeface="Cambria Math" panose="02040503050406030204" pitchFamily="18" charset="0"/>
                          </a:rPr>
                          <m:t> </m:t>
                        </m:r>
                      </m:e>
                    </m:acc>
                    <m:d>
                      <m:dPr>
                        <m:ctrlPr>
                          <a:rPr lang="fr-FR" b="0" i="1" smtClean="0">
                            <a:latin typeface="Cambria Math" panose="02040503050406030204" pitchFamily="18" charset="0"/>
                          </a:rPr>
                        </m:ctrlPr>
                      </m:dPr>
                      <m:e>
                        <m:r>
                          <a:rPr lang="fr-FR" b="0" i="1" smtClean="0">
                            <a:latin typeface="Cambria Math" panose="02040503050406030204" pitchFamily="18" charset="0"/>
                          </a:rPr>
                          <m:t>𝑡</m:t>
                        </m:r>
                      </m:e>
                    </m:d>
                    <m:r>
                      <a:rPr lang="fr-FR" b="0" i="1" smtClean="0">
                        <a:latin typeface="Cambria Math" panose="02040503050406030204" pitchFamily="18" charset="0"/>
                      </a:rPr>
                      <m:t> </m:t>
                    </m:r>
                    <m:r>
                      <a:rPr lang="en-GB" i="1">
                        <a:latin typeface="Cambria Math" panose="02040503050406030204" pitchFamily="18" charset="0"/>
                        <a:ea typeface="Cambria Math" panose="02040503050406030204" pitchFamily="18" charset="0"/>
                      </a:rPr>
                      <m:t>𝜗</m:t>
                    </m:r>
                    <m:r>
                      <a:rPr lang="fr-FR" b="0" i="1" smtClean="0">
                        <a:latin typeface="Cambria Math" panose="02040503050406030204" pitchFamily="18" charset="0"/>
                        <a:ea typeface="Cambria Math" panose="02040503050406030204" pitchFamily="18" charset="0"/>
                      </a:rPr>
                      <m:t> </m:t>
                    </m:r>
                    <m:r>
                      <a:rPr lang="en-GB" b="1">
                        <a:latin typeface="Cambria Math"/>
                      </a:rPr>
                      <m:t>𝐮</m:t>
                    </m:r>
                  </m:oMath>
                </a14:m>
                <a:endParaRPr lang="en-GB" dirty="0"/>
              </a:p>
              <a:p>
                <a:pPr marL="0" indent="0">
                  <a:buNone/>
                </a:pPr>
                <a:r>
                  <a:rPr lang="en-GB" dirty="0"/>
                  <a:t>It is worth remarking that this control law works better than the one using Euler angles since it uses the geometric Jacobian instead of the analytical Jacobian, thus avoiding the occurrence of representation singularities  </a:t>
                </a:r>
              </a:p>
            </p:txBody>
          </p:sp>
        </mc:Choice>
        <mc:Fallback xmlns="">
          <p:sp>
            <p:nvSpPr>
              <p:cNvPr id="2" name="Espace réservé du contenu 1">
                <a:extLst>
                  <a:ext uri="{FF2B5EF4-FFF2-40B4-BE49-F238E27FC236}">
                    <a16:creationId xmlns:a16="http://schemas.microsoft.com/office/drawing/2014/main" id="{CB639A20-05E1-C04B-858B-8BADFD8DAA4D}"/>
                  </a:ext>
                </a:extLst>
              </p:cNvPr>
              <p:cNvSpPr>
                <a:spLocks noGrp="1" noRot="1" noChangeAspect="1" noMove="1" noResize="1" noEditPoints="1" noAdjustHandles="1" noChangeArrowheads="1" noChangeShapeType="1" noTextEdit="1"/>
              </p:cNvSpPr>
              <p:nvPr>
                <p:ph sz="quarter" idx="1"/>
              </p:nvPr>
            </p:nvSpPr>
            <p:spPr>
              <a:blipFill>
                <a:blip r:embed="rId2"/>
                <a:stretch>
                  <a:fillRect l="-608" t="-460"/>
                </a:stretch>
              </a:blipFill>
            </p:spPr>
            <p:txBody>
              <a:bodyPr/>
              <a:lstStyle/>
              <a:p>
                <a:r>
                  <a:rPr lang="fr-FR">
                    <a:noFill/>
                  </a:rPr>
                  <a:t> </a:t>
                </a:r>
              </a:p>
            </p:txBody>
          </p:sp>
        </mc:Fallback>
      </mc:AlternateContent>
      <p:sp>
        <p:nvSpPr>
          <p:cNvPr id="4" name="Titre 2">
            <a:extLst>
              <a:ext uri="{FF2B5EF4-FFF2-40B4-BE49-F238E27FC236}">
                <a16:creationId xmlns:a16="http://schemas.microsoft.com/office/drawing/2014/main" id="{8058D9E8-8535-9647-B5E2-77ECC1770E8D}"/>
              </a:ext>
            </a:extLst>
          </p:cNvPr>
          <p:cNvSpPr>
            <a:spLocks noGrp="1"/>
          </p:cNvSpPr>
          <p:nvPr>
            <p:ph type="title"/>
          </p:nvPr>
        </p:nvSpPr>
        <p:spPr>
          <a:xfrm>
            <a:off x="300790" y="0"/>
            <a:ext cx="8229600" cy="785812"/>
          </a:xfrm>
        </p:spPr>
        <p:txBody>
          <a:bodyPr/>
          <a:lstStyle/>
          <a:p>
            <a:r>
              <a:rPr lang="en-GB" sz="2400" dirty="0"/>
              <a:t>Pose control in operational space - orientation error using angle and axis</a:t>
            </a:r>
            <a:endParaRPr lang="fr-FR" sz="2400" dirty="0"/>
          </a:p>
        </p:txBody>
      </p:sp>
    </p:spTree>
    <p:extLst>
      <p:ext uri="{BB962C8B-B14F-4D97-AF65-F5344CB8AC3E}">
        <p14:creationId xmlns:p14="http://schemas.microsoft.com/office/powerpoint/2010/main" val="27329709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a:extLst>
                  <a:ext uri="{FF2B5EF4-FFF2-40B4-BE49-F238E27FC236}">
                    <a16:creationId xmlns:a16="http://schemas.microsoft.com/office/drawing/2014/main" id="{054620F7-B0D7-8941-BFDF-DCF4031A1C39}"/>
                  </a:ext>
                </a:extLst>
              </p:cNvPr>
              <p:cNvSpPr>
                <a:spLocks noGrp="1"/>
              </p:cNvSpPr>
              <p:nvPr>
                <p:ph sz="quarter" idx="1"/>
              </p:nvPr>
            </p:nvSpPr>
            <p:spPr/>
            <p:txBody>
              <a:bodyPr/>
              <a:lstStyle/>
              <a:p>
                <a:r>
                  <a:rPr lang="en-GB" dirty="0"/>
                  <a:t>The computation of the inverse or pseudo-inverse of the Jacobian is possible if and only if the Jacobian has full rank.</a:t>
                </a:r>
              </a:p>
              <a:p>
                <a:endParaRPr lang="en-GB" dirty="0"/>
              </a:p>
              <a:p>
                <a:r>
                  <a:rPr lang="en-GB" dirty="0"/>
                  <a:t>In the case of a singularity (rank deficient), the system </a:t>
                </a:r>
                <a14:m>
                  <m:oMath xmlns:m="http://schemas.openxmlformats.org/officeDocument/2006/math">
                    <m:r>
                      <a:rPr lang="fr-FR" i="1">
                        <a:latin typeface="Cambria Math"/>
                        <a:ea typeface="Cambria Math"/>
                      </a:rPr>
                      <m:t>𝕍</m:t>
                    </m:r>
                  </m:oMath>
                </a14:m>
                <a:r>
                  <a:rPr lang="en-GB" dirty="0"/>
                  <a:t>=</a:t>
                </a:r>
                <a:r>
                  <a:rPr lang="fr-FR" b="1" dirty="0"/>
                  <a:t> </a:t>
                </a:r>
                <a14:m>
                  <m:oMath xmlns:m="http://schemas.openxmlformats.org/officeDocument/2006/math">
                    <m:r>
                      <a:rPr lang="fr-FR" b="1">
                        <a:latin typeface="Cambria Math"/>
                      </a:rPr>
                      <m:t>𝐉</m:t>
                    </m:r>
                    <m:acc>
                      <m:accPr>
                        <m:chr m:val="̇"/>
                        <m:ctrlPr>
                          <a:rPr lang="fr-FR" b="1" i="1">
                            <a:latin typeface="Cambria Math" panose="02040503050406030204" pitchFamily="18" charset="0"/>
                          </a:rPr>
                        </m:ctrlPr>
                      </m:accPr>
                      <m:e>
                        <m:r>
                          <a:rPr lang="fr-FR" b="1">
                            <a:latin typeface="Cambria Math"/>
                          </a:rPr>
                          <m:t> </m:t>
                        </m:r>
                        <m:r>
                          <a:rPr lang="fr-FR" b="1">
                            <a:latin typeface="Cambria Math"/>
                          </a:rPr>
                          <m:t>𝐪</m:t>
                        </m:r>
                      </m:e>
                    </m:acc>
                  </m:oMath>
                </a14:m>
                <a:r>
                  <a:rPr lang="en-GB" dirty="0"/>
                  <a:t> contains linear dependent equations</a:t>
                </a:r>
              </a:p>
              <a:p>
                <a:endParaRPr lang="en-GB" dirty="0"/>
              </a:p>
              <a:p>
                <a:r>
                  <a:rPr lang="en-GB" dirty="0"/>
                  <a:t>Solution (damped least square inverse):</a:t>
                </a:r>
              </a:p>
              <a:p>
                <a:pPr marL="0" indent="0">
                  <a:buNone/>
                </a:pPr>
                <a14:m>
                  <m:oMathPara xmlns:m="http://schemas.openxmlformats.org/officeDocument/2006/math">
                    <m:oMathParaPr>
                      <m:jc m:val="centerGroup"/>
                    </m:oMathParaPr>
                    <m:oMath xmlns:m="http://schemas.openxmlformats.org/officeDocument/2006/math">
                      <m:sSup>
                        <m:sSupPr>
                          <m:ctrlPr>
                            <a:rPr lang="en-GB" i="1" smtClean="0">
                              <a:latin typeface="Cambria Math" panose="02040503050406030204" pitchFamily="18" charset="0"/>
                            </a:rPr>
                          </m:ctrlPr>
                        </m:sSupPr>
                        <m:e>
                          <m:r>
                            <a:rPr lang="fr-FR" b="1" i="0" smtClean="0">
                              <a:latin typeface="Cambria Math" panose="02040503050406030204" pitchFamily="18" charset="0"/>
                            </a:rPr>
                            <m:t>𝐉</m:t>
                          </m:r>
                        </m:e>
                        <m:sup>
                          <m:r>
                            <a:rPr lang="fr-FR" b="0" i="1" smtClean="0">
                              <a:latin typeface="Cambria Math" panose="02040503050406030204" pitchFamily="18" charset="0"/>
                            </a:rPr>
                            <m:t>∗</m:t>
                          </m:r>
                        </m:sup>
                      </m:sSup>
                      <m:r>
                        <a:rPr lang="fr-FR" b="0" i="1" smtClean="0">
                          <a:latin typeface="Cambria Math" panose="02040503050406030204" pitchFamily="18" charset="0"/>
                        </a:rPr>
                        <m:t>=</m:t>
                      </m:r>
                      <m:sSup>
                        <m:sSupPr>
                          <m:ctrlPr>
                            <a:rPr lang="fr-FR" b="0" i="1" smtClean="0">
                              <a:latin typeface="Cambria Math" panose="02040503050406030204" pitchFamily="18" charset="0"/>
                            </a:rPr>
                          </m:ctrlPr>
                        </m:sSupPr>
                        <m:e>
                          <m:r>
                            <a:rPr lang="fr-FR" b="1" i="0" smtClean="0">
                              <a:latin typeface="Cambria Math" panose="02040503050406030204" pitchFamily="18" charset="0"/>
                            </a:rPr>
                            <m:t>𝐉</m:t>
                          </m:r>
                        </m:e>
                        <m:sup>
                          <m:r>
                            <a:rPr lang="fr-FR" b="0" i="1" smtClean="0">
                              <a:latin typeface="Cambria Math" panose="02040503050406030204" pitchFamily="18" charset="0"/>
                            </a:rPr>
                            <m:t>𝑇</m:t>
                          </m:r>
                        </m:sup>
                      </m:sSup>
                      <m:sSup>
                        <m:sSupPr>
                          <m:ctrlPr>
                            <a:rPr lang="fr-FR" b="0" i="1" smtClean="0">
                              <a:latin typeface="Cambria Math" panose="02040503050406030204" pitchFamily="18" charset="0"/>
                            </a:rPr>
                          </m:ctrlPr>
                        </m:sSupPr>
                        <m:e>
                          <m:d>
                            <m:dPr>
                              <m:ctrlPr>
                                <a:rPr lang="fr-FR" b="0" i="1" smtClean="0">
                                  <a:latin typeface="Cambria Math" panose="02040503050406030204" pitchFamily="18" charset="0"/>
                                </a:rPr>
                              </m:ctrlPr>
                            </m:dPr>
                            <m:e>
                              <m:r>
                                <a:rPr lang="fr-FR" b="1" i="0" smtClean="0">
                                  <a:latin typeface="Cambria Math" panose="02040503050406030204" pitchFamily="18" charset="0"/>
                                </a:rPr>
                                <m:t>𝐉</m:t>
                              </m:r>
                              <m:r>
                                <a:rPr lang="fr-FR" b="1" i="0" smtClean="0">
                                  <a:latin typeface="Cambria Math" panose="02040503050406030204" pitchFamily="18" charset="0"/>
                                </a:rPr>
                                <m:t> </m:t>
                              </m:r>
                              <m:sSup>
                                <m:sSupPr>
                                  <m:ctrlPr>
                                    <a:rPr lang="fr-FR" b="1" i="1" smtClean="0">
                                      <a:latin typeface="Cambria Math" panose="02040503050406030204" pitchFamily="18" charset="0"/>
                                    </a:rPr>
                                  </m:ctrlPr>
                                </m:sSupPr>
                                <m:e>
                                  <m:r>
                                    <a:rPr lang="fr-FR" b="1" i="0" smtClean="0">
                                      <a:latin typeface="Cambria Math" panose="02040503050406030204" pitchFamily="18" charset="0"/>
                                    </a:rPr>
                                    <m:t>𝐉</m:t>
                                  </m:r>
                                </m:e>
                                <m:sup>
                                  <m:r>
                                    <m:rPr>
                                      <m:sty m:val="p"/>
                                    </m:rPr>
                                    <a:rPr lang="fr-FR" b="0" i="0" smtClean="0">
                                      <a:latin typeface="Cambria Math" panose="02040503050406030204" pitchFamily="18" charset="0"/>
                                    </a:rPr>
                                    <m:t>T</m:t>
                                  </m:r>
                                </m:sup>
                              </m:sSup>
                              <m:r>
                                <a:rPr lang="fr-FR" b="0" i="1" smtClean="0">
                                  <a:latin typeface="Cambria Math" panose="02040503050406030204" pitchFamily="18" charset="0"/>
                                </a:rPr>
                                <m:t>+</m:t>
                              </m:r>
                              <m:sSup>
                                <m:sSupPr>
                                  <m:ctrlPr>
                                    <a:rPr lang="fr-FR" b="0" i="1" smtClean="0">
                                      <a:latin typeface="Cambria Math" panose="02040503050406030204" pitchFamily="18" charset="0"/>
                                    </a:rPr>
                                  </m:ctrlPr>
                                </m:sSupPr>
                                <m:e>
                                  <m:r>
                                    <a:rPr lang="fr-FR" b="0" i="1" smtClean="0">
                                      <a:latin typeface="Cambria Math" panose="02040503050406030204" pitchFamily="18" charset="0"/>
                                    </a:rPr>
                                    <m:t>𝑘</m:t>
                                  </m:r>
                                </m:e>
                                <m:sup>
                                  <m:r>
                                    <a:rPr lang="fr-FR" b="0" i="1" smtClean="0">
                                      <a:latin typeface="Cambria Math" panose="02040503050406030204" pitchFamily="18" charset="0"/>
                                    </a:rPr>
                                    <m:t>2</m:t>
                                  </m:r>
                                </m:sup>
                              </m:sSup>
                              <m:r>
                                <a:rPr lang="fr-FR" b="1" i="0" smtClean="0">
                                  <a:latin typeface="Cambria Math" panose="02040503050406030204" pitchFamily="18" charset="0"/>
                                </a:rPr>
                                <m:t>𝐈</m:t>
                              </m:r>
                            </m:e>
                          </m:d>
                        </m:e>
                        <m:sup>
                          <m:r>
                            <a:rPr lang="fr-FR" b="0" i="1" smtClean="0">
                              <a:latin typeface="Cambria Math" panose="02040503050406030204" pitchFamily="18" charset="0"/>
                            </a:rPr>
                            <m:t>−1</m:t>
                          </m:r>
                        </m:sup>
                      </m:sSup>
                    </m:oMath>
                  </m:oMathPara>
                </a14:m>
                <a:endParaRPr lang="en-GB" dirty="0"/>
              </a:p>
              <a:p>
                <a:pPr marL="0" indent="0">
                  <a:buNone/>
                </a:pPr>
                <a:r>
                  <a:rPr lang="en-GB" dirty="0"/>
                  <a:t>Where k is a damping factor that renders the inversion better conditioned from a numerical viewpoint. </a:t>
                </a:r>
              </a:p>
              <a:p>
                <a:endParaRPr lang="en-GB" dirty="0"/>
              </a:p>
              <a:p>
                <a:endParaRPr lang="en-GB" dirty="0"/>
              </a:p>
            </p:txBody>
          </p:sp>
        </mc:Choice>
        <mc:Fallback xmlns="">
          <p:sp>
            <p:nvSpPr>
              <p:cNvPr id="2" name="Espace réservé du contenu 1">
                <a:extLst>
                  <a:ext uri="{FF2B5EF4-FFF2-40B4-BE49-F238E27FC236}">
                    <a16:creationId xmlns:a16="http://schemas.microsoft.com/office/drawing/2014/main" id="{054620F7-B0D7-8941-BFDF-DCF4031A1C39}"/>
                  </a:ext>
                </a:extLst>
              </p:cNvPr>
              <p:cNvSpPr>
                <a:spLocks noGrp="1" noRot="1" noChangeAspect="1" noMove="1" noResize="1" noEditPoints="1" noAdjustHandles="1" noChangeArrowheads="1" noChangeShapeType="1" noTextEdit="1"/>
              </p:cNvSpPr>
              <p:nvPr>
                <p:ph sz="quarter" idx="1"/>
              </p:nvPr>
            </p:nvSpPr>
            <p:spPr>
              <a:blipFill>
                <a:blip r:embed="rId2"/>
                <a:stretch>
                  <a:fillRect l="-608" t="-460"/>
                </a:stretch>
              </a:blipFill>
            </p:spPr>
            <p:txBody>
              <a:bodyPr/>
              <a:lstStyle/>
              <a:p>
                <a:r>
                  <a:rPr lang="fr-FR">
                    <a:noFill/>
                  </a:rPr>
                  <a:t> </a:t>
                </a:r>
              </a:p>
            </p:txBody>
          </p:sp>
        </mc:Fallback>
      </mc:AlternateContent>
      <p:sp>
        <p:nvSpPr>
          <p:cNvPr id="4" name="Titre 2">
            <a:extLst>
              <a:ext uri="{FF2B5EF4-FFF2-40B4-BE49-F238E27FC236}">
                <a16:creationId xmlns:a16="http://schemas.microsoft.com/office/drawing/2014/main" id="{B8C21E85-9D64-FA48-8AA1-B7F3F08A133C}"/>
              </a:ext>
            </a:extLst>
          </p:cNvPr>
          <p:cNvSpPr>
            <a:spLocks noGrp="1"/>
          </p:cNvSpPr>
          <p:nvPr>
            <p:ph type="title"/>
          </p:nvPr>
        </p:nvSpPr>
        <p:spPr>
          <a:xfrm>
            <a:off x="300790" y="0"/>
            <a:ext cx="8229600" cy="785812"/>
          </a:xfrm>
        </p:spPr>
        <p:txBody>
          <a:bodyPr/>
          <a:lstStyle/>
          <a:p>
            <a:r>
              <a:rPr lang="en-GB" dirty="0"/>
              <a:t>Kinematic singularities</a:t>
            </a:r>
          </a:p>
        </p:txBody>
      </p:sp>
    </p:spTree>
    <p:extLst>
      <p:ext uri="{BB962C8B-B14F-4D97-AF65-F5344CB8AC3E}">
        <p14:creationId xmlns:p14="http://schemas.microsoft.com/office/powerpoint/2010/main" val="17176567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a:extLst>
                  <a:ext uri="{FF2B5EF4-FFF2-40B4-BE49-F238E27FC236}">
                    <a16:creationId xmlns:a16="http://schemas.microsoft.com/office/drawing/2014/main" id="{F6EC7095-B12F-3848-8E05-4D47E86579C6}"/>
                  </a:ext>
                </a:extLst>
              </p:cNvPr>
              <p:cNvSpPr>
                <a:spLocks noGrp="1"/>
              </p:cNvSpPr>
              <p:nvPr>
                <p:ph sz="quarter" idx="1"/>
              </p:nvPr>
            </p:nvSpPr>
            <p:spPr/>
            <p:txBody>
              <a:bodyPr/>
              <a:lstStyle/>
              <a:p>
                <a:r>
                  <a:rPr lang="en-GB" dirty="0"/>
                  <a:t>To determine the singularities of the robot, it is enough to solve the equation </a:t>
                </a:r>
                <a14:m>
                  <m:oMath xmlns:m="http://schemas.openxmlformats.org/officeDocument/2006/math">
                    <m:r>
                      <a:rPr lang="en-GB" i="1">
                        <a:latin typeface="Cambria Math" panose="02040503050406030204" pitchFamily="18" charset="0"/>
                      </a:rPr>
                      <m:t>𝑑𝑒𝑡</m:t>
                    </m:r>
                    <m:d>
                      <m:dPr>
                        <m:ctrlPr>
                          <a:rPr lang="en-GB" b="1" i="1">
                            <a:latin typeface="Cambria Math" panose="02040503050406030204" pitchFamily="18" charset="0"/>
                          </a:rPr>
                        </m:ctrlPr>
                      </m:dPr>
                      <m:e>
                        <m:r>
                          <a:rPr lang="en-GB" b="1" i="0">
                            <a:latin typeface="Cambria Math" panose="02040503050406030204" pitchFamily="18" charset="0"/>
                          </a:rPr>
                          <m:t>𝐉</m:t>
                        </m:r>
                      </m:e>
                    </m:d>
                    <m:r>
                      <a:rPr lang="en-GB" b="1" i="1">
                        <a:latin typeface="Cambria Math" panose="02040503050406030204" pitchFamily="18" charset="0"/>
                      </a:rPr>
                      <m:t>=</m:t>
                    </m:r>
                    <m:r>
                      <a:rPr lang="en-GB" i="1">
                        <a:latin typeface="Cambria Math" panose="02040503050406030204" pitchFamily="18" charset="0"/>
                      </a:rPr>
                      <m:t>0</m:t>
                    </m:r>
                  </m:oMath>
                </a14:m>
                <a:r>
                  <a:rPr lang="en-GB" dirty="0"/>
                  <a:t> =&gt; rank deficient of the matrix </a:t>
                </a:r>
                <a14:m>
                  <m:oMath xmlns:m="http://schemas.openxmlformats.org/officeDocument/2006/math">
                    <m:r>
                      <a:rPr lang="en-GB" b="1" i="0" dirty="0" smtClean="0">
                        <a:latin typeface="Cambria Math" panose="02040503050406030204" pitchFamily="18" charset="0"/>
                      </a:rPr>
                      <m:t>𝐉</m:t>
                    </m:r>
                  </m:oMath>
                </a14:m>
                <a:endParaRPr lang="en-GB" b="1" dirty="0"/>
              </a:p>
              <a:p>
                <a:pPr marL="0" indent="0">
                  <a:buNone/>
                </a:pPr>
                <a:endParaRPr lang="en-GB" b="1" dirty="0"/>
              </a:p>
              <a:p>
                <a:pPr marL="0" indent="0">
                  <a:buNone/>
                </a:pPr>
                <a:r>
                  <a:rPr lang="en-GB" b="1" dirty="0"/>
                  <a:t>Example:</a:t>
                </a:r>
                <a:r>
                  <a:rPr lang="en-GB" dirty="0"/>
                  <a:t> robot 2 DOF</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1">
                          <a:latin typeface="Cambria Math" panose="02040503050406030204" pitchFamily="18" charset="0"/>
                        </a:rPr>
                        <m:t>𝐉</m:t>
                      </m:r>
                      <m:r>
                        <a:rPr lang="fr-FR" b="1" i="0" smtClean="0">
                          <a:latin typeface="Cambria Math" panose="02040503050406030204" pitchFamily="18" charset="0"/>
                        </a:rPr>
                        <m:t>=</m:t>
                      </m:r>
                      <m:sSub>
                        <m:sSubPr>
                          <m:ctrlPr>
                            <a:rPr lang="en-GB" i="1" dirty="0" smtClean="0">
                              <a:latin typeface="Cambria Math" panose="02040503050406030204" pitchFamily="18" charset="0"/>
                            </a:rPr>
                          </m:ctrlPr>
                        </m:sSubPr>
                        <m:e>
                          <m:r>
                            <a:rPr lang="fr-FR" b="1" i="0" dirty="0" smtClean="0">
                              <a:latin typeface="Cambria Math" panose="02040503050406030204" pitchFamily="18" charset="0"/>
                            </a:rPr>
                            <m:t>𝐉</m:t>
                          </m:r>
                        </m:e>
                        <m:sub>
                          <m:r>
                            <a:rPr lang="fr-FR" b="0" i="1" dirty="0" smtClean="0">
                              <a:latin typeface="Cambria Math" panose="02040503050406030204" pitchFamily="18" charset="0"/>
                            </a:rPr>
                            <m:t>𝐴</m:t>
                          </m:r>
                        </m:sub>
                      </m:sSub>
                      <m:r>
                        <a:rPr lang="en-GB" b="1">
                          <a:latin typeface="Cambria Math" panose="02040503050406030204" pitchFamily="18" charset="0"/>
                        </a:rPr>
                        <m:t>=</m:t>
                      </m:r>
                      <m:d>
                        <m:dPr>
                          <m:ctrlPr>
                            <a:rPr lang="en-GB" i="1">
                              <a:latin typeface="Cambria Math" panose="02040503050406030204" pitchFamily="18" charset="0"/>
                            </a:rPr>
                          </m:ctrlPr>
                        </m:dPr>
                        <m:e>
                          <m:m>
                            <m:mPr>
                              <m:mcs>
                                <m:mc>
                                  <m:mcPr>
                                    <m:count m:val="2"/>
                                    <m:mcJc m:val="center"/>
                                  </m:mcPr>
                                </m:mc>
                              </m:mcs>
                              <m:ctrlPr>
                                <a:rPr lang="en-GB" i="1">
                                  <a:latin typeface="Cambria Math" panose="02040503050406030204" pitchFamily="18" charset="0"/>
                                </a:rPr>
                              </m:ctrlPr>
                            </m:mPr>
                            <m:m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1</m:t>
                                    </m:r>
                                  </m:sub>
                                </m:sSub>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sin</m:t>
                                    </m:r>
                                  </m:fName>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e>
                                </m:func>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2</m:t>
                                    </m:r>
                                  </m:sub>
                                </m:sSub>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sin</m:t>
                                    </m:r>
                                  </m:fName>
                                  <m:e>
                                    <m:d>
                                      <m:dPr>
                                        <m:ctrlPr>
                                          <a:rPr lang="en-GB" i="1">
                                            <a:latin typeface="Cambria Math" panose="02040503050406030204" pitchFamily="18" charset="0"/>
                                            <a:ea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2</m:t>
                                            </m:r>
                                          </m:sub>
                                        </m:sSub>
                                      </m:e>
                                    </m:d>
                                  </m:e>
                                </m:func>
                              </m:e>
                              <m:e>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2</m:t>
                                    </m:r>
                                  </m:sub>
                                </m:sSub>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sin</m:t>
                                    </m:r>
                                  </m:fName>
                                  <m:e>
                                    <m:d>
                                      <m:dPr>
                                        <m:ctrlPr>
                                          <a:rPr lang="en-GB" i="1">
                                            <a:latin typeface="Cambria Math" panose="02040503050406030204" pitchFamily="18" charset="0"/>
                                            <a:ea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2</m:t>
                                            </m:r>
                                          </m:sub>
                                        </m:sSub>
                                      </m:e>
                                    </m:d>
                                  </m:e>
                                </m:func>
                              </m:e>
                            </m:mr>
                            <m:m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1</m:t>
                                    </m:r>
                                  </m:sub>
                                </m:sSub>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cos</m:t>
                                    </m:r>
                                  </m:fName>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e>
                                </m:func>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2</m:t>
                                    </m:r>
                                  </m:sub>
                                </m:sSub>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cos</m:t>
                                    </m:r>
                                  </m:fName>
                                  <m:e>
                                    <m:d>
                                      <m:dPr>
                                        <m:ctrlPr>
                                          <a:rPr lang="en-GB" i="1">
                                            <a:latin typeface="Cambria Math" panose="02040503050406030204" pitchFamily="18" charset="0"/>
                                            <a:ea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2</m:t>
                                            </m:r>
                                          </m:sub>
                                        </m:sSub>
                                      </m:e>
                                    </m:d>
                                  </m:e>
                                </m:func>
                              </m:e>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2</m:t>
                                    </m:r>
                                  </m:sub>
                                </m:sSub>
                                <m:func>
                                  <m:funcPr>
                                    <m:ctrlPr>
                                      <a:rPr lang="en-GB" i="1">
                                        <a:latin typeface="Cambria Math" panose="02040503050406030204" pitchFamily="18" charset="0"/>
                                        <a:ea typeface="Cambria Math" panose="02040503050406030204" pitchFamily="18" charset="0"/>
                                      </a:rPr>
                                    </m:ctrlPr>
                                  </m:funcPr>
                                  <m:fName>
                                    <m:r>
                                      <m:rPr>
                                        <m:sty m:val="p"/>
                                      </m:rPr>
                                      <a:rPr lang="en-GB">
                                        <a:latin typeface="Cambria Math" panose="02040503050406030204" pitchFamily="18" charset="0"/>
                                        <a:ea typeface="Cambria Math" panose="02040503050406030204" pitchFamily="18" charset="0"/>
                                      </a:rPr>
                                      <m:t>cos</m:t>
                                    </m:r>
                                  </m:fName>
                                  <m:e>
                                    <m:d>
                                      <m:dPr>
                                        <m:ctrlPr>
                                          <a:rPr lang="en-GB" i="1">
                                            <a:latin typeface="Cambria Math" panose="02040503050406030204" pitchFamily="18" charset="0"/>
                                            <a:ea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𝜃</m:t>
                                            </m:r>
                                          </m:e>
                                          <m:sub>
                                            <m:r>
                                              <a:rPr lang="en-GB" i="1">
                                                <a:latin typeface="Cambria Math" panose="02040503050406030204" pitchFamily="18" charset="0"/>
                                                <a:ea typeface="Cambria Math" panose="02040503050406030204" pitchFamily="18" charset="0"/>
                                              </a:rPr>
                                              <m:t>2</m:t>
                                            </m:r>
                                          </m:sub>
                                        </m:sSub>
                                      </m:e>
                                    </m:d>
                                  </m:e>
                                </m:func>
                              </m:e>
                            </m:mr>
                          </m:m>
                        </m:e>
                      </m:d>
                    </m:oMath>
                  </m:oMathPara>
                </a14:m>
                <a:endParaRPr lang="en-GB" i="1" dirty="0"/>
              </a:p>
              <a:p>
                <a:pPr marL="0" indent="0">
                  <a:buNone/>
                </a:pPr>
                <a:endParaRPr lang="en-GB" dirty="0"/>
              </a:p>
              <a:p>
                <a:pPr marL="0" indent="0">
                  <a:buNone/>
                </a:pPr>
                <a:r>
                  <a:rPr lang="en-GB" dirty="0"/>
                  <a:t>Let’s define:</a:t>
                </a:r>
              </a:p>
              <a:p>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𝑆</m:t>
                        </m:r>
                      </m:e>
                      <m:sub>
                        <m:r>
                          <a:rPr lang="en-GB" i="1">
                            <a:latin typeface="Cambria Math" panose="02040503050406030204" pitchFamily="18" charset="0"/>
                          </a:rPr>
                          <m:t>1</m:t>
                        </m:r>
                      </m:sub>
                    </m:sSub>
                    <m:r>
                      <a:rPr lang="en-GB" i="1">
                        <a:latin typeface="Cambria Math" panose="02040503050406030204" pitchFamily="18" charset="0"/>
                      </a:rPr>
                      <m:t>=</m:t>
                    </m:r>
                    <m:func>
                      <m:funcPr>
                        <m:ctrlPr>
                          <a:rPr lang="en-GB" i="1">
                            <a:latin typeface="Cambria Math" panose="02040503050406030204" pitchFamily="18" charset="0"/>
                          </a:rPr>
                        </m:ctrlPr>
                      </m:funcPr>
                      <m:fName>
                        <m:r>
                          <m:rPr>
                            <m:sty m:val="p"/>
                          </m:rPr>
                          <a:rPr lang="en-GB">
                            <a:latin typeface="Cambria Math" panose="02040503050406030204" pitchFamily="18" charset="0"/>
                          </a:rPr>
                          <m:t>sin</m:t>
                        </m:r>
                      </m:fName>
                      <m:e>
                        <m:sSub>
                          <m:sSubPr>
                            <m:ctrlPr>
                              <a:rPr lang="en-GB" i="1">
                                <a:latin typeface="Cambria Math" panose="02040503050406030204" pitchFamily="18" charset="0"/>
                              </a:rPr>
                            </m:ctrlPr>
                          </m:sSubPr>
                          <m:e>
                            <m:r>
                              <a:rPr lang="en-GB" i="1">
                                <a:latin typeface="Cambria Math" panose="02040503050406030204" pitchFamily="18" charset="0"/>
                              </a:rPr>
                              <m:t>𝜃</m:t>
                            </m:r>
                          </m:e>
                          <m:sub>
                            <m:r>
                              <a:rPr lang="en-GB" i="1">
                                <a:latin typeface="Cambria Math" panose="02040503050406030204" pitchFamily="18" charset="0"/>
                              </a:rPr>
                              <m:t>1</m:t>
                            </m:r>
                          </m:sub>
                        </m:sSub>
                      </m:e>
                    </m:func>
                  </m:oMath>
                </a14:m>
                <a:endParaRPr lang="en-GB" dirty="0"/>
              </a:p>
              <a:p>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𝐶</m:t>
                        </m:r>
                      </m:e>
                      <m:sub>
                        <m:r>
                          <a:rPr lang="en-GB" i="1">
                            <a:latin typeface="Cambria Math" panose="02040503050406030204" pitchFamily="18" charset="0"/>
                          </a:rPr>
                          <m:t>1</m:t>
                        </m:r>
                      </m:sub>
                    </m:sSub>
                    <m:r>
                      <a:rPr lang="en-GB" i="1">
                        <a:latin typeface="Cambria Math" panose="02040503050406030204" pitchFamily="18" charset="0"/>
                      </a:rPr>
                      <m:t>=</m:t>
                    </m:r>
                    <m:func>
                      <m:funcPr>
                        <m:ctrlPr>
                          <a:rPr lang="en-GB" i="1">
                            <a:latin typeface="Cambria Math" panose="02040503050406030204" pitchFamily="18" charset="0"/>
                          </a:rPr>
                        </m:ctrlPr>
                      </m:funcPr>
                      <m:fName>
                        <m:r>
                          <m:rPr>
                            <m:sty m:val="p"/>
                          </m:rPr>
                          <a:rPr lang="en-GB">
                            <a:latin typeface="Cambria Math" panose="02040503050406030204" pitchFamily="18" charset="0"/>
                          </a:rPr>
                          <m:t>cos</m:t>
                        </m:r>
                      </m:fName>
                      <m:e>
                        <m:sSub>
                          <m:sSubPr>
                            <m:ctrlPr>
                              <a:rPr lang="en-GB" i="1">
                                <a:latin typeface="Cambria Math" panose="02040503050406030204" pitchFamily="18" charset="0"/>
                              </a:rPr>
                            </m:ctrlPr>
                          </m:sSubPr>
                          <m:e>
                            <m:r>
                              <a:rPr lang="en-GB" i="1">
                                <a:latin typeface="Cambria Math" panose="02040503050406030204" pitchFamily="18" charset="0"/>
                              </a:rPr>
                              <m:t>𝜃</m:t>
                            </m:r>
                          </m:e>
                          <m:sub>
                            <m:r>
                              <a:rPr lang="en-GB" i="1">
                                <a:latin typeface="Cambria Math" panose="02040503050406030204" pitchFamily="18" charset="0"/>
                              </a:rPr>
                              <m:t>1</m:t>
                            </m:r>
                          </m:sub>
                        </m:sSub>
                      </m:e>
                    </m:func>
                  </m:oMath>
                </a14:m>
                <a:endParaRPr lang="en-GB" dirty="0"/>
              </a:p>
              <a:p>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𝑆</m:t>
                        </m:r>
                      </m:e>
                      <m:sub>
                        <m:r>
                          <a:rPr lang="en-GB" i="1">
                            <a:latin typeface="Cambria Math" panose="02040503050406030204" pitchFamily="18" charset="0"/>
                          </a:rPr>
                          <m:t>12</m:t>
                        </m:r>
                      </m:sub>
                    </m:sSub>
                    <m:r>
                      <a:rPr lang="en-GB" i="1">
                        <a:latin typeface="Cambria Math" panose="02040503050406030204" pitchFamily="18" charset="0"/>
                      </a:rPr>
                      <m:t>=</m:t>
                    </m:r>
                    <m:func>
                      <m:funcPr>
                        <m:ctrlPr>
                          <a:rPr lang="en-GB" i="1">
                            <a:latin typeface="Cambria Math" panose="02040503050406030204" pitchFamily="18" charset="0"/>
                          </a:rPr>
                        </m:ctrlPr>
                      </m:funcPr>
                      <m:fName>
                        <m:r>
                          <m:rPr>
                            <m:sty m:val="p"/>
                          </m:rPr>
                          <a:rPr lang="en-GB">
                            <a:latin typeface="Cambria Math" panose="02040503050406030204" pitchFamily="18" charset="0"/>
                          </a:rPr>
                          <m:t>sin</m:t>
                        </m:r>
                      </m:fName>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𝜃</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𝜃</m:t>
                                </m:r>
                              </m:e>
                              <m:sub>
                                <m:r>
                                  <a:rPr lang="en-GB" i="1">
                                    <a:latin typeface="Cambria Math" panose="02040503050406030204" pitchFamily="18" charset="0"/>
                                  </a:rPr>
                                  <m:t>2</m:t>
                                </m:r>
                              </m:sub>
                            </m:sSub>
                          </m:e>
                        </m:d>
                      </m:e>
                    </m:func>
                  </m:oMath>
                </a14:m>
                <a:endParaRPr lang="en-GB" dirty="0"/>
              </a:p>
              <a:p>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𝐶</m:t>
                        </m:r>
                      </m:e>
                      <m:sub>
                        <m:r>
                          <a:rPr lang="en-GB" i="1">
                            <a:latin typeface="Cambria Math" panose="02040503050406030204" pitchFamily="18" charset="0"/>
                          </a:rPr>
                          <m:t>12</m:t>
                        </m:r>
                      </m:sub>
                    </m:sSub>
                    <m:r>
                      <a:rPr lang="en-GB" i="1">
                        <a:latin typeface="Cambria Math" panose="02040503050406030204" pitchFamily="18" charset="0"/>
                      </a:rPr>
                      <m:t>=</m:t>
                    </m:r>
                    <m:func>
                      <m:funcPr>
                        <m:ctrlPr>
                          <a:rPr lang="en-GB" i="1">
                            <a:latin typeface="Cambria Math" panose="02040503050406030204" pitchFamily="18" charset="0"/>
                          </a:rPr>
                        </m:ctrlPr>
                      </m:funcPr>
                      <m:fName>
                        <m:r>
                          <m:rPr>
                            <m:sty m:val="p"/>
                          </m:rPr>
                          <a:rPr lang="en-GB">
                            <a:latin typeface="Cambria Math" panose="02040503050406030204" pitchFamily="18" charset="0"/>
                          </a:rPr>
                          <m:t>cos</m:t>
                        </m:r>
                      </m:fName>
                      <m:e>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𝜃</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𝜃</m:t>
                                </m:r>
                              </m:e>
                              <m:sub>
                                <m:r>
                                  <a:rPr lang="en-GB" i="1">
                                    <a:latin typeface="Cambria Math" panose="02040503050406030204" pitchFamily="18" charset="0"/>
                                  </a:rPr>
                                  <m:t>2</m:t>
                                </m:r>
                              </m:sub>
                            </m:sSub>
                          </m:e>
                        </m:d>
                      </m:e>
                    </m:func>
                  </m:oMath>
                </a14:m>
                <a:endParaRPr lang="en-GB" i="1" dirty="0"/>
              </a:p>
              <a:p>
                <a:endParaRPr lang="en-GB" i="1" dirty="0"/>
              </a:p>
              <a:p>
                <a:pPr marL="0" indent="0">
                  <a:buNone/>
                </a:pPr>
                <a14:m>
                  <m:oMathPara xmlns:m="http://schemas.openxmlformats.org/officeDocument/2006/math">
                    <m:oMathParaPr>
                      <m:jc m:val="centerGroup"/>
                    </m:oMathParaPr>
                    <m:oMath xmlns:m="http://schemas.openxmlformats.org/officeDocument/2006/math">
                      <m:r>
                        <a:rPr lang="en-GB" b="1">
                          <a:latin typeface="Cambria Math" panose="02040503050406030204" pitchFamily="18" charset="0"/>
                        </a:rPr>
                        <m:t>𝐉</m:t>
                      </m:r>
                      <m:r>
                        <a:rPr lang="en-GB" b="1">
                          <a:latin typeface="Cambria Math" panose="02040503050406030204" pitchFamily="18" charset="0"/>
                        </a:rPr>
                        <m:t>=</m:t>
                      </m:r>
                      <m:d>
                        <m:dPr>
                          <m:ctrlPr>
                            <a:rPr lang="en-GB" i="1">
                              <a:latin typeface="Cambria Math" panose="02040503050406030204" pitchFamily="18" charset="0"/>
                            </a:rPr>
                          </m:ctrlPr>
                        </m:dPr>
                        <m:e>
                          <m:m>
                            <m:mPr>
                              <m:mcs>
                                <m:mc>
                                  <m:mcPr>
                                    <m:count m:val="2"/>
                                    <m:mcJc m:val="center"/>
                                  </m:mcPr>
                                </m:mc>
                              </m:mcs>
                              <m:ctrlPr>
                                <a:rPr lang="en-GB" i="1">
                                  <a:latin typeface="Cambria Math" panose="02040503050406030204" pitchFamily="18" charset="0"/>
                                </a:rPr>
                              </m:ctrlPr>
                            </m:mPr>
                            <m:m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1</m:t>
                                    </m:r>
                                  </m:sub>
                                </m:sSub>
                                <m:sSub>
                                  <m:sSubPr>
                                    <m:ctrlPr>
                                      <a:rPr lang="en-GB" i="1">
                                        <a:latin typeface="Cambria Math" panose="02040503050406030204" pitchFamily="18" charset="0"/>
                                      </a:rPr>
                                    </m:ctrlPr>
                                  </m:sSubPr>
                                  <m:e>
                                    <m:r>
                                      <a:rPr lang="en-GB" i="1">
                                        <a:latin typeface="Cambria Math" panose="02040503050406030204" pitchFamily="18" charset="0"/>
                                      </a:rPr>
                                      <m:t>𝑆</m:t>
                                    </m:r>
                                  </m:e>
                                  <m:sub>
                                    <m:r>
                                      <a:rPr lang="en-GB" i="1">
                                        <a:latin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2</m:t>
                                    </m:r>
                                  </m:sub>
                                </m:sSub>
                                <m:sSub>
                                  <m:sSubPr>
                                    <m:ctrlPr>
                                      <a:rPr lang="en-GB" i="1">
                                        <a:latin typeface="Cambria Math" panose="02040503050406030204" pitchFamily="18" charset="0"/>
                                      </a:rPr>
                                    </m:ctrlPr>
                                  </m:sSubPr>
                                  <m:e>
                                    <m:r>
                                      <a:rPr lang="en-GB" i="1">
                                        <a:latin typeface="Cambria Math" panose="02040503050406030204" pitchFamily="18" charset="0"/>
                                      </a:rPr>
                                      <m:t>𝑆</m:t>
                                    </m:r>
                                  </m:e>
                                  <m:sub>
                                    <m:r>
                                      <a:rPr lang="en-GB" i="1">
                                        <a:latin typeface="Cambria Math" panose="02040503050406030204" pitchFamily="18" charset="0"/>
                                      </a:rPr>
                                      <m:t>1</m:t>
                                    </m:r>
                                    <m:r>
                                      <a:rPr lang="en-GB" b="0" i="1" smtClean="0">
                                        <a:latin typeface="Cambria Math" panose="02040503050406030204" pitchFamily="18" charset="0"/>
                                      </a:rPr>
                                      <m:t>2</m:t>
                                    </m:r>
                                  </m:sub>
                                </m:sSub>
                              </m:e>
                              <m:e>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2</m:t>
                                    </m:r>
                                  </m:sub>
                                </m:sSub>
                                <m:sSub>
                                  <m:sSubPr>
                                    <m:ctrlPr>
                                      <a:rPr lang="en-GB" i="1">
                                        <a:latin typeface="Cambria Math" panose="02040503050406030204" pitchFamily="18" charset="0"/>
                                      </a:rPr>
                                    </m:ctrlPr>
                                  </m:sSubPr>
                                  <m:e>
                                    <m:r>
                                      <a:rPr lang="en-GB" i="1">
                                        <a:latin typeface="Cambria Math" panose="02040503050406030204" pitchFamily="18" charset="0"/>
                                      </a:rPr>
                                      <m:t>𝑆</m:t>
                                    </m:r>
                                  </m:e>
                                  <m:sub>
                                    <m:r>
                                      <a:rPr lang="en-GB" i="1">
                                        <a:latin typeface="Cambria Math" panose="02040503050406030204" pitchFamily="18" charset="0"/>
                                      </a:rPr>
                                      <m:t>1</m:t>
                                    </m:r>
                                    <m:r>
                                      <a:rPr lang="en-GB" b="0" i="1" smtClean="0">
                                        <a:latin typeface="Cambria Math" panose="02040503050406030204" pitchFamily="18" charset="0"/>
                                      </a:rPr>
                                      <m:t>2</m:t>
                                    </m:r>
                                  </m:sub>
                                </m:sSub>
                              </m:e>
                            </m:mr>
                            <m:mr>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1</m:t>
                                    </m:r>
                                  </m:sub>
                                </m:sSub>
                                <m:sSub>
                                  <m:sSubPr>
                                    <m:ctrlPr>
                                      <a:rPr lang="en-GB" i="1">
                                        <a:latin typeface="Cambria Math" panose="02040503050406030204" pitchFamily="18" charset="0"/>
                                      </a:rPr>
                                    </m:ctrlPr>
                                  </m:sSubPr>
                                  <m:e>
                                    <m:r>
                                      <a:rPr lang="en-GB" i="1">
                                        <a:latin typeface="Cambria Math" panose="02040503050406030204" pitchFamily="18" charset="0"/>
                                      </a:rPr>
                                      <m:t>𝐶</m:t>
                                    </m:r>
                                  </m:e>
                                  <m:sub>
                                    <m:r>
                                      <a:rPr lang="en-GB" i="1">
                                        <a:latin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2</m:t>
                                    </m:r>
                                  </m:sub>
                                </m:sSub>
                                <m:sSub>
                                  <m:sSubPr>
                                    <m:ctrlPr>
                                      <a:rPr lang="en-GB" i="1">
                                        <a:latin typeface="Cambria Math" panose="02040503050406030204" pitchFamily="18" charset="0"/>
                                      </a:rPr>
                                    </m:ctrlPr>
                                  </m:sSubPr>
                                  <m:e>
                                    <m:r>
                                      <a:rPr lang="en-GB" i="1">
                                        <a:latin typeface="Cambria Math" panose="02040503050406030204" pitchFamily="18" charset="0"/>
                                      </a:rPr>
                                      <m:t>𝐶</m:t>
                                    </m:r>
                                  </m:e>
                                  <m:sub>
                                    <m:r>
                                      <a:rPr lang="en-GB" i="1">
                                        <a:latin typeface="Cambria Math" panose="02040503050406030204" pitchFamily="18" charset="0"/>
                                      </a:rPr>
                                      <m:t>1</m:t>
                                    </m:r>
                                    <m:r>
                                      <a:rPr lang="en-GB" b="0" i="1" smtClean="0">
                                        <a:latin typeface="Cambria Math" panose="02040503050406030204" pitchFamily="18" charset="0"/>
                                      </a:rPr>
                                      <m:t>2</m:t>
                                    </m:r>
                                  </m:sub>
                                </m:sSub>
                              </m:e>
                              <m:e>
                                <m:sSub>
                                  <m:sSubPr>
                                    <m:ctrlPr>
                                      <a:rPr lang="en-GB" i="1">
                                        <a:latin typeface="Cambria Math" panose="02040503050406030204" pitchFamily="18" charset="0"/>
                                        <a:ea typeface="Cambria Math" panose="02040503050406030204" pitchFamily="18" charset="0"/>
                                      </a:rPr>
                                    </m:ctrlPr>
                                  </m:sSubPr>
                                  <m:e>
                                    <m:r>
                                      <a:rPr lang="en-GB" i="1">
                                        <a:latin typeface="Cambria Math" panose="02040503050406030204" pitchFamily="18" charset="0"/>
                                        <a:ea typeface="Cambria Math" panose="02040503050406030204" pitchFamily="18" charset="0"/>
                                      </a:rPr>
                                      <m:t>𝑎</m:t>
                                    </m:r>
                                  </m:e>
                                  <m:sub>
                                    <m:r>
                                      <a:rPr lang="en-GB" i="1">
                                        <a:latin typeface="Cambria Math" panose="02040503050406030204" pitchFamily="18" charset="0"/>
                                        <a:ea typeface="Cambria Math" panose="02040503050406030204" pitchFamily="18" charset="0"/>
                                      </a:rPr>
                                      <m:t>2</m:t>
                                    </m:r>
                                  </m:sub>
                                </m:sSub>
                                <m:sSub>
                                  <m:sSubPr>
                                    <m:ctrlPr>
                                      <a:rPr lang="en-GB" i="1">
                                        <a:latin typeface="Cambria Math" panose="02040503050406030204" pitchFamily="18" charset="0"/>
                                      </a:rPr>
                                    </m:ctrlPr>
                                  </m:sSubPr>
                                  <m:e>
                                    <m:r>
                                      <a:rPr lang="en-GB" i="1">
                                        <a:latin typeface="Cambria Math" panose="02040503050406030204" pitchFamily="18" charset="0"/>
                                      </a:rPr>
                                      <m:t>𝐶</m:t>
                                    </m:r>
                                  </m:e>
                                  <m:sub>
                                    <m:r>
                                      <a:rPr lang="en-GB" i="1">
                                        <a:latin typeface="Cambria Math" panose="02040503050406030204" pitchFamily="18" charset="0"/>
                                      </a:rPr>
                                      <m:t>1</m:t>
                                    </m:r>
                                    <m:r>
                                      <a:rPr lang="en-GB" b="0" i="1" smtClean="0">
                                        <a:latin typeface="Cambria Math" panose="02040503050406030204" pitchFamily="18" charset="0"/>
                                      </a:rPr>
                                      <m:t>2</m:t>
                                    </m:r>
                                  </m:sub>
                                </m:sSub>
                              </m:e>
                            </m:mr>
                          </m:m>
                        </m:e>
                      </m:d>
                    </m:oMath>
                  </m:oMathPara>
                </a14:m>
                <a:endParaRPr lang="en-GB" i="1" dirty="0"/>
              </a:p>
              <a:p>
                <a:pPr marL="0" indent="0">
                  <a:buNone/>
                </a:pPr>
                <a:endParaRPr lang="en-GB" i="1" dirty="0"/>
              </a:p>
              <a:p>
                <a:endParaRPr lang="en-GB" dirty="0"/>
              </a:p>
            </p:txBody>
          </p:sp>
        </mc:Choice>
        <mc:Fallback xmlns="">
          <p:sp>
            <p:nvSpPr>
              <p:cNvPr id="2" name="Espace réservé du contenu 1">
                <a:extLst>
                  <a:ext uri="{FF2B5EF4-FFF2-40B4-BE49-F238E27FC236}">
                    <a16:creationId xmlns:a16="http://schemas.microsoft.com/office/drawing/2014/main" id="{F6EC7095-B12F-3848-8E05-4D47E86579C6}"/>
                  </a:ext>
                </a:extLst>
              </p:cNvPr>
              <p:cNvSpPr>
                <a:spLocks noGrp="1" noRot="1" noChangeAspect="1" noMove="1" noResize="1" noEditPoints="1" noAdjustHandles="1" noChangeArrowheads="1" noChangeShapeType="1" noTextEdit="1"/>
              </p:cNvSpPr>
              <p:nvPr>
                <p:ph sz="quarter" idx="1"/>
              </p:nvPr>
            </p:nvSpPr>
            <p:spPr>
              <a:blipFill>
                <a:blip r:embed="rId2"/>
                <a:stretch>
                  <a:fillRect l="-608" t="-460"/>
                </a:stretch>
              </a:blipFill>
            </p:spPr>
            <p:txBody>
              <a:bodyPr/>
              <a:lstStyle/>
              <a:p>
                <a:r>
                  <a:rPr lang="fr-FR">
                    <a:noFill/>
                  </a:rPr>
                  <a:t> </a:t>
                </a:r>
              </a:p>
            </p:txBody>
          </p:sp>
        </mc:Fallback>
      </mc:AlternateContent>
      <p:sp>
        <p:nvSpPr>
          <p:cNvPr id="3" name="Titre 2">
            <a:extLst>
              <a:ext uri="{FF2B5EF4-FFF2-40B4-BE49-F238E27FC236}">
                <a16:creationId xmlns:a16="http://schemas.microsoft.com/office/drawing/2014/main" id="{DD5CD458-535D-BB40-9DE2-3E1BF2E847ED}"/>
              </a:ext>
            </a:extLst>
          </p:cNvPr>
          <p:cNvSpPr>
            <a:spLocks noGrp="1"/>
          </p:cNvSpPr>
          <p:nvPr>
            <p:ph type="title"/>
          </p:nvPr>
        </p:nvSpPr>
        <p:spPr/>
        <p:txBody>
          <a:bodyPr/>
          <a:lstStyle/>
          <a:p>
            <a:r>
              <a:rPr lang="en-GB" dirty="0"/>
              <a:t>Kinematic singularities</a:t>
            </a:r>
          </a:p>
        </p:txBody>
      </p:sp>
    </p:spTree>
    <p:extLst>
      <p:ext uri="{BB962C8B-B14F-4D97-AF65-F5344CB8AC3E}">
        <p14:creationId xmlns:p14="http://schemas.microsoft.com/office/powerpoint/2010/main" val="26736751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a:extLst>
                  <a:ext uri="{FF2B5EF4-FFF2-40B4-BE49-F238E27FC236}">
                    <a16:creationId xmlns:a16="http://schemas.microsoft.com/office/drawing/2014/main" id="{F4607144-D008-B34E-9446-45A7B280DF1E}"/>
                  </a:ext>
                </a:extLst>
              </p:cNvPr>
              <p:cNvSpPr>
                <a:spLocks noGrp="1"/>
              </p:cNvSpPr>
              <p:nvPr>
                <p:ph sz="quarter"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rPr>
                        <m:t>𝑑𝑒𝑡</m:t>
                      </m:r>
                      <m:d>
                        <m:dPr>
                          <m:ctrlPr>
                            <a:rPr lang="en-GB" b="1" i="1">
                              <a:latin typeface="Cambria Math" panose="02040503050406030204" pitchFamily="18" charset="0"/>
                            </a:rPr>
                          </m:ctrlPr>
                        </m:dPr>
                        <m:e>
                          <m:r>
                            <a:rPr lang="en-GB" b="1">
                              <a:latin typeface="Cambria Math" panose="02040503050406030204" pitchFamily="18" charset="0"/>
                            </a:rPr>
                            <m:t>𝐉</m:t>
                          </m:r>
                        </m:e>
                      </m:d>
                      <m:r>
                        <a:rPr lang="en-GB" b="1"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𝑎</m:t>
                          </m:r>
                        </m:e>
                        <m:sub>
                          <m:r>
                            <a:rPr lang="en-GB" i="1">
                              <a:latin typeface="Cambria Math" panose="02040503050406030204" pitchFamily="18" charset="0"/>
                            </a:rPr>
                            <m:t>2</m:t>
                          </m:r>
                        </m:sub>
                      </m:sSub>
                      <m:sSub>
                        <m:sSubPr>
                          <m:ctrlPr>
                            <a:rPr lang="en-GB" i="1">
                              <a:latin typeface="Cambria Math" panose="02040503050406030204" pitchFamily="18" charset="0"/>
                            </a:rPr>
                          </m:ctrlPr>
                        </m:sSubPr>
                        <m:e>
                          <m:r>
                            <a:rPr lang="en-GB" i="1">
                              <a:latin typeface="Cambria Math" panose="02040503050406030204" pitchFamily="18" charset="0"/>
                            </a:rPr>
                            <m:t>𝐶</m:t>
                          </m:r>
                        </m:e>
                        <m:sub>
                          <m:r>
                            <a:rPr lang="en-GB" i="1">
                              <a:latin typeface="Cambria Math" panose="02040503050406030204" pitchFamily="18" charset="0"/>
                            </a:rPr>
                            <m:t>12</m:t>
                          </m:r>
                        </m:sub>
                      </m:sSub>
                      <m:d>
                        <m:dPr>
                          <m:ctrlPr>
                            <a:rPr lang="en-GB" i="1">
                              <a:latin typeface="Cambria Math" panose="02040503050406030204" pitchFamily="18" charset="0"/>
                            </a:rPr>
                          </m:ctrlPr>
                        </m:dPr>
                        <m:e>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𝑎</m:t>
                              </m:r>
                            </m:e>
                            <m:sub>
                              <m:r>
                                <a:rPr lang="en-GB" i="1">
                                  <a:latin typeface="Cambria Math" panose="02040503050406030204" pitchFamily="18" charset="0"/>
                                </a:rPr>
                                <m:t>1</m:t>
                              </m:r>
                            </m:sub>
                          </m:sSub>
                          <m:sSub>
                            <m:sSubPr>
                              <m:ctrlPr>
                                <a:rPr lang="en-GB" i="1">
                                  <a:latin typeface="Cambria Math" panose="02040503050406030204" pitchFamily="18" charset="0"/>
                                </a:rPr>
                              </m:ctrlPr>
                            </m:sSubPr>
                            <m:e>
                              <m:r>
                                <a:rPr lang="en-GB" i="1">
                                  <a:latin typeface="Cambria Math" panose="02040503050406030204" pitchFamily="18" charset="0"/>
                                </a:rPr>
                                <m:t>𝑆</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𝑎</m:t>
                              </m:r>
                            </m:e>
                            <m:sub>
                              <m:r>
                                <a:rPr lang="en-GB" i="1">
                                  <a:latin typeface="Cambria Math" panose="02040503050406030204" pitchFamily="18" charset="0"/>
                                </a:rPr>
                                <m:t>2</m:t>
                              </m:r>
                            </m:sub>
                          </m:sSub>
                          <m:sSub>
                            <m:sSubPr>
                              <m:ctrlPr>
                                <a:rPr lang="en-GB" i="1">
                                  <a:latin typeface="Cambria Math" panose="02040503050406030204" pitchFamily="18" charset="0"/>
                                </a:rPr>
                              </m:ctrlPr>
                            </m:sSubPr>
                            <m:e>
                              <m:r>
                                <a:rPr lang="en-GB" i="1">
                                  <a:latin typeface="Cambria Math" panose="02040503050406030204" pitchFamily="18" charset="0"/>
                                </a:rPr>
                                <m:t>𝑆</m:t>
                              </m:r>
                            </m:e>
                            <m:sub>
                              <m:r>
                                <a:rPr lang="en-GB" i="1">
                                  <a:latin typeface="Cambria Math" panose="02040503050406030204" pitchFamily="18" charset="0"/>
                                </a:rPr>
                                <m:t>12</m:t>
                              </m:r>
                            </m:sub>
                          </m:sSub>
                        </m:e>
                      </m:d>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𝑎</m:t>
                          </m:r>
                        </m:e>
                        <m:sub>
                          <m:r>
                            <a:rPr lang="en-GB" i="1">
                              <a:latin typeface="Cambria Math" panose="02040503050406030204" pitchFamily="18" charset="0"/>
                            </a:rPr>
                            <m:t>2</m:t>
                          </m:r>
                        </m:sub>
                      </m:sSub>
                      <m:sSub>
                        <m:sSubPr>
                          <m:ctrlPr>
                            <a:rPr lang="en-GB" i="1">
                              <a:latin typeface="Cambria Math" panose="02040503050406030204" pitchFamily="18" charset="0"/>
                            </a:rPr>
                          </m:ctrlPr>
                        </m:sSubPr>
                        <m:e>
                          <m:r>
                            <a:rPr lang="en-GB" i="1">
                              <a:latin typeface="Cambria Math" panose="02040503050406030204" pitchFamily="18" charset="0"/>
                            </a:rPr>
                            <m:t>𝑆</m:t>
                          </m:r>
                        </m:e>
                        <m:sub>
                          <m:r>
                            <a:rPr lang="en-GB" i="1">
                              <a:latin typeface="Cambria Math" panose="02040503050406030204" pitchFamily="18" charset="0"/>
                            </a:rPr>
                            <m:t>12</m:t>
                          </m:r>
                        </m:sub>
                      </m:sSub>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𝑎</m:t>
                              </m:r>
                            </m:e>
                            <m:sub>
                              <m:r>
                                <a:rPr lang="en-GB" i="1">
                                  <a:latin typeface="Cambria Math" panose="02040503050406030204" pitchFamily="18" charset="0"/>
                                </a:rPr>
                                <m:t>1</m:t>
                              </m:r>
                            </m:sub>
                          </m:sSub>
                          <m:sSub>
                            <m:sSubPr>
                              <m:ctrlPr>
                                <a:rPr lang="en-GB" i="1">
                                  <a:latin typeface="Cambria Math" panose="02040503050406030204" pitchFamily="18" charset="0"/>
                                </a:rPr>
                              </m:ctrlPr>
                            </m:sSubPr>
                            <m:e>
                              <m:r>
                                <a:rPr lang="en-GB" i="1">
                                  <a:latin typeface="Cambria Math" panose="02040503050406030204" pitchFamily="18" charset="0"/>
                                </a:rPr>
                                <m:t>𝐶</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𝑎</m:t>
                              </m:r>
                            </m:e>
                            <m:sub>
                              <m:r>
                                <a:rPr lang="en-GB" i="1">
                                  <a:latin typeface="Cambria Math" panose="02040503050406030204" pitchFamily="18" charset="0"/>
                                </a:rPr>
                                <m:t>2</m:t>
                              </m:r>
                            </m:sub>
                          </m:sSub>
                          <m:sSub>
                            <m:sSubPr>
                              <m:ctrlPr>
                                <a:rPr lang="en-GB" i="1">
                                  <a:latin typeface="Cambria Math" panose="02040503050406030204" pitchFamily="18" charset="0"/>
                                </a:rPr>
                              </m:ctrlPr>
                            </m:sSubPr>
                            <m:e>
                              <m:r>
                                <a:rPr lang="en-GB" i="1">
                                  <a:latin typeface="Cambria Math" panose="02040503050406030204" pitchFamily="18" charset="0"/>
                                </a:rPr>
                                <m:t>𝐶</m:t>
                              </m:r>
                            </m:e>
                            <m:sub>
                              <m:r>
                                <a:rPr lang="en-GB" i="1">
                                  <a:latin typeface="Cambria Math" panose="02040503050406030204" pitchFamily="18" charset="0"/>
                                </a:rPr>
                                <m:t>12</m:t>
                              </m:r>
                            </m:sub>
                          </m:sSub>
                        </m:e>
                      </m:d>
                      <m:r>
                        <a:rPr lang="en-GB" i="1">
                          <a:latin typeface="Cambria Math" panose="02040503050406030204" pitchFamily="18" charset="0"/>
                        </a:rPr>
                        <m:t>=0</m:t>
                      </m:r>
                    </m:oMath>
                  </m:oMathPara>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1" i="1">
                          <a:latin typeface="Cambria Math" panose="02040503050406030204" pitchFamily="18" charset="0"/>
                        </a:rPr>
                        <m:t>⇒</m:t>
                      </m:r>
                      <m:r>
                        <a:rPr lang="en-GB" i="1">
                          <a:latin typeface="Cambria Math" panose="02040503050406030204" pitchFamily="18" charset="0"/>
                        </a:rPr>
                        <m:t> </m:t>
                      </m:r>
                      <m:r>
                        <a:rPr lang="en-GB" i="1">
                          <a:latin typeface="Cambria Math" panose="02040503050406030204" pitchFamily="18" charset="0"/>
                        </a:rPr>
                        <m:t>𝑑𝑒𝑡</m:t>
                      </m:r>
                      <m:d>
                        <m:dPr>
                          <m:ctrlPr>
                            <a:rPr lang="en-GB" b="1" i="1">
                              <a:latin typeface="Cambria Math" panose="02040503050406030204" pitchFamily="18" charset="0"/>
                            </a:rPr>
                          </m:ctrlPr>
                        </m:dPr>
                        <m:e>
                          <m:r>
                            <a:rPr lang="en-GB" b="1" i="0">
                              <a:latin typeface="Cambria Math" panose="02040503050406030204" pitchFamily="18" charset="0"/>
                            </a:rPr>
                            <m:t>𝐉</m:t>
                          </m:r>
                        </m:e>
                      </m:d>
                      <m:r>
                        <a:rPr lang="en-GB" b="1"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𝑎</m:t>
                          </m:r>
                        </m:e>
                        <m:sub>
                          <m:r>
                            <a:rPr lang="en-GB" i="1">
                              <a:latin typeface="Cambria Math" panose="02040503050406030204" pitchFamily="18" charset="0"/>
                            </a:rPr>
                            <m:t>1</m:t>
                          </m:r>
                        </m:sub>
                      </m:sSub>
                      <m:sSub>
                        <m:sSubPr>
                          <m:ctrlPr>
                            <a:rPr lang="en-GB" i="1">
                              <a:latin typeface="Cambria Math" panose="02040503050406030204" pitchFamily="18" charset="0"/>
                            </a:rPr>
                          </m:ctrlPr>
                        </m:sSubPr>
                        <m:e>
                          <m:r>
                            <a:rPr lang="en-GB" i="1">
                              <a:latin typeface="Cambria Math" panose="02040503050406030204" pitchFamily="18" charset="0"/>
                            </a:rPr>
                            <m:t>𝑎</m:t>
                          </m:r>
                        </m:e>
                        <m:sub>
                          <m:r>
                            <a:rPr lang="en-GB" i="1">
                              <a:latin typeface="Cambria Math" panose="02040503050406030204" pitchFamily="18" charset="0"/>
                            </a:rPr>
                            <m:t>2</m:t>
                          </m:r>
                        </m:sub>
                      </m:sSub>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𝑆</m:t>
                              </m:r>
                            </m:e>
                            <m:sub>
                              <m:r>
                                <a:rPr lang="en-GB" i="1">
                                  <a:latin typeface="Cambria Math" panose="02040503050406030204" pitchFamily="18" charset="0"/>
                                </a:rPr>
                                <m:t>1</m:t>
                              </m:r>
                            </m:sub>
                          </m:sSub>
                          <m:sSub>
                            <m:sSubPr>
                              <m:ctrlPr>
                                <a:rPr lang="en-GB" i="1">
                                  <a:latin typeface="Cambria Math" panose="02040503050406030204" pitchFamily="18" charset="0"/>
                                </a:rPr>
                              </m:ctrlPr>
                            </m:sSubPr>
                            <m:e>
                              <m:r>
                                <a:rPr lang="en-GB" i="1">
                                  <a:latin typeface="Cambria Math" panose="02040503050406030204" pitchFamily="18" charset="0"/>
                                </a:rPr>
                                <m:t>𝐶</m:t>
                              </m:r>
                            </m:e>
                            <m:sub>
                              <m:r>
                                <a:rPr lang="en-GB" i="1">
                                  <a:latin typeface="Cambria Math" panose="02040503050406030204" pitchFamily="18" charset="0"/>
                                </a:rPr>
                                <m:t>12</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𝐶</m:t>
                              </m:r>
                            </m:e>
                            <m:sub>
                              <m:r>
                                <a:rPr lang="en-GB" i="1">
                                  <a:latin typeface="Cambria Math" panose="02040503050406030204" pitchFamily="18" charset="0"/>
                                </a:rPr>
                                <m:t>1</m:t>
                              </m:r>
                            </m:sub>
                          </m:sSub>
                          <m:sSub>
                            <m:sSubPr>
                              <m:ctrlPr>
                                <a:rPr lang="en-GB" i="1">
                                  <a:latin typeface="Cambria Math" panose="02040503050406030204" pitchFamily="18" charset="0"/>
                                </a:rPr>
                              </m:ctrlPr>
                            </m:sSubPr>
                            <m:e>
                              <m:r>
                                <a:rPr lang="en-GB" i="1">
                                  <a:latin typeface="Cambria Math" panose="02040503050406030204" pitchFamily="18" charset="0"/>
                                </a:rPr>
                                <m:t>𝑆</m:t>
                              </m:r>
                            </m:e>
                            <m:sub>
                              <m:r>
                                <a:rPr lang="en-GB" i="1">
                                  <a:latin typeface="Cambria Math" panose="02040503050406030204" pitchFamily="18" charset="0"/>
                                </a:rPr>
                                <m:t>12</m:t>
                              </m:r>
                            </m:sub>
                          </m:sSub>
                        </m:e>
                      </m:d>
                      <m:r>
                        <a:rPr lang="en-GB" i="1">
                          <a:latin typeface="Cambria Math" panose="02040503050406030204" pitchFamily="18" charset="0"/>
                        </a:rPr>
                        <m:t>=0</m:t>
                      </m:r>
                    </m:oMath>
                  </m:oMathPara>
                </a14:m>
                <a:endParaRPr lang="en-GB" dirty="0"/>
              </a:p>
              <a:p>
                <a:pPr marL="0" indent="0">
                  <a:buNone/>
                </a:pPr>
                <a:endParaRPr lang="en-GB" dirty="0"/>
              </a:p>
              <a:p>
                <a:pPr marL="0" indent="0">
                  <a:buNone/>
                </a:pPr>
                <a:r>
                  <a:rPr lang="en-GB" dirty="0"/>
                  <a:t>We have:</a:t>
                </a:r>
              </a:p>
              <a:p>
                <a:pPr marL="0" indent="0">
                  <a:buNone/>
                </a:pPr>
                <a14:m>
                  <m:oMathPara xmlns:m="http://schemas.openxmlformats.org/officeDocument/2006/math">
                    <m:oMathParaPr>
                      <m:jc m:val="centerGroup"/>
                    </m:oMathParaPr>
                    <m:oMath xmlns:m="http://schemas.openxmlformats.org/officeDocument/2006/math">
                      <m:func>
                        <m:funcPr>
                          <m:ctrlPr>
                            <a:rPr lang="en-GB" i="1">
                              <a:latin typeface="Cambria Math" panose="02040503050406030204" pitchFamily="18" charset="0"/>
                            </a:rPr>
                          </m:ctrlPr>
                        </m:funcPr>
                        <m:fName>
                          <m:r>
                            <m:rPr>
                              <m:sty m:val="p"/>
                            </m:rPr>
                            <a:rPr lang="en-GB">
                              <a:latin typeface="Cambria Math" panose="02040503050406030204" pitchFamily="18" charset="0"/>
                            </a:rPr>
                            <m:t>sin</m:t>
                          </m:r>
                        </m:fName>
                        <m:e>
                          <m:d>
                            <m:dPr>
                              <m:ctrlPr>
                                <a:rPr lang="en-GB" i="1">
                                  <a:latin typeface="Cambria Math" panose="02040503050406030204" pitchFamily="18" charset="0"/>
                                </a:rPr>
                              </m:ctrlPr>
                            </m:dPr>
                            <m:e>
                              <m:r>
                                <m:rPr>
                                  <m:sty m:val="p"/>
                                </m:rPr>
                                <a:rPr lang="en-GB" i="1" smtClean="0">
                                  <a:latin typeface="Cambria Math" panose="02040503050406030204" pitchFamily="18" charset="0"/>
                                  <a:ea typeface="Cambria Math" panose="02040503050406030204" pitchFamily="18" charset="0"/>
                                </a:rPr>
                                <m:t>α</m:t>
                              </m:r>
                              <m:r>
                                <a:rPr lang="en-GB" i="1">
                                  <a:latin typeface="Cambria Math" panose="02040503050406030204" pitchFamily="18" charset="0"/>
                                </a:rPr>
                                <m:t>−</m:t>
                              </m:r>
                              <m:r>
                                <a:rPr lang="en-GB" i="1" smtClean="0">
                                  <a:latin typeface="Cambria Math" panose="02040503050406030204" pitchFamily="18" charset="0"/>
                                  <a:ea typeface="Cambria Math" panose="02040503050406030204" pitchFamily="18" charset="0"/>
                                </a:rPr>
                                <m:t>𝛽</m:t>
                              </m:r>
                            </m:e>
                          </m:d>
                        </m:e>
                      </m:func>
                      <m:r>
                        <a:rPr lang="en-GB" i="1">
                          <a:latin typeface="Cambria Math" panose="02040503050406030204" pitchFamily="18" charset="0"/>
                        </a:rPr>
                        <m:t>=</m:t>
                      </m:r>
                      <m:r>
                        <m:rPr>
                          <m:sty m:val="p"/>
                        </m:rPr>
                        <a:rPr lang="en-GB">
                          <a:latin typeface="Cambria Math" panose="02040503050406030204" pitchFamily="18" charset="0"/>
                        </a:rPr>
                        <m:t>sin</m:t>
                      </m:r>
                      <m:r>
                        <m:rPr>
                          <m:sty m:val="p"/>
                        </m:rPr>
                        <a:rPr lang="en-GB" i="1">
                          <a:latin typeface="Cambria Math" panose="02040503050406030204" pitchFamily="18" charset="0"/>
                          <a:ea typeface="Cambria Math" panose="02040503050406030204" pitchFamily="18" charset="0"/>
                        </a:rPr>
                        <m:t>α</m:t>
                      </m:r>
                      <m:r>
                        <a:rPr lang="en-GB" b="0" i="0" smtClean="0">
                          <a:latin typeface="Cambria Math" panose="02040503050406030204" pitchFamily="18" charset="0"/>
                          <a:ea typeface="Cambria Math" panose="02040503050406030204" pitchFamily="18" charset="0"/>
                        </a:rPr>
                        <m:t> </m:t>
                      </m:r>
                      <m:r>
                        <m:rPr>
                          <m:sty m:val="p"/>
                        </m:rPr>
                        <a:rPr lang="en-GB">
                          <a:latin typeface="Cambria Math" panose="02040503050406030204" pitchFamily="18" charset="0"/>
                        </a:rPr>
                        <m:t>cos</m:t>
                      </m:r>
                      <m:r>
                        <a:rPr lang="en-GB" i="1">
                          <a:latin typeface="Cambria Math" panose="02040503050406030204" pitchFamily="18" charset="0"/>
                          <a:ea typeface="Cambria Math" panose="02040503050406030204" pitchFamily="18" charset="0"/>
                        </a:rPr>
                        <m:t>𝛽</m:t>
                      </m:r>
                      <m:r>
                        <a:rPr lang="en-GB">
                          <a:latin typeface="Cambria Math" panose="02040503050406030204" pitchFamily="18" charset="0"/>
                          <a:ea typeface="Cambria Math"/>
                        </a:rPr>
                        <m:t>−</m:t>
                      </m:r>
                      <m:r>
                        <m:rPr>
                          <m:sty m:val="p"/>
                        </m:rPr>
                        <a:rPr lang="en-GB">
                          <a:latin typeface="Cambria Math" panose="02040503050406030204" pitchFamily="18" charset="0"/>
                          <a:ea typeface="Cambria Math"/>
                        </a:rPr>
                        <m:t>cos</m:t>
                      </m:r>
                      <m:r>
                        <m:rPr>
                          <m:sty m:val="p"/>
                        </m:rPr>
                        <a:rPr lang="en-GB" i="1">
                          <a:latin typeface="Cambria Math" panose="02040503050406030204" pitchFamily="18" charset="0"/>
                          <a:ea typeface="Cambria Math" panose="02040503050406030204" pitchFamily="18" charset="0"/>
                        </a:rPr>
                        <m:t>α</m:t>
                      </m:r>
                      <m:r>
                        <a:rPr lang="en-GB" b="0" i="0" smtClean="0">
                          <a:latin typeface="Cambria Math" panose="02040503050406030204" pitchFamily="18" charset="0"/>
                          <a:ea typeface="Cambria Math" panose="02040503050406030204" pitchFamily="18" charset="0"/>
                        </a:rPr>
                        <m:t> </m:t>
                      </m:r>
                      <m:r>
                        <m:rPr>
                          <m:sty m:val="p"/>
                        </m:rPr>
                        <a:rPr lang="en-GB">
                          <a:latin typeface="Cambria Math" panose="02040503050406030204" pitchFamily="18" charset="0"/>
                        </a:rPr>
                        <m:t>sin</m:t>
                      </m:r>
                      <m:r>
                        <a:rPr lang="en-GB" i="1">
                          <a:latin typeface="Cambria Math" panose="02040503050406030204" pitchFamily="18" charset="0"/>
                          <a:ea typeface="Cambria Math" panose="02040503050406030204" pitchFamily="18" charset="0"/>
                        </a:rPr>
                        <m:t>𝛽</m:t>
                      </m:r>
                    </m:oMath>
                  </m:oMathPara>
                </a14:m>
                <a:endParaRPr lang="en-GB" dirty="0"/>
              </a:p>
              <a:p>
                <a:pPr marL="0" indent="0">
                  <a:buNone/>
                </a:pPr>
                <a:endParaRPr lang="en-GB"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𝑆</m:t>
                          </m:r>
                        </m:e>
                        <m:sub>
                          <m:r>
                            <a:rPr lang="en-GB" i="1">
                              <a:latin typeface="Cambria Math" panose="02040503050406030204" pitchFamily="18" charset="0"/>
                            </a:rPr>
                            <m:t>1</m:t>
                          </m:r>
                        </m:sub>
                      </m:sSub>
                      <m:sSub>
                        <m:sSubPr>
                          <m:ctrlPr>
                            <a:rPr lang="en-GB" i="1">
                              <a:latin typeface="Cambria Math" panose="02040503050406030204" pitchFamily="18" charset="0"/>
                            </a:rPr>
                          </m:ctrlPr>
                        </m:sSubPr>
                        <m:e>
                          <m:r>
                            <a:rPr lang="en-GB" i="1">
                              <a:latin typeface="Cambria Math" panose="02040503050406030204" pitchFamily="18" charset="0"/>
                            </a:rPr>
                            <m:t>𝐶</m:t>
                          </m:r>
                        </m:e>
                        <m:sub>
                          <m:r>
                            <a:rPr lang="en-GB" i="1">
                              <a:latin typeface="Cambria Math" panose="02040503050406030204" pitchFamily="18" charset="0"/>
                            </a:rPr>
                            <m:t>12</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𝐶</m:t>
                          </m:r>
                        </m:e>
                        <m:sub>
                          <m:r>
                            <a:rPr lang="en-GB" i="1">
                              <a:latin typeface="Cambria Math" panose="02040503050406030204" pitchFamily="18" charset="0"/>
                            </a:rPr>
                            <m:t>1</m:t>
                          </m:r>
                        </m:sub>
                      </m:sSub>
                      <m:sSub>
                        <m:sSubPr>
                          <m:ctrlPr>
                            <a:rPr lang="en-GB" i="1">
                              <a:latin typeface="Cambria Math" panose="02040503050406030204" pitchFamily="18" charset="0"/>
                            </a:rPr>
                          </m:ctrlPr>
                        </m:sSubPr>
                        <m:e>
                          <m:r>
                            <a:rPr lang="en-GB" i="1">
                              <a:latin typeface="Cambria Math" panose="02040503050406030204" pitchFamily="18" charset="0"/>
                            </a:rPr>
                            <m:t>𝑆</m:t>
                          </m:r>
                        </m:e>
                        <m:sub>
                          <m:r>
                            <a:rPr lang="en-GB" i="1">
                              <a:latin typeface="Cambria Math" panose="02040503050406030204" pitchFamily="18" charset="0"/>
                            </a:rPr>
                            <m:t>12</m:t>
                          </m:r>
                        </m:sub>
                      </m:sSub>
                      <m:r>
                        <a:rPr lang="en-GB" b="0" i="0" smtClean="0">
                          <a:latin typeface="Cambria Math" panose="02040503050406030204" pitchFamily="18" charset="0"/>
                        </a:rPr>
                        <m:t>=</m:t>
                      </m:r>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sin</m:t>
                          </m:r>
                        </m:fName>
                        <m:e>
                          <m:sSub>
                            <m:sSubPr>
                              <m:ctrlPr>
                                <a:rPr lang="en-GB" i="1">
                                  <a:latin typeface="Cambria Math" panose="02040503050406030204" pitchFamily="18" charset="0"/>
                                </a:rPr>
                              </m:ctrlPr>
                            </m:sSubPr>
                            <m:e>
                              <m:r>
                                <a:rPr lang="en-GB" i="1">
                                  <a:latin typeface="Cambria Math" panose="02040503050406030204" pitchFamily="18" charset="0"/>
                                </a:rPr>
                                <m:t>𝜃</m:t>
                              </m:r>
                            </m:e>
                            <m:sub>
                              <m:r>
                                <a:rPr lang="en-GB" b="0" i="1" smtClean="0">
                                  <a:latin typeface="Cambria Math" panose="02040503050406030204" pitchFamily="18" charset="0"/>
                                </a:rPr>
                                <m:t>1</m:t>
                              </m:r>
                            </m:sub>
                          </m:sSub>
                          <m:func>
                            <m:funcPr>
                              <m:ctrlPr>
                                <a:rPr lang="en-GB" i="1" smtClean="0">
                                  <a:latin typeface="Cambria Math" panose="02040503050406030204" pitchFamily="18" charset="0"/>
                                </a:rPr>
                              </m:ctrlPr>
                            </m:funcPr>
                            <m:fName>
                              <m:r>
                                <m:rPr>
                                  <m:sty m:val="p"/>
                                </m:rPr>
                                <a:rPr lang="en-GB" i="0" smtClean="0">
                                  <a:latin typeface="Cambria Math" panose="02040503050406030204" pitchFamily="18" charset="0"/>
                                </a:rPr>
                                <m:t>cos</m:t>
                              </m:r>
                            </m:fName>
                            <m:e>
                              <m:d>
                                <m:dPr>
                                  <m:ctrlPr>
                                    <a:rPr lang="en-GB" i="1" smtClean="0">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𝜃</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𝜃</m:t>
                                      </m:r>
                                    </m:e>
                                    <m:sub>
                                      <m:r>
                                        <a:rPr lang="en-GB" i="1">
                                          <a:latin typeface="Cambria Math" panose="02040503050406030204" pitchFamily="18" charset="0"/>
                                        </a:rPr>
                                        <m:t>2</m:t>
                                      </m:r>
                                    </m:sub>
                                  </m:sSub>
                                </m:e>
                              </m:d>
                              <m:r>
                                <a:rPr lang="en-GB" b="0" i="1" smtClean="0">
                                  <a:latin typeface="Cambria Math" panose="02040503050406030204" pitchFamily="18" charset="0"/>
                                </a:rPr>
                                <m:t>−</m:t>
                              </m:r>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cos</m:t>
                                  </m:r>
                                </m:fName>
                                <m:e>
                                  <m:sSub>
                                    <m:sSubPr>
                                      <m:ctrlPr>
                                        <a:rPr lang="en-GB" i="1">
                                          <a:latin typeface="Cambria Math" panose="02040503050406030204" pitchFamily="18" charset="0"/>
                                        </a:rPr>
                                      </m:ctrlPr>
                                    </m:sSubPr>
                                    <m:e>
                                      <m:r>
                                        <a:rPr lang="en-GB" i="1">
                                          <a:latin typeface="Cambria Math" panose="02040503050406030204" pitchFamily="18" charset="0"/>
                                        </a:rPr>
                                        <m:t>𝜃</m:t>
                                      </m:r>
                                    </m:e>
                                    <m:sub>
                                      <m:r>
                                        <a:rPr lang="en-GB" b="0" i="1" smtClean="0">
                                          <a:latin typeface="Cambria Math" panose="02040503050406030204" pitchFamily="18" charset="0"/>
                                        </a:rPr>
                                        <m:t>1</m:t>
                                      </m:r>
                                    </m:sub>
                                  </m:sSub>
                                  <m:func>
                                    <m:funcPr>
                                      <m:ctrlPr>
                                        <a:rPr lang="en-GB" i="1" smtClean="0">
                                          <a:latin typeface="Cambria Math" panose="02040503050406030204" pitchFamily="18" charset="0"/>
                                        </a:rPr>
                                      </m:ctrlPr>
                                    </m:funcPr>
                                    <m:fName>
                                      <m:r>
                                        <m:rPr>
                                          <m:sty m:val="p"/>
                                        </m:rPr>
                                        <a:rPr lang="en-GB" i="0" smtClean="0">
                                          <a:latin typeface="Cambria Math" panose="02040503050406030204" pitchFamily="18" charset="0"/>
                                        </a:rPr>
                                        <m:t>sin</m:t>
                                      </m:r>
                                    </m:fName>
                                    <m:e>
                                      <m:d>
                                        <m:dPr>
                                          <m:ctrlPr>
                                            <a:rPr lang="en-GB" i="1" smtClean="0">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𝜃</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𝜃</m:t>
                                              </m:r>
                                            </m:e>
                                            <m:sub>
                                              <m:r>
                                                <a:rPr lang="en-GB" i="1">
                                                  <a:latin typeface="Cambria Math" panose="02040503050406030204" pitchFamily="18" charset="0"/>
                                                </a:rPr>
                                                <m:t>2</m:t>
                                              </m:r>
                                            </m:sub>
                                          </m:sSub>
                                        </m:e>
                                      </m:d>
                                    </m:e>
                                  </m:func>
                                </m:e>
                              </m:func>
                            </m:e>
                          </m:func>
                        </m:e>
                      </m:func>
                      <m:r>
                        <a:rPr lang="en-GB" b="0" i="1" smtClean="0">
                          <a:latin typeface="Cambria Math" panose="02040503050406030204" pitchFamily="18" charset="0"/>
                        </a:rPr>
                        <m:t>=</m:t>
                      </m:r>
                      <m:r>
                        <m:rPr>
                          <m:sty m:val="p"/>
                        </m:rPr>
                        <a:rPr lang="en-GB" b="0" i="0" smtClean="0">
                          <a:latin typeface="Cambria Math" panose="02040503050406030204" pitchFamily="18" charset="0"/>
                        </a:rPr>
                        <m:t>sin</m:t>
                      </m:r>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𝜃</m:t>
                          </m:r>
                        </m:e>
                        <m:sub>
                          <m:r>
                            <a:rPr lang="en-GB" i="1">
                              <a:latin typeface="Cambria Math" panose="02040503050406030204" pitchFamily="18" charset="0"/>
                            </a:rPr>
                            <m:t>1</m:t>
                          </m:r>
                        </m:sub>
                      </m:sSub>
                      <m:r>
                        <a:rPr lang="en-GB" b="0" i="1" smtClean="0">
                          <a:latin typeface="Cambria Math" panose="02040503050406030204" pitchFamily="18" charset="0"/>
                        </a:rPr>
                        <m:t>−</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𝜃</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𝜃</m:t>
                              </m:r>
                            </m:e>
                            <m:sub>
                              <m:r>
                                <a:rPr lang="en-GB" i="1">
                                  <a:latin typeface="Cambria Math" panose="02040503050406030204" pitchFamily="18" charset="0"/>
                                </a:rPr>
                                <m:t>2</m:t>
                              </m:r>
                            </m:sub>
                          </m:sSub>
                        </m:e>
                      </m:d>
                      <m:r>
                        <a:rPr lang="en-GB" b="0" i="1" smtClean="0">
                          <a:latin typeface="Cambria Math" panose="02040503050406030204" pitchFamily="18" charset="0"/>
                        </a:rPr>
                        <m:t>)</m:t>
                      </m:r>
                    </m:oMath>
                  </m:oMathPara>
                </a14:m>
                <a:endParaRPr lang="en-GB" dirty="0"/>
              </a:p>
              <a:p>
                <a:pPr marL="0" indent="0">
                  <a:buNone/>
                </a:pPr>
                <a:endParaRPr lang="en-GB" dirty="0">
                  <a:latin typeface="Cambria Math" panose="02040503050406030204" pitchFamily="18" charset="0"/>
                </a:endParaRPr>
              </a:p>
              <a:p>
                <a:pPr marL="0" indent="0">
                  <a:buNone/>
                </a:pPr>
                <a14:m>
                  <m:oMath xmlns:m="http://schemas.openxmlformats.org/officeDocument/2006/math">
                    <m:r>
                      <a:rPr lang="en-GB" b="0" i="0" smtClean="0">
                        <a:latin typeface="Cambria Math" panose="02040503050406030204" pitchFamily="18" charset="0"/>
                      </a:rPr>
                      <m:t>=</m:t>
                    </m:r>
                    <m:func>
                      <m:funcPr>
                        <m:ctrlPr>
                          <a:rPr lang="en-GB" i="1">
                            <a:latin typeface="Cambria Math" panose="02040503050406030204" pitchFamily="18" charset="0"/>
                          </a:rPr>
                        </m:ctrlPr>
                      </m:funcPr>
                      <m:fName>
                        <m:r>
                          <m:rPr>
                            <m:sty m:val="p"/>
                          </m:rPr>
                          <a:rPr lang="en-GB">
                            <a:latin typeface="Cambria Math" panose="02040503050406030204" pitchFamily="18" charset="0"/>
                          </a:rPr>
                          <m:t>sin</m:t>
                        </m:r>
                      </m:fName>
                      <m:e>
                        <m:d>
                          <m:dPr>
                            <m:ctrlPr>
                              <a:rPr lang="en-GB" i="1">
                                <a:latin typeface="Cambria Math" panose="02040503050406030204" pitchFamily="18" charset="0"/>
                              </a:rPr>
                            </m:ctrlPr>
                          </m:dPr>
                          <m:e>
                            <m:r>
                              <a:rPr lang="en-GB" i="1">
                                <a:latin typeface="Cambria Math" panose="02040503050406030204" pitchFamily="18" charset="0"/>
                              </a:rPr>
                              <m:t>−</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𝜃</m:t>
                                    </m:r>
                                  </m:e>
                                  <m:sub>
                                    <m:r>
                                      <a:rPr lang="en-GB" i="1">
                                        <a:latin typeface="Cambria Math" panose="02040503050406030204" pitchFamily="18" charset="0"/>
                                      </a:rPr>
                                      <m:t>2</m:t>
                                    </m:r>
                                  </m:sub>
                                </m:sSub>
                              </m:e>
                            </m:d>
                          </m:e>
                        </m:d>
                      </m:e>
                    </m:func>
                    <m:r>
                      <a:rPr lang="en-GB" b="0" i="1" smtClean="0">
                        <a:latin typeface="Cambria Math" panose="02040503050406030204" pitchFamily="18" charset="0"/>
                      </a:rPr>
                      <m:t>=−</m:t>
                    </m:r>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sin</m:t>
                        </m:r>
                      </m:fName>
                      <m:e>
                        <m:d>
                          <m:dPr>
                            <m:ctrlPr>
                              <a:rPr lang="en-GB" b="0" i="1" smtClean="0">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𝜃</m:t>
                                </m:r>
                              </m:e>
                              <m:sub>
                                <m:r>
                                  <a:rPr lang="en-GB" i="1">
                                    <a:latin typeface="Cambria Math" panose="02040503050406030204" pitchFamily="18" charset="0"/>
                                  </a:rPr>
                                  <m:t>2</m:t>
                                </m:r>
                              </m:sub>
                            </m:sSub>
                          </m:e>
                        </m:d>
                      </m:e>
                    </m:func>
                    <m:r>
                      <a:rPr lang="en-GB" b="0" i="1" smtClean="0">
                        <a:latin typeface="Cambria Math" panose="02040503050406030204" pitchFamily="18" charset="0"/>
                      </a:rPr>
                      <m:t>=−</m:t>
                    </m:r>
                  </m:oMath>
                </a14:m>
                <a:r>
                  <a:rPr lang="en-GB" dirty="0"/>
                  <a: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𝑆</m:t>
                        </m:r>
                      </m:e>
                      <m:sub>
                        <m:r>
                          <a:rPr lang="en-GB" i="1">
                            <a:latin typeface="Cambria Math" panose="02040503050406030204" pitchFamily="18" charset="0"/>
                          </a:rPr>
                          <m:t>2</m:t>
                        </m:r>
                      </m:sub>
                    </m:sSub>
                  </m:oMath>
                </a14:m>
                <a:endParaRPr lang="en-GB"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1" i="1">
                          <a:latin typeface="Cambria Math" panose="02040503050406030204" pitchFamily="18" charset="0"/>
                        </a:rPr>
                        <m:t>⇒</m:t>
                      </m:r>
                      <m:r>
                        <a:rPr lang="en-GB" i="1">
                          <a:latin typeface="Cambria Math" panose="02040503050406030204" pitchFamily="18" charset="0"/>
                        </a:rPr>
                        <m:t>𝑑𝑒𝑡</m:t>
                      </m:r>
                      <m:d>
                        <m:dPr>
                          <m:ctrlPr>
                            <a:rPr lang="en-GB" b="1" i="1">
                              <a:latin typeface="Cambria Math" panose="02040503050406030204" pitchFamily="18" charset="0"/>
                            </a:rPr>
                          </m:ctrlPr>
                        </m:dPr>
                        <m:e>
                          <m:r>
                            <a:rPr lang="en-GB" b="1" i="0">
                              <a:latin typeface="Cambria Math" panose="02040503050406030204" pitchFamily="18" charset="0"/>
                            </a:rPr>
                            <m:t>𝐉</m:t>
                          </m:r>
                        </m:e>
                      </m:d>
                      <m:r>
                        <a:rPr lang="en-GB" b="1"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𝑎</m:t>
                          </m:r>
                        </m:e>
                        <m:sub>
                          <m:r>
                            <a:rPr lang="en-GB" i="1">
                              <a:latin typeface="Cambria Math" panose="02040503050406030204" pitchFamily="18" charset="0"/>
                            </a:rPr>
                            <m:t>1</m:t>
                          </m:r>
                        </m:sub>
                      </m:sSub>
                      <m:sSub>
                        <m:sSubPr>
                          <m:ctrlPr>
                            <a:rPr lang="en-GB" i="1">
                              <a:latin typeface="Cambria Math" panose="02040503050406030204" pitchFamily="18" charset="0"/>
                            </a:rPr>
                          </m:ctrlPr>
                        </m:sSubPr>
                        <m:e>
                          <m:r>
                            <a:rPr lang="en-GB" i="1">
                              <a:latin typeface="Cambria Math" panose="02040503050406030204" pitchFamily="18" charset="0"/>
                            </a:rPr>
                            <m:t>𝑎</m:t>
                          </m:r>
                        </m:e>
                        <m:sub>
                          <m:r>
                            <a:rPr lang="en-GB" i="1">
                              <a:latin typeface="Cambria Math" panose="02040503050406030204" pitchFamily="18" charset="0"/>
                            </a:rPr>
                            <m:t>2</m:t>
                          </m:r>
                        </m:sub>
                      </m:sSub>
                      <m:sSub>
                        <m:sSubPr>
                          <m:ctrlPr>
                            <a:rPr lang="en-GB" i="1">
                              <a:latin typeface="Cambria Math" panose="02040503050406030204" pitchFamily="18" charset="0"/>
                            </a:rPr>
                          </m:ctrlPr>
                        </m:sSubPr>
                        <m:e>
                          <m:r>
                            <a:rPr lang="en-GB" i="1">
                              <a:latin typeface="Cambria Math" panose="02040503050406030204" pitchFamily="18" charset="0"/>
                            </a:rPr>
                            <m:t>𝑆</m:t>
                          </m:r>
                        </m:e>
                        <m:sub>
                          <m:r>
                            <a:rPr lang="en-GB" i="1">
                              <a:latin typeface="Cambria Math" panose="02040503050406030204" pitchFamily="18" charset="0"/>
                            </a:rPr>
                            <m:t>2</m:t>
                          </m:r>
                        </m:sub>
                      </m:sSub>
                      <m:r>
                        <a:rPr lang="en-GB" i="1">
                          <a:latin typeface="Cambria Math" panose="02040503050406030204" pitchFamily="18" charset="0"/>
                        </a:rPr>
                        <m:t>=0</m:t>
                      </m:r>
                    </m:oMath>
                  </m:oMathPara>
                </a14:m>
                <a:endParaRPr lang="en-GB" dirty="0"/>
              </a:p>
              <a:p>
                <a:pPr marL="0" indent="0">
                  <a:buNone/>
                </a:pPr>
                <a14:m>
                  <m:oMathPara xmlns:m="http://schemas.openxmlformats.org/officeDocument/2006/math">
                    <m:oMathParaPr>
                      <m:jc m:val="centerGroup"/>
                    </m:oMathParaPr>
                    <m:oMath xmlns:m="http://schemas.openxmlformats.org/officeDocument/2006/math">
                      <m:r>
                        <a:rPr lang="en-GB" b="1"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𝑆</m:t>
                          </m:r>
                        </m:e>
                        <m:sub>
                          <m:r>
                            <a:rPr lang="en-GB" i="1">
                              <a:latin typeface="Cambria Math" panose="02040503050406030204" pitchFamily="18" charset="0"/>
                            </a:rPr>
                            <m:t>2</m:t>
                          </m:r>
                        </m:sub>
                      </m:sSub>
                      <m:r>
                        <a:rPr lang="en-GB" i="1">
                          <a:latin typeface="Cambria Math" panose="02040503050406030204" pitchFamily="18" charset="0"/>
                        </a:rPr>
                        <m:t>=0</m:t>
                      </m:r>
                    </m:oMath>
                  </m:oMathPara>
                </a14:m>
                <a:endParaRPr lang="en-GB" dirty="0"/>
              </a:p>
              <a:p>
                <a:pPr marL="0" indent="0" algn="ctr">
                  <a:buNone/>
                </a:pPr>
                <a14:m>
                  <m:oMath xmlns:m="http://schemas.openxmlformats.org/officeDocument/2006/math">
                    <m:r>
                      <a:rPr lang="en-GB" b="1" i="1">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𝜃</m:t>
                        </m:r>
                      </m:e>
                      <m:sub>
                        <m:r>
                          <a:rPr lang="en-GB" i="1">
                            <a:latin typeface="Cambria Math" panose="02040503050406030204" pitchFamily="18" charset="0"/>
                          </a:rPr>
                          <m:t>2</m:t>
                        </m:r>
                      </m:sub>
                    </m:sSub>
                    <m:r>
                      <a:rPr lang="en-GB" i="1">
                        <a:latin typeface="Cambria Math" panose="02040503050406030204" pitchFamily="18" charset="0"/>
                      </a:rPr>
                      <m:t>=0</m:t>
                    </m:r>
                  </m:oMath>
                </a14:m>
                <a:r>
                  <a:rPr lang="en-GB" dirty="0"/>
                  <a:t> or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𝜃</m:t>
                        </m:r>
                      </m:e>
                      <m:sub>
                        <m:r>
                          <a:rPr lang="en-GB" i="1">
                            <a:latin typeface="Cambria Math" panose="02040503050406030204" pitchFamily="18" charset="0"/>
                          </a:rPr>
                          <m:t>2</m:t>
                        </m:r>
                      </m:sub>
                    </m:sSub>
                    <m:r>
                      <a:rPr lang="en-GB" i="1">
                        <a:latin typeface="Cambria Math" panose="02040503050406030204" pitchFamily="18" charset="0"/>
                      </a:rPr>
                      <m:t>=</m:t>
                    </m:r>
                    <m:r>
                      <a:rPr lang="en-GB" i="1">
                        <a:latin typeface="Cambria Math" panose="02040503050406030204" pitchFamily="18" charset="0"/>
                      </a:rPr>
                      <m:t>𝜋</m:t>
                    </m:r>
                  </m:oMath>
                </a14:m>
                <a:endParaRPr lang="en-GB" dirty="0"/>
              </a:p>
              <a:p>
                <a:endParaRPr lang="en-GB" dirty="0"/>
              </a:p>
              <a:p>
                <a:r>
                  <a:rPr lang="en-GB" dirty="0"/>
                  <a:t>The robot is in a singular configuration if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𝜃</m:t>
                        </m:r>
                      </m:e>
                      <m:sub>
                        <m:r>
                          <a:rPr lang="en-GB" i="1">
                            <a:latin typeface="Cambria Math" panose="02040503050406030204" pitchFamily="18" charset="0"/>
                          </a:rPr>
                          <m:t>2</m:t>
                        </m:r>
                      </m:sub>
                    </m:sSub>
                    <m:r>
                      <a:rPr lang="en-GB" i="1">
                        <a:latin typeface="Cambria Math" panose="02040503050406030204" pitchFamily="18" charset="0"/>
                      </a:rPr>
                      <m:t>=0</m:t>
                    </m:r>
                  </m:oMath>
                </a14:m>
                <a:r>
                  <a:rPr lang="en-GB" dirty="0"/>
                  <a:t> or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𝜃</m:t>
                        </m:r>
                      </m:e>
                      <m:sub>
                        <m:r>
                          <a:rPr lang="en-GB" i="1">
                            <a:latin typeface="Cambria Math" panose="02040503050406030204" pitchFamily="18" charset="0"/>
                          </a:rPr>
                          <m:t>2</m:t>
                        </m:r>
                      </m:sub>
                    </m:sSub>
                    <m:r>
                      <a:rPr lang="en-GB" i="1">
                        <a:latin typeface="Cambria Math" panose="02040503050406030204" pitchFamily="18" charset="0"/>
                      </a:rPr>
                      <m:t>=</m:t>
                    </m:r>
                    <m:r>
                      <a:rPr lang="en-GB" i="1">
                        <a:latin typeface="Cambria Math" panose="02040503050406030204" pitchFamily="18" charset="0"/>
                      </a:rPr>
                      <m:t>𝜋</m:t>
                    </m:r>
                  </m:oMath>
                </a14:m>
                <a:endParaRPr lang="en-GB" dirty="0"/>
              </a:p>
              <a:p>
                <a:pPr marL="0" indent="0">
                  <a:buNone/>
                </a:pPr>
                <a:endParaRPr lang="en-GB" dirty="0"/>
              </a:p>
              <a:p>
                <a:endParaRPr lang="en-GB" dirty="0"/>
              </a:p>
            </p:txBody>
          </p:sp>
        </mc:Choice>
        <mc:Fallback xmlns="">
          <p:sp>
            <p:nvSpPr>
              <p:cNvPr id="2" name="Espace réservé du contenu 1">
                <a:extLst>
                  <a:ext uri="{FF2B5EF4-FFF2-40B4-BE49-F238E27FC236}">
                    <a16:creationId xmlns:a16="http://schemas.microsoft.com/office/drawing/2014/main" id="{F4607144-D008-B34E-9446-45A7B280DF1E}"/>
                  </a:ext>
                </a:extLst>
              </p:cNvPr>
              <p:cNvSpPr>
                <a:spLocks noGrp="1" noRot="1" noChangeAspect="1" noMove="1" noResize="1" noEditPoints="1" noAdjustHandles="1" noChangeArrowheads="1" noChangeShapeType="1" noTextEdit="1"/>
              </p:cNvSpPr>
              <p:nvPr>
                <p:ph sz="quarter" idx="1"/>
              </p:nvPr>
            </p:nvSpPr>
            <p:spPr>
              <a:blipFill>
                <a:blip r:embed="rId2"/>
                <a:stretch>
                  <a:fillRect l="-608"/>
                </a:stretch>
              </a:blipFill>
            </p:spPr>
            <p:txBody>
              <a:bodyPr/>
              <a:lstStyle/>
              <a:p>
                <a:r>
                  <a:rPr lang="fr-FR">
                    <a:noFill/>
                  </a:rPr>
                  <a:t> </a:t>
                </a:r>
              </a:p>
            </p:txBody>
          </p:sp>
        </mc:Fallback>
      </mc:AlternateContent>
      <p:sp>
        <p:nvSpPr>
          <p:cNvPr id="3" name="Titre 2">
            <a:extLst>
              <a:ext uri="{FF2B5EF4-FFF2-40B4-BE49-F238E27FC236}">
                <a16:creationId xmlns:a16="http://schemas.microsoft.com/office/drawing/2014/main" id="{FB8F604C-0567-AF48-8294-1281204BC893}"/>
              </a:ext>
            </a:extLst>
          </p:cNvPr>
          <p:cNvSpPr>
            <a:spLocks noGrp="1"/>
          </p:cNvSpPr>
          <p:nvPr>
            <p:ph type="title"/>
          </p:nvPr>
        </p:nvSpPr>
        <p:spPr/>
        <p:txBody>
          <a:bodyPr/>
          <a:lstStyle/>
          <a:p>
            <a:r>
              <a:rPr lang="en-GB" dirty="0"/>
              <a:t>Kinematic singularities</a:t>
            </a:r>
          </a:p>
        </p:txBody>
      </p:sp>
    </p:spTree>
    <p:extLst>
      <p:ext uri="{BB962C8B-B14F-4D97-AF65-F5344CB8AC3E}">
        <p14:creationId xmlns:p14="http://schemas.microsoft.com/office/powerpoint/2010/main" val="20519509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lgn="just">
                  <a:buNone/>
                </a:pPr>
                <a:r>
                  <a:rPr lang="fr-FR" dirty="0"/>
                  <a:t>Modèle dynamique du robot :  </a:t>
                </a:r>
              </a:p>
              <a:p>
                <a:pPr marL="0" indent="0" algn="just">
                  <a:buNone/>
                </a:pPr>
                <a:endParaRPr lang="fr-FR" b="1" dirty="0">
                  <a:latin typeface="Cambria Math"/>
                </a:endParaRPr>
              </a:p>
              <a:p>
                <a:pPr marL="0" indent="0" algn="just">
                  <a:buNone/>
                </a:pPr>
                <a14:m>
                  <m:oMathPara xmlns:m="http://schemas.openxmlformats.org/officeDocument/2006/math">
                    <m:oMathParaPr>
                      <m:jc m:val="center"/>
                    </m:oMathParaPr>
                    <m:oMath xmlns:m="http://schemas.openxmlformats.org/officeDocument/2006/math">
                      <m:r>
                        <a:rPr lang="el-GR" b="1">
                          <a:latin typeface="Cambria Math"/>
                          <a:ea typeface="Cambria Math"/>
                        </a:rPr>
                        <m:t>𝚪</m:t>
                      </m:r>
                      <m:r>
                        <a:rPr lang="fr-FR" b="1" i="1">
                          <a:latin typeface="Cambria Math"/>
                          <a:ea typeface="Cambria Math"/>
                        </a:rPr>
                        <m:t>=</m:t>
                      </m:r>
                      <m:r>
                        <a:rPr lang="fr-FR" b="1">
                          <a:latin typeface="Cambria Math"/>
                        </a:rPr>
                        <m:t>𝐀</m:t>
                      </m:r>
                      <m:d>
                        <m:dPr>
                          <m:ctrlPr>
                            <a:rPr lang="fr-FR" i="1">
                              <a:latin typeface="Cambria Math" panose="02040503050406030204" pitchFamily="18" charset="0"/>
                            </a:rPr>
                          </m:ctrlPr>
                        </m:dPr>
                        <m:e>
                          <m:r>
                            <a:rPr lang="fr-FR" b="1">
                              <a:latin typeface="Cambria Math"/>
                            </a:rPr>
                            <m:t>𝐪</m:t>
                          </m:r>
                        </m:e>
                      </m:d>
                      <m:acc>
                        <m:accPr>
                          <m:chr m:val="̈"/>
                          <m:ctrlPr>
                            <a:rPr lang="fr-FR" i="1">
                              <a:latin typeface="Cambria Math" panose="02040503050406030204" pitchFamily="18" charset="0"/>
                            </a:rPr>
                          </m:ctrlPr>
                        </m:accPr>
                        <m:e>
                          <m:r>
                            <a:rPr lang="fr-FR" b="1">
                              <a:latin typeface="Cambria Math"/>
                            </a:rPr>
                            <m:t>𝐪</m:t>
                          </m:r>
                        </m:e>
                      </m:acc>
                      <m:r>
                        <a:rPr lang="fr-FR" i="1">
                          <a:latin typeface="Cambria Math"/>
                        </a:rPr>
                        <m:t>+</m:t>
                      </m:r>
                      <m:r>
                        <a:rPr lang="fr-FR" b="1">
                          <a:latin typeface="Cambria Math"/>
                        </a:rPr>
                        <m:t>𝐂</m:t>
                      </m:r>
                      <m:d>
                        <m:dPr>
                          <m:ctrlPr>
                            <a:rPr lang="fr-FR" i="1">
                              <a:latin typeface="Cambria Math" panose="02040503050406030204" pitchFamily="18" charset="0"/>
                            </a:rPr>
                          </m:ctrlPr>
                        </m:dPr>
                        <m:e>
                          <m:r>
                            <a:rPr lang="fr-FR" b="1">
                              <a:latin typeface="Cambria Math"/>
                            </a:rPr>
                            <m:t>𝐪</m:t>
                          </m:r>
                          <m:r>
                            <a:rPr lang="fr-FR" i="1">
                              <a:latin typeface="Cambria Math"/>
                            </a:rPr>
                            <m:t>,</m:t>
                          </m:r>
                          <m:acc>
                            <m:accPr>
                              <m:chr m:val="̇"/>
                              <m:ctrlPr>
                                <a:rPr lang="fr-FR" i="1">
                                  <a:latin typeface="Cambria Math" panose="02040503050406030204" pitchFamily="18" charset="0"/>
                                </a:rPr>
                              </m:ctrlPr>
                            </m:accPr>
                            <m:e>
                              <m:r>
                                <a:rPr lang="fr-FR" b="1">
                                  <a:latin typeface="Cambria Math"/>
                                </a:rPr>
                                <m:t>𝐪</m:t>
                              </m:r>
                            </m:e>
                          </m:acc>
                        </m:e>
                      </m:d>
                      <m:acc>
                        <m:accPr>
                          <m:chr m:val="̇"/>
                          <m:ctrlPr>
                            <a:rPr lang="fr-FR" i="1">
                              <a:latin typeface="Cambria Math" panose="02040503050406030204" pitchFamily="18" charset="0"/>
                            </a:rPr>
                          </m:ctrlPr>
                        </m:accPr>
                        <m:e>
                          <m:r>
                            <a:rPr lang="fr-FR" b="1">
                              <a:latin typeface="Cambria Math"/>
                            </a:rPr>
                            <m:t>𝐪</m:t>
                          </m:r>
                        </m:e>
                      </m:acc>
                      <m:r>
                        <a:rPr lang="fr-FR" i="1">
                          <a:latin typeface="Cambria Math"/>
                        </a:rPr>
                        <m:t>+</m:t>
                      </m:r>
                      <m:r>
                        <a:rPr lang="fr-FR" b="1">
                          <a:latin typeface="Cambria Math"/>
                        </a:rPr>
                        <m:t>𝐠</m:t>
                      </m:r>
                      <m:d>
                        <m:dPr>
                          <m:ctrlPr>
                            <a:rPr lang="fr-FR" i="1">
                              <a:latin typeface="Cambria Math" panose="02040503050406030204" pitchFamily="18" charset="0"/>
                            </a:rPr>
                          </m:ctrlPr>
                        </m:dPr>
                        <m:e>
                          <m:r>
                            <a:rPr lang="fr-FR" b="1">
                              <a:latin typeface="Cambria Math"/>
                            </a:rPr>
                            <m:t>𝐪</m:t>
                          </m:r>
                        </m:e>
                      </m:d>
                      <m:r>
                        <a:rPr lang="fr-FR" i="1">
                          <a:latin typeface="Cambria Math"/>
                        </a:rPr>
                        <m:t>+</m:t>
                      </m:r>
                      <m:r>
                        <a:rPr lang="fr-FR" b="1">
                          <a:latin typeface="Cambria Math"/>
                        </a:rPr>
                        <m:t>𝐃𝐢𝐚𝐠</m:t>
                      </m:r>
                      <m:d>
                        <m:dPr>
                          <m:ctrlPr>
                            <a:rPr lang="fr-FR" i="1">
                              <a:latin typeface="Cambria Math" panose="02040503050406030204" pitchFamily="18" charset="0"/>
                            </a:rPr>
                          </m:ctrlPr>
                        </m:dPr>
                        <m:e>
                          <m:acc>
                            <m:accPr>
                              <m:chr m:val="̇"/>
                              <m:ctrlPr>
                                <a:rPr lang="fr-FR" i="1">
                                  <a:latin typeface="Cambria Math" panose="02040503050406030204" pitchFamily="18" charset="0"/>
                                </a:rPr>
                              </m:ctrlPr>
                            </m:accPr>
                            <m:e>
                              <m:r>
                                <a:rPr lang="fr-FR" b="1">
                                  <a:latin typeface="Cambria Math"/>
                                </a:rPr>
                                <m:t>𝐪</m:t>
                              </m:r>
                            </m:e>
                          </m:acc>
                        </m:e>
                      </m:d>
                      <m:sSub>
                        <m:sSubPr>
                          <m:ctrlPr>
                            <a:rPr lang="fr-FR" i="1">
                              <a:latin typeface="Cambria Math" panose="02040503050406030204" pitchFamily="18" charset="0"/>
                            </a:rPr>
                          </m:ctrlPr>
                        </m:sSubPr>
                        <m:e>
                          <m:r>
                            <a:rPr lang="fr-FR" b="1">
                              <a:latin typeface="Cambria Math"/>
                            </a:rPr>
                            <m:t>𝐟</m:t>
                          </m:r>
                        </m:e>
                        <m:sub>
                          <m:r>
                            <a:rPr lang="fr-FR" i="1">
                              <a:latin typeface="Cambria Math"/>
                            </a:rPr>
                            <m:t>𝑣</m:t>
                          </m:r>
                        </m:sub>
                      </m:sSub>
                      <m:r>
                        <a:rPr lang="fr-FR" i="1">
                          <a:latin typeface="Cambria Math"/>
                        </a:rPr>
                        <m:t>+</m:t>
                      </m:r>
                      <m:r>
                        <a:rPr lang="fr-FR" b="1">
                          <a:latin typeface="Cambria Math"/>
                        </a:rPr>
                        <m:t>𝐃𝐢𝐚𝐠</m:t>
                      </m:r>
                      <m:r>
                        <a:rPr lang="fr-FR" i="1">
                          <a:latin typeface="Cambria Math"/>
                        </a:rPr>
                        <m:t>(</m:t>
                      </m:r>
                      <m:r>
                        <a:rPr lang="fr-FR" i="1">
                          <a:latin typeface="Cambria Math"/>
                        </a:rPr>
                        <m:t>𝑆𝑖𝑔𝑛</m:t>
                      </m:r>
                      <m:r>
                        <a:rPr lang="fr-FR" i="1">
                          <a:latin typeface="Cambria Math"/>
                        </a:rPr>
                        <m:t>(</m:t>
                      </m:r>
                      <m:acc>
                        <m:accPr>
                          <m:chr m:val="̇"/>
                          <m:ctrlPr>
                            <a:rPr lang="fr-FR" i="1">
                              <a:latin typeface="Cambria Math" panose="02040503050406030204" pitchFamily="18" charset="0"/>
                            </a:rPr>
                          </m:ctrlPr>
                        </m:accPr>
                        <m:e>
                          <m:r>
                            <a:rPr lang="fr-FR" b="1">
                              <a:latin typeface="Cambria Math"/>
                            </a:rPr>
                            <m:t>𝐪</m:t>
                          </m:r>
                        </m:e>
                      </m:acc>
                      <m:r>
                        <a:rPr lang="fr-FR" i="1">
                          <a:latin typeface="Cambria Math"/>
                        </a:rPr>
                        <m:t>))</m:t>
                      </m:r>
                      <m:sSub>
                        <m:sSubPr>
                          <m:ctrlPr>
                            <a:rPr lang="fr-FR" i="1">
                              <a:latin typeface="Cambria Math" panose="02040503050406030204" pitchFamily="18" charset="0"/>
                            </a:rPr>
                          </m:ctrlPr>
                        </m:sSubPr>
                        <m:e>
                          <m:r>
                            <a:rPr lang="fr-FR" b="1">
                              <a:latin typeface="Cambria Math"/>
                            </a:rPr>
                            <m:t>𝐟</m:t>
                          </m:r>
                        </m:e>
                        <m:sub>
                          <m:r>
                            <a:rPr lang="fr-FR" i="1">
                              <a:latin typeface="Cambria Math"/>
                            </a:rPr>
                            <m:t>𝑠</m:t>
                          </m:r>
                        </m:sub>
                      </m:sSub>
                    </m:oMath>
                  </m:oMathPara>
                </a14:m>
                <a:endParaRPr lang="fr-FR" dirty="0"/>
              </a:p>
              <a:p>
                <a:pPr marL="0" indent="0" algn="just">
                  <a:buNone/>
                </a:pPr>
                <a:endParaRPr lang="fr-FR" dirty="0"/>
              </a:p>
              <a:p>
                <a:pPr marL="0" indent="0" algn="just">
                  <a:buNone/>
                </a:pPr>
                <a:r>
                  <a:rPr lang="fr-FR" dirty="0"/>
                  <a:t>Ou encore sous forme compact :</a:t>
                </a:r>
              </a:p>
              <a:p>
                <a:pPr marL="0" indent="0" algn="just">
                  <a:buNone/>
                </a:pPr>
                <a14:m>
                  <m:oMathPara xmlns:m="http://schemas.openxmlformats.org/officeDocument/2006/math">
                    <m:oMathParaPr>
                      <m:jc m:val="centerGroup"/>
                    </m:oMathParaPr>
                    <m:oMath xmlns:m="http://schemas.openxmlformats.org/officeDocument/2006/math">
                      <m:r>
                        <a:rPr lang="el-GR" b="1">
                          <a:latin typeface="Cambria Math"/>
                          <a:ea typeface="Cambria Math"/>
                        </a:rPr>
                        <m:t>𝚪</m:t>
                      </m:r>
                      <m:r>
                        <a:rPr lang="fr-FR" i="1">
                          <a:latin typeface="Cambria Math"/>
                        </a:rPr>
                        <m:t>=</m:t>
                      </m:r>
                      <m:r>
                        <a:rPr lang="fr-FR" b="1">
                          <a:latin typeface="Cambria Math"/>
                        </a:rPr>
                        <m:t>𝐀</m:t>
                      </m:r>
                      <m:d>
                        <m:dPr>
                          <m:ctrlPr>
                            <a:rPr lang="fr-FR" i="1">
                              <a:latin typeface="Cambria Math" panose="02040503050406030204" pitchFamily="18" charset="0"/>
                            </a:rPr>
                          </m:ctrlPr>
                        </m:dPr>
                        <m:e>
                          <m:r>
                            <a:rPr lang="fr-FR" b="1">
                              <a:latin typeface="Cambria Math"/>
                            </a:rPr>
                            <m:t>𝐪</m:t>
                          </m:r>
                        </m:e>
                      </m:d>
                      <m:acc>
                        <m:accPr>
                          <m:chr m:val="̈"/>
                          <m:ctrlPr>
                            <a:rPr lang="fr-FR" i="1">
                              <a:latin typeface="Cambria Math" panose="02040503050406030204" pitchFamily="18" charset="0"/>
                            </a:rPr>
                          </m:ctrlPr>
                        </m:accPr>
                        <m:e>
                          <m:r>
                            <a:rPr lang="fr-FR" b="1">
                              <a:latin typeface="Cambria Math"/>
                            </a:rPr>
                            <m:t>𝐪</m:t>
                          </m:r>
                        </m:e>
                      </m:acc>
                      <m:r>
                        <a:rPr lang="fr-FR" i="1">
                          <a:latin typeface="Cambria Math"/>
                        </a:rPr>
                        <m:t>+</m:t>
                      </m:r>
                      <m:r>
                        <a:rPr lang="fr-FR" b="1">
                          <a:latin typeface="Cambria Math"/>
                        </a:rPr>
                        <m:t>𝐇</m:t>
                      </m:r>
                      <m:r>
                        <a:rPr lang="fr-FR" i="1">
                          <a:latin typeface="Cambria Math"/>
                        </a:rPr>
                        <m:t>(</m:t>
                      </m:r>
                      <m:r>
                        <a:rPr lang="fr-FR" b="1">
                          <a:latin typeface="Cambria Math"/>
                        </a:rPr>
                        <m:t>𝐪</m:t>
                      </m:r>
                      <m:r>
                        <a:rPr lang="fr-FR" i="1">
                          <a:latin typeface="Cambria Math"/>
                        </a:rPr>
                        <m:t>, </m:t>
                      </m:r>
                      <m:acc>
                        <m:accPr>
                          <m:chr m:val="̇"/>
                          <m:ctrlPr>
                            <a:rPr lang="fr-FR" i="1">
                              <a:latin typeface="Cambria Math" panose="02040503050406030204" pitchFamily="18" charset="0"/>
                            </a:rPr>
                          </m:ctrlPr>
                        </m:accPr>
                        <m:e>
                          <m:r>
                            <a:rPr lang="fr-FR" b="1">
                              <a:latin typeface="Cambria Math"/>
                            </a:rPr>
                            <m:t>𝐪</m:t>
                          </m:r>
                        </m:e>
                      </m:acc>
                      <m:r>
                        <a:rPr lang="fr-FR" i="1">
                          <a:latin typeface="Cambria Math"/>
                        </a:rPr>
                        <m:t>)</m:t>
                      </m:r>
                    </m:oMath>
                  </m:oMathPara>
                </a14:m>
                <a:endParaRPr lang="fr-FR" dirty="0"/>
              </a:p>
              <a:p>
                <a:pPr marL="0" indent="0" algn="just">
                  <a:buNone/>
                </a:pPr>
                <a:endParaRPr lang="fr-FR" b="1" dirty="0">
                  <a:latin typeface="Cambria Math"/>
                </a:endParaRPr>
              </a:p>
              <a:p>
                <a:pPr marL="0" indent="0" algn="just">
                  <a:buNone/>
                </a:pPr>
                <a14:m>
                  <m:oMath xmlns:m="http://schemas.openxmlformats.org/officeDocument/2006/math">
                    <m:r>
                      <a:rPr lang="fr-FR" b="1" smtClean="0">
                        <a:latin typeface="Cambria Math"/>
                      </a:rPr>
                      <m:t>𝐀</m:t>
                    </m:r>
                    <m:d>
                      <m:dPr>
                        <m:ctrlPr>
                          <a:rPr lang="fr-FR" i="1">
                            <a:latin typeface="Cambria Math" panose="02040503050406030204" pitchFamily="18" charset="0"/>
                          </a:rPr>
                        </m:ctrlPr>
                      </m:dPr>
                      <m:e>
                        <m:r>
                          <a:rPr lang="fr-FR" b="1">
                            <a:latin typeface="Cambria Math"/>
                          </a:rPr>
                          <m:t>𝐪</m:t>
                        </m:r>
                      </m:e>
                    </m:d>
                  </m:oMath>
                </a14:m>
                <a:r>
                  <a:rPr lang="fr-FR" dirty="0"/>
                  <a:t> : matrice d’inertie du robot, symétrique définie positive de dimension </a:t>
                </a:r>
                <a14:m>
                  <m:oMath xmlns:m="http://schemas.openxmlformats.org/officeDocument/2006/math">
                    <m:r>
                      <a:rPr lang="fr-FR" b="0" i="1" smtClean="0">
                        <a:latin typeface="Cambria Math"/>
                        <a:ea typeface="Cambria Math"/>
                      </a:rPr>
                      <m:t>𝑛</m:t>
                    </m:r>
                    <m:r>
                      <a:rPr lang="fr-FR" i="1">
                        <a:latin typeface="Cambria Math"/>
                        <a:ea typeface="Cambria Math"/>
                      </a:rPr>
                      <m:t>×</m:t>
                    </m:r>
                    <m:r>
                      <a:rPr lang="fr-FR" b="0" i="1" smtClean="0">
                        <a:latin typeface="Cambria Math"/>
                        <a:ea typeface="Cambria Math"/>
                      </a:rPr>
                      <m:t>𝑛</m:t>
                    </m:r>
                  </m:oMath>
                </a14:m>
                <a:endParaRPr lang="fr-FR" dirty="0"/>
              </a:p>
              <a:p>
                <a:pPr marL="0" indent="0" algn="just">
                  <a:buNone/>
                </a:pPr>
                <a14:m>
                  <m:oMath xmlns:m="http://schemas.openxmlformats.org/officeDocument/2006/math">
                    <m:r>
                      <a:rPr lang="fr-FR" b="1" i="0" smtClean="0">
                        <a:latin typeface="Cambria Math"/>
                      </a:rPr>
                      <m:t>𝐂</m:t>
                    </m:r>
                    <m:d>
                      <m:dPr>
                        <m:ctrlPr>
                          <a:rPr lang="fr-FR" i="1">
                            <a:latin typeface="Cambria Math" panose="02040503050406030204" pitchFamily="18" charset="0"/>
                          </a:rPr>
                        </m:ctrlPr>
                      </m:dPr>
                      <m:e>
                        <m:r>
                          <a:rPr lang="fr-FR" b="1">
                            <a:latin typeface="Cambria Math"/>
                          </a:rPr>
                          <m:t>𝐪</m:t>
                        </m:r>
                        <m:r>
                          <a:rPr lang="fr-FR" i="1">
                            <a:latin typeface="Cambria Math"/>
                          </a:rPr>
                          <m:t>, </m:t>
                        </m:r>
                        <m:acc>
                          <m:accPr>
                            <m:chr m:val="̇"/>
                            <m:ctrlPr>
                              <a:rPr lang="fr-FR" i="1">
                                <a:latin typeface="Cambria Math" panose="02040503050406030204" pitchFamily="18" charset="0"/>
                              </a:rPr>
                            </m:ctrlPr>
                          </m:accPr>
                          <m:e>
                            <m:r>
                              <a:rPr lang="fr-FR" b="1">
                                <a:latin typeface="Cambria Math"/>
                              </a:rPr>
                              <m:t>𝐪</m:t>
                            </m:r>
                          </m:e>
                        </m:acc>
                      </m:e>
                    </m:d>
                    <m:acc>
                      <m:accPr>
                        <m:chr m:val="̇"/>
                        <m:ctrlPr>
                          <a:rPr lang="fr-FR" i="1">
                            <a:latin typeface="Cambria Math" panose="02040503050406030204" pitchFamily="18" charset="0"/>
                          </a:rPr>
                        </m:ctrlPr>
                      </m:accPr>
                      <m:e>
                        <m:r>
                          <a:rPr lang="fr-FR" b="1">
                            <a:latin typeface="Cambria Math"/>
                          </a:rPr>
                          <m:t>𝐪</m:t>
                        </m:r>
                      </m:e>
                    </m:acc>
                    <m:r>
                      <a:rPr lang="fr-FR" i="1">
                        <a:latin typeface="Cambria Math"/>
                      </a:rPr>
                      <m:t>:</m:t>
                    </m:r>
                  </m:oMath>
                </a14:m>
                <a:r>
                  <a:rPr lang="fr-FR" dirty="0"/>
                  <a:t> vecteur des couples/forces Coriolis et forces centrifuges de dimension </a:t>
                </a:r>
                <a14:m>
                  <m:oMath xmlns:m="http://schemas.openxmlformats.org/officeDocument/2006/math">
                    <m:r>
                      <a:rPr lang="fr-FR" b="0" i="1" smtClean="0">
                        <a:latin typeface="Cambria Math"/>
                        <a:ea typeface="Cambria Math"/>
                      </a:rPr>
                      <m:t>𝑛</m:t>
                    </m:r>
                    <m:r>
                      <a:rPr lang="fr-FR" i="1">
                        <a:latin typeface="Cambria Math"/>
                        <a:ea typeface="Cambria Math"/>
                      </a:rPr>
                      <m:t>×1</m:t>
                    </m:r>
                  </m:oMath>
                </a14:m>
                <a:r>
                  <a:rPr lang="fr-FR" dirty="0"/>
                  <a:t> </a:t>
                </a:r>
              </a:p>
              <a:p>
                <a:pPr marL="0" indent="0" algn="just">
                  <a:buNone/>
                </a:pPr>
                <a14:m>
                  <m:oMath xmlns:m="http://schemas.openxmlformats.org/officeDocument/2006/math">
                    <m:r>
                      <a:rPr lang="fr-FR" b="1">
                        <a:latin typeface="Cambria Math"/>
                      </a:rPr>
                      <m:t>𝐠</m:t>
                    </m:r>
                    <m:r>
                      <a:rPr lang="fr-FR" i="1">
                        <a:latin typeface="Cambria Math"/>
                      </a:rPr>
                      <m:t>(</m:t>
                    </m:r>
                    <m:r>
                      <a:rPr lang="fr-FR" b="1">
                        <a:latin typeface="Cambria Math"/>
                      </a:rPr>
                      <m:t>𝐪</m:t>
                    </m:r>
                    <m:r>
                      <a:rPr lang="fr-FR" i="1">
                        <a:latin typeface="Cambria Math"/>
                      </a:rPr>
                      <m:t>)</m:t>
                    </m:r>
                  </m:oMath>
                </a14:m>
                <a:r>
                  <a:rPr lang="fr-FR" dirty="0"/>
                  <a:t> : vecteur des couples/forces de gravité de dimension </a:t>
                </a:r>
                <a14:m>
                  <m:oMath xmlns:m="http://schemas.openxmlformats.org/officeDocument/2006/math">
                    <m:r>
                      <a:rPr lang="fr-FR" b="0" i="1" smtClean="0">
                        <a:latin typeface="Cambria Math"/>
                        <a:ea typeface="Cambria Math"/>
                      </a:rPr>
                      <m:t>𝑛</m:t>
                    </m:r>
                    <m:r>
                      <a:rPr lang="fr-FR" i="1">
                        <a:latin typeface="Cambria Math"/>
                        <a:ea typeface="Cambria Math"/>
                      </a:rPr>
                      <m:t>×1</m:t>
                    </m:r>
                  </m:oMath>
                </a14:m>
                <a:endParaRPr lang="fr-FR" dirty="0"/>
              </a:p>
              <a:p>
                <a:pPr marL="0" indent="0" algn="just">
                  <a:buNone/>
                </a:pPr>
                <a14:m>
                  <m:oMathPara xmlns:m="http://schemas.openxmlformats.org/officeDocument/2006/math">
                    <m:oMathParaPr>
                      <m:jc m:val="left"/>
                    </m:oMathParaPr>
                    <m:oMath xmlns:m="http://schemas.openxmlformats.org/officeDocument/2006/math">
                      <m:r>
                        <a:rPr lang="fr-FR" b="1">
                          <a:latin typeface="Cambria Math"/>
                        </a:rPr>
                        <m:t>𝐃𝐢𝐚𝐠</m:t>
                      </m:r>
                      <m:d>
                        <m:dPr>
                          <m:ctrlPr>
                            <a:rPr lang="fr-FR" i="1">
                              <a:latin typeface="Cambria Math" panose="02040503050406030204" pitchFamily="18" charset="0"/>
                            </a:rPr>
                          </m:ctrlPr>
                        </m:dPr>
                        <m:e>
                          <m:acc>
                            <m:accPr>
                              <m:chr m:val="̇"/>
                              <m:ctrlPr>
                                <a:rPr lang="fr-FR" i="1">
                                  <a:latin typeface="Cambria Math" panose="02040503050406030204" pitchFamily="18" charset="0"/>
                                </a:rPr>
                              </m:ctrlPr>
                            </m:accPr>
                            <m:e>
                              <m:r>
                                <a:rPr lang="fr-FR" b="1">
                                  <a:latin typeface="Cambria Math"/>
                                </a:rPr>
                                <m:t>𝐪</m:t>
                              </m:r>
                            </m:e>
                          </m:acc>
                        </m:e>
                      </m:d>
                      <m:r>
                        <a:rPr lang="fr-FR" i="1">
                          <a:latin typeface="Cambria Math"/>
                        </a:rPr>
                        <m:t>=</m:t>
                      </m:r>
                      <m:d>
                        <m:dPr>
                          <m:ctrlPr>
                            <a:rPr lang="fr-FR" i="1">
                              <a:latin typeface="Cambria Math" panose="02040503050406030204" pitchFamily="18" charset="0"/>
                            </a:rPr>
                          </m:ctrlPr>
                        </m:dPr>
                        <m:e>
                          <m:m>
                            <m:mPr>
                              <m:mcs>
                                <m:mc>
                                  <m:mcPr>
                                    <m:count m:val="3"/>
                                    <m:mcJc m:val="center"/>
                                  </m:mcPr>
                                </m:mc>
                              </m:mcs>
                              <m:ctrlPr>
                                <a:rPr lang="fr-FR" i="1">
                                  <a:latin typeface="Cambria Math" panose="02040503050406030204" pitchFamily="18" charset="0"/>
                                </a:rPr>
                              </m:ctrlPr>
                            </m:mPr>
                            <m:mr>
                              <m:e>
                                <m:sSub>
                                  <m:sSubPr>
                                    <m:ctrlPr>
                                      <a:rPr lang="fr-FR" i="1">
                                        <a:latin typeface="Cambria Math" panose="02040503050406030204" pitchFamily="18" charset="0"/>
                                      </a:rPr>
                                    </m:ctrlPr>
                                  </m:sSubPr>
                                  <m:e>
                                    <m:acc>
                                      <m:accPr>
                                        <m:chr m:val="̇"/>
                                        <m:ctrlPr>
                                          <a:rPr lang="fr-FR" i="1">
                                            <a:latin typeface="Cambria Math" panose="02040503050406030204" pitchFamily="18" charset="0"/>
                                          </a:rPr>
                                        </m:ctrlPr>
                                      </m:accPr>
                                      <m:e>
                                        <m:r>
                                          <a:rPr lang="fr-FR">
                                            <a:latin typeface="Cambria Math"/>
                                          </a:rPr>
                                          <m:t>𝑞</m:t>
                                        </m:r>
                                      </m:e>
                                    </m:acc>
                                  </m:e>
                                  <m:sub>
                                    <m:r>
                                      <a:rPr lang="fr-FR">
                                        <a:latin typeface="Cambria Math"/>
                                      </a:rPr>
                                      <m:t>1</m:t>
                                    </m:r>
                                  </m:sub>
                                </m:sSub>
                              </m:e>
                              <m:e>
                                <m:r>
                                  <a:rPr lang="fr-FR" i="1">
                                    <a:latin typeface="Cambria Math"/>
                                  </a:rPr>
                                  <m:t>⋯</m:t>
                                </m:r>
                              </m:e>
                              <m:e>
                                <m:r>
                                  <a:rPr lang="fr-FR" i="1">
                                    <a:latin typeface="Cambria Math"/>
                                  </a:rPr>
                                  <m:t>0</m:t>
                                </m:r>
                              </m:e>
                            </m:mr>
                            <m:mr>
                              <m:e>
                                <m:r>
                                  <a:rPr lang="fr-FR" i="1">
                                    <a:latin typeface="Cambria Math"/>
                                  </a:rPr>
                                  <m:t>⋮</m:t>
                                </m:r>
                              </m:e>
                              <m:e>
                                <m:r>
                                  <a:rPr lang="fr-FR" i="1">
                                    <a:latin typeface="Cambria Math"/>
                                  </a:rPr>
                                  <m:t>⋱</m:t>
                                </m:r>
                              </m:e>
                              <m:e>
                                <m:r>
                                  <a:rPr lang="fr-FR" i="1">
                                    <a:latin typeface="Cambria Math"/>
                                  </a:rPr>
                                  <m:t>⋮</m:t>
                                </m:r>
                              </m:e>
                            </m:mr>
                            <m:mr>
                              <m:e>
                                <m:r>
                                  <a:rPr lang="fr-FR" i="1">
                                    <a:latin typeface="Cambria Math"/>
                                  </a:rPr>
                                  <m:t>0</m:t>
                                </m:r>
                              </m:e>
                              <m:e>
                                <m:r>
                                  <a:rPr lang="fr-FR" i="1">
                                    <a:latin typeface="Cambria Math"/>
                                  </a:rPr>
                                  <m:t>⋯</m:t>
                                </m:r>
                              </m:e>
                              <m:e>
                                <m:sSub>
                                  <m:sSubPr>
                                    <m:ctrlPr>
                                      <a:rPr lang="fr-FR" i="1">
                                        <a:latin typeface="Cambria Math" panose="02040503050406030204" pitchFamily="18" charset="0"/>
                                      </a:rPr>
                                    </m:ctrlPr>
                                  </m:sSubPr>
                                  <m:e>
                                    <m:acc>
                                      <m:accPr>
                                        <m:chr m:val="̇"/>
                                        <m:ctrlPr>
                                          <a:rPr lang="fr-FR" i="1">
                                            <a:latin typeface="Cambria Math" panose="02040503050406030204" pitchFamily="18" charset="0"/>
                                          </a:rPr>
                                        </m:ctrlPr>
                                      </m:accPr>
                                      <m:e>
                                        <m:r>
                                          <a:rPr lang="fr-FR">
                                            <a:latin typeface="Cambria Math"/>
                                          </a:rPr>
                                          <m:t>𝑞</m:t>
                                        </m:r>
                                      </m:e>
                                    </m:acc>
                                  </m:e>
                                  <m:sub>
                                    <m:r>
                                      <m:rPr>
                                        <m:sty m:val="p"/>
                                      </m:rPr>
                                      <a:rPr lang="fr-FR" b="0" i="0" smtClean="0">
                                        <a:latin typeface="Cambria Math"/>
                                      </a:rPr>
                                      <m:t>n</m:t>
                                    </m:r>
                                  </m:sub>
                                </m:sSub>
                              </m:e>
                            </m:mr>
                          </m:m>
                        </m:e>
                      </m:d>
                    </m:oMath>
                  </m:oMathPara>
                </a14:m>
                <a:endParaRPr lang="fr-FR" dirty="0"/>
              </a:p>
              <a:p>
                <a:pPr marL="0" indent="0">
                  <a:buNone/>
                </a:pPr>
                <a14:m>
                  <m:oMath xmlns:m="http://schemas.openxmlformats.org/officeDocument/2006/math">
                    <m:sSub>
                      <m:sSubPr>
                        <m:ctrlPr>
                          <a:rPr lang="fr-FR" i="1">
                            <a:latin typeface="Cambria Math" panose="02040503050406030204" pitchFamily="18" charset="0"/>
                          </a:rPr>
                        </m:ctrlPr>
                      </m:sSubPr>
                      <m:e>
                        <m:r>
                          <a:rPr lang="fr-FR" b="1">
                            <a:latin typeface="Cambria Math"/>
                          </a:rPr>
                          <m:t>𝐟</m:t>
                        </m:r>
                      </m:e>
                      <m:sub>
                        <m:r>
                          <a:rPr lang="fr-FR" i="1">
                            <a:latin typeface="Cambria Math"/>
                          </a:rPr>
                          <m:t>𝑣</m:t>
                        </m:r>
                      </m:sub>
                    </m:sSub>
                    <m:r>
                      <a:rPr lang="fr-FR" i="1">
                        <a:latin typeface="Cambria Math"/>
                      </a:rPr>
                      <m:t>=</m:t>
                    </m:r>
                    <m:sSup>
                      <m:sSupPr>
                        <m:ctrlPr>
                          <a:rPr lang="fr-FR" i="1">
                            <a:latin typeface="Cambria Math" panose="02040503050406030204" pitchFamily="18" charset="0"/>
                          </a:rPr>
                        </m:ctrlPr>
                      </m:sSupPr>
                      <m:e>
                        <m:d>
                          <m:dPr>
                            <m:begChr m:val="["/>
                            <m:endChr m:val="]"/>
                            <m:ctrlPr>
                              <a:rPr lang="fr-FR" i="1">
                                <a:latin typeface="Cambria Math" panose="02040503050406030204" pitchFamily="18" charset="0"/>
                              </a:rPr>
                            </m:ctrlPr>
                          </m:dPr>
                          <m:e>
                            <m:m>
                              <m:mPr>
                                <m:mcs>
                                  <m:mc>
                                    <m:mcPr>
                                      <m:count m:val="2"/>
                                      <m:mcJc m:val="center"/>
                                    </m:mcPr>
                                  </m:mc>
                                </m:mcs>
                                <m:ctrlPr>
                                  <a:rPr lang="fr-FR" i="1">
                                    <a:latin typeface="Cambria Math" panose="02040503050406030204" pitchFamily="18" charset="0"/>
                                  </a:rPr>
                                </m:ctrlPr>
                              </m:mPr>
                              <m:mr>
                                <m:e>
                                  <m:m>
                                    <m:mPr>
                                      <m:mcs>
                                        <m:mc>
                                          <m:mcPr>
                                            <m:count m:val="2"/>
                                            <m:mcJc m:val="center"/>
                                          </m:mcPr>
                                        </m:mc>
                                      </m:mcs>
                                      <m:ctrlPr>
                                        <a:rPr lang="fr-FR" i="1">
                                          <a:latin typeface="Cambria Math" panose="02040503050406030204" pitchFamily="18" charset="0"/>
                                        </a:rPr>
                                      </m:ctrlPr>
                                    </m:mPr>
                                    <m:mr>
                                      <m:e>
                                        <m:sSub>
                                          <m:sSubPr>
                                            <m:ctrlPr>
                                              <a:rPr lang="fr-FR" i="1">
                                                <a:latin typeface="Cambria Math" panose="02040503050406030204" pitchFamily="18" charset="0"/>
                                              </a:rPr>
                                            </m:ctrlPr>
                                          </m:sSubPr>
                                          <m:e>
                                            <m:r>
                                              <a:rPr lang="fr-FR" i="1">
                                                <a:latin typeface="Cambria Math"/>
                                              </a:rPr>
                                              <m:t>𝑓</m:t>
                                            </m:r>
                                          </m:e>
                                          <m:sub>
                                            <m:sSub>
                                              <m:sSubPr>
                                                <m:ctrlPr>
                                                  <a:rPr lang="el-GR" i="1">
                                                    <a:latin typeface="Cambria Math" panose="02040503050406030204" pitchFamily="18" charset="0"/>
                                                  </a:rPr>
                                                </m:ctrlPr>
                                              </m:sSubPr>
                                              <m:e>
                                                <m:r>
                                                  <a:rPr lang="fr-FR" i="1">
                                                    <a:latin typeface="Cambria Math"/>
                                                  </a:rPr>
                                                  <m:t>𝑣</m:t>
                                                </m:r>
                                              </m:e>
                                              <m:sub>
                                                <m:r>
                                                  <a:rPr lang="fr-FR" i="1">
                                                    <a:latin typeface="Cambria Math"/>
                                                  </a:rPr>
                                                  <m:t>1</m:t>
                                                </m:r>
                                              </m:sub>
                                            </m:sSub>
                                          </m:sub>
                                        </m:sSub>
                                      </m:e>
                                      <m:e>
                                        <m:sSub>
                                          <m:sSubPr>
                                            <m:ctrlPr>
                                              <a:rPr lang="fr-FR" i="1">
                                                <a:latin typeface="Cambria Math" panose="02040503050406030204" pitchFamily="18" charset="0"/>
                                              </a:rPr>
                                            </m:ctrlPr>
                                          </m:sSubPr>
                                          <m:e>
                                            <m:r>
                                              <a:rPr lang="fr-FR" i="1">
                                                <a:latin typeface="Cambria Math"/>
                                              </a:rPr>
                                              <m:t>𝑓</m:t>
                                            </m:r>
                                          </m:e>
                                          <m:sub>
                                            <m:sSub>
                                              <m:sSubPr>
                                                <m:ctrlPr>
                                                  <a:rPr lang="el-GR" i="1">
                                                    <a:latin typeface="Cambria Math" panose="02040503050406030204" pitchFamily="18" charset="0"/>
                                                  </a:rPr>
                                                </m:ctrlPr>
                                              </m:sSubPr>
                                              <m:e>
                                                <m:r>
                                                  <a:rPr lang="fr-FR" i="1">
                                                    <a:latin typeface="Cambria Math"/>
                                                  </a:rPr>
                                                  <m:t>𝑣</m:t>
                                                </m:r>
                                              </m:e>
                                              <m:sub>
                                                <m:r>
                                                  <a:rPr lang="fr-FR" i="1">
                                                    <a:latin typeface="Cambria Math"/>
                                                  </a:rPr>
                                                  <m:t>2</m:t>
                                                </m:r>
                                              </m:sub>
                                            </m:sSub>
                                          </m:sub>
                                        </m:sSub>
                                      </m:e>
                                    </m:mr>
                                  </m:m>
                                </m:e>
                                <m:e>
                                  <m:m>
                                    <m:mPr>
                                      <m:mcs>
                                        <m:mc>
                                          <m:mcPr>
                                            <m:count m:val="2"/>
                                            <m:mcJc m:val="center"/>
                                          </m:mcPr>
                                        </m:mc>
                                      </m:mcs>
                                      <m:ctrlPr>
                                        <a:rPr lang="fr-FR" i="1">
                                          <a:latin typeface="Cambria Math" panose="02040503050406030204" pitchFamily="18" charset="0"/>
                                        </a:rPr>
                                      </m:ctrlPr>
                                    </m:mPr>
                                    <m:mr>
                                      <m:e>
                                        <m:r>
                                          <m:rPr>
                                            <m:brk m:alnAt="7"/>
                                          </m:rPr>
                                          <a:rPr lang="fr-FR">
                                            <a:latin typeface="Cambria Math"/>
                                          </a:rPr>
                                          <m:t>.</m:t>
                                        </m:r>
                                      </m:e>
                                      <m:e>
                                        <m:sSub>
                                          <m:sSubPr>
                                            <m:ctrlPr>
                                              <a:rPr lang="fr-FR" i="1">
                                                <a:latin typeface="Cambria Math" panose="02040503050406030204" pitchFamily="18" charset="0"/>
                                              </a:rPr>
                                            </m:ctrlPr>
                                          </m:sSubPr>
                                          <m:e>
                                            <m:r>
                                              <a:rPr lang="fr-FR" i="1">
                                                <a:latin typeface="Cambria Math"/>
                                              </a:rPr>
                                              <m:t>𝑓</m:t>
                                            </m:r>
                                          </m:e>
                                          <m:sub>
                                            <m:sSub>
                                              <m:sSubPr>
                                                <m:ctrlPr>
                                                  <a:rPr lang="el-GR" i="1">
                                                    <a:latin typeface="Cambria Math" panose="02040503050406030204" pitchFamily="18" charset="0"/>
                                                  </a:rPr>
                                                </m:ctrlPr>
                                              </m:sSubPr>
                                              <m:e>
                                                <m:r>
                                                  <a:rPr lang="fr-FR" i="1">
                                                    <a:latin typeface="Cambria Math"/>
                                                  </a:rPr>
                                                  <m:t>𝑣</m:t>
                                                </m:r>
                                              </m:e>
                                              <m:sub>
                                                <m:r>
                                                  <m:rPr>
                                                    <m:sty m:val="p"/>
                                                  </m:rPr>
                                                  <a:rPr lang="fr-FR" b="0" i="0" smtClean="0">
                                                    <a:latin typeface="Cambria Math"/>
                                                  </a:rPr>
                                                  <m:t>n</m:t>
                                                </m:r>
                                              </m:sub>
                                            </m:sSub>
                                          </m:sub>
                                        </m:sSub>
                                      </m:e>
                                    </m:mr>
                                  </m:m>
                                </m:e>
                              </m:mr>
                            </m:m>
                          </m:e>
                        </m:d>
                      </m:e>
                      <m:sup>
                        <m:r>
                          <a:rPr lang="fr-FR" i="1">
                            <a:latin typeface="Cambria Math"/>
                          </a:rPr>
                          <m:t>𝑇</m:t>
                        </m:r>
                      </m:sup>
                    </m:sSup>
                  </m:oMath>
                </a14:m>
                <a:r>
                  <a:rPr lang="fr-FR" dirty="0"/>
                  <a:t> : vecteur des paramètres de frottement visqueux</a:t>
                </a:r>
              </a:p>
              <a:p>
                <a:pPr marL="0" indent="0">
                  <a:buNone/>
                </a:pPr>
                <a14:m>
                  <m:oMath xmlns:m="http://schemas.openxmlformats.org/officeDocument/2006/math">
                    <m:sSub>
                      <m:sSubPr>
                        <m:ctrlPr>
                          <a:rPr lang="fr-FR" i="1">
                            <a:latin typeface="Cambria Math" panose="02040503050406030204" pitchFamily="18" charset="0"/>
                          </a:rPr>
                        </m:ctrlPr>
                      </m:sSubPr>
                      <m:e>
                        <m:r>
                          <a:rPr lang="fr-FR" b="1">
                            <a:latin typeface="Cambria Math"/>
                          </a:rPr>
                          <m:t>𝐟</m:t>
                        </m:r>
                      </m:e>
                      <m:sub>
                        <m:r>
                          <a:rPr lang="fr-FR" i="1">
                            <a:latin typeface="Cambria Math"/>
                          </a:rPr>
                          <m:t>𝑠</m:t>
                        </m:r>
                      </m:sub>
                    </m:sSub>
                    <m:r>
                      <a:rPr lang="fr-FR" i="1">
                        <a:latin typeface="Cambria Math"/>
                      </a:rPr>
                      <m:t>=</m:t>
                    </m:r>
                    <m:sSup>
                      <m:sSupPr>
                        <m:ctrlPr>
                          <a:rPr lang="fr-FR" i="1">
                            <a:latin typeface="Cambria Math" panose="02040503050406030204" pitchFamily="18" charset="0"/>
                          </a:rPr>
                        </m:ctrlPr>
                      </m:sSupPr>
                      <m:e>
                        <m:d>
                          <m:dPr>
                            <m:begChr m:val="["/>
                            <m:endChr m:val="]"/>
                            <m:ctrlPr>
                              <a:rPr lang="fr-FR" i="1">
                                <a:latin typeface="Cambria Math" panose="02040503050406030204" pitchFamily="18" charset="0"/>
                              </a:rPr>
                            </m:ctrlPr>
                          </m:dPr>
                          <m:e>
                            <m:m>
                              <m:mPr>
                                <m:mcs>
                                  <m:mc>
                                    <m:mcPr>
                                      <m:count m:val="2"/>
                                      <m:mcJc m:val="center"/>
                                    </m:mcPr>
                                  </m:mc>
                                </m:mcs>
                                <m:ctrlPr>
                                  <a:rPr lang="fr-FR" i="1">
                                    <a:latin typeface="Cambria Math" panose="02040503050406030204" pitchFamily="18" charset="0"/>
                                  </a:rPr>
                                </m:ctrlPr>
                              </m:mPr>
                              <m:mr>
                                <m:e>
                                  <m:m>
                                    <m:mPr>
                                      <m:mcs>
                                        <m:mc>
                                          <m:mcPr>
                                            <m:count m:val="2"/>
                                            <m:mcJc m:val="center"/>
                                          </m:mcPr>
                                        </m:mc>
                                      </m:mcs>
                                      <m:ctrlPr>
                                        <a:rPr lang="fr-FR" i="1">
                                          <a:latin typeface="Cambria Math" panose="02040503050406030204" pitchFamily="18" charset="0"/>
                                        </a:rPr>
                                      </m:ctrlPr>
                                    </m:mPr>
                                    <m:mr>
                                      <m:e>
                                        <m:sSub>
                                          <m:sSubPr>
                                            <m:ctrlPr>
                                              <a:rPr lang="fr-FR" i="1">
                                                <a:latin typeface="Cambria Math" panose="02040503050406030204" pitchFamily="18" charset="0"/>
                                              </a:rPr>
                                            </m:ctrlPr>
                                          </m:sSubPr>
                                          <m:e>
                                            <m:r>
                                              <a:rPr lang="fr-FR" i="1">
                                                <a:latin typeface="Cambria Math"/>
                                              </a:rPr>
                                              <m:t>𝑓</m:t>
                                            </m:r>
                                          </m:e>
                                          <m:sub>
                                            <m:sSub>
                                              <m:sSubPr>
                                                <m:ctrlPr>
                                                  <a:rPr lang="el-GR" i="1">
                                                    <a:latin typeface="Cambria Math" panose="02040503050406030204" pitchFamily="18" charset="0"/>
                                                  </a:rPr>
                                                </m:ctrlPr>
                                              </m:sSubPr>
                                              <m:e>
                                                <m:r>
                                                  <a:rPr lang="fr-FR" i="1">
                                                    <a:latin typeface="Cambria Math"/>
                                                  </a:rPr>
                                                  <m:t>𝑠</m:t>
                                                </m:r>
                                              </m:e>
                                              <m:sub>
                                                <m:r>
                                                  <a:rPr lang="fr-FR" i="1">
                                                    <a:latin typeface="Cambria Math"/>
                                                  </a:rPr>
                                                  <m:t>1</m:t>
                                                </m:r>
                                              </m:sub>
                                            </m:sSub>
                                          </m:sub>
                                        </m:sSub>
                                      </m:e>
                                      <m:e>
                                        <m:sSub>
                                          <m:sSubPr>
                                            <m:ctrlPr>
                                              <a:rPr lang="fr-FR" i="1">
                                                <a:latin typeface="Cambria Math" panose="02040503050406030204" pitchFamily="18" charset="0"/>
                                              </a:rPr>
                                            </m:ctrlPr>
                                          </m:sSubPr>
                                          <m:e>
                                            <m:r>
                                              <a:rPr lang="fr-FR" i="1">
                                                <a:latin typeface="Cambria Math"/>
                                              </a:rPr>
                                              <m:t>𝑓</m:t>
                                            </m:r>
                                          </m:e>
                                          <m:sub>
                                            <m:sSub>
                                              <m:sSubPr>
                                                <m:ctrlPr>
                                                  <a:rPr lang="el-GR" i="1">
                                                    <a:latin typeface="Cambria Math" panose="02040503050406030204" pitchFamily="18" charset="0"/>
                                                  </a:rPr>
                                                </m:ctrlPr>
                                              </m:sSubPr>
                                              <m:e>
                                                <m:r>
                                                  <a:rPr lang="fr-FR" i="1">
                                                    <a:latin typeface="Cambria Math"/>
                                                  </a:rPr>
                                                  <m:t>𝑠</m:t>
                                                </m:r>
                                              </m:e>
                                              <m:sub>
                                                <m:r>
                                                  <a:rPr lang="fr-FR" i="1">
                                                    <a:latin typeface="Cambria Math"/>
                                                  </a:rPr>
                                                  <m:t>2</m:t>
                                                </m:r>
                                              </m:sub>
                                            </m:sSub>
                                          </m:sub>
                                        </m:sSub>
                                      </m:e>
                                    </m:mr>
                                  </m:m>
                                </m:e>
                                <m:e>
                                  <m:m>
                                    <m:mPr>
                                      <m:mcs>
                                        <m:mc>
                                          <m:mcPr>
                                            <m:count m:val="2"/>
                                            <m:mcJc m:val="center"/>
                                          </m:mcPr>
                                        </m:mc>
                                      </m:mcs>
                                      <m:ctrlPr>
                                        <a:rPr lang="fr-FR" i="1">
                                          <a:latin typeface="Cambria Math" panose="02040503050406030204" pitchFamily="18" charset="0"/>
                                        </a:rPr>
                                      </m:ctrlPr>
                                    </m:mPr>
                                    <m:mr>
                                      <m:e>
                                        <m:r>
                                          <m:rPr>
                                            <m:brk m:alnAt="7"/>
                                          </m:rPr>
                                          <a:rPr lang="fr-FR">
                                            <a:latin typeface="Cambria Math"/>
                                          </a:rPr>
                                          <m:t>.</m:t>
                                        </m:r>
                                      </m:e>
                                      <m:e>
                                        <m:sSub>
                                          <m:sSubPr>
                                            <m:ctrlPr>
                                              <a:rPr lang="fr-FR" i="1">
                                                <a:latin typeface="Cambria Math" panose="02040503050406030204" pitchFamily="18" charset="0"/>
                                              </a:rPr>
                                            </m:ctrlPr>
                                          </m:sSubPr>
                                          <m:e>
                                            <m:r>
                                              <a:rPr lang="fr-FR" i="1">
                                                <a:latin typeface="Cambria Math"/>
                                              </a:rPr>
                                              <m:t>𝑓</m:t>
                                            </m:r>
                                          </m:e>
                                          <m:sub>
                                            <m:sSub>
                                              <m:sSubPr>
                                                <m:ctrlPr>
                                                  <a:rPr lang="el-GR" i="1">
                                                    <a:latin typeface="Cambria Math" panose="02040503050406030204" pitchFamily="18" charset="0"/>
                                                  </a:rPr>
                                                </m:ctrlPr>
                                              </m:sSubPr>
                                              <m:e>
                                                <m:r>
                                                  <a:rPr lang="fr-FR" i="1">
                                                    <a:latin typeface="Cambria Math"/>
                                                  </a:rPr>
                                                  <m:t>𝑠</m:t>
                                                </m:r>
                                              </m:e>
                                              <m:sub>
                                                <m:r>
                                                  <m:rPr>
                                                    <m:sty m:val="p"/>
                                                  </m:rPr>
                                                  <a:rPr lang="fr-FR" b="0" i="0" smtClean="0">
                                                    <a:latin typeface="Cambria Math"/>
                                                  </a:rPr>
                                                  <m:t>n</m:t>
                                                </m:r>
                                              </m:sub>
                                            </m:sSub>
                                          </m:sub>
                                        </m:sSub>
                                      </m:e>
                                    </m:mr>
                                  </m:m>
                                </m:e>
                              </m:mr>
                            </m:m>
                          </m:e>
                        </m:d>
                      </m:e>
                      <m:sup>
                        <m:r>
                          <a:rPr lang="fr-FR" i="1">
                            <a:latin typeface="Cambria Math"/>
                          </a:rPr>
                          <m:t>𝑇</m:t>
                        </m:r>
                      </m:sup>
                    </m:sSup>
                  </m:oMath>
                </a14:m>
                <a:r>
                  <a:rPr lang="fr-FR" dirty="0"/>
                  <a:t> : vecteur des paramètres de frottement sec</a:t>
                </a:r>
              </a:p>
              <a:p>
                <a:pPr marL="0" indent="0" algn="just">
                  <a:buNone/>
                </a:pPr>
                <a:endParaRPr lang="fr-FR"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3"/>
                <a:stretch>
                  <a:fillRect l="-584" t="-552"/>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Modèle dynamique (Equation du mouvement)</a:t>
            </a:r>
          </a:p>
        </p:txBody>
      </p:sp>
      <p:cxnSp>
        <p:nvCxnSpPr>
          <p:cNvPr id="5" name="Connecteur droit avec flèche 4"/>
          <p:cNvCxnSpPr/>
          <p:nvPr/>
        </p:nvCxnSpPr>
        <p:spPr>
          <a:xfrm>
            <a:off x="7596704" y="2383343"/>
            <a:ext cx="533099" cy="0"/>
          </a:xfrm>
          <a:prstGeom prst="straightConnector1">
            <a:avLst/>
          </a:prstGeom>
          <a:ln w="38100">
            <a:headEnd type="none"/>
            <a:tailEnd type="arrow"/>
          </a:ln>
        </p:spPr>
        <p:style>
          <a:lnRef idx="1">
            <a:schemeClr val="accent1"/>
          </a:lnRef>
          <a:fillRef idx="0">
            <a:schemeClr val="accent1"/>
          </a:fillRef>
          <a:effectRef idx="0">
            <a:schemeClr val="accent1"/>
          </a:effectRef>
          <a:fontRef idx="minor">
            <a:schemeClr val="tx1"/>
          </a:fontRef>
        </p:style>
      </p:cxnSp>
      <p:cxnSp>
        <p:nvCxnSpPr>
          <p:cNvPr id="6" name="Connecteur droit avec flèche 5"/>
          <p:cNvCxnSpPr/>
          <p:nvPr/>
        </p:nvCxnSpPr>
        <p:spPr>
          <a:xfrm flipV="1">
            <a:off x="6257681" y="2479184"/>
            <a:ext cx="523281" cy="571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ZoneTexte 6"/>
              <p:cNvSpPr txBox="1"/>
              <p:nvPr/>
            </p:nvSpPr>
            <p:spPr>
              <a:xfrm>
                <a:off x="7691571" y="2085410"/>
                <a:ext cx="343363"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sz="1400" b="1" i="0" smtClean="0">
                          <a:latin typeface="Cambria Math"/>
                        </a:rPr>
                        <m:t>𝐪</m:t>
                      </m:r>
                    </m:oMath>
                  </m:oMathPara>
                </a14:m>
                <a:endParaRPr lang="fr-FR" sz="1400" dirty="0"/>
              </a:p>
            </p:txBody>
          </p:sp>
        </mc:Choice>
        <mc:Fallback xmlns="">
          <p:sp>
            <p:nvSpPr>
              <p:cNvPr id="7" name="ZoneTexte 6"/>
              <p:cNvSpPr txBox="1">
                <a:spLocks noRot="1" noChangeAspect="1" noMove="1" noResize="1" noEditPoints="1" noAdjustHandles="1" noChangeArrowheads="1" noChangeShapeType="1" noTextEdit="1"/>
              </p:cNvSpPr>
              <p:nvPr/>
            </p:nvSpPr>
            <p:spPr>
              <a:xfrm>
                <a:off x="7691571" y="2085410"/>
                <a:ext cx="343363" cy="307777"/>
              </a:xfrm>
              <a:prstGeom prst="rect">
                <a:avLst/>
              </a:prstGeom>
              <a:blipFill rotWithShape="1">
                <a:blip r:embed="rId4"/>
                <a:stretch>
                  <a:fillRect b="-1961"/>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 name="ZoneTexte 7"/>
              <p:cNvSpPr txBox="1"/>
              <p:nvPr/>
            </p:nvSpPr>
            <p:spPr>
              <a:xfrm>
                <a:off x="6257681" y="2195074"/>
                <a:ext cx="33534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l-GR" sz="1400" b="1">
                          <a:latin typeface="Cambria Math"/>
                          <a:ea typeface="Cambria Math"/>
                        </a:rPr>
                        <m:t>𝚪</m:t>
                      </m:r>
                    </m:oMath>
                  </m:oMathPara>
                </a14:m>
                <a:endParaRPr lang="fr-FR" sz="1400" dirty="0"/>
              </a:p>
            </p:txBody>
          </p:sp>
        </mc:Choice>
        <mc:Fallback xmlns="">
          <p:sp>
            <p:nvSpPr>
              <p:cNvPr id="8" name="ZoneTexte 7"/>
              <p:cNvSpPr txBox="1">
                <a:spLocks noRot="1" noChangeAspect="1" noMove="1" noResize="1" noEditPoints="1" noAdjustHandles="1" noChangeArrowheads="1" noChangeShapeType="1" noTextEdit="1"/>
              </p:cNvSpPr>
              <p:nvPr/>
            </p:nvSpPr>
            <p:spPr>
              <a:xfrm>
                <a:off x="6257681" y="2195074"/>
                <a:ext cx="335348" cy="307777"/>
              </a:xfrm>
              <a:prstGeom prst="rect">
                <a:avLst/>
              </a:prstGeom>
              <a:blipFill rotWithShape="1">
                <a:blip r:embed="rId5"/>
                <a:stretch>
                  <a:fillRect/>
                </a:stretch>
              </a:blipFill>
            </p:spPr>
            <p:txBody>
              <a:bodyPr/>
              <a:lstStyle/>
              <a:p>
                <a:r>
                  <a:rPr lang="fr-FR">
                    <a:noFill/>
                  </a:rPr>
                  <a:t> </a:t>
                </a:r>
              </a:p>
            </p:txBody>
          </p:sp>
        </mc:Fallback>
      </mc:AlternateContent>
      <p:cxnSp>
        <p:nvCxnSpPr>
          <p:cNvPr id="28" name="Connecteur droit avec flèche 27"/>
          <p:cNvCxnSpPr/>
          <p:nvPr/>
        </p:nvCxnSpPr>
        <p:spPr>
          <a:xfrm>
            <a:off x="7596704" y="2572946"/>
            <a:ext cx="533099"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9" name="ZoneTexte 28"/>
          <p:cNvSpPr txBox="1"/>
          <p:nvPr/>
        </p:nvSpPr>
        <p:spPr>
          <a:xfrm>
            <a:off x="6780962" y="2346222"/>
            <a:ext cx="815742" cy="307777"/>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sz="1400" dirty="0"/>
              <a:t>Robot</a:t>
            </a:r>
          </a:p>
        </p:txBody>
      </p:sp>
      <mc:AlternateContent xmlns:mc="http://schemas.openxmlformats.org/markup-compatibility/2006" xmlns:a14="http://schemas.microsoft.com/office/drawing/2010/main">
        <mc:Choice Requires="a14">
          <p:sp>
            <p:nvSpPr>
              <p:cNvPr id="34" name="ZoneTexte 33"/>
              <p:cNvSpPr txBox="1"/>
              <p:nvPr/>
            </p:nvSpPr>
            <p:spPr>
              <a:xfrm>
                <a:off x="7701402" y="2533401"/>
                <a:ext cx="343363"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fr-FR" sz="1400" b="1" i="1" smtClean="0">
                              <a:latin typeface="Cambria Math" panose="02040503050406030204" pitchFamily="18" charset="0"/>
                            </a:rPr>
                          </m:ctrlPr>
                        </m:accPr>
                        <m:e>
                          <m:r>
                            <a:rPr lang="fr-FR" sz="1400" b="1" i="0" smtClean="0">
                              <a:latin typeface="Cambria Math"/>
                            </a:rPr>
                            <m:t>𝐪</m:t>
                          </m:r>
                        </m:e>
                      </m:acc>
                    </m:oMath>
                  </m:oMathPara>
                </a14:m>
                <a:endParaRPr lang="fr-FR" sz="1400" dirty="0"/>
              </a:p>
            </p:txBody>
          </p:sp>
        </mc:Choice>
        <mc:Fallback xmlns="">
          <p:sp>
            <p:nvSpPr>
              <p:cNvPr id="34" name="ZoneTexte 33"/>
              <p:cNvSpPr txBox="1">
                <a:spLocks noRot="1" noChangeAspect="1" noMove="1" noResize="1" noEditPoints="1" noAdjustHandles="1" noChangeArrowheads="1" noChangeShapeType="1" noTextEdit="1"/>
              </p:cNvSpPr>
              <p:nvPr/>
            </p:nvSpPr>
            <p:spPr>
              <a:xfrm>
                <a:off x="7701402" y="2533401"/>
                <a:ext cx="343363" cy="307777"/>
              </a:xfrm>
              <a:prstGeom prst="rect">
                <a:avLst/>
              </a:prstGeom>
              <a:blipFill rotWithShape="1">
                <a:blip r:embed="rId6"/>
                <a:stretch>
                  <a:fillRect b="-4000"/>
                </a:stretch>
              </a:blipFill>
            </p:spPr>
            <p:txBody>
              <a:bodyPr/>
              <a:lstStyle/>
              <a:p>
                <a:r>
                  <a:rPr lang="fr-FR">
                    <a:noFill/>
                  </a:rPr>
                  <a:t> </a:t>
                </a:r>
              </a:p>
            </p:txBody>
          </p:sp>
        </mc:Fallback>
      </mc:AlternateContent>
    </p:spTree>
    <p:extLst>
      <p:ext uri="{BB962C8B-B14F-4D97-AF65-F5344CB8AC3E}">
        <p14:creationId xmlns:p14="http://schemas.microsoft.com/office/powerpoint/2010/main" val="31590504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u contenu 1"/>
          <p:cNvSpPr>
            <a:spLocks noGrp="1"/>
          </p:cNvSpPr>
          <p:nvPr>
            <p:ph sz="quarter" idx="1"/>
          </p:nvPr>
        </p:nvSpPr>
        <p:spPr/>
        <p:txBody>
          <a:bodyPr/>
          <a:lstStyle/>
          <a:p>
            <a:pPr marL="0" indent="0">
              <a:buNone/>
            </a:pPr>
            <a:r>
              <a:rPr lang="fr-FR" u="sng" dirty="0"/>
              <a:t>Espace articulaire</a:t>
            </a:r>
            <a:r>
              <a:rPr lang="fr-FR" dirty="0"/>
              <a:t>			            </a:t>
            </a:r>
            <a:r>
              <a:rPr lang="fr-FR" u="sng" dirty="0"/>
              <a:t>Espace opérationnel</a:t>
            </a:r>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pPr marL="0" indent="0">
              <a:buNone/>
            </a:pPr>
            <a:endParaRPr lang="fr-FR" sz="1400" dirty="0"/>
          </a:p>
          <a:p>
            <a:pPr marL="0" indent="0">
              <a:buNone/>
            </a:pPr>
            <a:endParaRPr lang="fr-FR" sz="1400" dirty="0"/>
          </a:p>
          <a:p>
            <a:pPr marL="0" indent="0">
              <a:buNone/>
            </a:pPr>
            <a:endParaRPr lang="fr-FR" sz="1400" dirty="0"/>
          </a:p>
          <a:p>
            <a:pPr marL="0" indent="0">
              <a:buNone/>
            </a:pPr>
            <a:r>
              <a:rPr lang="fr-FR" sz="1400" dirty="0"/>
              <a:t>LCPA : loi de commande en position articulaire	                LCPO : loi de commande en position opérationnel</a:t>
            </a:r>
          </a:p>
        </p:txBody>
      </p:sp>
      <p:sp>
        <p:nvSpPr>
          <p:cNvPr id="3" name="Titre 2"/>
          <p:cNvSpPr>
            <a:spLocks noGrp="1"/>
          </p:cNvSpPr>
          <p:nvPr>
            <p:ph type="title"/>
          </p:nvPr>
        </p:nvSpPr>
        <p:spPr/>
        <p:txBody>
          <a:bodyPr/>
          <a:lstStyle/>
          <a:p>
            <a:r>
              <a:rPr lang="fr-FR" dirty="0"/>
              <a:t>Commande : espace articulaire vs espace opérationnel</a:t>
            </a:r>
          </a:p>
        </p:txBody>
      </p:sp>
      <p:cxnSp>
        <p:nvCxnSpPr>
          <p:cNvPr id="6" name="Connecteur droit avec flèche 5"/>
          <p:cNvCxnSpPr>
            <a:endCxn id="29" idx="1"/>
          </p:cNvCxnSpPr>
          <p:nvPr/>
        </p:nvCxnSpPr>
        <p:spPr>
          <a:xfrm>
            <a:off x="2407485" y="3329358"/>
            <a:ext cx="539933" cy="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ZoneTexte 6"/>
              <p:cNvSpPr txBox="1"/>
              <p:nvPr/>
            </p:nvSpPr>
            <p:spPr>
              <a:xfrm>
                <a:off x="3669099" y="3014866"/>
                <a:ext cx="66746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400" b="1" i="0" smtClean="0">
                          <a:latin typeface="Cambria Math"/>
                        </a:rPr>
                        <m:t>𝐪</m:t>
                      </m:r>
                      <m:r>
                        <a:rPr lang="fr-FR" sz="1400" b="1" i="0" smtClean="0">
                          <a:latin typeface="Cambria Math"/>
                        </a:rPr>
                        <m:t>, </m:t>
                      </m:r>
                      <m:acc>
                        <m:accPr>
                          <m:chr m:val="̇"/>
                          <m:ctrlPr>
                            <a:rPr lang="fr-FR" sz="1400" b="1" i="1" smtClean="0">
                              <a:latin typeface="Cambria Math" panose="02040503050406030204" pitchFamily="18" charset="0"/>
                            </a:rPr>
                          </m:ctrlPr>
                        </m:accPr>
                        <m:e>
                          <m:r>
                            <a:rPr lang="fr-FR" sz="1400" b="1" i="0" smtClean="0">
                              <a:latin typeface="Cambria Math"/>
                            </a:rPr>
                            <m:t>𝐪</m:t>
                          </m:r>
                        </m:e>
                      </m:acc>
                      <m:r>
                        <a:rPr lang="fr-FR" sz="1400" b="1" i="1" smtClean="0">
                          <a:latin typeface="Cambria Math"/>
                        </a:rPr>
                        <m:t>, </m:t>
                      </m:r>
                      <m:acc>
                        <m:accPr>
                          <m:chr m:val="̈"/>
                          <m:ctrlPr>
                            <a:rPr lang="fr-FR" sz="1400" b="1" i="1" smtClean="0">
                              <a:latin typeface="Cambria Math" panose="02040503050406030204" pitchFamily="18" charset="0"/>
                            </a:rPr>
                          </m:ctrlPr>
                        </m:accPr>
                        <m:e>
                          <m:r>
                            <a:rPr lang="fr-FR" sz="1400" b="1" i="0" smtClean="0">
                              <a:latin typeface="Cambria Math"/>
                            </a:rPr>
                            <m:t>𝐪</m:t>
                          </m:r>
                        </m:e>
                      </m:acc>
                      <m:r>
                        <a:rPr lang="fr-FR" sz="1400" b="1" i="0" smtClean="0">
                          <a:latin typeface="Cambria Math"/>
                        </a:rPr>
                        <m:t> </m:t>
                      </m:r>
                    </m:oMath>
                  </m:oMathPara>
                </a14:m>
                <a:endParaRPr lang="fr-FR" sz="1400" dirty="0"/>
              </a:p>
            </p:txBody>
          </p:sp>
        </mc:Choice>
        <mc:Fallback xmlns="">
          <p:sp>
            <p:nvSpPr>
              <p:cNvPr id="7" name="ZoneTexte 6"/>
              <p:cNvSpPr txBox="1">
                <a:spLocks noRot="1" noChangeAspect="1" noMove="1" noResize="1" noEditPoints="1" noAdjustHandles="1" noChangeArrowheads="1" noChangeShapeType="1" noTextEdit="1"/>
              </p:cNvSpPr>
              <p:nvPr/>
            </p:nvSpPr>
            <p:spPr>
              <a:xfrm>
                <a:off x="3669099" y="3014866"/>
                <a:ext cx="667468" cy="307777"/>
              </a:xfrm>
              <a:prstGeom prst="rect">
                <a:avLst/>
              </a:prstGeom>
              <a:blipFill rotWithShape="1">
                <a:blip r:embed="rId3"/>
                <a:stretch>
                  <a:fillRect r="-20183" b="-4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 name="ZoneTexte 7"/>
              <p:cNvSpPr txBox="1"/>
              <p:nvPr/>
            </p:nvSpPr>
            <p:spPr>
              <a:xfrm>
                <a:off x="2407485" y="3051766"/>
                <a:ext cx="33534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l-GR" sz="1400" b="1">
                          <a:latin typeface="Cambria Math"/>
                        </a:rPr>
                        <m:t>𝚪</m:t>
                      </m:r>
                    </m:oMath>
                  </m:oMathPara>
                </a14:m>
                <a:endParaRPr lang="fr-FR" sz="1400" dirty="0"/>
              </a:p>
            </p:txBody>
          </p:sp>
        </mc:Choice>
        <mc:Fallback xmlns="">
          <p:sp>
            <p:nvSpPr>
              <p:cNvPr id="8" name="ZoneTexte 7"/>
              <p:cNvSpPr txBox="1">
                <a:spLocks noRot="1" noChangeAspect="1" noMove="1" noResize="1" noEditPoints="1" noAdjustHandles="1" noChangeArrowheads="1" noChangeShapeType="1" noTextEdit="1"/>
              </p:cNvSpPr>
              <p:nvPr/>
            </p:nvSpPr>
            <p:spPr>
              <a:xfrm>
                <a:off x="2407485" y="3051766"/>
                <a:ext cx="335348" cy="307777"/>
              </a:xfrm>
              <a:prstGeom prst="rect">
                <a:avLst/>
              </a:prstGeom>
              <a:blipFill rotWithShape="1">
                <a:blip r:embed="rId4"/>
                <a:stretch>
                  <a:fillRect/>
                </a:stretch>
              </a:blipFill>
            </p:spPr>
            <p:txBody>
              <a:bodyPr/>
              <a:lstStyle/>
              <a:p>
                <a:r>
                  <a:rPr lang="fr-FR">
                    <a:noFill/>
                  </a:rPr>
                  <a:t> </a:t>
                </a:r>
              </a:p>
            </p:txBody>
          </p:sp>
        </mc:Fallback>
      </mc:AlternateContent>
      <p:cxnSp>
        <p:nvCxnSpPr>
          <p:cNvPr id="11" name="Connecteur droit avec flèche 10"/>
          <p:cNvCxnSpPr/>
          <p:nvPr/>
        </p:nvCxnSpPr>
        <p:spPr>
          <a:xfrm>
            <a:off x="244709" y="3339519"/>
            <a:ext cx="95495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4" name="Connecteur droit 23"/>
          <p:cNvCxnSpPr/>
          <p:nvPr/>
        </p:nvCxnSpPr>
        <p:spPr>
          <a:xfrm>
            <a:off x="1307665" y="4125874"/>
            <a:ext cx="2937032" cy="508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Connecteur droit 25"/>
          <p:cNvCxnSpPr/>
          <p:nvPr/>
        </p:nvCxnSpPr>
        <p:spPr>
          <a:xfrm flipV="1">
            <a:off x="4263879" y="3329359"/>
            <a:ext cx="0" cy="79651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8" name="Connecteur droit avec flèche 27"/>
          <p:cNvCxnSpPr>
            <a:stCxn id="29" idx="3"/>
          </p:cNvCxnSpPr>
          <p:nvPr/>
        </p:nvCxnSpPr>
        <p:spPr>
          <a:xfrm flipV="1">
            <a:off x="3669099" y="3324088"/>
            <a:ext cx="594780"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sp>
        <p:nvSpPr>
          <p:cNvPr id="29" name="ZoneTexte 28"/>
          <p:cNvSpPr txBox="1"/>
          <p:nvPr/>
        </p:nvSpPr>
        <p:spPr>
          <a:xfrm>
            <a:off x="2947418" y="3175470"/>
            <a:ext cx="721681" cy="307777"/>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sz="1400" dirty="0"/>
              <a:t>Robot</a:t>
            </a:r>
          </a:p>
        </p:txBody>
      </p:sp>
      <mc:AlternateContent xmlns:mc="http://schemas.openxmlformats.org/markup-compatibility/2006" xmlns:a14="http://schemas.microsoft.com/office/drawing/2010/main">
        <mc:Choice Requires="a14">
          <p:sp>
            <p:nvSpPr>
              <p:cNvPr id="36" name="ZoneTexte 35"/>
              <p:cNvSpPr txBox="1"/>
              <p:nvPr/>
            </p:nvSpPr>
            <p:spPr>
              <a:xfrm>
                <a:off x="196891" y="3014866"/>
                <a:ext cx="957634" cy="315856"/>
              </a:xfrm>
              <a:prstGeom prst="rect">
                <a:avLst/>
              </a:prstGeom>
              <a:noFill/>
            </p:spPr>
            <p:txBody>
              <a:bodyPr wrap="none" rtlCol="0">
                <a:spAutoFit/>
              </a:bodyPr>
              <a:lstStyle/>
              <a:p>
                <a14:m>
                  <m:oMath xmlns:m="http://schemas.openxmlformats.org/officeDocument/2006/math">
                    <m:sSup>
                      <m:sSupPr>
                        <m:ctrlPr>
                          <a:rPr lang="fr-FR" sz="1400" b="1" i="1" smtClean="0">
                            <a:latin typeface="Cambria Math" panose="02040503050406030204" pitchFamily="18" charset="0"/>
                          </a:rPr>
                        </m:ctrlPr>
                      </m:sSupPr>
                      <m:e>
                        <m:r>
                          <a:rPr lang="fr-FR" sz="1400" b="1" i="0" smtClean="0">
                            <a:latin typeface="Cambria Math"/>
                          </a:rPr>
                          <m:t>𝐪</m:t>
                        </m:r>
                      </m:e>
                      <m:sup>
                        <m:r>
                          <a:rPr lang="fr-FR" sz="1400" b="1" i="1" smtClean="0">
                            <a:latin typeface="Cambria Math"/>
                          </a:rPr>
                          <m:t>𝒅</m:t>
                        </m:r>
                      </m:sup>
                    </m:sSup>
                  </m:oMath>
                </a14:m>
                <a:r>
                  <a:rPr lang="fr-FR" sz="1400" dirty="0"/>
                  <a:t>, </a:t>
                </a:r>
                <a14:m>
                  <m:oMath xmlns:m="http://schemas.openxmlformats.org/officeDocument/2006/math">
                    <m:sSup>
                      <m:sSupPr>
                        <m:ctrlPr>
                          <a:rPr lang="fr-FR" sz="1400" b="1" i="1">
                            <a:latin typeface="Cambria Math" panose="02040503050406030204" pitchFamily="18" charset="0"/>
                          </a:rPr>
                        </m:ctrlPr>
                      </m:sSupPr>
                      <m:e>
                        <m:acc>
                          <m:accPr>
                            <m:chr m:val="̇"/>
                            <m:ctrlPr>
                              <a:rPr lang="fr-FR" sz="1400" b="1" i="1">
                                <a:latin typeface="Cambria Math" panose="02040503050406030204" pitchFamily="18" charset="0"/>
                              </a:rPr>
                            </m:ctrlPr>
                          </m:accPr>
                          <m:e>
                            <m:r>
                              <a:rPr lang="fr-FR" sz="1400" b="1">
                                <a:latin typeface="Cambria Math"/>
                              </a:rPr>
                              <m:t>𝐪</m:t>
                            </m:r>
                          </m:e>
                        </m:acc>
                      </m:e>
                      <m:sup>
                        <m:r>
                          <a:rPr lang="fr-FR" sz="1400" b="1" i="1">
                            <a:latin typeface="Cambria Math"/>
                          </a:rPr>
                          <m:t>𝒅</m:t>
                        </m:r>
                      </m:sup>
                    </m:sSup>
                    <m:r>
                      <a:rPr lang="fr-FR" sz="1400" b="0" i="0" smtClean="0">
                        <a:latin typeface="Cambria Math"/>
                      </a:rPr>
                      <m:t>, </m:t>
                    </m:r>
                    <m:sSup>
                      <m:sSupPr>
                        <m:ctrlPr>
                          <a:rPr lang="fr-FR" sz="1400" b="0" i="1" smtClean="0">
                            <a:latin typeface="Cambria Math" panose="02040503050406030204" pitchFamily="18" charset="0"/>
                          </a:rPr>
                        </m:ctrlPr>
                      </m:sSupPr>
                      <m:e>
                        <m:acc>
                          <m:accPr>
                            <m:chr m:val="̈"/>
                            <m:ctrlPr>
                              <a:rPr lang="fr-FR" sz="1400" b="0" i="1" smtClean="0">
                                <a:latin typeface="Cambria Math" panose="02040503050406030204" pitchFamily="18" charset="0"/>
                              </a:rPr>
                            </m:ctrlPr>
                          </m:accPr>
                          <m:e>
                            <m:r>
                              <a:rPr lang="fr-FR" sz="1400" b="1" i="0" smtClean="0">
                                <a:latin typeface="Cambria Math"/>
                              </a:rPr>
                              <m:t>𝐪</m:t>
                            </m:r>
                          </m:e>
                        </m:acc>
                      </m:e>
                      <m:sup>
                        <m:r>
                          <a:rPr lang="fr-FR" sz="1400" b="0" i="1" smtClean="0">
                            <a:latin typeface="Cambria Math"/>
                          </a:rPr>
                          <m:t>𝑑</m:t>
                        </m:r>
                      </m:sup>
                    </m:sSup>
                  </m:oMath>
                </a14:m>
                <a:endParaRPr lang="fr-FR" sz="1400" dirty="0"/>
              </a:p>
            </p:txBody>
          </p:sp>
        </mc:Choice>
        <mc:Fallback xmlns="">
          <p:sp>
            <p:nvSpPr>
              <p:cNvPr id="36" name="ZoneTexte 35"/>
              <p:cNvSpPr txBox="1">
                <a:spLocks noRot="1" noChangeAspect="1" noMove="1" noResize="1" noEditPoints="1" noAdjustHandles="1" noChangeArrowheads="1" noChangeShapeType="1" noTextEdit="1"/>
              </p:cNvSpPr>
              <p:nvPr/>
            </p:nvSpPr>
            <p:spPr>
              <a:xfrm>
                <a:off x="196891" y="3014866"/>
                <a:ext cx="957634" cy="315856"/>
              </a:xfrm>
              <a:prstGeom prst="rect">
                <a:avLst/>
              </a:prstGeom>
              <a:blipFill rotWithShape="1">
                <a:blip r:embed="rId5"/>
                <a:stretch>
                  <a:fillRect r="-6369" b="-21569"/>
                </a:stretch>
              </a:blipFill>
            </p:spPr>
            <p:txBody>
              <a:bodyPr/>
              <a:lstStyle/>
              <a:p>
                <a:r>
                  <a:rPr lang="fr-FR">
                    <a:noFill/>
                  </a:rPr>
                  <a:t> </a:t>
                </a:r>
              </a:p>
            </p:txBody>
          </p:sp>
        </mc:Fallback>
      </mc:AlternateContent>
      <p:cxnSp>
        <p:nvCxnSpPr>
          <p:cNvPr id="47" name="Connecteur droit avec flèche 46"/>
          <p:cNvCxnSpPr/>
          <p:nvPr/>
        </p:nvCxnSpPr>
        <p:spPr>
          <a:xfrm>
            <a:off x="1443588" y="3322517"/>
            <a:ext cx="327718"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2" name="Connecteur droit 51"/>
          <p:cNvCxnSpPr/>
          <p:nvPr/>
        </p:nvCxnSpPr>
        <p:spPr>
          <a:xfrm flipV="1">
            <a:off x="1307665" y="3443014"/>
            <a:ext cx="0" cy="677780"/>
          </a:xfrm>
          <a:prstGeom prst="line">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8" name="Ellipse 17"/>
          <p:cNvSpPr/>
          <p:nvPr/>
        </p:nvSpPr>
        <p:spPr>
          <a:xfrm>
            <a:off x="1204745" y="3215815"/>
            <a:ext cx="216000" cy="21600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sp>
        <p:nvSpPr>
          <p:cNvPr id="32" name="ZoneTexte 31"/>
          <p:cNvSpPr txBox="1"/>
          <p:nvPr/>
        </p:nvSpPr>
        <p:spPr>
          <a:xfrm>
            <a:off x="1786546" y="3175470"/>
            <a:ext cx="597770" cy="307777"/>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sz="1400" dirty="0"/>
              <a:t>LCPA</a:t>
            </a:r>
          </a:p>
        </p:txBody>
      </p:sp>
      <p:cxnSp>
        <p:nvCxnSpPr>
          <p:cNvPr id="63" name="Connecteur droit 62"/>
          <p:cNvCxnSpPr/>
          <p:nvPr/>
        </p:nvCxnSpPr>
        <p:spPr>
          <a:xfrm flipH="1">
            <a:off x="4447908" y="1303867"/>
            <a:ext cx="0" cy="500380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66" name="Connecteur droit avec flèche 65"/>
          <p:cNvCxnSpPr>
            <a:endCxn id="73" idx="1"/>
          </p:cNvCxnSpPr>
          <p:nvPr/>
        </p:nvCxnSpPr>
        <p:spPr>
          <a:xfrm>
            <a:off x="6767739" y="2196149"/>
            <a:ext cx="539933" cy="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ZoneTexte 66"/>
              <p:cNvSpPr txBox="1"/>
              <p:nvPr/>
            </p:nvSpPr>
            <p:spPr>
              <a:xfrm>
                <a:off x="8015458" y="1881530"/>
                <a:ext cx="66746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400" b="1" i="0" smtClean="0">
                          <a:latin typeface="Cambria Math"/>
                        </a:rPr>
                        <m:t>𝐪</m:t>
                      </m:r>
                      <m:r>
                        <a:rPr lang="fr-FR" sz="1400" b="1" i="0" smtClean="0">
                          <a:latin typeface="Cambria Math"/>
                        </a:rPr>
                        <m:t>, </m:t>
                      </m:r>
                      <m:acc>
                        <m:accPr>
                          <m:chr m:val="̇"/>
                          <m:ctrlPr>
                            <a:rPr lang="fr-FR" sz="1400" b="1" i="1" smtClean="0">
                              <a:latin typeface="Cambria Math" panose="02040503050406030204" pitchFamily="18" charset="0"/>
                            </a:rPr>
                          </m:ctrlPr>
                        </m:accPr>
                        <m:e>
                          <m:r>
                            <a:rPr lang="fr-FR" sz="1400" b="1" i="0" smtClean="0">
                              <a:latin typeface="Cambria Math"/>
                            </a:rPr>
                            <m:t>𝐪</m:t>
                          </m:r>
                        </m:e>
                      </m:acc>
                      <m:r>
                        <a:rPr lang="fr-FR" sz="1400" b="1" i="1" smtClean="0">
                          <a:latin typeface="Cambria Math"/>
                        </a:rPr>
                        <m:t>, </m:t>
                      </m:r>
                      <m:acc>
                        <m:accPr>
                          <m:chr m:val="̈"/>
                          <m:ctrlPr>
                            <a:rPr lang="fr-FR" sz="1400" b="1" i="1" smtClean="0">
                              <a:latin typeface="Cambria Math" panose="02040503050406030204" pitchFamily="18" charset="0"/>
                            </a:rPr>
                          </m:ctrlPr>
                        </m:accPr>
                        <m:e>
                          <m:r>
                            <a:rPr lang="fr-FR" sz="1400" b="1" i="0" smtClean="0">
                              <a:latin typeface="Cambria Math"/>
                            </a:rPr>
                            <m:t>𝐪</m:t>
                          </m:r>
                        </m:e>
                      </m:acc>
                      <m:r>
                        <a:rPr lang="fr-FR" sz="1400" b="1" i="0" smtClean="0">
                          <a:latin typeface="Cambria Math"/>
                        </a:rPr>
                        <m:t> </m:t>
                      </m:r>
                    </m:oMath>
                  </m:oMathPara>
                </a14:m>
                <a:endParaRPr lang="fr-FR" sz="1400" dirty="0"/>
              </a:p>
            </p:txBody>
          </p:sp>
        </mc:Choice>
        <mc:Fallback xmlns="">
          <p:sp>
            <p:nvSpPr>
              <p:cNvPr id="67" name="ZoneTexte 66"/>
              <p:cNvSpPr txBox="1">
                <a:spLocks noRot="1" noChangeAspect="1" noMove="1" noResize="1" noEditPoints="1" noAdjustHandles="1" noChangeArrowheads="1" noChangeShapeType="1" noTextEdit="1"/>
              </p:cNvSpPr>
              <p:nvPr/>
            </p:nvSpPr>
            <p:spPr>
              <a:xfrm>
                <a:off x="8015458" y="1881530"/>
                <a:ext cx="667468" cy="307777"/>
              </a:xfrm>
              <a:prstGeom prst="rect">
                <a:avLst/>
              </a:prstGeom>
              <a:blipFill rotWithShape="1">
                <a:blip r:embed="rId3"/>
                <a:stretch>
                  <a:fillRect r="-20183" b="-4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8" name="ZoneTexte 67"/>
              <p:cNvSpPr txBox="1"/>
              <p:nvPr/>
            </p:nvSpPr>
            <p:spPr>
              <a:xfrm>
                <a:off x="6767739" y="1918557"/>
                <a:ext cx="33534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l-GR" sz="1400" b="1">
                          <a:latin typeface="Cambria Math"/>
                        </a:rPr>
                        <m:t>𝚪</m:t>
                      </m:r>
                    </m:oMath>
                  </m:oMathPara>
                </a14:m>
                <a:endParaRPr lang="fr-FR" sz="1400" dirty="0"/>
              </a:p>
            </p:txBody>
          </p:sp>
        </mc:Choice>
        <mc:Fallback xmlns="">
          <p:sp>
            <p:nvSpPr>
              <p:cNvPr id="68" name="ZoneTexte 67"/>
              <p:cNvSpPr txBox="1">
                <a:spLocks noRot="1" noChangeAspect="1" noMove="1" noResize="1" noEditPoints="1" noAdjustHandles="1" noChangeArrowheads="1" noChangeShapeType="1" noTextEdit="1"/>
              </p:cNvSpPr>
              <p:nvPr/>
            </p:nvSpPr>
            <p:spPr>
              <a:xfrm>
                <a:off x="6767739" y="1918557"/>
                <a:ext cx="335348" cy="307777"/>
              </a:xfrm>
              <a:prstGeom prst="rect">
                <a:avLst/>
              </a:prstGeom>
              <a:blipFill rotWithShape="1">
                <a:blip r:embed="rId4"/>
                <a:stretch>
                  <a:fillRect/>
                </a:stretch>
              </a:blipFill>
            </p:spPr>
            <p:txBody>
              <a:bodyPr/>
              <a:lstStyle/>
              <a:p>
                <a:r>
                  <a:rPr lang="fr-FR">
                    <a:noFill/>
                  </a:rPr>
                  <a:t> </a:t>
                </a:r>
              </a:p>
            </p:txBody>
          </p:sp>
        </mc:Fallback>
      </mc:AlternateContent>
      <p:cxnSp>
        <p:nvCxnSpPr>
          <p:cNvPr id="69" name="Connecteur droit avec flèche 68"/>
          <p:cNvCxnSpPr/>
          <p:nvPr/>
        </p:nvCxnSpPr>
        <p:spPr>
          <a:xfrm>
            <a:off x="4604963" y="2206310"/>
            <a:ext cx="95495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0" name="Connecteur droit 69"/>
          <p:cNvCxnSpPr/>
          <p:nvPr/>
        </p:nvCxnSpPr>
        <p:spPr>
          <a:xfrm>
            <a:off x="5667919" y="2992665"/>
            <a:ext cx="851412" cy="508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1" name="Connecteur droit 70"/>
          <p:cNvCxnSpPr/>
          <p:nvPr/>
        </p:nvCxnSpPr>
        <p:spPr>
          <a:xfrm flipV="1">
            <a:off x="8624133" y="2196150"/>
            <a:ext cx="0" cy="79651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2" name="Connecteur droit avec flèche 71"/>
          <p:cNvCxnSpPr>
            <a:stCxn id="73" idx="3"/>
          </p:cNvCxnSpPr>
          <p:nvPr/>
        </p:nvCxnSpPr>
        <p:spPr>
          <a:xfrm flipV="1">
            <a:off x="8029353" y="2190879"/>
            <a:ext cx="594780"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sp>
        <p:nvSpPr>
          <p:cNvPr id="73" name="ZoneTexte 72"/>
          <p:cNvSpPr txBox="1"/>
          <p:nvPr/>
        </p:nvSpPr>
        <p:spPr>
          <a:xfrm>
            <a:off x="7307672" y="2042261"/>
            <a:ext cx="721681" cy="307777"/>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sz="1400" dirty="0"/>
              <a:t>Robot</a:t>
            </a:r>
          </a:p>
        </p:txBody>
      </p:sp>
      <mc:AlternateContent xmlns:mc="http://schemas.openxmlformats.org/markup-compatibility/2006" xmlns:a14="http://schemas.microsoft.com/office/drawing/2010/main">
        <mc:Choice Requires="a14">
          <p:sp>
            <p:nvSpPr>
              <p:cNvPr id="74" name="ZoneTexte 73"/>
              <p:cNvSpPr txBox="1"/>
              <p:nvPr/>
            </p:nvSpPr>
            <p:spPr>
              <a:xfrm>
                <a:off x="4557145" y="1881657"/>
                <a:ext cx="957634" cy="315856"/>
              </a:xfrm>
              <a:prstGeom prst="rect">
                <a:avLst/>
              </a:prstGeom>
              <a:noFill/>
            </p:spPr>
            <p:txBody>
              <a:bodyPr wrap="none" rtlCol="0">
                <a:spAutoFit/>
              </a:bodyPr>
              <a:lstStyle/>
              <a:p>
                <a14:m>
                  <m:oMath xmlns:m="http://schemas.openxmlformats.org/officeDocument/2006/math">
                    <m:sSup>
                      <m:sSupPr>
                        <m:ctrlPr>
                          <a:rPr lang="fr-FR" sz="1400" b="1" i="1" smtClean="0">
                            <a:latin typeface="Cambria Math" panose="02040503050406030204" pitchFamily="18" charset="0"/>
                          </a:rPr>
                        </m:ctrlPr>
                      </m:sSupPr>
                      <m:e>
                        <m:r>
                          <a:rPr lang="fr-FR" sz="1400" b="1" i="0" smtClean="0">
                            <a:latin typeface="Cambria Math"/>
                          </a:rPr>
                          <m:t>𝐱</m:t>
                        </m:r>
                      </m:e>
                      <m:sup>
                        <m:r>
                          <a:rPr lang="fr-FR" sz="1400" b="1" i="1" smtClean="0">
                            <a:latin typeface="Cambria Math"/>
                          </a:rPr>
                          <m:t>𝒅</m:t>
                        </m:r>
                      </m:sup>
                    </m:sSup>
                  </m:oMath>
                </a14:m>
                <a:r>
                  <a:rPr lang="fr-FR" sz="1400" dirty="0"/>
                  <a:t>, </a:t>
                </a:r>
                <a14:m>
                  <m:oMath xmlns:m="http://schemas.openxmlformats.org/officeDocument/2006/math">
                    <m:sSup>
                      <m:sSupPr>
                        <m:ctrlPr>
                          <a:rPr lang="fr-FR" sz="1400" b="1" i="1">
                            <a:latin typeface="Cambria Math" panose="02040503050406030204" pitchFamily="18" charset="0"/>
                          </a:rPr>
                        </m:ctrlPr>
                      </m:sSupPr>
                      <m:e>
                        <m:acc>
                          <m:accPr>
                            <m:chr m:val="̇"/>
                            <m:ctrlPr>
                              <a:rPr lang="fr-FR" sz="1400" b="1" i="1">
                                <a:latin typeface="Cambria Math" panose="02040503050406030204" pitchFamily="18" charset="0"/>
                              </a:rPr>
                            </m:ctrlPr>
                          </m:accPr>
                          <m:e>
                            <m:r>
                              <a:rPr lang="fr-FR" sz="1400" b="1" i="0" smtClean="0">
                                <a:latin typeface="Cambria Math"/>
                              </a:rPr>
                              <m:t>𝐱</m:t>
                            </m:r>
                          </m:e>
                        </m:acc>
                      </m:e>
                      <m:sup>
                        <m:r>
                          <a:rPr lang="fr-FR" sz="1400" b="1" i="1">
                            <a:latin typeface="Cambria Math"/>
                          </a:rPr>
                          <m:t>𝒅</m:t>
                        </m:r>
                      </m:sup>
                    </m:sSup>
                    <m:r>
                      <a:rPr lang="fr-FR" sz="1400" b="0" i="0" smtClean="0">
                        <a:latin typeface="Cambria Math"/>
                      </a:rPr>
                      <m:t>, </m:t>
                    </m:r>
                    <m:sSup>
                      <m:sSupPr>
                        <m:ctrlPr>
                          <a:rPr lang="fr-FR" sz="1400" b="0" i="1" smtClean="0">
                            <a:latin typeface="Cambria Math" panose="02040503050406030204" pitchFamily="18" charset="0"/>
                          </a:rPr>
                        </m:ctrlPr>
                      </m:sSupPr>
                      <m:e>
                        <m:acc>
                          <m:accPr>
                            <m:chr m:val="̈"/>
                            <m:ctrlPr>
                              <a:rPr lang="fr-FR" sz="1400" b="0" i="1" smtClean="0">
                                <a:latin typeface="Cambria Math" panose="02040503050406030204" pitchFamily="18" charset="0"/>
                              </a:rPr>
                            </m:ctrlPr>
                          </m:accPr>
                          <m:e>
                            <m:r>
                              <a:rPr lang="fr-FR" sz="1400" b="1" i="0" smtClean="0">
                                <a:latin typeface="Cambria Math"/>
                              </a:rPr>
                              <m:t>𝐱</m:t>
                            </m:r>
                          </m:e>
                        </m:acc>
                      </m:e>
                      <m:sup>
                        <m:r>
                          <a:rPr lang="fr-FR" sz="1400" b="0" i="1" smtClean="0">
                            <a:latin typeface="Cambria Math"/>
                          </a:rPr>
                          <m:t>𝑑</m:t>
                        </m:r>
                      </m:sup>
                    </m:sSup>
                  </m:oMath>
                </a14:m>
                <a:endParaRPr lang="fr-FR" sz="1400" dirty="0"/>
              </a:p>
            </p:txBody>
          </p:sp>
        </mc:Choice>
        <mc:Fallback xmlns="">
          <p:sp>
            <p:nvSpPr>
              <p:cNvPr id="74" name="ZoneTexte 73"/>
              <p:cNvSpPr txBox="1">
                <a:spLocks noRot="1" noChangeAspect="1" noMove="1" noResize="1" noEditPoints="1" noAdjustHandles="1" noChangeArrowheads="1" noChangeShapeType="1" noTextEdit="1"/>
              </p:cNvSpPr>
              <p:nvPr/>
            </p:nvSpPr>
            <p:spPr>
              <a:xfrm>
                <a:off x="4557145" y="1881657"/>
                <a:ext cx="957634" cy="315856"/>
              </a:xfrm>
              <a:prstGeom prst="rect">
                <a:avLst/>
              </a:prstGeom>
              <a:blipFill rotWithShape="1">
                <a:blip r:embed="rId6"/>
                <a:stretch>
                  <a:fillRect r="-3822" b="-21569"/>
                </a:stretch>
              </a:blipFill>
            </p:spPr>
            <p:txBody>
              <a:bodyPr/>
              <a:lstStyle/>
              <a:p>
                <a:r>
                  <a:rPr lang="fr-FR">
                    <a:noFill/>
                  </a:rPr>
                  <a:t> </a:t>
                </a:r>
              </a:p>
            </p:txBody>
          </p:sp>
        </mc:Fallback>
      </mc:AlternateContent>
      <p:cxnSp>
        <p:nvCxnSpPr>
          <p:cNvPr id="75" name="Connecteur droit avec flèche 74"/>
          <p:cNvCxnSpPr/>
          <p:nvPr/>
        </p:nvCxnSpPr>
        <p:spPr>
          <a:xfrm>
            <a:off x="5803842" y="2189308"/>
            <a:ext cx="327718"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6" name="Connecteur droit 75"/>
          <p:cNvCxnSpPr/>
          <p:nvPr/>
        </p:nvCxnSpPr>
        <p:spPr>
          <a:xfrm flipV="1">
            <a:off x="5667919" y="2309805"/>
            <a:ext cx="0" cy="677780"/>
          </a:xfrm>
          <a:prstGeom prst="line">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77" name="Ellipse 76"/>
          <p:cNvSpPr/>
          <p:nvPr/>
        </p:nvSpPr>
        <p:spPr>
          <a:xfrm>
            <a:off x="5564999" y="2082606"/>
            <a:ext cx="216000" cy="21600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sp>
        <p:nvSpPr>
          <p:cNvPr id="78" name="ZoneTexte 77"/>
          <p:cNvSpPr txBox="1"/>
          <p:nvPr/>
        </p:nvSpPr>
        <p:spPr>
          <a:xfrm>
            <a:off x="6146800" y="2042261"/>
            <a:ext cx="597770" cy="307777"/>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sz="1400" dirty="0"/>
              <a:t>LCPO</a:t>
            </a:r>
          </a:p>
        </p:txBody>
      </p:sp>
      <p:sp>
        <p:nvSpPr>
          <p:cNvPr id="79" name="ZoneTexte 78"/>
          <p:cNvSpPr txBox="1"/>
          <p:nvPr/>
        </p:nvSpPr>
        <p:spPr>
          <a:xfrm>
            <a:off x="6532623" y="2841316"/>
            <a:ext cx="850307" cy="307777"/>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sz="1400" dirty="0"/>
              <a:t>Modèles</a:t>
            </a:r>
          </a:p>
        </p:txBody>
      </p:sp>
      <p:cxnSp>
        <p:nvCxnSpPr>
          <p:cNvPr id="81" name="Connecteur droit 80"/>
          <p:cNvCxnSpPr/>
          <p:nvPr/>
        </p:nvCxnSpPr>
        <p:spPr>
          <a:xfrm>
            <a:off x="7382930" y="2990972"/>
            <a:ext cx="1241203" cy="0"/>
          </a:xfrm>
          <a:prstGeom prst="line">
            <a:avLst/>
          </a:prstGeom>
          <a:ln w="38100">
            <a:headEnd type="arrow"/>
            <a:tailEnd type="none"/>
          </a:ln>
        </p:spPr>
        <p:style>
          <a:lnRef idx="1">
            <a:schemeClr val="accent1"/>
          </a:lnRef>
          <a:fillRef idx="0">
            <a:schemeClr val="accent1"/>
          </a:fillRef>
          <a:effectRef idx="0">
            <a:schemeClr val="accent1"/>
          </a:effectRef>
          <a:fontRef idx="minor">
            <a:schemeClr val="tx1"/>
          </a:fontRef>
        </p:style>
      </p:cxnSp>
      <p:cxnSp>
        <p:nvCxnSpPr>
          <p:cNvPr id="83" name="Connecteur droit avec flèche 82"/>
          <p:cNvCxnSpPr>
            <a:endCxn id="90" idx="1"/>
          </p:cNvCxnSpPr>
          <p:nvPr/>
        </p:nvCxnSpPr>
        <p:spPr>
          <a:xfrm>
            <a:off x="6790908" y="4588419"/>
            <a:ext cx="539933" cy="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4" name="ZoneTexte 83"/>
              <p:cNvSpPr txBox="1"/>
              <p:nvPr/>
            </p:nvSpPr>
            <p:spPr>
              <a:xfrm>
                <a:off x="8038627" y="4273800"/>
                <a:ext cx="66746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400" b="1" i="0" smtClean="0">
                          <a:latin typeface="Cambria Math"/>
                        </a:rPr>
                        <m:t>𝐱</m:t>
                      </m:r>
                      <m:r>
                        <a:rPr lang="fr-FR" sz="1400" b="1" i="0" smtClean="0">
                          <a:latin typeface="Cambria Math"/>
                        </a:rPr>
                        <m:t>, </m:t>
                      </m:r>
                      <m:acc>
                        <m:accPr>
                          <m:chr m:val="̇"/>
                          <m:ctrlPr>
                            <a:rPr lang="fr-FR" sz="1400" b="1" i="1" smtClean="0">
                              <a:latin typeface="Cambria Math" panose="02040503050406030204" pitchFamily="18" charset="0"/>
                            </a:rPr>
                          </m:ctrlPr>
                        </m:accPr>
                        <m:e>
                          <m:r>
                            <a:rPr lang="fr-FR" sz="1400" b="1" i="0" smtClean="0">
                              <a:latin typeface="Cambria Math"/>
                            </a:rPr>
                            <m:t>𝐱</m:t>
                          </m:r>
                        </m:e>
                      </m:acc>
                      <m:r>
                        <a:rPr lang="fr-FR" sz="1400" b="1" i="1" smtClean="0">
                          <a:latin typeface="Cambria Math"/>
                        </a:rPr>
                        <m:t>, </m:t>
                      </m:r>
                      <m:acc>
                        <m:accPr>
                          <m:chr m:val="̈"/>
                          <m:ctrlPr>
                            <a:rPr lang="fr-FR" sz="1400" b="1" i="1" smtClean="0">
                              <a:latin typeface="Cambria Math" panose="02040503050406030204" pitchFamily="18" charset="0"/>
                            </a:rPr>
                          </m:ctrlPr>
                        </m:accPr>
                        <m:e>
                          <m:r>
                            <a:rPr lang="fr-FR" sz="1400" b="1" i="0" smtClean="0">
                              <a:latin typeface="Cambria Math"/>
                            </a:rPr>
                            <m:t>𝐱</m:t>
                          </m:r>
                        </m:e>
                      </m:acc>
                      <m:r>
                        <a:rPr lang="fr-FR" sz="1400" b="1" i="0" smtClean="0">
                          <a:latin typeface="Cambria Math"/>
                        </a:rPr>
                        <m:t> </m:t>
                      </m:r>
                    </m:oMath>
                  </m:oMathPara>
                </a14:m>
                <a:endParaRPr lang="fr-FR" sz="1400" dirty="0"/>
              </a:p>
            </p:txBody>
          </p:sp>
        </mc:Choice>
        <mc:Fallback xmlns="">
          <p:sp>
            <p:nvSpPr>
              <p:cNvPr id="84" name="ZoneTexte 83"/>
              <p:cNvSpPr txBox="1">
                <a:spLocks noRot="1" noChangeAspect="1" noMove="1" noResize="1" noEditPoints="1" noAdjustHandles="1" noChangeArrowheads="1" noChangeShapeType="1" noTextEdit="1"/>
              </p:cNvSpPr>
              <p:nvPr/>
            </p:nvSpPr>
            <p:spPr>
              <a:xfrm>
                <a:off x="8038627" y="4273800"/>
                <a:ext cx="667468" cy="307777"/>
              </a:xfrm>
              <a:prstGeom prst="rect">
                <a:avLst/>
              </a:prstGeom>
              <a:blipFill rotWithShape="1">
                <a:blip r:embed="rId7"/>
                <a:stretch>
                  <a:fillRect r="-17431"/>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5" name="ZoneTexte 84"/>
              <p:cNvSpPr txBox="1"/>
              <p:nvPr/>
            </p:nvSpPr>
            <p:spPr>
              <a:xfrm>
                <a:off x="6790908" y="4310827"/>
                <a:ext cx="33534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l-GR" sz="1400" b="1">
                          <a:latin typeface="Cambria Math"/>
                        </a:rPr>
                        <m:t>𝚪</m:t>
                      </m:r>
                    </m:oMath>
                  </m:oMathPara>
                </a14:m>
                <a:endParaRPr lang="fr-FR" sz="1400" dirty="0"/>
              </a:p>
            </p:txBody>
          </p:sp>
        </mc:Choice>
        <mc:Fallback xmlns="">
          <p:sp>
            <p:nvSpPr>
              <p:cNvPr id="85" name="ZoneTexte 84"/>
              <p:cNvSpPr txBox="1">
                <a:spLocks noRot="1" noChangeAspect="1" noMove="1" noResize="1" noEditPoints="1" noAdjustHandles="1" noChangeArrowheads="1" noChangeShapeType="1" noTextEdit="1"/>
              </p:cNvSpPr>
              <p:nvPr/>
            </p:nvSpPr>
            <p:spPr>
              <a:xfrm>
                <a:off x="6790908" y="4310827"/>
                <a:ext cx="335348" cy="307777"/>
              </a:xfrm>
              <a:prstGeom prst="rect">
                <a:avLst/>
              </a:prstGeom>
              <a:blipFill rotWithShape="1">
                <a:blip r:embed="rId8"/>
                <a:stretch>
                  <a:fillRect/>
                </a:stretch>
              </a:blipFill>
            </p:spPr>
            <p:txBody>
              <a:bodyPr/>
              <a:lstStyle/>
              <a:p>
                <a:r>
                  <a:rPr lang="fr-FR">
                    <a:noFill/>
                  </a:rPr>
                  <a:t> </a:t>
                </a:r>
              </a:p>
            </p:txBody>
          </p:sp>
        </mc:Fallback>
      </mc:AlternateContent>
      <p:cxnSp>
        <p:nvCxnSpPr>
          <p:cNvPr id="86" name="Connecteur droit avec flèche 85"/>
          <p:cNvCxnSpPr/>
          <p:nvPr/>
        </p:nvCxnSpPr>
        <p:spPr>
          <a:xfrm>
            <a:off x="4628132" y="4598580"/>
            <a:ext cx="95495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7" name="Connecteur droit 86"/>
          <p:cNvCxnSpPr/>
          <p:nvPr/>
        </p:nvCxnSpPr>
        <p:spPr>
          <a:xfrm>
            <a:off x="5691088" y="5384935"/>
            <a:ext cx="295621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8" name="Connecteur droit 87"/>
          <p:cNvCxnSpPr/>
          <p:nvPr/>
        </p:nvCxnSpPr>
        <p:spPr>
          <a:xfrm flipV="1">
            <a:off x="8647302" y="4588420"/>
            <a:ext cx="0" cy="79651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9" name="Connecteur droit avec flèche 88"/>
          <p:cNvCxnSpPr>
            <a:stCxn id="90" idx="3"/>
          </p:cNvCxnSpPr>
          <p:nvPr/>
        </p:nvCxnSpPr>
        <p:spPr>
          <a:xfrm flipV="1">
            <a:off x="8052522" y="4583149"/>
            <a:ext cx="594780"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sp>
        <p:nvSpPr>
          <p:cNvPr id="90" name="ZoneTexte 89"/>
          <p:cNvSpPr txBox="1"/>
          <p:nvPr/>
        </p:nvSpPr>
        <p:spPr>
          <a:xfrm>
            <a:off x="7330841" y="4434531"/>
            <a:ext cx="721681" cy="307777"/>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sz="1400" dirty="0"/>
              <a:t>Robot</a:t>
            </a:r>
          </a:p>
        </p:txBody>
      </p:sp>
      <mc:AlternateContent xmlns:mc="http://schemas.openxmlformats.org/markup-compatibility/2006" xmlns:a14="http://schemas.microsoft.com/office/drawing/2010/main">
        <mc:Choice Requires="a14">
          <p:sp>
            <p:nvSpPr>
              <p:cNvPr id="91" name="ZoneTexte 90"/>
              <p:cNvSpPr txBox="1"/>
              <p:nvPr/>
            </p:nvSpPr>
            <p:spPr>
              <a:xfrm>
                <a:off x="4580314" y="4273927"/>
                <a:ext cx="957634" cy="315856"/>
              </a:xfrm>
              <a:prstGeom prst="rect">
                <a:avLst/>
              </a:prstGeom>
              <a:noFill/>
            </p:spPr>
            <p:txBody>
              <a:bodyPr wrap="none" rtlCol="0">
                <a:spAutoFit/>
              </a:bodyPr>
              <a:lstStyle/>
              <a:p>
                <a14:m>
                  <m:oMath xmlns:m="http://schemas.openxmlformats.org/officeDocument/2006/math">
                    <m:sSup>
                      <m:sSupPr>
                        <m:ctrlPr>
                          <a:rPr lang="fr-FR" sz="1400" b="1" i="1" smtClean="0">
                            <a:latin typeface="Cambria Math" panose="02040503050406030204" pitchFamily="18" charset="0"/>
                          </a:rPr>
                        </m:ctrlPr>
                      </m:sSupPr>
                      <m:e>
                        <m:r>
                          <a:rPr lang="fr-FR" sz="1400" b="1" i="0" smtClean="0">
                            <a:latin typeface="Cambria Math"/>
                          </a:rPr>
                          <m:t>𝐱</m:t>
                        </m:r>
                      </m:e>
                      <m:sup>
                        <m:r>
                          <a:rPr lang="fr-FR" sz="1400" b="1" i="1" smtClean="0">
                            <a:latin typeface="Cambria Math"/>
                          </a:rPr>
                          <m:t>𝒅</m:t>
                        </m:r>
                      </m:sup>
                    </m:sSup>
                  </m:oMath>
                </a14:m>
                <a:r>
                  <a:rPr lang="fr-FR" sz="1400" dirty="0"/>
                  <a:t>, </a:t>
                </a:r>
                <a14:m>
                  <m:oMath xmlns:m="http://schemas.openxmlformats.org/officeDocument/2006/math">
                    <m:sSup>
                      <m:sSupPr>
                        <m:ctrlPr>
                          <a:rPr lang="fr-FR" sz="1400" b="1" i="1">
                            <a:latin typeface="Cambria Math" panose="02040503050406030204" pitchFamily="18" charset="0"/>
                          </a:rPr>
                        </m:ctrlPr>
                      </m:sSupPr>
                      <m:e>
                        <m:acc>
                          <m:accPr>
                            <m:chr m:val="̇"/>
                            <m:ctrlPr>
                              <a:rPr lang="fr-FR" sz="1400" b="1" i="1">
                                <a:latin typeface="Cambria Math" panose="02040503050406030204" pitchFamily="18" charset="0"/>
                              </a:rPr>
                            </m:ctrlPr>
                          </m:accPr>
                          <m:e>
                            <m:r>
                              <a:rPr lang="fr-FR" sz="1400" b="1" i="0" smtClean="0">
                                <a:latin typeface="Cambria Math"/>
                              </a:rPr>
                              <m:t>𝐱</m:t>
                            </m:r>
                          </m:e>
                        </m:acc>
                      </m:e>
                      <m:sup>
                        <m:r>
                          <a:rPr lang="fr-FR" sz="1400" b="1" i="1">
                            <a:latin typeface="Cambria Math"/>
                          </a:rPr>
                          <m:t>𝒅</m:t>
                        </m:r>
                      </m:sup>
                    </m:sSup>
                    <m:r>
                      <a:rPr lang="fr-FR" sz="1400" b="0" i="0" smtClean="0">
                        <a:latin typeface="Cambria Math"/>
                      </a:rPr>
                      <m:t>, </m:t>
                    </m:r>
                    <m:sSup>
                      <m:sSupPr>
                        <m:ctrlPr>
                          <a:rPr lang="fr-FR" sz="1400" b="0" i="1" smtClean="0">
                            <a:latin typeface="Cambria Math" panose="02040503050406030204" pitchFamily="18" charset="0"/>
                          </a:rPr>
                        </m:ctrlPr>
                      </m:sSupPr>
                      <m:e>
                        <m:acc>
                          <m:accPr>
                            <m:chr m:val="̈"/>
                            <m:ctrlPr>
                              <a:rPr lang="fr-FR" sz="1400" b="0" i="1" smtClean="0">
                                <a:latin typeface="Cambria Math" panose="02040503050406030204" pitchFamily="18" charset="0"/>
                              </a:rPr>
                            </m:ctrlPr>
                          </m:accPr>
                          <m:e>
                            <m:r>
                              <a:rPr lang="fr-FR" sz="1400" b="1" i="0" smtClean="0">
                                <a:latin typeface="Cambria Math"/>
                              </a:rPr>
                              <m:t>𝐱</m:t>
                            </m:r>
                          </m:e>
                        </m:acc>
                      </m:e>
                      <m:sup>
                        <m:r>
                          <a:rPr lang="fr-FR" sz="1400" b="0" i="1" smtClean="0">
                            <a:latin typeface="Cambria Math"/>
                          </a:rPr>
                          <m:t>𝑑</m:t>
                        </m:r>
                      </m:sup>
                    </m:sSup>
                  </m:oMath>
                </a14:m>
                <a:endParaRPr lang="fr-FR" sz="1400" dirty="0"/>
              </a:p>
            </p:txBody>
          </p:sp>
        </mc:Choice>
        <mc:Fallback xmlns="">
          <p:sp>
            <p:nvSpPr>
              <p:cNvPr id="91" name="ZoneTexte 90"/>
              <p:cNvSpPr txBox="1">
                <a:spLocks noRot="1" noChangeAspect="1" noMove="1" noResize="1" noEditPoints="1" noAdjustHandles="1" noChangeArrowheads="1" noChangeShapeType="1" noTextEdit="1"/>
              </p:cNvSpPr>
              <p:nvPr/>
            </p:nvSpPr>
            <p:spPr>
              <a:xfrm>
                <a:off x="4580314" y="4273927"/>
                <a:ext cx="957634" cy="315856"/>
              </a:xfrm>
              <a:prstGeom prst="rect">
                <a:avLst/>
              </a:prstGeom>
              <a:blipFill rotWithShape="1">
                <a:blip r:embed="rId9"/>
                <a:stretch>
                  <a:fillRect r="-4459" b="-19231"/>
                </a:stretch>
              </a:blipFill>
            </p:spPr>
            <p:txBody>
              <a:bodyPr/>
              <a:lstStyle/>
              <a:p>
                <a:r>
                  <a:rPr lang="fr-FR">
                    <a:noFill/>
                  </a:rPr>
                  <a:t> </a:t>
                </a:r>
              </a:p>
            </p:txBody>
          </p:sp>
        </mc:Fallback>
      </mc:AlternateContent>
      <p:cxnSp>
        <p:nvCxnSpPr>
          <p:cNvPr id="92" name="Connecteur droit avec flèche 91"/>
          <p:cNvCxnSpPr/>
          <p:nvPr/>
        </p:nvCxnSpPr>
        <p:spPr>
          <a:xfrm>
            <a:off x="5827011" y="4581578"/>
            <a:ext cx="327718"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3" name="Connecteur droit 92"/>
          <p:cNvCxnSpPr/>
          <p:nvPr/>
        </p:nvCxnSpPr>
        <p:spPr>
          <a:xfrm flipV="1">
            <a:off x="5691088" y="4702075"/>
            <a:ext cx="0" cy="677780"/>
          </a:xfrm>
          <a:prstGeom prst="line">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94" name="Ellipse 93"/>
          <p:cNvSpPr/>
          <p:nvPr/>
        </p:nvSpPr>
        <p:spPr>
          <a:xfrm>
            <a:off x="5588168" y="4474876"/>
            <a:ext cx="216000" cy="21600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sp>
        <p:nvSpPr>
          <p:cNvPr id="95" name="ZoneTexte 94"/>
          <p:cNvSpPr txBox="1"/>
          <p:nvPr/>
        </p:nvSpPr>
        <p:spPr>
          <a:xfrm>
            <a:off x="6169969" y="4434531"/>
            <a:ext cx="597770" cy="307777"/>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sz="1400" dirty="0"/>
              <a:t>LCPO</a:t>
            </a:r>
          </a:p>
        </p:txBody>
      </p:sp>
      <p:sp>
        <p:nvSpPr>
          <p:cNvPr id="99" name="ZoneTexte 98"/>
          <p:cNvSpPr txBox="1"/>
          <p:nvPr/>
        </p:nvSpPr>
        <p:spPr>
          <a:xfrm>
            <a:off x="6651156" y="3574934"/>
            <a:ext cx="1794121" cy="461665"/>
          </a:xfrm>
          <a:prstGeom prst="rect">
            <a:avLst/>
          </a:prstGeom>
          <a:noFill/>
        </p:spPr>
        <p:txBody>
          <a:bodyPr wrap="square" rtlCol="0">
            <a:spAutoFit/>
          </a:bodyPr>
          <a:lstStyle/>
          <a:p>
            <a:r>
              <a:rPr lang="fr-FR" sz="1200" dirty="0"/>
              <a:t>Capteurs extéroceptifs : caméra, …</a:t>
            </a:r>
          </a:p>
        </p:txBody>
      </p:sp>
      <p:sp>
        <p:nvSpPr>
          <p:cNvPr id="100" name="ZoneTexte 99"/>
          <p:cNvSpPr txBox="1"/>
          <p:nvPr/>
        </p:nvSpPr>
        <p:spPr>
          <a:xfrm>
            <a:off x="2208712" y="2524325"/>
            <a:ext cx="1889155" cy="276999"/>
          </a:xfrm>
          <a:prstGeom prst="rect">
            <a:avLst/>
          </a:prstGeom>
          <a:noFill/>
        </p:spPr>
        <p:txBody>
          <a:bodyPr wrap="square" rtlCol="0">
            <a:spAutoFit/>
          </a:bodyPr>
          <a:lstStyle/>
          <a:p>
            <a:r>
              <a:rPr lang="fr-FR" sz="1200" dirty="0"/>
              <a:t>Codeurs, tachymètre, …</a:t>
            </a:r>
          </a:p>
        </p:txBody>
      </p:sp>
      <p:sp>
        <p:nvSpPr>
          <p:cNvPr id="101" name="ZoneTexte 100"/>
          <p:cNvSpPr txBox="1"/>
          <p:nvPr/>
        </p:nvSpPr>
        <p:spPr>
          <a:xfrm>
            <a:off x="6723934" y="1516791"/>
            <a:ext cx="1889155" cy="276999"/>
          </a:xfrm>
          <a:prstGeom prst="rect">
            <a:avLst/>
          </a:prstGeom>
          <a:noFill/>
        </p:spPr>
        <p:txBody>
          <a:bodyPr wrap="square" rtlCol="0">
            <a:spAutoFit/>
          </a:bodyPr>
          <a:lstStyle/>
          <a:p>
            <a:r>
              <a:rPr lang="fr-FR" sz="1200" dirty="0"/>
              <a:t>Codeurs, tachymètre, …</a:t>
            </a:r>
          </a:p>
        </p:txBody>
      </p:sp>
    </p:spTree>
    <p:extLst>
      <p:ext uri="{BB962C8B-B14F-4D97-AF65-F5344CB8AC3E}">
        <p14:creationId xmlns:p14="http://schemas.microsoft.com/office/powerpoint/2010/main" val="22523840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a:xfrm>
                <a:off x="280656" y="959667"/>
                <a:ext cx="8475994" cy="5514285"/>
              </a:xfrm>
            </p:spPr>
            <p:txBody>
              <a:bodyPr/>
              <a:lstStyle/>
              <a:p>
                <a:pPr marL="0" indent="0">
                  <a:buNone/>
                </a:pPr>
                <a:endParaRPr lang="fr-FR" dirty="0">
                  <a:latin typeface="Cambria Math"/>
                </a:endParaRPr>
              </a:p>
              <a:p>
                <a:pPr marL="0" indent="0">
                  <a:buNone/>
                </a:pPr>
                <a:endParaRPr lang="fr-FR" dirty="0">
                  <a:latin typeface="Cambria Math"/>
                </a:endParaRPr>
              </a:p>
              <a:p>
                <a:pPr marL="0" indent="0">
                  <a:buNone/>
                </a:pPr>
                <a:endParaRPr lang="fr-FR" dirty="0">
                  <a:latin typeface="Cambria Math"/>
                </a:endParaRPr>
              </a:p>
              <a:p>
                <a:pPr marL="0" indent="0">
                  <a:buNone/>
                </a:pPr>
                <a:endParaRPr lang="fr-FR" dirty="0">
                  <a:latin typeface="Cambria Math"/>
                </a:endParaRPr>
              </a:p>
              <a:p>
                <a:pPr marL="0" indent="0">
                  <a:buNone/>
                </a:pPr>
                <a:endParaRPr lang="fr-FR" dirty="0">
                  <a:latin typeface="Cambria Math"/>
                </a:endParaRPr>
              </a:p>
              <a:p>
                <a:pPr marL="0" indent="0">
                  <a:buNone/>
                </a:pPr>
                <a:endParaRPr lang="fr-FR" dirty="0">
                  <a:latin typeface="Cambria Math"/>
                </a:endParaRPr>
              </a:p>
              <a:p>
                <a:pPr marL="0" indent="0">
                  <a:buNone/>
                </a:pPr>
                <a:endParaRPr lang="fr-FR" dirty="0">
                  <a:latin typeface="Cambria Math"/>
                </a:endParaRPr>
              </a:p>
              <a:p>
                <a:pPr marL="0" indent="0">
                  <a:buNone/>
                </a:pPr>
                <a:endParaRPr lang="fr-FR" dirty="0">
                  <a:latin typeface="Cambria Math"/>
                </a:endParaRPr>
              </a:p>
              <a:p>
                <a:pPr marL="0" indent="0">
                  <a:buNone/>
                </a:pPr>
                <a:endParaRPr lang="fr-FR" dirty="0">
                  <a:latin typeface="Cambria Math"/>
                </a:endParaRPr>
              </a:p>
              <a:p>
                <a:pPr marL="0" indent="0">
                  <a:buNone/>
                </a:pPr>
                <a:endParaRPr lang="fr-FR" dirty="0">
                  <a:latin typeface="Cambria Math"/>
                </a:endParaRPr>
              </a:p>
              <a:p>
                <a:pPr marL="0" indent="0">
                  <a:buNone/>
                </a:pPr>
                <a14:m>
                  <m:oMath xmlns:m="http://schemas.openxmlformats.org/officeDocument/2006/math">
                    <m:r>
                      <a:rPr lang="el-GR">
                        <a:latin typeface="Cambria Math"/>
                      </a:rPr>
                      <m:t>𝚪</m:t>
                    </m:r>
                    <m:r>
                      <a:rPr lang="fr-FR">
                        <a:latin typeface="Cambria Math"/>
                      </a:rPr>
                      <m:t>=</m:t>
                    </m:r>
                    <m:sSup>
                      <m:sSupPr>
                        <m:ctrlPr>
                          <a:rPr lang="fr-FR" i="1">
                            <a:latin typeface="Cambria Math" panose="02040503050406030204" pitchFamily="18" charset="0"/>
                          </a:rPr>
                        </m:ctrlPr>
                      </m:sSupPr>
                      <m:e>
                        <m:d>
                          <m:dPr>
                            <m:begChr m:val="["/>
                            <m:endChr m:val="]"/>
                            <m:ctrlPr>
                              <a:rPr lang="fr-FR" i="1">
                                <a:latin typeface="Cambria Math" panose="02040503050406030204" pitchFamily="18" charset="0"/>
                              </a:rPr>
                            </m:ctrlPr>
                          </m:dPr>
                          <m:e>
                            <m:m>
                              <m:mPr>
                                <m:mcs>
                                  <m:mc>
                                    <m:mcPr>
                                      <m:count m:val="2"/>
                                      <m:mcJc m:val="center"/>
                                    </m:mcPr>
                                  </m:mc>
                                </m:mcs>
                                <m:ctrlPr>
                                  <a:rPr lang="fr-FR" i="1">
                                    <a:latin typeface="Cambria Math" panose="02040503050406030204" pitchFamily="18" charset="0"/>
                                  </a:rPr>
                                </m:ctrlPr>
                              </m:mPr>
                              <m:mr>
                                <m:e>
                                  <m:m>
                                    <m:mPr>
                                      <m:mcs>
                                        <m:mc>
                                          <m:mcPr>
                                            <m:count m:val="2"/>
                                            <m:mcJc m:val="center"/>
                                          </m:mcPr>
                                        </m:mc>
                                      </m:mcs>
                                      <m:ctrlPr>
                                        <a:rPr lang="fr-FR" i="1">
                                          <a:latin typeface="Cambria Math" panose="02040503050406030204" pitchFamily="18" charset="0"/>
                                        </a:rPr>
                                      </m:ctrlPr>
                                    </m:mPr>
                                    <m:mr>
                                      <m:e>
                                        <m:sSub>
                                          <m:sSubPr>
                                            <m:ctrlPr>
                                              <a:rPr lang="fr-FR" i="1">
                                                <a:latin typeface="Cambria Math" panose="02040503050406030204" pitchFamily="18" charset="0"/>
                                              </a:rPr>
                                            </m:ctrlPr>
                                          </m:sSubPr>
                                          <m:e>
                                            <m:r>
                                              <m:rPr>
                                                <m:sty m:val="p"/>
                                              </m:rPr>
                                              <a:rPr lang="el-GR">
                                                <a:latin typeface="Cambria Math"/>
                                              </a:rPr>
                                              <m:t>Γ</m:t>
                                            </m:r>
                                          </m:e>
                                          <m:sub>
                                            <m:r>
                                              <a:rPr lang="fr-FR">
                                                <a:latin typeface="Cambria Math"/>
                                              </a:rPr>
                                              <m:t>1</m:t>
                                            </m:r>
                                          </m:sub>
                                        </m:sSub>
                                      </m:e>
                                      <m:e>
                                        <m:sSub>
                                          <m:sSubPr>
                                            <m:ctrlPr>
                                              <a:rPr lang="fr-FR" i="1">
                                                <a:latin typeface="Cambria Math" panose="02040503050406030204" pitchFamily="18" charset="0"/>
                                              </a:rPr>
                                            </m:ctrlPr>
                                          </m:sSubPr>
                                          <m:e>
                                            <m:r>
                                              <m:rPr>
                                                <m:sty m:val="p"/>
                                              </m:rPr>
                                              <a:rPr lang="el-GR">
                                                <a:latin typeface="Cambria Math"/>
                                              </a:rPr>
                                              <m:t>Γ</m:t>
                                            </m:r>
                                          </m:e>
                                          <m:sub>
                                            <m:r>
                                              <a:rPr lang="fr-FR">
                                                <a:latin typeface="Cambria Math"/>
                                              </a:rPr>
                                              <m:t>2</m:t>
                                            </m:r>
                                          </m:sub>
                                        </m:sSub>
                                      </m:e>
                                    </m:mr>
                                  </m:m>
                                </m:e>
                                <m:e>
                                  <m:m>
                                    <m:mPr>
                                      <m:mcs>
                                        <m:mc>
                                          <m:mcPr>
                                            <m:count m:val="2"/>
                                            <m:mcJc m:val="center"/>
                                          </m:mcPr>
                                        </m:mc>
                                      </m:mcs>
                                      <m:ctrlPr>
                                        <a:rPr lang="fr-FR" i="1">
                                          <a:latin typeface="Cambria Math" panose="02040503050406030204" pitchFamily="18" charset="0"/>
                                        </a:rPr>
                                      </m:ctrlPr>
                                    </m:mPr>
                                    <m:mr>
                                      <m:e>
                                        <m:r>
                                          <m:rPr>
                                            <m:brk m:alnAt="7"/>
                                          </m:rPr>
                                          <a:rPr lang="fr-FR">
                                            <a:latin typeface="Cambria Math"/>
                                          </a:rPr>
                                          <m:t>.</m:t>
                                        </m:r>
                                      </m:e>
                                      <m:e>
                                        <m:sSub>
                                          <m:sSubPr>
                                            <m:ctrlPr>
                                              <a:rPr lang="fr-FR" i="1">
                                                <a:latin typeface="Cambria Math" panose="02040503050406030204" pitchFamily="18" charset="0"/>
                                              </a:rPr>
                                            </m:ctrlPr>
                                          </m:sSubPr>
                                          <m:e>
                                            <m:r>
                                              <m:rPr>
                                                <m:sty m:val="p"/>
                                              </m:rPr>
                                              <a:rPr lang="el-GR">
                                                <a:latin typeface="Cambria Math"/>
                                              </a:rPr>
                                              <m:t>Γ</m:t>
                                            </m:r>
                                          </m:e>
                                          <m:sub>
                                            <m:r>
                                              <m:rPr>
                                                <m:sty m:val="p"/>
                                              </m:rPr>
                                              <a:rPr lang="fr-FR" b="0" i="0" smtClean="0">
                                                <a:latin typeface="Cambria Math"/>
                                              </a:rPr>
                                              <m:t>n</m:t>
                                            </m:r>
                                          </m:sub>
                                        </m:sSub>
                                      </m:e>
                                    </m:mr>
                                  </m:m>
                                </m:e>
                              </m:mr>
                            </m:m>
                          </m:e>
                        </m:d>
                      </m:e>
                      <m:sup>
                        <m:r>
                          <a:rPr lang="fr-FR">
                            <a:latin typeface="Cambria Math"/>
                          </a:rPr>
                          <m:t>𝑇</m:t>
                        </m:r>
                      </m:sup>
                    </m:sSup>
                  </m:oMath>
                </a14:m>
                <a:r>
                  <a:rPr lang="fr-FR" dirty="0"/>
                  <a:t> : </a:t>
                </a:r>
                <a:r>
                  <a:rPr lang="fr-FR" dirty="0">
                    <a:latin typeface="Cambria Math"/>
                    <a:ea typeface="Cambria Math"/>
                  </a:rPr>
                  <a:t>vecteur de commande (couples produits par les actionneurs)</a:t>
                </a:r>
                <a:endParaRPr lang="fr-FR" i="1" dirty="0">
                  <a:latin typeface="Cambria Math"/>
                  <a:ea typeface="Cambria Math"/>
                </a:endParaRPr>
              </a:p>
              <a:p>
                <a:pPr marL="0" indent="0">
                  <a:buNone/>
                </a:pPr>
                <a14:m>
                  <m:oMath xmlns:m="http://schemas.openxmlformats.org/officeDocument/2006/math">
                    <m:r>
                      <a:rPr lang="fr-FR" i="1" smtClean="0">
                        <a:latin typeface="Cambria Math"/>
                        <a:ea typeface="Cambria Math"/>
                      </a:rPr>
                      <m:t>𝕗</m:t>
                    </m:r>
                    <m:r>
                      <a:rPr lang="fr-FR" b="0" i="1" smtClean="0">
                        <a:latin typeface="Cambria Math"/>
                        <a:ea typeface="Cambria Math"/>
                      </a:rPr>
                      <m:t>=</m:t>
                    </m:r>
                    <m:sSup>
                      <m:sSupPr>
                        <m:ctrlPr>
                          <a:rPr lang="fr-FR" b="0" i="1" smtClean="0">
                            <a:latin typeface="Cambria Math" panose="02040503050406030204" pitchFamily="18" charset="0"/>
                            <a:ea typeface="Cambria Math"/>
                          </a:rPr>
                        </m:ctrlPr>
                      </m:sSupPr>
                      <m:e>
                        <m:d>
                          <m:dPr>
                            <m:begChr m:val="["/>
                            <m:endChr m:val="]"/>
                            <m:ctrlPr>
                              <a:rPr lang="fr-FR" b="0" i="1" smtClean="0">
                                <a:latin typeface="Cambria Math" panose="02040503050406030204" pitchFamily="18" charset="0"/>
                                <a:ea typeface="Cambria Math"/>
                              </a:rPr>
                            </m:ctrlPr>
                          </m:dPr>
                          <m:e>
                            <m:m>
                              <m:mPr>
                                <m:mcs>
                                  <m:mc>
                                    <m:mcPr>
                                      <m:count m:val="2"/>
                                      <m:mcJc m:val="center"/>
                                    </m:mcPr>
                                  </m:mc>
                                </m:mcs>
                                <m:ctrlPr>
                                  <a:rPr lang="fr-FR" b="0" i="1" smtClean="0">
                                    <a:latin typeface="Cambria Math" panose="02040503050406030204" pitchFamily="18" charset="0"/>
                                    <a:ea typeface="Cambria Math"/>
                                  </a:rPr>
                                </m:ctrlPr>
                              </m:mPr>
                              <m:mr>
                                <m:e>
                                  <m:m>
                                    <m:mPr>
                                      <m:mcs>
                                        <m:mc>
                                          <m:mcPr>
                                            <m:count m:val="3"/>
                                            <m:mcJc m:val="center"/>
                                          </m:mcPr>
                                        </m:mc>
                                      </m:mcs>
                                      <m:ctrlPr>
                                        <a:rPr lang="fr-FR" b="0" i="1" smtClean="0">
                                          <a:latin typeface="Cambria Math" panose="02040503050406030204" pitchFamily="18" charset="0"/>
                                          <a:ea typeface="Cambria Math"/>
                                        </a:rPr>
                                      </m:ctrlPr>
                                    </m:mPr>
                                    <m:mr>
                                      <m:e>
                                        <m:sSub>
                                          <m:sSubPr>
                                            <m:ctrlPr>
                                              <a:rPr lang="fr-FR" b="0" i="1" smtClean="0">
                                                <a:latin typeface="Cambria Math" panose="02040503050406030204" pitchFamily="18" charset="0"/>
                                                <a:ea typeface="Cambria Math"/>
                                              </a:rPr>
                                            </m:ctrlPr>
                                          </m:sSubPr>
                                          <m:e>
                                            <m:r>
                                              <a:rPr lang="fr-FR" b="0" i="1" smtClean="0">
                                                <a:latin typeface="Cambria Math"/>
                                                <a:ea typeface="Cambria Math"/>
                                              </a:rPr>
                                              <m:t>𝑓</m:t>
                                            </m:r>
                                          </m:e>
                                          <m:sub>
                                            <m:r>
                                              <a:rPr lang="fr-FR" b="0" i="1" smtClean="0">
                                                <a:latin typeface="Cambria Math"/>
                                                <a:ea typeface="Cambria Math"/>
                                              </a:rPr>
                                              <m:t>𝑥</m:t>
                                            </m:r>
                                          </m:sub>
                                        </m:sSub>
                                      </m:e>
                                      <m:e>
                                        <m:sSub>
                                          <m:sSubPr>
                                            <m:ctrlPr>
                                              <a:rPr lang="fr-FR" b="0" i="1" smtClean="0">
                                                <a:latin typeface="Cambria Math" panose="02040503050406030204" pitchFamily="18" charset="0"/>
                                                <a:ea typeface="Cambria Math"/>
                                              </a:rPr>
                                            </m:ctrlPr>
                                          </m:sSubPr>
                                          <m:e>
                                            <m:r>
                                              <a:rPr lang="fr-FR" b="0" i="1" smtClean="0">
                                                <a:latin typeface="Cambria Math"/>
                                                <a:ea typeface="Cambria Math"/>
                                              </a:rPr>
                                              <m:t>𝑓</m:t>
                                            </m:r>
                                          </m:e>
                                          <m:sub>
                                            <m:r>
                                              <a:rPr lang="fr-FR" b="0" i="1" smtClean="0">
                                                <a:latin typeface="Cambria Math"/>
                                                <a:ea typeface="Cambria Math"/>
                                              </a:rPr>
                                              <m:t>𝑦</m:t>
                                            </m:r>
                                          </m:sub>
                                        </m:sSub>
                                      </m:e>
                                      <m:e>
                                        <m:sSub>
                                          <m:sSubPr>
                                            <m:ctrlPr>
                                              <a:rPr lang="fr-FR" b="0" i="1" smtClean="0">
                                                <a:latin typeface="Cambria Math" panose="02040503050406030204" pitchFamily="18" charset="0"/>
                                                <a:ea typeface="Cambria Math"/>
                                              </a:rPr>
                                            </m:ctrlPr>
                                          </m:sSubPr>
                                          <m:e>
                                            <m:r>
                                              <a:rPr lang="fr-FR" b="0" i="1" smtClean="0">
                                                <a:latin typeface="Cambria Math"/>
                                                <a:ea typeface="Cambria Math"/>
                                              </a:rPr>
                                              <m:t>𝑓</m:t>
                                            </m:r>
                                          </m:e>
                                          <m:sub>
                                            <m:r>
                                              <a:rPr lang="fr-FR" b="0" i="1" smtClean="0">
                                                <a:latin typeface="Cambria Math"/>
                                                <a:ea typeface="Cambria Math"/>
                                              </a:rPr>
                                              <m:t>𝑧</m:t>
                                            </m:r>
                                          </m:sub>
                                        </m:sSub>
                                      </m:e>
                                    </m:mr>
                                  </m:m>
                                </m:e>
                                <m:e>
                                  <m:m>
                                    <m:mPr>
                                      <m:mcs>
                                        <m:mc>
                                          <m:mcPr>
                                            <m:count m:val="3"/>
                                            <m:mcJc m:val="center"/>
                                          </m:mcPr>
                                        </m:mc>
                                      </m:mcs>
                                      <m:ctrlPr>
                                        <a:rPr lang="fr-FR" b="0" i="1" smtClean="0">
                                          <a:latin typeface="Cambria Math" panose="02040503050406030204" pitchFamily="18" charset="0"/>
                                          <a:ea typeface="Cambria Math"/>
                                        </a:rPr>
                                      </m:ctrlPr>
                                    </m:mPr>
                                    <m:mr>
                                      <m:e>
                                        <m:sSub>
                                          <m:sSubPr>
                                            <m:ctrlPr>
                                              <a:rPr lang="fr-FR" b="0" i="1" smtClean="0">
                                                <a:latin typeface="Cambria Math" panose="02040503050406030204" pitchFamily="18" charset="0"/>
                                                <a:ea typeface="Cambria Math"/>
                                              </a:rPr>
                                            </m:ctrlPr>
                                          </m:sSubPr>
                                          <m:e>
                                            <m:r>
                                              <a:rPr lang="fr-FR" b="0" i="1" smtClean="0">
                                                <a:latin typeface="Cambria Math"/>
                                                <a:ea typeface="Cambria Math"/>
                                              </a:rPr>
                                              <m:t>𝑚</m:t>
                                            </m:r>
                                          </m:e>
                                          <m:sub>
                                            <m:r>
                                              <a:rPr lang="fr-FR" b="0" i="1" smtClean="0">
                                                <a:latin typeface="Cambria Math"/>
                                                <a:ea typeface="Cambria Math"/>
                                              </a:rPr>
                                              <m:t>𝑥</m:t>
                                            </m:r>
                                          </m:sub>
                                        </m:sSub>
                                      </m:e>
                                      <m:e>
                                        <m:sSub>
                                          <m:sSubPr>
                                            <m:ctrlPr>
                                              <a:rPr lang="fr-FR" b="0" i="1" smtClean="0">
                                                <a:latin typeface="Cambria Math" panose="02040503050406030204" pitchFamily="18" charset="0"/>
                                                <a:ea typeface="Cambria Math"/>
                                              </a:rPr>
                                            </m:ctrlPr>
                                          </m:sSubPr>
                                          <m:e>
                                            <m:r>
                                              <a:rPr lang="fr-FR" b="0" i="1" smtClean="0">
                                                <a:latin typeface="Cambria Math"/>
                                                <a:ea typeface="Cambria Math"/>
                                              </a:rPr>
                                              <m:t>𝑚</m:t>
                                            </m:r>
                                          </m:e>
                                          <m:sub>
                                            <m:r>
                                              <a:rPr lang="fr-FR" b="0" i="1" smtClean="0">
                                                <a:latin typeface="Cambria Math"/>
                                                <a:ea typeface="Cambria Math"/>
                                              </a:rPr>
                                              <m:t>𝑦</m:t>
                                            </m:r>
                                          </m:sub>
                                        </m:sSub>
                                      </m:e>
                                      <m:e>
                                        <m:sSub>
                                          <m:sSubPr>
                                            <m:ctrlPr>
                                              <a:rPr lang="fr-FR" b="0" i="1" smtClean="0">
                                                <a:latin typeface="Cambria Math" panose="02040503050406030204" pitchFamily="18" charset="0"/>
                                                <a:ea typeface="Cambria Math"/>
                                              </a:rPr>
                                            </m:ctrlPr>
                                          </m:sSubPr>
                                          <m:e>
                                            <m:r>
                                              <a:rPr lang="fr-FR" b="0" i="1" smtClean="0">
                                                <a:latin typeface="Cambria Math"/>
                                                <a:ea typeface="Cambria Math"/>
                                              </a:rPr>
                                              <m:t>𝑚</m:t>
                                            </m:r>
                                          </m:e>
                                          <m:sub>
                                            <m:r>
                                              <a:rPr lang="fr-FR" b="0" i="1" smtClean="0">
                                                <a:latin typeface="Cambria Math"/>
                                                <a:ea typeface="Cambria Math"/>
                                              </a:rPr>
                                              <m:t>𝑧</m:t>
                                            </m:r>
                                          </m:sub>
                                        </m:sSub>
                                      </m:e>
                                    </m:mr>
                                  </m:m>
                                </m:e>
                              </m:mr>
                            </m:m>
                          </m:e>
                        </m:d>
                      </m:e>
                      <m:sup>
                        <m:r>
                          <a:rPr lang="fr-FR" b="0" i="1" smtClean="0">
                            <a:latin typeface="Cambria Math"/>
                            <a:ea typeface="Cambria Math"/>
                          </a:rPr>
                          <m:t>𝑇</m:t>
                        </m:r>
                      </m:sup>
                    </m:sSup>
                  </m:oMath>
                </a14:m>
                <a:r>
                  <a:rPr lang="fr-FR" dirty="0"/>
                  <a:t> : torseur d’effort (force + moment) appliqué par l’OT</a:t>
                </a:r>
              </a:p>
              <a:p>
                <a:endParaRPr lang="fr-FR" dirty="0"/>
              </a:p>
              <a:p>
                <a:pPr marL="0" indent="0">
                  <a:buNone/>
                </a:pPr>
                <a14:m>
                  <m:oMathPara xmlns:m="http://schemas.openxmlformats.org/officeDocument/2006/math">
                    <m:oMathParaPr>
                      <m:jc m:val="centerGroup"/>
                    </m:oMathParaPr>
                    <m:oMath xmlns:m="http://schemas.openxmlformats.org/officeDocument/2006/math">
                      <m:r>
                        <a:rPr lang="el-GR" b="1" i="0" smtClean="0">
                          <a:latin typeface="Cambria Math"/>
                          <a:ea typeface="Cambria Math"/>
                        </a:rPr>
                        <m:t>𝚪</m:t>
                      </m:r>
                      <m:r>
                        <a:rPr lang="fr-FR" b="0" i="1" smtClean="0">
                          <a:latin typeface="Cambria Math"/>
                          <a:ea typeface="Cambria Math"/>
                        </a:rPr>
                        <m:t>=</m:t>
                      </m:r>
                      <m:sSup>
                        <m:sSupPr>
                          <m:ctrlPr>
                            <a:rPr lang="fr-FR" b="0" i="1" smtClean="0">
                              <a:latin typeface="Cambria Math" panose="02040503050406030204" pitchFamily="18" charset="0"/>
                              <a:ea typeface="Cambria Math"/>
                            </a:rPr>
                          </m:ctrlPr>
                        </m:sSupPr>
                        <m:e>
                          <m:r>
                            <a:rPr lang="fr-FR" b="1" i="0" smtClean="0">
                              <a:latin typeface="Cambria Math"/>
                              <a:ea typeface="Cambria Math"/>
                            </a:rPr>
                            <m:t>𝐉</m:t>
                          </m:r>
                        </m:e>
                        <m:sup>
                          <m:r>
                            <a:rPr lang="fr-FR" b="0" i="1" smtClean="0">
                              <a:latin typeface="Cambria Math"/>
                              <a:ea typeface="Cambria Math"/>
                            </a:rPr>
                            <m:t>𝑇</m:t>
                          </m:r>
                        </m:sup>
                      </m:sSup>
                      <m:d>
                        <m:dPr>
                          <m:ctrlPr>
                            <a:rPr lang="fr-FR" b="0" i="1" smtClean="0">
                              <a:latin typeface="Cambria Math" panose="02040503050406030204" pitchFamily="18" charset="0"/>
                              <a:ea typeface="Cambria Math"/>
                            </a:rPr>
                          </m:ctrlPr>
                        </m:dPr>
                        <m:e>
                          <m:r>
                            <a:rPr lang="fr-FR" b="1" i="0" smtClean="0">
                              <a:latin typeface="Cambria Math"/>
                              <a:ea typeface="Cambria Math"/>
                            </a:rPr>
                            <m:t>𝐪</m:t>
                          </m:r>
                        </m:e>
                      </m:d>
                      <m:r>
                        <a:rPr lang="fr-FR" b="0" i="1" smtClean="0">
                          <a:latin typeface="Cambria Math"/>
                          <a:ea typeface="Cambria Math"/>
                        </a:rPr>
                        <m:t> </m:t>
                      </m:r>
                      <m:r>
                        <a:rPr lang="fr-FR" b="0" i="1" smtClean="0">
                          <a:latin typeface="Cambria Math"/>
                          <a:ea typeface="Cambria Math"/>
                        </a:rPr>
                        <m:t>𝕗</m:t>
                      </m:r>
                    </m:oMath>
                  </m:oMathPara>
                </a14:m>
                <a:endParaRPr lang="fr-FR" dirty="0"/>
              </a:p>
              <a:p>
                <a:pPr marL="0" indent="0">
                  <a:buNone/>
                </a:pPr>
                <a14:m>
                  <m:oMath xmlns:m="http://schemas.openxmlformats.org/officeDocument/2006/math">
                    <m:sSup>
                      <m:sSupPr>
                        <m:ctrlPr>
                          <a:rPr lang="fr-FR" i="1" smtClean="0">
                            <a:latin typeface="Cambria Math" panose="02040503050406030204" pitchFamily="18" charset="0"/>
                          </a:rPr>
                        </m:ctrlPr>
                      </m:sSupPr>
                      <m:e>
                        <m:r>
                          <a:rPr lang="fr-FR" b="1" i="0" smtClean="0">
                            <a:latin typeface="Cambria Math"/>
                          </a:rPr>
                          <m:t>𝐉</m:t>
                        </m:r>
                      </m:e>
                      <m:sup>
                        <m:r>
                          <a:rPr lang="fr-FR" b="0" i="1" smtClean="0">
                            <a:latin typeface="Cambria Math"/>
                          </a:rPr>
                          <m:t>𝑇</m:t>
                        </m:r>
                      </m:sup>
                    </m:sSup>
                  </m:oMath>
                </a14:m>
                <a:r>
                  <a:rPr lang="fr-FR" dirty="0"/>
                  <a:t> : transposée de la matrice </a:t>
                </a:r>
                <a:r>
                  <a:rPr lang="fr-FR" dirty="0" err="1"/>
                  <a:t>jacobienne</a:t>
                </a:r>
                <a:r>
                  <a:rPr lang="fr-FR" dirty="0"/>
                  <a:t> de dimension </a:t>
                </a:r>
                <a14:m>
                  <m:oMath xmlns:m="http://schemas.openxmlformats.org/officeDocument/2006/math">
                    <m:r>
                      <m:rPr>
                        <m:sty m:val="p"/>
                      </m:rPr>
                      <a:rPr lang="fr-FR" b="0" i="0" smtClean="0">
                        <a:latin typeface="Cambria Math"/>
                      </a:rPr>
                      <m:t>n</m:t>
                    </m:r>
                    <m:r>
                      <a:rPr lang="fr-FR" b="0" i="1" smtClean="0">
                        <a:latin typeface="Cambria Math"/>
                        <a:ea typeface="Cambria Math"/>
                      </a:rPr>
                      <m:t>×</m:t>
                    </m:r>
                    <m:r>
                      <m:rPr>
                        <m:sty m:val="p"/>
                      </m:rPr>
                      <a:rPr lang="fr-FR" b="0" i="0" smtClean="0">
                        <a:latin typeface="Cambria Math"/>
                        <a:ea typeface="Cambria Math"/>
                      </a:rPr>
                      <m:t>m</m:t>
                    </m:r>
                  </m:oMath>
                </a14:m>
                <a:r>
                  <a:rPr lang="fr-FR" dirty="0"/>
                  <a:t> </a:t>
                </a:r>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xfrm>
                <a:off x="280656" y="959667"/>
                <a:ext cx="8475994" cy="5514285"/>
              </a:xfrm>
              <a:blipFill rotWithShape="1">
                <a:blip r:embed="rId3"/>
                <a:stretch>
                  <a:fillRect l="-72"/>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Modèle statique en effort</a:t>
            </a:r>
          </a:p>
        </p:txBody>
      </p:sp>
      <p:pic>
        <p:nvPicPr>
          <p:cNvPr id="4" name="Espace réservé du contenu 3"/>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253068" y="1763141"/>
            <a:ext cx="6115050" cy="2369993"/>
          </a:xfrm>
          <a:prstGeom prst="rect">
            <a:avLst/>
          </a:prstGeom>
          <a:effectLst/>
        </p:spPr>
      </p:pic>
      <mc:AlternateContent xmlns:mc="http://schemas.openxmlformats.org/markup-compatibility/2006" xmlns:a14="http://schemas.microsoft.com/office/drawing/2010/main">
        <mc:Choice Requires="a14">
          <p:sp>
            <p:nvSpPr>
              <p:cNvPr id="5" name="ZoneTexte 4"/>
              <p:cNvSpPr txBox="1"/>
              <p:nvPr/>
            </p:nvSpPr>
            <p:spPr>
              <a:xfrm>
                <a:off x="2713568" y="2063745"/>
                <a:ext cx="4699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m:rPr>
                              <m:sty m:val="p"/>
                            </m:rPr>
                            <a:rPr lang="el-GR" i="1" smtClean="0">
                              <a:latin typeface="Cambria Math"/>
                              <a:ea typeface="Cambria Math"/>
                            </a:rPr>
                            <m:t>Γ</m:t>
                          </m:r>
                        </m:e>
                        <m:sub>
                          <m:r>
                            <a:rPr lang="fr-FR" b="0" i="1" smtClean="0">
                              <a:latin typeface="Cambria Math"/>
                            </a:rPr>
                            <m:t>1</m:t>
                          </m:r>
                        </m:sub>
                      </m:sSub>
                    </m:oMath>
                  </m:oMathPara>
                </a14:m>
                <a:endParaRPr lang="fr-FR" dirty="0"/>
              </a:p>
            </p:txBody>
          </p:sp>
        </mc:Choice>
        <mc:Fallback xmlns="">
          <p:sp>
            <p:nvSpPr>
              <p:cNvPr id="5" name="ZoneTexte 4"/>
              <p:cNvSpPr txBox="1">
                <a:spLocks noRot="1" noChangeAspect="1" noMove="1" noResize="1" noEditPoints="1" noAdjustHandles="1" noChangeArrowheads="1" noChangeShapeType="1" noTextEdit="1"/>
              </p:cNvSpPr>
              <p:nvPr/>
            </p:nvSpPr>
            <p:spPr>
              <a:xfrm>
                <a:off x="2713568" y="2063745"/>
                <a:ext cx="469900" cy="369332"/>
              </a:xfrm>
              <a:prstGeom prst="rect">
                <a:avLst/>
              </a:prstGeom>
              <a:blipFill rotWithShape="1">
                <a:blip r:embed="rId5"/>
                <a:stretch>
                  <a:fillRect b="-166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 name="ZoneTexte 5"/>
              <p:cNvSpPr txBox="1"/>
              <p:nvPr/>
            </p:nvSpPr>
            <p:spPr>
              <a:xfrm>
                <a:off x="3723218" y="2336795"/>
                <a:ext cx="4699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m:rPr>
                              <m:sty m:val="p"/>
                            </m:rPr>
                            <a:rPr lang="el-GR" i="1" smtClean="0">
                              <a:latin typeface="Cambria Math"/>
                              <a:ea typeface="Cambria Math"/>
                            </a:rPr>
                            <m:t>Γ</m:t>
                          </m:r>
                        </m:e>
                        <m:sub>
                          <m:r>
                            <a:rPr lang="fr-FR" b="0" i="1" smtClean="0">
                              <a:latin typeface="Cambria Math"/>
                            </a:rPr>
                            <m:t>2</m:t>
                          </m:r>
                        </m:sub>
                      </m:sSub>
                    </m:oMath>
                  </m:oMathPara>
                </a14:m>
                <a:endParaRPr lang="fr-FR" dirty="0"/>
              </a:p>
            </p:txBody>
          </p:sp>
        </mc:Choice>
        <mc:Fallback xmlns="">
          <p:sp>
            <p:nvSpPr>
              <p:cNvPr id="6" name="ZoneTexte 5"/>
              <p:cNvSpPr txBox="1">
                <a:spLocks noRot="1" noChangeAspect="1" noMove="1" noResize="1" noEditPoints="1" noAdjustHandles="1" noChangeArrowheads="1" noChangeShapeType="1" noTextEdit="1"/>
              </p:cNvSpPr>
              <p:nvPr/>
            </p:nvSpPr>
            <p:spPr>
              <a:xfrm>
                <a:off x="3723218" y="2336795"/>
                <a:ext cx="469900" cy="369332"/>
              </a:xfrm>
              <a:prstGeom prst="rect">
                <a:avLst/>
              </a:prstGeom>
              <a:blipFill rotWithShape="1">
                <a:blip r:embed="rId6"/>
                <a:stretch>
                  <a:fillRect/>
                </a:stretch>
              </a:blipFill>
            </p:spPr>
            <p:txBody>
              <a:bodyPr/>
              <a:lstStyle/>
              <a:p>
                <a:r>
                  <a:rPr lang="fr-FR">
                    <a:noFill/>
                  </a:rPr>
                  <a:t> </a:t>
                </a:r>
              </a:p>
            </p:txBody>
          </p:sp>
        </mc:Fallback>
      </mc:AlternateContent>
      <p:cxnSp>
        <p:nvCxnSpPr>
          <p:cNvPr id="9" name="Connecteur droit avec flèche 8"/>
          <p:cNvCxnSpPr/>
          <p:nvPr/>
        </p:nvCxnSpPr>
        <p:spPr>
          <a:xfrm>
            <a:off x="6083299" y="2850061"/>
            <a:ext cx="516567" cy="578935"/>
          </a:xfrm>
          <a:prstGeom prst="straightConnector1">
            <a:avLst/>
          </a:prstGeom>
          <a:ln w="34925">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ZoneTexte 9"/>
              <p:cNvSpPr txBox="1"/>
              <p:nvPr/>
            </p:nvSpPr>
            <p:spPr>
              <a:xfrm>
                <a:off x="6505673" y="3059664"/>
                <a:ext cx="40851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1" i="1" smtClean="0">
                          <a:solidFill>
                            <a:schemeClr val="tx1"/>
                          </a:solidFill>
                          <a:latin typeface="Cambria Math"/>
                          <a:ea typeface="Cambria Math"/>
                        </a:rPr>
                        <m:t>𝕗</m:t>
                      </m:r>
                    </m:oMath>
                  </m:oMathPara>
                </a14:m>
                <a:endParaRPr lang="fr-FR" b="1" dirty="0">
                  <a:solidFill>
                    <a:schemeClr val="tx1"/>
                  </a:solidFill>
                </a:endParaRPr>
              </a:p>
            </p:txBody>
          </p:sp>
        </mc:Choice>
        <mc:Fallback xmlns="">
          <p:sp>
            <p:nvSpPr>
              <p:cNvPr id="10" name="ZoneTexte 9"/>
              <p:cNvSpPr txBox="1">
                <a:spLocks noRot="1" noChangeAspect="1" noMove="1" noResize="1" noEditPoints="1" noAdjustHandles="1" noChangeArrowheads="1" noChangeShapeType="1" noTextEdit="1"/>
              </p:cNvSpPr>
              <p:nvPr/>
            </p:nvSpPr>
            <p:spPr>
              <a:xfrm>
                <a:off x="6505673" y="3059664"/>
                <a:ext cx="408517" cy="369332"/>
              </a:xfrm>
              <a:prstGeom prst="rect">
                <a:avLst/>
              </a:prstGeom>
              <a:blipFill rotWithShape="1">
                <a:blip r:embed="rId7"/>
                <a:stretch>
                  <a:fillRect/>
                </a:stretch>
              </a:blipFill>
            </p:spPr>
            <p:txBody>
              <a:bodyPr/>
              <a:lstStyle/>
              <a:p>
                <a:r>
                  <a:rPr lang="fr-FR">
                    <a:noFill/>
                  </a:rPr>
                  <a:t> </a:t>
                </a:r>
              </a:p>
            </p:txBody>
          </p:sp>
        </mc:Fallback>
      </mc:AlternateContent>
      <p:sp>
        <p:nvSpPr>
          <p:cNvPr id="11" name="Ellipse 10"/>
          <p:cNvSpPr/>
          <p:nvPr/>
        </p:nvSpPr>
        <p:spPr>
          <a:xfrm>
            <a:off x="5534265" y="2466945"/>
            <a:ext cx="1065601" cy="678651"/>
          </a:xfrm>
          <a:prstGeom prst="ellipse">
            <a:avLst/>
          </a:prstGeom>
          <a:noFill/>
          <a:ln w="38100">
            <a:solidFill>
              <a:srgbClr val="0033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p:cNvSpPr txBox="1"/>
          <p:nvPr/>
        </p:nvSpPr>
        <p:spPr>
          <a:xfrm>
            <a:off x="1822851" y="1394303"/>
            <a:ext cx="1908000" cy="369332"/>
          </a:xfrm>
          <a:prstGeom prst="rect">
            <a:avLst/>
          </a:prstGeom>
          <a:noFill/>
        </p:spPr>
        <p:txBody>
          <a:bodyPr wrap="square" rtlCol="0">
            <a:spAutoFit/>
          </a:bodyPr>
          <a:lstStyle/>
          <a:p>
            <a:r>
              <a:rPr lang="fr-FR" dirty="0">
                <a:solidFill>
                  <a:srgbClr val="FF0000"/>
                </a:solidFill>
                <a:latin typeface="+mn-lt"/>
              </a:rPr>
              <a:t>Espace articulaire</a:t>
            </a:r>
          </a:p>
        </p:txBody>
      </p:sp>
      <p:sp>
        <p:nvSpPr>
          <p:cNvPr id="14" name="ZoneTexte 13"/>
          <p:cNvSpPr txBox="1"/>
          <p:nvPr/>
        </p:nvSpPr>
        <p:spPr>
          <a:xfrm>
            <a:off x="5554798" y="1312952"/>
            <a:ext cx="1512001" cy="646331"/>
          </a:xfrm>
          <a:prstGeom prst="rect">
            <a:avLst/>
          </a:prstGeom>
          <a:noFill/>
        </p:spPr>
        <p:txBody>
          <a:bodyPr wrap="square" rtlCol="0">
            <a:spAutoFit/>
          </a:bodyPr>
          <a:lstStyle/>
          <a:p>
            <a:r>
              <a:rPr lang="fr-FR" dirty="0">
                <a:solidFill>
                  <a:srgbClr val="003399"/>
                </a:solidFill>
                <a:latin typeface="+mn-lt"/>
              </a:rPr>
              <a:t>Espace opérationnel</a:t>
            </a:r>
          </a:p>
        </p:txBody>
      </p:sp>
      <p:sp>
        <p:nvSpPr>
          <p:cNvPr id="15" name="Ellipse 14"/>
          <p:cNvSpPr/>
          <p:nvPr/>
        </p:nvSpPr>
        <p:spPr>
          <a:xfrm>
            <a:off x="6003925" y="2700000"/>
            <a:ext cx="219075" cy="209550"/>
          </a:xfrm>
          <a:prstGeom prst="ellipse">
            <a:avLst/>
          </a:prstGeom>
          <a:solidFill>
            <a:srgbClr val="003399"/>
          </a:solidFill>
          <a:ln>
            <a:solidFill>
              <a:srgbClr val="00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9347014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r>
                  <a:rPr lang="fr-FR" dirty="0"/>
                  <a:t>Cas où les lois de commande LCPA ou LCPO sont des correcteurs de type </a:t>
                </a:r>
                <a14:m>
                  <m:oMath xmlns:m="http://schemas.openxmlformats.org/officeDocument/2006/math">
                    <m:r>
                      <a:rPr lang="fr-FR" b="1" i="0" smtClean="0">
                        <a:latin typeface="Cambria Math"/>
                      </a:rPr>
                      <m:t>𝐏𝐈𝐃</m:t>
                    </m:r>
                  </m:oMath>
                </a14:m>
                <a:endParaRPr lang="fr-FR" b="1" dirty="0"/>
              </a:p>
              <a:p>
                <a:pPr marL="0" indent="0">
                  <a:buNone/>
                </a:pPr>
                <a:endParaRPr lang="fr-FR" b="1" dirty="0"/>
              </a:p>
              <a:p>
                <a:pPr marL="0" indent="0">
                  <a:buNone/>
                </a:pPr>
                <a:r>
                  <a:rPr lang="fr-FR" b="1" u="sng" dirty="0"/>
                  <a:t>Domaine temporelle :</a:t>
                </a:r>
                <a:r>
                  <a:rPr lang="fr-FR" b="1" dirty="0"/>
                  <a:t>		           </a:t>
                </a:r>
                <a:r>
                  <a:rPr lang="fr-FR" b="1" u="sng" dirty="0"/>
                  <a:t>Domaine fréquentielle (Laplace) :</a:t>
                </a:r>
              </a:p>
              <a:p>
                <a:pPr marL="0" indent="0">
                  <a:buNone/>
                </a:pPr>
                <a:endParaRPr lang="fr-FR" b="1" dirty="0"/>
              </a:p>
              <a:p>
                <a:pPr marL="0" indent="0">
                  <a:buNone/>
                </a:pPr>
                <a:r>
                  <a:rPr lang="fr-FR" dirty="0"/>
                  <a:t>Correcteur proportionnel  (P):                            Correcteur proportionnel (P):</a:t>
                </a:r>
              </a:p>
              <a:p>
                <a:pPr marL="0" indent="0">
                  <a:buNone/>
                </a:pPr>
                <a:endParaRPr lang="fr-FR" b="0" i="1" dirty="0">
                  <a:latin typeface="Cambria Math"/>
                </a:endParaRPr>
              </a:p>
              <a:p>
                <a:pPr marL="0" indent="0">
                  <a:buNone/>
                </a:pPr>
                <a:r>
                  <a:rPr lang="fr-FR" i="1" dirty="0">
                    <a:latin typeface="Cambria Math"/>
                  </a:rPr>
                  <a:t>	</a:t>
                </a:r>
                <a14:m>
                  <m:oMath xmlns:m="http://schemas.openxmlformats.org/officeDocument/2006/math">
                    <m:r>
                      <a:rPr lang="fr-FR" b="0" i="1" smtClean="0">
                        <a:latin typeface="Cambria Math"/>
                      </a:rPr>
                      <m:t>𝑐</m:t>
                    </m:r>
                    <m:d>
                      <m:dPr>
                        <m:ctrlPr>
                          <a:rPr lang="fr-FR" b="0" i="1" smtClean="0">
                            <a:latin typeface="Cambria Math" panose="02040503050406030204" pitchFamily="18" charset="0"/>
                          </a:rPr>
                        </m:ctrlPr>
                      </m:dPr>
                      <m:e>
                        <m:r>
                          <m:rPr>
                            <m:sty m:val="p"/>
                          </m:rPr>
                          <a:rPr lang="fr-FR" b="0" i="0" smtClean="0">
                            <a:latin typeface="Cambria Math"/>
                          </a:rPr>
                          <m:t>t</m:t>
                        </m:r>
                      </m:e>
                    </m:d>
                    <m:r>
                      <a:rPr lang="fr-FR" b="0" i="1" smtClean="0">
                        <a:latin typeface="Cambria Math"/>
                      </a:rPr>
                      <m:t>=</m:t>
                    </m:r>
                    <m:sSub>
                      <m:sSubPr>
                        <m:ctrlPr>
                          <a:rPr lang="fr-FR" b="0" i="1" smtClean="0">
                            <a:latin typeface="Cambria Math" panose="02040503050406030204" pitchFamily="18" charset="0"/>
                          </a:rPr>
                        </m:ctrlPr>
                      </m:sSubPr>
                      <m:e>
                        <m:r>
                          <a:rPr lang="fr-FR" b="0" i="1" smtClean="0">
                            <a:latin typeface="Cambria Math"/>
                          </a:rPr>
                          <m:t>𝑘</m:t>
                        </m:r>
                      </m:e>
                      <m:sub>
                        <m:r>
                          <a:rPr lang="fr-FR" b="0" i="1" smtClean="0">
                            <a:latin typeface="Cambria Math"/>
                          </a:rPr>
                          <m:t>𝑝</m:t>
                        </m:r>
                      </m:sub>
                    </m:sSub>
                  </m:oMath>
                </a14:m>
                <a:r>
                  <a:rPr lang="fr-FR" dirty="0"/>
                  <a:t> 				</a:t>
                </a:r>
                <a14:m>
                  <m:oMath xmlns:m="http://schemas.openxmlformats.org/officeDocument/2006/math">
                    <m:r>
                      <a:rPr lang="fr-FR" b="0" i="1" smtClean="0">
                        <a:latin typeface="Cambria Math"/>
                      </a:rPr>
                      <m:t>𝐶</m:t>
                    </m:r>
                    <m:d>
                      <m:dPr>
                        <m:ctrlPr>
                          <a:rPr lang="fr-FR" i="1">
                            <a:latin typeface="Cambria Math" panose="02040503050406030204" pitchFamily="18" charset="0"/>
                          </a:rPr>
                        </m:ctrlPr>
                      </m:dPr>
                      <m:e>
                        <m:r>
                          <a:rPr lang="fr-FR" b="0" i="1" smtClean="0">
                            <a:latin typeface="Cambria Math"/>
                          </a:rPr>
                          <m:t>𝑠</m:t>
                        </m:r>
                      </m:e>
                    </m:d>
                    <m:r>
                      <a:rPr lang="fr-FR" i="1">
                        <a:latin typeface="Cambria Math"/>
                      </a:rPr>
                      <m:t>=</m:t>
                    </m:r>
                    <m:sSub>
                      <m:sSubPr>
                        <m:ctrlPr>
                          <a:rPr lang="fr-FR" i="1">
                            <a:latin typeface="Cambria Math" panose="02040503050406030204" pitchFamily="18" charset="0"/>
                          </a:rPr>
                        </m:ctrlPr>
                      </m:sSubPr>
                      <m:e>
                        <m:r>
                          <a:rPr lang="fr-FR" i="1">
                            <a:latin typeface="Cambria Math"/>
                          </a:rPr>
                          <m:t>𝑘</m:t>
                        </m:r>
                      </m:e>
                      <m:sub>
                        <m:r>
                          <a:rPr lang="fr-FR" i="1">
                            <a:latin typeface="Cambria Math"/>
                          </a:rPr>
                          <m:t>𝑝</m:t>
                        </m:r>
                      </m:sub>
                    </m:sSub>
                  </m:oMath>
                </a14:m>
                <a:endParaRPr lang="fr-FR" dirty="0"/>
              </a:p>
              <a:p>
                <a:pPr marL="0" indent="0">
                  <a:buNone/>
                </a:pPr>
                <a:endParaRPr lang="fr-FR" b="1" dirty="0"/>
              </a:p>
              <a:p>
                <a:pPr marL="0" indent="0">
                  <a:buNone/>
                </a:pPr>
                <a:r>
                  <a:rPr lang="fr-FR" dirty="0"/>
                  <a:t>Proportionnel-intégral (PI):	           	           Proportionnel-intégral (PI) :</a:t>
                </a:r>
              </a:p>
              <a:p>
                <a:pPr marL="0" indent="0">
                  <a:buNone/>
                </a:pPr>
                <a:endParaRPr lang="fr-FR" dirty="0"/>
              </a:p>
              <a:p>
                <a:pPr marL="0" indent="0">
                  <a:buNone/>
                </a:pPr>
                <a:r>
                  <a:rPr lang="fr-FR" dirty="0"/>
                  <a:t>	</a:t>
                </a:r>
                <a14:m>
                  <m:oMath xmlns:m="http://schemas.openxmlformats.org/officeDocument/2006/math">
                    <m:r>
                      <a:rPr lang="fr-FR" i="1">
                        <a:latin typeface="Cambria Math"/>
                      </a:rPr>
                      <m:t>𝑐</m:t>
                    </m:r>
                    <m:d>
                      <m:dPr>
                        <m:ctrlPr>
                          <a:rPr lang="fr-FR" i="1">
                            <a:latin typeface="Cambria Math" panose="02040503050406030204" pitchFamily="18" charset="0"/>
                          </a:rPr>
                        </m:ctrlPr>
                      </m:dPr>
                      <m:e>
                        <m:r>
                          <m:rPr>
                            <m:sty m:val="p"/>
                          </m:rPr>
                          <a:rPr lang="fr-FR">
                            <a:latin typeface="Cambria Math"/>
                          </a:rPr>
                          <m:t>t</m:t>
                        </m:r>
                      </m:e>
                    </m:d>
                    <m:r>
                      <a:rPr lang="fr-FR" i="1">
                        <a:latin typeface="Cambria Math"/>
                      </a:rPr>
                      <m:t>=</m:t>
                    </m:r>
                    <m:sSub>
                      <m:sSubPr>
                        <m:ctrlPr>
                          <a:rPr lang="fr-FR" i="1">
                            <a:latin typeface="Cambria Math" panose="02040503050406030204" pitchFamily="18" charset="0"/>
                          </a:rPr>
                        </m:ctrlPr>
                      </m:sSubPr>
                      <m:e>
                        <m:r>
                          <a:rPr lang="fr-FR" i="1">
                            <a:latin typeface="Cambria Math"/>
                          </a:rPr>
                          <m:t>𝑘</m:t>
                        </m:r>
                      </m:e>
                      <m:sub>
                        <m:r>
                          <a:rPr lang="fr-FR" i="1">
                            <a:latin typeface="Cambria Math"/>
                          </a:rPr>
                          <m:t>𝑝</m:t>
                        </m:r>
                      </m:sub>
                    </m:sSub>
                    <m:r>
                      <a:rPr lang="fr-FR" b="0" i="0" smtClean="0">
                        <a:latin typeface="Cambria Math"/>
                      </a:rPr>
                      <m:t>+</m:t>
                    </m:r>
                    <m:sSub>
                      <m:sSubPr>
                        <m:ctrlPr>
                          <a:rPr lang="fr-FR" b="0" i="1" smtClean="0">
                            <a:latin typeface="Cambria Math" panose="02040503050406030204" pitchFamily="18" charset="0"/>
                          </a:rPr>
                        </m:ctrlPr>
                      </m:sSubPr>
                      <m:e>
                        <m:r>
                          <a:rPr lang="fr-FR" b="0" i="1" smtClean="0">
                            <a:latin typeface="Cambria Math"/>
                          </a:rPr>
                          <m:t>𝑘</m:t>
                        </m:r>
                      </m:e>
                      <m:sub>
                        <m:r>
                          <a:rPr lang="fr-FR" b="0" i="1" smtClean="0">
                            <a:latin typeface="Cambria Math"/>
                          </a:rPr>
                          <m:t>𝐼</m:t>
                        </m:r>
                      </m:sub>
                    </m:sSub>
                    <m:r>
                      <a:rPr lang="fr-FR" b="0" i="1" smtClean="0">
                        <a:latin typeface="Cambria Math"/>
                        <a:ea typeface="Cambria Math"/>
                      </a:rPr>
                      <m:t>∫</m:t>
                    </m:r>
                    <m:r>
                      <a:rPr lang="fr-FR" b="0" i="1" smtClean="0">
                        <a:latin typeface="Cambria Math"/>
                        <a:ea typeface="Cambria Math"/>
                      </a:rPr>
                      <m:t>𝑑𝑡</m:t>
                    </m:r>
                  </m:oMath>
                </a14:m>
                <a:r>
                  <a:rPr lang="fr-FR" dirty="0"/>
                  <a:t>				</a:t>
                </a:r>
                <a14:m>
                  <m:oMath xmlns:m="http://schemas.openxmlformats.org/officeDocument/2006/math">
                    <m:r>
                      <a:rPr lang="fr-FR" b="0" i="1" smtClean="0">
                        <a:latin typeface="Cambria Math"/>
                      </a:rPr>
                      <m:t>𝐶</m:t>
                    </m:r>
                    <m:d>
                      <m:dPr>
                        <m:ctrlPr>
                          <a:rPr lang="fr-FR" b="0" i="1" smtClean="0">
                            <a:latin typeface="Cambria Math" panose="02040503050406030204" pitchFamily="18" charset="0"/>
                          </a:rPr>
                        </m:ctrlPr>
                      </m:dPr>
                      <m:e>
                        <m:r>
                          <a:rPr lang="fr-FR" b="0" i="1" smtClean="0">
                            <a:latin typeface="Cambria Math"/>
                          </a:rPr>
                          <m:t>𝑠</m:t>
                        </m:r>
                      </m:e>
                    </m:d>
                    <m:r>
                      <a:rPr lang="fr-FR" b="0" i="1" smtClean="0">
                        <a:latin typeface="Cambria Math"/>
                      </a:rPr>
                      <m:t>=</m:t>
                    </m:r>
                    <m:sSub>
                      <m:sSubPr>
                        <m:ctrlPr>
                          <a:rPr lang="fr-FR" b="0" i="1" smtClean="0">
                            <a:latin typeface="Cambria Math" panose="02040503050406030204" pitchFamily="18" charset="0"/>
                          </a:rPr>
                        </m:ctrlPr>
                      </m:sSubPr>
                      <m:e>
                        <m:r>
                          <a:rPr lang="fr-FR" b="0" i="1" smtClean="0">
                            <a:latin typeface="Cambria Math"/>
                          </a:rPr>
                          <m:t>𝑘</m:t>
                        </m:r>
                      </m:e>
                      <m:sub>
                        <m:r>
                          <a:rPr lang="fr-FR" b="0" i="1" smtClean="0">
                            <a:latin typeface="Cambria Math"/>
                          </a:rPr>
                          <m:t>𝑝</m:t>
                        </m:r>
                      </m:sub>
                    </m:sSub>
                    <m:r>
                      <a:rPr lang="fr-FR" b="0" i="1" smtClean="0">
                        <a:latin typeface="Cambria Math"/>
                      </a:rPr>
                      <m:t>+</m:t>
                    </m:r>
                    <m:f>
                      <m:fPr>
                        <m:type m:val="lin"/>
                        <m:ctrlPr>
                          <a:rPr lang="fr-FR" b="0" i="1" smtClean="0">
                            <a:latin typeface="Cambria Math" panose="02040503050406030204" pitchFamily="18" charset="0"/>
                          </a:rPr>
                        </m:ctrlPr>
                      </m:fPr>
                      <m:num>
                        <m:sSub>
                          <m:sSubPr>
                            <m:ctrlPr>
                              <a:rPr lang="fr-FR" b="0" i="1" smtClean="0">
                                <a:latin typeface="Cambria Math" panose="02040503050406030204" pitchFamily="18" charset="0"/>
                              </a:rPr>
                            </m:ctrlPr>
                          </m:sSubPr>
                          <m:e>
                            <m:r>
                              <a:rPr lang="fr-FR" b="0" i="1" smtClean="0">
                                <a:latin typeface="Cambria Math"/>
                              </a:rPr>
                              <m:t>𝑘</m:t>
                            </m:r>
                          </m:e>
                          <m:sub>
                            <m:r>
                              <a:rPr lang="fr-FR" b="0" i="1" smtClean="0">
                                <a:latin typeface="Cambria Math"/>
                              </a:rPr>
                              <m:t>𝐼</m:t>
                            </m:r>
                          </m:sub>
                        </m:sSub>
                      </m:num>
                      <m:den>
                        <m:r>
                          <a:rPr lang="fr-FR" b="0" i="1" smtClean="0">
                            <a:latin typeface="Cambria Math"/>
                          </a:rPr>
                          <m:t>𝑠</m:t>
                        </m:r>
                      </m:den>
                    </m:f>
                  </m:oMath>
                </a14:m>
                <a:endParaRPr lang="fr-FR" dirty="0"/>
              </a:p>
              <a:p>
                <a:pPr marL="0" indent="0">
                  <a:buNone/>
                </a:pPr>
                <a:endParaRPr lang="fr-FR" dirty="0"/>
              </a:p>
              <a:p>
                <a:pPr marL="0" indent="0">
                  <a:buNone/>
                </a:pPr>
                <a:r>
                  <a:rPr lang="fr-FR" dirty="0"/>
                  <a:t>Proportionnel-intégral-dérivé (PID) :	           Proportionnel-intégral-dérivé (PID) :</a:t>
                </a:r>
              </a:p>
              <a:p>
                <a:pPr marL="0" indent="0">
                  <a:buNone/>
                </a:pPr>
                <a:endParaRPr lang="fr-FR" i="1" dirty="0">
                  <a:latin typeface="Cambria Math"/>
                </a:endParaRPr>
              </a:p>
              <a:p>
                <a:pPr marL="0" indent="0">
                  <a:buNone/>
                </a:pPr>
                <a:r>
                  <a:rPr lang="fr-FR" i="1" dirty="0">
                    <a:latin typeface="Cambria Math"/>
                  </a:rPr>
                  <a:t>	</a:t>
                </a:r>
                <a14:m>
                  <m:oMath xmlns:m="http://schemas.openxmlformats.org/officeDocument/2006/math">
                    <m:r>
                      <a:rPr lang="fr-FR" i="1">
                        <a:latin typeface="Cambria Math"/>
                      </a:rPr>
                      <m:t>𝑐</m:t>
                    </m:r>
                    <m:d>
                      <m:dPr>
                        <m:ctrlPr>
                          <a:rPr lang="fr-FR" i="1">
                            <a:latin typeface="Cambria Math" panose="02040503050406030204" pitchFamily="18" charset="0"/>
                          </a:rPr>
                        </m:ctrlPr>
                      </m:dPr>
                      <m:e>
                        <m:r>
                          <m:rPr>
                            <m:sty m:val="p"/>
                          </m:rPr>
                          <a:rPr lang="fr-FR">
                            <a:latin typeface="Cambria Math"/>
                          </a:rPr>
                          <m:t>t</m:t>
                        </m:r>
                      </m:e>
                    </m:d>
                    <m:r>
                      <a:rPr lang="fr-FR" i="1">
                        <a:latin typeface="Cambria Math"/>
                      </a:rPr>
                      <m:t>=</m:t>
                    </m:r>
                    <m:sSub>
                      <m:sSubPr>
                        <m:ctrlPr>
                          <a:rPr lang="fr-FR" i="1">
                            <a:latin typeface="Cambria Math" panose="02040503050406030204" pitchFamily="18" charset="0"/>
                          </a:rPr>
                        </m:ctrlPr>
                      </m:sSubPr>
                      <m:e>
                        <m:r>
                          <a:rPr lang="fr-FR" i="1">
                            <a:latin typeface="Cambria Math"/>
                          </a:rPr>
                          <m:t>𝑘</m:t>
                        </m:r>
                      </m:e>
                      <m:sub>
                        <m:r>
                          <a:rPr lang="fr-FR" i="1">
                            <a:latin typeface="Cambria Math"/>
                          </a:rPr>
                          <m:t>𝑝</m:t>
                        </m:r>
                      </m:sub>
                    </m:sSub>
                    <m:r>
                      <a:rPr lang="fr-FR">
                        <a:latin typeface="Cambria Math"/>
                      </a:rPr>
                      <m:t>+</m:t>
                    </m:r>
                    <m:sSub>
                      <m:sSubPr>
                        <m:ctrlPr>
                          <a:rPr lang="fr-FR" i="1">
                            <a:latin typeface="Cambria Math" panose="02040503050406030204" pitchFamily="18" charset="0"/>
                          </a:rPr>
                        </m:ctrlPr>
                      </m:sSubPr>
                      <m:e>
                        <m:r>
                          <a:rPr lang="fr-FR" i="1">
                            <a:latin typeface="Cambria Math"/>
                          </a:rPr>
                          <m:t>𝑘</m:t>
                        </m:r>
                      </m:e>
                      <m:sub>
                        <m:r>
                          <a:rPr lang="fr-FR" b="0" i="1" smtClean="0">
                            <a:latin typeface="Cambria Math"/>
                          </a:rPr>
                          <m:t>𝐼</m:t>
                        </m:r>
                      </m:sub>
                    </m:sSub>
                    <m:r>
                      <a:rPr lang="fr-FR" i="1">
                        <a:latin typeface="Cambria Math"/>
                        <a:ea typeface="Cambria Math"/>
                      </a:rPr>
                      <m:t>∫</m:t>
                    </m:r>
                    <m:r>
                      <a:rPr lang="fr-FR" i="1">
                        <a:latin typeface="Cambria Math"/>
                        <a:ea typeface="Cambria Math"/>
                      </a:rPr>
                      <m:t>𝑑𝑡</m:t>
                    </m:r>
                    <m:r>
                      <a:rPr lang="fr-FR" b="0" i="1" smtClean="0">
                        <a:latin typeface="Cambria Math"/>
                        <a:ea typeface="Cambria Math"/>
                      </a:rPr>
                      <m:t>+</m:t>
                    </m:r>
                    <m:sSub>
                      <m:sSubPr>
                        <m:ctrlPr>
                          <a:rPr lang="fr-FR" b="0" i="1" smtClean="0">
                            <a:latin typeface="Cambria Math" panose="02040503050406030204" pitchFamily="18" charset="0"/>
                            <a:ea typeface="Cambria Math"/>
                          </a:rPr>
                        </m:ctrlPr>
                      </m:sSubPr>
                      <m:e>
                        <m:r>
                          <a:rPr lang="fr-FR" b="0" i="1" smtClean="0">
                            <a:latin typeface="Cambria Math"/>
                            <a:ea typeface="Cambria Math"/>
                          </a:rPr>
                          <m:t>𝑘</m:t>
                        </m:r>
                      </m:e>
                      <m:sub>
                        <m:r>
                          <a:rPr lang="fr-FR" b="0" i="1" smtClean="0">
                            <a:latin typeface="Cambria Math"/>
                            <a:ea typeface="Cambria Math"/>
                          </a:rPr>
                          <m:t>𝐷</m:t>
                        </m:r>
                      </m:sub>
                    </m:sSub>
                    <m:f>
                      <m:fPr>
                        <m:ctrlPr>
                          <a:rPr lang="fr-FR" b="0" i="1" smtClean="0">
                            <a:latin typeface="Cambria Math" panose="02040503050406030204" pitchFamily="18" charset="0"/>
                            <a:ea typeface="Cambria Math"/>
                          </a:rPr>
                        </m:ctrlPr>
                      </m:fPr>
                      <m:num>
                        <m:r>
                          <a:rPr lang="fr-FR" b="0" i="1" smtClean="0">
                            <a:latin typeface="Cambria Math"/>
                            <a:ea typeface="Cambria Math"/>
                          </a:rPr>
                          <m:t>𝑑</m:t>
                        </m:r>
                      </m:num>
                      <m:den>
                        <m:r>
                          <a:rPr lang="fr-FR" b="0" i="1" smtClean="0">
                            <a:latin typeface="Cambria Math"/>
                            <a:ea typeface="Cambria Math"/>
                          </a:rPr>
                          <m:t>𝑑𝑡</m:t>
                        </m:r>
                      </m:den>
                    </m:f>
                  </m:oMath>
                </a14:m>
                <a:r>
                  <a:rPr lang="fr-FR" dirty="0"/>
                  <a:t>			</a:t>
                </a:r>
                <a14:m>
                  <m:oMath xmlns:m="http://schemas.openxmlformats.org/officeDocument/2006/math">
                    <m:r>
                      <a:rPr lang="fr-FR" i="1">
                        <a:latin typeface="Cambria Math"/>
                      </a:rPr>
                      <m:t>𝐶</m:t>
                    </m:r>
                    <m:d>
                      <m:dPr>
                        <m:ctrlPr>
                          <a:rPr lang="fr-FR" i="1">
                            <a:latin typeface="Cambria Math" panose="02040503050406030204" pitchFamily="18" charset="0"/>
                          </a:rPr>
                        </m:ctrlPr>
                      </m:dPr>
                      <m:e>
                        <m:r>
                          <a:rPr lang="fr-FR" b="0" i="1" smtClean="0">
                            <a:latin typeface="Cambria Math"/>
                          </a:rPr>
                          <m:t>𝑠</m:t>
                        </m:r>
                      </m:e>
                    </m:d>
                    <m:r>
                      <a:rPr lang="fr-FR" i="1">
                        <a:latin typeface="Cambria Math"/>
                      </a:rPr>
                      <m:t>=</m:t>
                    </m:r>
                    <m:sSub>
                      <m:sSubPr>
                        <m:ctrlPr>
                          <a:rPr lang="fr-FR" i="1">
                            <a:latin typeface="Cambria Math" panose="02040503050406030204" pitchFamily="18" charset="0"/>
                          </a:rPr>
                        </m:ctrlPr>
                      </m:sSubPr>
                      <m:e>
                        <m:r>
                          <a:rPr lang="fr-FR" i="1">
                            <a:latin typeface="Cambria Math"/>
                          </a:rPr>
                          <m:t>𝑘</m:t>
                        </m:r>
                      </m:e>
                      <m:sub>
                        <m:r>
                          <a:rPr lang="fr-FR" i="1">
                            <a:latin typeface="Cambria Math"/>
                          </a:rPr>
                          <m:t>𝑝</m:t>
                        </m:r>
                      </m:sub>
                    </m:sSub>
                    <m:r>
                      <a:rPr lang="fr-FR" i="1">
                        <a:latin typeface="Cambria Math"/>
                      </a:rPr>
                      <m:t>+</m:t>
                    </m:r>
                    <m:f>
                      <m:fPr>
                        <m:type m:val="lin"/>
                        <m:ctrlPr>
                          <a:rPr lang="fr-FR" i="1">
                            <a:latin typeface="Cambria Math" panose="02040503050406030204" pitchFamily="18" charset="0"/>
                          </a:rPr>
                        </m:ctrlPr>
                      </m:fPr>
                      <m:num>
                        <m:sSub>
                          <m:sSubPr>
                            <m:ctrlPr>
                              <a:rPr lang="fr-FR" i="1">
                                <a:latin typeface="Cambria Math" panose="02040503050406030204" pitchFamily="18" charset="0"/>
                              </a:rPr>
                            </m:ctrlPr>
                          </m:sSubPr>
                          <m:e>
                            <m:r>
                              <a:rPr lang="fr-FR" i="1">
                                <a:latin typeface="Cambria Math"/>
                              </a:rPr>
                              <m:t>𝑘</m:t>
                            </m:r>
                          </m:e>
                          <m:sub>
                            <m:r>
                              <a:rPr lang="fr-FR" i="1">
                                <a:latin typeface="Cambria Math"/>
                              </a:rPr>
                              <m:t>𝐼</m:t>
                            </m:r>
                          </m:sub>
                        </m:sSub>
                      </m:num>
                      <m:den>
                        <m:r>
                          <a:rPr lang="fr-FR" b="0" i="1" smtClean="0">
                            <a:latin typeface="Cambria Math"/>
                          </a:rPr>
                          <m:t>𝑠</m:t>
                        </m:r>
                        <m:r>
                          <a:rPr lang="fr-FR" b="0" i="1" smtClean="0">
                            <a:latin typeface="Cambria Math"/>
                          </a:rPr>
                          <m:t>+</m:t>
                        </m:r>
                        <m:sSub>
                          <m:sSubPr>
                            <m:ctrlPr>
                              <a:rPr lang="fr-FR" b="0" i="1" smtClean="0">
                                <a:latin typeface="Cambria Math" panose="02040503050406030204" pitchFamily="18" charset="0"/>
                              </a:rPr>
                            </m:ctrlPr>
                          </m:sSubPr>
                          <m:e>
                            <m:r>
                              <a:rPr lang="fr-FR" b="0" i="1" smtClean="0">
                                <a:latin typeface="Cambria Math"/>
                              </a:rPr>
                              <m:t>𝑘</m:t>
                            </m:r>
                          </m:e>
                          <m:sub>
                            <m:r>
                              <a:rPr lang="fr-FR" b="0" i="1" smtClean="0">
                                <a:latin typeface="Cambria Math"/>
                              </a:rPr>
                              <m:t>𝐷</m:t>
                            </m:r>
                          </m:sub>
                        </m:sSub>
                        <m:r>
                          <a:rPr lang="fr-FR" b="0" i="1" smtClean="0">
                            <a:latin typeface="Cambria Math"/>
                          </a:rPr>
                          <m:t>𝑠</m:t>
                        </m:r>
                      </m:den>
                    </m:f>
                  </m:oMath>
                </a14:m>
                <a:endParaRPr lang="fr-FR"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3"/>
                <a:stretch>
                  <a:fillRect l="-584" t="-552" b="-9724"/>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PID</a:t>
            </a:r>
          </a:p>
        </p:txBody>
      </p:sp>
      <p:cxnSp>
        <p:nvCxnSpPr>
          <p:cNvPr id="59" name="Connecteur droit 58"/>
          <p:cNvCxnSpPr/>
          <p:nvPr/>
        </p:nvCxnSpPr>
        <p:spPr>
          <a:xfrm>
            <a:off x="4447908" y="1762125"/>
            <a:ext cx="0" cy="4545542"/>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57149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r>
                  <a:rPr lang="fr-FR" b="1" dirty="0"/>
                  <a:t>Schéma de principe :</a:t>
                </a:r>
              </a:p>
              <a:p>
                <a:pPr marL="0" indent="0">
                  <a:buNone/>
                </a:pPr>
                <a:endParaRPr lang="fr-FR" b="1" dirty="0"/>
              </a:p>
              <a:p>
                <a:pPr marL="0" indent="0">
                  <a:buNone/>
                </a:pPr>
                <a:endParaRPr lang="fr-FR" b="1" dirty="0"/>
              </a:p>
              <a:p>
                <a:pPr marL="0" indent="0">
                  <a:buNone/>
                </a:pPr>
                <a:endParaRPr lang="fr-FR" b="1" dirty="0"/>
              </a:p>
              <a:p>
                <a:pPr marL="0" indent="0">
                  <a:buNone/>
                </a:pPr>
                <a:endParaRPr lang="fr-FR" b="1" dirty="0"/>
              </a:p>
              <a:p>
                <a:pPr marL="0" indent="0">
                  <a:buNone/>
                </a:pPr>
                <a:endParaRPr lang="fr-FR" b="1" dirty="0"/>
              </a:p>
              <a:p>
                <a:pPr marL="0" indent="0">
                  <a:buNone/>
                </a:pPr>
                <a:endParaRPr lang="fr-FR" b="1" dirty="0"/>
              </a:p>
              <a:p>
                <a:pPr marL="0" indent="0">
                  <a:buNone/>
                </a:pPr>
                <a:endParaRPr lang="fr-FR" b="1" dirty="0"/>
              </a:p>
              <a:p>
                <a:pPr marL="0" indent="0">
                  <a:buNone/>
                </a:pPr>
                <a:endParaRPr lang="fr-FR" b="1" dirty="0"/>
              </a:p>
              <a:p>
                <a:pPr marL="0" indent="0">
                  <a:buNone/>
                </a:pPr>
                <a:r>
                  <a:rPr lang="fr-FR" dirty="0"/>
                  <a:t>La loi de commande est donnée par :</a:t>
                </a:r>
              </a:p>
              <a:p>
                <a:pPr marL="0" indent="0">
                  <a:buNone/>
                </a:pPr>
                <a14:m>
                  <m:oMathPara xmlns:m="http://schemas.openxmlformats.org/officeDocument/2006/math">
                    <m:oMathParaPr>
                      <m:jc m:val="centerGroup"/>
                    </m:oMathParaPr>
                    <m:oMath xmlns:m="http://schemas.openxmlformats.org/officeDocument/2006/math">
                      <m:r>
                        <a:rPr lang="el-GR" b="1" i="0" smtClean="0">
                          <a:latin typeface="Cambria Math"/>
                          <a:ea typeface="Cambria Math"/>
                        </a:rPr>
                        <m:t>𝚪</m:t>
                      </m:r>
                      <m:r>
                        <a:rPr lang="fr-FR" b="0" i="1" smtClean="0">
                          <a:latin typeface="Cambria Math"/>
                          <a:ea typeface="Cambria Math"/>
                        </a:rPr>
                        <m:t>=</m:t>
                      </m:r>
                      <m:sSub>
                        <m:sSubPr>
                          <m:ctrlPr>
                            <a:rPr lang="fr-FR" b="0" i="1" smtClean="0">
                              <a:latin typeface="Cambria Math" panose="02040503050406030204" pitchFamily="18" charset="0"/>
                              <a:ea typeface="Cambria Math"/>
                            </a:rPr>
                          </m:ctrlPr>
                        </m:sSubPr>
                        <m:e>
                          <m:r>
                            <a:rPr lang="fr-FR" b="1" i="0" smtClean="0">
                              <a:latin typeface="Cambria Math"/>
                              <a:ea typeface="Cambria Math"/>
                            </a:rPr>
                            <m:t>𝐊</m:t>
                          </m:r>
                        </m:e>
                        <m:sub>
                          <m:r>
                            <a:rPr lang="fr-FR" b="0" i="1" smtClean="0">
                              <a:latin typeface="Cambria Math"/>
                              <a:ea typeface="Cambria Math"/>
                            </a:rPr>
                            <m:t>𝑃</m:t>
                          </m:r>
                        </m:sub>
                      </m:sSub>
                      <m:d>
                        <m:dPr>
                          <m:ctrlPr>
                            <a:rPr lang="fr-FR" b="0" i="1" smtClean="0">
                              <a:latin typeface="Cambria Math" panose="02040503050406030204" pitchFamily="18" charset="0"/>
                              <a:ea typeface="Cambria Math"/>
                            </a:rPr>
                          </m:ctrlPr>
                        </m:dPr>
                        <m:e>
                          <m:sSup>
                            <m:sSupPr>
                              <m:ctrlPr>
                                <a:rPr lang="fr-FR" b="0" i="1" smtClean="0">
                                  <a:latin typeface="Cambria Math" panose="02040503050406030204" pitchFamily="18" charset="0"/>
                                  <a:ea typeface="Cambria Math"/>
                                </a:rPr>
                              </m:ctrlPr>
                            </m:sSupPr>
                            <m:e>
                              <m:r>
                                <a:rPr lang="fr-FR" b="1" i="0" smtClean="0">
                                  <a:latin typeface="Cambria Math"/>
                                  <a:ea typeface="Cambria Math"/>
                                </a:rPr>
                                <m:t>𝐪</m:t>
                              </m:r>
                            </m:e>
                            <m:sup>
                              <m:r>
                                <a:rPr lang="fr-FR" b="0" i="1" smtClean="0">
                                  <a:latin typeface="Cambria Math"/>
                                  <a:ea typeface="Cambria Math"/>
                                </a:rPr>
                                <m:t>𝑑</m:t>
                              </m:r>
                            </m:sup>
                          </m:sSup>
                          <m:r>
                            <a:rPr lang="fr-FR" b="0" i="1" smtClean="0">
                              <a:latin typeface="Cambria Math"/>
                              <a:ea typeface="Cambria Math"/>
                            </a:rPr>
                            <m:t>−</m:t>
                          </m:r>
                          <m:r>
                            <a:rPr lang="fr-FR" b="1" i="0" smtClean="0">
                              <a:latin typeface="Cambria Math"/>
                              <a:ea typeface="Cambria Math"/>
                            </a:rPr>
                            <m:t>𝐪</m:t>
                          </m:r>
                        </m:e>
                      </m:d>
                      <m:r>
                        <a:rPr lang="fr-FR" b="0" i="1" smtClean="0">
                          <a:latin typeface="Cambria Math"/>
                          <a:ea typeface="Cambria Math"/>
                        </a:rPr>
                        <m:t>+</m:t>
                      </m:r>
                      <m:sSub>
                        <m:sSubPr>
                          <m:ctrlPr>
                            <a:rPr lang="fr-FR" b="0" i="1" smtClean="0">
                              <a:latin typeface="Cambria Math" panose="02040503050406030204" pitchFamily="18" charset="0"/>
                              <a:ea typeface="Cambria Math"/>
                            </a:rPr>
                          </m:ctrlPr>
                        </m:sSubPr>
                        <m:e>
                          <m:r>
                            <a:rPr lang="fr-FR" b="1" i="0" smtClean="0">
                              <a:latin typeface="Cambria Math"/>
                              <a:ea typeface="Cambria Math"/>
                            </a:rPr>
                            <m:t>𝐊</m:t>
                          </m:r>
                        </m:e>
                        <m:sub>
                          <m:r>
                            <a:rPr lang="fr-FR" b="0" i="1" smtClean="0">
                              <a:latin typeface="Cambria Math"/>
                              <a:ea typeface="Cambria Math"/>
                            </a:rPr>
                            <m:t>𝐷</m:t>
                          </m:r>
                        </m:sub>
                      </m:sSub>
                      <m:d>
                        <m:dPr>
                          <m:ctrlPr>
                            <a:rPr lang="fr-FR" b="0" i="1" smtClean="0">
                              <a:latin typeface="Cambria Math" panose="02040503050406030204" pitchFamily="18" charset="0"/>
                              <a:ea typeface="Cambria Math"/>
                            </a:rPr>
                          </m:ctrlPr>
                        </m:dPr>
                        <m:e>
                          <m:sSup>
                            <m:sSupPr>
                              <m:ctrlPr>
                                <a:rPr lang="fr-FR" b="0" i="1" smtClean="0">
                                  <a:latin typeface="Cambria Math" panose="02040503050406030204" pitchFamily="18" charset="0"/>
                                  <a:ea typeface="Cambria Math"/>
                                </a:rPr>
                              </m:ctrlPr>
                            </m:sSupPr>
                            <m:e>
                              <m:acc>
                                <m:accPr>
                                  <m:chr m:val="̇"/>
                                  <m:ctrlPr>
                                    <a:rPr lang="fr-FR" b="0" i="1" smtClean="0">
                                      <a:latin typeface="Cambria Math" panose="02040503050406030204" pitchFamily="18" charset="0"/>
                                      <a:ea typeface="Cambria Math"/>
                                    </a:rPr>
                                  </m:ctrlPr>
                                </m:accPr>
                                <m:e>
                                  <m:r>
                                    <a:rPr lang="fr-FR" b="1" i="0" smtClean="0">
                                      <a:latin typeface="Cambria Math"/>
                                      <a:ea typeface="Cambria Math"/>
                                    </a:rPr>
                                    <m:t>𝐪</m:t>
                                  </m:r>
                                </m:e>
                              </m:acc>
                            </m:e>
                            <m:sup>
                              <m:r>
                                <a:rPr lang="fr-FR" b="0" i="1" smtClean="0">
                                  <a:latin typeface="Cambria Math"/>
                                  <a:ea typeface="Cambria Math"/>
                                </a:rPr>
                                <m:t>𝑑</m:t>
                              </m:r>
                            </m:sup>
                          </m:sSup>
                          <m:r>
                            <a:rPr lang="fr-FR" b="0" i="1" smtClean="0">
                              <a:latin typeface="Cambria Math"/>
                              <a:ea typeface="Cambria Math"/>
                            </a:rPr>
                            <m:t>−</m:t>
                          </m:r>
                          <m:acc>
                            <m:accPr>
                              <m:chr m:val="̇"/>
                              <m:ctrlPr>
                                <a:rPr lang="fr-FR" b="0" i="1" smtClean="0">
                                  <a:latin typeface="Cambria Math" panose="02040503050406030204" pitchFamily="18" charset="0"/>
                                  <a:ea typeface="Cambria Math"/>
                                </a:rPr>
                              </m:ctrlPr>
                            </m:accPr>
                            <m:e>
                              <m:r>
                                <a:rPr lang="fr-FR" b="1" i="0" smtClean="0">
                                  <a:latin typeface="Cambria Math"/>
                                  <a:ea typeface="Cambria Math"/>
                                </a:rPr>
                                <m:t>𝐪</m:t>
                              </m:r>
                            </m:e>
                          </m:acc>
                        </m:e>
                      </m:d>
                      <m:r>
                        <a:rPr lang="fr-FR" b="0" i="1" smtClean="0">
                          <a:latin typeface="Cambria Math"/>
                          <a:ea typeface="Cambria Math"/>
                        </a:rPr>
                        <m:t>+</m:t>
                      </m:r>
                      <m:sSub>
                        <m:sSubPr>
                          <m:ctrlPr>
                            <a:rPr lang="fr-FR" b="0" i="1" smtClean="0">
                              <a:latin typeface="Cambria Math" panose="02040503050406030204" pitchFamily="18" charset="0"/>
                              <a:ea typeface="Cambria Math"/>
                            </a:rPr>
                          </m:ctrlPr>
                        </m:sSubPr>
                        <m:e>
                          <m:r>
                            <a:rPr lang="fr-FR" b="1" i="0" smtClean="0">
                              <a:latin typeface="Cambria Math"/>
                              <a:ea typeface="Cambria Math"/>
                            </a:rPr>
                            <m:t>𝐊</m:t>
                          </m:r>
                        </m:e>
                        <m:sub>
                          <m:r>
                            <a:rPr lang="fr-FR" b="0" i="1" smtClean="0">
                              <a:latin typeface="Cambria Math"/>
                              <a:ea typeface="Cambria Math"/>
                            </a:rPr>
                            <m:t>𝐼</m:t>
                          </m:r>
                        </m:sub>
                      </m:sSub>
                      <m:nary>
                        <m:naryPr>
                          <m:ctrlPr>
                            <a:rPr lang="fr-FR" b="0" i="1" smtClean="0">
                              <a:latin typeface="Cambria Math" panose="02040503050406030204" pitchFamily="18" charset="0"/>
                              <a:ea typeface="Cambria Math"/>
                            </a:rPr>
                          </m:ctrlPr>
                        </m:naryPr>
                        <m:sub>
                          <m:sSub>
                            <m:sSubPr>
                              <m:ctrlPr>
                                <a:rPr lang="fr-FR" b="0" i="1" smtClean="0">
                                  <a:latin typeface="Cambria Math" panose="02040503050406030204" pitchFamily="18" charset="0"/>
                                  <a:ea typeface="Cambria Math"/>
                                </a:rPr>
                              </m:ctrlPr>
                            </m:sSubPr>
                            <m:e>
                              <m:r>
                                <a:rPr lang="fr-FR" b="0" i="1" smtClean="0">
                                  <a:latin typeface="Cambria Math"/>
                                  <a:ea typeface="Cambria Math"/>
                                </a:rPr>
                                <m:t>𝑡</m:t>
                              </m:r>
                            </m:e>
                            <m:sub>
                              <m:r>
                                <a:rPr lang="fr-FR" b="0" i="1" smtClean="0">
                                  <a:latin typeface="Cambria Math"/>
                                  <a:ea typeface="Cambria Math"/>
                                </a:rPr>
                                <m:t>0</m:t>
                              </m:r>
                            </m:sub>
                          </m:sSub>
                        </m:sub>
                        <m:sup>
                          <m:r>
                            <a:rPr lang="fr-FR" b="0" i="1" smtClean="0">
                              <a:latin typeface="Cambria Math"/>
                              <a:ea typeface="Cambria Math"/>
                            </a:rPr>
                            <m:t>𝑡</m:t>
                          </m:r>
                        </m:sup>
                        <m:e>
                          <m:d>
                            <m:dPr>
                              <m:ctrlPr>
                                <a:rPr lang="fr-FR" b="0" i="1" smtClean="0">
                                  <a:latin typeface="Cambria Math" panose="02040503050406030204" pitchFamily="18" charset="0"/>
                                  <a:ea typeface="Cambria Math"/>
                                </a:rPr>
                              </m:ctrlPr>
                            </m:dPr>
                            <m:e>
                              <m:sSup>
                                <m:sSupPr>
                                  <m:ctrlPr>
                                    <a:rPr lang="fr-FR" b="0" i="1" smtClean="0">
                                      <a:latin typeface="Cambria Math" panose="02040503050406030204" pitchFamily="18" charset="0"/>
                                      <a:ea typeface="Cambria Math"/>
                                    </a:rPr>
                                  </m:ctrlPr>
                                </m:sSupPr>
                                <m:e>
                                  <m:r>
                                    <a:rPr lang="fr-FR" b="1" i="0" smtClean="0">
                                      <a:latin typeface="Cambria Math"/>
                                      <a:ea typeface="Cambria Math"/>
                                    </a:rPr>
                                    <m:t>𝐪</m:t>
                                  </m:r>
                                </m:e>
                                <m:sup>
                                  <m:r>
                                    <a:rPr lang="fr-FR" b="0" i="1" smtClean="0">
                                      <a:latin typeface="Cambria Math"/>
                                      <a:ea typeface="Cambria Math"/>
                                    </a:rPr>
                                    <m:t>𝑑</m:t>
                                  </m:r>
                                </m:sup>
                              </m:sSup>
                              <m:r>
                                <a:rPr lang="fr-FR" b="0" i="1" smtClean="0">
                                  <a:latin typeface="Cambria Math"/>
                                  <a:ea typeface="Cambria Math"/>
                                </a:rPr>
                                <m:t>−</m:t>
                              </m:r>
                              <m:r>
                                <a:rPr lang="fr-FR" b="1" i="0" smtClean="0">
                                  <a:latin typeface="Cambria Math"/>
                                  <a:ea typeface="Cambria Math"/>
                                </a:rPr>
                                <m:t>𝐪</m:t>
                              </m:r>
                            </m:e>
                          </m:d>
                          <m:r>
                            <m:rPr>
                              <m:sty m:val="p"/>
                            </m:rPr>
                            <a:rPr lang="fr-FR" b="0" i="0" smtClean="0">
                              <a:latin typeface="Cambria Math"/>
                              <a:ea typeface="Cambria Math"/>
                            </a:rPr>
                            <m:t>d</m:t>
                          </m:r>
                          <m:r>
                            <a:rPr lang="fr-FR" b="0" i="1" smtClean="0">
                              <a:latin typeface="Cambria Math"/>
                              <a:ea typeface="Cambria Math"/>
                            </a:rPr>
                            <m:t>𝜏</m:t>
                          </m:r>
                        </m:e>
                      </m:nary>
                    </m:oMath>
                  </m:oMathPara>
                </a14:m>
                <a:endParaRPr lang="fr-FR" dirty="0"/>
              </a:p>
              <a:p>
                <a:pPr marL="0" indent="0">
                  <a:buNone/>
                </a:pPr>
                <a:endParaRPr lang="fr-FR" i="1" dirty="0">
                  <a:latin typeface="Cambria Math"/>
                </a:endParaRPr>
              </a:p>
              <a:p>
                <a:pPr marL="0" indent="0">
                  <a:buNone/>
                </a:pPr>
                <a14:m>
                  <m:oMath xmlns:m="http://schemas.openxmlformats.org/officeDocument/2006/math">
                    <m:sSub>
                      <m:sSubPr>
                        <m:ctrlPr>
                          <a:rPr lang="fr-FR" i="1" smtClean="0">
                            <a:latin typeface="Cambria Math" panose="02040503050406030204" pitchFamily="18" charset="0"/>
                          </a:rPr>
                        </m:ctrlPr>
                      </m:sSubPr>
                      <m:e>
                        <m:r>
                          <a:rPr lang="fr-FR" b="1" i="0" smtClean="0">
                            <a:latin typeface="Cambria Math"/>
                          </a:rPr>
                          <m:t>𝐊</m:t>
                        </m:r>
                      </m:e>
                      <m:sub>
                        <m:r>
                          <a:rPr lang="fr-FR" b="0" i="1" smtClean="0">
                            <a:latin typeface="Cambria Math"/>
                          </a:rPr>
                          <m:t>𝑃</m:t>
                        </m:r>
                      </m:sub>
                    </m:sSub>
                    <m:r>
                      <a:rPr lang="fr-FR" b="0" i="1" smtClean="0">
                        <a:latin typeface="Cambria Math"/>
                      </a:rPr>
                      <m:t>, </m:t>
                    </m:r>
                    <m:sSub>
                      <m:sSubPr>
                        <m:ctrlPr>
                          <a:rPr lang="fr-FR" b="0" i="1" smtClean="0">
                            <a:latin typeface="Cambria Math" panose="02040503050406030204" pitchFamily="18" charset="0"/>
                          </a:rPr>
                        </m:ctrlPr>
                      </m:sSubPr>
                      <m:e>
                        <m:r>
                          <a:rPr lang="fr-FR" b="1" i="0" smtClean="0">
                            <a:latin typeface="Cambria Math"/>
                          </a:rPr>
                          <m:t>𝐊</m:t>
                        </m:r>
                      </m:e>
                      <m:sub>
                        <m:r>
                          <a:rPr lang="fr-FR" b="0" i="1" smtClean="0">
                            <a:latin typeface="Cambria Math"/>
                          </a:rPr>
                          <m:t>𝐼</m:t>
                        </m:r>
                      </m:sub>
                    </m:sSub>
                  </m:oMath>
                </a14:m>
                <a:r>
                  <a:rPr lang="fr-FR" dirty="0"/>
                  <a:t> et </a:t>
                </a:r>
                <a14:m>
                  <m:oMath xmlns:m="http://schemas.openxmlformats.org/officeDocument/2006/math">
                    <m:sSub>
                      <m:sSubPr>
                        <m:ctrlPr>
                          <a:rPr lang="fr-FR" i="1" smtClean="0">
                            <a:latin typeface="Cambria Math" panose="02040503050406030204" pitchFamily="18" charset="0"/>
                          </a:rPr>
                        </m:ctrlPr>
                      </m:sSubPr>
                      <m:e>
                        <m:r>
                          <a:rPr lang="fr-FR" b="1" i="0" smtClean="0">
                            <a:latin typeface="Cambria Math"/>
                          </a:rPr>
                          <m:t>𝐊</m:t>
                        </m:r>
                      </m:e>
                      <m:sub>
                        <m:r>
                          <a:rPr lang="fr-FR" b="0" i="1" smtClean="0">
                            <a:latin typeface="Cambria Math"/>
                          </a:rPr>
                          <m:t>𝐷</m:t>
                        </m:r>
                      </m:sub>
                    </m:sSub>
                  </m:oMath>
                </a14:m>
                <a:r>
                  <a:rPr lang="fr-FR" dirty="0"/>
                  <a:t> sont des matrices diagonales définies positives de dimension </a:t>
                </a:r>
                <a14:m>
                  <m:oMath xmlns:m="http://schemas.openxmlformats.org/officeDocument/2006/math">
                    <m:r>
                      <m:rPr>
                        <m:sty m:val="p"/>
                      </m:rPr>
                      <a:rPr lang="fr-FR" b="0" i="0" smtClean="0">
                        <a:latin typeface="Cambria Math"/>
                      </a:rPr>
                      <m:t>n</m:t>
                    </m:r>
                    <m:r>
                      <a:rPr lang="fr-FR" b="0" i="1" smtClean="0">
                        <a:latin typeface="Cambria Math"/>
                        <a:ea typeface="Cambria Math"/>
                      </a:rPr>
                      <m:t>×</m:t>
                    </m:r>
                    <m:r>
                      <m:rPr>
                        <m:sty m:val="p"/>
                      </m:rPr>
                      <a:rPr lang="fr-FR" b="0" i="0" smtClean="0">
                        <a:latin typeface="Cambria Math"/>
                        <a:ea typeface="Cambria Math"/>
                      </a:rPr>
                      <m:t>n</m:t>
                    </m:r>
                  </m:oMath>
                </a14:m>
                <a:endParaRPr lang="fr-FR"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4"/>
                <a:stretch>
                  <a:fillRect l="-584" t="-552"/>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PID (espace articulaire)</a:t>
            </a:r>
          </a:p>
        </p:txBody>
      </p:sp>
      <p:grpSp>
        <p:nvGrpSpPr>
          <p:cNvPr id="4" name="Groupe 3"/>
          <p:cNvGrpSpPr/>
          <p:nvPr/>
        </p:nvGrpSpPr>
        <p:grpSpPr>
          <a:xfrm>
            <a:off x="2469958" y="1396349"/>
            <a:ext cx="4427758" cy="2571532"/>
            <a:chOff x="2212783" y="1396349"/>
            <a:chExt cx="4427758" cy="2571532"/>
          </a:xfrm>
        </p:grpSpPr>
        <p:cxnSp>
          <p:nvCxnSpPr>
            <p:cNvPr id="8" name="Connecteur droit avec flèche 7"/>
            <p:cNvCxnSpPr/>
            <p:nvPr/>
          </p:nvCxnSpPr>
          <p:spPr>
            <a:xfrm>
              <a:off x="6164084" y="2591224"/>
              <a:ext cx="189903"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flipV="1">
              <a:off x="4825061" y="2669340"/>
              <a:ext cx="523281" cy="571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ZoneTexte 10"/>
                <p:cNvSpPr txBox="1"/>
                <p:nvPr/>
              </p:nvSpPr>
              <p:spPr>
                <a:xfrm>
                  <a:off x="6297177" y="2332436"/>
                  <a:ext cx="343363"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sz="1400" b="1" i="0" smtClean="0">
                            <a:latin typeface="Cambria Math"/>
                          </a:rPr>
                          <m:t>𝐪</m:t>
                        </m:r>
                      </m:oMath>
                    </m:oMathPara>
                  </a14:m>
                  <a:endParaRPr lang="fr-FR" sz="1400" dirty="0"/>
                </a:p>
              </p:txBody>
            </p:sp>
          </mc:Choice>
          <mc:Fallback xmlns="">
            <p:sp>
              <p:nvSpPr>
                <p:cNvPr id="11" name="ZoneTexte 10"/>
                <p:cNvSpPr txBox="1">
                  <a:spLocks noRot="1" noChangeAspect="1" noMove="1" noResize="1" noEditPoints="1" noAdjustHandles="1" noChangeArrowheads="1" noChangeShapeType="1" noTextEdit="1"/>
                </p:cNvSpPr>
                <p:nvPr/>
              </p:nvSpPr>
              <p:spPr>
                <a:xfrm>
                  <a:off x="6297177" y="2332436"/>
                  <a:ext cx="343363" cy="307777"/>
                </a:xfrm>
                <a:prstGeom prst="rect">
                  <a:avLst/>
                </a:prstGeom>
                <a:blipFill rotWithShape="1">
                  <a:blip r:embed="rId5"/>
                  <a:stretch>
                    <a:fillRect b="-4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5" name="ZoneTexte 14"/>
                <p:cNvSpPr txBox="1"/>
                <p:nvPr/>
              </p:nvSpPr>
              <p:spPr>
                <a:xfrm>
                  <a:off x="4901089" y="2388081"/>
                  <a:ext cx="33534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l-GR" sz="1400" b="1">
                            <a:latin typeface="Cambria Math"/>
                          </a:rPr>
                          <m:t>𝚪</m:t>
                        </m:r>
                      </m:oMath>
                    </m:oMathPara>
                  </a14:m>
                  <a:endParaRPr lang="fr-FR" sz="1400" dirty="0"/>
                </a:p>
              </p:txBody>
            </p:sp>
          </mc:Choice>
          <mc:Fallback xmlns="">
            <p:sp>
              <p:nvSpPr>
                <p:cNvPr id="15" name="ZoneTexte 14"/>
                <p:cNvSpPr txBox="1">
                  <a:spLocks noRot="1" noChangeAspect="1" noMove="1" noResize="1" noEditPoints="1" noAdjustHandles="1" noChangeArrowheads="1" noChangeShapeType="1" noTextEdit="1"/>
                </p:cNvSpPr>
                <p:nvPr/>
              </p:nvSpPr>
              <p:spPr>
                <a:xfrm>
                  <a:off x="4901089" y="2388081"/>
                  <a:ext cx="335348" cy="307777"/>
                </a:xfrm>
                <a:prstGeom prst="rect">
                  <a:avLst/>
                </a:prstGeom>
                <a:blipFill rotWithShape="1">
                  <a:blip r:embed="rId6"/>
                  <a:stretch>
                    <a:fillRect/>
                  </a:stretch>
                </a:blipFill>
              </p:spPr>
              <p:txBody>
                <a:bodyPr/>
                <a:lstStyle/>
                <a:p>
                  <a:r>
                    <a:rPr lang="fr-FR">
                      <a:noFill/>
                    </a:rPr>
                    <a:t> </a:t>
                  </a:r>
                </a:p>
              </p:txBody>
            </p:sp>
          </mc:Fallback>
        </mc:AlternateContent>
        <p:sp>
          <p:nvSpPr>
            <p:cNvPr id="23" name="Ellipse 22"/>
            <p:cNvSpPr/>
            <p:nvPr/>
          </p:nvSpPr>
          <p:spPr>
            <a:xfrm>
              <a:off x="4592491" y="2569324"/>
              <a:ext cx="216000" cy="21600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cxnSp>
          <p:nvCxnSpPr>
            <p:cNvPr id="25" name="Connecteur droit avec flèche 24"/>
            <p:cNvCxnSpPr>
              <a:stCxn id="24" idx="3"/>
            </p:cNvCxnSpPr>
            <p:nvPr/>
          </p:nvCxnSpPr>
          <p:spPr>
            <a:xfrm flipV="1">
              <a:off x="4040008" y="2673126"/>
              <a:ext cx="55248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6" name="Connecteur droit avec flèche 25"/>
            <p:cNvCxnSpPr/>
            <p:nvPr/>
          </p:nvCxnSpPr>
          <p:spPr>
            <a:xfrm flipV="1">
              <a:off x="2280231" y="2014555"/>
              <a:ext cx="523281" cy="571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0" name="Connecteur droit avec flèche 29"/>
            <p:cNvCxnSpPr/>
            <p:nvPr/>
          </p:nvCxnSpPr>
          <p:spPr>
            <a:xfrm flipV="1">
              <a:off x="3036082" y="2008840"/>
              <a:ext cx="523281"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2" name="Connecteur droit 31"/>
            <p:cNvCxnSpPr>
              <a:stCxn id="28" idx="0"/>
            </p:cNvCxnSpPr>
            <p:nvPr/>
          </p:nvCxnSpPr>
          <p:spPr>
            <a:xfrm flipV="1">
              <a:off x="2911513" y="1396350"/>
              <a:ext cx="8285" cy="514282"/>
            </a:xfrm>
            <a:prstGeom prst="line">
              <a:avLst/>
            </a:prstGeom>
            <a:ln w="38100">
              <a:headEnd type="arrow"/>
              <a:tailEnd type="none"/>
            </a:ln>
          </p:spPr>
          <p:style>
            <a:lnRef idx="1">
              <a:schemeClr val="accent1"/>
            </a:lnRef>
            <a:fillRef idx="0">
              <a:schemeClr val="accent1"/>
            </a:fillRef>
            <a:effectRef idx="0">
              <a:schemeClr val="accent1"/>
            </a:effectRef>
            <a:fontRef idx="minor">
              <a:schemeClr val="tx1"/>
            </a:fontRef>
          </p:style>
        </p:cxnSp>
        <p:cxnSp>
          <p:nvCxnSpPr>
            <p:cNvPr id="34" name="Connecteur droit 33"/>
            <p:cNvCxnSpPr/>
            <p:nvPr/>
          </p:nvCxnSpPr>
          <p:spPr>
            <a:xfrm>
              <a:off x="2919797" y="1396349"/>
              <a:ext cx="343418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7" name="Connecteur droit 36"/>
            <p:cNvCxnSpPr/>
            <p:nvPr/>
          </p:nvCxnSpPr>
          <p:spPr>
            <a:xfrm flipV="1">
              <a:off x="6353986" y="1396349"/>
              <a:ext cx="0" cy="119487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9" name="Connecteur droit 38"/>
            <p:cNvCxnSpPr>
              <a:stCxn id="29" idx="3"/>
            </p:cNvCxnSpPr>
            <p:nvPr/>
          </p:nvCxnSpPr>
          <p:spPr>
            <a:xfrm flipV="1">
              <a:off x="4040008" y="2008840"/>
              <a:ext cx="66876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1" name="Connecteur droit 40"/>
            <p:cNvCxnSpPr/>
            <p:nvPr/>
          </p:nvCxnSpPr>
          <p:spPr>
            <a:xfrm>
              <a:off x="4714457" y="2020269"/>
              <a:ext cx="0" cy="544328"/>
            </a:xfrm>
            <a:prstGeom prst="line">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8" name="Ellipse 27"/>
            <p:cNvSpPr/>
            <p:nvPr/>
          </p:nvSpPr>
          <p:spPr>
            <a:xfrm>
              <a:off x="2803513" y="1910632"/>
              <a:ext cx="216000" cy="21600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cxnSp>
          <p:nvCxnSpPr>
            <p:cNvPr id="44" name="Connecteur droit 43"/>
            <p:cNvCxnSpPr/>
            <p:nvPr/>
          </p:nvCxnSpPr>
          <p:spPr>
            <a:xfrm>
              <a:off x="4034327" y="3337624"/>
              <a:ext cx="67444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6" name="Connecteur droit 45"/>
            <p:cNvCxnSpPr/>
            <p:nvPr/>
          </p:nvCxnSpPr>
          <p:spPr>
            <a:xfrm flipH="1" flipV="1">
              <a:off x="4714457" y="2775069"/>
              <a:ext cx="0" cy="544328"/>
            </a:xfrm>
            <a:prstGeom prst="line">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8" name="Connecteur droit avec flèche 47"/>
            <p:cNvCxnSpPr/>
            <p:nvPr/>
          </p:nvCxnSpPr>
          <p:spPr>
            <a:xfrm flipV="1">
              <a:off x="3036082" y="3331908"/>
              <a:ext cx="523281" cy="571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7" name="Ellipse 46"/>
            <p:cNvSpPr/>
            <p:nvPr/>
          </p:nvSpPr>
          <p:spPr>
            <a:xfrm>
              <a:off x="2803513" y="3236138"/>
              <a:ext cx="216000" cy="21600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cxnSp>
          <p:nvCxnSpPr>
            <p:cNvPr id="49" name="Connecteur droit avec flèche 48"/>
            <p:cNvCxnSpPr/>
            <p:nvPr/>
          </p:nvCxnSpPr>
          <p:spPr>
            <a:xfrm flipV="1">
              <a:off x="2280230" y="3339010"/>
              <a:ext cx="523281" cy="571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0" name="Connecteur droit 49"/>
            <p:cNvCxnSpPr/>
            <p:nvPr/>
          </p:nvCxnSpPr>
          <p:spPr>
            <a:xfrm>
              <a:off x="2919797" y="3967881"/>
              <a:ext cx="343418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1" name="Connecteur droit 50"/>
            <p:cNvCxnSpPr/>
            <p:nvPr/>
          </p:nvCxnSpPr>
          <p:spPr>
            <a:xfrm flipV="1">
              <a:off x="2919797" y="3449408"/>
              <a:ext cx="0" cy="514284"/>
            </a:xfrm>
            <a:prstGeom prst="line">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2" name="Connecteur droit 51"/>
            <p:cNvCxnSpPr/>
            <p:nvPr/>
          </p:nvCxnSpPr>
          <p:spPr>
            <a:xfrm flipV="1">
              <a:off x="6359668" y="2763792"/>
              <a:ext cx="0" cy="1194875"/>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ZoneTexte 41"/>
                <p:cNvSpPr txBox="1"/>
                <p:nvPr/>
              </p:nvSpPr>
              <p:spPr>
                <a:xfrm>
                  <a:off x="3559362" y="3200876"/>
                  <a:ext cx="480645" cy="307777"/>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sSub>
                          <m:sSubPr>
                            <m:ctrlPr>
                              <a:rPr lang="fr-FR" sz="1400" i="1" smtClean="0">
                                <a:latin typeface="Cambria Math" panose="02040503050406030204" pitchFamily="18" charset="0"/>
                              </a:rPr>
                            </m:ctrlPr>
                          </m:sSubPr>
                          <m:e>
                            <m:r>
                              <a:rPr lang="fr-FR" sz="1400" b="1" i="0" smtClean="0">
                                <a:latin typeface="Cambria Math"/>
                              </a:rPr>
                              <m:t>𝐊</m:t>
                            </m:r>
                          </m:e>
                          <m:sub>
                            <m:r>
                              <a:rPr lang="fr-FR" sz="1400" b="0" i="1" smtClean="0">
                                <a:latin typeface="Cambria Math"/>
                              </a:rPr>
                              <m:t>𝐷</m:t>
                            </m:r>
                          </m:sub>
                        </m:sSub>
                      </m:oMath>
                    </m:oMathPara>
                  </a14:m>
                  <a:endParaRPr lang="fr-FR" sz="1400" dirty="0"/>
                </a:p>
              </p:txBody>
            </p:sp>
          </mc:Choice>
          <mc:Fallback xmlns="">
            <p:sp>
              <p:nvSpPr>
                <p:cNvPr id="42" name="ZoneTexte 41"/>
                <p:cNvSpPr txBox="1">
                  <a:spLocks noRot="1" noChangeAspect="1" noMove="1" noResize="1" noEditPoints="1" noAdjustHandles="1" noChangeArrowheads="1" noChangeShapeType="1" noTextEdit="1"/>
                </p:cNvSpPr>
                <p:nvPr/>
              </p:nvSpPr>
              <p:spPr>
                <a:xfrm>
                  <a:off x="3559362" y="3200876"/>
                  <a:ext cx="480645" cy="307777"/>
                </a:xfrm>
                <a:prstGeom prst="rect">
                  <a:avLst/>
                </a:prstGeom>
                <a:blipFill rotWithShape="1">
                  <a:blip r:embed="rId7"/>
                  <a:stretch>
                    <a:fillRect/>
                  </a:stretch>
                </a:blipFill>
                <a:ln w="25400"/>
              </p:spPr>
              <p:txBody>
                <a:bodyPr/>
                <a:lstStyle/>
                <a:p>
                  <a:r>
                    <a:rPr lang="fr-FR">
                      <a:noFill/>
                    </a:rPr>
                    <a:t> </a:t>
                  </a:r>
                </a:p>
              </p:txBody>
            </p:sp>
          </mc:Fallback>
        </mc:AlternateContent>
        <p:cxnSp>
          <p:nvCxnSpPr>
            <p:cNvPr id="53" name="Connecteur droit avec flèche 52"/>
            <p:cNvCxnSpPr/>
            <p:nvPr/>
          </p:nvCxnSpPr>
          <p:spPr>
            <a:xfrm>
              <a:off x="6164084" y="2749142"/>
              <a:ext cx="189903"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sp>
          <p:nvSpPr>
            <p:cNvPr id="16" name="ZoneTexte 15"/>
            <p:cNvSpPr txBox="1"/>
            <p:nvPr/>
          </p:nvSpPr>
          <p:spPr>
            <a:xfrm>
              <a:off x="5348342" y="2536378"/>
              <a:ext cx="815742" cy="307777"/>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sz="1400" dirty="0"/>
                <a:t>Robot</a:t>
              </a:r>
            </a:p>
          </p:txBody>
        </p:sp>
        <mc:AlternateContent xmlns:mc="http://schemas.openxmlformats.org/markup-compatibility/2006" xmlns:a14="http://schemas.microsoft.com/office/drawing/2010/main">
          <mc:Choice Requires="a14">
            <p:sp>
              <p:nvSpPr>
                <p:cNvPr id="29" name="ZoneTexte 28"/>
                <p:cNvSpPr txBox="1"/>
                <p:nvPr/>
              </p:nvSpPr>
              <p:spPr>
                <a:xfrm>
                  <a:off x="3559363" y="1876757"/>
                  <a:ext cx="480645" cy="307777"/>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sSub>
                          <m:sSubPr>
                            <m:ctrlPr>
                              <a:rPr lang="fr-FR" sz="1400" i="1" smtClean="0">
                                <a:latin typeface="Cambria Math" panose="02040503050406030204" pitchFamily="18" charset="0"/>
                              </a:rPr>
                            </m:ctrlPr>
                          </m:sSubPr>
                          <m:e>
                            <m:r>
                              <a:rPr lang="fr-FR" sz="1400" b="1" i="0" smtClean="0">
                                <a:latin typeface="Cambria Math"/>
                              </a:rPr>
                              <m:t>𝐊</m:t>
                            </m:r>
                          </m:e>
                          <m:sub>
                            <m:r>
                              <a:rPr lang="fr-FR" sz="1400" b="0" i="1" smtClean="0">
                                <a:latin typeface="Cambria Math"/>
                              </a:rPr>
                              <m:t>𝑃</m:t>
                            </m:r>
                          </m:sub>
                        </m:sSub>
                      </m:oMath>
                    </m:oMathPara>
                  </a14:m>
                  <a:endParaRPr lang="fr-FR" sz="1400" dirty="0"/>
                </a:p>
              </p:txBody>
            </p:sp>
          </mc:Choice>
          <mc:Fallback xmlns="">
            <p:sp>
              <p:nvSpPr>
                <p:cNvPr id="29" name="ZoneTexte 28"/>
                <p:cNvSpPr txBox="1">
                  <a:spLocks noRot="1" noChangeAspect="1" noMove="1" noResize="1" noEditPoints="1" noAdjustHandles="1" noChangeArrowheads="1" noChangeShapeType="1" noTextEdit="1"/>
                </p:cNvSpPr>
                <p:nvPr/>
              </p:nvSpPr>
              <p:spPr>
                <a:xfrm>
                  <a:off x="3559363" y="1876757"/>
                  <a:ext cx="480645" cy="307777"/>
                </a:xfrm>
                <a:prstGeom prst="rect">
                  <a:avLst/>
                </a:prstGeom>
                <a:blipFill rotWithShape="1">
                  <a:blip r:embed="rId8"/>
                  <a:stretch>
                    <a:fillRect/>
                  </a:stretch>
                </a:blipFill>
                <a:ln w="25400"/>
              </p:spPr>
              <p:txBody>
                <a:bodyPr/>
                <a:lstStyle/>
                <a:p>
                  <a:r>
                    <a:rPr lang="fr-FR">
                      <a:noFill/>
                    </a:rPr>
                    <a:t> </a:t>
                  </a:r>
                </a:p>
              </p:txBody>
            </p:sp>
          </mc:Fallback>
        </mc:AlternateContent>
        <p:cxnSp>
          <p:nvCxnSpPr>
            <p:cNvPr id="54" name="Connecteur droit 53"/>
            <p:cNvCxnSpPr/>
            <p:nvPr/>
          </p:nvCxnSpPr>
          <p:spPr>
            <a:xfrm>
              <a:off x="3162573" y="2024997"/>
              <a:ext cx="0" cy="655084"/>
            </a:xfrm>
            <a:prstGeom prst="line">
              <a:avLst/>
            </a:prstGeom>
            <a:ln w="38100">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ZoneTexte 23"/>
                <p:cNvSpPr txBox="1"/>
                <p:nvPr/>
              </p:nvSpPr>
              <p:spPr>
                <a:xfrm>
                  <a:off x="3559363" y="2543333"/>
                  <a:ext cx="480645" cy="315920"/>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sSub>
                          <m:sSubPr>
                            <m:ctrlPr>
                              <a:rPr lang="fr-FR" sz="1400" i="1" smtClean="0">
                                <a:latin typeface="Cambria Math" panose="02040503050406030204" pitchFamily="18" charset="0"/>
                              </a:rPr>
                            </m:ctrlPr>
                          </m:sSubPr>
                          <m:e>
                            <m:r>
                              <a:rPr lang="fr-FR" sz="1400" b="1" i="0" smtClean="0">
                                <a:latin typeface="Cambria Math"/>
                              </a:rPr>
                              <m:t>𝐊</m:t>
                            </m:r>
                          </m:e>
                          <m:sub>
                            <m:r>
                              <a:rPr lang="fr-FR" sz="1400" b="0" i="1" smtClean="0">
                                <a:latin typeface="Cambria Math"/>
                              </a:rPr>
                              <m:t>𝐼</m:t>
                            </m:r>
                          </m:sub>
                        </m:sSub>
                        <m:r>
                          <a:rPr lang="fr-FR" sz="1400" i="1" smtClean="0">
                            <a:latin typeface="Cambria Math"/>
                            <a:ea typeface="Cambria Math"/>
                          </a:rPr>
                          <m:t>∫</m:t>
                        </m:r>
                      </m:oMath>
                    </m:oMathPara>
                  </a14:m>
                  <a:endParaRPr lang="fr-FR" sz="1400" dirty="0"/>
                </a:p>
              </p:txBody>
            </p:sp>
          </mc:Choice>
          <mc:Fallback xmlns="">
            <p:sp>
              <p:nvSpPr>
                <p:cNvPr id="24" name="ZoneTexte 23"/>
                <p:cNvSpPr txBox="1">
                  <a:spLocks noRot="1" noChangeAspect="1" noMove="1" noResize="1" noEditPoints="1" noAdjustHandles="1" noChangeArrowheads="1" noChangeShapeType="1" noTextEdit="1"/>
                </p:cNvSpPr>
                <p:nvPr/>
              </p:nvSpPr>
              <p:spPr>
                <a:xfrm>
                  <a:off x="3559363" y="2543333"/>
                  <a:ext cx="480645" cy="315920"/>
                </a:xfrm>
                <a:prstGeom prst="rect">
                  <a:avLst/>
                </a:prstGeom>
                <a:blipFill rotWithShape="1">
                  <a:blip r:embed="rId9"/>
                  <a:stretch>
                    <a:fillRect/>
                  </a:stretch>
                </a:blipFill>
                <a:ln w="25400"/>
              </p:spPr>
              <p:txBody>
                <a:bodyPr/>
                <a:lstStyle/>
                <a:p>
                  <a:r>
                    <a:rPr lang="fr-FR">
                      <a:noFill/>
                    </a:rPr>
                    <a:t> </a:t>
                  </a:r>
                </a:p>
              </p:txBody>
            </p:sp>
          </mc:Fallback>
        </mc:AlternateContent>
        <p:cxnSp>
          <p:nvCxnSpPr>
            <p:cNvPr id="58" name="Connecteur droit 57"/>
            <p:cNvCxnSpPr>
              <a:endCxn id="24" idx="1"/>
            </p:cNvCxnSpPr>
            <p:nvPr/>
          </p:nvCxnSpPr>
          <p:spPr>
            <a:xfrm>
              <a:off x="3162573" y="2680081"/>
              <a:ext cx="396790" cy="0"/>
            </a:xfrm>
            <a:prstGeom prst="line">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ZoneTexte 58"/>
                <p:cNvSpPr txBox="1"/>
                <p:nvPr/>
              </p:nvSpPr>
              <p:spPr>
                <a:xfrm>
                  <a:off x="6297178" y="2683866"/>
                  <a:ext cx="343363"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fr-FR" sz="1400" b="1" i="1" smtClean="0">
                                <a:latin typeface="Cambria Math" panose="02040503050406030204" pitchFamily="18" charset="0"/>
                              </a:rPr>
                            </m:ctrlPr>
                          </m:accPr>
                          <m:e>
                            <m:r>
                              <a:rPr lang="fr-FR" sz="1400" b="1" i="0" smtClean="0">
                                <a:latin typeface="Cambria Math"/>
                              </a:rPr>
                              <m:t>𝐪</m:t>
                            </m:r>
                          </m:e>
                        </m:acc>
                      </m:oMath>
                    </m:oMathPara>
                  </a14:m>
                  <a:endParaRPr lang="fr-FR" sz="1400" dirty="0"/>
                </a:p>
              </p:txBody>
            </p:sp>
          </mc:Choice>
          <mc:Fallback xmlns="">
            <p:sp>
              <p:nvSpPr>
                <p:cNvPr id="59" name="ZoneTexte 58"/>
                <p:cNvSpPr txBox="1">
                  <a:spLocks noRot="1" noChangeAspect="1" noMove="1" noResize="1" noEditPoints="1" noAdjustHandles="1" noChangeArrowheads="1" noChangeShapeType="1" noTextEdit="1"/>
                </p:cNvSpPr>
                <p:nvPr/>
              </p:nvSpPr>
              <p:spPr>
                <a:xfrm>
                  <a:off x="6297178" y="2683866"/>
                  <a:ext cx="343363" cy="307777"/>
                </a:xfrm>
                <a:prstGeom prst="rect">
                  <a:avLst/>
                </a:prstGeom>
                <a:blipFill rotWithShape="1">
                  <a:blip r:embed="rId10"/>
                  <a:stretch>
                    <a:fillRect b="-1961"/>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1" name="ZoneTexte 60"/>
                <p:cNvSpPr txBox="1"/>
                <p:nvPr/>
              </p:nvSpPr>
              <p:spPr>
                <a:xfrm>
                  <a:off x="2212783" y="3036381"/>
                  <a:ext cx="435760" cy="31585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sz="1400" b="1" i="1" smtClean="0">
                                <a:latin typeface="Cambria Math" panose="02040503050406030204" pitchFamily="18" charset="0"/>
                              </a:rPr>
                            </m:ctrlPr>
                          </m:sSupPr>
                          <m:e>
                            <m:acc>
                              <m:accPr>
                                <m:chr m:val="̇"/>
                                <m:ctrlPr>
                                  <a:rPr lang="fr-FR" sz="1400" b="1" i="1" smtClean="0">
                                    <a:latin typeface="Cambria Math" panose="02040503050406030204" pitchFamily="18" charset="0"/>
                                  </a:rPr>
                                </m:ctrlPr>
                              </m:accPr>
                              <m:e>
                                <m:r>
                                  <a:rPr lang="fr-FR" sz="1400" b="1" i="0" smtClean="0">
                                    <a:latin typeface="Cambria Math"/>
                                  </a:rPr>
                                  <m:t>𝐪</m:t>
                                </m:r>
                              </m:e>
                            </m:acc>
                          </m:e>
                          <m:sup>
                            <m:r>
                              <a:rPr lang="fr-FR" sz="1400" b="1" i="1" smtClean="0">
                                <a:latin typeface="Cambria Math"/>
                              </a:rPr>
                              <m:t>𝒅</m:t>
                            </m:r>
                          </m:sup>
                        </m:sSup>
                      </m:oMath>
                    </m:oMathPara>
                  </a14:m>
                  <a:endParaRPr lang="fr-FR" sz="1400" dirty="0"/>
                </a:p>
              </p:txBody>
            </p:sp>
          </mc:Choice>
          <mc:Fallback xmlns="">
            <p:sp>
              <p:nvSpPr>
                <p:cNvPr id="61" name="ZoneTexte 60"/>
                <p:cNvSpPr txBox="1">
                  <a:spLocks noRot="1" noChangeAspect="1" noMove="1" noResize="1" noEditPoints="1" noAdjustHandles="1" noChangeArrowheads="1" noChangeShapeType="1" noTextEdit="1"/>
                </p:cNvSpPr>
                <p:nvPr/>
              </p:nvSpPr>
              <p:spPr>
                <a:xfrm>
                  <a:off x="2212783" y="3036381"/>
                  <a:ext cx="435760" cy="315856"/>
                </a:xfrm>
                <a:prstGeom prst="rect">
                  <a:avLst/>
                </a:prstGeom>
                <a:blipFill rotWithShape="1">
                  <a:blip r:embed="rId11"/>
                  <a:stretch>
                    <a:fillRect b="-3846"/>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2" name="ZoneTexte 61"/>
                <p:cNvSpPr txBox="1"/>
                <p:nvPr/>
              </p:nvSpPr>
              <p:spPr>
                <a:xfrm>
                  <a:off x="2225880" y="1722018"/>
                  <a:ext cx="435760" cy="31585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sz="1400" b="1" i="1" smtClean="0">
                                <a:latin typeface="Cambria Math" panose="02040503050406030204" pitchFamily="18" charset="0"/>
                              </a:rPr>
                            </m:ctrlPr>
                          </m:sSupPr>
                          <m:e>
                            <m:r>
                              <a:rPr lang="fr-FR" sz="1400" b="1" i="0" smtClean="0">
                                <a:latin typeface="Cambria Math"/>
                              </a:rPr>
                              <m:t>𝐪</m:t>
                            </m:r>
                          </m:e>
                          <m:sup>
                            <m:r>
                              <a:rPr lang="fr-FR" sz="1400" b="1" i="1" smtClean="0">
                                <a:latin typeface="Cambria Math"/>
                              </a:rPr>
                              <m:t>𝒅</m:t>
                            </m:r>
                          </m:sup>
                        </m:sSup>
                      </m:oMath>
                    </m:oMathPara>
                  </a14:m>
                  <a:endParaRPr lang="fr-FR" sz="1400" dirty="0"/>
                </a:p>
              </p:txBody>
            </p:sp>
          </mc:Choice>
          <mc:Fallback xmlns="">
            <p:sp>
              <p:nvSpPr>
                <p:cNvPr id="62" name="ZoneTexte 61"/>
                <p:cNvSpPr txBox="1">
                  <a:spLocks noRot="1" noChangeAspect="1" noMove="1" noResize="1" noEditPoints="1" noAdjustHandles="1" noChangeArrowheads="1" noChangeShapeType="1" noTextEdit="1"/>
                </p:cNvSpPr>
                <p:nvPr/>
              </p:nvSpPr>
              <p:spPr>
                <a:xfrm>
                  <a:off x="2225880" y="1722018"/>
                  <a:ext cx="435760" cy="315856"/>
                </a:xfrm>
                <a:prstGeom prst="rect">
                  <a:avLst/>
                </a:prstGeom>
                <a:blipFill rotWithShape="1">
                  <a:blip r:embed="rId12"/>
                  <a:stretch>
                    <a:fillRect b="-3846"/>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graphicFrame>
              <p:nvGraphicFramePr>
                <p:cNvPr id="63" name="Objet 62"/>
                <p:cNvGraphicFramePr>
                  <a:graphicFrameLocks noChangeAspect="1"/>
                </p:cNvGraphicFramePr>
                <p:nvPr>
                  <p:extLst>
                    <p:ext uri="{D42A27DB-BD31-4B8C-83A1-F6EECF244321}">
                      <p14:modId xmlns:p14="http://schemas.microsoft.com/office/powerpoint/2010/main" val="1499153075"/>
                    </p:ext>
                  </p:extLst>
                </p:nvPr>
              </p:nvGraphicFramePr>
              <p:xfrm>
                <a:off x="2708672" y="3555248"/>
                <a:ext cx="175720" cy="113158"/>
              </p:xfrm>
              <a:graphic>
                <a:graphicData uri="http://schemas.openxmlformats.org/presentationml/2006/ole">
                  <mc:AlternateContent>
                    <mc:Choice xmlns:v="urn:schemas-microsoft-com:vml" Requires="v">
                      <p:oleObj name="Equation" r:id="rId13" imgW="139639" imgH="101556" progId="Equation.DSMT4">
                        <p:embed/>
                      </p:oleObj>
                    </mc:Choice>
                    <mc:Fallback>
                      <p:oleObj name="Equation" r:id="rId13" imgW="139639" imgH="101556" progId="Equation.DSMT4">
                        <p:embed/>
                        <p:pic>
                          <p:nvPicPr>
                            <p:cNvPr id="0" name="Object 9"/>
                            <p:cNvPicPr>
                              <a:picLocks noChangeAspect="1" noChangeArrowheads="1"/>
                            </p:cNvPicPr>
                            <p:nvPr/>
                          </p:nvPicPr>
                          <p:blipFill>
                            <a:blip r:embed="rId14">
                              <a:extLst>
                                <a:ext uri="{28A0092B-C50C-407E-A947-70E740481C1C}">
                                  <a14:useLocalDpi val="0"/>
                                </a:ext>
                              </a:extLst>
                            </a:blip>
                            <a:srcRect/>
                            <a:stretch>
                              <a:fillRect/>
                            </a:stretch>
                          </p:blipFill>
                          <p:spPr bwMode="auto">
                            <a:xfrm>
                              <a:off x="2708672" y="3555248"/>
                              <a:ext cx="175720" cy="113158"/>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63" name="Objet 62"/>
                <p:cNvGraphicFramePr>
                  <a:graphicFrameLocks noChangeAspect="1"/>
                </p:cNvGraphicFramePr>
                <p:nvPr>
                  <p:extLst>
                    <p:ext uri="{D42A27DB-BD31-4B8C-83A1-F6EECF244321}">
                      <p14:modId xmlns:p14="http://schemas.microsoft.com/office/powerpoint/2010/main" val="1499153075"/>
                    </p:ext>
                  </p:extLst>
                </p:nvPr>
              </p:nvGraphicFramePr>
              <p:xfrm>
                <a:off x="2708672" y="3555248"/>
                <a:ext cx="175720" cy="113158"/>
              </p:xfrm>
              <a:graphic>
                <a:graphicData uri="http://schemas.openxmlformats.org/presentationml/2006/ole">
                  <mc:AlternateContent>
                    <mc:Choice xmlns:v="urn:schemas-microsoft-com:vml" Requires="v">
                      <p:oleObj spid="_x0000_s26055" name="Equation" r:id="rId15" imgW="139639" imgH="101556" progId="Equation.DSMT4">
                        <p:embed/>
                      </p:oleObj>
                    </mc:Choice>
                    <mc:Fallback>
                      <p:oleObj name="Equation" r:id="rId15" imgW="139639" imgH="101556"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08672" y="3555248"/>
                              <a:ext cx="175720" cy="113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64" name="Objet 63"/>
                <p:cNvGraphicFramePr>
                  <a:graphicFrameLocks noChangeAspect="1"/>
                </p:cNvGraphicFramePr>
                <p:nvPr>
                  <p:extLst>
                    <p:ext uri="{D42A27DB-BD31-4B8C-83A1-F6EECF244321}">
                      <p14:modId xmlns:p14="http://schemas.microsoft.com/office/powerpoint/2010/main" val="2106350418"/>
                    </p:ext>
                  </p:extLst>
                </p:nvPr>
              </p:nvGraphicFramePr>
              <p:xfrm>
                <a:off x="2694585" y="1724810"/>
                <a:ext cx="175720" cy="113158"/>
              </p:xfrm>
              <a:graphic>
                <a:graphicData uri="http://schemas.openxmlformats.org/presentationml/2006/ole">
                  <mc:AlternateContent>
                    <mc:Choice xmlns:v="urn:schemas-microsoft-com:vml" Requires="v">
                      <p:oleObj name="Equation" r:id="rId17" imgW="139639" imgH="101556" progId="Equation.DSMT4">
                        <p:embed/>
                      </p:oleObj>
                    </mc:Choice>
                    <mc:Fallback>
                      <p:oleObj name="Equation" r:id="rId17" imgW="139639" imgH="101556" progId="Equation.DSMT4">
                        <p:embed/>
                        <p:pic>
                          <p:nvPicPr>
                            <p:cNvPr id="0" name="Object 9"/>
                            <p:cNvPicPr>
                              <a:picLocks noChangeAspect="1" noChangeArrowheads="1"/>
                            </p:cNvPicPr>
                            <p:nvPr/>
                          </p:nvPicPr>
                          <p:blipFill>
                            <a:blip r:embed="rId14">
                              <a:extLst>
                                <a:ext uri="{28A0092B-C50C-407E-A947-70E740481C1C}">
                                  <a14:useLocalDpi val="0"/>
                                </a:ext>
                              </a:extLst>
                            </a:blip>
                            <a:srcRect/>
                            <a:stretch>
                              <a:fillRect/>
                            </a:stretch>
                          </p:blipFill>
                          <p:spPr bwMode="auto">
                            <a:xfrm>
                              <a:off x="2694585" y="1724810"/>
                              <a:ext cx="175720" cy="113158"/>
                            </a:xfrm>
                            <a:prstGeom prst="rect">
                              <a:avLst/>
                            </a:prstGeom>
                            <a:noFill/>
                            <a:ln>
                              <a:noFill/>
                            </a:ln>
                            <a:effectLst/>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 uri="{AF507438-7753-43E0-B8FC-AC1667EBCBE1}">
                                <a14:hiddenEffects>
                                  <a:effectLst>
                                    <a:outerShdw dist="35921" dir="2700000" algn="ctr" rotWithShape="0">
                                      <a:srgbClr val="808080"/>
                                    </a:outerShdw>
                                  </a:effectLst>
                                </a14:hiddenEffects>
                              </a:ext>
                            </a:extLst>
                          </p:spPr>
                        </p:pic>
                      </p:oleObj>
                    </mc:Fallback>
                  </mc:AlternateContent>
                </a:graphicData>
              </a:graphic>
            </p:graphicFrame>
          </mc:Choice>
          <mc:Fallback xmlns="">
            <p:graphicFrame>
              <p:nvGraphicFramePr>
                <p:cNvPr id="64" name="Objet 63"/>
                <p:cNvGraphicFramePr>
                  <a:graphicFrameLocks noChangeAspect="1"/>
                </p:cNvGraphicFramePr>
                <p:nvPr>
                  <p:extLst>
                    <p:ext uri="{D42A27DB-BD31-4B8C-83A1-F6EECF244321}">
                      <p14:modId xmlns:p14="http://schemas.microsoft.com/office/powerpoint/2010/main" val="2106350418"/>
                    </p:ext>
                  </p:extLst>
                </p:nvPr>
              </p:nvGraphicFramePr>
              <p:xfrm>
                <a:off x="2694585" y="1724810"/>
                <a:ext cx="175720" cy="113158"/>
              </p:xfrm>
              <a:graphic>
                <a:graphicData uri="http://schemas.openxmlformats.org/presentationml/2006/ole">
                  <mc:AlternateContent>
                    <mc:Choice xmlns:v="urn:schemas-microsoft-com:vml" Requires="v">
                      <p:oleObj spid="_x0000_s26056" name="Equation" r:id="rId18" imgW="139639" imgH="101556" progId="Equation.DSMT4">
                        <p:embed/>
                      </p:oleObj>
                    </mc:Choice>
                    <mc:Fallback>
                      <p:oleObj name="Equation" r:id="rId18" imgW="139639" imgH="101556"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694585" y="1724810"/>
                              <a:ext cx="175720" cy="113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65" name="Objet 64"/>
                <p:cNvGraphicFramePr>
                  <a:graphicFrameLocks noChangeAspect="1"/>
                </p:cNvGraphicFramePr>
                <p:nvPr>
                  <p:extLst>
                    <p:ext uri="{D42A27DB-BD31-4B8C-83A1-F6EECF244321}">
                      <p14:modId xmlns:p14="http://schemas.microsoft.com/office/powerpoint/2010/main" val="2113793106"/>
                    </p:ext>
                  </p:extLst>
                </p:nvPr>
              </p:nvGraphicFramePr>
              <p:xfrm>
                <a:off x="4762446" y="2380971"/>
                <a:ext cx="125230" cy="110785"/>
              </p:xfrm>
              <a:graphic>
                <a:graphicData uri="http://schemas.openxmlformats.org/presentationml/2006/ole">
                  <mc:AlternateContent>
                    <mc:Choice xmlns:v="urn:schemas-microsoft-com:vml" Requires="v">
                      <p:oleObj name="Equation" r:id="rId19" imgW="139680" imgH="139680" progId="Equation.DSMT4">
                        <p:embed/>
                      </p:oleObj>
                    </mc:Choice>
                    <mc:Fallback>
                      <p:oleObj name="Equation" r:id="rId19" imgW="139680" imgH="139680" progId="Equation.DSMT4">
                        <p:embed/>
                        <p:pic>
                          <p:nvPicPr>
                            <p:cNvPr id="0" name="Objet 63"/>
                            <p:cNvPicPr>
                              <a:picLocks noChangeAspect="1" noChangeArrowheads="1"/>
                            </p:cNvPicPr>
                            <p:nvPr/>
                          </p:nvPicPr>
                          <p:blipFill>
                            <a:blip r:embed="rId14"/>
                            <a:srcRect/>
                            <a:stretch>
                              <a:fillRect/>
                            </a:stretch>
                          </p:blipFill>
                          <p:spPr bwMode="auto">
                            <a:xfrm>
                              <a:off x="4762446" y="2380971"/>
                              <a:ext cx="125230" cy="110785"/>
                            </a:xfrm>
                            <a:prstGeom prst="rect">
                              <a:avLst/>
                            </a:prstGeom>
                            <a:noFill/>
                            <a:ln>
                              <a:noFill/>
                            </a:ln>
                            <a:effectLst/>
                          </p:spPr>
                        </p:pic>
                      </p:oleObj>
                    </mc:Fallback>
                  </mc:AlternateContent>
                </a:graphicData>
              </a:graphic>
            </p:graphicFrame>
          </mc:Choice>
          <mc:Fallback xmlns="">
            <p:graphicFrame>
              <p:nvGraphicFramePr>
                <p:cNvPr id="65" name="Objet 64"/>
                <p:cNvGraphicFramePr>
                  <a:graphicFrameLocks noChangeAspect="1"/>
                </p:cNvGraphicFramePr>
                <p:nvPr>
                  <p:extLst>
                    <p:ext uri="{D42A27DB-BD31-4B8C-83A1-F6EECF244321}">
                      <p14:modId xmlns:p14="http://schemas.microsoft.com/office/powerpoint/2010/main" val="2113793106"/>
                    </p:ext>
                  </p:extLst>
                </p:nvPr>
              </p:nvGraphicFramePr>
              <p:xfrm>
                <a:off x="4762446" y="2380971"/>
                <a:ext cx="125230" cy="110785"/>
              </p:xfrm>
              <a:graphic>
                <a:graphicData uri="http://schemas.openxmlformats.org/presentationml/2006/ole">
                  <mc:AlternateContent>
                    <mc:Choice xmlns:v="urn:schemas-microsoft-com:vml" Requires="v">
                      <p:oleObj spid="_x0000_s26057" name="Equation" r:id="rId21" imgW="139680" imgH="139680" progId="Equation.DSMT4">
                        <p:embed/>
                      </p:oleObj>
                    </mc:Choice>
                    <mc:Fallback>
                      <p:oleObj name="Equation" r:id="rId21" imgW="139680" imgH="139680" progId="Equation.DSMT4">
                        <p:embed/>
                        <p:pic>
                          <p:nvPicPr>
                            <p:cNvPr id="0" name="Objet 63"/>
                            <p:cNvPicPr>
                              <a:picLocks noChangeAspect="1" noChangeArrowheads="1"/>
                            </p:cNvPicPr>
                            <p:nvPr/>
                          </p:nvPicPr>
                          <p:blipFill>
                            <a:blip r:embed="rId22"/>
                            <a:srcRect/>
                            <a:stretch>
                              <a:fillRect/>
                            </a:stretch>
                          </p:blipFill>
                          <p:spPr bwMode="auto">
                            <a:xfrm>
                              <a:off x="4762446" y="2380971"/>
                              <a:ext cx="125230" cy="110785"/>
                            </a:xfrm>
                            <a:prstGeom prst="rect">
                              <a:avLst/>
                            </a:prstGeom>
                            <a:noFill/>
                            <a:ln>
                              <a:noFill/>
                            </a:ln>
                            <a:effec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66" name="Objet 65"/>
                <p:cNvGraphicFramePr>
                  <a:graphicFrameLocks noChangeAspect="1"/>
                </p:cNvGraphicFramePr>
                <p:nvPr>
                  <p:extLst>
                    <p:ext uri="{D42A27DB-BD31-4B8C-83A1-F6EECF244321}">
                      <p14:modId xmlns:p14="http://schemas.microsoft.com/office/powerpoint/2010/main" val="1252531961"/>
                    </p:ext>
                  </p:extLst>
                </p:nvPr>
              </p:nvGraphicFramePr>
              <p:xfrm>
                <a:off x="4323590" y="2488487"/>
                <a:ext cx="125329" cy="110872"/>
              </p:xfrm>
              <a:graphic>
                <a:graphicData uri="http://schemas.openxmlformats.org/presentationml/2006/ole">
                  <mc:AlternateContent>
                    <mc:Choice xmlns:v="urn:schemas-microsoft-com:vml" Requires="v">
                      <p:oleObj name="Equation" r:id="rId23" imgW="139680" imgH="139680" progId="Equation.DSMT4">
                        <p:embed/>
                      </p:oleObj>
                    </mc:Choice>
                    <mc:Fallback>
                      <p:oleObj name="Equation" r:id="rId23" imgW="139680" imgH="139680" progId="Equation.DSMT4">
                        <p:embed/>
                        <p:pic>
                          <p:nvPicPr>
                            <p:cNvPr id="0" name="Objet 64"/>
                            <p:cNvPicPr>
                              <a:picLocks noChangeAspect="1" noChangeArrowheads="1"/>
                            </p:cNvPicPr>
                            <p:nvPr/>
                          </p:nvPicPr>
                          <p:blipFill>
                            <a:blip r:embed="rId14">
                              <a:extLst>
                                <a:ext uri="{28A0092B-C50C-407E-A947-70E740481C1C}">
                                  <a14:useLocalDpi val="0"/>
                                </a:ext>
                              </a:extLst>
                            </a:blip>
                            <a:srcRect/>
                            <a:stretch>
                              <a:fillRect/>
                            </a:stretch>
                          </p:blipFill>
                          <p:spPr bwMode="auto">
                            <a:xfrm>
                              <a:off x="4323590" y="2488487"/>
                              <a:ext cx="125329" cy="11087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pic>
                      </p:oleObj>
                    </mc:Fallback>
                  </mc:AlternateContent>
                </a:graphicData>
              </a:graphic>
            </p:graphicFrame>
          </mc:Choice>
          <mc:Fallback xmlns="">
            <p:graphicFrame>
              <p:nvGraphicFramePr>
                <p:cNvPr id="66" name="Objet 65"/>
                <p:cNvGraphicFramePr>
                  <a:graphicFrameLocks noChangeAspect="1"/>
                </p:cNvGraphicFramePr>
                <p:nvPr>
                  <p:extLst>
                    <p:ext uri="{D42A27DB-BD31-4B8C-83A1-F6EECF244321}">
                      <p14:modId xmlns:p14="http://schemas.microsoft.com/office/powerpoint/2010/main" val="1252531961"/>
                    </p:ext>
                  </p:extLst>
                </p:nvPr>
              </p:nvGraphicFramePr>
              <p:xfrm>
                <a:off x="4323590" y="2488487"/>
                <a:ext cx="125329" cy="110872"/>
              </p:xfrm>
              <a:graphic>
                <a:graphicData uri="http://schemas.openxmlformats.org/presentationml/2006/ole">
                  <mc:AlternateContent>
                    <mc:Choice xmlns:v="urn:schemas-microsoft-com:vml" Requires="v">
                      <p:oleObj spid="_x0000_s26345" name="Equation" r:id="rId25" imgW="139680" imgH="139680" progId="Equation.DSMT4">
                        <p:embed/>
                      </p:oleObj>
                    </mc:Choice>
                    <mc:Fallback>
                      <p:oleObj name="Equation" r:id="rId25" imgW="139680" imgH="139680" progId="Equation.DSMT4">
                        <p:embed/>
                        <p:pic>
                          <p:nvPicPr>
                            <p:cNvPr id="0" name="Objet 6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323590" y="2488487"/>
                              <a:ext cx="125329" cy="110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67" name="Objet 66"/>
                <p:cNvGraphicFramePr>
                  <a:graphicFrameLocks noChangeAspect="1"/>
                </p:cNvGraphicFramePr>
                <p:nvPr>
                  <p:extLst>
                    <p:ext uri="{D42A27DB-BD31-4B8C-83A1-F6EECF244321}">
                      <p14:modId xmlns:p14="http://schemas.microsoft.com/office/powerpoint/2010/main" val="1229215344"/>
                    </p:ext>
                  </p:extLst>
                </p:nvPr>
              </p:nvGraphicFramePr>
              <p:xfrm>
                <a:off x="4762397" y="2831631"/>
                <a:ext cx="125329" cy="110872"/>
              </p:xfrm>
              <a:graphic>
                <a:graphicData uri="http://schemas.openxmlformats.org/presentationml/2006/ole">
                  <mc:AlternateContent>
                    <mc:Choice xmlns:v="urn:schemas-microsoft-com:vml" Requires="v">
                      <p:oleObj name="Equation" r:id="rId27" imgW="139680" imgH="139680" progId="Equation.DSMT4">
                        <p:embed/>
                      </p:oleObj>
                    </mc:Choice>
                    <mc:Fallback>
                      <p:oleObj name="Equation" r:id="rId27" imgW="139680" imgH="139680" progId="Equation.DSMT4">
                        <p:embed/>
                        <p:pic>
                          <p:nvPicPr>
                            <p:cNvPr id="0" name="Objet 64"/>
                            <p:cNvPicPr>
                              <a:picLocks noChangeAspect="1" noChangeArrowheads="1"/>
                            </p:cNvPicPr>
                            <p:nvPr/>
                          </p:nvPicPr>
                          <p:blipFill>
                            <a:blip r:embed="rId14">
                              <a:extLst>
                                <a:ext uri="{28A0092B-C50C-407E-A947-70E740481C1C}">
                                  <a14:useLocalDpi val="0"/>
                                </a:ext>
                              </a:extLst>
                            </a:blip>
                            <a:srcRect/>
                            <a:stretch>
                              <a:fillRect/>
                            </a:stretch>
                          </p:blipFill>
                          <p:spPr bwMode="auto">
                            <a:xfrm>
                              <a:off x="4762397" y="2831631"/>
                              <a:ext cx="125329" cy="11087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pic>
                      </p:oleObj>
                    </mc:Fallback>
                  </mc:AlternateContent>
                </a:graphicData>
              </a:graphic>
            </p:graphicFrame>
          </mc:Choice>
          <mc:Fallback xmlns="">
            <p:graphicFrame>
              <p:nvGraphicFramePr>
                <p:cNvPr id="67" name="Objet 66"/>
                <p:cNvGraphicFramePr>
                  <a:graphicFrameLocks noChangeAspect="1"/>
                </p:cNvGraphicFramePr>
                <p:nvPr>
                  <p:extLst>
                    <p:ext uri="{D42A27DB-BD31-4B8C-83A1-F6EECF244321}">
                      <p14:modId xmlns:p14="http://schemas.microsoft.com/office/powerpoint/2010/main" val="1229215344"/>
                    </p:ext>
                  </p:extLst>
                </p:nvPr>
              </p:nvGraphicFramePr>
              <p:xfrm>
                <a:off x="4762397" y="2831631"/>
                <a:ext cx="125329" cy="110872"/>
              </p:xfrm>
              <a:graphic>
                <a:graphicData uri="http://schemas.openxmlformats.org/presentationml/2006/ole">
                  <mc:AlternateContent>
                    <mc:Choice xmlns:v="urn:schemas-microsoft-com:vml" Requires="v">
                      <p:oleObj spid="_x0000_s26059" name="Equation" r:id="rId28" imgW="139680" imgH="139680" progId="Equation.DSMT4">
                        <p:embed/>
                      </p:oleObj>
                    </mc:Choice>
                    <mc:Fallback>
                      <p:oleObj name="Equation" r:id="rId28" imgW="139680" imgH="139680" progId="Equation.DSMT4">
                        <p:embed/>
                        <p:pic>
                          <p:nvPicPr>
                            <p:cNvPr id="0" name="Objet 64"/>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762397" y="2831631"/>
                              <a:ext cx="125329" cy="110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71" name="Objet 70"/>
                <p:cNvGraphicFramePr>
                  <a:graphicFrameLocks noChangeAspect="1"/>
                </p:cNvGraphicFramePr>
                <p:nvPr>
                  <p:extLst>
                    <p:ext uri="{D42A27DB-BD31-4B8C-83A1-F6EECF244321}">
                      <p14:modId xmlns:p14="http://schemas.microsoft.com/office/powerpoint/2010/main" val="313323200"/>
                    </p:ext>
                  </p:extLst>
                </p:nvPr>
              </p:nvGraphicFramePr>
              <p:xfrm>
                <a:off x="2585836" y="3397528"/>
                <a:ext cx="125413" cy="111125"/>
              </p:xfrm>
              <a:graphic>
                <a:graphicData uri="http://schemas.openxmlformats.org/presentationml/2006/ole">
                  <mc:AlternateContent>
                    <mc:Choice xmlns:v="urn:schemas-microsoft-com:vml" Requires="v">
                      <p:oleObj name="Equation" r:id="rId30" imgW="139700" imgH="139700" progId="Equation.DSMT4">
                        <p:embed/>
                      </p:oleObj>
                    </mc:Choice>
                    <mc:Fallback>
                      <p:oleObj name="Equation" r:id="rId30" imgW="139700" imgH="139700" progId="Equation.DSMT4">
                        <p:embed/>
                        <p:pic>
                          <p:nvPicPr>
                            <p:cNvPr id="0" name="Objet 66"/>
                            <p:cNvPicPr>
                              <a:picLocks noChangeAspect="1" noChangeArrowheads="1"/>
                            </p:cNvPicPr>
                            <p:nvPr/>
                          </p:nvPicPr>
                          <p:blipFill>
                            <a:blip r:embed="rId14">
                              <a:extLst>
                                <a:ext uri="{28A0092B-C50C-407E-A947-70E740481C1C}">
                                  <a14:useLocalDpi val="0"/>
                                </a:ext>
                              </a:extLst>
                            </a:blip>
                            <a:srcRect/>
                            <a:stretch>
                              <a:fillRect/>
                            </a:stretch>
                          </p:blipFill>
                          <p:spPr bwMode="auto">
                            <a:xfrm>
                              <a:off x="2585836" y="3397528"/>
                              <a:ext cx="125413" cy="11112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pic>
                      </p:oleObj>
                    </mc:Fallback>
                  </mc:AlternateContent>
                </a:graphicData>
              </a:graphic>
            </p:graphicFrame>
          </mc:Choice>
          <mc:Fallback xmlns="">
            <p:graphicFrame>
              <p:nvGraphicFramePr>
                <p:cNvPr id="71" name="Objet 70"/>
                <p:cNvGraphicFramePr>
                  <a:graphicFrameLocks noChangeAspect="1"/>
                </p:cNvGraphicFramePr>
                <p:nvPr>
                  <p:extLst>
                    <p:ext uri="{D42A27DB-BD31-4B8C-83A1-F6EECF244321}">
                      <p14:modId xmlns:p14="http://schemas.microsoft.com/office/powerpoint/2010/main" val="313323200"/>
                    </p:ext>
                  </p:extLst>
                </p:nvPr>
              </p:nvGraphicFramePr>
              <p:xfrm>
                <a:off x="2585836" y="3397528"/>
                <a:ext cx="125413" cy="111125"/>
              </p:xfrm>
              <a:graphic>
                <a:graphicData uri="http://schemas.openxmlformats.org/presentationml/2006/ole">
                  <mc:AlternateContent>
                    <mc:Choice xmlns:v="urn:schemas-microsoft-com:vml" Requires="v">
                      <p:oleObj spid="_x0000_s26060" name="Equation" r:id="rId31" imgW="139700" imgH="139700" progId="Equation.DSMT4">
                        <p:embed/>
                      </p:oleObj>
                    </mc:Choice>
                    <mc:Fallback>
                      <p:oleObj name="Equation" r:id="rId31" imgW="139700" imgH="139700" progId="Equation.DSMT4">
                        <p:embed/>
                        <p:pic>
                          <p:nvPicPr>
                            <p:cNvPr id="0" name="Objet 66"/>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585836" y="3397528"/>
                              <a:ext cx="125413" cy="11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72" name="Objet 71"/>
                <p:cNvGraphicFramePr>
                  <a:graphicFrameLocks noChangeAspect="1"/>
                </p:cNvGraphicFramePr>
                <p:nvPr>
                  <p:extLst>
                    <p:ext uri="{D42A27DB-BD31-4B8C-83A1-F6EECF244321}">
                      <p14:modId xmlns:p14="http://schemas.microsoft.com/office/powerpoint/2010/main" val="333175424"/>
                    </p:ext>
                  </p:extLst>
                </p:nvPr>
              </p:nvGraphicFramePr>
              <p:xfrm>
                <a:off x="2541871" y="2090016"/>
                <a:ext cx="125413" cy="111125"/>
              </p:xfrm>
              <a:graphic>
                <a:graphicData uri="http://schemas.openxmlformats.org/presentationml/2006/ole">
                  <mc:AlternateContent>
                    <mc:Choice xmlns:v="urn:schemas-microsoft-com:vml" Requires="v">
                      <p:oleObj name="Equation" r:id="rId32" imgW="139700" imgH="139700" progId="Equation.DSMT4">
                        <p:embed/>
                      </p:oleObj>
                    </mc:Choice>
                    <mc:Fallback>
                      <p:oleObj name="Equation" r:id="rId32" imgW="139700" imgH="139700" progId="Equation.DSMT4">
                        <p:embed/>
                        <p:pic>
                          <p:nvPicPr>
                            <p:cNvPr id="0" name="Objet 66"/>
                            <p:cNvPicPr>
                              <a:picLocks noChangeAspect="1" noChangeArrowheads="1"/>
                            </p:cNvPicPr>
                            <p:nvPr/>
                          </p:nvPicPr>
                          <p:blipFill>
                            <a:blip r:embed="rId14">
                              <a:extLst>
                                <a:ext uri="{28A0092B-C50C-407E-A947-70E740481C1C}">
                                  <a14:useLocalDpi val="0"/>
                                </a:ext>
                              </a:extLst>
                            </a:blip>
                            <a:srcRect/>
                            <a:stretch>
                              <a:fillRect/>
                            </a:stretch>
                          </p:blipFill>
                          <p:spPr bwMode="auto">
                            <a:xfrm>
                              <a:off x="2541871" y="2090016"/>
                              <a:ext cx="125413" cy="11112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pic>
                      </p:oleObj>
                    </mc:Fallback>
                  </mc:AlternateContent>
                </a:graphicData>
              </a:graphic>
            </p:graphicFrame>
          </mc:Choice>
          <mc:Fallback xmlns="">
            <p:graphicFrame>
              <p:nvGraphicFramePr>
                <p:cNvPr id="72" name="Objet 71"/>
                <p:cNvGraphicFramePr>
                  <a:graphicFrameLocks noChangeAspect="1"/>
                </p:cNvGraphicFramePr>
                <p:nvPr>
                  <p:extLst>
                    <p:ext uri="{D42A27DB-BD31-4B8C-83A1-F6EECF244321}">
                      <p14:modId xmlns:p14="http://schemas.microsoft.com/office/powerpoint/2010/main" val="333175424"/>
                    </p:ext>
                  </p:extLst>
                </p:nvPr>
              </p:nvGraphicFramePr>
              <p:xfrm>
                <a:off x="2541871" y="2090016"/>
                <a:ext cx="125413" cy="111125"/>
              </p:xfrm>
              <a:graphic>
                <a:graphicData uri="http://schemas.openxmlformats.org/presentationml/2006/ole">
                  <mc:AlternateContent>
                    <mc:Choice xmlns:v="urn:schemas-microsoft-com:vml" Requires="v">
                      <p:oleObj spid="_x0000_s26061" name="Equation" r:id="rId33" imgW="139700" imgH="139700" progId="Equation.DSMT4">
                        <p:embed/>
                      </p:oleObj>
                    </mc:Choice>
                    <mc:Fallback>
                      <p:oleObj name="Equation" r:id="rId33" imgW="139700" imgH="139700" progId="Equation.DSMT4">
                        <p:embed/>
                        <p:pic>
                          <p:nvPicPr>
                            <p:cNvPr id="0" name="Objet 66"/>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541871" y="2090016"/>
                              <a:ext cx="125413" cy="11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Fallback>
        </mc:AlternateContent>
      </p:grpSp>
    </p:spTree>
    <p:extLst>
      <p:ext uri="{BB962C8B-B14F-4D97-AF65-F5344CB8AC3E}">
        <p14:creationId xmlns:p14="http://schemas.microsoft.com/office/powerpoint/2010/main" val="4378379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r>
                  <a:rPr lang="fr-FR" dirty="0"/>
                  <a:t>Le calcul des gains est effectué en considérant que chaque articulation </a:t>
                </a:r>
                <a14:m>
                  <m:oMath xmlns:m="http://schemas.openxmlformats.org/officeDocument/2006/math">
                    <m:r>
                      <a:rPr lang="fr-FR" b="0" i="1" smtClean="0">
                        <a:latin typeface="Cambria Math"/>
                      </a:rPr>
                      <m:t>𝑗</m:t>
                    </m:r>
                  </m:oMath>
                </a14:m>
                <a:r>
                  <a:rPr lang="fr-FR" dirty="0"/>
                  <a:t> du robot est modélisée par un système du deuxième ordre :</a:t>
                </a:r>
              </a:p>
              <a:p>
                <a:pPr marL="0" indent="0">
                  <a:buNone/>
                </a:pPr>
                <a:endParaRPr lang="fr-FR" dirty="0"/>
              </a:p>
              <a:p>
                <a:pPr marL="0" indent="0">
                  <a:buNone/>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m:rPr>
                              <m:sty m:val="p"/>
                            </m:rPr>
                            <a:rPr lang="el-GR" i="1" smtClean="0">
                              <a:latin typeface="Cambria Math"/>
                              <a:ea typeface="Cambria Math"/>
                            </a:rPr>
                            <m:t>Γ</m:t>
                          </m:r>
                        </m:e>
                        <m:sub>
                          <m:r>
                            <a:rPr lang="fr-FR" b="0" i="1" smtClean="0">
                              <a:latin typeface="Cambria Math"/>
                            </a:rPr>
                            <m:t>𝑗</m:t>
                          </m:r>
                        </m:sub>
                      </m:sSub>
                      <m:r>
                        <a:rPr lang="fr-FR" b="0" i="1" smtClean="0">
                          <a:latin typeface="Cambria Math"/>
                        </a:rPr>
                        <m:t>=</m:t>
                      </m:r>
                      <m:sSub>
                        <m:sSubPr>
                          <m:ctrlPr>
                            <a:rPr lang="fr-FR" b="0" i="1" smtClean="0">
                              <a:latin typeface="Cambria Math" panose="02040503050406030204" pitchFamily="18" charset="0"/>
                            </a:rPr>
                          </m:ctrlPr>
                        </m:sSubPr>
                        <m:e>
                          <m:r>
                            <m:rPr>
                              <m:sty m:val="p"/>
                            </m:rPr>
                            <a:rPr lang="fr-FR">
                              <a:latin typeface="Cambria Math"/>
                            </a:rPr>
                            <m:t>a</m:t>
                          </m:r>
                        </m:e>
                        <m:sub>
                          <m:r>
                            <a:rPr lang="fr-FR" b="0" i="1" smtClean="0">
                              <a:latin typeface="Cambria Math"/>
                            </a:rPr>
                            <m:t>𝑗</m:t>
                          </m:r>
                        </m:sub>
                      </m:sSub>
                      <m:sSub>
                        <m:sSubPr>
                          <m:ctrlPr>
                            <a:rPr lang="fr-FR" b="0" i="1" smtClean="0">
                              <a:latin typeface="Cambria Math" panose="02040503050406030204" pitchFamily="18" charset="0"/>
                            </a:rPr>
                          </m:ctrlPr>
                        </m:sSubPr>
                        <m:e>
                          <m:acc>
                            <m:accPr>
                              <m:chr m:val="̈"/>
                              <m:ctrlPr>
                                <a:rPr lang="fr-FR" b="0" i="1" smtClean="0">
                                  <a:latin typeface="Cambria Math" panose="02040503050406030204" pitchFamily="18" charset="0"/>
                                </a:rPr>
                              </m:ctrlPr>
                            </m:accPr>
                            <m:e>
                              <m:r>
                                <a:rPr lang="fr-FR" b="0" i="1" smtClean="0">
                                  <a:latin typeface="Cambria Math"/>
                                </a:rPr>
                                <m:t>𝑞</m:t>
                              </m:r>
                            </m:e>
                          </m:acc>
                        </m:e>
                        <m:sub>
                          <m:r>
                            <a:rPr lang="fr-FR" b="0" i="1" smtClean="0">
                              <a:latin typeface="Cambria Math"/>
                            </a:rPr>
                            <m:t>𝑗</m:t>
                          </m:r>
                        </m:sub>
                      </m:sSub>
                      <m:r>
                        <a:rPr lang="fr-FR" b="0" i="1" smtClean="0">
                          <a:latin typeface="Cambria Math"/>
                        </a:rPr>
                        <m:t>+</m:t>
                      </m:r>
                      <m:sSub>
                        <m:sSubPr>
                          <m:ctrlPr>
                            <a:rPr lang="fr-FR" b="0" i="1" smtClean="0">
                              <a:latin typeface="Cambria Math" panose="02040503050406030204" pitchFamily="18" charset="0"/>
                            </a:rPr>
                          </m:ctrlPr>
                        </m:sSubPr>
                        <m:e>
                          <m:r>
                            <a:rPr lang="fr-FR" b="0" i="1" smtClean="0">
                              <a:latin typeface="Cambria Math"/>
                            </a:rPr>
                            <m:t>𝑓</m:t>
                          </m:r>
                        </m:e>
                        <m:sub>
                          <m:sSub>
                            <m:sSubPr>
                              <m:ctrlPr>
                                <a:rPr lang="fr-FR" b="0" i="1" smtClean="0">
                                  <a:latin typeface="Cambria Math" panose="02040503050406030204" pitchFamily="18" charset="0"/>
                                </a:rPr>
                              </m:ctrlPr>
                            </m:sSubPr>
                            <m:e>
                              <m:r>
                                <a:rPr lang="fr-FR" b="0" i="1" smtClean="0">
                                  <a:latin typeface="Cambria Math"/>
                                </a:rPr>
                                <m:t>𝑣</m:t>
                              </m:r>
                            </m:e>
                            <m:sub>
                              <m:r>
                                <a:rPr lang="fr-FR" b="0" i="1" smtClean="0">
                                  <a:latin typeface="Cambria Math"/>
                                </a:rPr>
                                <m:t>𝑗</m:t>
                              </m:r>
                            </m:sub>
                          </m:sSub>
                        </m:sub>
                      </m:sSub>
                      <m:sSub>
                        <m:sSubPr>
                          <m:ctrlPr>
                            <a:rPr lang="fr-FR" b="0" i="1" smtClean="0">
                              <a:latin typeface="Cambria Math" panose="02040503050406030204" pitchFamily="18" charset="0"/>
                            </a:rPr>
                          </m:ctrlPr>
                        </m:sSubPr>
                        <m:e>
                          <m:acc>
                            <m:accPr>
                              <m:chr m:val="̇"/>
                              <m:ctrlPr>
                                <a:rPr lang="fr-FR" b="0" i="1" smtClean="0">
                                  <a:latin typeface="Cambria Math" panose="02040503050406030204" pitchFamily="18" charset="0"/>
                                </a:rPr>
                              </m:ctrlPr>
                            </m:accPr>
                            <m:e>
                              <m:r>
                                <a:rPr lang="fr-FR" b="0" i="1" smtClean="0">
                                  <a:latin typeface="Cambria Math"/>
                                </a:rPr>
                                <m:t>𝑞</m:t>
                              </m:r>
                            </m:e>
                          </m:acc>
                        </m:e>
                        <m:sub>
                          <m:r>
                            <a:rPr lang="fr-FR" b="0" i="1" smtClean="0">
                              <a:latin typeface="Cambria Math"/>
                            </a:rPr>
                            <m:t>𝑗</m:t>
                          </m:r>
                        </m:sub>
                      </m:sSub>
                      <m:r>
                        <a:rPr lang="fr-FR" b="0" i="1" smtClean="0">
                          <a:latin typeface="Cambria Math"/>
                        </a:rPr>
                        <m:t>+</m:t>
                      </m:r>
                      <m:sSub>
                        <m:sSubPr>
                          <m:ctrlPr>
                            <a:rPr lang="fr-FR" b="0" i="1" smtClean="0">
                              <a:latin typeface="Cambria Math" panose="02040503050406030204" pitchFamily="18" charset="0"/>
                            </a:rPr>
                          </m:ctrlPr>
                        </m:sSubPr>
                        <m:e>
                          <m:r>
                            <a:rPr lang="fr-FR" b="0" i="1" smtClean="0">
                              <a:latin typeface="Cambria Math"/>
                              <a:ea typeface="Cambria Math"/>
                            </a:rPr>
                            <m:t>𝛾</m:t>
                          </m:r>
                        </m:e>
                        <m:sub>
                          <m:r>
                            <a:rPr lang="fr-FR" b="0" i="1" smtClean="0">
                              <a:latin typeface="Cambria Math"/>
                            </a:rPr>
                            <m:t>𝑗</m:t>
                          </m:r>
                        </m:sub>
                      </m:sSub>
                    </m:oMath>
                  </m:oMathPara>
                </a14:m>
                <a:endParaRPr lang="fr-FR" dirty="0"/>
              </a:p>
              <a:p>
                <a:pPr marL="0" indent="0">
                  <a:buNone/>
                </a:pPr>
                <a:r>
                  <a:rPr lang="fr-FR" dirty="0"/>
                  <a:t>avec: 	</a:t>
                </a:r>
              </a:p>
              <a:p>
                <a:pPr marL="0" indent="0">
                  <a:buNone/>
                </a:pPr>
                <a14:m>
                  <m:oMath xmlns:m="http://schemas.openxmlformats.org/officeDocument/2006/math">
                    <m:sSub>
                      <m:sSubPr>
                        <m:ctrlPr>
                          <a:rPr lang="fr-FR" i="1" smtClean="0">
                            <a:latin typeface="Cambria Math" panose="02040503050406030204" pitchFamily="18" charset="0"/>
                          </a:rPr>
                        </m:ctrlPr>
                      </m:sSubPr>
                      <m:e>
                        <m:r>
                          <m:rPr>
                            <m:sty m:val="p"/>
                          </m:rPr>
                          <a:rPr lang="fr-FR">
                            <a:latin typeface="Cambria Math"/>
                          </a:rPr>
                          <m:t>a</m:t>
                        </m:r>
                      </m:e>
                      <m:sub>
                        <m:r>
                          <a:rPr lang="fr-FR" b="0" i="1" smtClean="0">
                            <a:latin typeface="Cambria Math"/>
                          </a:rPr>
                          <m:t>𝑗</m:t>
                        </m:r>
                      </m:sub>
                    </m:sSub>
                    <m:r>
                      <a:rPr lang="fr-FR" b="0" i="1" smtClean="0">
                        <a:latin typeface="Cambria Math"/>
                      </a:rPr>
                      <m:t>=</m:t>
                    </m:r>
                    <m:sSub>
                      <m:sSubPr>
                        <m:ctrlPr>
                          <a:rPr lang="fr-FR" b="0" i="1" smtClean="0">
                            <a:latin typeface="Cambria Math" panose="02040503050406030204" pitchFamily="18" charset="0"/>
                          </a:rPr>
                        </m:ctrlPr>
                      </m:sSubPr>
                      <m:e>
                        <m:r>
                          <a:rPr lang="fr-FR" b="0" i="1" smtClean="0">
                            <a:latin typeface="Cambria Math"/>
                          </a:rPr>
                          <m:t>𝑎</m:t>
                        </m:r>
                      </m:e>
                      <m:sub>
                        <m:r>
                          <a:rPr lang="fr-FR" b="0" i="1" smtClean="0">
                            <a:latin typeface="Cambria Math"/>
                          </a:rPr>
                          <m:t>𝑗𝑗𝑚𝑎𝑥</m:t>
                        </m:r>
                      </m:sub>
                    </m:sSub>
                    <m:r>
                      <a:rPr lang="fr-FR" b="0" i="0" smtClean="0">
                        <a:latin typeface="Cambria Math"/>
                      </a:rPr>
                      <m:t> : </m:t>
                    </m:r>
                  </m:oMath>
                </a14:m>
                <a:r>
                  <a:rPr lang="fr-FR" dirty="0"/>
                  <a:t>valeur maximale de l’élément </a:t>
                </a:r>
                <a14:m>
                  <m:oMath xmlns:m="http://schemas.openxmlformats.org/officeDocument/2006/math">
                    <m:sSub>
                      <m:sSubPr>
                        <m:ctrlPr>
                          <a:rPr lang="fr-FR" i="1" smtClean="0">
                            <a:latin typeface="Cambria Math" panose="02040503050406030204" pitchFamily="18" charset="0"/>
                          </a:rPr>
                        </m:ctrlPr>
                      </m:sSubPr>
                      <m:e>
                        <m:r>
                          <a:rPr lang="fr-FR" b="0" i="1" smtClean="0">
                            <a:latin typeface="Cambria Math"/>
                          </a:rPr>
                          <m:t>𝑎</m:t>
                        </m:r>
                      </m:e>
                      <m:sub>
                        <m:r>
                          <a:rPr lang="fr-FR" b="0" i="1" smtClean="0">
                            <a:latin typeface="Cambria Math"/>
                          </a:rPr>
                          <m:t>𝑗𝑗</m:t>
                        </m:r>
                      </m:sub>
                    </m:sSub>
                  </m:oMath>
                </a14:m>
                <a:r>
                  <a:rPr lang="fr-FR" dirty="0"/>
                  <a:t> de la matrice d’inertie </a:t>
                </a:r>
                <a14:m>
                  <m:oMath xmlns:m="http://schemas.openxmlformats.org/officeDocument/2006/math">
                    <m:r>
                      <a:rPr lang="fr-FR" b="1" i="0" smtClean="0">
                        <a:latin typeface="Cambria Math"/>
                      </a:rPr>
                      <m:t>𝐀</m:t>
                    </m:r>
                    <m:r>
                      <a:rPr lang="fr-FR" b="0" i="1" smtClean="0">
                        <a:latin typeface="Cambria Math"/>
                      </a:rPr>
                      <m:t>(</m:t>
                    </m:r>
                    <m:r>
                      <a:rPr lang="fr-FR" b="1" i="0" smtClean="0">
                        <a:latin typeface="Cambria Math"/>
                      </a:rPr>
                      <m:t>𝐪</m:t>
                    </m:r>
                    <m:r>
                      <a:rPr lang="fr-FR" b="0" i="1" smtClean="0">
                        <a:latin typeface="Cambria Math"/>
                      </a:rPr>
                      <m:t>)</m:t>
                    </m:r>
                  </m:oMath>
                </a14:m>
                <a:r>
                  <a:rPr lang="fr-FR" dirty="0"/>
                  <a:t> du robot</a:t>
                </a:r>
              </a:p>
              <a:p>
                <a:pPr marL="0" indent="0">
                  <a:buNone/>
                </a:pPr>
                <a14:m>
                  <m:oMath xmlns:m="http://schemas.openxmlformats.org/officeDocument/2006/math">
                    <m:sSub>
                      <m:sSubPr>
                        <m:ctrlPr>
                          <a:rPr lang="fr-FR" i="1" smtClean="0">
                            <a:latin typeface="Cambria Math" panose="02040503050406030204" pitchFamily="18" charset="0"/>
                          </a:rPr>
                        </m:ctrlPr>
                      </m:sSubPr>
                      <m:e>
                        <m:r>
                          <a:rPr lang="fr-FR" i="1" smtClean="0">
                            <a:latin typeface="Cambria Math"/>
                            <a:ea typeface="Cambria Math"/>
                          </a:rPr>
                          <m:t>𝛾</m:t>
                        </m:r>
                      </m:e>
                      <m:sub>
                        <m:r>
                          <a:rPr lang="fr-FR" b="0" i="1" smtClean="0">
                            <a:latin typeface="Cambria Math"/>
                          </a:rPr>
                          <m:t>𝑗</m:t>
                        </m:r>
                      </m:sub>
                    </m:sSub>
                    <m:r>
                      <a:rPr lang="fr-FR" b="0" i="1" smtClean="0">
                        <a:latin typeface="Cambria Math"/>
                      </a:rPr>
                      <m:t> : </m:t>
                    </m:r>
                  </m:oMath>
                </a14:m>
                <a:r>
                  <a:rPr lang="fr-FR" dirty="0"/>
                  <a:t>couple perturbateur</a:t>
                </a:r>
              </a:p>
              <a:p>
                <a:pPr marL="0" indent="0">
                  <a:buNone/>
                </a:pPr>
                <a:endParaRPr lang="fr-FR" dirty="0"/>
              </a:p>
              <a:p>
                <a:pPr marL="0" indent="0">
                  <a:buNone/>
                </a:pPr>
                <a:r>
                  <a:rPr lang="fr-FR" dirty="0"/>
                  <a:t>Pour </a:t>
                </a:r>
                <a14:m>
                  <m:oMath xmlns:m="http://schemas.openxmlformats.org/officeDocument/2006/math">
                    <m:sSub>
                      <m:sSubPr>
                        <m:ctrlPr>
                          <a:rPr lang="fr-FR" i="1" smtClean="0">
                            <a:latin typeface="Cambria Math" panose="02040503050406030204" pitchFamily="18" charset="0"/>
                          </a:rPr>
                        </m:ctrlPr>
                      </m:sSubPr>
                      <m:e>
                        <m:r>
                          <a:rPr lang="fr-FR" i="1" smtClean="0">
                            <a:latin typeface="Cambria Math"/>
                            <a:ea typeface="Cambria Math"/>
                          </a:rPr>
                          <m:t>𝛾</m:t>
                        </m:r>
                      </m:e>
                      <m:sub>
                        <m:r>
                          <a:rPr lang="fr-FR" b="0" i="1" smtClean="0">
                            <a:latin typeface="Cambria Math"/>
                          </a:rPr>
                          <m:t>𝑗</m:t>
                        </m:r>
                      </m:sub>
                    </m:sSub>
                    <m:r>
                      <a:rPr lang="fr-FR" b="0" i="1" smtClean="0">
                        <a:latin typeface="Cambria Math"/>
                      </a:rPr>
                      <m:t>=0, </m:t>
                    </m:r>
                  </m:oMath>
                </a14:m>
                <a:r>
                  <a:rPr lang="fr-FR" dirty="0"/>
                  <a:t>la fonction de transfert du système en boucle fermée est donnée par :</a:t>
                </a:r>
              </a:p>
              <a:p>
                <a:pPr marL="0" indent="0">
                  <a:buNone/>
                </a:pPr>
                <a:endParaRPr lang="fr-FR" dirty="0"/>
              </a:p>
              <a:p>
                <a:pPr marL="0" indent="0">
                  <a:buNone/>
                </a:pPr>
                <a14:m>
                  <m:oMathPara xmlns:m="http://schemas.openxmlformats.org/officeDocument/2006/math">
                    <m:oMathParaPr>
                      <m:jc m:val="centerGroup"/>
                    </m:oMathParaPr>
                    <m:oMath xmlns:m="http://schemas.openxmlformats.org/officeDocument/2006/math">
                      <m:f>
                        <m:fPr>
                          <m:ctrlPr>
                            <a:rPr lang="fr-FR" i="1" smtClean="0">
                              <a:latin typeface="Cambria Math" panose="02040503050406030204" pitchFamily="18" charset="0"/>
                            </a:rPr>
                          </m:ctrlPr>
                        </m:fPr>
                        <m:num>
                          <m:sSub>
                            <m:sSubPr>
                              <m:ctrlPr>
                                <a:rPr lang="fr-FR" i="1" smtClean="0">
                                  <a:latin typeface="Cambria Math" panose="02040503050406030204" pitchFamily="18" charset="0"/>
                                </a:rPr>
                              </m:ctrlPr>
                            </m:sSubPr>
                            <m:e>
                              <m:r>
                                <a:rPr lang="fr-FR" b="0" i="1" smtClean="0">
                                  <a:latin typeface="Cambria Math"/>
                                </a:rPr>
                                <m:t>𝑞</m:t>
                              </m:r>
                            </m:e>
                            <m:sub>
                              <m:r>
                                <a:rPr lang="fr-FR" b="0" i="1" smtClean="0">
                                  <a:latin typeface="Cambria Math"/>
                                </a:rPr>
                                <m:t>𝑗</m:t>
                              </m:r>
                            </m:sub>
                          </m:sSub>
                          <m:r>
                            <a:rPr lang="fr-FR" b="0" i="1" smtClean="0">
                              <a:latin typeface="Cambria Math"/>
                            </a:rPr>
                            <m:t>(</m:t>
                          </m:r>
                          <m:r>
                            <a:rPr lang="fr-FR" b="0" i="1" smtClean="0">
                              <a:latin typeface="Cambria Math"/>
                            </a:rPr>
                            <m:t>𝑠</m:t>
                          </m:r>
                          <m:r>
                            <a:rPr lang="fr-FR" b="0" i="1" smtClean="0">
                              <a:latin typeface="Cambria Math"/>
                            </a:rPr>
                            <m:t>)</m:t>
                          </m:r>
                        </m:num>
                        <m:den>
                          <m:sSup>
                            <m:sSupPr>
                              <m:ctrlPr>
                                <a:rPr lang="fr-FR" i="1" smtClean="0">
                                  <a:latin typeface="Cambria Math" panose="02040503050406030204" pitchFamily="18" charset="0"/>
                                </a:rPr>
                              </m:ctrlPr>
                            </m:sSupPr>
                            <m:e>
                              <m:sSub>
                                <m:sSubPr>
                                  <m:ctrlPr>
                                    <a:rPr lang="fr-FR" i="1" smtClean="0">
                                      <a:latin typeface="Cambria Math" panose="02040503050406030204" pitchFamily="18" charset="0"/>
                                    </a:rPr>
                                  </m:ctrlPr>
                                </m:sSubPr>
                                <m:e>
                                  <m:r>
                                    <a:rPr lang="fr-FR" b="0" i="1" smtClean="0">
                                      <a:latin typeface="Cambria Math"/>
                                    </a:rPr>
                                    <m:t>𝑞</m:t>
                                  </m:r>
                                </m:e>
                                <m:sub>
                                  <m:r>
                                    <a:rPr lang="fr-FR" b="0" i="1" smtClean="0">
                                      <a:latin typeface="Cambria Math"/>
                                    </a:rPr>
                                    <m:t>𝑗</m:t>
                                  </m:r>
                                </m:sub>
                              </m:sSub>
                            </m:e>
                            <m:sup>
                              <m:r>
                                <a:rPr lang="fr-FR" b="0" i="1" smtClean="0">
                                  <a:latin typeface="Cambria Math"/>
                                </a:rPr>
                                <m:t>𝑑</m:t>
                              </m:r>
                            </m:sup>
                          </m:sSup>
                          <m:r>
                            <a:rPr lang="fr-FR" b="0" i="1" smtClean="0">
                              <a:latin typeface="Cambria Math"/>
                            </a:rPr>
                            <m:t>(</m:t>
                          </m:r>
                          <m:r>
                            <a:rPr lang="fr-FR" b="0" i="1" smtClean="0">
                              <a:latin typeface="Cambria Math"/>
                            </a:rPr>
                            <m:t>𝑠</m:t>
                          </m:r>
                          <m:r>
                            <a:rPr lang="fr-FR" b="0" i="1" smtClean="0">
                              <a:latin typeface="Cambria Math"/>
                            </a:rPr>
                            <m:t>)</m:t>
                          </m:r>
                        </m:den>
                      </m:f>
                      <m:r>
                        <a:rPr lang="fr-FR" b="0" i="1" smtClean="0">
                          <a:latin typeface="Cambria Math"/>
                        </a:rPr>
                        <m:t>=</m:t>
                      </m:r>
                      <m:f>
                        <m:fPr>
                          <m:ctrlPr>
                            <a:rPr lang="fr-FR" b="0" i="1" smtClean="0">
                              <a:latin typeface="Cambria Math" panose="02040503050406030204" pitchFamily="18" charset="0"/>
                            </a:rPr>
                          </m:ctrlPr>
                        </m:fPr>
                        <m:num>
                          <m:sSub>
                            <m:sSubPr>
                              <m:ctrlPr>
                                <a:rPr lang="fr-FR" b="0" i="1" smtClean="0">
                                  <a:latin typeface="Cambria Math" panose="02040503050406030204" pitchFamily="18" charset="0"/>
                                </a:rPr>
                              </m:ctrlPr>
                            </m:sSubPr>
                            <m:e>
                              <m:r>
                                <a:rPr lang="fr-FR" b="0" i="1" smtClean="0">
                                  <a:latin typeface="Cambria Math"/>
                                </a:rPr>
                                <m:t>𝑘</m:t>
                              </m:r>
                            </m:e>
                            <m:sub>
                              <m:sSub>
                                <m:sSubPr>
                                  <m:ctrlPr>
                                    <a:rPr lang="fr-FR" b="0" i="1" smtClean="0">
                                      <a:latin typeface="Cambria Math" panose="02040503050406030204" pitchFamily="18" charset="0"/>
                                    </a:rPr>
                                  </m:ctrlPr>
                                </m:sSubPr>
                                <m:e>
                                  <m:r>
                                    <a:rPr lang="fr-FR" b="0" i="1" smtClean="0">
                                      <a:latin typeface="Cambria Math"/>
                                    </a:rPr>
                                    <m:t>𝐷</m:t>
                                  </m:r>
                                </m:e>
                                <m:sub>
                                  <m:r>
                                    <a:rPr lang="fr-FR" b="0" i="1" smtClean="0">
                                      <a:latin typeface="Cambria Math"/>
                                    </a:rPr>
                                    <m:t>𝑗</m:t>
                                  </m:r>
                                </m:sub>
                              </m:sSub>
                            </m:sub>
                          </m:sSub>
                          <m:sSup>
                            <m:sSupPr>
                              <m:ctrlPr>
                                <a:rPr lang="fr-FR" b="0" i="1" smtClean="0">
                                  <a:latin typeface="Cambria Math" panose="02040503050406030204" pitchFamily="18" charset="0"/>
                                </a:rPr>
                              </m:ctrlPr>
                            </m:sSupPr>
                            <m:e>
                              <m:r>
                                <a:rPr lang="fr-FR" b="0" i="1" smtClean="0">
                                  <a:latin typeface="Cambria Math"/>
                                </a:rPr>
                                <m:t>𝑠</m:t>
                              </m:r>
                            </m:e>
                            <m:sup>
                              <m:r>
                                <a:rPr lang="fr-FR" b="0" i="1" smtClean="0">
                                  <a:latin typeface="Cambria Math"/>
                                </a:rPr>
                                <m:t>2</m:t>
                              </m:r>
                            </m:sup>
                          </m:sSup>
                          <m:r>
                            <a:rPr lang="fr-FR" b="0" i="1" smtClean="0">
                              <a:latin typeface="Cambria Math"/>
                            </a:rPr>
                            <m:t>+</m:t>
                          </m:r>
                          <m:sSub>
                            <m:sSubPr>
                              <m:ctrlPr>
                                <a:rPr lang="fr-FR" b="0" i="1" smtClean="0">
                                  <a:latin typeface="Cambria Math" panose="02040503050406030204" pitchFamily="18" charset="0"/>
                                </a:rPr>
                              </m:ctrlPr>
                            </m:sSubPr>
                            <m:e>
                              <m:r>
                                <a:rPr lang="fr-FR" b="0" i="1" smtClean="0">
                                  <a:latin typeface="Cambria Math"/>
                                </a:rPr>
                                <m:t>𝑘</m:t>
                              </m:r>
                            </m:e>
                            <m:sub>
                              <m:sSub>
                                <m:sSubPr>
                                  <m:ctrlPr>
                                    <a:rPr lang="fr-FR" b="0" i="1" smtClean="0">
                                      <a:latin typeface="Cambria Math" panose="02040503050406030204" pitchFamily="18" charset="0"/>
                                    </a:rPr>
                                  </m:ctrlPr>
                                </m:sSubPr>
                                <m:e>
                                  <m:r>
                                    <a:rPr lang="fr-FR" b="0" i="1" smtClean="0">
                                      <a:latin typeface="Cambria Math"/>
                                    </a:rPr>
                                    <m:t>𝑃</m:t>
                                  </m:r>
                                </m:e>
                                <m:sub>
                                  <m:r>
                                    <a:rPr lang="fr-FR" b="0" i="1" smtClean="0">
                                      <a:latin typeface="Cambria Math"/>
                                    </a:rPr>
                                    <m:t>𝑗</m:t>
                                  </m:r>
                                </m:sub>
                              </m:sSub>
                            </m:sub>
                          </m:sSub>
                          <m:r>
                            <a:rPr lang="fr-FR" b="0" i="1" smtClean="0">
                              <a:latin typeface="Cambria Math"/>
                            </a:rPr>
                            <m:t>𝑠</m:t>
                          </m:r>
                          <m:r>
                            <a:rPr lang="fr-FR" b="0" i="1" smtClean="0">
                              <a:latin typeface="Cambria Math"/>
                            </a:rPr>
                            <m:t>+</m:t>
                          </m:r>
                          <m:sSub>
                            <m:sSubPr>
                              <m:ctrlPr>
                                <a:rPr lang="fr-FR" b="0" i="1" smtClean="0">
                                  <a:latin typeface="Cambria Math" panose="02040503050406030204" pitchFamily="18" charset="0"/>
                                </a:rPr>
                              </m:ctrlPr>
                            </m:sSubPr>
                            <m:e>
                              <m:r>
                                <a:rPr lang="fr-FR" b="0" i="1" smtClean="0">
                                  <a:latin typeface="Cambria Math"/>
                                </a:rPr>
                                <m:t>𝑘</m:t>
                              </m:r>
                            </m:e>
                            <m:sub>
                              <m:sSub>
                                <m:sSubPr>
                                  <m:ctrlPr>
                                    <a:rPr lang="fr-FR" b="0" i="1" smtClean="0">
                                      <a:latin typeface="Cambria Math" panose="02040503050406030204" pitchFamily="18" charset="0"/>
                                    </a:rPr>
                                  </m:ctrlPr>
                                </m:sSubPr>
                                <m:e>
                                  <m:r>
                                    <a:rPr lang="fr-FR" b="0" i="1" smtClean="0">
                                      <a:latin typeface="Cambria Math"/>
                                    </a:rPr>
                                    <m:t>𝐼</m:t>
                                  </m:r>
                                </m:e>
                                <m:sub>
                                  <m:r>
                                    <a:rPr lang="fr-FR" b="0" i="1" smtClean="0">
                                      <a:latin typeface="Cambria Math"/>
                                    </a:rPr>
                                    <m:t>𝑗</m:t>
                                  </m:r>
                                </m:sub>
                              </m:sSub>
                            </m:sub>
                          </m:sSub>
                        </m:num>
                        <m:den>
                          <m:sSub>
                            <m:sSubPr>
                              <m:ctrlPr>
                                <a:rPr lang="fr-FR" i="1">
                                  <a:latin typeface="Cambria Math" panose="02040503050406030204" pitchFamily="18" charset="0"/>
                                </a:rPr>
                              </m:ctrlPr>
                            </m:sSubPr>
                            <m:e>
                              <m:r>
                                <m:rPr>
                                  <m:sty m:val="p"/>
                                </m:rPr>
                                <a:rPr lang="fr-FR">
                                  <a:latin typeface="Cambria Math"/>
                                </a:rPr>
                                <m:t>a</m:t>
                              </m:r>
                            </m:e>
                            <m:sub>
                              <m:r>
                                <a:rPr lang="fr-FR" i="1">
                                  <a:latin typeface="Cambria Math"/>
                                </a:rPr>
                                <m:t>𝑗</m:t>
                              </m:r>
                            </m:sub>
                          </m:sSub>
                          <m:sSup>
                            <m:sSupPr>
                              <m:ctrlPr>
                                <a:rPr lang="fr-FR" i="1" smtClean="0">
                                  <a:latin typeface="Cambria Math" panose="02040503050406030204" pitchFamily="18" charset="0"/>
                                </a:rPr>
                              </m:ctrlPr>
                            </m:sSupPr>
                            <m:e>
                              <m:r>
                                <a:rPr lang="fr-FR" b="0" i="1" smtClean="0">
                                  <a:latin typeface="Cambria Math"/>
                                </a:rPr>
                                <m:t>𝑠</m:t>
                              </m:r>
                            </m:e>
                            <m:sup>
                              <m:r>
                                <a:rPr lang="fr-FR" b="0" i="1" smtClean="0">
                                  <a:latin typeface="Cambria Math"/>
                                </a:rPr>
                                <m:t>3</m:t>
                              </m:r>
                            </m:sup>
                          </m:sSup>
                          <m:r>
                            <a:rPr lang="fr-FR" b="0" i="1" smtClean="0">
                              <a:latin typeface="Cambria Math"/>
                            </a:rPr>
                            <m:t>+</m:t>
                          </m:r>
                          <m:d>
                            <m:dPr>
                              <m:ctrlPr>
                                <a:rPr lang="fr-FR" b="0" i="1" smtClean="0">
                                  <a:latin typeface="Cambria Math" panose="02040503050406030204" pitchFamily="18" charset="0"/>
                                </a:rPr>
                              </m:ctrlPr>
                            </m:dPr>
                            <m:e>
                              <m:sSub>
                                <m:sSubPr>
                                  <m:ctrlPr>
                                    <a:rPr lang="fr-FR" i="1">
                                      <a:latin typeface="Cambria Math" panose="02040503050406030204" pitchFamily="18" charset="0"/>
                                    </a:rPr>
                                  </m:ctrlPr>
                                </m:sSubPr>
                                <m:e>
                                  <m:r>
                                    <a:rPr lang="fr-FR" i="1">
                                      <a:latin typeface="Cambria Math"/>
                                    </a:rPr>
                                    <m:t>𝑘</m:t>
                                  </m:r>
                                </m:e>
                                <m:sub>
                                  <m:sSub>
                                    <m:sSubPr>
                                      <m:ctrlPr>
                                        <a:rPr lang="fr-FR" i="1">
                                          <a:latin typeface="Cambria Math" panose="02040503050406030204" pitchFamily="18" charset="0"/>
                                        </a:rPr>
                                      </m:ctrlPr>
                                    </m:sSubPr>
                                    <m:e>
                                      <m:r>
                                        <a:rPr lang="fr-FR" i="1">
                                          <a:latin typeface="Cambria Math"/>
                                        </a:rPr>
                                        <m:t>𝐷</m:t>
                                      </m:r>
                                    </m:e>
                                    <m:sub>
                                      <m:r>
                                        <a:rPr lang="fr-FR" i="1">
                                          <a:latin typeface="Cambria Math"/>
                                        </a:rPr>
                                        <m:t>𝑗</m:t>
                                      </m:r>
                                    </m:sub>
                                  </m:sSub>
                                </m:sub>
                              </m:sSub>
                              <m:r>
                                <a:rPr lang="fr-FR" b="0" i="1" smtClean="0">
                                  <a:latin typeface="Cambria Math"/>
                                </a:rPr>
                                <m:t>+</m:t>
                              </m:r>
                              <m:sSub>
                                <m:sSubPr>
                                  <m:ctrlPr>
                                    <a:rPr lang="fr-FR" i="1">
                                      <a:latin typeface="Cambria Math" panose="02040503050406030204" pitchFamily="18" charset="0"/>
                                    </a:rPr>
                                  </m:ctrlPr>
                                </m:sSubPr>
                                <m:e>
                                  <m:r>
                                    <a:rPr lang="fr-FR" i="1">
                                      <a:latin typeface="Cambria Math"/>
                                    </a:rPr>
                                    <m:t>𝑓</m:t>
                                  </m:r>
                                </m:e>
                                <m:sub>
                                  <m:sSub>
                                    <m:sSubPr>
                                      <m:ctrlPr>
                                        <a:rPr lang="fr-FR" i="1">
                                          <a:latin typeface="Cambria Math" panose="02040503050406030204" pitchFamily="18" charset="0"/>
                                        </a:rPr>
                                      </m:ctrlPr>
                                    </m:sSubPr>
                                    <m:e>
                                      <m:r>
                                        <a:rPr lang="fr-FR" i="1">
                                          <a:latin typeface="Cambria Math"/>
                                        </a:rPr>
                                        <m:t>𝑣</m:t>
                                      </m:r>
                                    </m:e>
                                    <m:sub>
                                      <m:r>
                                        <a:rPr lang="fr-FR" i="1">
                                          <a:latin typeface="Cambria Math"/>
                                        </a:rPr>
                                        <m:t>𝑗</m:t>
                                      </m:r>
                                    </m:sub>
                                  </m:sSub>
                                </m:sub>
                              </m:sSub>
                            </m:e>
                          </m:d>
                          <m:sSup>
                            <m:sSupPr>
                              <m:ctrlPr>
                                <a:rPr lang="fr-FR" b="0" i="1" smtClean="0">
                                  <a:latin typeface="Cambria Math" panose="02040503050406030204" pitchFamily="18" charset="0"/>
                                </a:rPr>
                              </m:ctrlPr>
                            </m:sSupPr>
                            <m:e>
                              <m:r>
                                <a:rPr lang="fr-FR" b="0" i="1" smtClean="0">
                                  <a:latin typeface="Cambria Math"/>
                                </a:rPr>
                                <m:t>𝑠</m:t>
                              </m:r>
                            </m:e>
                            <m:sup>
                              <m:r>
                                <a:rPr lang="fr-FR" b="0" i="1" smtClean="0">
                                  <a:latin typeface="Cambria Math"/>
                                </a:rPr>
                                <m:t>2</m:t>
                              </m:r>
                            </m:sup>
                          </m:sSup>
                          <m:r>
                            <a:rPr lang="fr-FR" b="0" i="1" smtClean="0">
                              <a:latin typeface="Cambria Math"/>
                            </a:rPr>
                            <m:t>+</m:t>
                          </m:r>
                          <m:sSub>
                            <m:sSubPr>
                              <m:ctrlPr>
                                <a:rPr lang="fr-FR" b="0" i="1" smtClean="0">
                                  <a:latin typeface="Cambria Math" panose="02040503050406030204" pitchFamily="18" charset="0"/>
                                </a:rPr>
                              </m:ctrlPr>
                            </m:sSubPr>
                            <m:e>
                              <m:r>
                                <a:rPr lang="fr-FR" b="0" i="1" smtClean="0">
                                  <a:latin typeface="Cambria Math"/>
                                </a:rPr>
                                <m:t>𝑘</m:t>
                              </m:r>
                            </m:e>
                            <m:sub>
                              <m:sSub>
                                <m:sSubPr>
                                  <m:ctrlPr>
                                    <a:rPr lang="fr-FR" b="0" i="1" smtClean="0">
                                      <a:latin typeface="Cambria Math" panose="02040503050406030204" pitchFamily="18" charset="0"/>
                                    </a:rPr>
                                  </m:ctrlPr>
                                </m:sSubPr>
                                <m:e>
                                  <m:r>
                                    <a:rPr lang="fr-FR" b="0" i="1" smtClean="0">
                                      <a:latin typeface="Cambria Math"/>
                                    </a:rPr>
                                    <m:t>𝑃</m:t>
                                  </m:r>
                                </m:e>
                                <m:sub>
                                  <m:r>
                                    <a:rPr lang="fr-FR" b="0" i="1" smtClean="0">
                                      <a:latin typeface="Cambria Math"/>
                                    </a:rPr>
                                    <m:t>𝑗</m:t>
                                  </m:r>
                                </m:sub>
                              </m:sSub>
                            </m:sub>
                          </m:sSub>
                          <m:r>
                            <a:rPr lang="fr-FR" b="0" i="1" smtClean="0">
                              <a:latin typeface="Cambria Math"/>
                            </a:rPr>
                            <m:t>𝑠</m:t>
                          </m:r>
                          <m:r>
                            <a:rPr lang="fr-FR" b="0" i="1" smtClean="0">
                              <a:latin typeface="Cambria Math"/>
                            </a:rPr>
                            <m:t>+</m:t>
                          </m:r>
                          <m:sSub>
                            <m:sSubPr>
                              <m:ctrlPr>
                                <a:rPr lang="fr-FR" b="0" i="1" smtClean="0">
                                  <a:latin typeface="Cambria Math" panose="02040503050406030204" pitchFamily="18" charset="0"/>
                                </a:rPr>
                              </m:ctrlPr>
                            </m:sSubPr>
                            <m:e>
                              <m:r>
                                <a:rPr lang="fr-FR" b="0" i="1" smtClean="0">
                                  <a:latin typeface="Cambria Math"/>
                                </a:rPr>
                                <m:t>𝑘</m:t>
                              </m:r>
                            </m:e>
                            <m:sub>
                              <m:sSub>
                                <m:sSubPr>
                                  <m:ctrlPr>
                                    <a:rPr lang="fr-FR" b="0" i="1" smtClean="0">
                                      <a:latin typeface="Cambria Math" panose="02040503050406030204" pitchFamily="18" charset="0"/>
                                    </a:rPr>
                                  </m:ctrlPr>
                                </m:sSubPr>
                                <m:e>
                                  <m:r>
                                    <a:rPr lang="fr-FR" b="0" i="1" smtClean="0">
                                      <a:latin typeface="Cambria Math"/>
                                    </a:rPr>
                                    <m:t>𝐼</m:t>
                                  </m:r>
                                </m:e>
                                <m:sub>
                                  <m:r>
                                    <a:rPr lang="fr-FR" b="0" i="1" smtClean="0">
                                      <a:latin typeface="Cambria Math"/>
                                    </a:rPr>
                                    <m:t>𝑗</m:t>
                                  </m:r>
                                </m:sub>
                              </m:sSub>
                            </m:sub>
                          </m:sSub>
                        </m:den>
                      </m:f>
                    </m:oMath>
                  </m:oMathPara>
                </a14:m>
                <a:endParaRPr lang="fr-FR" dirty="0"/>
              </a:p>
              <a:p>
                <a:pPr marL="0" indent="0">
                  <a:buNone/>
                </a:pPr>
                <a:endParaRPr lang="fr-FR"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3"/>
                <a:stretch>
                  <a:fillRect l="-584" t="-552"/>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PID (espace articulaire)</a:t>
            </a:r>
          </a:p>
        </p:txBody>
      </p:sp>
    </p:spTree>
    <p:extLst>
      <p:ext uri="{BB962C8B-B14F-4D97-AF65-F5344CB8AC3E}">
        <p14:creationId xmlns:p14="http://schemas.microsoft.com/office/powerpoint/2010/main" val="5371323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r>
                  <a:rPr lang="fr-FR" dirty="0"/>
                  <a:t>Equation caractéristique :</a:t>
                </a:r>
              </a:p>
              <a:p>
                <a:pPr marL="0" indent="0">
                  <a:buNone/>
                </a:pPr>
                <a14:m>
                  <m:oMathPara xmlns:m="http://schemas.openxmlformats.org/officeDocument/2006/math">
                    <m:oMathParaPr>
                      <m:jc m:val="centerGroup"/>
                    </m:oMathParaPr>
                    <m:oMath xmlns:m="http://schemas.openxmlformats.org/officeDocument/2006/math">
                      <m:r>
                        <m:rPr>
                          <m:sty m:val="p"/>
                        </m:rPr>
                        <a:rPr lang="el-GR" i="1" smtClean="0">
                          <a:latin typeface="Cambria Math"/>
                          <a:ea typeface="Cambria Math"/>
                        </a:rPr>
                        <m:t>Δ</m:t>
                      </m:r>
                      <m:d>
                        <m:dPr>
                          <m:ctrlPr>
                            <a:rPr lang="fr-FR" b="0" i="1" smtClean="0">
                              <a:latin typeface="Cambria Math" panose="02040503050406030204" pitchFamily="18" charset="0"/>
                              <a:ea typeface="Cambria Math"/>
                            </a:rPr>
                          </m:ctrlPr>
                        </m:dPr>
                        <m:e>
                          <m:r>
                            <a:rPr lang="fr-FR" b="0" i="1" smtClean="0">
                              <a:latin typeface="Cambria Math"/>
                              <a:ea typeface="Cambria Math"/>
                            </a:rPr>
                            <m:t>𝑠</m:t>
                          </m:r>
                        </m:e>
                      </m:d>
                      <m:r>
                        <a:rPr lang="fr-FR" b="0" i="1" smtClean="0">
                          <a:latin typeface="Cambria Math"/>
                          <a:ea typeface="Cambria Math"/>
                        </a:rPr>
                        <m:t>=</m:t>
                      </m:r>
                      <m:sSub>
                        <m:sSubPr>
                          <m:ctrlPr>
                            <a:rPr lang="fr-FR" i="1">
                              <a:latin typeface="Cambria Math" panose="02040503050406030204" pitchFamily="18" charset="0"/>
                            </a:rPr>
                          </m:ctrlPr>
                        </m:sSubPr>
                        <m:e>
                          <m:r>
                            <m:rPr>
                              <m:sty m:val="p"/>
                            </m:rPr>
                            <a:rPr lang="fr-FR">
                              <a:latin typeface="Cambria Math"/>
                            </a:rPr>
                            <m:t>a</m:t>
                          </m:r>
                        </m:e>
                        <m:sub>
                          <m:r>
                            <a:rPr lang="fr-FR" i="1">
                              <a:latin typeface="Cambria Math"/>
                            </a:rPr>
                            <m:t>𝑗</m:t>
                          </m:r>
                        </m:sub>
                      </m:sSub>
                      <m:sSup>
                        <m:sSupPr>
                          <m:ctrlPr>
                            <a:rPr lang="fr-FR" i="1">
                              <a:latin typeface="Cambria Math" panose="02040503050406030204" pitchFamily="18" charset="0"/>
                            </a:rPr>
                          </m:ctrlPr>
                        </m:sSupPr>
                        <m:e>
                          <m:r>
                            <a:rPr lang="fr-FR" i="1">
                              <a:latin typeface="Cambria Math"/>
                            </a:rPr>
                            <m:t>𝑠</m:t>
                          </m:r>
                        </m:e>
                        <m:sup>
                          <m:r>
                            <a:rPr lang="fr-FR" i="1">
                              <a:latin typeface="Cambria Math"/>
                            </a:rPr>
                            <m:t>3</m:t>
                          </m:r>
                        </m:sup>
                      </m:sSup>
                      <m:r>
                        <a:rPr lang="fr-FR" i="1">
                          <a:latin typeface="Cambria Math"/>
                        </a:rPr>
                        <m:t>+</m:t>
                      </m:r>
                      <m:d>
                        <m:dPr>
                          <m:ctrlPr>
                            <a:rPr lang="fr-FR" i="1">
                              <a:latin typeface="Cambria Math" panose="02040503050406030204" pitchFamily="18" charset="0"/>
                            </a:rPr>
                          </m:ctrlPr>
                        </m:dPr>
                        <m:e>
                          <m:sSub>
                            <m:sSubPr>
                              <m:ctrlPr>
                                <a:rPr lang="fr-FR" i="1" smtClean="0">
                                  <a:solidFill>
                                    <a:srgbClr val="FF0000"/>
                                  </a:solidFill>
                                  <a:latin typeface="Cambria Math" panose="02040503050406030204" pitchFamily="18" charset="0"/>
                                </a:rPr>
                              </m:ctrlPr>
                            </m:sSubPr>
                            <m:e>
                              <m:r>
                                <a:rPr lang="fr-FR" i="1">
                                  <a:solidFill>
                                    <a:srgbClr val="FF0000"/>
                                  </a:solidFill>
                                  <a:latin typeface="Cambria Math"/>
                                </a:rPr>
                                <m:t>𝑘</m:t>
                              </m:r>
                            </m:e>
                            <m:sub>
                              <m:sSub>
                                <m:sSubPr>
                                  <m:ctrlPr>
                                    <a:rPr lang="fr-FR" i="1">
                                      <a:solidFill>
                                        <a:srgbClr val="FF0000"/>
                                      </a:solidFill>
                                      <a:latin typeface="Cambria Math" panose="02040503050406030204" pitchFamily="18" charset="0"/>
                                    </a:rPr>
                                  </m:ctrlPr>
                                </m:sSubPr>
                                <m:e>
                                  <m:r>
                                    <a:rPr lang="fr-FR" i="1">
                                      <a:solidFill>
                                        <a:srgbClr val="FF0000"/>
                                      </a:solidFill>
                                      <a:latin typeface="Cambria Math"/>
                                    </a:rPr>
                                    <m:t>𝐷</m:t>
                                  </m:r>
                                </m:e>
                                <m:sub>
                                  <m:r>
                                    <a:rPr lang="fr-FR" i="1">
                                      <a:solidFill>
                                        <a:srgbClr val="FF0000"/>
                                      </a:solidFill>
                                      <a:latin typeface="Cambria Math"/>
                                    </a:rPr>
                                    <m:t>𝑗</m:t>
                                  </m:r>
                                </m:sub>
                              </m:sSub>
                            </m:sub>
                          </m:sSub>
                          <m:r>
                            <a:rPr lang="fr-FR" i="1">
                              <a:latin typeface="Cambria Math"/>
                            </a:rPr>
                            <m:t>+</m:t>
                          </m:r>
                          <m:sSub>
                            <m:sSubPr>
                              <m:ctrlPr>
                                <a:rPr lang="fr-FR" i="1">
                                  <a:latin typeface="Cambria Math" panose="02040503050406030204" pitchFamily="18" charset="0"/>
                                </a:rPr>
                              </m:ctrlPr>
                            </m:sSubPr>
                            <m:e>
                              <m:r>
                                <a:rPr lang="fr-FR" i="1">
                                  <a:latin typeface="Cambria Math"/>
                                </a:rPr>
                                <m:t>𝑓</m:t>
                              </m:r>
                            </m:e>
                            <m:sub>
                              <m:sSub>
                                <m:sSubPr>
                                  <m:ctrlPr>
                                    <a:rPr lang="fr-FR" i="1">
                                      <a:latin typeface="Cambria Math" panose="02040503050406030204" pitchFamily="18" charset="0"/>
                                    </a:rPr>
                                  </m:ctrlPr>
                                </m:sSubPr>
                                <m:e>
                                  <m:r>
                                    <a:rPr lang="fr-FR" i="1">
                                      <a:latin typeface="Cambria Math"/>
                                    </a:rPr>
                                    <m:t>𝑣</m:t>
                                  </m:r>
                                </m:e>
                                <m:sub>
                                  <m:r>
                                    <a:rPr lang="fr-FR" i="1">
                                      <a:latin typeface="Cambria Math"/>
                                    </a:rPr>
                                    <m:t>𝑗</m:t>
                                  </m:r>
                                </m:sub>
                              </m:sSub>
                            </m:sub>
                          </m:sSub>
                        </m:e>
                      </m:d>
                      <m:sSup>
                        <m:sSupPr>
                          <m:ctrlPr>
                            <a:rPr lang="fr-FR" i="1">
                              <a:latin typeface="Cambria Math" panose="02040503050406030204" pitchFamily="18" charset="0"/>
                            </a:rPr>
                          </m:ctrlPr>
                        </m:sSupPr>
                        <m:e>
                          <m:r>
                            <a:rPr lang="fr-FR" i="1">
                              <a:latin typeface="Cambria Math"/>
                            </a:rPr>
                            <m:t>𝑠</m:t>
                          </m:r>
                        </m:e>
                        <m:sup>
                          <m:r>
                            <a:rPr lang="fr-FR" i="1">
                              <a:latin typeface="Cambria Math"/>
                            </a:rPr>
                            <m:t>2</m:t>
                          </m:r>
                        </m:sup>
                      </m:sSup>
                      <m:r>
                        <a:rPr lang="fr-FR" i="1">
                          <a:latin typeface="Cambria Math"/>
                        </a:rPr>
                        <m:t>+</m:t>
                      </m:r>
                      <m:sSub>
                        <m:sSubPr>
                          <m:ctrlPr>
                            <a:rPr lang="fr-FR" i="1" smtClean="0">
                              <a:solidFill>
                                <a:srgbClr val="FF0000"/>
                              </a:solidFill>
                              <a:latin typeface="Cambria Math" panose="02040503050406030204" pitchFamily="18" charset="0"/>
                            </a:rPr>
                          </m:ctrlPr>
                        </m:sSubPr>
                        <m:e>
                          <m:r>
                            <a:rPr lang="fr-FR" i="1">
                              <a:solidFill>
                                <a:srgbClr val="FF0000"/>
                              </a:solidFill>
                              <a:latin typeface="Cambria Math"/>
                            </a:rPr>
                            <m:t>𝑘</m:t>
                          </m:r>
                        </m:e>
                        <m:sub>
                          <m:sSub>
                            <m:sSubPr>
                              <m:ctrlPr>
                                <a:rPr lang="fr-FR" i="1">
                                  <a:solidFill>
                                    <a:srgbClr val="FF0000"/>
                                  </a:solidFill>
                                  <a:latin typeface="Cambria Math" panose="02040503050406030204" pitchFamily="18" charset="0"/>
                                </a:rPr>
                              </m:ctrlPr>
                            </m:sSubPr>
                            <m:e>
                              <m:r>
                                <a:rPr lang="fr-FR" i="1">
                                  <a:solidFill>
                                    <a:srgbClr val="FF0000"/>
                                  </a:solidFill>
                                  <a:latin typeface="Cambria Math"/>
                                </a:rPr>
                                <m:t>𝑃</m:t>
                              </m:r>
                            </m:e>
                            <m:sub>
                              <m:r>
                                <a:rPr lang="fr-FR" i="1">
                                  <a:solidFill>
                                    <a:srgbClr val="FF0000"/>
                                  </a:solidFill>
                                  <a:latin typeface="Cambria Math"/>
                                </a:rPr>
                                <m:t>𝑗</m:t>
                              </m:r>
                            </m:sub>
                          </m:sSub>
                        </m:sub>
                      </m:sSub>
                      <m:r>
                        <a:rPr lang="fr-FR" i="1">
                          <a:latin typeface="Cambria Math"/>
                        </a:rPr>
                        <m:t>𝑠</m:t>
                      </m:r>
                      <m:r>
                        <a:rPr lang="fr-FR" i="1">
                          <a:latin typeface="Cambria Math"/>
                        </a:rPr>
                        <m:t>+</m:t>
                      </m:r>
                      <m:sSub>
                        <m:sSubPr>
                          <m:ctrlPr>
                            <a:rPr lang="fr-FR" i="1" smtClean="0">
                              <a:solidFill>
                                <a:srgbClr val="FF0000"/>
                              </a:solidFill>
                              <a:latin typeface="Cambria Math" panose="02040503050406030204" pitchFamily="18" charset="0"/>
                            </a:rPr>
                          </m:ctrlPr>
                        </m:sSubPr>
                        <m:e>
                          <m:r>
                            <a:rPr lang="fr-FR" i="1">
                              <a:solidFill>
                                <a:srgbClr val="FF0000"/>
                              </a:solidFill>
                              <a:latin typeface="Cambria Math"/>
                            </a:rPr>
                            <m:t>𝑘</m:t>
                          </m:r>
                        </m:e>
                        <m:sub>
                          <m:sSub>
                            <m:sSubPr>
                              <m:ctrlPr>
                                <a:rPr lang="fr-FR" i="1">
                                  <a:solidFill>
                                    <a:srgbClr val="FF0000"/>
                                  </a:solidFill>
                                  <a:latin typeface="Cambria Math" panose="02040503050406030204" pitchFamily="18" charset="0"/>
                                </a:rPr>
                              </m:ctrlPr>
                            </m:sSubPr>
                            <m:e>
                              <m:r>
                                <a:rPr lang="fr-FR" i="1">
                                  <a:solidFill>
                                    <a:srgbClr val="FF0000"/>
                                  </a:solidFill>
                                  <a:latin typeface="Cambria Math"/>
                                </a:rPr>
                                <m:t>𝐼</m:t>
                              </m:r>
                            </m:e>
                            <m:sub>
                              <m:r>
                                <a:rPr lang="fr-FR" i="1">
                                  <a:solidFill>
                                    <a:srgbClr val="FF0000"/>
                                  </a:solidFill>
                                  <a:latin typeface="Cambria Math"/>
                                </a:rPr>
                                <m:t>𝑗</m:t>
                              </m:r>
                            </m:sub>
                          </m:sSub>
                        </m:sub>
                      </m:sSub>
                    </m:oMath>
                  </m:oMathPara>
                </a14:m>
                <a:endParaRPr lang="fr-FR" dirty="0"/>
              </a:p>
              <a:p>
                <a:pPr marL="0" indent="0">
                  <a:buNone/>
                </a:pPr>
                <a:endParaRPr lang="fr-FR" dirty="0"/>
              </a:p>
              <a:p>
                <a:pPr marL="0" indent="0">
                  <a:buNone/>
                </a:pPr>
                <a:r>
                  <a:rPr lang="fr-FR" dirty="0"/>
                  <a:t>Solution courante :</a:t>
                </a:r>
              </a:p>
              <a:p>
                <a:pPr marL="0" indent="0" algn="just">
                  <a:buNone/>
                </a:pPr>
                <a:r>
                  <a:rPr lang="fr-FR" dirty="0"/>
                  <a:t>En robotique, les gains </a:t>
                </a:r>
                <a14:m>
                  <m:oMath xmlns:m="http://schemas.openxmlformats.org/officeDocument/2006/math">
                    <m:sSub>
                      <m:sSubPr>
                        <m:ctrlPr>
                          <a:rPr lang="fr-FR" i="1">
                            <a:solidFill>
                              <a:srgbClr val="FF0000"/>
                            </a:solidFill>
                            <a:latin typeface="Cambria Math" panose="02040503050406030204" pitchFamily="18" charset="0"/>
                          </a:rPr>
                        </m:ctrlPr>
                      </m:sSubPr>
                      <m:e>
                        <m:r>
                          <a:rPr lang="fr-FR" i="1">
                            <a:solidFill>
                              <a:srgbClr val="FF0000"/>
                            </a:solidFill>
                            <a:latin typeface="Cambria Math"/>
                          </a:rPr>
                          <m:t>𝑘</m:t>
                        </m:r>
                      </m:e>
                      <m:sub>
                        <m:sSub>
                          <m:sSubPr>
                            <m:ctrlPr>
                              <a:rPr lang="fr-FR" i="1">
                                <a:solidFill>
                                  <a:srgbClr val="FF0000"/>
                                </a:solidFill>
                                <a:latin typeface="Cambria Math" panose="02040503050406030204" pitchFamily="18" charset="0"/>
                              </a:rPr>
                            </m:ctrlPr>
                          </m:sSubPr>
                          <m:e>
                            <m:r>
                              <a:rPr lang="fr-FR" i="1">
                                <a:solidFill>
                                  <a:srgbClr val="FF0000"/>
                                </a:solidFill>
                                <a:latin typeface="Cambria Math"/>
                              </a:rPr>
                              <m:t>𝑃</m:t>
                            </m:r>
                          </m:e>
                          <m:sub>
                            <m:r>
                              <a:rPr lang="fr-FR" i="1">
                                <a:solidFill>
                                  <a:srgbClr val="FF0000"/>
                                </a:solidFill>
                                <a:latin typeface="Cambria Math"/>
                              </a:rPr>
                              <m:t>𝑗</m:t>
                            </m:r>
                          </m:sub>
                        </m:sSub>
                      </m:sub>
                    </m:sSub>
                    <m:r>
                      <a:rPr lang="fr-FR" b="0" i="1" smtClean="0">
                        <a:solidFill>
                          <a:srgbClr val="FF0000"/>
                        </a:solidFill>
                        <a:latin typeface="Cambria Math"/>
                      </a:rPr>
                      <m:t>,</m:t>
                    </m:r>
                    <m:sSub>
                      <m:sSubPr>
                        <m:ctrlPr>
                          <a:rPr lang="fr-FR" i="1">
                            <a:solidFill>
                              <a:srgbClr val="FF0000"/>
                            </a:solidFill>
                            <a:latin typeface="Cambria Math" panose="02040503050406030204" pitchFamily="18" charset="0"/>
                          </a:rPr>
                        </m:ctrlPr>
                      </m:sSubPr>
                      <m:e>
                        <m:r>
                          <a:rPr lang="fr-FR" i="1">
                            <a:solidFill>
                              <a:srgbClr val="FF0000"/>
                            </a:solidFill>
                            <a:latin typeface="Cambria Math"/>
                          </a:rPr>
                          <m:t>𝑘</m:t>
                        </m:r>
                      </m:e>
                      <m:sub>
                        <m:sSub>
                          <m:sSubPr>
                            <m:ctrlPr>
                              <a:rPr lang="fr-FR" i="1">
                                <a:solidFill>
                                  <a:srgbClr val="FF0000"/>
                                </a:solidFill>
                                <a:latin typeface="Cambria Math" panose="02040503050406030204" pitchFamily="18" charset="0"/>
                              </a:rPr>
                            </m:ctrlPr>
                          </m:sSubPr>
                          <m:e>
                            <m:r>
                              <a:rPr lang="fr-FR" i="1">
                                <a:solidFill>
                                  <a:srgbClr val="FF0000"/>
                                </a:solidFill>
                                <a:latin typeface="Cambria Math"/>
                              </a:rPr>
                              <m:t>𝐼</m:t>
                            </m:r>
                          </m:e>
                          <m:sub>
                            <m:r>
                              <a:rPr lang="fr-FR" i="1">
                                <a:solidFill>
                                  <a:srgbClr val="FF0000"/>
                                </a:solidFill>
                                <a:latin typeface="Cambria Math"/>
                              </a:rPr>
                              <m:t>𝑗</m:t>
                            </m:r>
                          </m:sub>
                        </m:sSub>
                      </m:sub>
                    </m:sSub>
                  </m:oMath>
                </a14:m>
                <a:r>
                  <a:rPr lang="fr-FR" dirty="0"/>
                  <a:t> et </a:t>
                </a:r>
                <a14:m>
                  <m:oMath xmlns:m="http://schemas.openxmlformats.org/officeDocument/2006/math">
                    <m:sSub>
                      <m:sSubPr>
                        <m:ctrlPr>
                          <a:rPr lang="fr-FR" i="1">
                            <a:solidFill>
                              <a:srgbClr val="FF0000"/>
                            </a:solidFill>
                            <a:latin typeface="Cambria Math" panose="02040503050406030204" pitchFamily="18" charset="0"/>
                          </a:rPr>
                        </m:ctrlPr>
                      </m:sSubPr>
                      <m:e>
                        <m:r>
                          <a:rPr lang="fr-FR" i="1">
                            <a:solidFill>
                              <a:srgbClr val="FF0000"/>
                            </a:solidFill>
                            <a:latin typeface="Cambria Math"/>
                          </a:rPr>
                          <m:t>𝑘</m:t>
                        </m:r>
                      </m:e>
                      <m:sub>
                        <m:sSub>
                          <m:sSubPr>
                            <m:ctrlPr>
                              <a:rPr lang="fr-FR" i="1">
                                <a:solidFill>
                                  <a:srgbClr val="FF0000"/>
                                </a:solidFill>
                                <a:latin typeface="Cambria Math" panose="02040503050406030204" pitchFamily="18" charset="0"/>
                              </a:rPr>
                            </m:ctrlPr>
                          </m:sSubPr>
                          <m:e>
                            <m:r>
                              <a:rPr lang="fr-FR" i="1">
                                <a:solidFill>
                                  <a:srgbClr val="FF0000"/>
                                </a:solidFill>
                                <a:latin typeface="Cambria Math"/>
                              </a:rPr>
                              <m:t>𝐷</m:t>
                            </m:r>
                          </m:e>
                          <m:sub>
                            <m:r>
                              <a:rPr lang="fr-FR" i="1">
                                <a:solidFill>
                                  <a:srgbClr val="FF0000"/>
                                </a:solidFill>
                                <a:latin typeface="Cambria Math"/>
                              </a:rPr>
                              <m:t>𝑗</m:t>
                            </m:r>
                          </m:sub>
                        </m:sSub>
                      </m:sub>
                    </m:sSub>
                  </m:oMath>
                </a14:m>
                <a:r>
                  <a:rPr lang="fr-FR" dirty="0"/>
                  <a:t> sont ajustés de sorte à avoir un pôle réel triple négatif. Ce choix permet d’avoir une réponse rapide sans oscillations. </a:t>
                </a:r>
              </a:p>
              <a:p>
                <a:pPr marL="0" indent="0" algn="just">
                  <a:buNone/>
                </a:pPr>
                <a:r>
                  <a:rPr lang="fr-FR" dirty="0"/>
                  <a:t>Ainsi, l’équation caractéristique se factorise de la façon suivante :</a:t>
                </a:r>
                <a:endParaRPr lang="fr-FR" i="1" dirty="0">
                  <a:latin typeface="Cambria Math"/>
                  <a:ea typeface="Cambria Math"/>
                </a:endParaRPr>
              </a:p>
              <a:p>
                <a:pPr marL="0" indent="0" algn="just">
                  <a:buNone/>
                </a:pPr>
                <a:endParaRPr lang="fr-FR" i="1" dirty="0">
                  <a:latin typeface="Cambria Math"/>
                  <a:ea typeface="Cambria Math"/>
                </a:endParaRPr>
              </a:p>
              <a:p>
                <a:pPr marL="0" indent="0">
                  <a:buNone/>
                </a:pPr>
                <a14:m>
                  <m:oMathPara xmlns:m="http://schemas.openxmlformats.org/officeDocument/2006/math">
                    <m:oMathParaPr>
                      <m:jc m:val="centerGroup"/>
                    </m:oMathParaPr>
                    <m:oMath xmlns:m="http://schemas.openxmlformats.org/officeDocument/2006/math">
                      <m:r>
                        <m:rPr>
                          <m:sty m:val="p"/>
                        </m:rPr>
                        <a:rPr lang="el-GR" i="1" smtClean="0">
                          <a:latin typeface="Cambria Math"/>
                          <a:ea typeface="Cambria Math"/>
                        </a:rPr>
                        <m:t>Δ</m:t>
                      </m:r>
                      <m:d>
                        <m:dPr>
                          <m:ctrlPr>
                            <a:rPr lang="fr-FR" b="0" i="1" smtClean="0">
                              <a:latin typeface="Cambria Math" panose="02040503050406030204" pitchFamily="18" charset="0"/>
                              <a:ea typeface="Cambria Math"/>
                            </a:rPr>
                          </m:ctrlPr>
                        </m:dPr>
                        <m:e>
                          <m:r>
                            <a:rPr lang="fr-FR" b="0" i="1" smtClean="0">
                              <a:latin typeface="Cambria Math"/>
                              <a:ea typeface="Cambria Math"/>
                            </a:rPr>
                            <m:t>𝑠</m:t>
                          </m:r>
                        </m:e>
                      </m:d>
                      <m:r>
                        <a:rPr lang="fr-FR" b="0" i="1" smtClean="0">
                          <a:latin typeface="Cambria Math"/>
                          <a:ea typeface="Cambria Math"/>
                        </a:rPr>
                        <m:t>=</m:t>
                      </m:r>
                      <m:sSub>
                        <m:sSubPr>
                          <m:ctrlPr>
                            <a:rPr lang="fr-FR" i="1">
                              <a:latin typeface="Cambria Math" panose="02040503050406030204" pitchFamily="18" charset="0"/>
                            </a:rPr>
                          </m:ctrlPr>
                        </m:sSubPr>
                        <m:e>
                          <m:r>
                            <m:rPr>
                              <m:sty m:val="p"/>
                            </m:rPr>
                            <a:rPr lang="fr-FR">
                              <a:latin typeface="Cambria Math"/>
                            </a:rPr>
                            <m:t>a</m:t>
                          </m:r>
                        </m:e>
                        <m:sub>
                          <m:r>
                            <a:rPr lang="fr-FR" i="1">
                              <a:latin typeface="Cambria Math"/>
                            </a:rPr>
                            <m:t>𝑗</m:t>
                          </m:r>
                        </m:sub>
                      </m:sSub>
                      <m:sSup>
                        <m:sSupPr>
                          <m:ctrlPr>
                            <a:rPr lang="fr-FR" i="1" smtClean="0">
                              <a:latin typeface="Cambria Math" panose="02040503050406030204" pitchFamily="18" charset="0"/>
                            </a:rPr>
                          </m:ctrlPr>
                        </m:sSupPr>
                        <m:e>
                          <m:r>
                            <a:rPr lang="fr-FR" i="1">
                              <a:latin typeface="Cambria Math"/>
                            </a:rPr>
                            <m:t>(</m:t>
                          </m:r>
                          <m:r>
                            <a:rPr lang="fr-FR" i="1">
                              <a:latin typeface="Cambria Math"/>
                            </a:rPr>
                            <m:t>𝑠</m:t>
                          </m:r>
                          <m:r>
                            <a:rPr lang="fr-FR" i="1">
                              <a:latin typeface="Cambria Math"/>
                            </a:rPr>
                            <m:t>+</m:t>
                          </m:r>
                          <m:sSub>
                            <m:sSubPr>
                              <m:ctrlPr>
                                <a:rPr lang="fr-FR" i="1">
                                  <a:latin typeface="Cambria Math" panose="02040503050406030204" pitchFamily="18" charset="0"/>
                                </a:rPr>
                              </m:ctrlPr>
                            </m:sSubPr>
                            <m:e>
                              <m:r>
                                <a:rPr lang="fr-FR" i="1">
                                  <a:latin typeface="Cambria Math"/>
                                  <a:ea typeface="Cambria Math"/>
                                </a:rPr>
                                <m:t>𝜔</m:t>
                              </m:r>
                            </m:e>
                            <m:sub>
                              <m:r>
                                <a:rPr lang="fr-FR" i="1">
                                  <a:latin typeface="Cambria Math"/>
                                </a:rPr>
                                <m:t>𝑗</m:t>
                              </m:r>
                            </m:sub>
                          </m:sSub>
                          <m:r>
                            <a:rPr lang="fr-FR" i="1">
                              <a:latin typeface="Cambria Math"/>
                            </a:rPr>
                            <m:t>)</m:t>
                          </m:r>
                        </m:e>
                        <m:sup>
                          <m:r>
                            <a:rPr lang="fr-FR" b="0" i="1" smtClean="0">
                              <a:latin typeface="Cambria Math"/>
                            </a:rPr>
                            <m:t>3</m:t>
                          </m:r>
                        </m:sup>
                      </m:sSup>
                    </m:oMath>
                  </m:oMathPara>
                </a14:m>
                <a:endParaRPr lang="fr-FR" dirty="0"/>
              </a:p>
              <a:p>
                <a:pPr marL="0" indent="0">
                  <a:buNone/>
                </a:pPr>
                <a:endParaRPr lang="fr-FR" dirty="0"/>
              </a:p>
              <a:p>
                <a:pPr marL="0" indent="0" algn="just">
                  <a:buNone/>
                </a:pPr>
                <a14:m>
                  <m:oMath xmlns:m="http://schemas.openxmlformats.org/officeDocument/2006/math">
                    <m:sSub>
                      <m:sSubPr>
                        <m:ctrlPr>
                          <a:rPr lang="fr-FR" i="1" smtClean="0">
                            <a:latin typeface="Cambria Math" panose="02040503050406030204" pitchFamily="18" charset="0"/>
                          </a:rPr>
                        </m:ctrlPr>
                      </m:sSubPr>
                      <m:e>
                        <m:r>
                          <a:rPr lang="fr-FR" i="1" smtClean="0">
                            <a:latin typeface="Cambria Math"/>
                            <a:ea typeface="Cambria Math"/>
                          </a:rPr>
                          <m:t>𝜔</m:t>
                        </m:r>
                      </m:e>
                      <m:sub>
                        <m:r>
                          <a:rPr lang="fr-FR" b="0" i="1" smtClean="0">
                            <a:latin typeface="Cambria Math"/>
                          </a:rPr>
                          <m:t>𝑗</m:t>
                        </m:r>
                      </m:sub>
                    </m:sSub>
                  </m:oMath>
                </a14:m>
                <a:r>
                  <a:rPr lang="fr-FR" b="0" dirty="0">
                    <a:ea typeface="Cambria Math"/>
                  </a:rPr>
                  <a:t> doit être positive et permet d’imposer la vitesse de convergence. Les gains sont alors calculés comme suit :</a:t>
                </a:r>
                <a:endParaRPr lang="fr-FR"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fr-FR" i="1" smtClean="0">
                              <a:solidFill>
                                <a:schemeClr val="tx1"/>
                              </a:solidFill>
                              <a:latin typeface="Cambria Math" panose="02040503050406030204" pitchFamily="18" charset="0"/>
                            </a:rPr>
                          </m:ctrlPr>
                        </m:dPr>
                        <m:e>
                          <m:eqArr>
                            <m:eqArrPr>
                              <m:ctrlPr>
                                <a:rPr lang="fr-FR" i="1" smtClean="0">
                                  <a:solidFill>
                                    <a:schemeClr val="tx1"/>
                                  </a:solidFill>
                                  <a:latin typeface="Cambria Math" panose="02040503050406030204" pitchFamily="18" charset="0"/>
                                </a:rPr>
                              </m:ctrlPr>
                            </m:eqArrPr>
                            <m:e>
                              <m:sSub>
                                <m:sSubPr>
                                  <m:ctrlPr>
                                    <a:rPr lang="fr-FR" i="1" smtClean="0">
                                      <a:solidFill>
                                        <a:schemeClr val="tx1"/>
                                      </a:solidFill>
                                      <a:latin typeface="Cambria Math" panose="02040503050406030204" pitchFamily="18" charset="0"/>
                                    </a:rPr>
                                  </m:ctrlPr>
                                </m:sSubPr>
                                <m:e>
                                  <m:r>
                                    <a:rPr lang="fr-FR" b="0" i="1" smtClean="0">
                                      <a:solidFill>
                                        <a:schemeClr val="tx1"/>
                                      </a:solidFill>
                                      <a:latin typeface="Cambria Math"/>
                                    </a:rPr>
                                    <m:t>𝑘</m:t>
                                  </m:r>
                                </m:e>
                                <m:sub>
                                  <m:sSub>
                                    <m:sSubPr>
                                      <m:ctrlPr>
                                        <a:rPr lang="fr-FR" i="1" smtClean="0">
                                          <a:solidFill>
                                            <a:schemeClr val="tx1"/>
                                          </a:solidFill>
                                          <a:latin typeface="Cambria Math" panose="02040503050406030204" pitchFamily="18" charset="0"/>
                                        </a:rPr>
                                      </m:ctrlPr>
                                    </m:sSubPr>
                                    <m:e>
                                      <m:r>
                                        <a:rPr lang="fr-FR" b="0" i="1" smtClean="0">
                                          <a:solidFill>
                                            <a:schemeClr val="tx1"/>
                                          </a:solidFill>
                                          <a:latin typeface="Cambria Math"/>
                                        </a:rPr>
                                        <m:t>𝑃</m:t>
                                      </m:r>
                                    </m:e>
                                    <m:sub>
                                      <m:r>
                                        <a:rPr lang="fr-FR" b="0" i="1" smtClean="0">
                                          <a:solidFill>
                                            <a:schemeClr val="tx1"/>
                                          </a:solidFill>
                                          <a:latin typeface="Cambria Math"/>
                                        </a:rPr>
                                        <m:t>𝑗</m:t>
                                      </m:r>
                                    </m:sub>
                                  </m:sSub>
                                </m:sub>
                              </m:sSub>
                              <m:r>
                                <a:rPr lang="fr-FR" b="0" i="1" smtClean="0">
                                  <a:solidFill>
                                    <a:schemeClr val="tx1"/>
                                  </a:solidFill>
                                  <a:latin typeface="Cambria Math"/>
                                </a:rPr>
                                <m:t>=3</m:t>
                              </m:r>
                              <m:sSub>
                                <m:sSubPr>
                                  <m:ctrlPr>
                                    <a:rPr lang="fr-FR" i="1">
                                      <a:solidFill>
                                        <a:schemeClr val="tx1"/>
                                      </a:solidFill>
                                      <a:latin typeface="Cambria Math" panose="02040503050406030204" pitchFamily="18" charset="0"/>
                                    </a:rPr>
                                  </m:ctrlPr>
                                </m:sSubPr>
                                <m:e>
                                  <m:r>
                                    <m:rPr>
                                      <m:sty m:val="p"/>
                                    </m:rPr>
                                    <a:rPr lang="fr-FR">
                                      <a:solidFill>
                                        <a:schemeClr val="tx1"/>
                                      </a:solidFill>
                                      <a:latin typeface="Cambria Math"/>
                                    </a:rPr>
                                    <m:t>a</m:t>
                                  </m:r>
                                </m:e>
                                <m:sub>
                                  <m:r>
                                    <a:rPr lang="fr-FR" i="1">
                                      <a:solidFill>
                                        <a:schemeClr val="tx1"/>
                                      </a:solidFill>
                                      <a:latin typeface="Cambria Math"/>
                                    </a:rPr>
                                    <m:t>𝑗</m:t>
                                  </m:r>
                                </m:sub>
                              </m:sSub>
                              <m:sSup>
                                <m:sSupPr>
                                  <m:ctrlPr>
                                    <a:rPr lang="fr-FR" i="1" smtClean="0">
                                      <a:solidFill>
                                        <a:schemeClr val="tx1"/>
                                      </a:solidFill>
                                      <a:latin typeface="Cambria Math" panose="02040503050406030204" pitchFamily="18" charset="0"/>
                                    </a:rPr>
                                  </m:ctrlPr>
                                </m:sSupPr>
                                <m:e>
                                  <m:sSub>
                                    <m:sSubPr>
                                      <m:ctrlPr>
                                        <a:rPr lang="fr-FR" i="1" smtClean="0">
                                          <a:solidFill>
                                            <a:schemeClr val="tx1"/>
                                          </a:solidFill>
                                          <a:latin typeface="Cambria Math" panose="02040503050406030204" pitchFamily="18" charset="0"/>
                                        </a:rPr>
                                      </m:ctrlPr>
                                    </m:sSubPr>
                                    <m:e>
                                      <m:r>
                                        <a:rPr lang="fr-FR" i="1" smtClean="0">
                                          <a:solidFill>
                                            <a:schemeClr val="tx1"/>
                                          </a:solidFill>
                                          <a:latin typeface="Cambria Math"/>
                                          <a:ea typeface="Cambria Math"/>
                                        </a:rPr>
                                        <m:t>𝜔</m:t>
                                      </m:r>
                                    </m:e>
                                    <m:sub>
                                      <m:r>
                                        <a:rPr lang="fr-FR" b="0" i="1" smtClean="0">
                                          <a:solidFill>
                                            <a:schemeClr val="tx1"/>
                                          </a:solidFill>
                                          <a:latin typeface="Cambria Math"/>
                                        </a:rPr>
                                        <m:t>𝑗</m:t>
                                      </m:r>
                                    </m:sub>
                                  </m:sSub>
                                </m:e>
                                <m:sup>
                                  <m:r>
                                    <a:rPr lang="fr-FR" b="0" i="1" smtClean="0">
                                      <a:solidFill>
                                        <a:schemeClr val="tx1"/>
                                      </a:solidFill>
                                      <a:latin typeface="Cambria Math"/>
                                    </a:rPr>
                                    <m:t>2</m:t>
                                  </m:r>
                                </m:sup>
                              </m:sSup>
                            </m:e>
                            <m:e>
                              <m:sSub>
                                <m:sSubPr>
                                  <m:ctrlPr>
                                    <a:rPr lang="fr-FR" i="1">
                                      <a:solidFill>
                                        <a:schemeClr val="tx1"/>
                                      </a:solidFill>
                                      <a:latin typeface="Cambria Math" panose="02040503050406030204" pitchFamily="18" charset="0"/>
                                    </a:rPr>
                                  </m:ctrlPr>
                                </m:sSubPr>
                                <m:e>
                                  <m:r>
                                    <a:rPr lang="fr-FR" i="1">
                                      <a:solidFill>
                                        <a:schemeClr val="tx1"/>
                                      </a:solidFill>
                                      <a:latin typeface="Cambria Math"/>
                                    </a:rPr>
                                    <m:t>𝑘</m:t>
                                  </m:r>
                                </m:e>
                                <m:sub>
                                  <m:sSub>
                                    <m:sSubPr>
                                      <m:ctrlPr>
                                        <a:rPr lang="fr-FR" i="1">
                                          <a:solidFill>
                                            <a:schemeClr val="tx1"/>
                                          </a:solidFill>
                                          <a:latin typeface="Cambria Math" panose="02040503050406030204" pitchFamily="18" charset="0"/>
                                        </a:rPr>
                                      </m:ctrlPr>
                                    </m:sSubPr>
                                    <m:e>
                                      <m:r>
                                        <a:rPr lang="fr-FR" i="1">
                                          <a:solidFill>
                                            <a:schemeClr val="tx1"/>
                                          </a:solidFill>
                                          <a:latin typeface="Cambria Math"/>
                                        </a:rPr>
                                        <m:t>𝐼</m:t>
                                      </m:r>
                                    </m:e>
                                    <m:sub>
                                      <m:r>
                                        <a:rPr lang="fr-FR" i="1">
                                          <a:solidFill>
                                            <a:schemeClr val="tx1"/>
                                          </a:solidFill>
                                          <a:latin typeface="Cambria Math"/>
                                        </a:rPr>
                                        <m:t>𝑗</m:t>
                                      </m:r>
                                    </m:sub>
                                  </m:sSub>
                                </m:sub>
                              </m:sSub>
                              <m:r>
                                <a:rPr lang="fr-FR" b="0" i="1" smtClean="0">
                                  <a:solidFill>
                                    <a:schemeClr val="tx1"/>
                                  </a:solidFill>
                                  <a:latin typeface="Cambria Math"/>
                                </a:rPr>
                                <m:t>=</m:t>
                              </m:r>
                              <m:sSub>
                                <m:sSubPr>
                                  <m:ctrlPr>
                                    <a:rPr lang="fr-FR" i="1">
                                      <a:latin typeface="Cambria Math" panose="02040503050406030204" pitchFamily="18" charset="0"/>
                                    </a:rPr>
                                  </m:ctrlPr>
                                </m:sSubPr>
                                <m:e>
                                  <m:r>
                                    <m:rPr>
                                      <m:sty m:val="p"/>
                                    </m:rPr>
                                    <a:rPr lang="fr-FR">
                                      <a:latin typeface="Cambria Math"/>
                                    </a:rPr>
                                    <m:t>a</m:t>
                                  </m:r>
                                </m:e>
                                <m:sub>
                                  <m:r>
                                    <a:rPr lang="fr-FR" i="1">
                                      <a:latin typeface="Cambria Math"/>
                                    </a:rPr>
                                    <m:t>𝑗</m:t>
                                  </m:r>
                                </m:sub>
                              </m:sSub>
                              <m:sSup>
                                <m:sSupPr>
                                  <m:ctrlPr>
                                    <a:rPr lang="fr-FR" i="1" smtClean="0">
                                      <a:latin typeface="Cambria Math" panose="02040503050406030204" pitchFamily="18" charset="0"/>
                                    </a:rPr>
                                  </m:ctrlPr>
                                </m:sSupPr>
                                <m:e>
                                  <m:sSub>
                                    <m:sSubPr>
                                      <m:ctrlPr>
                                        <a:rPr lang="fr-FR" i="1" smtClean="0">
                                          <a:latin typeface="Cambria Math" panose="02040503050406030204" pitchFamily="18" charset="0"/>
                                        </a:rPr>
                                      </m:ctrlPr>
                                    </m:sSubPr>
                                    <m:e>
                                      <m:r>
                                        <a:rPr lang="fr-FR" i="1" smtClean="0">
                                          <a:latin typeface="Cambria Math"/>
                                          <a:ea typeface="Cambria Math"/>
                                        </a:rPr>
                                        <m:t>𝜔</m:t>
                                      </m:r>
                                    </m:e>
                                    <m:sub>
                                      <m:r>
                                        <a:rPr lang="fr-FR" b="0" i="1" smtClean="0">
                                          <a:latin typeface="Cambria Math"/>
                                        </a:rPr>
                                        <m:t>𝑗</m:t>
                                      </m:r>
                                    </m:sub>
                                  </m:sSub>
                                </m:e>
                                <m:sup>
                                  <m:r>
                                    <a:rPr lang="fr-FR" b="0" i="1" smtClean="0">
                                      <a:latin typeface="Cambria Math"/>
                                    </a:rPr>
                                    <m:t>3</m:t>
                                  </m:r>
                                </m:sup>
                              </m:sSup>
                            </m:e>
                            <m:e>
                              <m:sSub>
                                <m:sSubPr>
                                  <m:ctrlPr>
                                    <a:rPr lang="fr-FR" i="1" smtClean="0">
                                      <a:solidFill>
                                        <a:schemeClr val="tx1"/>
                                      </a:solidFill>
                                      <a:latin typeface="Cambria Math" panose="02040503050406030204" pitchFamily="18" charset="0"/>
                                    </a:rPr>
                                  </m:ctrlPr>
                                </m:sSubPr>
                                <m:e>
                                  <m:r>
                                    <a:rPr lang="fr-FR" i="1">
                                      <a:solidFill>
                                        <a:schemeClr val="tx1"/>
                                      </a:solidFill>
                                      <a:latin typeface="Cambria Math"/>
                                    </a:rPr>
                                    <m:t>𝑘</m:t>
                                  </m:r>
                                </m:e>
                                <m:sub>
                                  <m:sSub>
                                    <m:sSubPr>
                                      <m:ctrlPr>
                                        <a:rPr lang="fr-FR" i="1">
                                          <a:solidFill>
                                            <a:schemeClr val="tx1"/>
                                          </a:solidFill>
                                          <a:latin typeface="Cambria Math" panose="02040503050406030204" pitchFamily="18" charset="0"/>
                                        </a:rPr>
                                      </m:ctrlPr>
                                    </m:sSubPr>
                                    <m:e>
                                      <m:r>
                                        <a:rPr lang="fr-FR" i="1">
                                          <a:solidFill>
                                            <a:schemeClr val="tx1"/>
                                          </a:solidFill>
                                          <a:latin typeface="Cambria Math"/>
                                        </a:rPr>
                                        <m:t>𝐷</m:t>
                                      </m:r>
                                    </m:e>
                                    <m:sub>
                                      <m:r>
                                        <a:rPr lang="fr-FR" i="1">
                                          <a:solidFill>
                                            <a:schemeClr val="tx1"/>
                                          </a:solidFill>
                                          <a:latin typeface="Cambria Math"/>
                                        </a:rPr>
                                        <m:t>𝑗</m:t>
                                      </m:r>
                                    </m:sub>
                                  </m:sSub>
                                </m:sub>
                              </m:sSub>
                              <m:r>
                                <a:rPr lang="fr-FR" b="0" i="1" smtClean="0">
                                  <a:solidFill>
                                    <a:schemeClr val="tx1"/>
                                  </a:solidFill>
                                  <a:latin typeface="Cambria Math"/>
                                </a:rPr>
                                <m:t>=3</m:t>
                              </m:r>
                              <m:sSub>
                                <m:sSubPr>
                                  <m:ctrlPr>
                                    <a:rPr lang="fr-FR" i="1">
                                      <a:latin typeface="Cambria Math" panose="02040503050406030204" pitchFamily="18" charset="0"/>
                                    </a:rPr>
                                  </m:ctrlPr>
                                </m:sSubPr>
                                <m:e>
                                  <m:r>
                                    <m:rPr>
                                      <m:sty m:val="p"/>
                                    </m:rPr>
                                    <a:rPr lang="fr-FR">
                                      <a:latin typeface="Cambria Math"/>
                                    </a:rPr>
                                    <m:t>a</m:t>
                                  </m:r>
                                </m:e>
                                <m:sub>
                                  <m:r>
                                    <a:rPr lang="fr-FR" i="1">
                                      <a:latin typeface="Cambria Math"/>
                                    </a:rPr>
                                    <m:t>𝑗</m:t>
                                  </m:r>
                                </m:sub>
                              </m:sSub>
                              <m:sSub>
                                <m:sSubPr>
                                  <m:ctrlPr>
                                    <a:rPr lang="fr-FR" i="1" smtClean="0">
                                      <a:latin typeface="Cambria Math" panose="02040503050406030204" pitchFamily="18" charset="0"/>
                                    </a:rPr>
                                  </m:ctrlPr>
                                </m:sSubPr>
                                <m:e>
                                  <m:r>
                                    <a:rPr lang="fr-FR" i="1" smtClean="0">
                                      <a:latin typeface="Cambria Math"/>
                                      <a:ea typeface="Cambria Math"/>
                                    </a:rPr>
                                    <m:t>𝜔</m:t>
                                  </m:r>
                                </m:e>
                                <m:sub>
                                  <m:r>
                                    <a:rPr lang="fr-FR" b="0" i="1" smtClean="0">
                                      <a:latin typeface="Cambria Math"/>
                                    </a:rPr>
                                    <m:t>𝑗</m:t>
                                  </m:r>
                                </m:sub>
                              </m:sSub>
                              <m:r>
                                <a:rPr lang="fr-FR" b="0" i="1" smtClean="0">
                                  <a:latin typeface="Cambria Math"/>
                                </a:rPr>
                                <m:t>−</m:t>
                              </m:r>
                              <m:sSub>
                                <m:sSubPr>
                                  <m:ctrlPr>
                                    <a:rPr lang="fr-FR" i="1">
                                      <a:latin typeface="Cambria Math" panose="02040503050406030204" pitchFamily="18" charset="0"/>
                                    </a:rPr>
                                  </m:ctrlPr>
                                </m:sSubPr>
                                <m:e>
                                  <m:r>
                                    <a:rPr lang="fr-FR" i="1">
                                      <a:latin typeface="Cambria Math"/>
                                    </a:rPr>
                                    <m:t>𝑓</m:t>
                                  </m:r>
                                </m:e>
                                <m:sub>
                                  <m:sSub>
                                    <m:sSubPr>
                                      <m:ctrlPr>
                                        <a:rPr lang="fr-FR" i="1">
                                          <a:latin typeface="Cambria Math" panose="02040503050406030204" pitchFamily="18" charset="0"/>
                                        </a:rPr>
                                      </m:ctrlPr>
                                    </m:sSubPr>
                                    <m:e>
                                      <m:r>
                                        <a:rPr lang="fr-FR" i="1">
                                          <a:latin typeface="Cambria Math"/>
                                        </a:rPr>
                                        <m:t>𝑣</m:t>
                                      </m:r>
                                    </m:e>
                                    <m:sub>
                                      <m:r>
                                        <a:rPr lang="fr-FR" i="1">
                                          <a:latin typeface="Cambria Math"/>
                                        </a:rPr>
                                        <m:t>𝑗</m:t>
                                      </m:r>
                                    </m:sub>
                                  </m:sSub>
                                </m:sub>
                              </m:sSub>
                            </m:e>
                          </m:eqArr>
                        </m:e>
                      </m:d>
                    </m:oMath>
                  </m:oMathPara>
                </a14:m>
                <a:endParaRPr lang="fr-FR"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3"/>
                <a:stretch>
                  <a:fillRect l="-584" t="-552" r="-657"/>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PID (espace articulaire)</a:t>
            </a:r>
          </a:p>
        </p:txBody>
      </p:sp>
    </p:spTree>
    <p:extLst>
      <p:ext uri="{BB962C8B-B14F-4D97-AF65-F5344CB8AC3E}">
        <p14:creationId xmlns:p14="http://schemas.microsoft.com/office/powerpoint/2010/main" val="36471805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r>
                  <a:rPr lang="fr-FR" dirty="0"/>
                  <a:t>Aspects </a:t>
                </a:r>
                <a:r>
                  <a:rPr lang="fr-FR"/>
                  <a:t>pratiques pour le </a:t>
                </a:r>
                <a:r>
                  <a:rPr lang="fr-FR" dirty="0"/>
                  <a:t>réglage des </a:t>
                </a:r>
                <a:r>
                  <a:rPr lang="fr-FR"/>
                  <a:t>gains :</a:t>
                </a:r>
              </a:p>
              <a:p>
                <a:pPr marL="0" indent="0">
                  <a:buNone/>
                </a:pPr>
                <a:endParaRPr lang="fr-FR" dirty="0"/>
              </a:p>
              <a:p>
                <a:pPr lvl="1"/>
                <a:r>
                  <a:rPr lang="fr-FR" dirty="0"/>
                  <a:t>Gains élevés diminuent l’erreur de suivi, mais mènent le système vers l’instabilité </a:t>
                </a:r>
              </a:p>
              <a:p>
                <a:pPr lvl="1">
                  <a:buFont typeface="Wingdings"/>
                  <a:buChar char="è"/>
                </a:pPr>
                <a:r>
                  <a:rPr lang="fr-FR" dirty="0">
                    <a:sym typeface="Wingdings" panose="05000000000000000000" pitchFamily="2" charset="2"/>
                  </a:rPr>
                  <a:t>Compromis pour le choix de la fréquence </a:t>
                </a:r>
                <a14:m>
                  <m:oMath xmlns:m="http://schemas.openxmlformats.org/officeDocument/2006/math">
                    <m:sSub>
                      <m:sSubPr>
                        <m:ctrlPr>
                          <a:rPr lang="fr-FR" i="1" smtClean="0">
                            <a:latin typeface="Cambria Math" panose="02040503050406030204" pitchFamily="18" charset="0"/>
                            <a:sym typeface="Wingdings" panose="05000000000000000000" pitchFamily="2" charset="2"/>
                          </a:rPr>
                        </m:ctrlPr>
                      </m:sSubPr>
                      <m:e>
                        <m:r>
                          <a:rPr lang="fr-FR" i="1" smtClean="0">
                            <a:latin typeface="Cambria Math"/>
                            <a:ea typeface="Cambria Math"/>
                            <a:sym typeface="Wingdings" panose="05000000000000000000" pitchFamily="2" charset="2"/>
                          </a:rPr>
                          <m:t>𝜔</m:t>
                        </m:r>
                      </m:e>
                      <m:sub>
                        <m:r>
                          <a:rPr lang="fr-FR" b="0" i="1" smtClean="0">
                            <a:latin typeface="Cambria Math"/>
                            <a:sym typeface="Wingdings" panose="05000000000000000000" pitchFamily="2" charset="2"/>
                          </a:rPr>
                          <m:t>𝑗</m:t>
                        </m:r>
                      </m:sub>
                    </m:sSub>
                  </m:oMath>
                </a14:m>
                <a:r>
                  <a:rPr lang="fr-FR" dirty="0"/>
                  <a:t> (rapidité vs. stabilité) :</a:t>
                </a:r>
              </a:p>
              <a:p>
                <a:pPr marL="366713" lvl="1" indent="0">
                  <a:buNone/>
                </a:pPr>
                <a:r>
                  <a:rPr lang="fr-FR" dirty="0"/>
                  <a:t>	</a:t>
                </a:r>
              </a:p>
              <a:p>
                <a:pPr marL="366713" lvl="1" indent="0">
                  <a:buNone/>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i="1" smtClean="0">
                              <a:latin typeface="Cambria Math"/>
                              <a:ea typeface="Cambria Math"/>
                            </a:rPr>
                            <m:t>𝜔</m:t>
                          </m:r>
                        </m:e>
                        <m:sub>
                          <m:r>
                            <a:rPr lang="fr-FR" b="0" i="1" smtClean="0">
                              <a:latin typeface="Cambria Math"/>
                            </a:rPr>
                            <m:t>𝑗</m:t>
                          </m:r>
                        </m:sub>
                      </m:sSub>
                      <m:r>
                        <a:rPr lang="fr-FR" b="0" i="1" smtClean="0">
                          <a:latin typeface="Cambria Math"/>
                        </a:rPr>
                        <m:t>&lt;</m:t>
                      </m:r>
                      <m:f>
                        <m:fPr>
                          <m:type m:val="lin"/>
                          <m:ctrlPr>
                            <a:rPr lang="fr-FR" b="0" i="1" smtClean="0">
                              <a:latin typeface="Cambria Math" panose="02040503050406030204" pitchFamily="18" charset="0"/>
                            </a:rPr>
                          </m:ctrlPr>
                        </m:fPr>
                        <m:num>
                          <m:sSub>
                            <m:sSubPr>
                              <m:ctrlPr>
                                <a:rPr lang="fr-FR" b="0" i="1" smtClean="0">
                                  <a:latin typeface="Cambria Math" panose="02040503050406030204" pitchFamily="18" charset="0"/>
                                </a:rPr>
                              </m:ctrlPr>
                            </m:sSubPr>
                            <m:e>
                              <m:r>
                                <a:rPr lang="fr-FR" b="0" i="1" smtClean="0">
                                  <a:latin typeface="Cambria Math"/>
                                  <a:ea typeface="Cambria Math"/>
                                </a:rPr>
                                <m:t>𝜔</m:t>
                              </m:r>
                            </m:e>
                            <m:sub>
                              <m:sSub>
                                <m:sSubPr>
                                  <m:ctrlPr>
                                    <a:rPr lang="fr-FR" b="0" i="1" smtClean="0">
                                      <a:latin typeface="Cambria Math" panose="02040503050406030204" pitchFamily="18" charset="0"/>
                                    </a:rPr>
                                  </m:ctrlPr>
                                </m:sSubPr>
                                <m:e>
                                  <m:r>
                                    <a:rPr lang="fr-FR" b="0" i="1" smtClean="0">
                                      <a:latin typeface="Cambria Math"/>
                                    </a:rPr>
                                    <m:t>𝑅</m:t>
                                  </m:r>
                                </m:e>
                                <m:sub>
                                  <m:r>
                                    <a:rPr lang="fr-FR" b="0" i="1" smtClean="0">
                                      <a:latin typeface="Cambria Math"/>
                                    </a:rPr>
                                    <m:t>𝑗</m:t>
                                  </m:r>
                                </m:sub>
                              </m:sSub>
                            </m:sub>
                          </m:sSub>
                        </m:num>
                        <m:den>
                          <m:r>
                            <a:rPr lang="fr-FR" b="0" i="1" smtClean="0">
                              <a:latin typeface="Cambria Math"/>
                            </a:rPr>
                            <m:t>2</m:t>
                          </m:r>
                        </m:den>
                      </m:f>
                    </m:oMath>
                  </m:oMathPara>
                </a14:m>
                <a:endParaRPr lang="fr-FR" dirty="0"/>
              </a:p>
              <a:p>
                <a:pPr marL="366713" lvl="1" indent="0">
                  <a:buNone/>
                </a:pPr>
                <a:endParaRPr lang="fr-FR" dirty="0"/>
              </a:p>
              <a:p>
                <a:pPr lvl="1"/>
                <a:r>
                  <a:rPr lang="fr-FR" dirty="0"/>
                  <a:t>Dans l’absence de l’action intégrale, l’erreur statique en position risque d’être affectée par la gravité </a:t>
                </a:r>
              </a:p>
              <a:p>
                <a:pPr lvl="1"/>
                <a:endParaRPr lang="fr-FR" dirty="0"/>
              </a:p>
              <a:p>
                <a:pPr lvl="1"/>
                <a:r>
                  <a:rPr lang="fr-FR" dirty="0"/>
                  <a:t>Le terme de prédiction </a:t>
                </a:r>
                <a14:m>
                  <m:oMath xmlns:m="http://schemas.openxmlformats.org/officeDocument/2006/math">
                    <m:sSub>
                      <m:sSubPr>
                        <m:ctrlPr>
                          <a:rPr lang="fr-FR" i="1" smtClean="0">
                            <a:latin typeface="Cambria Math" panose="02040503050406030204" pitchFamily="18" charset="0"/>
                          </a:rPr>
                        </m:ctrlPr>
                      </m:sSubPr>
                      <m:e>
                        <m:r>
                          <a:rPr lang="fr-FR" b="1" i="0" smtClean="0">
                            <a:latin typeface="Cambria Math"/>
                          </a:rPr>
                          <m:t>𝐊</m:t>
                        </m:r>
                      </m:e>
                      <m:sub>
                        <m:r>
                          <a:rPr lang="fr-FR" b="0" i="1" smtClean="0">
                            <a:latin typeface="Cambria Math"/>
                          </a:rPr>
                          <m:t>𝐷</m:t>
                        </m:r>
                      </m:sub>
                    </m:sSub>
                    <m:sSup>
                      <m:sSupPr>
                        <m:ctrlPr>
                          <a:rPr lang="fr-FR" i="1" smtClean="0">
                            <a:latin typeface="Cambria Math" panose="02040503050406030204" pitchFamily="18" charset="0"/>
                          </a:rPr>
                        </m:ctrlPr>
                      </m:sSupPr>
                      <m:e>
                        <m:acc>
                          <m:accPr>
                            <m:chr m:val="̇"/>
                            <m:ctrlPr>
                              <a:rPr lang="fr-FR" i="1" smtClean="0">
                                <a:latin typeface="Cambria Math" panose="02040503050406030204" pitchFamily="18" charset="0"/>
                              </a:rPr>
                            </m:ctrlPr>
                          </m:accPr>
                          <m:e>
                            <m:r>
                              <a:rPr lang="fr-FR" b="1" i="0" smtClean="0">
                                <a:latin typeface="Cambria Math"/>
                              </a:rPr>
                              <m:t>𝐪</m:t>
                            </m:r>
                          </m:e>
                        </m:acc>
                      </m:e>
                      <m:sup>
                        <m:r>
                          <a:rPr lang="fr-FR" b="0" i="1" smtClean="0">
                            <a:latin typeface="Cambria Math"/>
                          </a:rPr>
                          <m:t>𝑑</m:t>
                        </m:r>
                      </m:sup>
                    </m:sSup>
                  </m:oMath>
                </a14:m>
                <a:r>
                  <a:rPr lang="fr-FR" dirty="0"/>
                  <a:t> permet de réduire de manière significative l’erreur de suivi</a:t>
                </a:r>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3"/>
                <a:stretch>
                  <a:fillRect t="-552" r="-877"/>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PID (espace articulaire)</a:t>
            </a:r>
          </a:p>
        </p:txBody>
      </p:sp>
    </p:spTree>
    <p:extLst>
      <p:ext uri="{BB962C8B-B14F-4D97-AF65-F5344CB8AC3E}">
        <p14:creationId xmlns:p14="http://schemas.microsoft.com/office/powerpoint/2010/main" val="20062064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u contenu 1"/>
          <p:cNvSpPr>
            <a:spLocks noGrp="1"/>
          </p:cNvSpPr>
          <p:nvPr>
            <p:ph sz="quarter" idx="1"/>
          </p:nvPr>
        </p:nvSpPr>
        <p:spPr/>
        <p:txBody>
          <a:bodyPr/>
          <a:lstStyle/>
          <a:p>
            <a:r>
              <a:rPr lang="fr-FR" dirty="0"/>
              <a:t>Avantages :</a:t>
            </a:r>
          </a:p>
          <a:p>
            <a:pPr lvl="1"/>
            <a:r>
              <a:rPr lang="fr-FR" dirty="0"/>
              <a:t>Implémentation facile</a:t>
            </a:r>
          </a:p>
          <a:p>
            <a:pPr lvl="1"/>
            <a:r>
              <a:rPr lang="fr-FR" dirty="0"/>
              <a:t>Pas cher (ex. utilisation des codeurs embarqués sur les moteurs)</a:t>
            </a:r>
          </a:p>
          <a:p>
            <a:pPr marL="0" indent="0">
              <a:buNone/>
            </a:pPr>
            <a:endParaRPr lang="fr-FR" dirty="0"/>
          </a:p>
          <a:p>
            <a:r>
              <a:rPr lang="fr-FR" dirty="0"/>
              <a:t>Inconvénients :</a:t>
            </a:r>
          </a:p>
          <a:p>
            <a:pPr lvl="1"/>
            <a:r>
              <a:rPr lang="fr-FR" dirty="0"/>
              <a:t>Le schéma de commande ne permet pas de contrôler les variables de l’espace opérationnel </a:t>
            </a:r>
          </a:p>
          <a:p>
            <a:pPr marL="366713" lvl="1" indent="0">
              <a:buNone/>
            </a:pPr>
            <a:r>
              <a:rPr lang="fr-FR" dirty="0">
                <a:sym typeface="Wingdings" panose="05000000000000000000" pitchFamily="2" charset="2"/>
              </a:rPr>
              <a:t>	J</a:t>
            </a:r>
            <a:r>
              <a:rPr lang="fr-FR" dirty="0"/>
              <a:t>eu mécanique, élasticité et les frottements engendrent une perte en précision</a:t>
            </a:r>
          </a:p>
          <a:p>
            <a:pPr lvl="1"/>
            <a:r>
              <a:rPr lang="fr-FR" dirty="0"/>
              <a:t>Tâche spécifiée dans l’espace opérationnel</a:t>
            </a:r>
          </a:p>
          <a:p>
            <a:pPr lvl="1"/>
            <a:r>
              <a:rPr lang="fr-FR" dirty="0"/>
              <a:t>Dans le cas de suivi de trajectoire avec des vitesses élevées </a:t>
            </a:r>
          </a:p>
        </p:txBody>
      </p:sp>
      <p:sp>
        <p:nvSpPr>
          <p:cNvPr id="3" name="Titre 2"/>
          <p:cNvSpPr>
            <a:spLocks noGrp="1"/>
          </p:cNvSpPr>
          <p:nvPr>
            <p:ph type="title"/>
          </p:nvPr>
        </p:nvSpPr>
        <p:spPr/>
        <p:txBody>
          <a:bodyPr/>
          <a:lstStyle/>
          <a:p>
            <a:r>
              <a:rPr lang="fr-FR" dirty="0"/>
              <a:t>Commande PID (espace articulaire)</a:t>
            </a:r>
          </a:p>
        </p:txBody>
      </p:sp>
    </p:spTree>
    <p:extLst>
      <p:ext uri="{BB962C8B-B14F-4D97-AF65-F5344CB8AC3E}">
        <p14:creationId xmlns:p14="http://schemas.microsoft.com/office/powerpoint/2010/main" val="29954493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r>
                  <a:rPr lang="fr-FR" b="1" dirty="0"/>
                  <a:t>Schéma de principe : solution 1</a:t>
                </a:r>
              </a:p>
              <a:p>
                <a:pPr marL="0" indent="0">
                  <a:buNone/>
                </a:pPr>
                <a:endParaRPr lang="fr-FR" b="1" dirty="0"/>
              </a:p>
              <a:p>
                <a:pPr marL="0" indent="0">
                  <a:buNone/>
                </a:pPr>
                <a:endParaRPr lang="fr-FR" b="1" dirty="0"/>
              </a:p>
              <a:p>
                <a:pPr marL="0" indent="0">
                  <a:buNone/>
                </a:pPr>
                <a:endParaRPr lang="fr-FR" b="1" dirty="0"/>
              </a:p>
              <a:p>
                <a:pPr marL="0" indent="0">
                  <a:buNone/>
                </a:pPr>
                <a:endParaRPr lang="fr-FR" b="1" dirty="0"/>
              </a:p>
              <a:p>
                <a:pPr marL="0" indent="0">
                  <a:buNone/>
                </a:pPr>
                <a:endParaRPr lang="fr-FR" b="1" dirty="0"/>
              </a:p>
              <a:p>
                <a:pPr marL="0" indent="0">
                  <a:buNone/>
                </a:pPr>
                <a:endParaRPr lang="fr-FR" b="1" dirty="0"/>
              </a:p>
              <a:p>
                <a:pPr marL="0" indent="0">
                  <a:buNone/>
                </a:pPr>
                <a:endParaRPr lang="fr-FR" b="1" dirty="0"/>
              </a:p>
              <a:p>
                <a:pPr marL="0" indent="0">
                  <a:buNone/>
                </a:pPr>
                <a:r>
                  <a:rPr lang="fr-FR" dirty="0"/>
                  <a:t>MGD : </a:t>
                </a:r>
                <a14:m>
                  <m:oMath xmlns:m="http://schemas.openxmlformats.org/officeDocument/2006/math">
                    <m:r>
                      <a:rPr lang="fr-FR" b="1" i="0" smtClean="0">
                        <a:latin typeface="Cambria Math"/>
                      </a:rPr>
                      <m:t>𝐱</m:t>
                    </m:r>
                    <m:r>
                      <a:rPr lang="fr-FR" b="0" i="1" smtClean="0">
                        <a:latin typeface="Cambria Math"/>
                      </a:rPr>
                      <m:t>=</m:t>
                    </m:r>
                    <m:r>
                      <a:rPr lang="fr-FR" b="1" i="0" smtClean="0">
                        <a:latin typeface="Cambria Math"/>
                      </a:rPr>
                      <m:t>𝐠</m:t>
                    </m:r>
                    <m:d>
                      <m:dPr>
                        <m:ctrlPr>
                          <a:rPr lang="fr-FR" b="0" i="1" smtClean="0">
                            <a:latin typeface="Cambria Math" panose="02040503050406030204" pitchFamily="18" charset="0"/>
                          </a:rPr>
                        </m:ctrlPr>
                      </m:dPr>
                      <m:e>
                        <m:r>
                          <a:rPr lang="fr-FR" b="1" i="0" smtClean="0">
                            <a:latin typeface="Cambria Math"/>
                          </a:rPr>
                          <m:t>𝐪</m:t>
                        </m:r>
                      </m:e>
                    </m:d>
                  </m:oMath>
                </a14:m>
                <a:endParaRPr lang="fr-FR" dirty="0"/>
              </a:p>
              <a:p>
                <a:pPr marL="0" indent="0">
                  <a:buNone/>
                </a:pPr>
                <a:r>
                  <a:rPr lang="fr-FR" dirty="0"/>
                  <a:t>MCD : </a:t>
                </a:r>
                <a14:m>
                  <m:oMath xmlns:m="http://schemas.openxmlformats.org/officeDocument/2006/math">
                    <m:acc>
                      <m:accPr>
                        <m:chr m:val="̇"/>
                        <m:ctrlPr>
                          <a:rPr lang="fr-FR" i="1" smtClean="0">
                            <a:latin typeface="Cambria Math" panose="02040503050406030204" pitchFamily="18" charset="0"/>
                          </a:rPr>
                        </m:ctrlPr>
                      </m:accPr>
                      <m:e>
                        <m:r>
                          <a:rPr lang="fr-FR" b="1" i="0" smtClean="0">
                            <a:latin typeface="Cambria Math"/>
                          </a:rPr>
                          <m:t>𝐱</m:t>
                        </m:r>
                      </m:e>
                    </m:acc>
                    <m:r>
                      <a:rPr lang="fr-FR" b="0" i="1" smtClean="0">
                        <a:latin typeface="Cambria Math"/>
                      </a:rPr>
                      <m:t>=</m:t>
                    </m:r>
                    <m:r>
                      <a:rPr lang="fr-FR" b="1" i="0" smtClean="0">
                        <a:latin typeface="Cambria Math"/>
                      </a:rPr>
                      <m:t>𝐉</m:t>
                    </m:r>
                    <m:d>
                      <m:dPr>
                        <m:ctrlPr>
                          <a:rPr lang="fr-FR" b="0" i="1" smtClean="0">
                            <a:latin typeface="Cambria Math" panose="02040503050406030204" pitchFamily="18" charset="0"/>
                          </a:rPr>
                        </m:ctrlPr>
                      </m:dPr>
                      <m:e>
                        <m:r>
                          <a:rPr lang="fr-FR" b="1" i="0" smtClean="0">
                            <a:latin typeface="Cambria Math"/>
                          </a:rPr>
                          <m:t>𝐪</m:t>
                        </m:r>
                      </m:e>
                    </m:d>
                    <m:acc>
                      <m:accPr>
                        <m:chr m:val="̇"/>
                        <m:ctrlPr>
                          <a:rPr lang="fr-FR" b="0" i="1" smtClean="0">
                            <a:latin typeface="Cambria Math" panose="02040503050406030204" pitchFamily="18" charset="0"/>
                          </a:rPr>
                        </m:ctrlPr>
                      </m:accPr>
                      <m:e>
                        <m:r>
                          <a:rPr lang="fr-FR" b="1" i="0" smtClean="0">
                            <a:latin typeface="Cambria Math"/>
                          </a:rPr>
                          <m:t> </m:t>
                        </m:r>
                        <m:r>
                          <a:rPr lang="fr-FR" b="1" i="0" smtClean="0">
                            <a:latin typeface="Cambria Math"/>
                          </a:rPr>
                          <m:t>𝐪</m:t>
                        </m:r>
                      </m:e>
                    </m:acc>
                  </m:oMath>
                </a14:m>
                <a:r>
                  <a:rPr lang="fr-FR" dirty="0"/>
                  <a:t>		</a:t>
                </a:r>
                <a14:m>
                  <m:oMath xmlns:m="http://schemas.openxmlformats.org/officeDocument/2006/math">
                    <m:r>
                      <a:rPr lang="el-GR" b="1" i="0" smtClean="0">
                        <a:latin typeface="Cambria Math"/>
                        <a:ea typeface="Cambria Math"/>
                      </a:rPr>
                      <m:t>𝚫</m:t>
                    </m:r>
                    <m:r>
                      <a:rPr lang="fr-FR" b="1" i="0" smtClean="0">
                        <a:latin typeface="Cambria Math"/>
                        <a:ea typeface="Cambria Math"/>
                      </a:rPr>
                      <m:t>𝐱</m:t>
                    </m:r>
                    <m:r>
                      <a:rPr lang="fr-FR" b="0" i="1" smtClean="0">
                        <a:latin typeface="Cambria Math"/>
                        <a:ea typeface="Cambria Math"/>
                      </a:rPr>
                      <m:t>=</m:t>
                    </m:r>
                    <m:r>
                      <a:rPr lang="fr-FR" b="1">
                        <a:latin typeface="Cambria Math"/>
                      </a:rPr>
                      <m:t>𝐉</m:t>
                    </m:r>
                    <m:d>
                      <m:dPr>
                        <m:ctrlPr>
                          <a:rPr lang="fr-FR" i="1">
                            <a:latin typeface="Cambria Math" panose="02040503050406030204" pitchFamily="18" charset="0"/>
                          </a:rPr>
                        </m:ctrlPr>
                      </m:dPr>
                      <m:e>
                        <m:r>
                          <a:rPr lang="fr-FR" b="1">
                            <a:latin typeface="Cambria Math"/>
                          </a:rPr>
                          <m:t>𝐪</m:t>
                        </m:r>
                      </m:e>
                    </m:d>
                    <m:r>
                      <a:rPr lang="el-GR" b="1" i="0" smtClean="0">
                        <a:latin typeface="Cambria Math"/>
                        <a:ea typeface="Cambria Math"/>
                      </a:rPr>
                      <m:t>𝚫</m:t>
                    </m:r>
                    <m:r>
                      <a:rPr lang="fr-FR" b="1" i="0" smtClean="0">
                        <a:latin typeface="Cambria Math"/>
                        <a:ea typeface="Cambria Math"/>
                      </a:rPr>
                      <m:t>𝐪</m:t>
                    </m:r>
                    <m:r>
                      <a:rPr lang="fr-FR" b="1" i="0" smtClean="0">
                        <a:latin typeface="Cambria Math"/>
                        <a:ea typeface="Cambria Math"/>
                      </a:rPr>
                      <m:t>    </m:t>
                    </m:r>
                    <m:r>
                      <a:rPr lang="fr-FR" b="1" i="1" smtClean="0">
                        <a:latin typeface="Cambria Math"/>
                        <a:ea typeface="Cambria Math"/>
                      </a:rPr>
                      <m:t>⟹ </m:t>
                    </m:r>
                    <m:r>
                      <a:rPr lang="el-GR" b="1">
                        <a:latin typeface="Cambria Math"/>
                        <a:ea typeface="Cambria Math"/>
                      </a:rPr>
                      <m:t>𝚫</m:t>
                    </m:r>
                    <m:r>
                      <a:rPr lang="fr-FR" b="1">
                        <a:latin typeface="Cambria Math"/>
                        <a:ea typeface="Cambria Math"/>
                      </a:rPr>
                      <m:t>𝐪</m:t>
                    </m:r>
                    <m:r>
                      <a:rPr lang="fr-FR" b="1" i="0" smtClean="0">
                        <a:latin typeface="Cambria Math"/>
                        <a:ea typeface="Cambria Math"/>
                      </a:rPr>
                      <m:t>=</m:t>
                    </m:r>
                    <m:sSup>
                      <m:sSupPr>
                        <m:ctrlPr>
                          <a:rPr lang="fr-FR" b="1" i="1" smtClean="0">
                            <a:latin typeface="Cambria Math" panose="02040503050406030204" pitchFamily="18" charset="0"/>
                            <a:ea typeface="Cambria Math"/>
                          </a:rPr>
                        </m:ctrlPr>
                      </m:sSupPr>
                      <m:e>
                        <m:r>
                          <a:rPr lang="fr-FR" b="1" i="0" smtClean="0">
                            <a:latin typeface="Cambria Math"/>
                            <a:ea typeface="Cambria Math"/>
                          </a:rPr>
                          <m:t>𝐉</m:t>
                        </m:r>
                      </m:e>
                      <m:sup>
                        <m:r>
                          <a:rPr lang="fr-FR" b="1" i="0" smtClean="0">
                            <a:latin typeface="Cambria Math"/>
                            <a:ea typeface="Cambria Math"/>
                          </a:rPr>
                          <m:t>#</m:t>
                        </m:r>
                      </m:sup>
                    </m:sSup>
                    <m:d>
                      <m:dPr>
                        <m:ctrlPr>
                          <a:rPr lang="fr-FR" b="1" i="1" smtClean="0">
                            <a:latin typeface="Cambria Math" panose="02040503050406030204" pitchFamily="18" charset="0"/>
                            <a:ea typeface="Cambria Math"/>
                          </a:rPr>
                        </m:ctrlPr>
                      </m:dPr>
                      <m:e>
                        <m:r>
                          <a:rPr lang="fr-FR" b="1" i="0" smtClean="0">
                            <a:latin typeface="Cambria Math"/>
                            <a:ea typeface="Cambria Math"/>
                          </a:rPr>
                          <m:t>𝐪</m:t>
                        </m:r>
                      </m:e>
                    </m:d>
                  </m:oMath>
                </a14:m>
                <a:r>
                  <a:rPr lang="fr-FR" b="1" dirty="0"/>
                  <a:t> </a:t>
                </a:r>
                <a14:m>
                  <m:oMath xmlns:m="http://schemas.openxmlformats.org/officeDocument/2006/math">
                    <m:r>
                      <a:rPr lang="el-GR" b="1">
                        <a:latin typeface="Cambria Math"/>
                        <a:ea typeface="Cambria Math"/>
                      </a:rPr>
                      <m:t>𝚫</m:t>
                    </m:r>
                    <m:r>
                      <a:rPr lang="fr-FR" b="1">
                        <a:latin typeface="Cambria Math"/>
                        <a:ea typeface="Cambria Math"/>
                      </a:rPr>
                      <m:t>𝐱</m:t>
                    </m:r>
                  </m:oMath>
                </a14:m>
                <a:endParaRPr lang="fr-FR" b="1" dirty="0"/>
              </a:p>
              <a:p>
                <a:pPr marL="0" indent="0">
                  <a:buNone/>
                </a:pPr>
                <a:endParaRPr lang="fr-FR" b="1" dirty="0"/>
              </a:p>
              <a:p>
                <a:pPr marL="0" indent="0">
                  <a:buNone/>
                </a:pPr>
                <a:r>
                  <a:rPr lang="fr-FR" dirty="0"/>
                  <a:t>PID dans l’espace articulaire </a:t>
                </a:r>
                <a:r>
                  <a:rPr lang="fr-FR" dirty="0">
                    <a:sym typeface="Wingdings" panose="05000000000000000000" pitchFamily="2" charset="2"/>
                  </a:rPr>
                  <a:t></a:t>
                </a:r>
                <a14:m>
                  <m:oMath xmlns:m="http://schemas.openxmlformats.org/officeDocument/2006/math">
                    <m:r>
                      <a:rPr lang="fr-FR" b="1" i="1" smtClean="0">
                        <a:latin typeface="Cambria Math"/>
                        <a:ea typeface="Cambria Math"/>
                        <a:sym typeface="Wingdings" panose="05000000000000000000" pitchFamily="2" charset="2"/>
                      </a:rPr>
                      <m:t>𝚫</m:t>
                    </m:r>
                    <m:r>
                      <a:rPr lang="fr-FR" b="1" i="0" smtClean="0">
                        <a:latin typeface="Cambria Math"/>
                        <a:ea typeface="Cambria Math"/>
                        <a:sym typeface="Wingdings" panose="05000000000000000000" pitchFamily="2" charset="2"/>
                      </a:rPr>
                      <m:t>𝐪</m:t>
                    </m:r>
                    <m:r>
                      <a:rPr lang="fr-FR" b="1" i="1" smtClean="0">
                        <a:latin typeface="Cambria Math"/>
                        <a:ea typeface="Cambria Math"/>
                        <a:sym typeface="Wingdings" panose="05000000000000000000" pitchFamily="2" charset="2"/>
                      </a:rPr>
                      <m:t>⟶</m:t>
                    </m:r>
                    <m:r>
                      <a:rPr lang="fr-FR" b="1" i="1" smtClean="0">
                        <a:latin typeface="Cambria Math"/>
                        <a:ea typeface="Cambria Math"/>
                        <a:sym typeface="Wingdings" panose="05000000000000000000" pitchFamily="2" charset="2"/>
                      </a:rPr>
                      <m:t>𝟎</m:t>
                    </m:r>
                  </m:oMath>
                </a14:m>
                <a:endParaRPr lang="fr-FR" dirty="0"/>
              </a:p>
              <a:p>
                <a:pPr marL="0" indent="0">
                  <a:buNone/>
                </a:pPr>
                <a:r>
                  <a:rPr lang="fr-FR" dirty="0"/>
                  <a:t>Dans le cas des bras flexibles, non pris en compte dans la modélisation, l’erreur en position cartésienne </a:t>
                </a:r>
                <a14:m>
                  <m:oMath xmlns:m="http://schemas.openxmlformats.org/officeDocument/2006/math">
                    <m:r>
                      <a:rPr lang="el-GR" b="1" i="0" smtClean="0">
                        <a:latin typeface="Cambria Math"/>
                        <a:ea typeface="Cambria Math"/>
                      </a:rPr>
                      <m:t>𝚫</m:t>
                    </m:r>
                    <m:r>
                      <a:rPr lang="fr-FR" b="1" i="0" smtClean="0">
                        <a:latin typeface="Cambria Math"/>
                        <a:ea typeface="Cambria Math"/>
                      </a:rPr>
                      <m:t>𝐱</m:t>
                    </m:r>
                  </m:oMath>
                </a14:m>
                <a:r>
                  <a:rPr lang="fr-FR" dirty="0"/>
                  <a:t>  tend-elle vers </a:t>
                </a:r>
                <a:r>
                  <a:rPr lang="fr-FR" b="1" dirty="0"/>
                  <a:t>0 </a:t>
                </a:r>
                <a:r>
                  <a:rPr lang="fr-FR" dirty="0"/>
                  <a:t>?</a:t>
                </a:r>
              </a:p>
              <a:p>
                <a:pPr marL="0" indent="0">
                  <a:buNone/>
                </a:pPr>
                <a:r>
                  <a:rPr lang="fr-FR" dirty="0"/>
                  <a:t>Possibilité de mesurer </a:t>
                </a:r>
                <a14:m>
                  <m:oMath xmlns:m="http://schemas.openxmlformats.org/officeDocument/2006/math">
                    <m:r>
                      <a:rPr lang="fr-FR" b="1" i="0" smtClean="0">
                        <a:latin typeface="Cambria Math"/>
                      </a:rPr>
                      <m:t>𝐱</m:t>
                    </m:r>
                  </m:oMath>
                </a14:m>
                <a:r>
                  <a:rPr lang="fr-FR" b="1" dirty="0"/>
                  <a:t> </a:t>
                </a:r>
                <a:r>
                  <a:rPr lang="fr-FR" dirty="0"/>
                  <a:t>(capteur dans l’espace opérationnel)</a:t>
                </a:r>
                <a:r>
                  <a:rPr lang="fr-FR" b="1" dirty="0"/>
                  <a:t> </a:t>
                </a:r>
                <a:r>
                  <a:rPr lang="fr-FR" b="1" dirty="0">
                    <a:sym typeface="Wingdings" panose="05000000000000000000" pitchFamily="2" charset="2"/>
                  </a:rPr>
                  <a:t> </a:t>
                </a:r>
                <a:r>
                  <a:rPr lang="fr-FR" dirty="0">
                    <a:sym typeface="Wingdings" panose="05000000000000000000" pitchFamily="2" charset="2"/>
                  </a:rPr>
                  <a:t>coût supplémentaire </a:t>
                </a:r>
                <a:endParaRPr lang="fr-FR"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4"/>
                <a:stretch>
                  <a:fillRect l="-584" t="-552"/>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PID (espace opérationnel)</a:t>
            </a:r>
          </a:p>
        </p:txBody>
      </p:sp>
      <p:cxnSp>
        <p:nvCxnSpPr>
          <p:cNvPr id="5" name="Connecteur droit avec flèche 4"/>
          <p:cNvCxnSpPr/>
          <p:nvPr/>
        </p:nvCxnSpPr>
        <p:spPr>
          <a:xfrm>
            <a:off x="6789646" y="1984528"/>
            <a:ext cx="47513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 name="Connecteur droit avec flèche 5"/>
          <p:cNvCxnSpPr>
            <a:stCxn id="56" idx="3"/>
          </p:cNvCxnSpPr>
          <p:nvPr/>
        </p:nvCxnSpPr>
        <p:spPr>
          <a:xfrm>
            <a:off x="5338822" y="1951405"/>
            <a:ext cx="607162" cy="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ZoneTexte 6"/>
              <p:cNvSpPr txBox="1"/>
              <p:nvPr/>
            </p:nvSpPr>
            <p:spPr>
              <a:xfrm>
                <a:off x="6780121" y="1667187"/>
                <a:ext cx="343363"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sz="1400" b="1" i="0" smtClean="0">
                          <a:latin typeface="Cambria Math"/>
                        </a:rPr>
                        <m:t>𝐪</m:t>
                      </m:r>
                    </m:oMath>
                  </m:oMathPara>
                </a14:m>
                <a:endParaRPr lang="fr-FR" sz="1400" dirty="0"/>
              </a:p>
            </p:txBody>
          </p:sp>
        </mc:Choice>
        <mc:Fallback xmlns="">
          <p:sp>
            <p:nvSpPr>
              <p:cNvPr id="7" name="ZoneTexte 6"/>
              <p:cNvSpPr txBox="1">
                <a:spLocks noRot="1" noChangeAspect="1" noMove="1" noResize="1" noEditPoints="1" noAdjustHandles="1" noChangeArrowheads="1" noChangeShapeType="1" noTextEdit="1"/>
              </p:cNvSpPr>
              <p:nvPr/>
            </p:nvSpPr>
            <p:spPr>
              <a:xfrm>
                <a:off x="6780121" y="1667187"/>
                <a:ext cx="343363" cy="307777"/>
              </a:xfrm>
              <a:prstGeom prst="rect">
                <a:avLst/>
              </a:prstGeom>
              <a:blipFill rotWithShape="1">
                <a:blip r:embed="rId5"/>
                <a:stretch>
                  <a:fillRect b="-1961"/>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 name="ZoneTexte 7"/>
              <p:cNvSpPr txBox="1"/>
              <p:nvPr/>
            </p:nvSpPr>
            <p:spPr>
              <a:xfrm>
                <a:off x="5467441" y="1670609"/>
                <a:ext cx="33534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l-GR" sz="1400" b="1">
                          <a:latin typeface="Cambria Math"/>
                          <a:ea typeface="Cambria Math"/>
                        </a:rPr>
                        <m:t>𝚪</m:t>
                      </m:r>
                    </m:oMath>
                  </m:oMathPara>
                </a14:m>
                <a:endParaRPr lang="fr-FR" sz="1400" dirty="0"/>
              </a:p>
            </p:txBody>
          </p:sp>
        </mc:Choice>
        <mc:Fallback xmlns="">
          <p:sp>
            <p:nvSpPr>
              <p:cNvPr id="8" name="ZoneTexte 7"/>
              <p:cNvSpPr txBox="1">
                <a:spLocks noRot="1" noChangeAspect="1" noMove="1" noResize="1" noEditPoints="1" noAdjustHandles="1" noChangeArrowheads="1" noChangeShapeType="1" noTextEdit="1"/>
              </p:cNvSpPr>
              <p:nvPr/>
            </p:nvSpPr>
            <p:spPr>
              <a:xfrm>
                <a:off x="5467441" y="1670609"/>
                <a:ext cx="335348" cy="307777"/>
              </a:xfrm>
              <a:prstGeom prst="rect">
                <a:avLst/>
              </a:prstGeom>
              <a:blipFill rotWithShape="1">
                <a:blip r:embed="rId6"/>
                <a:stretch>
                  <a:fillRect/>
                </a:stretch>
              </a:blipFill>
            </p:spPr>
            <p:txBody>
              <a:bodyPr/>
              <a:lstStyle/>
              <a:p>
                <a:r>
                  <a:rPr lang="fr-FR">
                    <a:noFill/>
                  </a:rPr>
                  <a:t> </a:t>
                </a:r>
              </a:p>
            </p:txBody>
          </p:sp>
        </mc:Fallback>
      </mc:AlternateContent>
      <p:cxnSp>
        <p:nvCxnSpPr>
          <p:cNvPr id="11" name="Connecteur droit avec flèche 10"/>
          <p:cNvCxnSpPr/>
          <p:nvPr/>
        </p:nvCxnSpPr>
        <p:spPr>
          <a:xfrm flipV="1">
            <a:off x="1903282" y="1955197"/>
            <a:ext cx="523281" cy="571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 name="Connecteur droit avec flèche 11"/>
          <p:cNvCxnSpPr/>
          <p:nvPr/>
        </p:nvCxnSpPr>
        <p:spPr>
          <a:xfrm flipV="1">
            <a:off x="2659133" y="1949482"/>
            <a:ext cx="523281"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3" name="Connecteur droit 12"/>
          <p:cNvCxnSpPr/>
          <p:nvPr/>
        </p:nvCxnSpPr>
        <p:spPr>
          <a:xfrm flipV="1">
            <a:off x="2534564" y="2091917"/>
            <a:ext cx="0" cy="1146231"/>
          </a:xfrm>
          <a:prstGeom prst="line">
            <a:avLst/>
          </a:prstGeom>
          <a:ln w="38100">
            <a:headEnd type="none"/>
            <a:tailEnd type="arrow"/>
          </a:ln>
        </p:spPr>
        <p:style>
          <a:lnRef idx="1">
            <a:schemeClr val="accent1"/>
          </a:lnRef>
          <a:fillRef idx="0">
            <a:schemeClr val="accent1"/>
          </a:fillRef>
          <a:effectRef idx="0">
            <a:schemeClr val="accent1"/>
          </a:effectRef>
          <a:fontRef idx="minor">
            <a:schemeClr val="tx1"/>
          </a:fontRef>
        </p:style>
      </p:cxnSp>
      <p:cxnSp>
        <p:nvCxnSpPr>
          <p:cNvPr id="14" name="Connecteur droit 13"/>
          <p:cNvCxnSpPr/>
          <p:nvPr/>
        </p:nvCxnSpPr>
        <p:spPr>
          <a:xfrm>
            <a:off x="4926740" y="3238145"/>
            <a:ext cx="2034587" cy="0"/>
          </a:xfrm>
          <a:prstGeom prst="line">
            <a:avLst/>
          </a:prstGeom>
          <a:ln w="38100">
            <a:headEnd type="arrow"/>
            <a:tailEnd type="none"/>
          </a:ln>
        </p:spPr>
        <p:style>
          <a:lnRef idx="1">
            <a:schemeClr val="accent1"/>
          </a:lnRef>
          <a:fillRef idx="0">
            <a:schemeClr val="accent1"/>
          </a:fillRef>
          <a:effectRef idx="0">
            <a:schemeClr val="accent1"/>
          </a:effectRef>
          <a:fontRef idx="minor">
            <a:schemeClr val="tx1"/>
          </a:fontRef>
        </p:style>
      </p:cxnSp>
      <p:cxnSp>
        <p:nvCxnSpPr>
          <p:cNvPr id="15" name="Connecteur droit 14"/>
          <p:cNvCxnSpPr/>
          <p:nvPr/>
        </p:nvCxnSpPr>
        <p:spPr>
          <a:xfrm flipV="1">
            <a:off x="6961327" y="1979364"/>
            <a:ext cx="623" cy="125878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8" name="Ellipse 17"/>
          <p:cNvSpPr/>
          <p:nvPr/>
        </p:nvSpPr>
        <p:spPr>
          <a:xfrm>
            <a:off x="2426564" y="1851274"/>
            <a:ext cx="216000" cy="21600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sp>
        <p:nvSpPr>
          <p:cNvPr id="29" name="ZoneTexte 28"/>
          <p:cNvSpPr txBox="1"/>
          <p:nvPr/>
        </p:nvSpPr>
        <p:spPr>
          <a:xfrm>
            <a:off x="5973904" y="1796901"/>
            <a:ext cx="815742" cy="307777"/>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sz="1400" dirty="0"/>
              <a:t>Robot</a:t>
            </a:r>
          </a:p>
        </p:txBody>
      </p:sp>
      <mc:AlternateContent xmlns:mc="http://schemas.openxmlformats.org/markup-compatibility/2006" xmlns:a14="http://schemas.microsoft.com/office/drawing/2010/main">
        <mc:Choice Requires="a14">
          <p:sp>
            <p:nvSpPr>
              <p:cNvPr id="36" name="ZoneTexte 35"/>
              <p:cNvSpPr txBox="1"/>
              <p:nvPr/>
            </p:nvSpPr>
            <p:spPr>
              <a:xfrm>
                <a:off x="1848931" y="1662660"/>
                <a:ext cx="435760" cy="31585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sz="1400" b="1" i="1" smtClean="0">
                              <a:latin typeface="Cambria Math" panose="02040503050406030204" pitchFamily="18" charset="0"/>
                            </a:rPr>
                          </m:ctrlPr>
                        </m:sSupPr>
                        <m:e>
                          <m:r>
                            <a:rPr lang="fr-FR" sz="1400" b="1" i="0" smtClean="0">
                              <a:latin typeface="Cambria Math"/>
                            </a:rPr>
                            <m:t>𝐱</m:t>
                          </m:r>
                        </m:e>
                        <m:sup>
                          <m:r>
                            <a:rPr lang="fr-FR" sz="1400" b="1" i="1" smtClean="0">
                              <a:latin typeface="Cambria Math"/>
                            </a:rPr>
                            <m:t>𝒅</m:t>
                          </m:r>
                        </m:sup>
                      </m:sSup>
                    </m:oMath>
                  </m:oMathPara>
                </a14:m>
                <a:endParaRPr lang="fr-FR" sz="1400" dirty="0"/>
              </a:p>
            </p:txBody>
          </p:sp>
        </mc:Choice>
        <mc:Fallback xmlns="">
          <p:sp>
            <p:nvSpPr>
              <p:cNvPr id="36" name="ZoneTexte 35"/>
              <p:cNvSpPr txBox="1">
                <a:spLocks noRot="1" noChangeAspect="1" noMove="1" noResize="1" noEditPoints="1" noAdjustHandles="1" noChangeArrowheads="1" noChangeShapeType="1" noTextEdit="1"/>
              </p:cNvSpPr>
              <p:nvPr/>
            </p:nvSpPr>
            <p:spPr>
              <a:xfrm>
                <a:off x="1848931" y="1662660"/>
                <a:ext cx="435760" cy="315856"/>
              </a:xfrm>
              <a:prstGeom prst="rect">
                <a:avLst/>
              </a:prstGeom>
              <a:blipFill rotWithShape="1">
                <a:blip r:embed="rId7"/>
                <a:stretch>
                  <a:fillRect/>
                </a:stretch>
              </a:blipFill>
            </p:spPr>
            <p:txBody>
              <a:bodyPr/>
              <a:lstStyle/>
              <a:p>
                <a:r>
                  <a:rPr lang="fr-FR">
                    <a:noFill/>
                  </a:rPr>
                  <a:t> </a:t>
                </a:r>
              </a:p>
            </p:txBody>
          </p:sp>
        </mc:Fallback>
      </mc:AlternateContent>
      <p:graphicFrame>
        <p:nvGraphicFramePr>
          <p:cNvPr id="38" name="Objet 37"/>
          <p:cNvGraphicFramePr>
            <a:graphicFrameLocks noChangeAspect="1"/>
          </p:cNvGraphicFramePr>
          <p:nvPr>
            <p:extLst>
              <p:ext uri="{D42A27DB-BD31-4B8C-83A1-F6EECF244321}">
                <p14:modId xmlns:p14="http://schemas.microsoft.com/office/powerpoint/2010/main" val="361553286"/>
              </p:ext>
            </p:extLst>
          </p:nvPr>
        </p:nvGraphicFramePr>
        <p:xfrm>
          <a:off x="2313266" y="2250075"/>
          <a:ext cx="175720" cy="113158"/>
        </p:xfrm>
        <a:graphic>
          <a:graphicData uri="http://schemas.openxmlformats.org/presentationml/2006/ole">
            <mc:AlternateContent xmlns:mc="http://schemas.openxmlformats.org/markup-compatibility/2006">
              <mc:Choice xmlns:v="urn:schemas-microsoft-com:vml" Requires="v">
                <p:oleObj name="Equation" r:id="rId8" imgW="139639" imgH="101556" progId="Equation.DSMT4">
                  <p:embed/>
                </p:oleObj>
              </mc:Choice>
              <mc:Fallback>
                <p:oleObj name="Equation" r:id="rId8" imgW="139639" imgH="101556"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13266" y="2250075"/>
                        <a:ext cx="175720" cy="113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 name="Objet 42"/>
          <p:cNvGraphicFramePr>
            <a:graphicFrameLocks noChangeAspect="1"/>
          </p:cNvGraphicFramePr>
          <p:nvPr>
            <p:extLst>
              <p:ext uri="{D42A27DB-BD31-4B8C-83A1-F6EECF244321}">
                <p14:modId xmlns:p14="http://schemas.microsoft.com/office/powerpoint/2010/main" val="2299902637"/>
              </p:ext>
            </p:extLst>
          </p:nvPr>
        </p:nvGraphicFramePr>
        <p:xfrm>
          <a:off x="2160768" y="2006105"/>
          <a:ext cx="125413" cy="111125"/>
        </p:xfrm>
        <a:graphic>
          <a:graphicData uri="http://schemas.openxmlformats.org/presentationml/2006/ole">
            <mc:AlternateContent xmlns:mc="http://schemas.openxmlformats.org/markup-compatibility/2006">
              <mc:Choice xmlns:v="urn:schemas-microsoft-com:vml" Requires="v">
                <p:oleObj name="Equation" r:id="rId10" imgW="139700" imgH="139700" progId="Equation.DSMT4">
                  <p:embed/>
                </p:oleObj>
              </mc:Choice>
              <mc:Fallback>
                <p:oleObj name="Equation" r:id="rId10" imgW="139700" imgH="1397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60768" y="2006105"/>
                        <a:ext cx="125413" cy="11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44" name="Connecteur droit 43"/>
          <p:cNvCxnSpPr/>
          <p:nvPr/>
        </p:nvCxnSpPr>
        <p:spPr>
          <a:xfrm>
            <a:off x="2545348" y="3238146"/>
            <a:ext cx="1837804" cy="1"/>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5" name="ZoneTexte 44"/>
          <p:cNvSpPr txBox="1"/>
          <p:nvPr/>
        </p:nvSpPr>
        <p:spPr>
          <a:xfrm>
            <a:off x="4298527" y="3084259"/>
            <a:ext cx="628213" cy="307777"/>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sz="1400" dirty="0"/>
              <a:t>MGD</a:t>
            </a:r>
          </a:p>
        </p:txBody>
      </p:sp>
      <p:cxnSp>
        <p:nvCxnSpPr>
          <p:cNvPr id="49" name="Connecteur droit avec flèche 48"/>
          <p:cNvCxnSpPr>
            <a:stCxn id="48" idx="3"/>
          </p:cNvCxnSpPr>
          <p:nvPr/>
        </p:nvCxnSpPr>
        <p:spPr>
          <a:xfrm flipV="1">
            <a:off x="3818985" y="1949482"/>
            <a:ext cx="744013"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ZoneTexte 50"/>
              <p:cNvSpPr txBox="1"/>
              <p:nvPr/>
            </p:nvSpPr>
            <p:spPr>
              <a:xfrm>
                <a:off x="3654517" y="2930368"/>
                <a:ext cx="32893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sz="1400" b="1" i="0" smtClean="0">
                          <a:latin typeface="Cambria Math"/>
                        </a:rPr>
                        <m:t>𝐱</m:t>
                      </m:r>
                    </m:oMath>
                  </m:oMathPara>
                </a14:m>
                <a:endParaRPr lang="fr-FR" sz="1400" dirty="0"/>
              </a:p>
            </p:txBody>
          </p:sp>
        </mc:Choice>
        <mc:Fallback xmlns="">
          <p:sp>
            <p:nvSpPr>
              <p:cNvPr id="51" name="ZoneTexte 50"/>
              <p:cNvSpPr txBox="1">
                <a:spLocks noRot="1" noChangeAspect="1" noMove="1" noResize="1" noEditPoints="1" noAdjustHandles="1" noChangeArrowheads="1" noChangeShapeType="1" noTextEdit="1"/>
              </p:cNvSpPr>
              <p:nvPr/>
            </p:nvSpPr>
            <p:spPr>
              <a:xfrm>
                <a:off x="3654517" y="2930368"/>
                <a:ext cx="328936" cy="307777"/>
              </a:xfrm>
              <a:prstGeom prst="rect">
                <a:avLst/>
              </a:prstGeom>
              <a:blipFill rotWithShape="1">
                <a:blip r:embed="rId12"/>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6" name="ZoneTexte 55"/>
              <p:cNvSpPr txBox="1"/>
              <p:nvPr/>
            </p:nvSpPr>
            <p:spPr>
              <a:xfrm>
                <a:off x="4562998" y="1797516"/>
                <a:ext cx="775824" cy="307777"/>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r>
                        <a:rPr lang="fr-FR" sz="1400" b="1" i="0" smtClean="0">
                          <a:latin typeface="Cambria Math"/>
                        </a:rPr>
                        <m:t>𝐏𝐈𝐃</m:t>
                      </m:r>
                      <m:d>
                        <m:dPr>
                          <m:ctrlPr>
                            <a:rPr lang="fr-FR" sz="1400" b="1" i="1" smtClean="0">
                              <a:latin typeface="Cambria Math" panose="02040503050406030204" pitchFamily="18" charset="0"/>
                            </a:rPr>
                          </m:ctrlPr>
                        </m:dPr>
                        <m:e>
                          <m:r>
                            <a:rPr lang="fr-FR" sz="1400" b="1" i="0" smtClean="0">
                              <a:latin typeface="Cambria Math"/>
                            </a:rPr>
                            <m:t>𝐪</m:t>
                          </m:r>
                        </m:e>
                      </m:d>
                    </m:oMath>
                  </m:oMathPara>
                </a14:m>
                <a:endParaRPr lang="fr-FR" sz="1400" b="1" dirty="0"/>
              </a:p>
            </p:txBody>
          </p:sp>
        </mc:Choice>
        <mc:Fallback xmlns="">
          <p:sp>
            <p:nvSpPr>
              <p:cNvPr id="56" name="ZoneTexte 55"/>
              <p:cNvSpPr txBox="1">
                <a:spLocks noRot="1" noChangeAspect="1" noMove="1" noResize="1" noEditPoints="1" noAdjustHandles="1" noChangeArrowheads="1" noChangeShapeType="1" noTextEdit="1"/>
              </p:cNvSpPr>
              <p:nvPr/>
            </p:nvSpPr>
            <p:spPr>
              <a:xfrm>
                <a:off x="4562998" y="1797516"/>
                <a:ext cx="775824" cy="307777"/>
              </a:xfrm>
              <a:prstGeom prst="rect">
                <a:avLst/>
              </a:prstGeom>
              <a:blipFill rotWithShape="1">
                <a:blip r:embed="rId13"/>
                <a:stretch>
                  <a:fillRect/>
                </a:stretch>
              </a:blipFill>
              <a:ln w="25400"/>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8" name="ZoneTexte 47"/>
              <p:cNvSpPr txBox="1"/>
              <p:nvPr/>
            </p:nvSpPr>
            <p:spPr>
              <a:xfrm>
                <a:off x="3186109" y="1795593"/>
                <a:ext cx="632876" cy="311624"/>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sSup>
                        <m:sSupPr>
                          <m:ctrlPr>
                            <a:rPr lang="fr-FR" sz="1400" i="1" smtClean="0">
                              <a:latin typeface="Cambria Math" panose="02040503050406030204" pitchFamily="18" charset="0"/>
                            </a:rPr>
                          </m:ctrlPr>
                        </m:sSupPr>
                        <m:e>
                          <m:r>
                            <a:rPr lang="fr-FR" sz="1400" b="1" i="0" smtClean="0">
                              <a:latin typeface="Cambria Math"/>
                            </a:rPr>
                            <m:t>𝐉</m:t>
                          </m:r>
                        </m:e>
                        <m:sup>
                          <m:r>
                            <a:rPr lang="fr-FR" sz="1400" b="0" i="1" smtClean="0">
                              <a:latin typeface="Cambria Math"/>
                            </a:rPr>
                            <m:t>#</m:t>
                          </m:r>
                        </m:sup>
                      </m:sSup>
                      <m:d>
                        <m:dPr>
                          <m:ctrlPr>
                            <a:rPr lang="fr-FR" sz="1400" b="0" i="1" smtClean="0">
                              <a:latin typeface="Cambria Math" panose="02040503050406030204" pitchFamily="18" charset="0"/>
                            </a:rPr>
                          </m:ctrlPr>
                        </m:dPr>
                        <m:e>
                          <m:r>
                            <a:rPr lang="fr-FR" sz="1400" b="1" i="0" smtClean="0">
                              <a:latin typeface="Cambria Math"/>
                            </a:rPr>
                            <m:t>𝐪</m:t>
                          </m:r>
                        </m:e>
                      </m:d>
                    </m:oMath>
                  </m:oMathPara>
                </a14:m>
                <a:endParaRPr lang="fr-FR" sz="1400" dirty="0"/>
              </a:p>
            </p:txBody>
          </p:sp>
        </mc:Choice>
        <mc:Fallback xmlns="">
          <p:sp>
            <p:nvSpPr>
              <p:cNvPr id="48" name="ZoneTexte 47"/>
              <p:cNvSpPr txBox="1">
                <a:spLocks noRot="1" noChangeAspect="1" noMove="1" noResize="1" noEditPoints="1" noAdjustHandles="1" noChangeArrowheads="1" noChangeShapeType="1" noTextEdit="1"/>
              </p:cNvSpPr>
              <p:nvPr/>
            </p:nvSpPr>
            <p:spPr>
              <a:xfrm>
                <a:off x="3186109" y="1795593"/>
                <a:ext cx="632876" cy="311624"/>
              </a:xfrm>
              <a:prstGeom prst="rect">
                <a:avLst/>
              </a:prstGeom>
              <a:blipFill rotWithShape="1">
                <a:blip r:embed="rId14"/>
                <a:stretch>
                  <a:fillRect/>
                </a:stretch>
              </a:blipFill>
              <a:ln w="25400"/>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2" name="ZoneTexte 61"/>
              <p:cNvSpPr txBox="1"/>
              <p:nvPr/>
            </p:nvSpPr>
            <p:spPr>
              <a:xfrm>
                <a:off x="3950541" y="1631788"/>
                <a:ext cx="465191"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l-GR" sz="1400" b="1" i="0" smtClean="0">
                          <a:latin typeface="Cambria Math"/>
                          <a:ea typeface="Cambria Math"/>
                        </a:rPr>
                        <m:t>𝚫</m:t>
                      </m:r>
                      <m:r>
                        <a:rPr lang="fr-FR" sz="1400" b="1" i="0" smtClean="0">
                          <a:latin typeface="Cambria Math"/>
                          <a:ea typeface="Cambria Math"/>
                        </a:rPr>
                        <m:t>𝐪</m:t>
                      </m:r>
                    </m:oMath>
                  </m:oMathPara>
                </a14:m>
                <a:endParaRPr lang="fr-FR" sz="1400" b="1" dirty="0"/>
              </a:p>
            </p:txBody>
          </p:sp>
        </mc:Choice>
        <mc:Fallback xmlns="">
          <p:sp>
            <p:nvSpPr>
              <p:cNvPr id="62" name="ZoneTexte 61"/>
              <p:cNvSpPr txBox="1">
                <a:spLocks noRot="1" noChangeAspect="1" noMove="1" noResize="1" noEditPoints="1" noAdjustHandles="1" noChangeArrowheads="1" noChangeShapeType="1" noTextEdit="1"/>
              </p:cNvSpPr>
              <p:nvPr/>
            </p:nvSpPr>
            <p:spPr>
              <a:xfrm>
                <a:off x="3950541" y="1631788"/>
                <a:ext cx="465191" cy="307777"/>
              </a:xfrm>
              <a:prstGeom prst="rect">
                <a:avLst/>
              </a:prstGeom>
              <a:blipFill rotWithShape="1">
                <a:blip r:embed="rId15"/>
                <a:stretch>
                  <a:fillRect b="-4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3" name="ZoneTexte 62"/>
              <p:cNvSpPr txBox="1"/>
              <p:nvPr/>
            </p:nvSpPr>
            <p:spPr>
              <a:xfrm>
                <a:off x="2640083" y="1659958"/>
                <a:ext cx="460382"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l-GR" sz="1400" b="1" i="0" smtClean="0">
                          <a:latin typeface="Cambria Math"/>
                          <a:ea typeface="Cambria Math"/>
                        </a:rPr>
                        <m:t>𝚫</m:t>
                      </m:r>
                      <m:r>
                        <a:rPr lang="fr-FR" sz="1400" b="1" i="0" smtClean="0">
                          <a:latin typeface="Cambria Math"/>
                          <a:ea typeface="Cambria Math"/>
                        </a:rPr>
                        <m:t>𝐱</m:t>
                      </m:r>
                    </m:oMath>
                  </m:oMathPara>
                </a14:m>
                <a:endParaRPr lang="fr-FR" sz="1400" b="1" dirty="0"/>
              </a:p>
            </p:txBody>
          </p:sp>
        </mc:Choice>
        <mc:Fallback xmlns="">
          <p:sp>
            <p:nvSpPr>
              <p:cNvPr id="63" name="ZoneTexte 62"/>
              <p:cNvSpPr txBox="1">
                <a:spLocks noRot="1" noChangeAspect="1" noMove="1" noResize="1" noEditPoints="1" noAdjustHandles="1" noChangeArrowheads="1" noChangeShapeType="1" noTextEdit="1"/>
              </p:cNvSpPr>
              <p:nvPr/>
            </p:nvSpPr>
            <p:spPr>
              <a:xfrm>
                <a:off x="2640083" y="1659958"/>
                <a:ext cx="460382" cy="307777"/>
              </a:xfrm>
              <a:prstGeom prst="rect">
                <a:avLst/>
              </a:prstGeom>
              <a:blipFill rotWithShape="1">
                <a:blip r:embed="rId16"/>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21463136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r>
                  <a:rPr lang="fr-FR" b="1" dirty="0"/>
                  <a:t>Schéma de principe : solution 2</a:t>
                </a:r>
              </a:p>
              <a:p>
                <a:pPr marL="0" indent="0">
                  <a:buNone/>
                </a:pPr>
                <a:endParaRPr lang="fr-FR" b="1" dirty="0"/>
              </a:p>
              <a:p>
                <a:pPr marL="0" indent="0">
                  <a:buNone/>
                </a:pPr>
                <a:endParaRPr lang="fr-FR" b="1" dirty="0"/>
              </a:p>
              <a:p>
                <a:pPr marL="0" indent="0">
                  <a:buNone/>
                </a:pPr>
                <a:endParaRPr lang="fr-FR" b="1" dirty="0"/>
              </a:p>
              <a:p>
                <a:pPr marL="0" indent="0">
                  <a:buNone/>
                </a:pPr>
                <a:endParaRPr lang="fr-FR" b="1" dirty="0"/>
              </a:p>
              <a:p>
                <a:pPr marL="0" indent="0">
                  <a:buNone/>
                </a:pPr>
                <a:endParaRPr lang="fr-FR" b="1" dirty="0"/>
              </a:p>
              <a:p>
                <a:pPr marL="0" indent="0">
                  <a:buNone/>
                </a:pPr>
                <a:endParaRPr lang="fr-FR" b="1" dirty="0"/>
              </a:p>
              <a:p>
                <a:pPr marL="0" indent="0">
                  <a:buNone/>
                </a:pPr>
                <a:endParaRPr lang="fr-FR" dirty="0"/>
              </a:p>
              <a:p>
                <a:pPr marL="0" indent="0">
                  <a:buNone/>
                </a:pPr>
                <a:r>
                  <a:rPr lang="fr-FR" dirty="0"/>
                  <a:t>Modèle statique en effort : </a:t>
                </a:r>
                <a14:m>
                  <m:oMath xmlns:m="http://schemas.openxmlformats.org/officeDocument/2006/math">
                    <m:r>
                      <a:rPr lang="el-GR" b="1" i="0" smtClean="0">
                        <a:latin typeface="Cambria Math"/>
                        <a:ea typeface="Cambria Math"/>
                      </a:rPr>
                      <m:t>𝚪</m:t>
                    </m:r>
                    <m:r>
                      <a:rPr lang="fr-FR" b="0" i="1" smtClean="0">
                        <a:latin typeface="Cambria Math"/>
                        <a:ea typeface="Cambria Math"/>
                      </a:rPr>
                      <m:t>=</m:t>
                    </m:r>
                    <m:sSup>
                      <m:sSupPr>
                        <m:ctrlPr>
                          <a:rPr lang="fr-FR" b="0" i="1" smtClean="0">
                            <a:latin typeface="Cambria Math" panose="02040503050406030204" pitchFamily="18" charset="0"/>
                            <a:ea typeface="Cambria Math"/>
                          </a:rPr>
                        </m:ctrlPr>
                      </m:sSupPr>
                      <m:e>
                        <m:r>
                          <a:rPr lang="fr-FR" b="1" i="0" smtClean="0">
                            <a:latin typeface="Cambria Math"/>
                            <a:ea typeface="Cambria Math"/>
                          </a:rPr>
                          <m:t>𝐉</m:t>
                        </m:r>
                      </m:e>
                      <m:sup>
                        <m:r>
                          <a:rPr lang="fr-FR" b="0" i="1" smtClean="0">
                            <a:latin typeface="Cambria Math"/>
                            <a:ea typeface="Cambria Math"/>
                          </a:rPr>
                          <m:t>𝑇</m:t>
                        </m:r>
                      </m:sup>
                    </m:sSup>
                    <m:d>
                      <m:dPr>
                        <m:ctrlPr>
                          <a:rPr lang="fr-FR" b="0" i="1" smtClean="0">
                            <a:latin typeface="Cambria Math" panose="02040503050406030204" pitchFamily="18" charset="0"/>
                            <a:ea typeface="Cambria Math"/>
                          </a:rPr>
                        </m:ctrlPr>
                      </m:dPr>
                      <m:e>
                        <m:r>
                          <a:rPr lang="fr-FR" b="1" i="0" smtClean="0">
                            <a:latin typeface="Cambria Math"/>
                            <a:ea typeface="Cambria Math"/>
                          </a:rPr>
                          <m:t>𝐪</m:t>
                        </m:r>
                      </m:e>
                    </m:d>
                    <m:sSub>
                      <m:sSubPr>
                        <m:ctrlPr>
                          <a:rPr lang="fr-FR" b="1" i="1" smtClean="0">
                            <a:latin typeface="Cambria Math" panose="02040503050406030204" pitchFamily="18" charset="0"/>
                            <a:ea typeface="Cambria Math"/>
                          </a:rPr>
                        </m:ctrlPr>
                      </m:sSubPr>
                      <m:e>
                        <m:r>
                          <a:rPr lang="fr-FR" b="1" i="0" smtClean="0">
                            <a:latin typeface="Cambria Math"/>
                            <a:ea typeface="Cambria Math"/>
                          </a:rPr>
                          <m:t> </m:t>
                        </m:r>
                        <m:r>
                          <a:rPr lang="fr-FR" b="1" i="0" smtClean="0">
                            <a:latin typeface="Cambria Math"/>
                            <a:ea typeface="Cambria Math"/>
                          </a:rPr>
                          <m:t>𝕗</m:t>
                        </m:r>
                      </m:e>
                      <m:sub>
                        <m:r>
                          <m:rPr>
                            <m:sty m:val="p"/>
                          </m:rPr>
                          <a:rPr lang="fr-FR" b="0" i="0" smtClean="0">
                            <a:latin typeface="Cambria Math"/>
                            <a:ea typeface="Cambria Math"/>
                          </a:rPr>
                          <m:t>c</m:t>
                        </m:r>
                      </m:sub>
                    </m:sSub>
                  </m:oMath>
                </a14:m>
                <a:endParaRPr lang="fr-FR" b="1" dirty="0"/>
              </a:p>
              <a:p>
                <a:pPr marL="0" indent="0">
                  <a:buNone/>
                </a:pPr>
                <a:r>
                  <a:rPr lang="fr-FR" dirty="0"/>
                  <a:t>Avantage : </a:t>
                </a:r>
              </a:p>
              <a:p>
                <a:r>
                  <a:rPr lang="fr-FR" dirty="0"/>
                  <a:t>Pas besoin d’inverser la matrice </a:t>
                </a:r>
                <a:r>
                  <a:rPr lang="fr-FR" dirty="0" err="1"/>
                  <a:t>jacobienne</a:t>
                </a:r>
                <a:r>
                  <a:rPr lang="fr-FR" dirty="0"/>
                  <a:t> </a:t>
                </a:r>
              </a:p>
              <a:p>
                <a:endParaRPr lang="fr-FR" dirty="0"/>
              </a:p>
              <a:p>
                <a:endParaRPr lang="fr-FR"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4"/>
                <a:stretch>
                  <a:fillRect l="-584" t="-552"/>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PID (espace opérationnel)</a:t>
            </a:r>
          </a:p>
        </p:txBody>
      </p:sp>
      <p:cxnSp>
        <p:nvCxnSpPr>
          <p:cNvPr id="5" name="Connecteur droit avec flèche 4"/>
          <p:cNvCxnSpPr/>
          <p:nvPr/>
        </p:nvCxnSpPr>
        <p:spPr>
          <a:xfrm>
            <a:off x="6789646" y="1984528"/>
            <a:ext cx="47513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 name="Connecteur droit avec flèche 5"/>
          <p:cNvCxnSpPr>
            <a:stCxn id="56" idx="3"/>
          </p:cNvCxnSpPr>
          <p:nvPr/>
        </p:nvCxnSpPr>
        <p:spPr>
          <a:xfrm flipV="1">
            <a:off x="5338822" y="1951408"/>
            <a:ext cx="607162" cy="18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ZoneTexte 6"/>
              <p:cNvSpPr txBox="1"/>
              <p:nvPr/>
            </p:nvSpPr>
            <p:spPr>
              <a:xfrm>
                <a:off x="6780121" y="1667187"/>
                <a:ext cx="343363"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sz="1400" b="1" i="0" smtClean="0">
                          <a:latin typeface="Cambria Math"/>
                        </a:rPr>
                        <m:t>𝐪</m:t>
                      </m:r>
                    </m:oMath>
                  </m:oMathPara>
                </a14:m>
                <a:endParaRPr lang="fr-FR" sz="1400" dirty="0"/>
              </a:p>
            </p:txBody>
          </p:sp>
        </mc:Choice>
        <mc:Fallback xmlns="">
          <p:sp>
            <p:nvSpPr>
              <p:cNvPr id="7" name="ZoneTexte 6"/>
              <p:cNvSpPr txBox="1">
                <a:spLocks noRot="1" noChangeAspect="1" noMove="1" noResize="1" noEditPoints="1" noAdjustHandles="1" noChangeArrowheads="1" noChangeShapeType="1" noTextEdit="1"/>
              </p:cNvSpPr>
              <p:nvPr/>
            </p:nvSpPr>
            <p:spPr>
              <a:xfrm>
                <a:off x="6780121" y="1667187"/>
                <a:ext cx="343363" cy="307777"/>
              </a:xfrm>
              <a:prstGeom prst="rect">
                <a:avLst/>
              </a:prstGeom>
              <a:blipFill rotWithShape="1">
                <a:blip r:embed="rId5"/>
                <a:stretch>
                  <a:fillRect b="-1961"/>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 name="ZoneTexte 7"/>
              <p:cNvSpPr txBox="1"/>
              <p:nvPr/>
            </p:nvSpPr>
            <p:spPr>
              <a:xfrm>
                <a:off x="5467441" y="1670609"/>
                <a:ext cx="33534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l-GR" sz="1400" b="1">
                          <a:latin typeface="Cambria Math"/>
                          <a:ea typeface="Cambria Math"/>
                        </a:rPr>
                        <m:t>𝚪</m:t>
                      </m:r>
                    </m:oMath>
                  </m:oMathPara>
                </a14:m>
                <a:endParaRPr lang="fr-FR" sz="1400" dirty="0"/>
              </a:p>
            </p:txBody>
          </p:sp>
        </mc:Choice>
        <mc:Fallback xmlns="">
          <p:sp>
            <p:nvSpPr>
              <p:cNvPr id="8" name="ZoneTexte 7"/>
              <p:cNvSpPr txBox="1">
                <a:spLocks noRot="1" noChangeAspect="1" noMove="1" noResize="1" noEditPoints="1" noAdjustHandles="1" noChangeArrowheads="1" noChangeShapeType="1" noTextEdit="1"/>
              </p:cNvSpPr>
              <p:nvPr/>
            </p:nvSpPr>
            <p:spPr>
              <a:xfrm>
                <a:off x="5467441" y="1670609"/>
                <a:ext cx="335348" cy="307777"/>
              </a:xfrm>
              <a:prstGeom prst="rect">
                <a:avLst/>
              </a:prstGeom>
              <a:blipFill rotWithShape="1">
                <a:blip r:embed="rId6"/>
                <a:stretch>
                  <a:fillRect/>
                </a:stretch>
              </a:blipFill>
            </p:spPr>
            <p:txBody>
              <a:bodyPr/>
              <a:lstStyle/>
              <a:p>
                <a:r>
                  <a:rPr lang="fr-FR">
                    <a:noFill/>
                  </a:rPr>
                  <a:t> </a:t>
                </a:r>
              </a:p>
            </p:txBody>
          </p:sp>
        </mc:Fallback>
      </mc:AlternateContent>
      <p:cxnSp>
        <p:nvCxnSpPr>
          <p:cNvPr id="11" name="Connecteur droit avec flèche 10"/>
          <p:cNvCxnSpPr/>
          <p:nvPr/>
        </p:nvCxnSpPr>
        <p:spPr>
          <a:xfrm flipV="1">
            <a:off x="1903282" y="1955197"/>
            <a:ext cx="523281" cy="571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 name="Connecteur droit avec flèche 11"/>
          <p:cNvCxnSpPr/>
          <p:nvPr/>
        </p:nvCxnSpPr>
        <p:spPr>
          <a:xfrm flipV="1">
            <a:off x="2659133" y="1949482"/>
            <a:ext cx="523281"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3" name="Connecteur droit 12"/>
          <p:cNvCxnSpPr/>
          <p:nvPr/>
        </p:nvCxnSpPr>
        <p:spPr>
          <a:xfrm flipV="1">
            <a:off x="2534564" y="2091917"/>
            <a:ext cx="0" cy="1146231"/>
          </a:xfrm>
          <a:prstGeom prst="line">
            <a:avLst/>
          </a:prstGeom>
          <a:ln w="38100">
            <a:headEnd type="none"/>
            <a:tailEnd type="arrow"/>
          </a:ln>
        </p:spPr>
        <p:style>
          <a:lnRef idx="1">
            <a:schemeClr val="accent1"/>
          </a:lnRef>
          <a:fillRef idx="0">
            <a:schemeClr val="accent1"/>
          </a:fillRef>
          <a:effectRef idx="0">
            <a:schemeClr val="accent1"/>
          </a:effectRef>
          <a:fontRef idx="minor">
            <a:schemeClr val="tx1"/>
          </a:fontRef>
        </p:style>
      </p:cxnSp>
      <p:cxnSp>
        <p:nvCxnSpPr>
          <p:cNvPr id="14" name="Connecteur droit 13"/>
          <p:cNvCxnSpPr/>
          <p:nvPr/>
        </p:nvCxnSpPr>
        <p:spPr>
          <a:xfrm>
            <a:off x="4926740" y="3238145"/>
            <a:ext cx="2034587" cy="0"/>
          </a:xfrm>
          <a:prstGeom prst="line">
            <a:avLst/>
          </a:prstGeom>
          <a:ln w="38100">
            <a:headEnd type="arrow"/>
            <a:tailEnd type="none"/>
          </a:ln>
        </p:spPr>
        <p:style>
          <a:lnRef idx="1">
            <a:schemeClr val="accent1"/>
          </a:lnRef>
          <a:fillRef idx="0">
            <a:schemeClr val="accent1"/>
          </a:fillRef>
          <a:effectRef idx="0">
            <a:schemeClr val="accent1"/>
          </a:effectRef>
          <a:fontRef idx="minor">
            <a:schemeClr val="tx1"/>
          </a:fontRef>
        </p:style>
      </p:cxnSp>
      <p:cxnSp>
        <p:nvCxnSpPr>
          <p:cNvPr id="15" name="Connecteur droit 14"/>
          <p:cNvCxnSpPr/>
          <p:nvPr/>
        </p:nvCxnSpPr>
        <p:spPr>
          <a:xfrm flipV="1">
            <a:off x="6961327" y="1979364"/>
            <a:ext cx="623" cy="125878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8" name="Ellipse 17"/>
          <p:cNvSpPr/>
          <p:nvPr/>
        </p:nvSpPr>
        <p:spPr>
          <a:xfrm>
            <a:off x="2426564" y="1851274"/>
            <a:ext cx="216000" cy="21600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sp>
        <p:nvSpPr>
          <p:cNvPr id="29" name="ZoneTexte 28"/>
          <p:cNvSpPr txBox="1"/>
          <p:nvPr/>
        </p:nvSpPr>
        <p:spPr>
          <a:xfrm>
            <a:off x="5973904" y="1796901"/>
            <a:ext cx="815742" cy="307777"/>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sz="1400" dirty="0"/>
              <a:t>Robot</a:t>
            </a:r>
          </a:p>
        </p:txBody>
      </p:sp>
      <mc:AlternateContent xmlns:mc="http://schemas.openxmlformats.org/markup-compatibility/2006" xmlns:a14="http://schemas.microsoft.com/office/drawing/2010/main">
        <mc:Choice Requires="a14">
          <p:sp>
            <p:nvSpPr>
              <p:cNvPr id="36" name="ZoneTexte 35"/>
              <p:cNvSpPr txBox="1"/>
              <p:nvPr/>
            </p:nvSpPr>
            <p:spPr>
              <a:xfrm>
                <a:off x="1848931" y="1662660"/>
                <a:ext cx="435760" cy="31585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sz="1400" b="1" i="1" smtClean="0">
                              <a:latin typeface="Cambria Math" panose="02040503050406030204" pitchFamily="18" charset="0"/>
                            </a:rPr>
                          </m:ctrlPr>
                        </m:sSupPr>
                        <m:e>
                          <m:r>
                            <a:rPr lang="fr-FR" sz="1400" b="1" i="0" smtClean="0">
                              <a:latin typeface="Cambria Math"/>
                            </a:rPr>
                            <m:t>𝐱</m:t>
                          </m:r>
                        </m:e>
                        <m:sup>
                          <m:r>
                            <a:rPr lang="fr-FR" sz="1400" b="1" i="1" smtClean="0">
                              <a:latin typeface="Cambria Math"/>
                            </a:rPr>
                            <m:t>𝒅</m:t>
                          </m:r>
                        </m:sup>
                      </m:sSup>
                    </m:oMath>
                  </m:oMathPara>
                </a14:m>
                <a:endParaRPr lang="fr-FR" sz="1400" dirty="0"/>
              </a:p>
            </p:txBody>
          </p:sp>
        </mc:Choice>
        <mc:Fallback xmlns="">
          <p:sp>
            <p:nvSpPr>
              <p:cNvPr id="36" name="ZoneTexte 35"/>
              <p:cNvSpPr txBox="1">
                <a:spLocks noRot="1" noChangeAspect="1" noMove="1" noResize="1" noEditPoints="1" noAdjustHandles="1" noChangeArrowheads="1" noChangeShapeType="1" noTextEdit="1"/>
              </p:cNvSpPr>
              <p:nvPr/>
            </p:nvSpPr>
            <p:spPr>
              <a:xfrm>
                <a:off x="1848931" y="1662660"/>
                <a:ext cx="435760" cy="315856"/>
              </a:xfrm>
              <a:prstGeom prst="rect">
                <a:avLst/>
              </a:prstGeom>
              <a:blipFill rotWithShape="1">
                <a:blip r:embed="rId7"/>
                <a:stretch>
                  <a:fillRect/>
                </a:stretch>
              </a:blipFill>
            </p:spPr>
            <p:txBody>
              <a:bodyPr/>
              <a:lstStyle/>
              <a:p>
                <a:r>
                  <a:rPr lang="fr-FR">
                    <a:noFill/>
                  </a:rPr>
                  <a:t> </a:t>
                </a:r>
              </a:p>
            </p:txBody>
          </p:sp>
        </mc:Fallback>
      </mc:AlternateContent>
      <p:graphicFrame>
        <p:nvGraphicFramePr>
          <p:cNvPr id="38" name="Objet 37"/>
          <p:cNvGraphicFramePr>
            <a:graphicFrameLocks noChangeAspect="1"/>
          </p:cNvGraphicFramePr>
          <p:nvPr>
            <p:extLst>
              <p:ext uri="{D42A27DB-BD31-4B8C-83A1-F6EECF244321}">
                <p14:modId xmlns:p14="http://schemas.microsoft.com/office/powerpoint/2010/main" val="3168013965"/>
              </p:ext>
            </p:extLst>
          </p:nvPr>
        </p:nvGraphicFramePr>
        <p:xfrm>
          <a:off x="2313266" y="2250075"/>
          <a:ext cx="175720" cy="113158"/>
        </p:xfrm>
        <a:graphic>
          <a:graphicData uri="http://schemas.openxmlformats.org/presentationml/2006/ole">
            <mc:AlternateContent xmlns:mc="http://schemas.openxmlformats.org/markup-compatibility/2006">
              <mc:Choice xmlns:v="urn:schemas-microsoft-com:vml" Requires="v">
                <p:oleObj name="Equation" r:id="rId8" imgW="139639" imgH="101556" progId="Equation.DSMT4">
                  <p:embed/>
                </p:oleObj>
              </mc:Choice>
              <mc:Fallback>
                <p:oleObj name="Equation" r:id="rId8" imgW="139639" imgH="101556"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13266" y="2250075"/>
                        <a:ext cx="175720" cy="113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 name="Objet 42"/>
          <p:cNvGraphicFramePr>
            <a:graphicFrameLocks noChangeAspect="1"/>
          </p:cNvGraphicFramePr>
          <p:nvPr>
            <p:extLst>
              <p:ext uri="{D42A27DB-BD31-4B8C-83A1-F6EECF244321}">
                <p14:modId xmlns:p14="http://schemas.microsoft.com/office/powerpoint/2010/main" val="4061749262"/>
              </p:ext>
            </p:extLst>
          </p:nvPr>
        </p:nvGraphicFramePr>
        <p:xfrm>
          <a:off x="2160768" y="2006105"/>
          <a:ext cx="125413" cy="111125"/>
        </p:xfrm>
        <a:graphic>
          <a:graphicData uri="http://schemas.openxmlformats.org/presentationml/2006/ole">
            <mc:AlternateContent xmlns:mc="http://schemas.openxmlformats.org/markup-compatibility/2006">
              <mc:Choice xmlns:v="urn:schemas-microsoft-com:vml" Requires="v">
                <p:oleObj name="Equation" r:id="rId10" imgW="139700" imgH="139700" progId="Equation.DSMT4">
                  <p:embed/>
                </p:oleObj>
              </mc:Choice>
              <mc:Fallback>
                <p:oleObj name="Equation" r:id="rId10" imgW="139700" imgH="1397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60768" y="2006105"/>
                        <a:ext cx="125413" cy="11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44" name="Connecteur droit 43"/>
          <p:cNvCxnSpPr/>
          <p:nvPr/>
        </p:nvCxnSpPr>
        <p:spPr>
          <a:xfrm>
            <a:off x="2545348" y="3238146"/>
            <a:ext cx="1837804" cy="1"/>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5" name="ZoneTexte 44"/>
          <p:cNvSpPr txBox="1"/>
          <p:nvPr/>
        </p:nvSpPr>
        <p:spPr>
          <a:xfrm>
            <a:off x="4298527" y="3084259"/>
            <a:ext cx="628213" cy="307777"/>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sz="1400" dirty="0"/>
              <a:t>MGD</a:t>
            </a:r>
          </a:p>
        </p:txBody>
      </p:sp>
      <p:cxnSp>
        <p:nvCxnSpPr>
          <p:cNvPr id="49" name="Connecteur droit avec flèche 48"/>
          <p:cNvCxnSpPr>
            <a:stCxn id="48" idx="3"/>
          </p:cNvCxnSpPr>
          <p:nvPr/>
        </p:nvCxnSpPr>
        <p:spPr>
          <a:xfrm flipV="1">
            <a:off x="3818985" y="1949482"/>
            <a:ext cx="744013"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ZoneTexte 50"/>
              <p:cNvSpPr txBox="1"/>
              <p:nvPr/>
            </p:nvSpPr>
            <p:spPr>
              <a:xfrm>
                <a:off x="3654517" y="2930368"/>
                <a:ext cx="32893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sz="1400" b="1" i="0" smtClean="0">
                          <a:latin typeface="Cambria Math"/>
                        </a:rPr>
                        <m:t>𝐱</m:t>
                      </m:r>
                    </m:oMath>
                  </m:oMathPara>
                </a14:m>
                <a:endParaRPr lang="fr-FR" sz="1400" dirty="0"/>
              </a:p>
            </p:txBody>
          </p:sp>
        </mc:Choice>
        <mc:Fallback xmlns="">
          <p:sp>
            <p:nvSpPr>
              <p:cNvPr id="51" name="ZoneTexte 50"/>
              <p:cNvSpPr txBox="1">
                <a:spLocks noRot="1" noChangeAspect="1" noMove="1" noResize="1" noEditPoints="1" noAdjustHandles="1" noChangeArrowheads="1" noChangeShapeType="1" noTextEdit="1"/>
              </p:cNvSpPr>
              <p:nvPr/>
            </p:nvSpPr>
            <p:spPr>
              <a:xfrm>
                <a:off x="3654517" y="2930368"/>
                <a:ext cx="328936" cy="307777"/>
              </a:xfrm>
              <a:prstGeom prst="rect">
                <a:avLst/>
              </a:prstGeom>
              <a:blipFill rotWithShape="1">
                <a:blip r:embed="rId12"/>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6" name="ZoneTexte 55"/>
              <p:cNvSpPr txBox="1"/>
              <p:nvPr/>
            </p:nvSpPr>
            <p:spPr>
              <a:xfrm>
                <a:off x="4562998" y="1797516"/>
                <a:ext cx="775824" cy="311560"/>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sSup>
                        <m:sSupPr>
                          <m:ctrlPr>
                            <a:rPr lang="fr-FR" sz="1400" b="1" i="1" smtClean="0">
                              <a:latin typeface="Cambria Math" panose="02040503050406030204" pitchFamily="18" charset="0"/>
                            </a:rPr>
                          </m:ctrlPr>
                        </m:sSupPr>
                        <m:e>
                          <m:r>
                            <a:rPr lang="fr-FR" sz="1400" b="1" i="0" smtClean="0">
                              <a:latin typeface="Cambria Math"/>
                            </a:rPr>
                            <m:t>𝐉</m:t>
                          </m:r>
                        </m:e>
                        <m:sup>
                          <m:r>
                            <a:rPr lang="fr-FR" sz="1400" b="1" i="1" smtClean="0">
                              <a:latin typeface="Cambria Math"/>
                            </a:rPr>
                            <m:t>𝑻</m:t>
                          </m:r>
                        </m:sup>
                      </m:sSup>
                      <m:d>
                        <m:dPr>
                          <m:ctrlPr>
                            <a:rPr lang="fr-FR" sz="1400" b="1" i="1" smtClean="0">
                              <a:latin typeface="Cambria Math" panose="02040503050406030204" pitchFamily="18" charset="0"/>
                            </a:rPr>
                          </m:ctrlPr>
                        </m:dPr>
                        <m:e>
                          <m:r>
                            <a:rPr lang="fr-FR" sz="1400" b="1" i="0" smtClean="0">
                              <a:latin typeface="Cambria Math"/>
                            </a:rPr>
                            <m:t>𝐪</m:t>
                          </m:r>
                        </m:e>
                      </m:d>
                    </m:oMath>
                  </m:oMathPara>
                </a14:m>
                <a:endParaRPr lang="fr-FR" sz="1400" b="1" dirty="0"/>
              </a:p>
            </p:txBody>
          </p:sp>
        </mc:Choice>
        <mc:Fallback xmlns="">
          <p:sp>
            <p:nvSpPr>
              <p:cNvPr id="56" name="ZoneTexte 55"/>
              <p:cNvSpPr txBox="1">
                <a:spLocks noRot="1" noChangeAspect="1" noMove="1" noResize="1" noEditPoints="1" noAdjustHandles="1" noChangeArrowheads="1" noChangeShapeType="1" noTextEdit="1"/>
              </p:cNvSpPr>
              <p:nvPr/>
            </p:nvSpPr>
            <p:spPr>
              <a:xfrm>
                <a:off x="4562998" y="1797516"/>
                <a:ext cx="775824" cy="311560"/>
              </a:xfrm>
              <a:prstGeom prst="rect">
                <a:avLst/>
              </a:prstGeom>
              <a:blipFill rotWithShape="1">
                <a:blip r:embed="rId13"/>
                <a:stretch>
                  <a:fillRect/>
                </a:stretch>
              </a:blipFill>
              <a:ln w="25400"/>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8" name="ZoneTexte 47"/>
              <p:cNvSpPr txBox="1"/>
              <p:nvPr/>
            </p:nvSpPr>
            <p:spPr>
              <a:xfrm>
                <a:off x="3186109" y="1795593"/>
                <a:ext cx="632876" cy="311624"/>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r>
                        <a:rPr lang="fr-FR" sz="1400" b="1" i="0" smtClean="0">
                          <a:latin typeface="Cambria Math"/>
                        </a:rPr>
                        <m:t>𝐏𝐈𝐃</m:t>
                      </m:r>
                      <m:r>
                        <a:rPr lang="fr-FR" sz="1400" b="1" i="0" smtClean="0">
                          <a:latin typeface="Cambria Math"/>
                        </a:rPr>
                        <m:t>(</m:t>
                      </m:r>
                      <m:r>
                        <a:rPr lang="fr-FR" sz="1400" b="1" i="0" smtClean="0">
                          <a:latin typeface="Cambria Math"/>
                        </a:rPr>
                        <m:t>𝐱</m:t>
                      </m:r>
                      <m:r>
                        <a:rPr lang="fr-FR" sz="1400" b="1" i="0" smtClean="0">
                          <a:latin typeface="Cambria Math"/>
                        </a:rPr>
                        <m:t>)</m:t>
                      </m:r>
                    </m:oMath>
                  </m:oMathPara>
                </a14:m>
                <a:endParaRPr lang="fr-FR" sz="1400" b="1" dirty="0"/>
              </a:p>
            </p:txBody>
          </p:sp>
        </mc:Choice>
        <mc:Fallback xmlns="">
          <p:sp>
            <p:nvSpPr>
              <p:cNvPr id="48" name="ZoneTexte 47"/>
              <p:cNvSpPr txBox="1">
                <a:spLocks noRot="1" noChangeAspect="1" noMove="1" noResize="1" noEditPoints="1" noAdjustHandles="1" noChangeArrowheads="1" noChangeShapeType="1" noTextEdit="1"/>
              </p:cNvSpPr>
              <p:nvPr/>
            </p:nvSpPr>
            <p:spPr>
              <a:xfrm>
                <a:off x="3186109" y="1795593"/>
                <a:ext cx="632876" cy="311624"/>
              </a:xfrm>
              <a:prstGeom prst="rect">
                <a:avLst/>
              </a:prstGeom>
              <a:blipFill rotWithShape="1">
                <a:blip r:embed="rId14"/>
                <a:stretch>
                  <a:fillRect/>
                </a:stretch>
              </a:blipFill>
              <a:ln w="25400"/>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3" name="ZoneTexte 62"/>
              <p:cNvSpPr txBox="1"/>
              <p:nvPr/>
            </p:nvSpPr>
            <p:spPr>
              <a:xfrm>
                <a:off x="2640083" y="1659958"/>
                <a:ext cx="460382"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l-GR" sz="1400" b="1" i="0" smtClean="0">
                          <a:latin typeface="Cambria Math"/>
                          <a:ea typeface="Cambria Math"/>
                        </a:rPr>
                        <m:t>𝚫</m:t>
                      </m:r>
                      <m:r>
                        <a:rPr lang="fr-FR" sz="1400" b="1" i="0" smtClean="0">
                          <a:latin typeface="Cambria Math"/>
                          <a:ea typeface="Cambria Math"/>
                        </a:rPr>
                        <m:t>𝐱</m:t>
                      </m:r>
                    </m:oMath>
                  </m:oMathPara>
                </a14:m>
                <a:endParaRPr lang="fr-FR" sz="1400" b="1" dirty="0"/>
              </a:p>
            </p:txBody>
          </p:sp>
        </mc:Choice>
        <mc:Fallback xmlns="">
          <p:sp>
            <p:nvSpPr>
              <p:cNvPr id="63" name="ZoneTexte 62"/>
              <p:cNvSpPr txBox="1">
                <a:spLocks noRot="1" noChangeAspect="1" noMove="1" noResize="1" noEditPoints="1" noAdjustHandles="1" noChangeArrowheads="1" noChangeShapeType="1" noTextEdit="1"/>
              </p:cNvSpPr>
              <p:nvPr/>
            </p:nvSpPr>
            <p:spPr>
              <a:xfrm>
                <a:off x="2640083" y="1659958"/>
                <a:ext cx="460382" cy="307777"/>
              </a:xfrm>
              <a:prstGeom prst="rect">
                <a:avLst/>
              </a:prstGeom>
              <a:blipFill rotWithShape="1">
                <a:blip r:embed="rId15"/>
                <a:stretch>
                  <a:fillRect/>
                </a:stretch>
              </a:blipFill>
            </p:spPr>
            <p:txBody>
              <a:bodyPr/>
              <a:lstStyle/>
              <a:p>
                <a:r>
                  <a:rPr lang="fr-FR">
                    <a:noFill/>
                  </a:rPr>
                  <a:t> </a:t>
                </a:r>
              </a:p>
            </p:txBody>
          </p:sp>
        </mc:Fallback>
      </mc:AlternateContent>
      <p:sp>
        <p:nvSpPr>
          <p:cNvPr id="26" name="Ellipse 25"/>
          <p:cNvSpPr/>
          <p:nvPr/>
        </p:nvSpPr>
        <p:spPr>
          <a:xfrm>
            <a:off x="4713265" y="2297071"/>
            <a:ext cx="1326229" cy="508693"/>
          </a:xfrm>
          <a:prstGeom prst="ellipse">
            <a:avLst/>
          </a:prstGeom>
          <a:noFill/>
          <a:ln w="12700" cmpd="sng">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Équivalent à une force</a:t>
            </a:r>
          </a:p>
        </p:txBody>
      </p:sp>
      <p:sp>
        <p:nvSpPr>
          <p:cNvPr id="27" name="Arc 26"/>
          <p:cNvSpPr/>
          <p:nvPr/>
        </p:nvSpPr>
        <p:spPr>
          <a:xfrm rot="8920546">
            <a:off x="4186026" y="1742372"/>
            <a:ext cx="557995" cy="859373"/>
          </a:xfrm>
          <a:prstGeom prst="arc">
            <a:avLst>
              <a:gd name="adj1" fmla="val 16200000"/>
              <a:gd name="adj2" fmla="val 3459458"/>
            </a:avLst>
          </a:prstGeom>
          <a:ln w="12700">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28" name="ZoneTexte 27"/>
              <p:cNvSpPr txBox="1"/>
              <p:nvPr/>
            </p:nvSpPr>
            <p:spPr>
              <a:xfrm>
                <a:off x="4003307" y="1641866"/>
                <a:ext cx="387670"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l-GR" sz="1400" b="1" i="1" smtClean="0">
                              <a:latin typeface="Cambria Math" panose="02040503050406030204" pitchFamily="18" charset="0"/>
                              <a:ea typeface="Cambria Math"/>
                            </a:rPr>
                          </m:ctrlPr>
                        </m:sSubPr>
                        <m:e>
                          <m:r>
                            <a:rPr lang="el-GR" sz="1400" b="1" i="1" smtClean="0">
                              <a:latin typeface="Cambria Math"/>
                              <a:ea typeface="Cambria Math"/>
                            </a:rPr>
                            <m:t>𝕗</m:t>
                          </m:r>
                        </m:e>
                        <m:sub>
                          <m:r>
                            <a:rPr lang="fr-FR" sz="1400" b="1" i="1" smtClean="0">
                              <a:latin typeface="Cambria Math"/>
                              <a:ea typeface="Cambria Math"/>
                            </a:rPr>
                            <m:t>𝒄</m:t>
                          </m:r>
                        </m:sub>
                      </m:sSub>
                    </m:oMath>
                  </m:oMathPara>
                </a14:m>
                <a:endParaRPr lang="fr-FR" sz="1400" dirty="0"/>
              </a:p>
            </p:txBody>
          </p:sp>
        </mc:Choice>
        <mc:Fallback xmlns="">
          <p:sp>
            <p:nvSpPr>
              <p:cNvPr id="28" name="ZoneTexte 27"/>
              <p:cNvSpPr txBox="1">
                <a:spLocks noRot="1" noChangeAspect="1" noMove="1" noResize="1" noEditPoints="1" noAdjustHandles="1" noChangeArrowheads="1" noChangeShapeType="1" noTextEdit="1"/>
              </p:cNvSpPr>
              <p:nvPr/>
            </p:nvSpPr>
            <p:spPr>
              <a:xfrm>
                <a:off x="4003307" y="1641866"/>
                <a:ext cx="387670" cy="307777"/>
              </a:xfrm>
              <a:prstGeom prst="rect">
                <a:avLst/>
              </a:prstGeom>
              <a:blipFill rotWithShape="1">
                <a:blip r:embed="rId16"/>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27536286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r>
                  <a:rPr lang="fr-FR" b="1" dirty="0"/>
                  <a:t>solution 2 (schéma détaillé) :</a:t>
                </a:r>
              </a:p>
              <a:p>
                <a:endParaRPr lang="fr-FR" dirty="0"/>
              </a:p>
              <a:p>
                <a:endParaRPr lang="fr-FR" dirty="0"/>
              </a:p>
              <a:p>
                <a:endParaRPr lang="fr-FR" dirty="0"/>
              </a:p>
              <a:p>
                <a:endParaRPr lang="fr-FR" dirty="0"/>
              </a:p>
              <a:p>
                <a:endParaRPr lang="fr-FR" dirty="0"/>
              </a:p>
              <a:p>
                <a:endParaRPr lang="fr-FR" dirty="0"/>
              </a:p>
              <a:p>
                <a:endParaRPr lang="fr-FR" dirty="0"/>
              </a:p>
              <a:p>
                <a:pPr marL="0" indent="0">
                  <a:buNone/>
                </a:pPr>
                <a:endParaRPr lang="fr-FR" dirty="0"/>
              </a:p>
              <a:p>
                <a:endParaRPr lang="fr-FR" dirty="0"/>
              </a:p>
              <a:p>
                <a:pPr marL="0" indent="0">
                  <a:buNone/>
                </a:pPr>
                <a:r>
                  <a:rPr lang="fr-FR" dirty="0"/>
                  <a:t>La loi de commande est donnée par :</a:t>
                </a:r>
              </a:p>
              <a:p>
                <a:pPr marL="0" indent="0" algn="ctr">
                  <a:buNone/>
                </a:pPr>
                <a14:m>
                  <m:oMathPara xmlns:m="http://schemas.openxmlformats.org/officeDocument/2006/math">
                    <m:oMathParaPr>
                      <m:jc m:val="centerGroup"/>
                    </m:oMathParaPr>
                    <m:oMath xmlns:m="http://schemas.openxmlformats.org/officeDocument/2006/math">
                      <m:r>
                        <a:rPr lang="el-GR" b="1" i="0" smtClean="0">
                          <a:latin typeface="Cambria Math"/>
                          <a:ea typeface="Cambria Math"/>
                        </a:rPr>
                        <m:t>𝚪</m:t>
                      </m:r>
                      <m:r>
                        <a:rPr lang="fr-FR" b="0" i="1" smtClean="0">
                          <a:latin typeface="Cambria Math"/>
                          <a:ea typeface="Cambria Math"/>
                        </a:rPr>
                        <m:t>=</m:t>
                      </m:r>
                      <m:sSup>
                        <m:sSupPr>
                          <m:ctrlPr>
                            <a:rPr lang="fr-FR" b="0" i="1" smtClean="0">
                              <a:latin typeface="Cambria Math" panose="02040503050406030204" pitchFamily="18" charset="0"/>
                              <a:ea typeface="Cambria Math"/>
                            </a:rPr>
                          </m:ctrlPr>
                        </m:sSupPr>
                        <m:e>
                          <m:r>
                            <a:rPr lang="fr-FR" b="1" i="0" smtClean="0">
                              <a:latin typeface="Cambria Math"/>
                              <a:ea typeface="Cambria Math"/>
                            </a:rPr>
                            <m:t>𝐉</m:t>
                          </m:r>
                        </m:e>
                        <m:sup>
                          <m:r>
                            <a:rPr lang="fr-FR" b="0" i="1" smtClean="0">
                              <a:latin typeface="Cambria Math"/>
                              <a:ea typeface="Cambria Math"/>
                            </a:rPr>
                            <m:t>𝑇</m:t>
                          </m:r>
                        </m:sup>
                      </m:sSup>
                      <m:d>
                        <m:dPr>
                          <m:ctrlPr>
                            <a:rPr lang="fr-FR" b="0" i="1" smtClean="0">
                              <a:latin typeface="Cambria Math" panose="02040503050406030204" pitchFamily="18" charset="0"/>
                              <a:ea typeface="Cambria Math"/>
                            </a:rPr>
                          </m:ctrlPr>
                        </m:dPr>
                        <m:e>
                          <m:sSub>
                            <m:sSubPr>
                              <m:ctrlPr>
                                <a:rPr lang="fr-FR" i="1">
                                  <a:latin typeface="Cambria Math" panose="02040503050406030204" pitchFamily="18" charset="0"/>
                                  <a:ea typeface="Cambria Math"/>
                                </a:rPr>
                              </m:ctrlPr>
                            </m:sSubPr>
                            <m:e>
                              <m:r>
                                <a:rPr lang="fr-FR" b="1">
                                  <a:latin typeface="Cambria Math"/>
                                  <a:ea typeface="Cambria Math"/>
                                </a:rPr>
                                <m:t>𝐊</m:t>
                              </m:r>
                            </m:e>
                            <m:sub>
                              <m:r>
                                <a:rPr lang="fr-FR" i="1">
                                  <a:latin typeface="Cambria Math"/>
                                  <a:ea typeface="Cambria Math"/>
                                </a:rPr>
                                <m:t>𝑃</m:t>
                              </m:r>
                            </m:sub>
                          </m:sSub>
                          <m:d>
                            <m:dPr>
                              <m:ctrlPr>
                                <a:rPr lang="fr-FR" i="1">
                                  <a:latin typeface="Cambria Math" panose="02040503050406030204" pitchFamily="18" charset="0"/>
                                  <a:ea typeface="Cambria Math"/>
                                </a:rPr>
                              </m:ctrlPr>
                            </m:dPr>
                            <m:e>
                              <m:sSup>
                                <m:sSupPr>
                                  <m:ctrlPr>
                                    <a:rPr lang="fr-FR" i="1">
                                      <a:latin typeface="Cambria Math" panose="02040503050406030204" pitchFamily="18" charset="0"/>
                                      <a:ea typeface="Cambria Math"/>
                                    </a:rPr>
                                  </m:ctrlPr>
                                </m:sSupPr>
                                <m:e>
                                  <m:r>
                                    <a:rPr lang="fr-FR" b="1" i="0" smtClean="0">
                                      <a:latin typeface="Cambria Math"/>
                                      <a:ea typeface="Cambria Math"/>
                                    </a:rPr>
                                    <m:t>𝐱</m:t>
                                  </m:r>
                                </m:e>
                                <m:sup>
                                  <m:r>
                                    <a:rPr lang="fr-FR" i="1">
                                      <a:latin typeface="Cambria Math"/>
                                      <a:ea typeface="Cambria Math"/>
                                    </a:rPr>
                                    <m:t>𝑑</m:t>
                                  </m:r>
                                </m:sup>
                              </m:sSup>
                              <m:r>
                                <a:rPr lang="fr-FR" i="1">
                                  <a:latin typeface="Cambria Math"/>
                                  <a:ea typeface="Cambria Math"/>
                                </a:rPr>
                                <m:t>−</m:t>
                              </m:r>
                              <m:r>
                                <a:rPr lang="fr-FR" b="1" i="0" smtClean="0">
                                  <a:latin typeface="Cambria Math"/>
                                  <a:ea typeface="Cambria Math"/>
                                </a:rPr>
                                <m:t>𝐱</m:t>
                              </m:r>
                            </m:e>
                          </m:d>
                          <m:r>
                            <a:rPr lang="fr-FR" i="1">
                              <a:latin typeface="Cambria Math"/>
                              <a:ea typeface="Cambria Math"/>
                            </a:rPr>
                            <m:t>+</m:t>
                          </m:r>
                          <m:sSub>
                            <m:sSubPr>
                              <m:ctrlPr>
                                <a:rPr lang="fr-FR" i="1">
                                  <a:latin typeface="Cambria Math" panose="02040503050406030204" pitchFamily="18" charset="0"/>
                                  <a:ea typeface="Cambria Math"/>
                                </a:rPr>
                              </m:ctrlPr>
                            </m:sSubPr>
                            <m:e>
                              <m:r>
                                <a:rPr lang="fr-FR" b="1">
                                  <a:latin typeface="Cambria Math"/>
                                  <a:ea typeface="Cambria Math"/>
                                </a:rPr>
                                <m:t>𝐊</m:t>
                              </m:r>
                            </m:e>
                            <m:sub>
                              <m:r>
                                <a:rPr lang="fr-FR" i="1">
                                  <a:latin typeface="Cambria Math"/>
                                  <a:ea typeface="Cambria Math"/>
                                </a:rPr>
                                <m:t>𝐷</m:t>
                              </m:r>
                            </m:sub>
                          </m:sSub>
                          <m:d>
                            <m:dPr>
                              <m:ctrlPr>
                                <a:rPr lang="fr-FR" i="1">
                                  <a:latin typeface="Cambria Math" panose="02040503050406030204" pitchFamily="18" charset="0"/>
                                  <a:ea typeface="Cambria Math"/>
                                </a:rPr>
                              </m:ctrlPr>
                            </m:dPr>
                            <m:e>
                              <m:sSup>
                                <m:sSupPr>
                                  <m:ctrlPr>
                                    <a:rPr lang="fr-FR" i="1">
                                      <a:latin typeface="Cambria Math" panose="02040503050406030204" pitchFamily="18" charset="0"/>
                                      <a:ea typeface="Cambria Math"/>
                                    </a:rPr>
                                  </m:ctrlPr>
                                </m:sSupPr>
                                <m:e>
                                  <m:acc>
                                    <m:accPr>
                                      <m:chr m:val="̇"/>
                                      <m:ctrlPr>
                                        <a:rPr lang="fr-FR" i="1">
                                          <a:latin typeface="Cambria Math" panose="02040503050406030204" pitchFamily="18" charset="0"/>
                                          <a:ea typeface="Cambria Math"/>
                                        </a:rPr>
                                      </m:ctrlPr>
                                    </m:accPr>
                                    <m:e>
                                      <m:r>
                                        <a:rPr lang="fr-FR" b="1" i="0" smtClean="0">
                                          <a:latin typeface="Cambria Math"/>
                                          <a:ea typeface="Cambria Math"/>
                                        </a:rPr>
                                        <m:t>𝐱</m:t>
                                      </m:r>
                                    </m:e>
                                  </m:acc>
                                </m:e>
                                <m:sup>
                                  <m:r>
                                    <a:rPr lang="fr-FR" i="1">
                                      <a:latin typeface="Cambria Math"/>
                                      <a:ea typeface="Cambria Math"/>
                                    </a:rPr>
                                    <m:t>𝑑</m:t>
                                  </m:r>
                                </m:sup>
                              </m:sSup>
                              <m:r>
                                <a:rPr lang="fr-FR" i="1">
                                  <a:latin typeface="Cambria Math"/>
                                  <a:ea typeface="Cambria Math"/>
                                </a:rPr>
                                <m:t>−</m:t>
                              </m:r>
                              <m:acc>
                                <m:accPr>
                                  <m:chr m:val="̇"/>
                                  <m:ctrlPr>
                                    <a:rPr lang="fr-FR" i="1">
                                      <a:latin typeface="Cambria Math" panose="02040503050406030204" pitchFamily="18" charset="0"/>
                                      <a:ea typeface="Cambria Math"/>
                                    </a:rPr>
                                  </m:ctrlPr>
                                </m:accPr>
                                <m:e>
                                  <m:r>
                                    <a:rPr lang="fr-FR" b="1" i="0" smtClean="0">
                                      <a:latin typeface="Cambria Math"/>
                                      <a:ea typeface="Cambria Math"/>
                                    </a:rPr>
                                    <m:t>𝐱</m:t>
                                  </m:r>
                                </m:e>
                              </m:acc>
                            </m:e>
                          </m:d>
                          <m:r>
                            <a:rPr lang="fr-FR" i="1">
                              <a:latin typeface="Cambria Math"/>
                              <a:ea typeface="Cambria Math"/>
                            </a:rPr>
                            <m:t>+</m:t>
                          </m:r>
                          <m:sSub>
                            <m:sSubPr>
                              <m:ctrlPr>
                                <a:rPr lang="fr-FR" i="1">
                                  <a:latin typeface="Cambria Math" panose="02040503050406030204" pitchFamily="18" charset="0"/>
                                  <a:ea typeface="Cambria Math"/>
                                </a:rPr>
                              </m:ctrlPr>
                            </m:sSubPr>
                            <m:e>
                              <m:r>
                                <a:rPr lang="fr-FR" b="1">
                                  <a:latin typeface="Cambria Math"/>
                                  <a:ea typeface="Cambria Math"/>
                                </a:rPr>
                                <m:t>𝐊</m:t>
                              </m:r>
                            </m:e>
                            <m:sub>
                              <m:r>
                                <a:rPr lang="fr-FR" i="1">
                                  <a:latin typeface="Cambria Math"/>
                                  <a:ea typeface="Cambria Math"/>
                                </a:rPr>
                                <m:t>𝐼</m:t>
                              </m:r>
                            </m:sub>
                          </m:sSub>
                          <m:nary>
                            <m:naryPr>
                              <m:ctrlPr>
                                <a:rPr lang="fr-FR" i="1">
                                  <a:latin typeface="Cambria Math" panose="02040503050406030204" pitchFamily="18" charset="0"/>
                                  <a:ea typeface="Cambria Math"/>
                                </a:rPr>
                              </m:ctrlPr>
                            </m:naryPr>
                            <m:sub>
                              <m:sSub>
                                <m:sSubPr>
                                  <m:ctrlPr>
                                    <a:rPr lang="fr-FR" i="1">
                                      <a:latin typeface="Cambria Math" panose="02040503050406030204" pitchFamily="18" charset="0"/>
                                      <a:ea typeface="Cambria Math"/>
                                    </a:rPr>
                                  </m:ctrlPr>
                                </m:sSubPr>
                                <m:e>
                                  <m:r>
                                    <a:rPr lang="fr-FR" i="1">
                                      <a:latin typeface="Cambria Math"/>
                                      <a:ea typeface="Cambria Math"/>
                                    </a:rPr>
                                    <m:t>𝑡</m:t>
                                  </m:r>
                                </m:e>
                                <m:sub>
                                  <m:r>
                                    <a:rPr lang="fr-FR" i="1">
                                      <a:latin typeface="Cambria Math"/>
                                      <a:ea typeface="Cambria Math"/>
                                    </a:rPr>
                                    <m:t>0</m:t>
                                  </m:r>
                                </m:sub>
                              </m:sSub>
                            </m:sub>
                            <m:sup>
                              <m:r>
                                <a:rPr lang="fr-FR" i="1">
                                  <a:latin typeface="Cambria Math"/>
                                  <a:ea typeface="Cambria Math"/>
                                </a:rPr>
                                <m:t>𝑡</m:t>
                              </m:r>
                            </m:sup>
                            <m:e>
                              <m:d>
                                <m:dPr>
                                  <m:ctrlPr>
                                    <a:rPr lang="fr-FR" i="1">
                                      <a:latin typeface="Cambria Math" panose="02040503050406030204" pitchFamily="18" charset="0"/>
                                      <a:ea typeface="Cambria Math"/>
                                    </a:rPr>
                                  </m:ctrlPr>
                                </m:dPr>
                                <m:e>
                                  <m:sSup>
                                    <m:sSupPr>
                                      <m:ctrlPr>
                                        <a:rPr lang="fr-FR" i="1">
                                          <a:latin typeface="Cambria Math" panose="02040503050406030204" pitchFamily="18" charset="0"/>
                                          <a:ea typeface="Cambria Math"/>
                                        </a:rPr>
                                      </m:ctrlPr>
                                    </m:sSupPr>
                                    <m:e>
                                      <m:r>
                                        <a:rPr lang="fr-FR" b="1" i="0" smtClean="0">
                                          <a:latin typeface="Cambria Math"/>
                                          <a:ea typeface="Cambria Math"/>
                                        </a:rPr>
                                        <m:t>𝐱</m:t>
                                      </m:r>
                                    </m:e>
                                    <m:sup>
                                      <m:r>
                                        <a:rPr lang="fr-FR" i="1">
                                          <a:latin typeface="Cambria Math"/>
                                          <a:ea typeface="Cambria Math"/>
                                        </a:rPr>
                                        <m:t>𝑑</m:t>
                                      </m:r>
                                    </m:sup>
                                  </m:sSup>
                                  <m:r>
                                    <a:rPr lang="fr-FR" i="1">
                                      <a:latin typeface="Cambria Math"/>
                                      <a:ea typeface="Cambria Math"/>
                                    </a:rPr>
                                    <m:t>−</m:t>
                                  </m:r>
                                  <m:r>
                                    <a:rPr lang="fr-FR" b="1" i="0" smtClean="0">
                                      <a:latin typeface="Cambria Math"/>
                                      <a:ea typeface="Cambria Math"/>
                                    </a:rPr>
                                    <m:t>𝐱</m:t>
                                  </m:r>
                                </m:e>
                              </m:d>
                              <m:r>
                                <m:rPr>
                                  <m:sty m:val="p"/>
                                </m:rPr>
                                <a:rPr lang="fr-FR">
                                  <a:latin typeface="Cambria Math"/>
                                  <a:ea typeface="Cambria Math"/>
                                </a:rPr>
                                <m:t>d</m:t>
                              </m:r>
                              <m:r>
                                <a:rPr lang="fr-FR" i="1">
                                  <a:latin typeface="Cambria Math"/>
                                  <a:ea typeface="Cambria Math"/>
                                </a:rPr>
                                <m:t>𝜏</m:t>
                              </m:r>
                            </m:e>
                          </m:nary>
                        </m:e>
                      </m:d>
                    </m:oMath>
                  </m:oMathPara>
                </a14:m>
                <a:endParaRPr lang="fr-FR" dirty="0"/>
              </a:p>
              <a:p>
                <a:pPr marL="0" indent="0">
                  <a:buNone/>
                </a:pPr>
                <a14:m>
                  <m:oMath xmlns:m="http://schemas.openxmlformats.org/officeDocument/2006/math">
                    <m:sSub>
                      <m:sSubPr>
                        <m:ctrlPr>
                          <a:rPr lang="fr-FR" i="1">
                            <a:latin typeface="Cambria Math" panose="02040503050406030204" pitchFamily="18" charset="0"/>
                          </a:rPr>
                        </m:ctrlPr>
                      </m:sSubPr>
                      <m:e>
                        <m:r>
                          <a:rPr lang="fr-FR" b="1">
                            <a:latin typeface="Cambria Math"/>
                          </a:rPr>
                          <m:t>𝐊</m:t>
                        </m:r>
                      </m:e>
                      <m:sub>
                        <m:r>
                          <a:rPr lang="fr-FR" i="1">
                            <a:latin typeface="Cambria Math"/>
                          </a:rPr>
                          <m:t>𝑃</m:t>
                        </m:r>
                      </m:sub>
                    </m:sSub>
                    <m:r>
                      <a:rPr lang="fr-FR" i="1">
                        <a:latin typeface="Cambria Math"/>
                      </a:rPr>
                      <m:t>, </m:t>
                    </m:r>
                    <m:sSub>
                      <m:sSubPr>
                        <m:ctrlPr>
                          <a:rPr lang="fr-FR" i="1">
                            <a:latin typeface="Cambria Math" panose="02040503050406030204" pitchFamily="18" charset="0"/>
                          </a:rPr>
                        </m:ctrlPr>
                      </m:sSubPr>
                      <m:e>
                        <m:r>
                          <a:rPr lang="fr-FR" b="1">
                            <a:latin typeface="Cambria Math"/>
                          </a:rPr>
                          <m:t>𝐊</m:t>
                        </m:r>
                      </m:e>
                      <m:sub>
                        <m:r>
                          <a:rPr lang="fr-FR" i="1">
                            <a:latin typeface="Cambria Math"/>
                          </a:rPr>
                          <m:t>𝐼</m:t>
                        </m:r>
                      </m:sub>
                    </m:sSub>
                  </m:oMath>
                </a14:m>
                <a:r>
                  <a:rPr lang="fr-FR" dirty="0"/>
                  <a:t> et </a:t>
                </a:r>
                <a14:m>
                  <m:oMath xmlns:m="http://schemas.openxmlformats.org/officeDocument/2006/math">
                    <m:sSub>
                      <m:sSubPr>
                        <m:ctrlPr>
                          <a:rPr lang="fr-FR" i="1">
                            <a:latin typeface="Cambria Math" panose="02040503050406030204" pitchFamily="18" charset="0"/>
                          </a:rPr>
                        </m:ctrlPr>
                      </m:sSubPr>
                      <m:e>
                        <m:r>
                          <a:rPr lang="fr-FR" b="1">
                            <a:latin typeface="Cambria Math"/>
                          </a:rPr>
                          <m:t>𝐊</m:t>
                        </m:r>
                      </m:e>
                      <m:sub>
                        <m:r>
                          <a:rPr lang="fr-FR" i="1">
                            <a:latin typeface="Cambria Math"/>
                          </a:rPr>
                          <m:t>𝐷</m:t>
                        </m:r>
                      </m:sub>
                    </m:sSub>
                  </m:oMath>
                </a14:m>
                <a:r>
                  <a:rPr lang="fr-FR" dirty="0"/>
                  <a:t> sont des matrices diagonales définies positives de dimension </a:t>
                </a:r>
                <a14:m>
                  <m:oMath xmlns:m="http://schemas.openxmlformats.org/officeDocument/2006/math">
                    <m:r>
                      <m:rPr>
                        <m:sty m:val="p"/>
                      </m:rPr>
                      <a:rPr lang="fr-FR" b="0" i="0" smtClean="0">
                        <a:latin typeface="Cambria Math"/>
                      </a:rPr>
                      <m:t>m</m:t>
                    </m:r>
                    <m:r>
                      <a:rPr lang="fr-FR" i="1">
                        <a:latin typeface="Cambria Math"/>
                        <a:ea typeface="Cambria Math"/>
                      </a:rPr>
                      <m:t>×</m:t>
                    </m:r>
                    <m:r>
                      <m:rPr>
                        <m:sty m:val="p"/>
                      </m:rPr>
                      <a:rPr lang="fr-FR" b="0" i="0" smtClean="0">
                        <a:latin typeface="Cambria Math"/>
                        <a:ea typeface="Cambria Math"/>
                      </a:rPr>
                      <m:t>m</m:t>
                    </m:r>
                  </m:oMath>
                </a14:m>
                <a:r>
                  <a:rPr lang="fr-FR" dirty="0"/>
                  <a:t> </a:t>
                </a:r>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4"/>
                <a:stretch>
                  <a:fillRect l="-584" t="-552"/>
                </a:stretch>
              </a:blipFill>
            </p:spPr>
            <p:txBody>
              <a:bodyPr/>
              <a:lstStyle/>
              <a:p>
                <a:r>
                  <a:rPr lang="fr-FR">
                    <a:noFill/>
                  </a:rPr>
                  <a:t> </a:t>
                </a:r>
              </a:p>
            </p:txBody>
          </p:sp>
        </mc:Fallback>
      </mc:AlternateContent>
      <p:sp>
        <p:nvSpPr>
          <p:cNvPr id="3" name="Titre 2"/>
          <p:cNvSpPr>
            <a:spLocks noGrp="1"/>
          </p:cNvSpPr>
          <p:nvPr>
            <p:ph type="title"/>
          </p:nvPr>
        </p:nvSpPr>
        <p:spPr>
          <a:xfrm>
            <a:off x="300789" y="0"/>
            <a:ext cx="8424401" cy="785812"/>
          </a:xfrm>
        </p:spPr>
        <p:txBody>
          <a:bodyPr/>
          <a:lstStyle/>
          <a:p>
            <a:r>
              <a:rPr lang="fr-FR" dirty="0"/>
              <a:t>Commande PID (espace opérationnel) : Solution 2</a:t>
            </a:r>
          </a:p>
        </p:txBody>
      </p:sp>
      <p:cxnSp>
        <p:nvCxnSpPr>
          <p:cNvPr id="6" name="Connecteur droit avec flèche 5"/>
          <p:cNvCxnSpPr/>
          <p:nvPr/>
        </p:nvCxnSpPr>
        <p:spPr>
          <a:xfrm>
            <a:off x="6735295" y="2757292"/>
            <a:ext cx="272735"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7" name="Connecteur droit avec flèche 6"/>
          <p:cNvCxnSpPr/>
          <p:nvPr/>
        </p:nvCxnSpPr>
        <p:spPr>
          <a:xfrm flipV="1">
            <a:off x="5368352" y="2839173"/>
            <a:ext cx="523281"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ZoneTexte 7"/>
              <p:cNvSpPr txBox="1"/>
              <p:nvPr/>
            </p:nvSpPr>
            <p:spPr>
              <a:xfrm>
                <a:off x="6693514" y="2463203"/>
                <a:ext cx="343363"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sz="1400" b="1" i="0" smtClean="0">
                          <a:latin typeface="Cambria Math"/>
                        </a:rPr>
                        <m:t>𝐪</m:t>
                      </m:r>
                    </m:oMath>
                  </m:oMathPara>
                </a14:m>
                <a:endParaRPr lang="fr-FR" sz="1400" dirty="0"/>
              </a:p>
            </p:txBody>
          </p:sp>
        </mc:Choice>
        <mc:Fallback xmlns="">
          <p:sp>
            <p:nvSpPr>
              <p:cNvPr id="8" name="ZoneTexte 7"/>
              <p:cNvSpPr txBox="1">
                <a:spLocks noRot="1" noChangeAspect="1" noMove="1" noResize="1" noEditPoints="1" noAdjustHandles="1" noChangeArrowheads="1" noChangeShapeType="1" noTextEdit="1"/>
              </p:cNvSpPr>
              <p:nvPr/>
            </p:nvSpPr>
            <p:spPr>
              <a:xfrm>
                <a:off x="6693514" y="2463203"/>
                <a:ext cx="343363" cy="307777"/>
              </a:xfrm>
              <a:prstGeom prst="rect">
                <a:avLst/>
              </a:prstGeom>
              <a:blipFill rotWithShape="1">
                <a:blip r:embed="rId5"/>
                <a:stretch>
                  <a:fillRect b="-1961"/>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9" name="ZoneTexte 8"/>
              <p:cNvSpPr txBox="1"/>
              <p:nvPr/>
            </p:nvSpPr>
            <p:spPr>
              <a:xfrm>
                <a:off x="5413090" y="2575484"/>
                <a:ext cx="335348"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l-GR" sz="1400" b="1">
                          <a:latin typeface="Cambria Math"/>
                          <a:ea typeface="Cambria Math"/>
                        </a:rPr>
                        <m:t>𝚪</m:t>
                      </m:r>
                    </m:oMath>
                  </m:oMathPara>
                </a14:m>
                <a:endParaRPr lang="fr-FR" sz="1400" dirty="0"/>
              </a:p>
            </p:txBody>
          </p:sp>
        </mc:Choice>
        <mc:Fallback xmlns="">
          <p:sp>
            <p:nvSpPr>
              <p:cNvPr id="9" name="ZoneTexte 8"/>
              <p:cNvSpPr txBox="1">
                <a:spLocks noRot="1" noChangeAspect="1" noMove="1" noResize="1" noEditPoints="1" noAdjustHandles="1" noChangeArrowheads="1" noChangeShapeType="1" noTextEdit="1"/>
              </p:cNvSpPr>
              <p:nvPr/>
            </p:nvSpPr>
            <p:spPr>
              <a:xfrm>
                <a:off x="5413090" y="2575484"/>
                <a:ext cx="335348" cy="307777"/>
              </a:xfrm>
              <a:prstGeom prst="rect">
                <a:avLst/>
              </a:prstGeom>
              <a:blipFill rotWithShape="1">
                <a:blip r:embed="rId6"/>
                <a:stretch>
                  <a:fillRect/>
                </a:stretch>
              </a:blipFill>
            </p:spPr>
            <p:txBody>
              <a:bodyPr/>
              <a:lstStyle/>
              <a:p>
                <a:r>
                  <a:rPr lang="fr-FR">
                    <a:noFill/>
                  </a:rPr>
                  <a:t> </a:t>
                </a:r>
              </a:p>
            </p:txBody>
          </p:sp>
        </mc:Fallback>
      </mc:AlternateContent>
      <p:sp>
        <p:nvSpPr>
          <p:cNvPr id="10" name="Ellipse 9"/>
          <p:cNvSpPr/>
          <p:nvPr/>
        </p:nvSpPr>
        <p:spPr>
          <a:xfrm>
            <a:off x="4144622" y="2746137"/>
            <a:ext cx="216000" cy="21600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cxnSp>
        <p:nvCxnSpPr>
          <p:cNvPr id="11" name="Connecteur droit avec flèche 10"/>
          <p:cNvCxnSpPr>
            <a:stCxn id="33" idx="3"/>
          </p:cNvCxnSpPr>
          <p:nvPr/>
        </p:nvCxnSpPr>
        <p:spPr>
          <a:xfrm flipV="1">
            <a:off x="3592139" y="2849939"/>
            <a:ext cx="55248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 name="Connecteur droit avec flèche 11"/>
          <p:cNvCxnSpPr/>
          <p:nvPr/>
        </p:nvCxnSpPr>
        <p:spPr>
          <a:xfrm flipV="1">
            <a:off x="1832362" y="2191368"/>
            <a:ext cx="523281" cy="571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3" name="Connecteur droit avec flèche 12"/>
          <p:cNvCxnSpPr/>
          <p:nvPr/>
        </p:nvCxnSpPr>
        <p:spPr>
          <a:xfrm flipV="1">
            <a:off x="2588213" y="2185653"/>
            <a:ext cx="523281"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 name="Connecteur droit 13"/>
          <p:cNvCxnSpPr>
            <a:stCxn id="19" idx="0"/>
          </p:cNvCxnSpPr>
          <p:nvPr/>
        </p:nvCxnSpPr>
        <p:spPr>
          <a:xfrm flipV="1">
            <a:off x="2463644" y="1573163"/>
            <a:ext cx="8285" cy="514282"/>
          </a:xfrm>
          <a:prstGeom prst="line">
            <a:avLst/>
          </a:prstGeom>
          <a:ln w="38100">
            <a:headEnd type="arrow"/>
            <a:tailEnd type="none"/>
          </a:ln>
        </p:spPr>
        <p:style>
          <a:lnRef idx="1">
            <a:schemeClr val="accent1"/>
          </a:lnRef>
          <a:fillRef idx="0">
            <a:schemeClr val="accent1"/>
          </a:fillRef>
          <a:effectRef idx="0">
            <a:schemeClr val="accent1"/>
          </a:effectRef>
          <a:fontRef idx="minor">
            <a:schemeClr val="tx1"/>
          </a:fontRef>
        </p:style>
      </p:cxnSp>
      <p:cxnSp>
        <p:nvCxnSpPr>
          <p:cNvPr id="15" name="Connecteur droit 14"/>
          <p:cNvCxnSpPr/>
          <p:nvPr/>
        </p:nvCxnSpPr>
        <p:spPr>
          <a:xfrm>
            <a:off x="4933804" y="1552222"/>
            <a:ext cx="2074226" cy="1"/>
          </a:xfrm>
          <a:prstGeom prst="line">
            <a:avLst/>
          </a:prstGeom>
          <a:ln w="38100">
            <a:headEnd type="arrow"/>
            <a:tailEnd type="none"/>
          </a:ln>
        </p:spPr>
        <p:style>
          <a:lnRef idx="1">
            <a:schemeClr val="accent1"/>
          </a:lnRef>
          <a:fillRef idx="0">
            <a:schemeClr val="accent1"/>
          </a:fillRef>
          <a:effectRef idx="0">
            <a:schemeClr val="accent1"/>
          </a:effectRef>
          <a:fontRef idx="minor">
            <a:schemeClr val="tx1"/>
          </a:fontRef>
        </p:style>
      </p:cxnSp>
      <p:cxnSp>
        <p:nvCxnSpPr>
          <p:cNvPr id="16" name="Connecteur droit 15"/>
          <p:cNvCxnSpPr/>
          <p:nvPr/>
        </p:nvCxnSpPr>
        <p:spPr>
          <a:xfrm flipV="1">
            <a:off x="7008030" y="1552222"/>
            <a:ext cx="0" cy="119809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Connecteur droit 16"/>
          <p:cNvCxnSpPr>
            <a:stCxn id="31" idx="3"/>
          </p:cNvCxnSpPr>
          <p:nvPr/>
        </p:nvCxnSpPr>
        <p:spPr>
          <a:xfrm flipV="1">
            <a:off x="3592139" y="2185653"/>
            <a:ext cx="66876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Connecteur droit 17"/>
          <p:cNvCxnSpPr/>
          <p:nvPr/>
        </p:nvCxnSpPr>
        <p:spPr>
          <a:xfrm>
            <a:off x="4266588" y="2197082"/>
            <a:ext cx="0" cy="544328"/>
          </a:xfrm>
          <a:prstGeom prst="line">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9" name="Ellipse 18"/>
          <p:cNvSpPr/>
          <p:nvPr/>
        </p:nvSpPr>
        <p:spPr>
          <a:xfrm>
            <a:off x="2355644" y="2087445"/>
            <a:ext cx="216000" cy="21600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cxnSp>
        <p:nvCxnSpPr>
          <p:cNvPr id="20" name="Connecteur droit 19"/>
          <p:cNvCxnSpPr/>
          <p:nvPr/>
        </p:nvCxnSpPr>
        <p:spPr>
          <a:xfrm>
            <a:off x="3586458" y="3514437"/>
            <a:ext cx="67444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Connecteur droit 20"/>
          <p:cNvCxnSpPr/>
          <p:nvPr/>
        </p:nvCxnSpPr>
        <p:spPr>
          <a:xfrm flipH="1" flipV="1">
            <a:off x="4266588" y="2951882"/>
            <a:ext cx="0" cy="544328"/>
          </a:xfrm>
          <a:prstGeom prst="line">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2" name="Connecteur droit avec flèche 21"/>
          <p:cNvCxnSpPr/>
          <p:nvPr/>
        </p:nvCxnSpPr>
        <p:spPr>
          <a:xfrm flipV="1">
            <a:off x="2588213" y="3508721"/>
            <a:ext cx="523281" cy="571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3" name="Ellipse 22"/>
          <p:cNvSpPr/>
          <p:nvPr/>
        </p:nvSpPr>
        <p:spPr>
          <a:xfrm>
            <a:off x="2355644" y="3412951"/>
            <a:ext cx="216000" cy="21600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cxnSp>
        <p:nvCxnSpPr>
          <p:cNvPr id="24" name="Connecteur droit avec flèche 23"/>
          <p:cNvCxnSpPr/>
          <p:nvPr/>
        </p:nvCxnSpPr>
        <p:spPr>
          <a:xfrm flipV="1">
            <a:off x="1832361" y="3515823"/>
            <a:ext cx="523281" cy="571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5" name="Connecteur droit 24"/>
          <p:cNvCxnSpPr/>
          <p:nvPr/>
        </p:nvCxnSpPr>
        <p:spPr>
          <a:xfrm flipV="1">
            <a:off x="4802996" y="4119565"/>
            <a:ext cx="2216952" cy="4190"/>
          </a:xfrm>
          <a:prstGeom prst="line">
            <a:avLst/>
          </a:prstGeom>
          <a:ln w="38100">
            <a:headEnd type="arrow"/>
            <a:tailEnd type="none"/>
          </a:ln>
        </p:spPr>
        <p:style>
          <a:lnRef idx="1">
            <a:schemeClr val="accent1"/>
          </a:lnRef>
          <a:fillRef idx="0">
            <a:schemeClr val="accent1"/>
          </a:fillRef>
          <a:effectRef idx="0">
            <a:schemeClr val="accent1"/>
          </a:effectRef>
          <a:fontRef idx="minor">
            <a:schemeClr val="tx1"/>
          </a:fontRef>
        </p:style>
      </p:cxnSp>
      <p:cxnSp>
        <p:nvCxnSpPr>
          <p:cNvPr id="26" name="Connecteur droit 25"/>
          <p:cNvCxnSpPr/>
          <p:nvPr/>
        </p:nvCxnSpPr>
        <p:spPr>
          <a:xfrm flipH="1" flipV="1">
            <a:off x="2471928" y="3626221"/>
            <a:ext cx="1" cy="493344"/>
          </a:xfrm>
          <a:prstGeom prst="line">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7" name="Connecteur droit 26"/>
          <p:cNvCxnSpPr/>
          <p:nvPr/>
        </p:nvCxnSpPr>
        <p:spPr>
          <a:xfrm flipH="1" flipV="1">
            <a:off x="7019948" y="2919666"/>
            <a:ext cx="0" cy="1204088"/>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ZoneTexte 27"/>
              <p:cNvSpPr txBox="1"/>
              <p:nvPr/>
            </p:nvSpPr>
            <p:spPr>
              <a:xfrm>
                <a:off x="3111493" y="3377689"/>
                <a:ext cx="480645" cy="307777"/>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sSub>
                        <m:sSubPr>
                          <m:ctrlPr>
                            <a:rPr lang="fr-FR" sz="1400" i="1" smtClean="0">
                              <a:latin typeface="Cambria Math" panose="02040503050406030204" pitchFamily="18" charset="0"/>
                            </a:rPr>
                          </m:ctrlPr>
                        </m:sSubPr>
                        <m:e>
                          <m:r>
                            <a:rPr lang="fr-FR" sz="1400" b="1" i="0" smtClean="0">
                              <a:latin typeface="Cambria Math"/>
                            </a:rPr>
                            <m:t>𝐊</m:t>
                          </m:r>
                        </m:e>
                        <m:sub>
                          <m:r>
                            <a:rPr lang="fr-FR" sz="1400" b="0" i="1" smtClean="0">
                              <a:latin typeface="Cambria Math"/>
                            </a:rPr>
                            <m:t>𝐷</m:t>
                          </m:r>
                        </m:sub>
                      </m:sSub>
                    </m:oMath>
                  </m:oMathPara>
                </a14:m>
                <a:endParaRPr lang="fr-FR" sz="1400" dirty="0"/>
              </a:p>
            </p:txBody>
          </p:sp>
        </mc:Choice>
        <mc:Fallback xmlns="">
          <p:sp>
            <p:nvSpPr>
              <p:cNvPr id="28" name="ZoneTexte 27"/>
              <p:cNvSpPr txBox="1">
                <a:spLocks noRot="1" noChangeAspect="1" noMove="1" noResize="1" noEditPoints="1" noAdjustHandles="1" noChangeArrowheads="1" noChangeShapeType="1" noTextEdit="1"/>
              </p:cNvSpPr>
              <p:nvPr/>
            </p:nvSpPr>
            <p:spPr>
              <a:xfrm>
                <a:off x="3111493" y="3377689"/>
                <a:ext cx="480645" cy="307777"/>
              </a:xfrm>
              <a:prstGeom prst="rect">
                <a:avLst/>
              </a:prstGeom>
              <a:blipFill rotWithShape="1">
                <a:blip r:embed="rId7"/>
                <a:stretch>
                  <a:fillRect/>
                </a:stretch>
              </a:blipFill>
              <a:ln w="25400"/>
            </p:spPr>
            <p:txBody>
              <a:bodyPr/>
              <a:lstStyle/>
              <a:p>
                <a:r>
                  <a:rPr lang="fr-FR">
                    <a:noFill/>
                  </a:rPr>
                  <a:t> </a:t>
                </a:r>
              </a:p>
            </p:txBody>
          </p:sp>
        </mc:Fallback>
      </mc:AlternateContent>
      <p:cxnSp>
        <p:nvCxnSpPr>
          <p:cNvPr id="29" name="Connecteur droit avec flèche 28"/>
          <p:cNvCxnSpPr/>
          <p:nvPr/>
        </p:nvCxnSpPr>
        <p:spPr>
          <a:xfrm>
            <a:off x="6735295" y="2905015"/>
            <a:ext cx="287623"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sp>
        <p:nvSpPr>
          <p:cNvPr id="30" name="ZoneTexte 29"/>
          <p:cNvSpPr txBox="1"/>
          <p:nvPr/>
        </p:nvSpPr>
        <p:spPr>
          <a:xfrm>
            <a:off x="5919553" y="2692251"/>
            <a:ext cx="815742" cy="307777"/>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sz="1400" dirty="0"/>
              <a:t>Robot</a:t>
            </a:r>
          </a:p>
        </p:txBody>
      </p:sp>
      <mc:AlternateContent xmlns:mc="http://schemas.openxmlformats.org/markup-compatibility/2006" xmlns:a14="http://schemas.microsoft.com/office/drawing/2010/main">
        <mc:Choice Requires="a14">
          <p:sp>
            <p:nvSpPr>
              <p:cNvPr id="31" name="ZoneTexte 30"/>
              <p:cNvSpPr txBox="1"/>
              <p:nvPr/>
            </p:nvSpPr>
            <p:spPr>
              <a:xfrm>
                <a:off x="3111494" y="2053570"/>
                <a:ext cx="480645" cy="307777"/>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sSub>
                        <m:sSubPr>
                          <m:ctrlPr>
                            <a:rPr lang="fr-FR" sz="1400" i="1" smtClean="0">
                              <a:latin typeface="Cambria Math" panose="02040503050406030204" pitchFamily="18" charset="0"/>
                            </a:rPr>
                          </m:ctrlPr>
                        </m:sSubPr>
                        <m:e>
                          <m:r>
                            <a:rPr lang="fr-FR" sz="1400" b="1" i="0" smtClean="0">
                              <a:latin typeface="Cambria Math"/>
                            </a:rPr>
                            <m:t>𝐊</m:t>
                          </m:r>
                        </m:e>
                        <m:sub>
                          <m:r>
                            <a:rPr lang="fr-FR" sz="1400" b="0" i="1" smtClean="0">
                              <a:latin typeface="Cambria Math"/>
                            </a:rPr>
                            <m:t>𝑃</m:t>
                          </m:r>
                        </m:sub>
                      </m:sSub>
                    </m:oMath>
                  </m:oMathPara>
                </a14:m>
                <a:endParaRPr lang="fr-FR" sz="1400" dirty="0"/>
              </a:p>
            </p:txBody>
          </p:sp>
        </mc:Choice>
        <mc:Fallback xmlns="">
          <p:sp>
            <p:nvSpPr>
              <p:cNvPr id="31" name="ZoneTexte 30"/>
              <p:cNvSpPr txBox="1">
                <a:spLocks noRot="1" noChangeAspect="1" noMove="1" noResize="1" noEditPoints="1" noAdjustHandles="1" noChangeArrowheads="1" noChangeShapeType="1" noTextEdit="1"/>
              </p:cNvSpPr>
              <p:nvPr/>
            </p:nvSpPr>
            <p:spPr>
              <a:xfrm>
                <a:off x="3111494" y="2053570"/>
                <a:ext cx="480645" cy="307777"/>
              </a:xfrm>
              <a:prstGeom prst="rect">
                <a:avLst/>
              </a:prstGeom>
              <a:blipFill rotWithShape="1">
                <a:blip r:embed="rId8"/>
                <a:stretch>
                  <a:fillRect/>
                </a:stretch>
              </a:blipFill>
              <a:ln w="25400"/>
            </p:spPr>
            <p:txBody>
              <a:bodyPr/>
              <a:lstStyle/>
              <a:p>
                <a:r>
                  <a:rPr lang="fr-FR">
                    <a:noFill/>
                  </a:rPr>
                  <a:t> </a:t>
                </a:r>
              </a:p>
            </p:txBody>
          </p:sp>
        </mc:Fallback>
      </mc:AlternateContent>
      <p:cxnSp>
        <p:nvCxnSpPr>
          <p:cNvPr id="32" name="Connecteur droit 31"/>
          <p:cNvCxnSpPr/>
          <p:nvPr/>
        </p:nvCxnSpPr>
        <p:spPr>
          <a:xfrm>
            <a:off x="2714704" y="2201810"/>
            <a:ext cx="0" cy="655084"/>
          </a:xfrm>
          <a:prstGeom prst="line">
            <a:avLst/>
          </a:prstGeom>
          <a:ln w="38100">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ZoneTexte 32"/>
              <p:cNvSpPr txBox="1"/>
              <p:nvPr/>
            </p:nvSpPr>
            <p:spPr>
              <a:xfrm>
                <a:off x="3111494" y="2720146"/>
                <a:ext cx="480645" cy="315920"/>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sSub>
                        <m:sSubPr>
                          <m:ctrlPr>
                            <a:rPr lang="fr-FR" sz="1400" i="1" smtClean="0">
                              <a:latin typeface="Cambria Math" panose="02040503050406030204" pitchFamily="18" charset="0"/>
                            </a:rPr>
                          </m:ctrlPr>
                        </m:sSubPr>
                        <m:e>
                          <m:r>
                            <a:rPr lang="fr-FR" sz="1400" b="1" i="0" smtClean="0">
                              <a:latin typeface="Cambria Math"/>
                            </a:rPr>
                            <m:t>𝐊</m:t>
                          </m:r>
                        </m:e>
                        <m:sub>
                          <m:r>
                            <a:rPr lang="fr-FR" sz="1400" b="0" i="1" smtClean="0">
                              <a:latin typeface="Cambria Math"/>
                            </a:rPr>
                            <m:t>𝐼</m:t>
                          </m:r>
                        </m:sub>
                      </m:sSub>
                      <m:r>
                        <a:rPr lang="fr-FR" sz="1400" i="1" smtClean="0">
                          <a:latin typeface="Cambria Math"/>
                          <a:ea typeface="Cambria Math"/>
                        </a:rPr>
                        <m:t>∫</m:t>
                      </m:r>
                    </m:oMath>
                  </m:oMathPara>
                </a14:m>
                <a:endParaRPr lang="fr-FR" sz="1400" dirty="0"/>
              </a:p>
            </p:txBody>
          </p:sp>
        </mc:Choice>
        <mc:Fallback xmlns="">
          <p:sp>
            <p:nvSpPr>
              <p:cNvPr id="33" name="ZoneTexte 32"/>
              <p:cNvSpPr txBox="1">
                <a:spLocks noRot="1" noChangeAspect="1" noMove="1" noResize="1" noEditPoints="1" noAdjustHandles="1" noChangeArrowheads="1" noChangeShapeType="1" noTextEdit="1"/>
              </p:cNvSpPr>
              <p:nvPr/>
            </p:nvSpPr>
            <p:spPr>
              <a:xfrm>
                <a:off x="3111494" y="2720146"/>
                <a:ext cx="480645" cy="315920"/>
              </a:xfrm>
              <a:prstGeom prst="rect">
                <a:avLst/>
              </a:prstGeom>
              <a:blipFill rotWithShape="1">
                <a:blip r:embed="rId9"/>
                <a:stretch>
                  <a:fillRect/>
                </a:stretch>
              </a:blipFill>
              <a:ln w="25400"/>
            </p:spPr>
            <p:txBody>
              <a:bodyPr/>
              <a:lstStyle/>
              <a:p>
                <a:r>
                  <a:rPr lang="fr-FR">
                    <a:noFill/>
                  </a:rPr>
                  <a:t> </a:t>
                </a:r>
              </a:p>
            </p:txBody>
          </p:sp>
        </mc:Fallback>
      </mc:AlternateContent>
      <p:cxnSp>
        <p:nvCxnSpPr>
          <p:cNvPr id="34" name="Connecteur droit 33"/>
          <p:cNvCxnSpPr>
            <a:endCxn id="33" idx="1"/>
          </p:cNvCxnSpPr>
          <p:nvPr/>
        </p:nvCxnSpPr>
        <p:spPr>
          <a:xfrm>
            <a:off x="2714704" y="2856894"/>
            <a:ext cx="396790" cy="0"/>
          </a:xfrm>
          <a:prstGeom prst="line">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ZoneTexte 34"/>
              <p:cNvSpPr txBox="1"/>
              <p:nvPr/>
            </p:nvSpPr>
            <p:spPr>
              <a:xfrm>
                <a:off x="6701816" y="2867987"/>
                <a:ext cx="343363"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fr-FR" sz="1400" b="1" i="1" smtClean="0">
                              <a:latin typeface="Cambria Math" panose="02040503050406030204" pitchFamily="18" charset="0"/>
                            </a:rPr>
                          </m:ctrlPr>
                        </m:accPr>
                        <m:e>
                          <m:r>
                            <a:rPr lang="fr-FR" sz="1400" b="1" i="0" smtClean="0">
                              <a:latin typeface="Cambria Math"/>
                            </a:rPr>
                            <m:t>𝐪</m:t>
                          </m:r>
                        </m:e>
                      </m:acc>
                    </m:oMath>
                  </m:oMathPara>
                </a14:m>
                <a:endParaRPr lang="fr-FR" sz="1400" dirty="0"/>
              </a:p>
            </p:txBody>
          </p:sp>
        </mc:Choice>
        <mc:Fallback xmlns="">
          <p:sp>
            <p:nvSpPr>
              <p:cNvPr id="35" name="ZoneTexte 34"/>
              <p:cNvSpPr txBox="1">
                <a:spLocks noRot="1" noChangeAspect="1" noMove="1" noResize="1" noEditPoints="1" noAdjustHandles="1" noChangeArrowheads="1" noChangeShapeType="1" noTextEdit="1"/>
              </p:cNvSpPr>
              <p:nvPr/>
            </p:nvSpPr>
            <p:spPr>
              <a:xfrm>
                <a:off x="6701816" y="2867987"/>
                <a:ext cx="343363" cy="307777"/>
              </a:xfrm>
              <a:prstGeom prst="rect">
                <a:avLst/>
              </a:prstGeom>
              <a:blipFill rotWithShape="1">
                <a:blip r:embed="rId10"/>
                <a:stretch>
                  <a:fillRect b="-1961"/>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6" name="ZoneTexte 35"/>
              <p:cNvSpPr txBox="1"/>
              <p:nvPr/>
            </p:nvSpPr>
            <p:spPr>
              <a:xfrm>
                <a:off x="1764914" y="3213194"/>
                <a:ext cx="435760" cy="31585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sz="1400" b="1" i="1" smtClean="0">
                              <a:latin typeface="Cambria Math" panose="02040503050406030204" pitchFamily="18" charset="0"/>
                            </a:rPr>
                          </m:ctrlPr>
                        </m:sSupPr>
                        <m:e>
                          <m:acc>
                            <m:accPr>
                              <m:chr m:val="̇"/>
                              <m:ctrlPr>
                                <a:rPr lang="fr-FR" sz="1400" b="1" i="1" smtClean="0">
                                  <a:latin typeface="Cambria Math" panose="02040503050406030204" pitchFamily="18" charset="0"/>
                                </a:rPr>
                              </m:ctrlPr>
                            </m:accPr>
                            <m:e>
                              <m:r>
                                <a:rPr lang="fr-FR" sz="1400" b="1" i="0" smtClean="0">
                                  <a:latin typeface="Cambria Math"/>
                                </a:rPr>
                                <m:t>𝐱</m:t>
                              </m:r>
                            </m:e>
                          </m:acc>
                        </m:e>
                        <m:sup>
                          <m:r>
                            <a:rPr lang="fr-FR" sz="1400" b="1" i="1" smtClean="0">
                              <a:latin typeface="Cambria Math"/>
                            </a:rPr>
                            <m:t>𝒅</m:t>
                          </m:r>
                        </m:sup>
                      </m:sSup>
                    </m:oMath>
                  </m:oMathPara>
                </a14:m>
                <a:endParaRPr lang="fr-FR" sz="1400" dirty="0"/>
              </a:p>
            </p:txBody>
          </p:sp>
        </mc:Choice>
        <mc:Fallback xmlns="">
          <p:sp>
            <p:nvSpPr>
              <p:cNvPr id="36" name="ZoneTexte 35"/>
              <p:cNvSpPr txBox="1">
                <a:spLocks noRot="1" noChangeAspect="1" noMove="1" noResize="1" noEditPoints="1" noAdjustHandles="1" noChangeArrowheads="1" noChangeShapeType="1" noTextEdit="1"/>
              </p:cNvSpPr>
              <p:nvPr/>
            </p:nvSpPr>
            <p:spPr>
              <a:xfrm>
                <a:off x="1764914" y="3213194"/>
                <a:ext cx="435760" cy="315856"/>
              </a:xfrm>
              <a:prstGeom prst="rect">
                <a:avLst/>
              </a:prstGeom>
              <a:blipFill rotWithShape="1">
                <a:blip r:embed="rId11"/>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7" name="ZoneTexte 36"/>
              <p:cNvSpPr txBox="1"/>
              <p:nvPr/>
            </p:nvSpPr>
            <p:spPr>
              <a:xfrm>
                <a:off x="1778011" y="1898831"/>
                <a:ext cx="435760" cy="31585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sz="1400" b="1" i="1" smtClean="0">
                              <a:latin typeface="Cambria Math" panose="02040503050406030204" pitchFamily="18" charset="0"/>
                            </a:rPr>
                          </m:ctrlPr>
                        </m:sSupPr>
                        <m:e>
                          <m:r>
                            <a:rPr lang="fr-FR" sz="1400" b="1" i="0" smtClean="0">
                              <a:latin typeface="Cambria Math"/>
                            </a:rPr>
                            <m:t>𝐱</m:t>
                          </m:r>
                        </m:e>
                        <m:sup>
                          <m:r>
                            <a:rPr lang="fr-FR" sz="1400" b="1" i="1" smtClean="0">
                              <a:latin typeface="Cambria Math"/>
                            </a:rPr>
                            <m:t>𝒅</m:t>
                          </m:r>
                        </m:sup>
                      </m:sSup>
                    </m:oMath>
                  </m:oMathPara>
                </a14:m>
                <a:endParaRPr lang="fr-FR" sz="1400" dirty="0"/>
              </a:p>
            </p:txBody>
          </p:sp>
        </mc:Choice>
        <mc:Fallback xmlns="">
          <p:sp>
            <p:nvSpPr>
              <p:cNvPr id="37" name="ZoneTexte 36"/>
              <p:cNvSpPr txBox="1">
                <a:spLocks noRot="1" noChangeAspect="1" noMove="1" noResize="1" noEditPoints="1" noAdjustHandles="1" noChangeArrowheads="1" noChangeShapeType="1" noTextEdit="1"/>
              </p:cNvSpPr>
              <p:nvPr/>
            </p:nvSpPr>
            <p:spPr>
              <a:xfrm>
                <a:off x="1778011" y="1898831"/>
                <a:ext cx="435760" cy="315856"/>
              </a:xfrm>
              <a:prstGeom prst="rect">
                <a:avLst/>
              </a:prstGeom>
              <a:blipFill rotWithShape="1">
                <a:blip r:embed="rId12"/>
                <a:stretch>
                  <a:fillRect/>
                </a:stretch>
              </a:blipFill>
            </p:spPr>
            <p:txBody>
              <a:bodyPr/>
              <a:lstStyle/>
              <a:p>
                <a:r>
                  <a:rPr lang="fr-FR">
                    <a:noFill/>
                  </a:rPr>
                  <a:t> </a:t>
                </a:r>
              </a:p>
            </p:txBody>
          </p:sp>
        </mc:Fallback>
      </mc:AlternateContent>
      <p:graphicFrame>
        <p:nvGraphicFramePr>
          <p:cNvPr id="38" name="Objet 37"/>
          <p:cNvGraphicFramePr>
            <a:graphicFrameLocks noChangeAspect="1"/>
          </p:cNvGraphicFramePr>
          <p:nvPr>
            <p:extLst>
              <p:ext uri="{D42A27DB-BD31-4B8C-83A1-F6EECF244321}">
                <p14:modId xmlns:p14="http://schemas.microsoft.com/office/powerpoint/2010/main" val="3344482832"/>
              </p:ext>
            </p:extLst>
          </p:nvPr>
        </p:nvGraphicFramePr>
        <p:xfrm>
          <a:off x="2260803" y="3732061"/>
          <a:ext cx="175720" cy="113158"/>
        </p:xfrm>
        <a:graphic>
          <a:graphicData uri="http://schemas.openxmlformats.org/presentationml/2006/ole">
            <mc:AlternateContent xmlns:mc="http://schemas.openxmlformats.org/markup-compatibility/2006">
              <mc:Choice xmlns:v="urn:schemas-microsoft-com:vml" Requires="v">
                <p:oleObj name="Equation" r:id="rId13" imgW="139639" imgH="101556" progId="Equation.DSMT4">
                  <p:embed/>
                </p:oleObj>
              </mc:Choice>
              <mc:Fallback>
                <p:oleObj name="Equation" r:id="rId13" imgW="139639" imgH="101556"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60803" y="3732061"/>
                        <a:ext cx="175720" cy="113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 name="Objet 38"/>
          <p:cNvGraphicFramePr>
            <a:graphicFrameLocks noChangeAspect="1"/>
          </p:cNvGraphicFramePr>
          <p:nvPr>
            <p:extLst>
              <p:ext uri="{D42A27DB-BD31-4B8C-83A1-F6EECF244321}">
                <p14:modId xmlns:p14="http://schemas.microsoft.com/office/powerpoint/2010/main" val="1530589494"/>
              </p:ext>
            </p:extLst>
          </p:nvPr>
        </p:nvGraphicFramePr>
        <p:xfrm>
          <a:off x="2246716" y="1901623"/>
          <a:ext cx="175720" cy="113158"/>
        </p:xfrm>
        <a:graphic>
          <a:graphicData uri="http://schemas.openxmlformats.org/presentationml/2006/ole">
            <mc:AlternateContent xmlns:mc="http://schemas.openxmlformats.org/markup-compatibility/2006">
              <mc:Choice xmlns:v="urn:schemas-microsoft-com:vml" Requires="v">
                <p:oleObj name="Equation" r:id="rId15" imgW="139639" imgH="101556" progId="Equation.DSMT4">
                  <p:embed/>
                </p:oleObj>
              </mc:Choice>
              <mc:Fallback>
                <p:oleObj name="Equation" r:id="rId15" imgW="139639" imgH="101556"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46716" y="1901623"/>
                        <a:ext cx="175720" cy="113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 name="Objet 39"/>
          <p:cNvGraphicFramePr>
            <a:graphicFrameLocks noChangeAspect="1"/>
          </p:cNvGraphicFramePr>
          <p:nvPr>
            <p:extLst>
              <p:ext uri="{D42A27DB-BD31-4B8C-83A1-F6EECF244321}">
                <p14:modId xmlns:p14="http://schemas.microsoft.com/office/powerpoint/2010/main" val="3641192619"/>
              </p:ext>
            </p:extLst>
          </p:nvPr>
        </p:nvGraphicFramePr>
        <p:xfrm>
          <a:off x="4098197" y="2522884"/>
          <a:ext cx="125230" cy="110785"/>
        </p:xfrm>
        <a:graphic>
          <a:graphicData uri="http://schemas.openxmlformats.org/presentationml/2006/ole">
            <mc:AlternateContent xmlns:mc="http://schemas.openxmlformats.org/markup-compatibility/2006">
              <mc:Choice xmlns:v="urn:schemas-microsoft-com:vml" Requires="v">
                <p:oleObj name="Equation" r:id="rId16" imgW="139680" imgH="139680" progId="Equation.DSMT4">
                  <p:embed/>
                </p:oleObj>
              </mc:Choice>
              <mc:Fallback>
                <p:oleObj name="Equation" r:id="rId16" imgW="139680" imgH="139680" progId="Equation.DSMT4">
                  <p:embed/>
                  <p:pic>
                    <p:nvPicPr>
                      <p:cNvPr id="0" name=""/>
                      <p:cNvPicPr>
                        <a:picLocks noChangeAspect="1" noChangeArrowheads="1"/>
                      </p:cNvPicPr>
                      <p:nvPr/>
                    </p:nvPicPr>
                    <p:blipFill>
                      <a:blip r:embed="rId17"/>
                      <a:srcRect/>
                      <a:stretch>
                        <a:fillRect/>
                      </a:stretch>
                    </p:blipFill>
                    <p:spPr bwMode="auto">
                      <a:xfrm>
                        <a:off x="4098197" y="2522884"/>
                        <a:ext cx="125230" cy="110785"/>
                      </a:xfrm>
                      <a:prstGeom prst="rect">
                        <a:avLst/>
                      </a:prstGeom>
                      <a:noFill/>
                      <a:ln>
                        <a:noFill/>
                      </a:ln>
                      <a:effectLst/>
                    </p:spPr>
                  </p:pic>
                </p:oleObj>
              </mc:Fallback>
            </mc:AlternateContent>
          </a:graphicData>
        </a:graphic>
      </p:graphicFrame>
      <p:graphicFrame>
        <p:nvGraphicFramePr>
          <p:cNvPr id="41" name="Objet 40"/>
          <p:cNvGraphicFramePr>
            <a:graphicFrameLocks noChangeAspect="1"/>
          </p:cNvGraphicFramePr>
          <p:nvPr>
            <p:extLst>
              <p:ext uri="{D42A27DB-BD31-4B8C-83A1-F6EECF244321}">
                <p14:modId xmlns:p14="http://schemas.microsoft.com/office/powerpoint/2010/main" val="172831186"/>
              </p:ext>
            </p:extLst>
          </p:nvPr>
        </p:nvGraphicFramePr>
        <p:xfrm>
          <a:off x="3898603" y="2683721"/>
          <a:ext cx="125329" cy="110872"/>
        </p:xfrm>
        <a:graphic>
          <a:graphicData uri="http://schemas.openxmlformats.org/presentationml/2006/ole">
            <mc:AlternateContent xmlns:mc="http://schemas.openxmlformats.org/markup-compatibility/2006">
              <mc:Choice xmlns:v="urn:schemas-microsoft-com:vml" Requires="v">
                <p:oleObj name="Equation" r:id="rId18" imgW="139680" imgH="139680" progId="Equation.DSMT4">
                  <p:embed/>
                </p:oleObj>
              </mc:Choice>
              <mc:Fallback>
                <p:oleObj name="Equation" r:id="rId18" imgW="139680" imgH="139680"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898603" y="2683721"/>
                        <a:ext cx="125329" cy="110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2" name="Objet 41"/>
          <p:cNvGraphicFramePr>
            <a:graphicFrameLocks noChangeAspect="1"/>
          </p:cNvGraphicFramePr>
          <p:nvPr>
            <p:extLst>
              <p:ext uri="{D42A27DB-BD31-4B8C-83A1-F6EECF244321}">
                <p14:modId xmlns:p14="http://schemas.microsoft.com/office/powerpoint/2010/main" val="1993475634"/>
              </p:ext>
            </p:extLst>
          </p:nvPr>
        </p:nvGraphicFramePr>
        <p:xfrm>
          <a:off x="4091168" y="3064284"/>
          <a:ext cx="125329" cy="110872"/>
        </p:xfrm>
        <a:graphic>
          <a:graphicData uri="http://schemas.openxmlformats.org/presentationml/2006/ole">
            <mc:AlternateContent xmlns:mc="http://schemas.openxmlformats.org/markup-compatibility/2006">
              <mc:Choice xmlns:v="urn:schemas-microsoft-com:vml" Requires="v">
                <p:oleObj name="Equation" r:id="rId20" imgW="139680" imgH="139680" progId="Equation.DSMT4">
                  <p:embed/>
                </p:oleObj>
              </mc:Choice>
              <mc:Fallback>
                <p:oleObj name="Equation" r:id="rId20" imgW="139680" imgH="139680"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091168" y="3064284"/>
                        <a:ext cx="125329" cy="110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 name="Objet 42"/>
          <p:cNvGraphicFramePr>
            <a:graphicFrameLocks noChangeAspect="1"/>
          </p:cNvGraphicFramePr>
          <p:nvPr>
            <p:extLst>
              <p:ext uri="{D42A27DB-BD31-4B8C-83A1-F6EECF244321}">
                <p14:modId xmlns:p14="http://schemas.microsoft.com/office/powerpoint/2010/main" val="1057376749"/>
              </p:ext>
            </p:extLst>
          </p:nvPr>
        </p:nvGraphicFramePr>
        <p:xfrm>
          <a:off x="2137967" y="3574341"/>
          <a:ext cx="125413" cy="111125"/>
        </p:xfrm>
        <a:graphic>
          <a:graphicData uri="http://schemas.openxmlformats.org/presentationml/2006/ole">
            <mc:AlternateContent xmlns:mc="http://schemas.openxmlformats.org/markup-compatibility/2006">
              <mc:Choice xmlns:v="urn:schemas-microsoft-com:vml" Requires="v">
                <p:oleObj name="Equation" r:id="rId21" imgW="139700" imgH="139700" progId="Equation.DSMT4">
                  <p:embed/>
                </p:oleObj>
              </mc:Choice>
              <mc:Fallback>
                <p:oleObj name="Equation" r:id="rId21" imgW="139700" imgH="139700"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137967" y="3574341"/>
                        <a:ext cx="125413" cy="11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4" name="Objet 43"/>
          <p:cNvGraphicFramePr>
            <a:graphicFrameLocks noChangeAspect="1"/>
          </p:cNvGraphicFramePr>
          <p:nvPr>
            <p:extLst>
              <p:ext uri="{D42A27DB-BD31-4B8C-83A1-F6EECF244321}">
                <p14:modId xmlns:p14="http://schemas.microsoft.com/office/powerpoint/2010/main" val="708900678"/>
              </p:ext>
            </p:extLst>
          </p:nvPr>
        </p:nvGraphicFramePr>
        <p:xfrm>
          <a:off x="2094002" y="2266829"/>
          <a:ext cx="125413" cy="111125"/>
        </p:xfrm>
        <a:graphic>
          <a:graphicData uri="http://schemas.openxmlformats.org/presentationml/2006/ole">
            <mc:AlternateContent xmlns:mc="http://schemas.openxmlformats.org/markup-compatibility/2006">
              <mc:Choice xmlns:v="urn:schemas-microsoft-com:vml" Requires="v">
                <p:oleObj name="Equation" r:id="rId22" imgW="139700" imgH="139700" progId="Equation.DSMT4">
                  <p:embed/>
                </p:oleObj>
              </mc:Choice>
              <mc:Fallback>
                <p:oleObj name="Equation" r:id="rId22" imgW="139700" imgH="139700"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094002" y="2266829"/>
                        <a:ext cx="125413" cy="11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49" name="Connecteur droit 48"/>
          <p:cNvCxnSpPr>
            <a:endCxn id="48" idx="1"/>
          </p:cNvCxnSpPr>
          <p:nvPr/>
        </p:nvCxnSpPr>
        <p:spPr>
          <a:xfrm>
            <a:off x="2467786" y="1552222"/>
            <a:ext cx="1837804" cy="1"/>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8" name="ZoneTexte 47"/>
          <p:cNvSpPr txBox="1"/>
          <p:nvPr/>
        </p:nvSpPr>
        <p:spPr>
          <a:xfrm>
            <a:off x="4305590" y="1398334"/>
            <a:ext cx="628213" cy="307777"/>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sz="1400" dirty="0"/>
              <a:t>MGD</a:t>
            </a:r>
          </a:p>
        </p:txBody>
      </p:sp>
      <p:cxnSp>
        <p:nvCxnSpPr>
          <p:cNvPr id="54" name="Connecteur droit 53"/>
          <p:cNvCxnSpPr>
            <a:endCxn id="53" idx="1"/>
          </p:cNvCxnSpPr>
          <p:nvPr/>
        </p:nvCxnSpPr>
        <p:spPr>
          <a:xfrm>
            <a:off x="2471929" y="4119565"/>
            <a:ext cx="1833661" cy="4189"/>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ZoneTexte 52"/>
              <p:cNvSpPr txBox="1"/>
              <p:nvPr/>
            </p:nvSpPr>
            <p:spPr>
              <a:xfrm>
                <a:off x="4305590" y="3969865"/>
                <a:ext cx="488612" cy="307777"/>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r>
                        <a:rPr lang="fr-FR" sz="1400" b="1" i="0" dirty="0" smtClean="0">
                          <a:latin typeface="Cambria Math"/>
                        </a:rPr>
                        <m:t>𝐉</m:t>
                      </m:r>
                    </m:oMath>
                  </m:oMathPara>
                </a14:m>
                <a:endParaRPr lang="fr-FR" sz="1400" dirty="0"/>
              </a:p>
            </p:txBody>
          </p:sp>
        </mc:Choice>
        <mc:Fallback xmlns="">
          <p:sp>
            <p:nvSpPr>
              <p:cNvPr id="53" name="ZoneTexte 52"/>
              <p:cNvSpPr txBox="1">
                <a:spLocks noRot="1" noChangeAspect="1" noMove="1" noResize="1" noEditPoints="1" noAdjustHandles="1" noChangeArrowheads="1" noChangeShapeType="1" noTextEdit="1"/>
              </p:cNvSpPr>
              <p:nvPr/>
            </p:nvSpPr>
            <p:spPr>
              <a:xfrm>
                <a:off x="4305590" y="3969865"/>
                <a:ext cx="488612" cy="307777"/>
              </a:xfrm>
              <a:prstGeom prst="rect">
                <a:avLst/>
              </a:prstGeom>
              <a:blipFill rotWithShape="1">
                <a:blip r:embed="rId23"/>
                <a:stretch>
                  <a:fillRect/>
                </a:stretch>
              </a:blipFill>
              <a:ln w="25400"/>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0" name="ZoneTexte 69"/>
              <p:cNvSpPr txBox="1"/>
              <p:nvPr/>
            </p:nvSpPr>
            <p:spPr>
              <a:xfrm>
                <a:off x="4933803" y="2703277"/>
                <a:ext cx="413608" cy="307777"/>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sSup>
                        <m:sSupPr>
                          <m:ctrlPr>
                            <a:rPr lang="fr-FR" sz="1400" i="1" smtClean="0">
                              <a:latin typeface="Cambria Math" panose="02040503050406030204" pitchFamily="18" charset="0"/>
                            </a:rPr>
                          </m:ctrlPr>
                        </m:sSupPr>
                        <m:e>
                          <m:r>
                            <a:rPr lang="fr-FR" sz="1400" b="1" i="0" smtClean="0">
                              <a:latin typeface="Cambria Math"/>
                            </a:rPr>
                            <m:t>𝐉</m:t>
                          </m:r>
                        </m:e>
                        <m:sup>
                          <m:r>
                            <a:rPr lang="fr-FR" sz="1400" b="0" i="1" smtClean="0">
                              <a:latin typeface="Cambria Math"/>
                            </a:rPr>
                            <m:t>𝑇</m:t>
                          </m:r>
                        </m:sup>
                      </m:sSup>
                    </m:oMath>
                  </m:oMathPara>
                </a14:m>
                <a:endParaRPr lang="fr-FR" sz="1400" dirty="0"/>
              </a:p>
            </p:txBody>
          </p:sp>
        </mc:Choice>
        <mc:Fallback xmlns="">
          <p:sp>
            <p:nvSpPr>
              <p:cNvPr id="70" name="ZoneTexte 69"/>
              <p:cNvSpPr txBox="1">
                <a:spLocks noRot="1" noChangeAspect="1" noMove="1" noResize="1" noEditPoints="1" noAdjustHandles="1" noChangeArrowheads="1" noChangeShapeType="1" noTextEdit="1"/>
              </p:cNvSpPr>
              <p:nvPr/>
            </p:nvSpPr>
            <p:spPr>
              <a:xfrm>
                <a:off x="4933803" y="2703277"/>
                <a:ext cx="413608" cy="307777"/>
              </a:xfrm>
              <a:prstGeom prst="rect">
                <a:avLst/>
              </a:prstGeom>
              <a:blipFill rotWithShape="1">
                <a:blip r:embed="rId24"/>
                <a:stretch>
                  <a:fillRect/>
                </a:stretch>
              </a:blipFill>
              <a:ln w="25400"/>
            </p:spPr>
            <p:txBody>
              <a:bodyPr/>
              <a:lstStyle/>
              <a:p>
                <a:r>
                  <a:rPr lang="fr-FR">
                    <a:noFill/>
                  </a:rPr>
                  <a:t> </a:t>
                </a:r>
              </a:p>
            </p:txBody>
          </p:sp>
        </mc:Fallback>
      </mc:AlternateContent>
      <p:cxnSp>
        <p:nvCxnSpPr>
          <p:cNvPr id="82" name="Connecteur droit avec flèche 81"/>
          <p:cNvCxnSpPr/>
          <p:nvPr/>
        </p:nvCxnSpPr>
        <p:spPr>
          <a:xfrm flipV="1">
            <a:off x="4380530" y="2851944"/>
            <a:ext cx="523281"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7" name="ZoneTexte 86"/>
              <p:cNvSpPr txBox="1"/>
              <p:nvPr/>
            </p:nvSpPr>
            <p:spPr>
              <a:xfrm>
                <a:off x="3864359" y="3850831"/>
                <a:ext cx="32893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fr-FR" sz="1400" b="1" i="1" smtClean="0">
                              <a:latin typeface="Cambria Math" panose="02040503050406030204" pitchFamily="18" charset="0"/>
                            </a:rPr>
                          </m:ctrlPr>
                        </m:accPr>
                        <m:e>
                          <m:r>
                            <a:rPr lang="fr-FR" sz="1400" b="1" i="0" smtClean="0">
                              <a:latin typeface="Cambria Math"/>
                            </a:rPr>
                            <m:t>𝐱</m:t>
                          </m:r>
                        </m:e>
                      </m:acc>
                    </m:oMath>
                  </m:oMathPara>
                </a14:m>
                <a:endParaRPr lang="fr-FR" sz="1400" dirty="0"/>
              </a:p>
            </p:txBody>
          </p:sp>
        </mc:Choice>
        <mc:Fallback xmlns="">
          <p:sp>
            <p:nvSpPr>
              <p:cNvPr id="87" name="ZoneTexte 86"/>
              <p:cNvSpPr txBox="1">
                <a:spLocks noRot="1" noChangeAspect="1" noMove="1" noResize="1" noEditPoints="1" noAdjustHandles="1" noChangeArrowheads="1" noChangeShapeType="1" noTextEdit="1"/>
              </p:cNvSpPr>
              <p:nvPr/>
            </p:nvSpPr>
            <p:spPr>
              <a:xfrm>
                <a:off x="3864359" y="3850831"/>
                <a:ext cx="328936" cy="307777"/>
              </a:xfrm>
              <a:prstGeom prst="rect">
                <a:avLst/>
              </a:prstGeom>
              <a:blipFill rotWithShape="1">
                <a:blip r:embed="rId2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8" name="ZoneTexte 87"/>
              <p:cNvSpPr txBox="1"/>
              <p:nvPr/>
            </p:nvSpPr>
            <p:spPr>
              <a:xfrm>
                <a:off x="3940999" y="1282395"/>
                <a:ext cx="328936"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sz="1400" b="1" i="0" smtClean="0">
                          <a:latin typeface="Cambria Math"/>
                        </a:rPr>
                        <m:t>𝐱</m:t>
                      </m:r>
                    </m:oMath>
                  </m:oMathPara>
                </a14:m>
                <a:endParaRPr lang="fr-FR" sz="1400" dirty="0"/>
              </a:p>
            </p:txBody>
          </p:sp>
        </mc:Choice>
        <mc:Fallback xmlns="">
          <p:sp>
            <p:nvSpPr>
              <p:cNvPr id="88" name="ZoneTexte 87"/>
              <p:cNvSpPr txBox="1">
                <a:spLocks noRot="1" noChangeAspect="1" noMove="1" noResize="1" noEditPoints="1" noAdjustHandles="1" noChangeArrowheads="1" noChangeShapeType="1" noTextEdit="1"/>
              </p:cNvSpPr>
              <p:nvPr/>
            </p:nvSpPr>
            <p:spPr>
              <a:xfrm>
                <a:off x="3940999" y="1282395"/>
                <a:ext cx="328936" cy="307777"/>
              </a:xfrm>
              <a:prstGeom prst="rect">
                <a:avLst/>
              </a:prstGeom>
              <a:blipFill rotWithShape="1">
                <a:blip r:embed="rId26"/>
                <a:stretch>
                  <a:fillRect/>
                </a:stretch>
              </a:blipFill>
            </p:spPr>
            <p:txBody>
              <a:bodyPr/>
              <a:lstStyle/>
              <a:p>
                <a:r>
                  <a:rPr lang="fr-FR">
                    <a:noFill/>
                  </a:rPr>
                  <a:t> </a:t>
                </a:r>
              </a:p>
            </p:txBody>
          </p:sp>
        </mc:Fallback>
      </mc:AlternateContent>
      <p:sp>
        <p:nvSpPr>
          <p:cNvPr id="90" name="Ellipse 89"/>
          <p:cNvSpPr/>
          <p:nvPr/>
        </p:nvSpPr>
        <p:spPr>
          <a:xfrm>
            <a:off x="5070996" y="3241863"/>
            <a:ext cx="1326229" cy="508693"/>
          </a:xfrm>
          <a:prstGeom prst="ellipse">
            <a:avLst/>
          </a:prstGeom>
          <a:noFill/>
          <a:ln w="12700" cmpd="sng">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Équivalent à une force</a:t>
            </a:r>
          </a:p>
        </p:txBody>
      </p:sp>
      <p:sp>
        <p:nvSpPr>
          <p:cNvPr id="91" name="Arc 90"/>
          <p:cNvSpPr/>
          <p:nvPr/>
        </p:nvSpPr>
        <p:spPr>
          <a:xfrm rot="8920546">
            <a:off x="4543757" y="2687164"/>
            <a:ext cx="557995" cy="859373"/>
          </a:xfrm>
          <a:prstGeom prst="arc">
            <a:avLst>
              <a:gd name="adj1" fmla="val 16200000"/>
              <a:gd name="adj2" fmla="val 3459458"/>
            </a:avLst>
          </a:prstGeom>
          <a:ln w="12700">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Tree>
    <p:extLst>
      <p:ext uri="{BB962C8B-B14F-4D97-AF65-F5344CB8AC3E}">
        <p14:creationId xmlns:p14="http://schemas.microsoft.com/office/powerpoint/2010/main" val="3146930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u contenu 1"/>
          <p:cNvSpPr>
            <a:spLocks noGrp="1"/>
          </p:cNvSpPr>
          <p:nvPr>
            <p:ph sz="quarter" idx="1"/>
          </p:nvPr>
        </p:nvSpPr>
        <p:spPr/>
        <p:txBody>
          <a:bodyPr/>
          <a:lstStyle/>
          <a:p>
            <a:pPr>
              <a:buFont typeface="Wingdings" panose="05000000000000000000" pitchFamily="2" charset="2"/>
              <a:buChar char="v"/>
            </a:pPr>
            <a:r>
              <a:rPr lang="fr-FR" dirty="0"/>
              <a:t>Dans le cas de charge variable, de vitesse importante, ces lois de commande ne seront plus suffisantes </a:t>
            </a:r>
            <a:r>
              <a:rPr lang="fr-FR" dirty="0">
                <a:sym typeface="Wingdings" panose="05000000000000000000" pitchFamily="2" charset="2"/>
              </a:rPr>
              <a:t> des lois de commande avancées doivent être mises en place :</a:t>
            </a:r>
          </a:p>
          <a:p>
            <a:pPr lvl="1"/>
            <a:r>
              <a:rPr lang="fr-FR" dirty="0"/>
              <a:t>Commande prédictive ([</a:t>
            </a:r>
            <a:r>
              <a:rPr lang="fr-FR" dirty="0" err="1"/>
              <a:t>Ginhoux</a:t>
            </a:r>
            <a:r>
              <a:rPr lang="fr-FR" dirty="0"/>
              <a:t> 03], [</a:t>
            </a:r>
            <a:r>
              <a:rPr lang="fr-FR" dirty="0" err="1"/>
              <a:t>Ortmaïer</a:t>
            </a:r>
            <a:r>
              <a:rPr lang="fr-FR" dirty="0"/>
              <a:t> 03])</a:t>
            </a:r>
          </a:p>
          <a:p>
            <a:pPr lvl="1"/>
            <a:r>
              <a:rPr lang="fr-FR" dirty="0"/>
              <a:t>Commande adaptative ([Krupa 02])</a:t>
            </a:r>
          </a:p>
          <a:p>
            <a:pPr lvl="1"/>
            <a:r>
              <a:rPr lang="fr-FR" dirty="0"/>
              <a:t>Commande robuste (commande par mode de glissement)</a:t>
            </a:r>
          </a:p>
        </p:txBody>
      </p:sp>
      <p:sp>
        <p:nvSpPr>
          <p:cNvPr id="3" name="Titre 2"/>
          <p:cNvSpPr>
            <a:spLocks noGrp="1"/>
          </p:cNvSpPr>
          <p:nvPr>
            <p:ph type="title"/>
          </p:nvPr>
        </p:nvSpPr>
        <p:spPr/>
        <p:txBody>
          <a:bodyPr/>
          <a:lstStyle/>
          <a:p>
            <a:r>
              <a:rPr lang="fr-FR" dirty="0"/>
              <a:t>Conclusion</a:t>
            </a:r>
          </a:p>
        </p:txBody>
      </p:sp>
    </p:spTree>
    <p:extLst>
      <p:ext uri="{BB962C8B-B14F-4D97-AF65-F5344CB8AC3E}">
        <p14:creationId xmlns:p14="http://schemas.microsoft.com/office/powerpoint/2010/main" val="20938199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u contenu 1"/>
          <p:cNvSpPr>
            <a:spLocks noGrp="1"/>
          </p:cNvSpPr>
          <p:nvPr>
            <p:ph sz="quarter" idx="1"/>
          </p:nvPr>
        </p:nvSpPr>
        <p:spPr/>
        <p:txBody>
          <a:bodyPr/>
          <a:lstStyle/>
          <a:p>
            <a:r>
              <a:rPr lang="fr-FR" dirty="0">
                <a:solidFill>
                  <a:schemeClr val="bg1">
                    <a:lumMod val="75000"/>
                  </a:schemeClr>
                </a:solidFill>
              </a:rPr>
              <a:t>Génération de trajectoire</a:t>
            </a:r>
          </a:p>
          <a:p>
            <a:pPr lvl="1"/>
            <a:r>
              <a:rPr lang="fr-FR" dirty="0">
                <a:solidFill>
                  <a:schemeClr val="bg1">
                    <a:lumMod val="75000"/>
                  </a:schemeClr>
                </a:solidFill>
              </a:rPr>
              <a:t>Dans l’espace articulaire</a:t>
            </a:r>
          </a:p>
          <a:p>
            <a:pPr lvl="1"/>
            <a:r>
              <a:rPr lang="fr-FR" dirty="0">
                <a:solidFill>
                  <a:schemeClr val="bg1">
                    <a:lumMod val="75000"/>
                  </a:schemeClr>
                </a:solidFill>
              </a:rPr>
              <a:t>Dans l’espace cartésien</a:t>
            </a:r>
          </a:p>
          <a:p>
            <a:pPr marL="366713" lvl="1" indent="0">
              <a:buNone/>
            </a:pPr>
            <a:endParaRPr lang="fr-FR" dirty="0"/>
          </a:p>
          <a:p>
            <a:r>
              <a:rPr lang="fr-FR" dirty="0">
                <a:solidFill>
                  <a:schemeClr val="bg1">
                    <a:lumMod val="75000"/>
                  </a:schemeClr>
                </a:solidFill>
              </a:rPr>
              <a:t>Commande des mouvements</a:t>
            </a:r>
          </a:p>
          <a:p>
            <a:pPr lvl="1"/>
            <a:r>
              <a:rPr lang="en-GB" dirty="0">
                <a:solidFill>
                  <a:schemeClr val="bg1">
                    <a:lumMod val="75000"/>
                  </a:schemeClr>
                </a:solidFill>
              </a:rPr>
              <a:t>Pose control based only on kinematics</a:t>
            </a:r>
          </a:p>
          <a:p>
            <a:pPr lvl="1"/>
            <a:r>
              <a:rPr lang="en-GB" dirty="0">
                <a:solidFill>
                  <a:schemeClr val="bg1">
                    <a:lumMod val="75000"/>
                  </a:schemeClr>
                </a:solidFill>
              </a:rPr>
              <a:t>Pose control based on dynamics (computed torque)</a:t>
            </a:r>
          </a:p>
          <a:p>
            <a:pPr marL="366713" lvl="1" indent="0">
              <a:buNone/>
            </a:pPr>
            <a:endParaRPr lang="fr-FR" dirty="0"/>
          </a:p>
          <a:p>
            <a:r>
              <a:rPr lang="fr-FR" dirty="0"/>
              <a:t>Commande en efforts</a:t>
            </a:r>
          </a:p>
          <a:p>
            <a:pPr lvl="1"/>
            <a:r>
              <a:rPr lang="fr-FR" dirty="0"/>
              <a:t>Commande en effort implicite</a:t>
            </a:r>
          </a:p>
          <a:p>
            <a:pPr lvl="1"/>
            <a:r>
              <a:rPr lang="fr-FR" dirty="0"/>
              <a:t>Commande en effort explicite</a:t>
            </a:r>
          </a:p>
        </p:txBody>
      </p:sp>
      <p:sp>
        <p:nvSpPr>
          <p:cNvPr id="3" name="Titre 2"/>
          <p:cNvSpPr>
            <a:spLocks noGrp="1"/>
          </p:cNvSpPr>
          <p:nvPr>
            <p:ph type="title"/>
          </p:nvPr>
        </p:nvSpPr>
        <p:spPr/>
        <p:txBody>
          <a:bodyPr/>
          <a:lstStyle/>
          <a:p>
            <a:r>
              <a:rPr lang="fr-FR" dirty="0"/>
              <a:t>Contenu</a:t>
            </a:r>
          </a:p>
        </p:txBody>
      </p:sp>
    </p:spTree>
    <p:extLst>
      <p:ext uri="{BB962C8B-B14F-4D97-AF65-F5344CB8AC3E}">
        <p14:creationId xmlns:p14="http://schemas.microsoft.com/office/powerpoint/2010/main" val="2958540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u contenu 1"/>
          <p:cNvSpPr>
            <a:spLocks noGrp="1"/>
          </p:cNvSpPr>
          <p:nvPr>
            <p:ph sz="quarter" idx="1"/>
          </p:nvPr>
        </p:nvSpPr>
        <p:spPr/>
        <p:txBody>
          <a:bodyPr/>
          <a:lstStyle/>
          <a:p>
            <a:r>
              <a:rPr lang="fr-FR" dirty="0"/>
              <a:t>Objectif :</a:t>
            </a:r>
          </a:p>
          <a:p>
            <a:pPr marL="0" indent="0">
              <a:buNone/>
            </a:pPr>
            <a:r>
              <a:rPr lang="fr-FR" dirty="0"/>
              <a:t>Contrôler l’effort de contact entre l’organe terminal du robot et l’environnement</a:t>
            </a:r>
          </a:p>
          <a:p>
            <a:pPr lvl="1">
              <a:buFont typeface="Wingdings" panose="05000000000000000000" pitchFamily="2" charset="2"/>
              <a:buChar char="v"/>
            </a:pPr>
            <a:endParaRPr lang="fr-FR" dirty="0"/>
          </a:p>
          <a:p>
            <a:r>
              <a:rPr lang="fr-FR" dirty="0"/>
              <a:t>Quel est le model du robot lorsqu’il est en interaction avec un environnement ?</a:t>
            </a:r>
          </a:p>
        </p:txBody>
      </p:sp>
      <p:sp>
        <p:nvSpPr>
          <p:cNvPr id="3" name="Titre 2"/>
          <p:cNvSpPr>
            <a:spLocks noGrp="1"/>
          </p:cNvSpPr>
          <p:nvPr>
            <p:ph type="title"/>
          </p:nvPr>
        </p:nvSpPr>
        <p:spPr/>
        <p:txBody>
          <a:bodyPr/>
          <a:lstStyle/>
          <a:p>
            <a:r>
              <a:rPr lang="fr-FR" dirty="0"/>
              <a:t>Commande en effort</a:t>
            </a:r>
          </a:p>
        </p:txBody>
      </p:sp>
      <p:pic>
        <p:nvPicPr>
          <p:cNvPr id="5" name="Image 4"/>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695825" y="3078023"/>
            <a:ext cx="3371850" cy="2693368"/>
          </a:xfrm>
          <a:prstGeom prst="rect">
            <a:avLst/>
          </a:prstGeom>
        </p:spPr>
      </p:pic>
      <p:grpSp>
        <p:nvGrpSpPr>
          <p:cNvPr id="6" name="Groupe 36"/>
          <p:cNvGrpSpPr>
            <a:grpSpLocks/>
          </p:cNvGrpSpPr>
          <p:nvPr/>
        </p:nvGrpSpPr>
        <p:grpSpPr bwMode="auto">
          <a:xfrm>
            <a:off x="1101723" y="3163028"/>
            <a:ext cx="2379981" cy="1943797"/>
            <a:chOff x="5786446" y="4429130"/>
            <a:chExt cx="2124850" cy="1545919"/>
          </a:xfrm>
        </p:grpSpPr>
        <p:pic>
          <p:nvPicPr>
            <p:cNvPr id="7" name="Picture 4"/>
            <p:cNvPicPr>
              <a:picLocks noChangeAspect="1" noChangeArrowheads="1"/>
            </p:cNvPicPr>
            <p:nvPr/>
          </p:nvPicPr>
          <p:blipFill>
            <a:blip r:embed="rId4" cstate="email">
              <a:extLst>
                <a:ext uri="{28A0092B-C50C-407E-A947-70E740481C1C}">
                  <a14:useLocalDpi xmlns:a14="http://schemas.microsoft.com/office/drawing/2010/main" val="0"/>
                </a:ext>
              </a:extLst>
            </a:blip>
            <a:srcRect l="37444" t="21425" r="35515" b="46220"/>
            <a:stretch>
              <a:fillRect/>
            </a:stretch>
          </p:blipFill>
          <p:spPr bwMode="auto">
            <a:xfrm>
              <a:off x="5786446" y="4429130"/>
              <a:ext cx="1857388" cy="1500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Ellipse 7"/>
            <p:cNvSpPr/>
            <p:nvPr/>
          </p:nvSpPr>
          <p:spPr>
            <a:xfrm>
              <a:off x="6983377" y="5546509"/>
              <a:ext cx="927919" cy="428540"/>
            </a:xfrm>
            <a:prstGeom prst="ellipse">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endParaRPr lang="fr-FR" sz="700" dirty="0"/>
            </a:p>
          </p:txBody>
        </p:sp>
      </p:grpSp>
      <p:sp>
        <p:nvSpPr>
          <p:cNvPr id="13" name="ZoneTexte 12"/>
          <p:cNvSpPr txBox="1"/>
          <p:nvPr/>
        </p:nvSpPr>
        <p:spPr>
          <a:xfrm>
            <a:off x="2631437" y="5045976"/>
            <a:ext cx="1289158" cy="246221"/>
          </a:xfrm>
          <a:prstGeom prst="rect">
            <a:avLst/>
          </a:prstGeom>
          <a:noFill/>
        </p:spPr>
        <p:txBody>
          <a:bodyPr wrap="square" rtlCol="0">
            <a:spAutoFit/>
          </a:bodyPr>
          <a:lstStyle/>
          <a:p>
            <a:pPr algn="ctr"/>
            <a:r>
              <a:rPr lang="fr-FR" sz="1000" dirty="0">
                <a:solidFill>
                  <a:srgbClr val="FF0000"/>
                </a:solidFill>
              </a:rPr>
              <a:t>Environnement</a:t>
            </a:r>
          </a:p>
        </p:txBody>
      </p:sp>
    </p:spTree>
    <p:extLst>
      <p:ext uri="{BB962C8B-B14F-4D97-AF65-F5344CB8AC3E}">
        <p14:creationId xmlns:p14="http://schemas.microsoft.com/office/powerpoint/2010/main" val="39337457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9" name="Image 4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3236" y="1075543"/>
            <a:ext cx="2055375" cy="1968528"/>
          </a:xfrm>
          <a:prstGeom prst="rect">
            <a:avLst/>
          </a:prstGeom>
        </p:spPr>
      </p:pic>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b="1" dirty="0">
                  <a:latin typeface="Cambria Math"/>
                </a:endParaRPr>
              </a:p>
              <a:p>
                <a:pPr marL="0" indent="0">
                  <a:buNone/>
                </a:pPr>
                <a:endParaRPr lang="fr-FR" b="1" dirty="0">
                  <a:latin typeface="Cambria Math"/>
                </a:endParaRPr>
              </a:p>
              <a:p>
                <a:pPr marL="0" indent="0">
                  <a:buNone/>
                </a:pPr>
                <a:endParaRPr lang="fr-FR" b="1" dirty="0">
                  <a:latin typeface="Cambria Math"/>
                </a:endParaRPr>
              </a:p>
              <a:p>
                <a:pPr marL="0" indent="0">
                  <a:buNone/>
                </a:pPr>
                <a:endParaRPr lang="fr-FR" dirty="0"/>
              </a:p>
              <a:p>
                <a:pPr marL="0" indent="0">
                  <a:buNone/>
                </a:pPr>
                <a14:m>
                  <m:oMath xmlns:m="http://schemas.openxmlformats.org/officeDocument/2006/math">
                    <m:sSub>
                      <m:sSubPr>
                        <m:ctrlPr>
                          <a:rPr lang="fr-FR" i="1">
                            <a:latin typeface="Cambria Math" panose="02040503050406030204" pitchFamily="18" charset="0"/>
                          </a:rPr>
                        </m:ctrlPr>
                      </m:sSubPr>
                      <m:e>
                        <m:r>
                          <a:rPr lang="fr-FR" i="1">
                            <a:latin typeface="Cambria Math"/>
                            <a:ea typeface="Cambria Math"/>
                          </a:rPr>
                          <m:t>𝕗</m:t>
                        </m:r>
                      </m:e>
                      <m:sub>
                        <m:r>
                          <a:rPr lang="fr-FR" i="1">
                            <a:latin typeface="Cambria Math"/>
                          </a:rPr>
                          <m:t>𝑒</m:t>
                        </m:r>
                      </m:sub>
                    </m:sSub>
                    <m:r>
                      <a:rPr lang="fr-FR" i="1">
                        <a:latin typeface="Cambria Math"/>
                      </a:rPr>
                      <m:t>=</m:t>
                    </m:r>
                    <m:d>
                      <m:dPr>
                        <m:ctrlPr>
                          <a:rPr lang="fr-FR" i="1">
                            <a:latin typeface="Cambria Math" panose="02040503050406030204" pitchFamily="18" charset="0"/>
                          </a:rPr>
                        </m:ctrlPr>
                      </m:dPr>
                      <m:e>
                        <m:eqArr>
                          <m:eqArrPr>
                            <m:ctrlPr>
                              <a:rPr lang="fr-FR" i="1">
                                <a:latin typeface="Cambria Math" panose="02040503050406030204" pitchFamily="18" charset="0"/>
                              </a:rPr>
                            </m:ctrlPr>
                          </m:eqArrPr>
                          <m:e>
                            <m:sSub>
                              <m:sSubPr>
                                <m:ctrlPr>
                                  <a:rPr lang="fr-FR" i="1">
                                    <a:latin typeface="Cambria Math" panose="02040503050406030204" pitchFamily="18" charset="0"/>
                                  </a:rPr>
                                </m:ctrlPr>
                              </m:sSubPr>
                              <m:e>
                                <m:r>
                                  <a:rPr lang="fr-FR" b="1">
                                    <a:latin typeface="Cambria Math"/>
                                  </a:rPr>
                                  <m:t>𝐟</m:t>
                                </m:r>
                              </m:e>
                              <m:sub>
                                <m:r>
                                  <a:rPr lang="fr-FR" i="1">
                                    <a:latin typeface="Cambria Math"/>
                                  </a:rPr>
                                  <m:t>𝑒</m:t>
                                </m:r>
                              </m:sub>
                            </m:sSub>
                          </m:e>
                          <m:e>
                            <m:sSub>
                              <m:sSubPr>
                                <m:ctrlPr>
                                  <a:rPr lang="fr-FR" i="1">
                                    <a:latin typeface="Cambria Math" panose="02040503050406030204" pitchFamily="18" charset="0"/>
                                  </a:rPr>
                                </m:ctrlPr>
                              </m:sSubPr>
                              <m:e>
                                <m:r>
                                  <a:rPr lang="fr-FR" b="1">
                                    <a:latin typeface="Cambria Math"/>
                                  </a:rPr>
                                  <m:t>𝐦</m:t>
                                </m:r>
                              </m:e>
                              <m:sub>
                                <m:r>
                                  <a:rPr lang="fr-FR" i="1">
                                    <a:latin typeface="Cambria Math"/>
                                  </a:rPr>
                                  <m:t>𝑒</m:t>
                                </m:r>
                              </m:sub>
                            </m:sSub>
                          </m:e>
                        </m:eqArr>
                      </m:e>
                    </m:d>
                  </m:oMath>
                </a14:m>
                <a:r>
                  <a:rPr lang="fr-FR" b="1" dirty="0"/>
                  <a:t> : </a:t>
                </a:r>
                <a:r>
                  <a:rPr lang="fr-FR" dirty="0"/>
                  <a:t>effort et moment extérieurs exercés par le robot sur l’environnement de dimension </a:t>
                </a:r>
                <a14:m>
                  <m:oMath xmlns:m="http://schemas.openxmlformats.org/officeDocument/2006/math">
                    <m:r>
                      <m:rPr>
                        <m:sty m:val="p"/>
                      </m:rPr>
                      <a:rPr lang="fr-FR" b="0" i="0" smtClean="0">
                        <a:latin typeface="Cambria Math"/>
                        <a:ea typeface="Cambria Math"/>
                      </a:rPr>
                      <m:t>m</m:t>
                    </m:r>
                    <m:r>
                      <a:rPr lang="fr-FR" b="0" i="1" smtClean="0">
                        <a:latin typeface="Cambria Math"/>
                        <a:ea typeface="Cambria Math"/>
                      </a:rPr>
                      <m:t>×1</m:t>
                    </m:r>
                  </m:oMath>
                </a14:m>
                <a:endParaRPr lang="fr-FR" dirty="0"/>
              </a:p>
              <a:p>
                <a:pPr marL="0" indent="0">
                  <a:buNone/>
                </a:pPr>
                <a:endParaRPr lang="fr-FR" b="1"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4"/>
                <a:stretch>
                  <a:fillRect l="-584"/>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Modélisation : modèle dynamique du robot</a:t>
            </a:r>
          </a:p>
        </p:txBody>
      </p:sp>
      <p:sp>
        <p:nvSpPr>
          <p:cNvPr id="19" name="Ellipse 18"/>
          <p:cNvSpPr/>
          <p:nvPr/>
        </p:nvSpPr>
        <p:spPr bwMode="auto">
          <a:xfrm>
            <a:off x="2313281" y="2506359"/>
            <a:ext cx="1396696" cy="839622"/>
          </a:xfrm>
          <a:prstGeom prst="ellipse">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endParaRPr lang="fr-FR" sz="700" dirty="0"/>
          </a:p>
        </p:txBody>
      </p:sp>
      <mc:AlternateContent xmlns:mc="http://schemas.openxmlformats.org/markup-compatibility/2006" xmlns:a14="http://schemas.microsoft.com/office/drawing/2010/main">
        <mc:Choice Requires="a14">
          <p:sp>
            <p:nvSpPr>
              <p:cNvPr id="24" name="ZoneTexte 23"/>
              <p:cNvSpPr txBox="1"/>
              <p:nvPr/>
            </p:nvSpPr>
            <p:spPr>
              <a:xfrm>
                <a:off x="1004061" y="2556247"/>
                <a:ext cx="4713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i="1">
                              <a:latin typeface="Cambria Math" panose="02040503050406030204" pitchFamily="18" charset="0"/>
                            </a:rPr>
                          </m:ctrlPr>
                        </m:sSubPr>
                        <m:e>
                          <m:r>
                            <a:rPr lang="fr-FR" i="1">
                              <a:latin typeface="Cambria Math"/>
                            </a:rPr>
                            <m:t>𝑞</m:t>
                          </m:r>
                        </m:e>
                        <m:sub>
                          <m:r>
                            <a:rPr lang="fr-FR" i="1">
                              <a:latin typeface="Cambria Math"/>
                            </a:rPr>
                            <m:t>1</m:t>
                          </m:r>
                        </m:sub>
                      </m:sSub>
                    </m:oMath>
                  </m:oMathPara>
                </a14:m>
                <a:endParaRPr lang="fr-FR" dirty="0"/>
              </a:p>
            </p:txBody>
          </p:sp>
        </mc:Choice>
        <mc:Fallback xmlns="">
          <p:sp>
            <p:nvSpPr>
              <p:cNvPr id="24" name="ZoneTexte 23"/>
              <p:cNvSpPr txBox="1">
                <a:spLocks noRot="1" noChangeAspect="1" noMove="1" noResize="1" noEditPoints="1" noAdjustHandles="1" noChangeArrowheads="1" noChangeShapeType="1" noTextEdit="1"/>
              </p:cNvSpPr>
              <p:nvPr/>
            </p:nvSpPr>
            <p:spPr>
              <a:xfrm>
                <a:off x="1004061" y="2556247"/>
                <a:ext cx="471346" cy="369332"/>
              </a:xfrm>
              <a:prstGeom prst="rect">
                <a:avLst/>
              </a:prstGeom>
              <a:blipFill rotWithShape="1">
                <a:blip r:embed="rId5"/>
                <a:stretch>
                  <a:fillRect b="-655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5" name="ZoneTexte 24"/>
              <p:cNvSpPr txBox="1"/>
              <p:nvPr/>
            </p:nvSpPr>
            <p:spPr>
              <a:xfrm>
                <a:off x="995981" y="1751204"/>
                <a:ext cx="4766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i="1">
                              <a:latin typeface="Cambria Math" panose="02040503050406030204" pitchFamily="18" charset="0"/>
                            </a:rPr>
                          </m:ctrlPr>
                        </m:sSubPr>
                        <m:e>
                          <m:r>
                            <a:rPr lang="fr-FR" i="1">
                              <a:latin typeface="Cambria Math"/>
                            </a:rPr>
                            <m:t>𝑞</m:t>
                          </m:r>
                        </m:e>
                        <m:sub>
                          <m:r>
                            <a:rPr lang="fr-FR" i="1">
                              <a:latin typeface="Cambria Math"/>
                            </a:rPr>
                            <m:t>2</m:t>
                          </m:r>
                        </m:sub>
                      </m:sSub>
                    </m:oMath>
                  </m:oMathPara>
                </a14:m>
                <a:endParaRPr lang="fr-FR" dirty="0"/>
              </a:p>
            </p:txBody>
          </p:sp>
        </mc:Choice>
        <mc:Fallback xmlns="">
          <p:sp>
            <p:nvSpPr>
              <p:cNvPr id="25" name="ZoneTexte 24"/>
              <p:cNvSpPr txBox="1">
                <a:spLocks noRot="1" noChangeAspect="1" noMove="1" noResize="1" noEditPoints="1" noAdjustHandles="1" noChangeArrowheads="1" noChangeShapeType="1" noTextEdit="1"/>
              </p:cNvSpPr>
              <p:nvPr/>
            </p:nvSpPr>
            <p:spPr>
              <a:xfrm>
                <a:off x="995981" y="1751204"/>
                <a:ext cx="476669" cy="369332"/>
              </a:xfrm>
              <a:prstGeom prst="rect">
                <a:avLst/>
              </a:prstGeom>
              <a:blipFill rotWithShape="1">
                <a:blip r:embed="rId6"/>
                <a:stretch>
                  <a:fillRect b="-655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6" name="ZoneTexte 25"/>
              <p:cNvSpPr txBox="1"/>
              <p:nvPr/>
            </p:nvSpPr>
            <p:spPr>
              <a:xfrm>
                <a:off x="2731942" y="981441"/>
                <a:ext cx="4766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i="1">
                              <a:latin typeface="Cambria Math" panose="02040503050406030204" pitchFamily="18" charset="0"/>
                            </a:rPr>
                          </m:ctrlPr>
                        </m:sSubPr>
                        <m:e>
                          <m:r>
                            <a:rPr lang="fr-FR" i="1">
                              <a:latin typeface="Cambria Math"/>
                            </a:rPr>
                            <m:t>𝑞</m:t>
                          </m:r>
                        </m:e>
                        <m:sub>
                          <m:r>
                            <a:rPr lang="fr-FR" i="1">
                              <a:latin typeface="Cambria Math"/>
                            </a:rPr>
                            <m:t>3</m:t>
                          </m:r>
                        </m:sub>
                      </m:sSub>
                    </m:oMath>
                  </m:oMathPara>
                </a14:m>
                <a:endParaRPr lang="fr-FR" dirty="0"/>
              </a:p>
            </p:txBody>
          </p:sp>
        </mc:Choice>
        <mc:Fallback xmlns="">
          <p:sp>
            <p:nvSpPr>
              <p:cNvPr id="26" name="ZoneTexte 25"/>
              <p:cNvSpPr txBox="1">
                <a:spLocks noRot="1" noChangeAspect="1" noMove="1" noResize="1" noEditPoints="1" noAdjustHandles="1" noChangeArrowheads="1" noChangeShapeType="1" noTextEdit="1"/>
              </p:cNvSpPr>
              <p:nvPr/>
            </p:nvSpPr>
            <p:spPr>
              <a:xfrm>
                <a:off x="2731942" y="981441"/>
                <a:ext cx="476669" cy="369332"/>
              </a:xfrm>
              <a:prstGeom prst="rect">
                <a:avLst/>
              </a:prstGeom>
              <a:blipFill rotWithShape="1">
                <a:blip r:embed="rId7"/>
                <a:stretch>
                  <a:fillRect b="-6557"/>
                </a:stretch>
              </a:blipFill>
            </p:spPr>
            <p:txBody>
              <a:bodyPr/>
              <a:lstStyle/>
              <a:p>
                <a:r>
                  <a:rPr lang="fr-FR">
                    <a:noFill/>
                  </a:rPr>
                  <a:t> </a:t>
                </a:r>
              </a:p>
            </p:txBody>
          </p:sp>
        </mc:Fallback>
      </mc:AlternateContent>
      <p:sp>
        <p:nvSpPr>
          <p:cNvPr id="28" name="ZoneTexte 27"/>
          <p:cNvSpPr txBox="1"/>
          <p:nvPr/>
        </p:nvSpPr>
        <p:spPr>
          <a:xfrm>
            <a:off x="1302215" y="2266068"/>
            <a:ext cx="184731" cy="369332"/>
          </a:xfrm>
          <a:prstGeom prst="rect">
            <a:avLst/>
          </a:prstGeom>
          <a:noFill/>
        </p:spPr>
        <p:txBody>
          <a:bodyPr wrap="none" rtlCol="0">
            <a:spAutoFit/>
          </a:bodyPr>
          <a:lstStyle/>
          <a:p>
            <a:endParaRPr lang="fr-FR" dirty="0"/>
          </a:p>
        </p:txBody>
      </p:sp>
      <p:sp>
        <p:nvSpPr>
          <p:cNvPr id="33" name="ZoneTexte 32"/>
          <p:cNvSpPr txBox="1"/>
          <p:nvPr/>
        </p:nvSpPr>
        <p:spPr>
          <a:xfrm>
            <a:off x="2852473" y="3344457"/>
            <a:ext cx="1428297" cy="307777"/>
          </a:xfrm>
          <a:prstGeom prst="rect">
            <a:avLst/>
          </a:prstGeom>
          <a:noFill/>
        </p:spPr>
        <p:txBody>
          <a:bodyPr wrap="square" rtlCol="0">
            <a:spAutoFit/>
          </a:bodyPr>
          <a:lstStyle/>
          <a:p>
            <a:pPr algn="ctr"/>
            <a:r>
              <a:rPr lang="fr-FR" sz="1400" dirty="0">
                <a:solidFill>
                  <a:srgbClr val="FF0000"/>
                </a:solidFill>
              </a:rPr>
              <a:t>Environnement</a:t>
            </a:r>
          </a:p>
        </p:txBody>
      </p:sp>
      <p:cxnSp>
        <p:nvCxnSpPr>
          <p:cNvPr id="43" name="Connecteur droit avec flèche 42"/>
          <p:cNvCxnSpPr/>
          <p:nvPr/>
        </p:nvCxnSpPr>
        <p:spPr>
          <a:xfrm>
            <a:off x="3065255" y="2506359"/>
            <a:ext cx="788279" cy="507731"/>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ZoneTexte 43"/>
              <p:cNvSpPr txBox="1"/>
              <p:nvPr/>
            </p:nvSpPr>
            <p:spPr>
              <a:xfrm>
                <a:off x="3669908" y="2575558"/>
                <a:ext cx="44191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i="1">
                              <a:latin typeface="Cambria Math" panose="02040503050406030204" pitchFamily="18" charset="0"/>
                            </a:rPr>
                          </m:ctrlPr>
                        </m:sSubPr>
                        <m:e>
                          <m:r>
                            <a:rPr lang="fr-FR" b="1">
                              <a:latin typeface="Cambria Math"/>
                            </a:rPr>
                            <m:t>𝐟</m:t>
                          </m:r>
                        </m:e>
                        <m:sub>
                          <m:r>
                            <a:rPr lang="fr-FR" i="1">
                              <a:latin typeface="Cambria Math"/>
                            </a:rPr>
                            <m:t>𝑒</m:t>
                          </m:r>
                        </m:sub>
                      </m:sSub>
                    </m:oMath>
                  </m:oMathPara>
                </a14:m>
                <a:endParaRPr lang="fr-FR" dirty="0"/>
              </a:p>
            </p:txBody>
          </p:sp>
        </mc:Choice>
        <mc:Fallback xmlns="">
          <p:sp>
            <p:nvSpPr>
              <p:cNvPr id="44" name="ZoneTexte 43"/>
              <p:cNvSpPr txBox="1">
                <a:spLocks noRot="1" noChangeAspect="1" noMove="1" noResize="1" noEditPoints="1" noAdjustHandles="1" noChangeArrowheads="1" noChangeShapeType="1" noTextEdit="1"/>
              </p:cNvSpPr>
              <p:nvPr/>
            </p:nvSpPr>
            <p:spPr>
              <a:xfrm>
                <a:off x="3669908" y="2575558"/>
                <a:ext cx="441916" cy="369332"/>
              </a:xfrm>
              <a:prstGeom prst="rect">
                <a:avLst/>
              </a:prstGeom>
              <a:blipFill rotWithShape="1">
                <a:blip r:embed="rId8"/>
                <a:stretch>
                  <a:fillRect/>
                </a:stretch>
              </a:blipFill>
            </p:spPr>
            <p:txBody>
              <a:bodyPr/>
              <a:lstStyle/>
              <a:p>
                <a:r>
                  <a:rPr lang="fr-FR">
                    <a:noFill/>
                  </a:rPr>
                  <a:t> </a:t>
                </a:r>
              </a:p>
            </p:txBody>
          </p:sp>
        </mc:Fallback>
      </mc:AlternateContent>
      <p:sp>
        <p:nvSpPr>
          <p:cNvPr id="46" name="Arc 45"/>
          <p:cNvSpPr/>
          <p:nvPr/>
        </p:nvSpPr>
        <p:spPr>
          <a:xfrm rot="17055307">
            <a:off x="2960893" y="2303636"/>
            <a:ext cx="433509" cy="505223"/>
          </a:xfrm>
          <a:prstGeom prst="arc">
            <a:avLst>
              <a:gd name="adj1" fmla="val 9812679"/>
              <a:gd name="adj2" fmla="val 0"/>
            </a:avLst>
          </a:prstGeom>
          <a:ln w="25400">
            <a:solidFill>
              <a:schemeClr val="tx1"/>
            </a:solidFill>
            <a:head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47" name="Rectangle 46"/>
              <p:cNvSpPr/>
              <p:nvPr/>
            </p:nvSpPr>
            <p:spPr>
              <a:xfrm>
                <a:off x="2731942" y="2662003"/>
                <a:ext cx="56316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i="1">
                              <a:latin typeface="Cambria Math" panose="02040503050406030204" pitchFamily="18" charset="0"/>
                            </a:rPr>
                          </m:ctrlPr>
                        </m:sSubPr>
                        <m:e>
                          <m:r>
                            <a:rPr lang="fr-FR" b="1">
                              <a:latin typeface="Cambria Math"/>
                            </a:rPr>
                            <m:t>𝐦</m:t>
                          </m:r>
                        </m:e>
                        <m:sub>
                          <m:r>
                            <a:rPr lang="fr-FR" i="1">
                              <a:latin typeface="Cambria Math"/>
                            </a:rPr>
                            <m:t>𝑒</m:t>
                          </m:r>
                        </m:sub>
                      </m:sSub>
                    </m:oMath>
                  </m:oMathPara>
                </a14:m>
                <a:endParaRPr lang="fr-FR" dirty="0"/>
              </a:p>
            </p:txBody>
          </p:sp>
        </mc:Choice>
        <mc:Fallback xmlns="">
          <p:sp>
            <p:nvSpPr>
              <p:cNvPr id="47" name="Rectangle 46"/>
              <p:cNvSpPr>
                <a:spLocks noRot="1" noChangeAspect="1" noMove="1" noResize="1" noEditPoints="1" noAdjustHandles="1" noChangeArrowheads="1" noChangeShapeType="1" noTextEdit="1"/>
              </p:cNvSpPr>
              <p:nvPr/>
            </p:nvSpPr>
            <p:spPr>
              <a:xfrm>
                <a:off x="2731942" y="2662003"/>
                <a:ext cx="563167" cy="369332"/>
              </a:xfrm>
              <a:prstGeom prst="rect">
                <a:avLst/>
              </a:prstGeom>
              <a:blipFill rotWithShape="1">
                <a:blip r:embed="rId9"/>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5" name="ZoneTexte 14"/>
              <p:cNvSpPr txBox="1"/>
              <p:nvPr/>
            </p:nvSpPr>
            <p:spPr>
              <a:xfrm>
                <a:off x="3068204" y="1544844"/>
                <a:ext cx="4766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i="1">
                              <a:latin typeface="Cambria Math"/>
                            </a:rPr>
                            <m:t>𝑞</m:t>
                          </m:r>
                        </m:e>
                        <m:sub>
                          <m:r>
                            <a:rPr lang="fr-FR" b="0" i="1" smtClean="0">
                              <a:latin typeface="Cambria Math"/>
                            </a:rPr>
                            <m:t>4</m:t>
                          </m:r>
                        </m:sub>
                      </m:sSub>
                    </m:oMath>
                  </m:oMathPara>
                </a14:m>
                <a:endParaRPr lang="fr-FR" dirty="0"/>
              </a:p>
            </p:txBody>
          </p:sp>
        </mc:Choice>
        <mc:Fallback xmlns="">
          <p:sp>
            <p:nvSpPr>
              <p:cNvPr id="15" name="ZoneTexte 14"/>
              <p:cNvSpPr txBox="1">
                <a:spLocks noRot="1" noChangeAspect="1" noMove="1" noResize="1" noEditPoints="1" noAdjustHandles="1" noChangeArrowheads="1" noChangeShapeType="1" noTextEdit="1"/>
              </p:cNvSpPr>
              <p:nvPr/>
            </p:nvSpPr>
            <p:spPr>
              <a:xfrm>
                <a:off x="3068204" y="1544844"/>
                <a:ext cx="476669" cy="369332"/>
              </a:xfrm>
              <a:prstGeom prst="rect">
                <a:avLst/>
              </a:prstGeom>
              <a:blipFill rotWithShape="1">
                <a:blip r:embed="rId10"/>
                <a:stretch>
                  <a:fillRect b="-6557"/>
                </a:stretch>
              </a:blipFill>
            </p:spPr>
            <p:txBody>
              <a:bodyPr/>
              <a:lstStyle/>
              <a:p>
                <a:r>
                  <a:rPr lang="fr-FR">
                    <a:noFill/>
                  </a:rPr>
                  <a:t> </a:t>
                </a:r>
              </a:p>
            </p:txBody>
          </p:sp>
        </mc:Fallback>
      </mc:AlternateContent>
      <p:pic>
        <p:nvPicPr>
          <p:cNvPr id="16" name="Image 15"/>
          <p:cNvPicPr>
            <a:picLocks noChangeAspect="1"/>
          </p:cNvPicPr>
          <p:nvPr/>
        </p:nvPicPr>
        <p:blipFill>
          <a:blip r:embed="rId11" cstate="email">
            <a:extLst>
              <a:ext uri="{28A0092B-C50C-407E-A947-70E740481C1C}">
                <a14:useLocalDpi xmlns:a14="http://schemas.microsoft.com/office/drawing/2010/main" val="0"/>
              </a:ext>
            </a:extLst>
          </a:blip>
          <a:stretch>
            <a:fillRect/>
          </a:stretch>
        </p:blipFill>
        <p:spPr>
          <a:xfrm>
            <a:off x="4991100" y="1131264"/>
            <a:ext cx="3371850" cy="2693368"/>
          </a:xfrm>
          <a:prstGeom prst="rect">
            <a:avLst/>
          </a:prstGeom>
        </p:spPr>
      </p:pic>
    </p:spTree>
    <p:extLst>
      <p:ext uri="{BB962C8B-B14F-4D97-AF65-F5344CB8AC3E}">
        <p14:creationId xmlns:p14="http://schemas.microsoft.com/office/powerpoint/2010/main" val="149152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nodePh="1">
                                  <p:stCondLst>
                                    <p:cond delay="0"/>
                                  </p:stCondLst>
                                  <p:endCondLst>
                                    <p:cond evt="begin" delay="0">
                                      <p:tn val="15"/>
                                    </p:cond>
                                  </p:end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4" grpId="0"/>
      <p:bldP spid="25" grpId="0"/>
      <p:bldP spid="26" grpId="0"/>
      <p:bldP spid="28" grpId="0"/>
      <p:bldP spid="33" grpId="0"/>
      <p:bldP spid="44" grpId="0"/>
      <p:bldP spid="46" grpId="0" animBg="1"/>
      <p:bldP spid="47" grpId="0"/>
      <p:bldP spid="15" grpId="0"/>
    </p:bldLst>
  </p:timing>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lgn="just">
                  <a:buNone/>
                </a:pPr>
                <a:r>
                  <a:rPr lang="fr-FR" dirty="0"/>
                  <a:t>Modèle dynamique du robot (sans contact avec l’environnement ):</a:t>
                </a:r>
              </a:p>
              <a:p>
                <a:pPr marL="0" indent="0" algn="just">
                  <a:buNone/>
                </a:pPr>
                <a:endParaRPr lang="fr-FR" b="1" dirty="0">
                  <a:latin typeface="Cambria Math"/>
                  <a:ea typeface="Cambria Math"/>
                </a:endParaRPr>
              </a:p>
              <a:p>
                <a:pPr marL="0" indent="0" algn="just">
                  <a:buNone/>
                </a:pPr>
                <a14:m>
                  <m:oMathPara xmlns:m="http://schemas.openxmlformats.org/officeDocument/2006/math">
                    <m:oMathParaPr>
                      <m:jc m:val="centerGroup"/>
                    </m:oMathParaPr>
                    <m:oMath xmlns:m="http://schemas.openxmlformats.org/officeDocument/2006/math">
                      <m:r>
                        <a:rPr lang="el-GR" b="1">
                          <a:latin typeface="Cambria Math"/>
                          <a:ea typeface="Cambria Math"/>
                        </a:rPr>
                        <m:t>𝚪</m:t>
                      </m:r>
                      <m:r>
                        <a:rPr lang="fr-FR" b="1" i="1">
                          <a:latin typeface="Cambria Math"/>
                          <a:ea typeface="Cambria Math"/>
                        </a:rPr>
                        <m:t>=</m:t>
                      </m:r>
                      <m:r>
                        <a:rPr lang="fr-FR" b="1">
                          <a:latin typeface="Cambria Math"/>
                        </a:rPr>
                        <m:t>𝐀</m:t>
                      </m:r>
                      <m:d>
                        <m:dPr>
                          <m:ctrlPr>
                            <a:rPr lang="fr-FR" i="1">
                              <a:latin typeface="Cambria Math" panose="02040503050406030204" pitchFamily="18" charset="0"/>
                            </a:rPr>
                          </m:ctrlPr>
                        </m:dPr>
                        <m:e>
                          <m:r>
                            <a:rPr lang="fr-FR" b="1">
                              <a:latin typeface="Cambria Math"/>
                            </a:rPr>
                            <m:t>𝐪</m:t>
                          </m:r>
                        </m:e>
                      </m:d>
                      <m:acc>
                        <m:accPr>
                          <m:chr m:val="̈"/>
                          <m:ctrlPr>
                            <a:rPr lang="fr-FR" i="1">
                              <a:latin typeface="Cambria Math" panose="02040503050406030204" pitchFamily="18" charset="0"/>
                            </a:rPr>
                          </m:ctrlPr>
                        </m:accPr>
                        <m:e>
                          <m:r>
                            <a:rPr lang="fr-FR" b="1">
                              <a:latin typeface="Cambria Math"/>
                            </a:rPr>
                            <m:t>𝐪</m:t>
                          </m:r>
                        </m:e>
                      </m:acc>
                      <m:r>
                        <a:rPr lang="fr-FR" i="1">
                          <a:latin typeface="Cambria Math"/>
                        </a:rPr>
                        <m:t>+</m:t>
                      </m:r>
                      <m:r>
                        <a:rPr lang="fr-FR" b="1">
                          <a:latin typeface="Cambria Math"/>
                        </a:rPr>
                        <m:t>𝐇</m:t>
                      </m:r>
                      <m:d>
                        <m:dPr>
                          <m:ctrlPr>
                            <a:rPr lang="fr-FR" i="1">
                              <a:latin typeface="Cambria Math" panose="02040503050406030204" pitchFamily="18" charset="0"/>
                            </a:rPr>
                          </m:ctrlPr>
                        </m:dPr>
                        <m:e>
                          <m:r>
                            <a:rPr lang="fr-FR" b="1">
                              <a:latin typeface="Cambria Math"/>
                            </a:rPr>
                            <m:t>𝐪</m:t>
                          </m:r>
                          <m:r>
                            <a:rPr lang="fr-FR" i="1">
                              <a:latin typeface="Cambria Math"/>
                            </a:rPr>
                            <m:t>,</m:t>
                          </m:r>
                          <m:acc>
                            <m:accPr>
                              <m:chr m:val="̇"/>
                              <m:ctrlPr>
                                <a:rPr lang="fr-FR" i="1">
                                  <a:latin typeface="Cambria Math" panose="02040503050406030204" pitchFamily="18" charset="0"/>
                                </a:rPr>
                              </m:ctrlPr>
                            </m:accPr>
                            <m:e>
                              <m:r>
                                <a:rPr lang="fr-FR" b="1">
                                  <a:latin typeface="Cambria Math"/>
                                </a:rPr>
                                <m:t>𝐪</m:t>
                              </m:r>
                            </m:e>
                          </m:acc>
                        </m:e>
                      </m:d>
                    </m:oMath>
                  </m:oMathPara>
                </a14:m>
                <a:endParaRPr lang="fr-FR" dirty="0"/>
              </a:p>
              <a:p>
                <a:pPr marL="0" indent="0" algn="just">
                  <a:buNone/>
                </a:pPr>
                <a:endParaRPr lang="fr-FR" dirty="0"/>
              </a:p>
              <a:p>
                <a:pPr marL="0" indent="0" algn="just">
                  <a:buNone/>
                </a:pPr>
                <a:r>
                  <a:rPr lang="fr-FR" dirty="0"/>
                  <a:t>Modèle dynamique du robot en contact avec l’environnement :  </a:t>
                </a:r>
              </a:p>
              <a:p>
                <a:pPr marL="0" indent="0" algn="just">
                  <a:buNone/>
                </a:pPr>
                <a:endParaRPr lang="fr-FR" b="1" dirty="0">
                  <a:latin typeface="Cambria Math"/>
                </a:endParaRPr>
              </a:p>
              <a:p>
                <a:pPr marL="0" indent="0" algn="just">
                  <a:buNone/>
                </a:pPr>
                <a14:m>
                  <m:oMathPara xmlns:m="http://schemas.openxmlformats.org/officeDocument/2006/math">
                    <m:oMathParaPr>
                      <m:jc m:val="center"/>
                    </m:oMathParaPr>
                    <m:oMath xmlns:m="http://schemas.openxmlformats.org/officeDocument/2006/math">
                      <m:r>
                        <a:rPr lang="el-GR" b="1">
                          <a:latin typeface="Cambria Math"/>
                          <a:ea typeface="Cambria Math"/>
                        </a:rPr>
                        <m:t>𝚪</m:t>
                      </m:r>
                      <m:r>
                        <a:rPr lang="fr-FR" i="1">
                          <a:latin typeface="Cambria Math"/>
                          <a:ea typeface="Cambria Math"/>
                        </a:rPr>
                        <m:t>−</m:t>
                      </m:r>
                      <m:sSub>
                        <m:sSubPr>
                          <m:ctrlPr>
                            <a:rPr lang="fr-FR" i="1">
                              <a:solidFill>
                                <a:srgbClr val="FF0000"/>
                              </a:solidFill>
                              <a:latin typeface="Cambria Math" panose="02040503050406030204" pitchFamily="18" charset="0"/>
                              <a:ea typeface="Cambria Math"/>
                            </a:rPr>
                          </m:ctrlPr>
                        </m:sSubPr>
                        <m:e>
                          <m:r>
                            <a:rPr lang="el-GR" b="1">
                              <a:solidFill>
                                <a:srgbClr val="FF0000"/>
                              </a:solidFill>
                              <a:latin typeface="Cambria Math"/>
                              <a:ea typeface="Cambria Math"/>
                            </a:rPr>
                            <m:t>𝚪</m:t>
                          </m:r>
                        </m:e>
                        <m:sub>
                          <m:r>
                            <a:rPr lang="fr-FR" i="1">
                              <a:solidFill>
                                <a:srgbClr val="FF0000"/>
                              </a:solidFill>
                              <a:latin typeface="Cambria Math"/>
                              <a:ea typeface="Cambria Math"/>
                            </a:rPr>
                            <m:t>𝑒</m:t>
                          </m:r>
                        </m:sub>
                      </m:sSub>
                      <m:r>
                        <a:rPr lang="fr-FR" b="1" i="1">
                          <a:latin typeface="Cambria Math"/>
                          <a:ea typeface="Cambria Math"/>
                        </a:rPr>
                        <m:t>=</m:t>
                      </m:r>
                      <m:r>
                        <a:rPr lang="fr-FR" b="1">
                          <a:latin typeface="Cambria Math"/>
                        </a:rPr>
                        <m:t>𝐀</m:t>
                      </m:r>
                      <m:d>
                        <m:dPr>
                          <m:ctrlPr>
                            <a:rPr lang="fr-FR" i="1">
                              <a:latin typeface="Cambria Math" panose="02040503050406030204" pitchFamily="18" charset="0"/>
                            </a:rPr>
                          </m:ctrlPr>
                        </m:dPr>
                        <m:e>
                          <m:r>
                            <a:rPr lang="fr-FR" b="1">
                              <a:latin typeface="Cambria Math"/>
                            </a:rPr>
                            <m:t>𝐪</m:t>
                          </m:r>
                        </m:e>
                      </m:d>
                      <m:acc>
                        <m:accPr>
                          <m:chr m:val="̈"/>
                          <m:ctrlPr>
                            <a:rPr lang="fr-FR" i="1">
                              <a:latin typeface="Cambria Math" panose="02040503050406030204" pitchFamily="18" charset="0"/>
                            </a:rPr>
                          </m:ctrlPr>
                        </m:accPr>
                        <m:e>
                          <m:r>
                            <a:rPr lang="fr-FR" b="1">
                              <a:latin typeface="Cambria Math"/>
                            </a:rPr>
                            <m:t>𝐪</m:t>
                          </m:r>
                        </m:e>
                      </m:acc>
                      <m:r>
                        <a:rPr lang="fr-FR" i="1">
                          <a:latin typeface="Cambria Math"/>
                        </a:rPr>
                        <m:t>+</m:t>
                      </m:r>
                      <m:r>
                        <a:rPr lang="fr-FR" b="1" i="0" smtClean="0">
                          <a:latin typeface="Cambria Math"/>
                        </a:rPr>
                        <m:t>𝐇</m:t>
                      </m:r>
                      <m:d>
                        <m:dPr>
                          <m:ctrlPr>
                            <a:rPr lang="fr-FR" i="1">
                              <a:latin typeface="Cambria Math" panose="02040503050406030204" pitchFamily="18" charset="0"/>
                            </a:rPr>
                          </m:ctrlPr>
                        </m:dPr>
                        <m:e>
                          <m:r>
                            <a:rPr lang="fr-FR" b="1">
                              <a:latin typeface="Cambria Math"/>
                            </a:rPr>
                            <m:t>𝐪</m:t>
                          </m:r>
                          <m:r>
                            <a:rPr lang="fr-FR" i="1">
                              <a:latin typeface="Cambria Math"/>
                            </a:rPr>
                            <m:t>,</m:t>
                          </m:r>
                          <m:acc>
                            <m:accPr>
                              <m:chr m:val="̇"/>
                              <m:ctrlPr>
                                <a:rPr lang="fr-FR" i="1">
                                  <a:latin typeface="Cambria Math" panose="02040503050406030204" pitchFamily="18" charset="0"/>
                                </a:rPr>
                              </m:ctrlPr>
                            </m:accPr>
                            <m:e>
                              <m:r>
                                <a:rPr lang="fr-FR" b="1">
                                  <a:latin typeface="Cambria Math"/>
                                </a:rPr>
                                <m:t>𝐪</m:t>
                              </m:r>
                            </m:e>
                          </m:acc>
                        </m:e>
                      </m:d>
                    </m:oMath>
                  </m:oMathPara>
                </a14:m>
                <a:endParaRPr lang="fr-FR" dirty="0"/>
              </a:p>
              <a:p>
                <a:pPr marL="0" indent="0" algn="just">
                  <a:buNone/>
                </a:pPr>
                <a:r>
                  <a:rPr lang="fr-FR" dirty="0"/>
                  <a:t>avec : </a:t>
                </a:r>
                <a:endParaRPr lang="fr-FR" b="1" dirty="0">
                  <a:latin typeface="Cambria Math"/>
                  <a:ea typeface="Cambria Math"/>
                </a:endParaRPr>
              </a:p>
              <a:p>
                <a:pPr marL="0" indent="0" algn="just">
                  <a:buNone/>
                </a:pPr>
                <a14:m>
                  <m:oMathPara xmlns:m="http://schemas.openxmlformats.org/officeDocument/2006/math">
                    <m:oMathParaPr>
                      <m:jc m:val="centerGroup"/>
                    </m:oMathParaPr>
                    <m:oMath xmlns:m="http://schemas.openxmlformats.org/officeDocument/2006/math">
                      <m:sSub>
                        <m:sSubPr>
                          <m:ctrlPr>
                            <a:rPr lang="fr-FR" i="1" smtClean="0">
                              <a:solidFill>
                                <a:schemeClr val="tx1"/>
                              </a:solidFill>
                              <a:latin typeface="Cambria Math" panose="02040503050406030204" pitchFamily="18" charset="0"/>
                              <a:ea typeface="Cambria Math"/>
                            </a:rPr>
                          </m:ctrlPr>
                        </m:sSubPr>
                        <m:e>
                          <m:r>
                            <a:rPr lang="el-GR" b="1">
                              <a:solidFill>
                                <a:schemeClr val="tx1"/>
                              </a:solidFill>
                              <a:latin typeface="Cambria Math"/>
                              <a:ea typeface="Cambria Math"/>
                            </a:rPr>
                            <m:t>𝚪</m:t>
                          </m:r>
                        </m:e>
                        <m:sub>
                          <m:r>
                            <a:rPr lang="fr-FR" i="1">
                              <a:solidFill>
                                <a:schemeClr val="tx1"/>
                              </a:solidFill>
                              <a:latin typeface="Cambria Math"/>
                              <a:ea typeface="Cambria Math"/>
                            </a:rPr>
                            <m:t>𝑒</m:t>
                          </m:r>
                        </m:sub>
                      </m:sSub>
                      <m:r>
                        <a:rPr lang="fr-FR" b="1" i="1" smtClean="0">
                          <a:solidFill>
                            <a:schemeClr val="tx1"/>
                          </a:solidFill>
                          <a:latin typeface="Cambria Math"/>
                          <a:ea typeface="Cambria Math"/>
                        </a:rPr>
                        <m:t>=</m:t>
                      </m:r>
                      <m:sSup>
                        <m:sSupPr>
                          <m:ctrlPr>
                            <a:rPr lang="fr-FR" b="1" i="1">
                              <a:solidFill>
                                <a:schemeClr val="tx1"/>
                              </a:solidFill>
                              <a:latin typeface="Cambria Math" panose="02040503050406030204" pitchFamily="18" charset="0"/>
                              <a:ea typeface="Cambria Math"/>
                            </a:rPr>
                          </m:ctrlPr>
                        </m:sSupPr>
                        <m:e>
                          <m:r>
                            <a:rPr lang="fr-FR" b="1">
                              <a:solidFill>
                                <a:schemeClr val="tx1"/>
                              </a:solidFill>
                              <a:latin typeface="Cambria Math"/>
                              <a:ea typeface="Cambria Math"/>
                            </a:rPr>
                            <m:t>𝐉</m:t>
                          </m:r>
                        </m:e>
                        <m:sup>
                          <m:r>
                            <a:rPr lang="fr-FR" b="1" i="1">
                              <a:solidFill>
                                <a:schemeClr val="tx1"/>
                              </a:solidFill>
                              <a:latin typeface="Cambria Math"/>
                              <a:ea typeface="Cambria Math"/>
                            </a:rPr>
                            <m:t>𝑻</m:t>
                          </m:r>
                        </m:sup>
                      </m:sSup>
                      <m:d>
                        <m:dPr>
                          <m:ctrlPr>
                            <a:rPr lang="fr-FR" b="1" i="1">
                              <a:solidFill>
                                <a:schemeClr val="tx1"/>
                              </a:solidFill>
                              <a:latin typeface="Cambria Math" panose="02040503050406030204" pitchFamily="18" charset="0"/>
                              <a:ea typeface="Cambria Math"/>
                            </a:rPr>
                          </m:ctrlPr>
                        </m:dPr>
                        <m:e>
                          <m:r>
                            <a:rPr lang="fr-FR" b="1">
                              <a:solidFill>
                                <a:schemeClr val="tx1"/>
                              </a:solidFill>
                              <a:latin typeface="Cambria Math"/>
                              <a:ea typeface="Cambria Math"/>
                            </a:rPr>
                            <m:t>𝐪</m:t>
                          </m:r>
                        </m:e>
                      </m:d>
                      <m:sSub>
                        <m:sSubPr>
                          <m:ctrlPr>
                            <a:rPr lang="fr-FR" i="1">
                              <a:solidFill>
                                <a:schemeClr val="tx1"/>
                              </a:solidFill>
                              <a:latin typeface="Cambria Math" panose="02040503050406030204" pitchFamily="18" charset="0"/>
                            </a:rPr>
                          </m:ctrlPr>
                        </m:sSubPr>
                        <m:e>
                          <m:r>
                            <a:rPr lang="fr-FR" i="1">
                              <a:solidFill>
                                <a:schemeClr val="tx1"/>
                              </a:solidFill>
                              <a:latin typeface="Cambria Math"/>
                            </a:rPr>
                            <m:t> </m:t>
                          </m:r>
                          <m:r>
                            <a:rPr lang="fr-FR" i="1">
                              <a:solidFill>
                                <a:schemeClr val="tx1"/>
                              </a:solidFill>
                              <a:latin typeface="Cambria Math"/>
                              <a:ea typeface="Cambria Math"/>
                            </a:rPr>
                            <m:t>𝕗</m:t>
                          </m:r>
                        </m:e>
                        <m:sub>
                          <m:r>
                            <a:rPr lang="fr-FR" i="1">
                              <a:solidFill>
                                <a:schemeClr val="tx1"/>
                              </a:solidFill>
                              <a:latin typeface="Cambria Math"/>
                            </a:rPr>
                            <m:t>𝑒</m:t>
                          </m:r>
                        </m:sub>
                      </m:sSub>
                    </m:oMath>
                  </m:oMathPara>
                </a14:m>
                <a:endParaRPr lang="fr-FR" dirty="0"/>
              </a:p>
              <a:p>
                <a:pPr marL="0" indent="0" algn="just">
                  <a:buNone/>
                </a:pPr>
                <a:endParaRPr lang="fr-FR" b="1" dirty="0">
                  <a:latin typeface="Cambria Math"/>
                </a:endParaRPr>
              </a:p>
              <a:p>
                <a:pPr marL="0" indent="0" algn="just">
                  <a:buNone/>
                </a:pPr>
                <a14:m>
                  <m:oMath xmlns:m="http://schemas.openxmlformats.org/officeDocument/2006/math">
                    <m:r>
                      <a:rPr lang="el-GR" b="1">
                        <a:latin typeface="Cambria Math"/>
                        <a:ea typeface="Cambria Math"/>
                      </a:rPr>
                      <m:t>𝚪</m:t>
                    </m:r>
                    <m:r>
                      <a:rPr lang="el-GR" b="1" i="1">
                        <a:latin typeface="Cambria Math"/>
                        <a:ea typeface="Cambria Math"/>
                      </a:rPr>
                      <m:t> </m:t>
                    </m:r>
                  </m:oMath>
                </a14:m>
                <a:r>
                  <a:rPr lang="fr-FR" dirty="0">
                    <a:latin typeface="Cambria Math"/>
                    <a:ea typeface="Cambria Math"/>
                  </a:rPr>
                  <a:t>: vecteur de commande des couples articulaires (couples produits par les actionneurs)</a:t>
                </a:r>
              </a:p>
              <a:p>
                <a:pPr marL="0" indent="0" algn="just">
                  <a:buNone/>
                </a:pPr>
                <a:endParaRPr lang="fr-FR" dirty="0">
                  <a:latin typeface="Cambria Math"/>
                  <a:ea typeface="Cambria Math"/>
                </a:endParaRPr>
              </a:p>
              <a:p>
                <a:pPr marL="0" indent="0" algn="just">
                  <a:buNone/>
                </a:pPr>
                <a14:m>
                  <m:oMath xmlns:m="http://schemas.openxmlformats.org/officeDocument/2006/math">
                    <m:sSub>
                      <m:sSubPr>
                        <m:ctrlPr>
                          <a:rPr lang="fr-FR" i="1">
                            <a:solidFill>
                              <a:srgbClr val="FF0000"/>
                            </a:solidFill>
                            <a:latin typeface="Cambria Math" panose="02040503050406030204" pitchFamily="18" charset="0"/>
                            <a:ea typeface="Cambria Math"/>
                          </a:rPr>
                        </m:ctrlPr>
                      </m:sSubPr>
                      <m:e>
                        <m:r>
                          <a:rPr lang="el-GR" b="1">
                            <a:solidFill>
                              <a:srgbClr val="FF0000"/>
                            </a:solidFill>
                            <a:latin typeface="Cambria Math"/>
                            <a:ea typeface="Cambria Math"/>
                          </a:rPr>
                          <m:t>𝚪</m:t>
                        </m:r>
                      </m:e>
                      <m:sub>
                        <m:r>
                          <a:rPr lang="fr-FR" i="1">
                            <a:solidFill>
                              <a:srgbClr val="FF0000"/>
                            </a:solidFill>
                            <a:latin typeface="Cambria Math"/>
                            <a:ea typeface="Cambria Math"/>
                          </a:rPr>
                          <m:t>𝑒</m:t>
                        </m:r>
                      </m:sub>
                    </m:sSub>
                  </m:oMath>
                </a14:m>
                <a:r>
                  <a:rPr lang="fr-FR" dirty="0"/>
                  <a:t>: vecteur des couples articulaires équivalent aux efforts extérieurs </a:t>
                </a:r>
                <a14:m>
                  <m:oMath xmlns:m="http://schemas.openxmlformats.org/officeDocument/2006/math">
                    <m:sSub>
                      <m:sSubPr>
                        <m:ctrlPr>
                          <a:rPr lang="fr-FR" i="1">
                            <a:latin typeface="Cambria Math" panose="02040503050406030204" pitchFamily="18" charset="0"/>
                          </a:rPr>
                        </m:ctrlPr>
                      </m:sSubPr>
                      <m:e>
                        <m:r>
                          <a:rPr lang="fr-FR" i="1">
                            <a:latin typeface="Cambria Math"/>
                          </a:rPr>
                          <m:t> </m:t>
                        </m:r>
                        <m:r>
                          <a:rPr lang="fr-FR" i="1">
                            <a:latin typeface="Cambria Math"/>
                            <a:ea typeface="Cambria Math"/>
                          </a:rPr>
                          <m:t>𝕗</m:t>
                        </m:r>
                      </m:e>
                      <m:sub>
                        <m:r>
                          <a:rPr lang="fr-FR" i="1">
                            <a:latin typeface="Cambria Math"/>
                          </a:rPr>
                          <m:t>𝑒</m:t>
                        </m:r>
                      </m:sub>
                    </m:sSub>
                  </m:oMath>
                </a14:m>
                <a:r>
                  <a:rPr lang="fr-FR" dirty="0"/>
                  <a:t> appliqués par le robot sur l’environnement </a:t>
                </a:r>
              </a:p>
              <a:p>
                <a:pPr marL="0" indent="0" algn="just">
                  <a:buNone/>
                </a:pPr>
                <a:endParaRPr lang="fr-FR" b="1" dirty="0">
                  <a:latin typeface="Cambria Math"/>
                </a:endParaRPr>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3"/>
                <a:stretch>
                  <a:fillRect l="-584" t="-552" r="-657"/>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Modélisation : modèle dynamique du robot</a:t>
            </a:r>
          </a:p>
        </p:txBody>
      </p:sp>
    </p:spTree>
    <p:extLst>
      <p:ext uri="{BB962C8B-B14F-4D97-AF65-F5344CB8AC3E}">
        <p14:creationId xmlns:p14="http://schemas.microsoft.com/office/powerpoint/2010/main" val="13027819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r>
                  <a:rPr lang="fr-FR" dirty="0"/>
                  <a:t>Modèle dynamique du robot en contact avec l’environnement :</a:t>
                </a:r>
              </a:p>
              <a:p>
                <a:pPr marL="0" indent="0">
                  <a:buNone/>
                </a:pPr>
                <a:endParaRPr lang="fr-FR" b="1" dirty="0">
                  <a:latin typeface="Cambria Math"/>
                </a:endParaRPr>
              </a:p>
              <a:p>
                <a:pPr marL="0" indent="0" algn="ctr">
                  <a:buNone/>
                </a:pPr>
                <a14:m>
                  <m:oMath xmlns:m="http://schemas.openxmlformats.org/officeDocument/2006/math">
                    <m:r>
                      <a:rPr lang="fr-FR" b="1">
                        <a:latin typeface="Cambria Math"/>
                      </a:rPr>
                      <m:t>𝐀</m:t>
                    </m:r>
                    <m:d>
                      <m:dPr>
                        <m:ctrlPr>
                          <a:rPr lang="fr-FR" i="1">
                            <a:latin typeface="Cambria Math" panose="02040503050406030204" pitchFamily="18" charset="0"/>
                          </a:rPr>
                        </m:ctrlPr>
                      </m:dPr>
                      <m:e>
                        <m:r>
                          <a:rPr lang="fr-FR" b="1">
                            <a:latin typeface="Cambria Math"/>
                          </a:rPr>
                          <m:t>𝐪</m:t>
                        </m:r>
                      </m:e>
                    </m:d>
                    <m:acc>
                      <m:accPr>
                        <m:chr m:val="̈"/>
                        <m:ctrlPr>
                          <a:rPr lang="fr-FR" i="1">
                            <a:latin typeface="Cambria Math" panose="02040503050406030204" pitchFamily="18" charset="0"/>
                          </a:rPr>
                        </m:ctrlPr>
                      </m:accPr>
                      <m:e>
                        <m:r>
                          <a:rPr lang="fr-FR" b="1">
                            <a:latin typeface="Cambria Math"/>
                          </a:rPr>
                          <m:t>𝐪</m:t>
                        </m:r>
                      </m:e>
                    </m:acc>
                    <m:r>
                      <a:rPr lang="fr-FR" i="1">
                        <a:latin typeface="Cambria Math"/>
                      </a:rPr>
                      <m:t>+</m:t>
                    </m:r>
                    <m:r>
                      <a:rPr lang="fr-FR" b="1" i="0" smtClean="0">
                        <a:latin typeface="Cambria Math"/>
                      </a:rPr>
                      <m:t>𝐇</m:t>
                    </m:r>
                    <m:d>
                      <m:dPr>
                        <m:ctrlPr>
                          <a:rPr lang="fr-FR" i="1">
                            <a:latin typeface="Cambria Math" panose="02040503050406030204" pitchFamily="18" charset="0"/>
                          </a:rPr>
                        </m:ctrlPr>
                      </m:dPr>
                      <m:e>
                        <m:r>
                          <a:rPr lang="fr-FR" b="1">
                            <a:latin typeface="Cambria Math"/>
                          </a:rPr>
                          <m:t>𝐪</m:t>
                        </m:r>
                        <m:r>
                          <a:rPr lang="fr-FR" i="1">
                            <a:latin typeface="Cambria Math"/>
                          </a:rPr>
                          <m:t>,</m:t>
                        </m:r>
                        <m:acc>
                          <m:accPr>
                            <m:chr m:val="̇"/>
                            <m:ctrlPr>
                              <a:rPr lang="fr-FR" i="1">
                                <a:latin typeface="Cambria Math" panose="02040503050406030204" pitchFamily="18" charset="0"/>
                              </a:rPr>
                            </m:ctrlPr>
                          </m:accPr>
                          <m:e>
                            <m:r>
                              <a:rPr lang="fr-FR" b="1">
                                <a:latin typeface="Cambria Math"/>
                              </a:rPr>
                              <m:t>𝐪</m:t>
                            </m:r>
                          </m:e>
                        </m:acc>
                      </m:e>
                    </m:d>
                    <m:r>
                      <a:rPr lang="fr-FR" i="1">
                        <a:latin typeface="Cambria Math"/>
                      </a:rPr>
                      <m:t>=</m:t>
                    </m:r>
                    <m:r>
                      <a:rPr lang="el-GR" b="1" i="0" smtClean="0">
                        <a:latin typeface="Cambria Math"/>
                        <a:ea typeface="Cambria Math"/>
                      </a:rPr>
                      <m:t>𝚪</m:t>
                    </m:r>
                    <m:r>
                      <a:rPr lang="fr-FR" i="1">
                        <a:latin typeface="Cambria Math"/>
                        <a:ea typeface="Cambria Math"/>
                      </a:rPr>
                      <m:t>−</m:t>
                    </m:r>
                    <m:sSub>
                      <m:sSubPr>
                        <m:ctrlPr>
                          <a:rPr lang="fr-FR" i="1">
                            <a:latin typeface="Cambria Math" panose="02040503050406030204" pitchFamily="18" charset="0"/>
                            <a:ea typeface="Cambria Math"/>
                          </a:rPr>
                        </m:ctrlPr>
                      </m:sSubPr>
                      <m:e>
                        <m:r>
                          <a:rPr lang="el-GR" b="1">
                            <a:latin typeface="Cambria Math"/>
                            <a:ea typeface="Cambria Math"/>
                          </a:rPr>
                          <m:t>𝚪</m:t>
                        </m:r>
                      </m:e>
                      <m:sub>
                        <m:r>
                          <a:rPr lang="fr-FR" i="1">
                            <a:latin typeface="Cambria Math"/>
                            <a:ea typeface="Cambria Math"/>
                          </a:rPr>
                          <m:t>𝑒</m:t>
                        </m:r>
                      </m:sub>
                    </m:sSub>
                  </m:oMath>
                </a14:m>
                <a:r>
                  <a:rPr lang="fr-FR" dirty="0"/>
                  <a:t>     (1)</a:t>
                </a:r>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4"/>
                <a:stretch>
                  <a:fillRect l="-584" t="-552"/>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Modèles et méthodes</a:t>
            </a:r>
          </a:p>
        </p:txBody>
      </p:sp>
      <p:cxnSp>
        <p:nvCxnSpPr>
          <p:cNvPr id="5" name="Connecteur droit avec flèche 4"/>
          <p:cNvCxnSpPr>
            <a:stCxn id="21" idx="0"/>
            <a:endCxn id="4" idx="4"/>
          </p:cNvCxnSpPr>
          <p:nvPr/>
        </p:nvCxnSpPr>
        <p:spPr>
          <a:xfrm flipH="1" flipV="1">
            <a:off x="5929409" y="4016002"/>
            <a:ext cx="11112" cy="64667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 name="Connecteur droit avec flèche 5"/>
          <p:cNvCxnSpPr>
            <a:stCxn id="4" idx="6"/>
            <a:endCxn id="8" idx="1"/>
          </p:cNvCxnSpPr>
          <p:nvPr/>
        </p:nvCxnSpPr>
        <p:spPr>
          <a:xfrm flipV="1">
            <a:off x="6072284" y="3869495"/>
            <a:ext cx="501506" cy="363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 name="Connecteur droit avec flèche 6"/>
          <p:cNvCxnSpPr>
            <a:endCxn id="21" idx="2"/>
          </p:cNvCxnSpPr>
          <p:nvPr/>
        </p:nvCxnSpPr>
        <p:spPr>
          <a:xfrm flipH="1" flipV="1">
            <a:off x="5940521" y="5032005"/>
            <a:ext cx="7938" cy="56426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a:stCxn id="8" idx="3"/>
          </p:cNvCxnSpPr>
          <p:nvPr/>
        </p:nvCxnSpPr>
        <p:spPr>
          <a:xfrm flipV="1">
            <a:off x="7576063" y="3865705"/>
            <a:ext cx="756285" cy="379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p:nvPr/>
        </p:nvCxnSpPr>
        <p:spPr>
          <a:xfrm flipV="1">
            <a:off x="5143597" y="3869158"/>
            <a:ext cx="642937" cy="793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11" name="Object 9"/>
          <p:cNvGraphicFramePr>
            <a:graphicFrameLocks noChangeAspect="1"/>
          </p:cNvGraphicFramePr>
          <p:nvPr>
            <p:extLst>
              <p:ext uri="{D42A27DB-BD31-4B8C-83A1-F6EECF244321}">
                <p14:modId xmlns:p14="http://schemas.microsoft.com/office/powerpoint/2010/main" val="2823922676"/>
              </p:ext>
            </p:extLst>
          </p:nvPr>
        </p:nvGraphicFramePr>
        <p:xfrm>
          <a:off x="5650009" y="4049339"/>
          <a:ext cx="215900" cy="157163"/>
        </p:xfrm>
        <a:graphic>
          <a:graphicData uri="http://schemas.openxmlformats.org/presentationml/2006/ole">
            <mc:AlternateContent xmlns:mc="http://schemas.openxmlformats.org/markup-compatibility/2006">
              <mc:Choice xmlns:v="urn:schemas-microsoft-com:vml" Requires="v">
                <p:oleObj name="Equation" r:id="rId5" imgW="139680" imgH="101520" progId="Equation.DSMT4">
                  <p:embed/>
                </p:oleObj>
              </mc:Choice>
              <mc:Fallback>
                <p:oleObj name="Equation" r:id="rId5" imgW="139680" imgH="10152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0009" y="4049339"/>
                        <a:ext cx="215900" cy="157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 name="Groupe 36"/>
          <p:cNvGrpSpPr>
            <a:grpSpLocks/>
          </p:cNvGrpSpPr>
          <p:nvPr/>
        </p:nvGrpSpPr>
        <p:grpSpPr bwMode="auto">
          <a:xfrm>
            <a:off x="1160783" y="3178871"/>
            <a:ext cx="1981198" cy="1546226"/>
            <a:chOff x="5786446" y="4429130"/>
            <a:chExt cx="2124850" cy="1545919"/>
          </a:xfrm>
        </p:grpSpPr>
        <p:pic>
          <p:nvPicPr>
            <p:cNvPr id="13" name="Picture 4"/>
            <p:cNvPicPr>
              <a:picLocks noChangeAspect="1" noChangeArrowheads="1"/>
            </p:cNvPicPr>
            <p:nvPr/>
          </p:nvPicPr>
          <p:blipFill>
            <a:blip r:embed="rId7" cstate="email">
              <a:extLst>
                <a:ext uri="{28A0092B-C50C-407E-A947-70E740481C1C}">
                  <a14:useLocalDpi xmlns:a14="http://schemas.microsoft.com/office/drawing/2010/main" val="0"/>
                </a:ext>
              </a:extLst>
            </a:blip>
            <a:srcRect l="37444" t="21425" r="35515" b="46220"/>
            <a:stretch>
              <a:fillRect/>
            </a:stretch>
          </p:blipFill>
          <p:spPr bwMode="auto">
            <a:xfrm>
              <a:off x="5786446" y="4429130"/>
              <a:ext cx="1857388" cy="1500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Ellipse 13"/>
            <p:cNvSpPr/>
            <p:nvPr/>
          </p:nvSpPr>
          <p:spPr>
            <a:xfrm>
              <a:off x="6983377" y="5546509"/>
              <a:ext cx="927919" cy="428540"/>
            </a:xfrm>
            <a:prstGeom prst="ellipse">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endParaRPr lang="fr-FR" sz="700" dirty="0"/>
            </a:p>
          </p:txBody>
        </p:sp>
      </p:grpSp>
      <mc:AlternateContent xmlns:mc="http://schemas.openxmlformats.org/markup-compatibility/2006" xmlns:a14="http://schemas.microsoft.com/office/drawing/2010/main">
        <mc:Choice Requires="a14">
          <p:sp>
            <p:nvSpPr>
              <p:cNvPr id="15" name="ZoneTexte 14"/>
              <p:cNvSpPr txBox="1"/>
              <p:nvPr/>
            </p:nvSpPr>
            <p:spPr>
              <a:xfrm>
                <a:off x="7777034" y="3483049"/>
                <a:ext cx="38824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b="1" i="0" smtClean="0">
                          <a:latin typeface="Cambria Math"/>
                        </a:rPr>
                        <m:t>𝐪</m:t>
                      </m:r>
                    </m:oMath>
                  </m:oMathPara>
                </a14:m>
                <a:endParaRPr lang="fr-FR" dirty="0"/>
              </a:p>
            </p:txBody>
          </p:sp>
        </mc:Choice>
        <mc:Fallback xmlns="">
          <p:sp>
            <p:nvSpPr>
              <p:cNvPr id="15" name="ZoneTexte 14"/>
              <p:cNvSpPr txBox="1">
                <a:spLocks noRot="1" noChangeAspect="1" noMove="1" noResize="1" noEditPoints="1" noAdjustHandles="1" noChangeArrowheads="1" noChangeShapeType="1" noTextEdit="1"/>
              </p:cNvSpPr>
              <p:nvPr/>
            </p:nvSpPr>
            <p:spPr>
              <a:xfrm>
                <a:off x="7777034" y="3483049"/>
                <a:ext cx="388248" cy="369332"/>
              </a:xfrm>
              <a:prstGeom prst="rect">
                <a:avLst/>
              </a:prstGeom>
              <a:blipFill rotWithShape="1">
                <a:blip r:embed="rId8"/>
                <a:stretch>
                  <a:fillRect b="-655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6" name="ZoneTexte 15"/>
              <p:cNvSpPr txBox="1"/>
              <p:nvPr/>
            </p:nvSpPr>
            <p:spPr>
              <a:xfrm>
                <a:off x="5518798" y="5189017"/>
                <a:ext cx="4573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i="1">
                              <a:latin typeface="Cambria Math" panose="02040503050406030204" pitchFamily="18" charset="0"/>
                              <a:ea typeface="Cambria Math"/>
                            </a:rPr>
                          </m:ctrlPr>
                        </m:sSubPr>
                        <m:e>
                          <m:r>
                            <a:rPr lang="fr-FR" i="1">
                              <a:latin typeface="Cambria Math"/>
                              <a:ea typeface="Cambria Math"/>
                            </a:rPr>
                            <m:t>𝕗</m:t>
                          </m:r>
                        </m:e>
                        <m:sub>
                          <m:r>
                            <a:rPr lang="fr-FR" i="1">
                              <a:latin typeface="Cambria Math"/>
                              <a:ea typeface="Cambria Math"/>
                            </a:rPr>
                            <m:t>𝑒</m:t>
                          </m:r>
                        </m:sub>
                      </m:sSub>
                    </m:oMath>
                  </m:oMathPara>
                </a14:m>
                <a:endParaRPr lang="fr-FR" dirty="0"/>
              </a:p>
            </p:txBody>
          </p:sp>
        </mc:Choice>
        <mc:Fallback xmlns="">
          <p:sp>
            <p:nvSpPr>
              <p:cNvPr id="16" name="ZoneTexte 15"/>
              <p:cNvSpPr txBox="1">
                <a:spLocks noRot="1" noChangeAspect="1" noMove="1" noResize="1" noEditPoints="1" noAdjustHandles="1" noChangeArrowheads="1" noChangeShapeType="1" noTextEdit="1"/>
              </p:cNvSpPr>
              <p:nvPr/>
            </p:nvSpPr>
            <p:spPr>
              <a:xfrm>
                <a:off x="5518798" y="5189017"/>
                <a:ext cx="457369" cy="369332"/>
              </a:xfrm>
              <a:prstGeom prst="rect">
                <a:avLst/>
              </a:prstGeom>
              <a:blipFill rotWithShape="1">
                <a:blip r:embed="rId9"/>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7" name="ZoneTexte 16"/>
              <p:cNvSpPr txBox="1"/>
              <p:nvPr/>
            </p:nvSpPr>
            <p:spPr>
              <a:xfrm>
                <a:off x="1001309" y="4336716"/>
                <a:ext cx="4713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0" i="1" smtClean="0">
                              <a:latin typeface="Cambria Math"/>
                            </a:rPr>
                            <m:t>𝑞</m:t>
                          </m:r>
                        </m:e>
                        <m:sub>
                          <m:r>
                            <a:rPr lang="fr-FR" b="0" i="1" smtClean="0">
                              <a:latin typeface="Cambria Math"/>
                            </a:rPr>
                            <m:t>1</m:t>
                          </m:r>
                        </m:sub>
                      </m:sSub>
                    </m:oMath>
                  </m:oMathPara>
                </a14:m>
                <a:endParaRPr lang="fr-FR" dirty="0"/>
              </a:p>
            </p:txBody>
          </p:sp>
        </mc:Choice>
        <mc:Fallback xmlns="">
          <p:sp>
            <p:nvSpPr>
              <p:cNvPr id="17" name="ZoneTexte 16"/>
              <p:cNvSpPr txBox="1">
                <a:spLocks noRot="1" noChangeAspect="1" noMove="1" noResize="1" noEditPoints="1" noAdjustHandles="1" noChangeArrowheads="1" noChangeShapeType="1" noTextEdit="1"/>
              </p:cNvSpPr>
              <p:nvPr/>
            </p:nvSpPr>
            <p:spPr>
              <a:xfrm>
                <a:off x="1001309" y="4336716"/>
                <a:ext cx="471347" cy="369332"/>
              </a:xfrm>
              <a:prstGeom prst="rect">
                <a:avLst/>
              </a:prstGeom>
              <a:blipFill rotWithShape="1">
                <a:blip r:embed="rId10"/>
                <a:stretch>
                  <a:fillRect b="-655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8" name="ZoneTexte 17"/>
              <p:cNvSpPr txBox="1"/>
              <p:nvPr/>
            </p:nvSpPr>
            <p:spPr>
              <a:xfrm>
                <a:off x="994424" y="3687305"/>
                <a:ext cx="4766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0" i="1" smtClean="0">
                              <a:latin typeface="Cambria Math"/>
                            </a:rPr>
                            <m:t>𝑞</m:t>
                          </m:r>
                        </m:e>
                        <m:sub>
                          <m:r>
                            <a:rPr lang="fr-FR" b="0" i="1" smtClean="0">
                              <a:latin typeface="Cambria Math"/>
                            </a:rPr>
                            <m:t>2</m:t>
                          </m:r>
                        </m:sub>
                      </m:sSub>
                    </m:oMath>
                  </m:oMathPara>
                </a14:m>
                <a:endParaRPr lang="fr-FR" dirty="0"/>
              </a:p>
            </p:txBody>
          </p:sp>
        </mc:Choice>
        <mc:Fallback xmlns="">
          <p:sp>
            <p:nvSpPr>
              <p:cNvPr id="18" name="ZoneTexte 17"/>
              <p:cNvSpPr txBox="1">
                <a:spLocks noRot="1" noChangeAspect="1" noMove="1" noResize="1" noEditPoints="1" noAdjustHandles="1" noChangeArrowheads="1" noChangeShapeType="1" noTextEdit="1"/>
              </p:cNvSpPr>
              <p:nvPr/>
            </p:nvSpPr>
            <p:spPr>
              <a:xfrm>
                <a:off x="994424" y="3687305"/>
                <a:ext cx="476669" cy="369332"/>
              </a:xfrm>
              <a:prstGeom prst="rect">
                <a:avLst/>
              </a:prstGeom>
              <a:blipFill rotWithShape="1">
                <a:blip r:embed="rId11"/>
                <a:stretch>
                  <a:fillRect b="-833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9" name="ZoneTexte 18"/>
              <p:cNvSpPr txBox="1"/>
              <p:nvPr/>
            </p:nvSpPr>
            <p:spPr>
              <a:xfrm>
                <a:off x="2473715" y="3066354"/>
                <a:ext cx="4766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0" i="1" smtClean="0">
                              <a:latin typeface="Cambria Math"/>
                            </a:rPr>
                            <m:t>𝑞</m:t>
                          </m:r>
                        </m:e>
                        <m:sub>
                          <m:r>
                            <a:rPr lang="fr-FR" b="0" i="1" smtClean="0">
                              <a:latin typeface="Cambria Math"/>
                            </a:rPr>
                            <m:t>3</m:t>
                          </m:r>
                        </m:sub>
                      </m:sSub>
                    </m:oMath>
                  </m:oMathPara>
                </a14:m>
                <a:endParaRPr lang="fr-FR" dirty="0"/>
              </a:p>
            </p:txBody>
          </p:sp>
        </mc:Choice>
        <mc:Fallback xmlns="">
          <p:sp>
            <p:nvSpPr>
              <p:cNvPr id="19" name="ZoneTexte 18"/>
              <p:cNvSpPr txBox="1">
                <a:spLocks noRot="1" noChangeAspect="1" noMove="1" noResize="1" noEditPoints="1" noAdjustHandles="1" noChangeArrowheads="1" noChangeShapeType="1" noTextEdit="1"/>
              </p:cNvSpPr>
              <p:nvPr/>
            </p:nvSpPr>
            <p:spPr>
              <a:xfrm>
                <a:off x="2473715" y="3066354"/>
                <a:ext cx="476669" cy="369332"/>
              </a:xfrm>
              <a:prstGeom prst="rect">
                <a:avLst/>
              </a:prstGeom>
              <a:blipFill rotWithShape="1">
                <a:blip r:embed="rId12"/>
                <a:stretch>
                  <a:fillRect b="-6557"/>
                </a:stretch>
              </a:blipFill>
            </p:spPr>
            <p:txBody>
              <a:bodyPr/>
              <a:lstStyle/>
              <a:p>
                <a:r>
                  <a:rPr lang="fr-FR">
                    <a:noFill/>
                  </a:rPr>
                  <a:t> </a:t>
                </a:r>
              </a:p>
            </p:txBody>
          </p:sp>
        </mc:Fallback>
      </mc:AlternateContent>
      <p:sp>
        <p:nvSpPr>
          <p:cNvPr id="20" name="ZoneTexte 19"/>
          <p:cNvSpPr txBox="1"/>
          <p:nvPr/>
        </p:nvSpPr>
        <p:spPr>
          <a:xfrm>
            <a:off x="1255380" y="4102635"/>
            <a:ext cx="184731" cy="369332"/>
          </a:xfrm>
          <a:prstGeom prst="rect">
            <a:avLst/>
          </a:prstGeom>
          <a:noFill/>
        </p:spPr>
        <p:txBody>
          <a:bodyPr wrap="none" rtlCol="0">
            <a:spAutoFit/>
          </a:bodyPr>
          <a:lstStyle/>
          <a:p>
            <a:endParaRPr lang="fr-FR" dirty="0"/>
          </a:p>
        </p:txBody>
      </p:sp>
      <mc:AlternateContent xmlns:mc="http://schemas.openxmlformats.org/markup-compatibility/2006" xmlns:a14="http://schemas.microsoft.com/office/drawing/2010/main">
        <mc:Choice Requires="a14">
          <p:sp>
            <p:nvSpPr>
              <p:cNvPr id="21" name="ZoneTexte 20"/>
              <p:cNvSpPr txBox="1"/>
              <p:nvPr/>
            </p:nvSpPr>
            <p:spPr>
              <a:xfrm>
                <a:off x="5645245" y="4662673"/>
                <a:ext cx="590551"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0" smtClean="0">
                              <a:latin typeface="Cambria Math"/>
                            </a:rPr>
                            <m:t>  </m:t>
                          </m:r>
                          <m:r>
                            <a:rPr lang="fr-FR" b="1" i="0" smtClean="0">
                              <a:latin typeface="Cambria Math"/>
                            </a:rPr>
                            <m:t>𝐉</m:t>
                          </m:r>
                        </m:e>
                        <m:sup>
                          <m:r>
                            <a:rPr lang="fr-FR" b="0" i="1" smtClean="0">
                              <a:latin typeface="Cambria Math"/>
                            </a:rPr>
                            <m:t>𝑇</m:t>
                          </m:r>
                        </m:sup>
                      </m:sSup>
                    </m:oMath>
                  </m:oMathPara>
                </a14:m>
                <a:endParaRPr lang="fr-FR" dirty="0"/>
              </a:p>
            </p:txBody>
          </p:sp>
        </mc:Choice>
        <mc:Fallback xmlns="">
          <p:sp>
            <p:nvSpPr>
              <p:cNvPr id="21" name="ZoneTexte 20"/>
              <p:cNvSpPr txBox="1">
                <a:spLocks noRot="1" noChangeAspect="1" noMove="1" noResize="1" noEditPoints="1" noAdjustHandles="1" noChangeArrowheads="1" noChangeShapeType="1" noTextEdit="1"/>
              </p:cNvSpPr>
              <p:nvPr/>
            </p:nvSpPr>
            <p:spPr>
              <a:xfrm>
                <a:off x="5645245" y="4662673"/>
                <a:ext cx="590551" cy="369332"/>
              </a:xfrm>
              <a:prstGeom prst="rect">
                <a:avLst/>
              </a:prstGeom>
              <a:blipFill rotWithShape="1">
                <a:blip r:embed="rId13"/>
                <a:stretch>
                  <a:fillRect/>
                </a:stretch>
              </a:blipFill>
              <a:ln w="25400"/>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2" name="ZoneTexte 21"/>
              <p:cNvSpPr txBox="1"/>
              <p:nvPr/>
            </p:nvSpPr>
            <p:spPr>
              <a:xfrm>
                <a:off x="5542156" y="4259539"/>
                <a:ext cx="45935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el-GR" b="1" i="0" smtClean="0">
                              <a:latin typeface="Cambria Math"/>
                              <a:ea typeface="Cambria Math"/>
                            </a:rPr>
                            <m:t>𝚪</m:t>
                          </m:r>
                        </m:e>
                        <m:sub>
                          <m:r>
                            <a:rPr lang="fr-FR" b="0" i="1" smtClean="0">
                              <a:latin typeface="Cambria Math"/>
                            </a:rPr>
                            <m:t>𝑒</m:t>
                          </m:r>
                        </m:sub>
                      </m:sSub>
                    </m:oMath>
                  </m:oMathPara>
                </a14:m>
                <a:endParaRPr lang="fr-FR" dirty="0"/>
              </a:p>
            </p:txBody>
          </p:sp>
        </mc:Choice>
        <mc:Fallback xmlns="">
          <p:sp>
            <p:nvSpPr>
              <p:cNvPr id="22" name="ZoneTexte 21"/>
              <p:cNvSpPr txBox="1">
                <a:spLocks noRot="1" noChangeAspect="1" noMove="1" noResize="1" noEditPoints="1" noAdjustHandles="1" noChangeArrowheads="1" noChangeShapeType="1" noTextEdit="1"/>
              </p:cNvSpPr>
              <p:nvPr/>
            </p:nvSpPr>
            <p:spPr>
              <a:xfrm>
                <a:off x="5542156" y="4259539"/>
                <a:ext cx="459357" cy="369332"/>
              </a:xfrm>
              <a:prstGeom prst="rect">
                <a:avLst/>
              </a:prstGeom>
              <a:blipFill rotWithShape="1">
                <a:blip r:embed="rId1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3" name="ZoneTexte 22"/>
              <p:cNvSpPr txBox="1"/>
              <p:nvPr/>
            </p:nvSpPr>
            <p:spPr>
              <a:xfrm>
                <a:off x="5066597" y="3498476"/>
                <a:ext cx="3786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l-GR" b="1">
                          <a:latin typeface="Cambria Math"/>
                          <a:ea typeface="Cambria Math"/>
                        </a:rPr>
                        <m:t>𝚪</m:t>
                      </m:r>
                    </m:oMath>
                  </m:oMathPara>
                </a14:m>
                <a:endParaRPr lang="fr-FR" dirty="0"/>
              </a:p>
            </p:txBody>
          </p:sp>
        </mc:Choice>
        <mc:Fallback xmlns="">
          <p:sp>
            <p:nvSpPr>
              <p:cNvPr id="23" name="ZoneTexte 22"/>
              <p:cNvSpPr txBox="1">
                <a:spLocks noRot="1" noChangeAspect="1" noMove="1" noResize="1" noEditPoints="1" noAdjustHandles="1" noChangeArrowheads="1" noChangeShapeType="1" noTextEdit="1"/>
              </p:cNvSpPr>
              <p:nvPr/>
            </p:nvSpPr>
            <p:spPr>
              <a:xfrm>
                <a:off x="5066597" y="3498476"/>
                <a:ext cx="378630" cy="369332"/>
              </a:xfrm>
              <a:prstGeom prst="rect">
                <a:avLst/>
              </a:prstGeom>
              <a:blipFill rotWithShape="1">
                <a:blip r:embed="rId15"/>
                <a:stretch>
                  <a:fillRect/>
                </a:stretch>
              </a:blipFill>
            </p:spPr>
            <p:txBody>
              <a:bodyPr/>
              <a:lstStyle/>
              <a:p>
                <a:r>
                  <a:rPr lang="fr-FR">
                    <a:noFill/>
                  </a:rPr>
                  <a:t> </a:t>
                </a:r>
              </a:p>
            </p:txBody>
          </p:sp>
        </mc:Fallback>
      </mc:AlternateContent>
      <p:sp>
        <p:nvSpPr>
          <p:cNvPr id="24" name="ZoneTexte 23"/>
          <p:cNvSpPr txBox="1"/>
          <p:nvPr/>
        </p:nvSpPr>
        <p:spPr>
          <a:xfrm>
            <a:off x="2507722" y="4727556"/>
            <a:ext cx="1073150" cy="246221"/>
          </a:xfrm>
          <a:prstGeom prst="rect">
            <a:avLst/>
          </a:prstGeom>
          <a:noFill/>
        </p:spPr>
        <p:txBody>
          <a:bodyPr wrap="square" rtlCol="0">
            <a:spAutoFit/>
          </a:bodyPr>
          <a:lstStyle/>
          <a:p>
            <a:pPr algn="ctr"/>
            <a:r>
              <a:rPr lang="fr-FR" sz="1000" dirty="0">
                <a:solidFill>
                  <a:srgbClr val="FF0000"/>
                </a:solidFill>
              </a:rPr>
              <a:t>Environnement</a:t>
            </a:r>
          </a:p>
        </p:txBody>
      </p:sp>
      <p:sp>
        <p:nvSpPr>
          <p:cNvPr id="25" name="Flèche droite 24"/>
          <p:cNvSpPr/>
          <p:nvPr/>
        </p:nvSpPr>
        <p:spPr>
          <a:xfrm>
            <a:off x="3580872" y="3921640"/>
            <a:ext cx="1376824" cy="27420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p:cNvSpPr txBox="1"/>
          <p:nvPr/>
        </p:nvSpPr>
        <p:spPr>
          <a:xfrm>
            <a:off x="3417654" y="3687305"/>
            <a:ext cx="1453415" cy="338554"/>
          </a:xfrm>
          <a:prstGeom prst="rect">
            <a:avLst/>
          </a:prstGeom>
          <a:noFill/>
        </p:spPr>
        <p:txBody>
          <a:bodyPr wrap="square" rtlCol="0">
            <a:spAutoFit/>
          </a:bodyPr>
          <a:lstStyle/>
          <a:p>
            <a:pPr algn="ctr"/>
            <a:r>
              <a:rPr lang="fr-FR" sz="1600" dirty="0"/>
              <a:t>Modélisation</a:t>
            </a:r>
          </a:p>
        </p:txBody>
      </p:sp>
      <p:sp>
        <p:nvSpPr>
          <p:cNvPr id="28" name="ZoneTexte 27"/>
          <p:cNvSpPr txBox="1"/>
          <p:nvPr/>
        </p:nvSpPr>
        <p:spPr>
          <a:xfrm>
            <a:off x="5476757" y="2926378"/>
            <a:ext cx="2525931" cy="584775"/>
          </a:xfrm>
          <a:prstGeom prst="rect">
            <a:avLst/>
          </a:prstGeom>
          <a:noFill/>
        </p:spPr>
        <p:txBody>
          <a:bodyPr wrap="square" rtlCol="0">
            <a:spAutoFit/>
          </a:bodyPr>
          <a:lstStyle/>
          <a:p>
            <a:pPr algn="ctr"/>
            <a:r>
              <a:rPr lang="fr-FR" sz="1600" dirty="0"/>
              <a:t>Représentation du MD (robot + environnement)</a:t>
            </a:r>
          </a:p>
        </p:txBody>
      </p:sp>
      <p:sp>
        <p:nvSpPr>
          <p:cNvPr id="8" name="ZoneTexte 7"/>
          <p:cNvSpPr txBox="1"/>
          <p:nvPr/>
        </p:nvSpPr>
        <p:spPr>
          <a:xfrm>
            <a:off x="6573790" y="3684829"/>
            <a:ext cx="1002273"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dirty="0"/>
              <a:t>Robot</a:t>
            </a:r>
          </a:p>
        </p:txBody>
      </p:sp>
      <p:sp>
        <p:nvSpPr>
          <p:cNvPr id="46" name="ZoneTexte 45"/>
          <p:cNvSpPr txBox="1"/>
          <p:nvPr/>
        </p:nvSpPr>
        <p:spPr>
          <a:xfrm>
            <a:off x="5066597" y="5602907"/>
            <a:ext cx="1754333" cy="369332"/>
          </a:xfrm>
          <a:prstGeom prst="rect">
            <a:avLst/>
          </a:prstGeom>
          <a:gradFill>
            <a:gsLst>
              <a:gs pos="0">
                <a:schemeClr val="accent3">
                  <a:tint val="50000"/>
                  <a:satMod val="300000"/>
                </a:schemeClr>
              </a:gs>
              <a:gs pos="35000">
                <a:schemeClr val="accent3">
                  <a:tint val="37000"/>
                  <a:satMod val="300000"/>
                </a:schemeClr>
              </a:gs>
              <a:gs pos="100000">
                <a:schemeClr val="accent3">
                  <a:tint val="15000"/>
                  <a:satMod val="350000"/>
                </a:schemeClr>
              </a:gs>
            </a:gsLst>
            <a:lin ang="16200000" scaled="1"/>
          </a:gradFill>
          <a:ln w="25400">
            <a:solidFill>
              <a:srgbClr val="FF0000"/>
            </a:solidFill>
          </a:ln>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dirty="0">
                <a:solidFill>
                  <a:srgbClr val="FF0000"/>
                </a:solidFill>
              </a:rPr>
              <a:t>Environnement</a:t>
            </a:r>
          </a:p>
        </p:txBody>
      </p:sp>
      <p:cxnSp>
        <p:nvCxnSpPr>
          <p:cNvPr id="49" name="Connecteur droit avec flèche 48"/>
          <p:cNvCxnSpPr/>
          <p:nvPr/>
        </p:nvCxnSpPr>
        <p:spPr>
          <a:xfrm flipH="1">
            <a:off x="7962920" y="3865705"/>
            <a:ext cx="3222" cy="86351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2" name="Connecteur droit 51"/>
          <p:cNvCxnSpPr>
            <a:stCxn id="47" idx="2"/>
          </p:cNvCxnSpPr>
          <p:nvPr/>
        </p:nvCxnSpPr>
        <p:spPr>
          <a:xfrm>
            <a:off x="7967936" y="5089428"/>
            <a:ext cx="3222" cy="69814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4" name="Connecteur droit avec flèche 53"/>
          <p:cNvCxnSpPr>
            <a:endCxn id="46" idx="3"/>
          </p:cNvCxnSpPr>
          <p:nvPr/>
        </p:nvCxnSpPr>
        <p:spPr>
          <a:xfrm flipH="1">
            <a:off x="6820930" y="5787573"/>
            <a:ext cx="114700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7" name="ZoneTexte 46"/>
          <p:cNvSpPr txBox="1"/>
          <p:nvPr/>
        </p:nvSpPr>
        <p:spPr>
          <a:xfrm>
            <a:off x="7603524" y="4720096"/>
            <a:ext cx="728824"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dirty="0"/>
              <a:t>MGD</a:t>
            </a:r>
          </a:p>
        </p:txBody>
      </p:sp>
      <mc:AlternateContent xmlns:mc="http://schemas.openxmlformats.org/markup-compatibility/2006" xmlns:a14="http://schemas.microsoft.com/office/drawing/2010/main">
        <mc:Choice Requires="a14">
          <p:sp>
            <p:nvSpPr>
              <p:cNvPr id="64" name="ZoneTexte 63"/>
              <p:cNvSpPr txBox="1"/>
              <p:nvPr/>
            </p:nvSpPr>
            <p:spPr>
              <a:xfrm>
                <a:off x="7043537" y="5413132"/>
                <a:ext cx="3706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b="1" i="0" smtClean="0">
                          <a:latin typeface="Cambria Math"/>
                          <a:ea typeface="Cambria Math"/>
                        </a:rPr>
                        <m:t>𝐱</m:t>
                      </m:r>
                    </m:oMath>
                  </m:oMathPara>
                </a14:m>
                <a:endParaRPr lang="fr-FR" dirty="0"/>
              </a:p>
            </p:txBody>
          </p:sp>
        </mc:Choice>
        <mc:Fallback xmlns="">
          <p:sp>
            <p:nvSpPr>
              <p:cNvPr id="64" name="ZoneTexte 63"/>
              <p:cNvSpPr txBox="1">
                <a:spLocks noRot="1" noChangeAspect="1" noMove="1" noResize="1" noEditPoints="1" noAdjustHandles="1" noChangeArrowheads="1" noChangeShapeType="1" noTextEdit="1"/>
              </p:cNvSpPr>
              <p:nvPr/>
            </p:nvSpPr>
            <p:spPr>
              <a:xfrm>
                <a:off x="7043537" y="5413132"/>
                <a:ext cx="370614" cy="369332"/>
              </a:xfrm>
              <a:prstGeom prst="rect">
                <a:avLst/>
              </a:prstGeom>
              <a:blipFill rotWithShape="1">
                <a:blip r:embed="rId16"/>
                <a:stretch>
                  <a:fillRect/>
                </a:stretch>
              </a:blipFill>
            </p:spPr>
            <p:txBody>
              <a:bodyPr/>
              <a:lstStyle/>
              <a:p>
                <a:r>
                  <a:rPr lang="fr-FR">
                    <a:noFill/>
                  </a:rPr>
                  <a:t> </a:t>
                </a:r>
              </a:p>
            </p:txBody>
          </p:sp>
        </mc:Fallback>
      </mc:AlternateContent>
      <p:sp>
        <p:nvSpPr>
          <p:cNvPr id="4" name="Ellipse 3"/>
          <p:cNvSpPr/>
          <p:nvPr/>
        </p:nvSpPr>
        <p:spPr>
          <a:xfrm>
            <a:off x="5786534" y="3730252"/>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spTree>
    <p:extLst>
      <p:ext uri="{BB962C8B-B14F-4D97-AF65-F5344CB8AC3E}">
        <p14:creationId xmlns:p14="http://schemas.microsoft.com/office/powerpoint/2010/main" val="11140177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a:xfrm>
                <a:off x="280656" y="959667"/>
                <a:ext cx="8410762" cy="5514285"/>
              </a:xfrm>
            </p:spPr>
            <p:txBody>
              <a:bodyPr/>
              <a:lstStyle/>
              <a:p>
                <a:pPr marL="0" indent="0">
                  <a:buNone/>
                </a:pPr>
                <a:r>
                  <a:rPr lang="fr-FR" dirty="0"/>
                  <a:t>Soit un robot plan en contact avec un environnement élastique :</a:t>
                </a:r>
              </a:p>
              <a:p>
                <a:endParaRPr lang="fr-FR" dirty="0"/>
              </a:p>
              <a:p>
                <a:endParaRPr lang="fr-FR" dirty="0"/>
              </a:p>
              <a:p>
                <a:endParaRPr lang="fr-FR" dirty="0"/>
              </a:p>
              <a:p>
                <a:endParaRPr lang="fr-FR" dirty="0"/>
              </a:p>
              <a:p>
                <a:pPr marL="0" indent="0">
                  <a:buNone/>
                </a:pPr>
                <a:endParaRPr lang="fr-FR" dirty="0"/>
              </a:p>
              <a:p>
                <a:pPr marL="0" indent="0">
                  <a:buNone/>
                </a:pPr>
                <a:endParaRPr lang="fr-FR" dirty="0">
                  <a:ea typeface="Cambria Math"/>
                </a:endParaRPr>
              </a:p>
              <a:p>
                <a:pPr marL="0" indent="0">
                  <a:buNone/>
                </a:pPr>
                <a:endParaRPr lang="fr-FR" dirty="0">
                  <a:ea typeface="Cambria Math"/>
                </a:endParaRPr>
              </a:p>
              <a:p>
                <a:pPr marL="0" indent="0">
                  <a:buNone/>
                </a:pPr>
                <a:endParaRPr lang="fr-FR" dirty="0">
                  <a:ea typeface="Cambria Math"/>
                </a:endParaRPr>
              </a:p>
              <a:p>
                <a:pPr marL="0" indent="0">
                  <a:buNone/>
                </a:pPr>
                <a:r>
                  <a:rPr lang="fr-FR" dirty="0">
                    <a:ea typeface="Cambria Math"/>
                  </a:rPr>
                  <a:t>Position de l’organe terminal : </a:t>
                </a:r>
                <a14:m>
                  <m:oMath xmlns:m="http://schemas.openxmlformats.org/officeDocument/2006/math">
                    <m:r>
                      <a:rPr lang="fr-FR" b="1" i="0" smtClean="0">
                        <a:latin typeface="Cambria Math"/>
                        <a:ea typeface="Cambria Math"/>
                      </a:rPr>
                      <m:t>𝐱</m:t>
                    </m:r>
                    <m:r>
                      <a:rPr lang="fr-FR" b="1" i="0" smtClean="0">
                        <a:latin typeface="Cambria Math"/>
                        <a:ea typeface="Cambria Math"/>
                      </a:rPr>
                      <m:t>=</m:t>
                    </m:r>
                    <m:d>
                      <m:dPr>
                        <m:ctrlPr>
                          <a:rPr lang="fr-FR" b="1" i="1" smtClean="0">
                            <a:latin typeface="Cambria Math" panose="02040503050406030204" pitchFamily="18" charset="0"/>
                            <a:ea typeface="Cambria Math"/>
                          </a:rPr>
                        </m:ctrlPr>
                      </m:dPr>
                      <m:e>
                        <m:eqArr>
                          <m:eqArrPr>
                            <m:ctrlPr>
                              <a:rPr lang="fr-FR" b="1" i="1" smtClean="0">
                                <a:latin typeface="Cambria Math" panose="02040503050406030204" pitchFamily="18" charset="0"/>
                                <a:ea typeface="Cambria Math"/>
                              </a:rPr>
                            </m:ctrlPr>
                          </m:eqArrPr>
                          <m:e>
                            <m:r>
                              <a:rPr lang="fr-FR" b="0" i="1" smtClean="0">
                                <a:latin typeface="Cambria Math"/>
                                <a:ea typeface="Cambria Math"/>
                              </a:rPr>
                              <m:t>𝑥</m:t>
                            </m:r>
                          </m:e>
                          <m:e>
                            <m:r>
                              <a:rPr lang="fr-FR" b="0" i="1" smtClean="0">
                                <a:latin typeface="Cambria Math"/>
                              </a:rPr>
                              <m:t>𝑦</m:t>
                            </m:r>
                          </m:e>
                        </m:eqArr>
                      </m:e>
                    </m:d>
                  </m:oMath>
                </a14:m>
                <a:endParaRPr lang="fr-FR" b="1" dirty="0">
                  <a:ea typeface="Cambria Math"/>
                </a:endParaRPr>
              </a:p>
              <a:p>
                <a:pPr marL="0" indent="0">
                  <a:buNone/>
                </a:pPr>
                <a:r>
                  <a:rPr lang="fr-FR" dirty="0">
                    <a:ea typeface="Cambria Math"/>
                  </a:rPr>
                  <a:t>Vecteur de position articulaire : </a:t>
                </a:r>
                <a14:m>
                  <m:oMath xmlns:m="http://schemas.openxmlformats.org/officeDocument/2006/math">
                    <m:r>
                      <a:rPr lang="fr-FR" b="1">
                        <a:latin typeface="Cambria Math"/>
                      </a:rPr>
                      <m:t>𝐪</m:t>
                    </m:r>
                    <m:r>
                      <a:rPr lang="fr-FR" i="1">
                        <a:latin typeface="Cambria Math"/>
                      </a:rPr>
                      <m:t>=</m:t>
                    </m:r>
                    <m:sSup>
                      <m:sSupPr>
                        <m:ctrlPr>
                          <a:rPr lang="fr-FR" i="1">
                            <a:latin typeface="Cambria Math" panose="02040503050406030204" pitchFamily="18" charset="0"/>
                          </a:rPr>
                        </m:ctrlPr>
                      </m:sSupPr>
                      <m:e>
                        <m:d>
                          <m:dPr>
                            <m:begChr m:val="["/>
                            <m:endChr m:val="]"/>
                            <m:ctrlPr>
                              <a:rPr lang="fr-FR" i="1">
                                <a:latin typeface="Cambria Math" panose="02040503050406030204" pitchFamily="18" charset="0"/>
                              </a:rPr>
                            </m:ctrlPr>
                          </m:dPr>
                          <m:e>
                            <m:m>
                              <m:mPr>
                                <m:mcs>
                                  <m:mc>
                                    <m:mcPr>
                                      <m:count m:val="2"/>
                                      <m:mcJc m:val="center"/>
                                    </m:mcPr>
                                  </m:mc>
                                </m:mcs>
                                <m:ctrlPr>
                                  <a:rPr lang="fr-FR" i="1" smtClean="0">
                                    <a:latin typeface="Cambria Math" panose="02040503050406030204" pitchFamily="18" charset="0"/>
                                  </a:rPr>
                                </m:ctrlPr>
                              </m:mPr>
                              <m:mr>
                                <m:e>
                                  <m:sSub>
                                    <m:sSubPr>
                                      <m:ctrlPr>
                                        <a:rPr lang="fr-FR" i="1" smtClean="0">
                                          <a:latin typeface="Cambria Math" panose="02040503050406030204" pitchFamily="18" charset="0"/>
                                        </a:rPr>
                                      </m:ctrlPr>
                                    </m:sSubPr>
                                    <m:e>
                                      <m:r>
                                        <a:rPr lang="fr-FR" b="0" i="1" smtClean="0">
                                          <a:latin typeface="Cambria Math"/>
                                        </a:rPr>
                                        <m:t>𝑞</m:t>
                                      </m:r>
                                    </m:e>
                                    <m:sub>
                                      <m:r>
                                        <a:rPr lang="fr-FR" b="0" i="1" smtClean="0">
                                          <a:latin typeface="Cambria Math"/>
                                        </a:rPr>
                                        <m:t>1</m:t>
                                      </m:r>
                                    </m:sub>
                                  </m:sSub>
                                </m:e>
                                <m:e>
                                  <m:sSub>
                                    <m:sSubPr>
                                      <m:ctrlPr>
                                        <a:rPr lang="fr-FR" i="1" smtClean="0">
                                          <a:latin typeface="Cambria Math" panose="02040503050406030204" pitchFamily="18" charset="0"/>
                                        </a:rPr>
                                      </m:ctrlPr>
                                    </m:sSubPr>
                                    <m:e>
                                      <m:r>
                                        <a:rPr lang="fr-FR" b="0" i="1" smtClean="0">
                                          <a:latin typeface="Cambria Math"/>
                                        </a:rPr>
                                        <m:t>𝑞</m:t>
                                      </m:r>
                                    </m:e>
                                    <m:sub>
                                      <m:r>
                                        <a:rPr lang="fr-FR" b="0" i="1" smtClean="0">
                                          <a:latin typeface="Cambria Math"/>
                                        </a:rPr>
                                        <m:t>2</m:t>
                                      </m:r>
                                    </m:sub>
                                  </m:sSub>
                                </m:e>
                              </m:mr>
                            </m:m>
                          </m:e>
                        </m:d>
                      </m:e>
                      <m:sup>
                        <m:r>
                          <a:rPr lang="fr-FR" i="1">
                            <a:latin typeface="Cambria Math"/>
                          </a:rPr>
                          <m:t>𝑇</m:t>
                        </m:r>
                      </m:sup>
                    </m:sSup>
                  </m:oMath>
                </a14:m>
                <a:r>
                  <a:rPr lang="fr-FR" dirty="0">
                    <a:ea typeface="Cambria Math"/>
                  </a:rPr>
                  <a:t> </a:t>
                </a:r>
              </a:p>
              <a:p>
                <a:pPr marL="0" indent="0">
                  <a:buNone/>
                </a:pPr>
                <a:endParaRPr lang="fr-FR" dirty="0">
                  <a:ea typeface="Cambria Math"/>
                </a:endParaRPr>
              </a:p>
              <a:p>
                <a:pPr marL="0" indent="0">
                  <a:buNone/>
                </a:pPr>
                <a14:m>
                  <m:oMath xmlns:m="http://schemas.openxmlformats.org/officeDocument/2006/math">
                    <m:r>
                      <a:rPr lang="fr-FR" b="1" i="0" smtClean="0">
                        <a:latin typeface="Cambria Math"/>
                        <a:ea typeface="Cambria Math"/>
                      </a:rPr>
                      <m:t>𝐱</m:t>
                    </m:r>
                    <m:r>
                      <a:rPr lang="fr-FR" b="0" i="1" smtClean="0">
                        <a:latin typeface="Cambria Math"/>
                        <a:ea typeface="Cambria Math"/>
                      </a:rPr>
                      <m:t>=</m:t>
                    </m:r>
                    <m:d>
                      <m:dPr>
                        <m:ctrlPr>
                          <a:rPr lang="fr-FR" b="0" i="1" dirty="0" smtClean="0">
                            <a:latin typeface="Cambria Math" panose="02040503050406030204" pitchFamily="18" charset="0"/>
                            <a:ea typeface="Cambria Math"/>
                          </a:rPr>
                        </m:ctrlPr>
                      </m:dPr>
                      <m:e>
                        <m:eqArr>
                          <m:eqArrPr>
                            <m:ctrlPr>
                              <a:rPr lang="fr-FR" b="0" i="1" smtClean="0">
                                <a:latin typeface="Cambria Math" panose="02040503050406030204" pitchFamily="18" charset="0"/>
                                <a:ea typeface="Cambria Math"/>
                              </a:rPr>
                            </m:ctrlPr>
                          </m:eqArrPr>
                          <m:e>
                            <m:r>
                              <a:rPr lang="fr-FR" b="0" i="1" smtClean="0">
                                <a:latin typeface="Cambria Math"/>
                                <a:ea typeface="Cambria Math"/>
                              </a:rPr>
                              <m:t>𝑥</m:t>
                            </m:r>
                          </m:e>
                          <m:e>
                            <m:r>
                              <a:rPr lang="fr-FR" b="0" i="1" smtClean="0">
                                <a:latin typeface="Cambria Math"/>
                              </a:rPr>
                              <m:t>𝑦</m:t>
                            </m:r>
                          </m:e>
                        </m:eqArr>
                      </m:e>
                    </m:d>
                    <m:r>
                      <a:rPr lang="fr-FR" b="0" i="0" smtClean="0">
                        <a:latin typeface="Cambria Math"/>
                        <a:ea typeface="Cambria Math"/>
                      </a:rPr>
                      <m:t>=</m:t>
                    </m:r>
                    <m:r>
                      <m:rPr>
                        <m:sty m:val="p"/>
                      </m:rPr>
                      <a:rPr lang="fr-FR" b="0" i="0" smtClean="0">
                        <a:latin typeface="Cambria Math"/>
                        <a:ea typeface="Cambria Math"/>
                      </a:rPr>
                      <m:t>MGD</m:t>
                    </m:r>
                    <m:r>
                      <a:rPr lang="fr-FR" b="0" i="1" smtClean="0">
                        <a:latin typeface="Cambria Math"/>
                        <a:ea typeface="Cambria Math"/>
                      </a:rPr>
                      <m:t>(</m:t>
                    </m:r>
                    <m:r>
                      <a:rPr lang="fr-FR" b="1" i="0" smtClean="0">
                        <a:latin typeface="Cambria Math"/>
                        <a:ea typeface="Cambria Math"/>
                      </a:rPr>
                      <m:t>𝐪</m:t>
                    </m:r>
                    <m:r>
                      <a:rPr lang="fr-FR" b="0" i="1" smtClean="0">
                        <a:latin typeface="Cambria Math"/>
                        <a:ea typeface="Cambria Math"/>
                      </a:rPr>
                      <m:t>)</m:t>
                    </m:r>
                  </m:oMath>
                </a14:m>
                <a:r>
                  <a:rPr lang="fr-FR" dirty="0">
                    <a:ea typeface="Cambria Math"/>
                  </a:rPr>
                  <a:t> : </a:t>
                </a:r>
                <a14:m>
                  <m:oMath xmlns:m="http://schemas.openxmlformats.org/officeDocument/2006/math">
                    <m:d>
                      <m:dPr>
                        <m:begChr m:val="{"/>
                        <m:endChr m:val=""/>
                        <m:ctrlPr>
                          <a:rPr lang="fr-FR" i="1" smtClean="0">
                            <a:latin typeface="Cambria Math" panose="02040503050406030204" pitchFamily="18" charset="0"/>
                            <a:ea typeface="Cambria Math"/>
                          </a:rPr>
                        </m:ctrlPr>
                      </m:dPr>
                      <m:e>
                        <m:eqArr>
                          <m:eqArrPr>
                            <m:ctrlPr>
                              <a:rPr lang="fr-FR" i="1" smtClean="0">
                                <a:latin typeface="Cambria Math" panose="02040503050406030204" pitchFamily="18" charset="0"/>
                                <a:ea typeface="Cambria Math"/>
                              </a:rPr>
                            </m:ctrlPr>
                          </m:eqArrPr>
                          <m:e>
                            <m:r>
                              <a:rPr lang="fr-FR" b="0" i="1" smtClean="0">
                                <a:latin typeface="Cambria Math"/>
                                <a:ea typeface="Cambria Math"/>
                              </a:rPr>
                              <m:t>𝑥</m:t>
                            </m:r>
                            <m:r>
                              <a:rPr lang="fr-FR" b="0" i="1" smtClean="0">
                                <a:latin typeface="Cambria Math"/>
                                <a:ea typeface="Cambria Math"/>
                              </a:rPr>
                              <m:t>=</m:t>
                            </m:r>
                            <m:sSub>
                              <m:sSubPr>
                                <m:ctrlPr>
                                  <a:rPr lang="fr-FR" b="0" i="1" smtClean="0">
                                    <a:latin typeface="Cambria Math" panose="02040503050406030204" pitchFamily="18" charset="0"/>
                                    <a:ea typeface="Cambria Math"/>
                                  </a:rPr>
                                </m:ctrlPr>
                              </m:sSubPr>
                              <m:e>
                                <m:r>
                                  <m:rPr>
                                    <m:sty m:val="p"/>
                                  </m:rPr>
                                  <a:rPr lang="fr-FR" b="0" i="0" smtClean="0">
                                    <a:latin typeface="Cambria Math"/>
                                    <a:ea typeface="Cambria Math"/>
                                  </a:rPr>
                                  <m:t>a</m:t>
                                </m:r>
                              </m:e>
                              <m:sub>
                                <m:r>
                                  <a:rPr lang="fr-FR" b="0" i="1" smtClean="0">
                                    <a:latin typeface="Cambria Math"/>
                                    <a:ea typeface="Cambria Math"/>
                                  </a:rPr>
                                  <m:t>1</m:t>
                                </m:r>
                              </m:sub>
                            </m:sSub>
                            <m:func>
                              <m:funcPr>
                                <m:ctrlPr>
                                  <a:rPr lang="fr-FR" b="0" i="1" smtClean="0">
                                    <a:latin typeface="Cambria Math" panose="02040503050406030204" pitchFamily="18" charset="0"/>
                                    <a:ea typeface="Cambria Math"/>
                                  </a:rPr>
                                </m:ctrlPr>
                              </m:funcPr>
                              <m:fName>
                                <m:r>
                                  <m:rPr>
                                    <m:sty m:val="p"/>
                                  </m:rPr>
                                  <a:rPr lang="fr-FR" b="0" i="0" smtClean="0">
                                    <a:latin typeface="Cambria Math"/>
                                    <a:ea typeface="Cambria Math"/>
                                  </a:rPr>
                                  <m:t>cos</m:t>
                                </m:r>
                              </m:fName>
                              <m:e>
                                <m:sSub>
                                  <m:sSubPr>
                                    <m:ctrlPr>
                                      <a:rPr lang="fr-FR" b="0" i="1" smtClean="0">
                                        <a:latin typeface="Cambria Math" panose="02040503050406030204" pitchFamily="18" charset="0"/>
                                        <a:ea typeface="Cambria Math"/>
                                      </a:rPr>
                                    </m:ctrlPr>
                                  </m:sSubPr>
                                  <m:e>
                                    <m:r>
                                      <a:rPr lang="fr-FR" b="0" i="1" smtClean="0">
                                        <a:latin typeface="Cambria Math"/>
                                        <a:ea typeface="Cambria Math"/>
                                      </a:rPr>
                                      <m:t>𝑞</m:t>
                                    </m:r>
                                  </m:e>
                                  <m:sub>
                                    <m:r>
                                      <a:rPr lang="fr-FR" b="0" i="1" smtClean="0">
                                        <a:latin typeface="Cambria Math"/>
                                        <a:ea typeface="Cambria Math"/>
                                      </a:rPr>
                                      <m:t>1</m:t>
                                    </m:r>
                                  </m:sub>
                                </m:sSub>
                              </m:e>
                            </m:func>
                            <m:r>
                              <a:rPr lang="fr-FR" b="0" i="1" smtClean="0">
                                <a:latin typeface="Cambria Math"/>
                                <a:ea typeface="Cambria Math"/>
                              </a:rPr>
                              <m:t>+</m:t>
                            </m:r>
                            <m:sSub>
                              <m:sSubPr>
                                <m:ctrlPr>
                                  <a:rPr lang="fr-FR" b="0" i="1" smtClean="0">
                                    <a:latin typeface="Cambria Math" panose="02040503050406030204" pitchFamily="18" charset="0"/>
                                    <a:ea typeface="Cambria Math"/>
                                  </a:rPr>
                                </m:ctrlPr>
                              </m:sSubPr>
                              <m:e>
                                <m:r>
                                  <m:rPr>
                                    <m:sty m:val="p"/>
                                  </m:rPr>
                                  <a:rPr lang="fr-FR" b="0" i="0" smtClean="0">
                                    <a:latin typeface="Cambria Math"/>
                                    <a:ea typeface="Cambria Math"/>
                                  </a:rPr>
                                  <m:t>a</m:t>
                                </m:r>
                              </m:e>
                              <m:sub>
                                <m:r>
                                  <a:rPr lang="fr-FR" b="0" i="1" smtClean="0">
                                    <a:latin typeface="Cambria Math"/>
                                    <a:ea typeface="Cambria Math"/>
                                  </a:rPr>
                                  <m:t>2</m:t>
                                </m:r>
                              </m:sub>
                            </m:sSub>
                            <m:func>
                              <m:funcPr>
                                <m:ctrlPr>
                                  <a:rPr lang="fr-FR" b="0" i="1" smtClean="0">
                                    <a:latin typeface="Cambria Math" panose="02040503050406030204" pitchFamily="18" charset="0"/>
                                    <a:ea typeface="Cambria Math"/>
                                  </a:rPr>
                                </m:ctrlPr>
                              </m:funcPr>
                              <m:fName>
                                <m:r>
                                  <m:rPr>
                                    <m:sty m:val="p"/>
                                  </m:rPr>
                                  <a:rPr lang="fr-FR" b="0" i="0" smtClean="0">
                                    <a:latin typeface="Cambria Math"/>
                                    <a:ea typeface="Cambria Math"/>
                                  </a:rPr>
                                  <m:t>cos</m:t>
                                </m:r>
                              </m:fName>
                              <m:e>
                                <m:d>
                                  <m:dPr>
                                    <m:ctrlPr>
                                      <a:rPr lang="fr-FR" b="0" i="1" smtClean="0">
                                        <a:latin typeface="Cambria Math" panose="02040503050406030204" pitchFamily="18" charset="0"/>
                                        <a:ea typeface="Cambria Math"/>
                                      </a:rPr>
                                    </m:ctrlPr>
                                  </m:dPr>
                                  <m:e>
                                    <m:sSub>
                                      <m:sSubPr>
                                        <m:ctrlPr>
                                          <a:rPr lang="fr-FR" b="0" i="1" smtClean="0">
                                            <a:latin typeface="Cambria Math" panose="02040503050406030204" pitchFamily="18" charset="0"/>
                                            <a:ea typeface="Cambria Math"/>
                                          </a:rPr>
                                        </m:ctrlPr>
                                      </m:sSubPr>
                                      <m:e>
                                        <m:r>
                                          <a:rPr lang="fr-FR" b="0" i="1" smtClean="0">
                                            <a:latin typeface="Cambria Math"/>
                                            <a:ea typeface="Cambria Math"/>
                                          </a:rPr>
                                          <m:t>𝑞</m:t>
                                        </m:r>
                                      </m:e>
                                      <m:sub>
                                        <m:r>
                                          <a:rPr lang="fr-FR" b="0" i="1" smtClean="0">
                                            <a:latin typeface="Cambria Math"/>
                                            <a:ea typeface="Cambria Math"/>
                                          </a:rPr>
                                          <m:t>1</m:t>
                                        </m:r>
                                      </m:sub>
                                    </m:sSub>
                                    <m:r>
                                      <a:rPr lang="fr-FR" b="0" i="1" smtClean="0">
                                        <a:latin typeface="Cambria Math"/>
                                        <a:ea typeface="Cambria Math"/>
                                      </a:rPr>
                                      <m:t>+</m:t>
                                    </m:r>
                                    <m:sSub>
                                      <m:sSubPr>
                                        <m:ctrlPr>
                                          <a:rPr lang="fr-FR" b="0" i="1" smtClean="0">
                                            <a:latin typeface="Cambria Math" panose="02040503050406030204" pitchFamily="18" charset="0"/>
                                            <a:ea typeface="Cambria Math"/>
                                          </a:rPr>
                                        </m:ctrlPr>
                                      </m:sSubPr>
                                      <m:e>
                                        <m:r>
                                          <a:rPr lang="fr-FR" b="0" i="1" smtClean="0">
                                            <a:latin typeface="Cambria Math"/>
                                            <a:ea typeface="Cambria Math"/>
                                          </a:rPr>
                                          <m:t>𝑞</m:t>
                                        </m:r>
                                      </m:e>
                                      <m:sub>
                                        <m:r>
                                          <a:rPr lang="fr-FR" b="0" i="1" smtClean="0">
                                            <a:latin typeface="Cambria Math"/>
                                            <a:ea typeface="Cambria Math"/>
                                          </a:rPr>
                                          <m:t>2</m:t>
                                        </m:r>
                                      </m:sub>
                                    </m:sSub>
                                  </m:e>
                                </m:d>
                              </m:e>
                            </m:func>
                          </m:e>
                          <m:e>
                            <m:r>
                              <a:rPr lang="fr-FR" b="0" i="1" smtClean="0">
                                <a:latin typeface="Cambria Math"/>
                              </a:rPr>
                              <m:t>𝑦</m:t>
                            </m:r>
                            <m:r>
                              <a:rPr lang="fr-FR" i="1">
                                <a:latin typeface="Cambria Math"/>
                                <a:ea typeface="Cambria Math"/>
                              </a:rPr>
                              <m:t>=</m:t>
                            </m:r>
                            <m:sSub>
                              <m:sSubPr>
                                <m:ctrlPr>
                                  <a:rPr lang="fr-FR" i="1">
                                    <a:latin typeface="Cambria Math" panose="02040503050406030204" pitchFamily="18" charset="0"/>
                                    <a:ea typeface="Cambria Math"/>
                                  </a:rPr>
                                </m:ctrlPr>
                              </m:sSubPr>
                              <m:e>
                                <m:r>
                                  <m:rPr>
                                    <m:sty m:val="p"/>
                                  </m:rPr>
                                  <a:rPr lang="fr-FR" b="0" i="0" smtClean="0">
                                    <a:latin typeface="Cambria Math"/>
                                    <a:ea typeface="Cambria Math"/>
                                  </a:rPr>
                                  <m:t>a</m:t>
                                </m:r>
                              </m:e>
                              <m:sub>
                                <m:r>
                                  <a:rPr lang="fr-FR" i="1">
                                    <a:latin typeface="Cambria Math"/>
                                    <a:ea typeface="Cambria Math"/>
                                  </a:rPr>
                                  <m:t>1</m:t>
                                </m:r>
                              </m:sub>
                            </m:sSub>
                            <m:func>
                              <m:funcPr>
                                <m:ctrlPr>
                                  <a:rPr lang="fr-FR" i="1" smtClean="0">
                                    <a:latin typeface="Cambria Math" panose="02040503050406030204" pitchFamily="18" charset="0"/>
                                    <a:ea typeface="Cambria Math"/>
                                  </a:rPr>
                                </m:ctrlPr>
                              </m:funcPr>
                              <m:fName>
                                <m:r>
                                  <m:rPr>
                                    <m:sty m:val="p"/>
                                  </m:rPr>
                                  <a:rPr lang="fr-FR" i="0" smtClean="0">
                                    <a:latin typeface="Cambria Math"/>
                                    <a:ea typeface="Cambria Math"/>
                                  </a:rPr>
                                  <m:t>sin</m:t>
                                </m:r>
                              </m:fName>
                              <m:e>
                                <m:sSub>
                                  <m:sSubPr>
                                    <m:ctrlPr>
                                      <a:rPr lang="fr-FR" i="1" smtClean="0">
                                        <a:latin typeface="Cambria Math" panose="02040503050406030204" pitchFamily="18" charset="0"/>
                                        <a:ea typeface="Cambria Math"/>
                                      </a:rPr>
                                    </m:ctrlPr>
                                  </m:sSubPr>
                                  <m:e>
                                    <m:r>
                                      <a:rPr lang="fr-FR" b="0" i="1" smtClean="0">
                                        <a:latin typeface="Cambria Math"/>
                                        <a:ea typeface="Cambria Math"/>
                                      </a:rPr>
                                      <m:t>𝑞</m:t>
                                    </m:r>
                                  </m:e>
                                  <m:sub>
                                    <m:r>
                                      <a:rPr lang="fr-FR" b="0" i="1" smtClean="0">
                                        <a:latin typeface="Cambria Math"/>
                                        <a:ea typeface="Cambria Math"/>
                                      </a:rPr>
                                      <m:t>1</m:t>
                                    </m:r>
                                  </m:sub>
                                </m:sSub>
                              </m:e>
                            </m:func>
                            <m:r>
                              <a:rPr lang="fr-FR" i="1">
                                <a:latin typeface="Cambria Math"/>
                                <a:ea typeface="Cambria Math"/>
                              </a:rPr>
                              <m:t>+</m:t>
                            </m:r>
                            <m:sSub>
                              <m:sSubPr>
                                <m:ctrlPr>
                                  <a:rPr lang="fr-FR" i="1">
                                    <a:latin typeface="Cambria Math" panose="02040503050406030204" pitchFamily="18" charset="0"/>
                                    <a:ea typeface="Cambria Math"/>
                                  </a:rPr>
                                </m:ctrlPr>
                              </m:sSubPr>
                              <m:e>
                                <m:r>
                                  <m:rPr>
                                    <m:sty m:val="p"/>
                                  </m:rPr>
                                  <a:rPr lang="fr-FR" b="0" i="0" smtClean="0">
                                    <a:latin typeface="Cambria Math"/>
                                    <a:ea typeface="Cambria Math"/>
                                  </a:rPr>
                                  <m:t>a</m:t>
                                </m:r>
                              </m:e>
                              <m:sub>
                                <m:r>
                                  <a:rPr lang="fr-FR" i="1">
                                    <a:latin typeface="Cambria Math"/>
                                    <a:ea typeface="Cambria Math"/>
                                  </a:rPr>
                                  <m:t>2</m:t>
                                </m:r>
                              </m:sub>
                            </m:sSub>
                            <m:func>
                              <m:funcPr>
                                <m:ctrlPr>
                                  <a:rPr lang="fr-FR" i="1" smtClean="0">
                                    <a:latin typeface="Cambria Math" panose="02040503050406030204" pitchFamily="18" charset="0"/>
                                    <a:ea typeface="Cambria Math"/>
                                  </a:rPr>
                                </m:ctrlPr>
                              </m:funcPr>
                              <m:fName>
                                <m:r>
                                  <m:rPr>
                                    <m:sty m:val="p"/>
                                  </m:rPr>
                                  <a:rPr lang="fr-FR" i="0" smtClean="0">
                                    <a:latin typeface="Cambria Math"/>
                                    <a:ea typeface="Cambria Math"/>
                                  </a:rPr>
                                  <m:t>sin</m:t>
                                </m:r>
                              </m:fName>
                              <m:e>
                                <m:d>
                                  <m:dPr>
                                    <m:ctrlPr>
                                      <a:rPr lang="fr-FR" i="1" smtClean="0">
                                        <a:latin typeface="Cambria Math" panose="02040503050406030204" pitchFamily="18" charset="0"/>
                                        <a:ea typeface="Cambria Math"/>
                                      </a:rPr>
                                    </m:ctrlPr>
                                  </m:dPr>
                                  <m:e>
                                    <m:sSub>
                                      <m:sSubPr>
                                        <m:ctrlPr>
                                          <a:rPr lang="fr-FR" i="1" smtClean="0">
                                            <a:latin typeface="Cambria Math" panose="02040503050406030204" pitchFamily="18" charset="0"/>
                                            <a:ea typeface="Cambria Math"/>
                                          </a:rPr>
                                        </m:ctrlPr>
                                      </m:sSubPr>
                                      <m:e>
                                        <m:r>
                                          <a:rPr lang="fr-FR" b="0" i="1" smtClean="0">
                                            <a:latin typeface="Cambria Math"/>
                                            <a:ea typeface="Cambria Math"/>
                                          </a:rPr>
                                          <m:t>𝑞</m:t>
                                        </m:r>
                                      </m:e>
                                      <m:sub>
                                        <m:r>
                                          <a:rPr lang="fr-FR" b="0" i="1" smtClean="0">
                                            <a:latin typeface="Cambria Math"/>
                                            <a:ea typeface="Cambria Math"/>
                                          </a:rPr>
                                          <m:t>1</m:t>
                                        </m:r>
                                      </m:sub>
                                    </m:sSub>
                                    <m:r>
                                      <a:rPr lang="fr-FR" b="0" i="1" smtClean="0">
                                        <a:latin typeface="Cambria Math"/>
                                        <a:ea typeface="Cambria Math"/>
                                      </a:rPr>
                                      <m:t>+</m:t>
                                    </m:r>
                                    <m:sSub>
                                      <m:sSubPr>
                                        <m:ctrlPr>
                                          <a:rPr lang="fr-FR" b="0" i="1" smtClean="0">
                                            <a:latin typeface="Cambria Math" panose="02040503050406030204" pitchFamily="18" charset="0"/>
                                            <a:ea typeface="Cambria Math"/>
                                          </a:rPr>
                                        </m:ctrlPr>
                                      </m:sSubPr>
                                      <m:e>
                                        <m:r>
                                          <a:rPr lang="fr-FR" b="0" i="1" smtClean="0">
                                            <a:latin typeface="Cambria Math"/>
                                            <a:ea typeface="Cambria Math"/>
                                          </a:rPr>
                                          <m:t>𝑞</m:t>
                                        </m:r>
                                      </m:e>
                                      <m:sub>
                                        <m:r>
                                          <a:rPr lang="fr-FR" b="0" i="1" smtClean="0">
                                            <a:latin typeface="Cambria Math"/>
                                            <a:ea typeface="Cambria Math"/>
                                          </a:rPr>
                                          <m:t>2</m:t>
                                        </m:r>
                                      </m:sub>
                                    </m:sSub>
                                  </m:e>
                                </m:d>
                              </m:e>
                            </m:func>
                          </m:e>
                        </m:eqArr>
                      </m:e>
                    </m:d>
                  </m:oMath>
                </a14:m>
                <a:endParaRPr lang="fr-FR" dirty="0">
                  <a:ea typeface="Cambria Math"/>
                </a:endParaRPr>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xfrm>
                <a:off x="280656" y="959667"/>
                <a:ext cx="8410762" cy="5514285"/>
              </a:xfrm>
              <a:blipFill rotWithShape="1">
                <a:blip r:embed="rId3"/>
                <a:stretch>
                  <a:fillRect l="-580" t="-552"/>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Exemple de modélisation</a:t>
            </a:r>
          </a:p>
        </p:txBody>
      </p:sp>
      <p:grpSp>
        <p:nvGrpSpPr>
          <p:cNvPr id="6" name="Groupe 5"/>
          <p:cNvGrpSpPr/>
          <p:nvPr/>
        </p:nvGrpSpPr>
        <p:grpSpPr>
          <a:xfrm>
            <a:off x="2694576" y="1361327"/>
            <a:ext cx="4374827" cy="2648596"/>
            <a:chOff x="2694576" y="1361327"/>
            <a:chExt cx="4374827" cy="2648596"/>
          </a:xfrm>
        </p:grpSpPr>
        <p:cxnSp>
          <p:nvCxnSpPr>
            <p:cNvPr id="56" name="Connecteur droit avec flèche 55"/>
            <p:cNvCxnSpPr/>
            <p:nvPr/>
          </p:nvCxnSpPr>
          <p:spPr>
            <a:xfrm>
              <a:off x="3089189" y="3727350"/>
              <a:ext cx="3764691"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8" name="Connecteur droit avec flèche 57"/>
            <p:cNvCxnSpPr/>
            <p:nvPr/>
          </p:nvCxnSpPr>
          <p:spPr>
            <a:xfrm flipH="1" flipV="1">
              <a:off x="3080841" y="1431636"/>
              <a:ext cx="8348" cy="2295715"/>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9" name="Ellipse 58"/>
            <p:cNvSpPr/>
            <p:nvPr/>
          </p:nvSpPr>
          <p:spPr>
            <a:xfrm>
              <a:off x="2932668" y="3565317"/>
              <a:ext cx="324000" cy="32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61" name="Connecteur droit 60"/>
            <p:cNvCxnSpPr/>
            <p:nvPr/>
          </p:nvCxnSpPr>
          <p:spPr>
            <a:xfrm flipV="1">
              <a:off x="3085015" y="3145710"/>
              <a:ext cx="1626570" cy="58059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2" name="Connecteur droit 61"/>
            <p:cNvCxnSpPr/>
            <p:nvPr/>
          </p:nvCxnSpPr>
          <p:spPr>
            <a:xfrm flipV="1">
              <a:off x="4711585" y="2022192"/>
              <a:ext cx="1792403" cy="1108286"/>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63" name="Groupe 62"/>
            <p:cNvGrpSpPr/>
            <p:nvPr/>
          </p:nvGrpSpPr>
          <p:grpSpPr>
            <a:xfrm>
              <a:off x="6285069" y="1762081"/>
              <a:ext cx="232830" cy="1965270"/>
              <a:chOff x="5761570" y="1807661"/>
              <a:chExt cx="82296" cy="1965270"/>
            </a:xfrm>
          </p:grpSpPr>
          <p:cxnSp>
            <p:nvCxnSpPr>
              <p:cNvPr id="64" name="Connecteur droit 63"/>
              <p:cNvCxnSpPr/>
              <p:nvPr/>
            </p:nvCxnSpPr>
            <p:spPr>
              <a:xfrm>
                <a:off x="5761570" y="1807661"/>
                <a:ext cx="0" cy="196523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Connecteur droit 65"/>
              <p:cNvCxnSpPr/>
              <p:nvPr/>
            </p:nvCxnSpPr>
            <p:spPr>
              <a:xfrm>
                <a:off x="5840629" y="1807661"/>
                <a:ext cx="0" cy="196523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Connecteur droit 66"/>
              <p:cNvCxnSpPr/>
              <p:nvPr/>
            </p:nvCxnSpPr>
            <p:spPr>
              <a:xfrm flipH="1">
                <a:off x="5761570" y="1807661"/>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Connecteur droit 68"/>
              <p:cNvCxnSpPr/>
              <p:nvPr/>
            </p:nvCxnSpPr>
            <p:spPr>
              <a:xfrm flipH="1">
                <a:off x="5766487" y="1869093"/>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Connecteur droit 71"/>
              <p:cNvCxnSpPr/>
              <p:nvPr/>
            </p:nvCxnSpPr>
            <p:spPr>
              <a:xfrm flipH="1">
                <a:off x="5766487" y="1942460"/>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Connecteur droit 72"/>
              <p:cNvCxnSpPr/>
              <p:nvPr/>
            </p:nvCxnSpPr>
            <p:spPr>
              <a:xfrm flipH="1">
                <a:off x="5766487" y="2003413"/>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Connecteur droit 75"/>
              <p:cNvCxnSpPr/>
              <p:nvPr/>
            </p:nvCxnSpPr>
            <p:spPr>
              <a:xfrm flipH="1">
                <a:off x="5766487" y="2523354"/>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Connecteur droit 78"/>
              <p:cNvCxnSpPr/>
              <p:nvPr/>
            </p:nvCxnSpPr>
            <p:spPr>
              <a:xfrm flipH="1">
                <a:off x="5761570" y="2067771"/>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Connecteur droit 79"/>
              <p:cNvCxnSpPr/>
              <p:nvPr/>
            </p:nvCxnSpPr>
            <p:spPr>
              <a:xfrm flipH="1">
                <a:off x="5766487" y="2140836"/>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Connecteur droit 80"/>
              <p:cNvCxnSpPr/>
              <p:nvPr/>
            </p:nvCxnSpPr>
            <p:spPr>
              <a:xfrm flipH="1">
                <a:off x="5766487" y="2209256"/>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Connecteur droit 81"/>
              <p:cNvCxnSpPr/>
              <p:nvPr/>
            </p:nvCxnSpPr>
            <p:spPr>
              <a:xfrm flipH="1">
                <a:off x="5766487" y="2275824"/>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Connecteur droit 82"/>
              <p:cNvCxnSpPr/>
              <p:nvPr/>
            </p:nvCxnSpPr>
            <p:spPr>
              <a:xfrm flipH="1">
                <a:off x="5766487" y="2331972"/>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Connecteur droit 83"/>
              <p:cNvCxnSpPr/>
              <p:nvPr/>
            </p:nvCxnSpPr>
            <p:spPr>
              <a:xfrm flipH="1">
                <a:off x="5761570" y="2391973"/>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Connecteur droit 84"/>
              <p:cNvCxnSpPr/>
              <p:nvPr/>
            </p:nvCxnSpPr>
            <p:spPr>
              <a:xfrm flipH="1">
                <a:off x="5766487" y="2453031"/>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Connecteur droit 85"/>
              <p:cNvCxnSpPr/>
              <p:nvPr/>
            </p:nvCxnSpPr>
            <p:spPr>
              <a:xfrm flipH="1">
                <a:off x="5761570" y="2591746"/>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Connecteur droit 86"/>
              <p:cNvCxnSpPr/>
              <p:nvPr/>
            </p:nvCxnSpPr>
            <p:spPr>
              <a:xfrm flipH="1">
                <a:off x="5766487" y="2653178"/>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Connecteur droit 87"/>
              <p:cNvCxnSpPr/>
              <p:nvPr/>
            </p:nvCxnSpPr>
            <p:spPr>
              <a:xfrm flipH="1">
                <a:off x="5766487" y="2726545"/>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Connecteur droit 88"/>
              <p:cNvCxnSpPr/>
              <p:nvPr/>
            </p:nvCxnSpPr>
            <p:spPr>
              <a:xfrm flipH="1">
                <a:off x="5766487" y="2787498"/>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Connecteur droit 89"/>
              <p:cNvCxnSpPr/>
              <p:nvPr/>
            </p:nvCxnSpPr>
            <p:spPr>
              <a:xfrm flipH="1">
                <a:off x="5766487" y="3307439"/>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Connecteur droit 90"/>
              <p:cNvCxnSpPr/>
              <p:nvPr/>
            </p:nvCxnSpPr>
            <p:spPr>
              <a:xfrm flipH="1">
                <a:off x="5761570" y="2851856"/>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Connecteur droit 91"/>
              <p:cNvCxnSpPr/>
              <p:nvPr/>
            </p:nvCxnSpPr>
            <p:spPr>
              <a:xfrm flipH="1">
                <a:off x="5766487" y="2924921"/>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Connecteur droit 92"/>
              <p:cNvCxnSpPr/>
              <p:nvPr/>
            </p:nvCxnSpPr>
            <p:spPr>
              <a:xfrm flipH="1">
                <a:off x="5766487" y="2993341"/>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Connecteur droit 93"/>
              <p:cNvCxnSpPr/>
              <p:nvPr/>
            </p:nvCxnSpPr>
            <p:spPr>
              <a:xfrm flipH="1">
                <a:off x="5766487" y="3059909"/>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Connecteur droit 94"/>
              <p:cNvCxnSpPr/>
              <p:nvPr/>
            </p:nvCxnSpPr>
            <p:spPr>
              <a:xfrm flipH="1">
                <a:off x="5766487" y="3116057"/>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Connecteur droit 95"/>
              <p:cNvCxnSpPr/>
              <p:nvPr/>
            </p:nvCxnSpPr>
            <p:spPr>
              <a:xfrm flipH="1">
                <a:off x="5761570" y="3176058"/>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Connecteur droit 96"/>
              <p:cNvCxnSpPr/>
              <p:nvPr/>
            </p:nvCxnSpPr>
            <p:spPr>
              <a:xfrm flipH="1">
                <a:off x="5766487" y="3237116"/>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Connecteur droit 97"/>
              <p:cNvCxnSpPr/>
              <p:nvPr/>
            </p:nvCxnSpPr>
            <p:spPr>
              <a:xfrm flipH="1">
                <a:off x="5764807" y="3371336"/>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Connecteur droit 98"/>
              <p:cNvCxnSpPr/>
              <p:nvPr/>
            </p:nvCxnSpPr>
            <p:spPr>
              <a:xfrm flipH="1">
                <a:off x="5769724" y="3432768"/>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Connecteur droit 99"/>
              <p:cNvCxnSpPr/>
              <p:nvPr/>
            </p:nvCxnSpPr>
            <p:spPr>
              <a:xfrm flipH="1">
                <a:off x="5769724" y="3506135"/>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Connecteur droit 100"/>
              <p:cNvCxnSpPr/>
              <p:nvPr/>
            </p:nvCxnSpPr>
            <p:spPr>
              <a:xfrm flipH="1">
                <a:off x="5769724" y="3567088"/>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Connecteur droit 101"/>
              <p:cNvCxnSpPr/>
              <p:nvPr/>
            </p:nvCxnSpPr>
            <p:spPr>
              <a:xfrm flipH="1">
                <a:off x="5764807" y="3631446"/>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Connecteur droit 102"/>
              <p:cNvCxnSpPr/>
              <p:nvPr/>
            </p:nvCxnSpPr>
            <p:spPr>
              <a:xfrm flipH="1">
                <a:off x="5764807" y="3681228"/>
                <a:ext cx="74142" cy="9170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04" name="ZoneTexte 103"/>
                <p:cNvSpPr txBox="1"/>
                <p:nvPr/>
              </p:nvSpPr>
              <p:spPr>
                <a:xfrm>
                  <a:off x="6080570" y="3607031"/>
                  <a:ext cx="38626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0" i="1" smtClean="0">
                                <a:latin typeface="Cambria Math"/>
                              </a:rPr>
                              <m:t>𝑥</m:t>
                            </m:r>
                          </m:e>
                          <m:sub>
                            <m:r>
                              <a:rPr lang="fr-FR" b="0" i="1" smtClean="0">
                                <a:latin typeface="Cambria Math"/>
                              </a:rPr>
                              <m:t>𝑒</m:t>
                            </m:r>
                          </m:sub>
                        </m:sSub>
                      </m:oMath>
                    </m:oMathPara>
                  </a14:m>
                  <a:endParaRPr lang="fr-FR" dirty="0"/>
                </a:p>
              </p:txBody>
            </p:sp>
          </mc:Choice>
          <mc:Fallback xmlns="">
            <p:sp>
              <p:nvSpPr>
                <p:cNvPr id="104" name="ZoneTexte 103"/>
                <p:cNvSpPr txBox="1">
                  <a:spLocks noRot="1" noChangeAspect="1" noMove="1" noResize="1" noEditPoints="1" noAdjustHandles="1" noChangeArrowheads="1" noChangeShapeType="1" noTextEdit="1"/>
                </p:cNvSpPr>
                <p:nvPr/>
              </p:nvSpPr>
              <p:spPr>
                <a:xfrm>
                  <a:off x="6080570" y="3607031"/>
                  <a:ext cx="386265" cy="369332"/>
                </a:xfrm>
                <a:prstGeom prst="rect">
                  <a:avLst/>
                </a:prstGeom>
                <a:blipFill rotWithShape="1">
                  <a:blip r:embed="rId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05" name="ZoneTexte 104"/>
                <p:cNvSpPr txBox="1"/>
                <p:nvPr/>
              </p:nvSpPr>
              <p:spPr>
                <a:xfrm>
                  <a:off x="6328999" y="3631717"/>
                  <a:ext cx="38626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i="1" smtClean="0">
                            <a:latin typeface="Cambria Math"/>
                          </a:rPr>
                          <m:t>𝑥</m:t>
                        </m:r>
                      </m:oMath>
                    </m:oMathPara>
                  </a14:m>
                  <a:endParaRPr lang="fr-FR" dirty="0"/>
                </a:p>
              </p:txBody>
            </p:sp>
          </mc:Choice>
          <mc:Fallback xmlns="">
            <p:sp>
              <p:nvSpPr>
                <p:cNvPr id="105" name="ZoneTexte 104"/>
                <p:cNvSpPr txBox="1">
                  <a:spLocks noRot="1" noChangeAspect="1" noMove="1" noResize="1" noEditPoints="1" noAdjustHandles="1" noChangeArrowheads="1" noChangeShapeType="1" noTextEdit="1"/>
                </p:cNvSpPr>
                <p:nvPr/>
              </p:nvSpPr>
              <p:spPr>
                <a:xfrm>
                  <a:off x="6328999" y="3631717"/>
                  <a:ext cx="386265" cy="369332"/>
                </a:xfrm>
                <a:prstGeom prst="rect">
                  <a:avLst/>
                </a:prstGeom>
                <a:blipFill rotWithShape="1">
                  <a:blip r:embed="rId5"/>
                  <a:stretch>
                    <a:fillRect/>
                  </a:stretch>
                </a:blipFill>
              </p:spPr>
              <p:txBody>
                <a:bodyPr/>
                <a:lstStyle/>
                <a:p>
                  <a:r>
                    <a:rPr lang="fr-FR">
                      <a:noFill/>
                    </a:rPr>
                    <a:t> </a:t>
                  </a:r>
                </a:p>
              </p:txBody>
            </p:sp>
          </mc:Fallback>
        </mc:AlternateContent>
        <p:cxnSp>
          <p:nvCxnSpPr>
            <p:cNvPr id="106" name="Connecteur droit 105"/>
            <p:cNvCxnSpPr/>
            <p:nvPr/>
          </p:nvCxnSpPr>
          <p:spPr>
            <a:xfrm flipH="1" flipV="1">
              <a:off x="3080841" y="2022191"/>
              <a:ext cx="3204228" cy="11284"/>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7" name="ZoneTexte 106"/>
                <p:cNvSpPr txBox="1"/>
                <p:nvPr/>
              </p:nvSpPr>
              <p:spPr>
                <a:xfrm>
                  <a:off x="2708994" y="1848809"/>
                  <a:ext cx="38626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a:rPr>
                          <m:t>𝑦</m:t>
                        </m:r>
                      </m:oMath>
                    </m:oMathPara>
                  </a14:m>
                  <a:endParaRPr lang="fr-FR" dirty="0"/>
                </a:p>
              </p:txBody>
            </p:sp>
          </mc:Choice>
          <mc:Fallback xmlns="">
            <p:sp>
              <p:nvSpPr>
                <p:cNvPr id="107" name="ZoneTexte 106"/>
                <p:cNvSpPr txBox="1">
                  <a:spLocks noRot="1" noChangeAspect="1" noMove="1" noResize="1" noEditPoints="1" noAdjustHandles="1" noChangeArrowheads="1" noChangeShapeType="1" noTextEdit="1"/>
                </p:cNvSpPr>
                <p:nvPr/>
              </p:nvSpPr>
              <p:spPr>
                <a:xfrm>
                  <a:off x="2708994" y="1848809"/>
                  <a:ext cx="386265" cy="369332"/>
                </a:xfrm>
                <a:prstGeom prst="rect">
                  <a:avLst/>
                </a:prstGeom>
                <a:blipFill rotWithShape="1">
                  <a:blip r:embed="rId6"/>
                  <a:stretch>
                    <a:fillRect b="-655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08" name="ZoneTexte 107"/>
                <p:cNvSpPr txBox="1"/>
                <p:nvPr/>
              </p:nvSpPr>
              <p:spPr>
                <a:xfrm>
                  <a:off x="6683138" y="3640591"/>
                  <a:ext cx="38626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0" i="1" smtClean="0">
                                <a:latin typeface="Cambria Math"/>
                              </a:rPr>
                              <m:t>𝑥</m:t>
                            </m:r>
                          </m:e>
                          <m:sub>
                            <m:r>
                              <a:rPr lang="fr-FR" b="0" i="1" smtClean="0">
                                <a:latin typeface="Cambria Math"/>
                              </a:rPr>
                              <m:t>0</m:t>
                            </m:r>
                          </m:sub>
                        </m:sSub>
                      </m:oMath>
                    </m:oMathPara>
                  </a14:m>
                  <a:endParaRPr lang="fr-FR" dirty="0"/>
                </a:p>
              </p:txBody>
            </p:sp>
          </mc:Choice>
          <mc:Fallback xmlns="">
            <p:sp>
              <p:nvSpPr>
                <p:cNvPr id="108" name="ZoneTexte 107"/>
                <p:cNvSpPr txBox="1">
                  <a:spLocks noRot="1" noChangeAspect="1" noMove="1" noResize="1" noEditPoints="1" noAdjustHandles="1" noChangeArrowheads="1" noChangeShapeType="1" noTextEdit="1"/>
                </p:cNvSpPr>
                <p:nvPr/>
              </p:nvSpPr>
              <p:spPr>
                <a:xfrm>
                  <a:off x="6683138" y="3640591"/>
                  <a:ext cx="386265" cy="369332"/>
                </a:xfrm>
                <a:prstGeom prst="rect">
                  <a:avLst/>
                </a:prstGeom>
                <a:blipFill rotWithShape="1">
                  <a:blip r:embed="rId7"/>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09" name="ZoneTexte 108"/>
                <p:cNvSpPr txBox="1"/>
                <p:nvPr/>
              </p:nvSpPr>
              <p:spPr>
                <a:xfrm>
                  <a:off x="2694576" y="1361327"/>
                  <a:ext cx="38626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0" i="1" smtClean="0">
                                <a:latin typeface="Cambria Math"/>
                              </a:rPr>
                              <m:t>𝑦</m:t>
                            </m:r>
                          </m:e>
                          <m:sub>
                            <m:r>
                              <a:rPr lang="fr-FR" b="0" i="1" smtClean="0">
                                <a:latin typeface="Cambria Math"/>
                              </a:rPr>
                              <m:t>0</m:t>
                            </m:r>
                          </m:sub>
                        </m:sSub>
                      </m:oMath>
                    </m:oMathPara>
                  </a14:m>
                  <a:endParaRPr lang="fr-FR" dirty="0"/>
                </a:p>
              </p:txBody>
            </p:sp>
          </mc:Choice>
          <mc:Fallback xmlns="">
            <p:sp>
              <p:nvSpPr>
                <p:cNvPr id="109" name="ZoneTexte 108"/>
                <p:cNvSpPr txBox="1">
                  <a:spLocks noRot="1" noChangeAspect="1" noMove="1" noResize="1" noEditPoints="1" noAdjustHandles="1" noChangeArrowheads="1" noChangeShapeType="1" noTextEdit="1"/>
                </p:cNvSpPr>
                <p:nvPr/>
              </p:nvSpPr>
              <p:spPr>
                <a:xfrm>
                  <a:off x="2694576" y="1361327"/>
                  <a:ext cx="386265" cy="369332"/>
                </a:xfrm>
                <a:prstGeom prst="rect">
                  <a:avLst/>
                </a:prstGeom>
                <a:blipFill rotWithShape="1">
                  <a:blip r:embed="rId8"/>
                  <a:stretch>
                    <a:fillRect b="-655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0" name="ZoneTexte 109"/>
                <p:cNvSpPr txBox="1"/>
                <p:nvPr/>
              </p:nvSpPr>
              <p:spPr>
                <a:xfrm>
                  <a:off x="5087695" y="2311633"/>
                  <a:ext cx="50343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i="1" smtClean="0">
                                <a:solidFill>
                                  <a:schemeClr val="accent1"/>
                                </a:solidFill>
                                <a:latin typeface="Cambria Math" panose="02040503050406030204" pitchFamily="18" charset="0"/>
                              </a:rPr>
                            </m:ctrlPr>
                          </m:sSubPr>
                          <m:e>
                            <m:r>
                              <m:rPr>
                                <m:sty m:val="p"/>
                              </m:rPr>
                              <a:rPr lang="fr-FR" b="0" i="0" smtClean="0">
                                <a:solidFill>
                                  <a:schemeClr val="accent1"/>
                                </a:solidFill>
                                <a:latin typeface="Cambria Math"/>
                              </a:rPr>
                              <m:t>a</m:t>
                            </m:r>
                          </m:e>
                          <m:sub>
                            <m:r>
                              <a:rPr lang="fr-FR" b="0" i="1" smtClean="0">
                                <a:solidFill>
                                  <a:schemeClr val="accent1"/>
                                </a:solidFill>
                                <a:latin typeface="Cambria Math"/>
                              </a:rPr>
                              <m:t>2</m:t>
                            </m:r>
                          </m:sub>
                        </m:sSub>
                      </m:oMath>
                    </m:oMathPara>
                  </a14:m>
                  <a:endParaRPr lang="fr-FR" dirty="0"/>
                </a:p>
              </p:txBody>
            </p:sp>
          </mc:Choice>
          <mc:Fallback xmlns="">
            <p:sp>
              <p:nvSpPr>
                <p:cNvPr id="110" name="ZoneTexte 109"/>
                <p:cNvSpPr txBox="1">
                  <a:spLocks noRot="1" noChangeAspect="1" noMove="1" noResize="1" noEditPoints="1" noAdjustHandles="1" noChangeArrowheads="1" noChangeShapeType="1" noTextEdit="1"/>
                </p:cNvSpPr>
                <p:nvPr/>
              </p:nvSpPr>
              <p:spPr>
                <a:xfrm>
                  <a:off x="5087695" y="2311633"/>
                  <a:ext cx="503439" cy="369332"/>
                </a:xfrm>
                <a:prstGeom prst="rect">
                  <a:avLst/>
                </a:prstGeom>
                <a:blipFill rotWithShape="1">
                  <a:blip r:embed="rId9"/>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1" name="ZoneTexte 110"/>
                <p:cNvSpPr txBox="1"/>
                <p:nvPr/>
              </p:nvSpPr>
              <p:spPr>
                <a:xfrm>
                  <a:off x="3433278" y="3098573"/>
                  <a:ext cx="42489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i="1" smtClean="0">
                                <a:solidFill>
                                  <a:schemeClr val="accent1"/>
                                </a:solidFill>
                                <a:latin typeface="Cambria Math" panose="02040503050406030204" pitchFamily="18" charset="0"/>
                              </a:rPr>
                            </m:ctrlPr>
                          </m:sSubPr>
                          <m:e>
                            <m:r>
                              <m:rPr>
                                <m:sty m:val="p"/>
                              </m:rPr>
                              <a:rPr lang="fr-FR" b="0" i="0" smtClean="0">
                                <a:solidFill>
                                  <a:schemeClr val="accent1"/>
                                </a:solidFill>
                                <a:latin typeface="Cambria Math"/>
                              </a:rPr>
                              <m:t>a</m:t>
                            </m:r>
                          </m:e>
                          <m:sub>
                            <m:r>
                              <a:rPr lang="fr-FR" b="0" i="1" smtClean="0">
                                <a:solidFill>
                                  <a:schemeClr val="accent1"/>
                                </a:solidFill>
                                <a:latin typeface="Cambria Math"/>
                              </a:rPr>
                              <m:t>1</m:t>
                            </m:r>
                          </m:sub>
                        </m:sSub>
                      </m:oMath>
                    </m:oMathPara>
                  </a14:m>
                  <a:endParaRPr lang="fr-FR" dirty="0"/>
                </a:p>
              </p:txBody>
            </p:sp>
          </mc:Choice>
          <mc:Fallback xmlns="">
            <p:sp>
              <p:nvSpPr>
                <p:cNvPr id="111" name="ZoneTexte 110"/>
                <p:cNvSpPr txBox="1">
                  <a:spLocks noRot="1" noChangeAspect="1" noMove="1" noResize="1" noEditPoints="1" noAdjustHandles="1" noChangeArrowheads="1" noChangeShapeType="1" noTextEdit="1"/>
                </p:cNvSpPr>
                <p:nvPr/>
              </p:nvSpPr>
              <p:spPr>
                <a:xfrm>
                  <a:off x="3433278" y="3098573"/>
                  <a:ext cx="424896" cy="369332"/>
                </a:xfrm>
                <a:prstGeom prst="rect">
                  <a:avLst/>
                </a:prstGeom>
                <a:blipFill rotWithShape="1">
                  <a:blip r:embed="rId10"/>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3" name="ZoneTexte 112"/>
                <p:cNvSpPr txBox="1"/>
                <p:nvPr/>
              </p:nvSpPr>
              <p:spPr>
                <a:xfrm>
                  <a:off x="3960402" y="3283239"/>
                  <a:ext cx="42489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i="1" smtClean="0">
                                <a:solidFill>
                                  <a:schemeClr val="tx1"/>
                                </a:solidFill>
                                <a:latin typeface="Cambria Math" panose="02040503050406030204" pitchFamily="18" charset="0"/>
                              </a:rPr>
                            </m:ctrlPr>
                          </m:sSubPr>
                          <m:e>
                            <m:r>
                              <a:rPr lang="fr-FR" b="0" i="1" smtClean="0">
                                <a:solidFill>
                                  <a:schemeClr val="tx1"/>
                                </a:solidFill>
                                <a:latin typeface="Cambria Math"/>
                              </a:rPr>
                              <m:t>𝑞</m:t>
                            </m:r>
                          </m:e>
                          <m:sub>
                            <m:r>
                              <a:rPr lang="fr-FR" b="0" i="1" smtClean="0">
                                <a:solidFill>
                                  <a:schemeClr val="tx1"/>
                                </a:solidFill>
                                <a:latin typeface="Cambria Math"/>
                              </a:rPr>
                              <m:t>1</m:t>
                            </m:r>
                          </m:sub>
                        </m:sSub>
                      </m:oMath>
                    </m:oMathPara>
                  </a14:m>
                  <a:endParaRPr lang="fr-FR" dirty="0"/>
                </a:p>
              </p:txBody>
            </p:sp>
          </mc:Choice>
          <mc:Fallback xmlns="">
            <p:sp>
              <p:nvSpPr>
                <p:cNvPr id="113" name="ZoneTexte 112"/>
                <p:cNvSpPr txBox="1">
                  <a:spLocks noRot="1" noChangeAspect="1" noMove="1" noResize="1" noEditPoints="1" noAdjustHandles="1" noChangeArrowheads="1" noChangeShapeType="1" noTextEdit="1"/>
                </p:cNvSpPr>
                <p:nvPr/>
              </p:nvSpPr>
              <p:spPr>
                <a:xfrm>
                  <a:off x="3960402" y="3283239"/>
                  <a:ext cx="424896" cy="369332"/>
                </a:xfrm>
                <a:prstGeom prst="rect">
                  <a:avLst/>
                </a:prstGeom>
                <a:blipFill rotWithShape="1">
                  <a:blip r:embed="rId11"/>
                  <a:stretch>
                    <a:fillRect b="-833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6" name="ZoneTexte 115"/>
                <p:cNvSpPr txBox="1"/>
                <p:nvPr/>
              </p:nvSpPr>
              <p:spPr>
                <a:xfrm>
                  <a:off x="5663511" y="2394827"/>
                  <a:ext cx="42489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fr-FR" i="1" smtClean="0">
                                <a:solidFill>
                                  <a:schemeClr val="tx1"/>
                                </a:solidFill>
                                <a:latin typeface="Cambria Math" panose="02040503050406030204" pitchFamily="18" charset="0"/>
                              </a:rPr>
                            </m:ctrlPr>
                          </m:sSubPr>
                          <m:e>
                            <m:r>
                              <a:rPr lang="fr-FR" b="0" i="1" smtClean="0">
                                <a:solidFill>
                                  <a:schemeClr val="tx1"/>
                                </a:solidFill>
                                <a:latin typeface="Cambria Math"/>
                              </a:rPr>
                              <m:t>𝑞</m:t>
                            </m:r>
                          </m:e>
                          <m:sub>
                            <m:r>
                              <a:rPr lang="fr-FR" b="0" i="1" smtClean="0">
                                <a:solidFill>
                                  <a:schemeClr val="tx1"/>
                                </a:solidFill>
                                <a:latin typeface="Cambria Math"/>
                              </a:rPr>
                              <m:t>2</m:t>
                            </m:r>
                          </m:sub>
                        </m:sSub>
                      </m:oMath>
                    </m:oMathPara>
                  </a14:m>
                  <a:endParaRPr lang="fr-FR" dirty="0"/>
                </a:p>
              </p:txBody>
            </p:sp>
          </mc:Choice>
          <mc:Fallback xmlns="">
            <p:sp>
              <p:nvSpPr>
                <p:cNvPr id="116" name="ZoneTexte 115"/>
                <p:cNvSpPr txBox="1">
                  <a:spLocks noRot="1" noChangeAspect="1" noMove="1" noResize="1" noEditPoints="1" noAdjustHandles="1" noChangeArrowheads="1" noChangeShapeType="1" noTextEdit="1"/>
                </p:cNvSpPr>
                <p:nvPr/>
              </p:nvSpPr>
              <p:spPr>
                <a:xfrm>
                  <a:off x="5663511" y="2394827"/>
                  <a:ext cx="424896" cy="369332"/>
                </a:xfrm>
                <a:prstGeom prst="rect">
                  <a:avLst/>
                </a:prstGeom>
                <a:blipFill rotWithShape="1">
                  <a:blip r:embed="rId12"/>
                  <a:stretch>
                    <a:fillRect b="-8333"/>
                  </a:stretch>
                </a:blipFill>
              </p:spPr>
              <p:txBody>
                <a:bodyPr/>
                <a:lstStyle/>
                <a:p>
                  <a:r>
                    <a:rPr lang="fr-FR">
                      <a:noFill/>
                    </a:rPr>
                    <a:t> </a:t>
                  </a:r>
                </a:p>
              </p:txBody>
            </p:sp>
          </mc:Fallback>
        </mc:AlternateContent>
        <p:sp>
          <p:nvSpPr>
            <p:cNvPr id="60" name="Ellipse 59"/>
            <p:cNvSpPr/>
            <p:nvPr/>
          </p:nvSpPr>
          <p:spPr>
            <a:xfrm>
              <a:off x="4549585" y="2983710"/>
              <a:ext cx="324000" cy="32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65" name="Connecteur droit 64"/>
            <p:cNvCxnSpPr/>
            <p:nvPr/>
          </p:nvCxnSpPr>
          <p:spPr>
            <a:xfrm flipV="1">
              <a:off x="4711585" y="2678654"/>
              <a:ext cx="1502366" cy="467056"/>
            </a:xfrm>
            <a:prstGeom prst="line">
              <a:avLst/>
            </a:prstGeom>
            <a:ln w="15875">
              <a:prstDash val="sysDash"/>
            </a:ln>
          </p:spPr>
          <p:style>
            <a:lnRef idx="1">
              <a:schemeClr val="accent1"/>
            </a:lnRef>
            <a:fillRef idx="0">
              <a:schemeClr val="accent1"/>
            </a:fillRef>
            <a:effectRef idx="0">
              <a:schemeClr val="accent1"/>
            </a:effectRef>
            <a:fontRef idx="minor">
              <a:schemeClr val="tx1"/>
            </a:fontRef>
          </p:style>
        </p:cxnSp>
        <p:sp>
          <p:nvSpPr>
            <p:cNvPr id="18" name="Arc 17"/>
            <p:cNvSpPr/>
            <p:nvPr/>
          </p:nvSpPr>
          <p:spPr>
            <a:xfrm>
              <a:off x="5381327" y="2597679"/>
              <a:ext cx="363000" cy="444677"/>
            </a:xfrm>
            <a:prstGeom prst="arc">
              <a:avLst/>
            </a:prstGeom>
            <a:ln w="190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74" name="Arc 73"/>
            <p:cNvSpPr/>
            <p:nvPr/>
          </p:nvSpPr>
          <p:spPr>
            <a:xfrm>
              <a:off x="3645726" y="3478891"/>
              <a:ext cx="363000" cy="444677"/>
            </a:xfrm>
            <a:prstGeom prst="arc">
              <a:avLst/>
            </a:prstGeom>
            <a:ln w="190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grpSp>
    </p:spTree>
    <p:extLst>
      <p:ext uri="{BB962C8B-B14F-4D97-AF65-F5344CB8AC3E}">
        <p14:creationId xmlns:p14="http://schemas.microsoft.com/office/powerpoint/2010/main" val="16140127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r>
                  <a:rPr lang="fr-FR" u="sng" dirty="0"/>
                  <a:t>cas :</a:t>
                </a:r>
                <a:r>
                  <a:rPr lang="fr-FR" dirty="0"/>
                  <a:t> environnement élastique (ressort) :</a:t>
                </a:r>
              </a:p>
              <a:p>
                <a:pPr marL="0" indent="0">
                  <a:buNone/>
                </a:pPr>
                <a14:m>
                  <m:oMath xmlns:m="http://schemas.openxmlformats.org/officeDocument/2006/math">
                    <m:sSub>
                      <m:sSubPr>
                        <m:ctrlPr>
                          <a:rPr lang="fr-FR" i="1">
                            <a:latin typeface="Cambria Math" panose="02040503050406030204" pitchFamily="18" charset="0"/>
                          </a:rPr>
                        </m:ctrlPr>
                      </m:sSubPr>
                      <m:e>
                        <m:r>
                          <a:rPr lang="fr-FR" i="1">
                            <a:latin typeface="Cambria Math"/>
                          </a:rPr>
                          <m:t>𝑓</m:t>
                        </m:r>
                      </m:e>
                      <m:sub>
                        <m:r>
                          <a:rPr lang="fr-FR" b="0" i="1" smtClean="0">
                            <a:latin typeface="Cambria Math"/>
                          </a:rPr>
                          <m:t>𝑒</m:t>
                        </m:r>
                        <m:r>
                          <a:rPr lang="fr-FR" i="1">
                            <a:latin typeface="Cambria Math"/>
                          </a:rPr>
                          <m:t>𝑥</m:t>
                        </m:r>
                      </m:sub>
                    </m:sSub>
                    <m:r>
                      <a:rPr lang="fr-FR" i="1">
                        <a:latin typeface="Cambria Math"/>
                      </a:rPr>
                      <m:t>=</m:t>
                    </m:r>
                    <m:d>
                      <m:dPr>
                        <m:begChr m:val="{"/>
                        <m:endChr m:val=""/>
                        <m:ctrlPr>
                          <a:rPr lang="fr-FR" i="1">
                            <a:latin typeface="Cambria Math" panose="02040503050406030204" pitchFamily="18" charset="0"/>
                          </a:rPr>
                        </m:ctrlPr>
                      </m:dPr>
                      <m:e>
                        <m:eqArr>
                          <m:eqArrPr>
                            <m:ctrlPr>
                              <a:rPr lang="fr-FR" i="1">
                                <a:latin typeface="Cambria Math" panose="02040503050406030204" pitchFamily="18" charset="0"/>
                              </a:rPr>
                            </m:ctrlPr>
                          </m:eqArrPr>
                          <m:e>
                            <m:sSub>
                              <m:sSubPr>
                                <m:ctrlPr>
                                  <a:rPr lang="fr-FR" i="1">
                                    <a:latin typeface="Cambria Math" panose="02040503050406030204" pitchFamily="18" charset="0"/>
                                  </a:rPr>
                                </m:ctrlPr>
                              </m:sSubPr>
                              <m:e>
                                <m:r>
                                  <a:rPr lang="fr-FR" i="1">
                                    <a:latin typeface="Cambria Math"/>
                                  </a:rPr>
                                  <m:t>𝑘</m:t>
                                </m:r>
                              </m:e>
                              <m:sub>
                                <m:r>
                                  <a:rPr lang="fr-FR" b="0" i="1" smtClean="0">
                                    <a:latin typeface="Cambria Math"/>
                                  </a:rPr>
                                  <m:t>𝑒</m:t>
                                </m:r>
                                <m:r>
                                  <a:rPr lang="fr-FR" i="1">
                                    <a:latin typeface="Cambria Math"/>
                                  </a:rPr>
                                  <m:t>𝑥</m:t>
                                </m:r>
                              </m:sub>
                            </m:sSub>
                            <m:d>
                              <m:dPr>
                                <m:ctrlPr>
                                  <a:rPr lang="fr-FR" i="1">
                                    <a:latin typeface="Cambria Math" panose="02040503050406030204" pitchFamily="18" charset="0"/>
                                  </a:rPr>
                                </m:ctrlPr>
                              </m:dPr>
                              <m:e>
                                <m:r>
                                  <a:rPr lang="fr-FR" i="1">
                                    <a:latin typeface="Cambria Math"/>
                                  </a:rPr>
                                  <m:t>𝑥</m:t>
                                </m:r>
                                <m:r>
                                  <a:rPr lang="fr-FR" i="1">
                                    <a:latin typeface="Cambria Math"/>
                                  </a:rPr>
                                  <m:t>−</m:t>
                                </m:r>
                                <m:sSub>
                                  <m:sSubPr>
                                    <m:ctrlPr>
                                      <a:rPr lang="fr-FR" i="1">
                                        <a:latin typeface="Cambria Math" panose="02040503050406030204" pitchFamily="18" charset="0"/>
                                      </a:rPr>
                                    </m:ctrlPr>
                                  </m:sSubPr>
                                  <m:e>
                                    <m:r>
                                      <a:rPr lang="fr-FR" i="1">
                                        <a:latin typeface="Cambria Math"/>
                                      </a:rPr>
                                      <m:t>𝑥</m:t>
                                    </m:r>
                                  </m:e>
                                  <m:sub>
                                    <m:r>
                                      <a:rPr lang="fr-FR" i="1">
                                        <a:latin typeface="Cambria Math"/>
                                      </a:rPr>
                                      <m:t>𝑒</m:t>
                                    </m:r>
                                  </m:sub>
                                </m:sSub>
                              </m:e>
                            </m:d>
                            <m:r>
                              <a:rPr lang="fr-FR">
                                <a:latin typeface="Cambria Math"/>
                              </a:rPr>
                              <m:t>         </m:t>
                            </m:r>
                            <m:r>
                              <m:rPr>
                                <m:sty m:val="p"/>
                              </m:rPr>
                              <a:rPr lang="fr-FR">
                                <a:latin typeface="Cambria Math"/>
                              </a:rPr>
                              <m:t>si</m:t>
                            </m:r>
                            <m:r>
                              <a:rPr lang="fr-FR" i="1">
                                <a:latin typeface="Cambria Math"/>
                              </a:rPr>
                              <m:t> </m:t>
                            </m:r>
                            <m:r>
                              <a:rPr lang="fr-FR" i="1">
                                <a:latin typeface="Cambria Math"/>
                              </a:rPr>
                              <m:t>𝑥</m:t>
                            </m:r>
                            <m:r>
                              <a:rPr lang="fr-FR" i="1">
                                <a:latin typeface="Cambria Math"/>
                                <a:ea typeface="Cambria Math"/>
                              </a:rPr>
                              <m:t>≥</m:t>
                            </m:r>
                            <m:sSub>
                              <m:sSubPr>
                                <m:ctrlPr>
                                  <a:rPr lang="fr-FR" i="1">
                                    <a:latin typeface="Cambria Math" panose="02040503050406030204" pitchFamily="18" charset="0"/>
                                  </a:rPr>
                                </m:ctrlPr>
                              </m:sSubPr>
                              <m:e>
                                <m:r>
                                  <a:rPr lang="fr-FR" i="1">
                                    <a:latin typeface="Cambria Math"/>
                                  </a:rPr>
                                  <m:t>𝑥</m:t>
                                </m:r>
                              </m:e>
                              <m:sub>
                                <m:r>
                                  <a:rPr lang="fr-FR" i="1">
                                    <a:latin typeface="Cambria Math"/>
                                  </a:rPr>
                                  <m:t>𝑒</m:t>
                                </m:r>
                              </m:sub>
                            </m:sSub>
                          </m:e>
                          <m:e>
                            <m:r>
                              <a:rPr lang="fr-FR" i="1">
                                <a:latin typeface="Cambria Math"/>
                              </a:rPr>
                              <m:t>0</m:t>
                            </m:r>
                            <m:r>
                              <a:rPr lang="fr-FR">
                                <a:latin typeface="Cambria Math"/>
                              </a:rPr>
                              <m:t>                            </m:t>
                            </m:r>
                            <m:r>
                              <m:rPr>
                                <m:sty m:val="p"/>
                              </m:rPr>
                              <a:rPr lang="fr-FR">
                                <a:latin typeface="Cambria Math"/>
                              </a:rPr>
                              <m:t>si</m:t>
                            </m:r>
                            <m:r>
                              <a:rPr lang="fr-FR" i="1">
                                <a:latin typeface="Cambria Math"/>
                              </a:rPr>
                              <m:t> </m:t>
                            </m:r>
                            <m:r>
                              <a:rPr lang="fr-FR" i="1">
                                <a:latin typeface="Cambria Math"/>
                              </a:rPr>
                              <m:t>𝑥</m:t>
                            </m:r>
                            <m:r>
                              <a:rPr lang="fr-FR" i="1">
                                <a:latin typeface="Cambria Math"/>
                              </a:rPr>
                              <m:t>&lt;</m:t>
                            </m:r>
                            <m:sSub>
                              <m:sSubPr>
                                <m:ctrlPr>
                                  <a:rPr lang="fr-FR" i="1">
                                    <a:latin typeface="Cambria Math" panose="02040503050406030204" pitchFamily="18" charset="0"/>
                                  </a:rPr>
                                </m:ctrlPr>
                              </m:sSubPr>
                              <m:e>
                                <m:r>
                                  <a:rPr lang="fr-FR" i="1">
                                    <a:latin typeface="Cambria Math"/>
                                  </a:rPr>
                                  <m:t>𝑥</m:t>
                                </m:r>
                              </m:e>
                              <m:sub>
                                <m:r>
                                  <a:rPr lang="fr-FR" i="1">
                                    <a:latin typeface="Cambria Math"/>
                                  </a:rPr>
                                  <m:t>𝑒</m:t>
                                </m:r>
                              </m:sub>
                            </m:sSub>
                          </m:e>
                        </m:eqArr>
                      </m:e>
                    </m:d>
                  </m:oMath>
                </a14:m>
                <a:r>
                  <a:rPr lang="fr-FR" dirty="0"/>
                  <a:t> ;       </a:t>
                </a:r>
                <a14:m>
                  <m:oMath xmlns:m="http://schemas.openxmlformats.org/officeDocument/2006/math">
                    <m:sSub>
                      <m:sSubPr>
                        <m:ctrlPr>
                          <a:rPr lang="fr-FR" i="1">
                            <a:latin typeface="Cambria Math" panose="02040503050406030204" pitchFamily="18" charset="0"/>
                          </a:rPr>
                        </m:ctrlPr>
                      </m:sSubPr>
                      <m:e>
                        <m:r>
                          <a:rPr lang="fr-FR" i="1">
                            <a:latin typeface="Cambria Math"/>
                          </a:rPr>
                          <m:t>𝑓</m:t>
                        </m:r>
                      </m:e>
                      <m:sub>
                        <m:r>
                          <a:rPr lang="fr-FR" b="0" i="1" smtClean="0">
                            <a:latin typeface="Cambria Math"/>
                          </a:rPr>
                          <m:t>𝑒</m:t>
                        </m:r>
                        <m:r>
                          <a:rPr lang="fr-FR" i="1">
                            <a:latin typeface="Cambria Math"/>
                          </a:rPr>
                          <m:t>𝑦</m:t>
                        </m:r>
                      </m:sub>
                    </m:sSub>
                    <m:r>
                      <a:rPr lang="fr-FR" i="1">
                        <a:latin typeface="Cambria Math"/>
                      </a:rPr>
                      <m:t>=0</m:t>
                    </m:r>
                  </m:oMath>
                </a14:m>
                <a:endParaRPr lang="fr-FR" dirty="0"/>
              </a:p>
              <a:p>
                <a:pPr marL="0" indent="0">
                  <a:buNone/>
                </a:pPr>
                <a:endParaRPr lang="fr-FR" dirty="0"/>
              </a:p>
              <a:p>
                <a:pPr marL="0" indent="0">
                  <a:buNone/>
                </a:pPr>
                <a14:m>
                  <m:oMath xmlns:m="http://schemas.openxmlformats.org/officeDocument/2006/math">
                    <m:r>
                      <a:rPr lang="fr-FR" i="1" smtClean="0">
                        <a:latin typeface="Cambria Math"/>
                        <a:ea typeface="Cambria Math"/>
                      </a:rPr>
                      <m:t>⟹</m:t>
                    </m:r>
                  </m:oMath>
                </a14:m>
                <a:r>
                  <a:rPr lang="fr-FR" dirty="0">
                    <a:ea typeface="Cambria Math"/>
                  </a:rPr>
                  <a:t> effort appliqué par le robot sur l’environnement : </a:t>
                </a:r>
              </a:p>
              <a:p>
                <a:pPr marL="0" indent="0">
                  <a:buNone/>
                </a:pPr>
                <a14:m>
                  <m:oMath xmlns:m="http://schemas.openxmlformats.org/officeDocument/2006/math">
                    <m:sSub>
                      <m:sSubPr>
                        <m:ctrlPr>
                          <a:rPr lang="fr-FR" i="1">
                            <a:latin typeface="Cambria Math" panose="02040503050406030204" pitchFamily="18" charset="0"/>
                            <a:ea typeface="Cambria Math"/>
                          </a:rPr>
                        </m:ctrlPr>
                      </m:sSubPr>
                      <m:e>
                        <m:r>
                          <a:rPr lang="fr-FR" i="1">
                            <a:latin typeface="Cambria Math"/>
                            <a:ea typeface="Cambria Math"/>
                          </a:rPr>
                          <m:t>𝕗</m:t>
                        </m:r>
                      </m:e>
                      <m:sub>
                        <m:r>
                          <a:rPr lang="fr-FR" i="1">
                            <a:latin typeface="Cambria Math"/>
                            <a:ea typeface="Cambria Math"/>
                          </a:rPr>
                          <m:t>𝑒</m:t>
                        </m:r>
                      </m:sub>
                    </m:sSub>
                    <m:r>
                      <a:rPr lang="fr-FR" b="1" i="1">
                        <a:latin typeface="Cambria Math"/>
                        <a:ea typeface="Cambria Math"/>
                      </a:rPr>
                      <m:t>=</m:t>
                    </m:r>
                    <m:d>
                      <m:dPr>
                        <m:ctrlPr>
                          <a:rPr lang="fr-FR" b="1" i="1">
                            <a:latin typeface="Cambria Math" panose="02040503050406030204" pitchFamily="18" charset="0"/>
                            <a:ea typeface="Cambria Math"/>
                          </a:rPr>
                        </m:ctrlPr>
                      </m:dPr>
                      <m:e>
                        <m:eqArr>
                          <m:eqArrPr>
                            <m:ctrlPr>
                              <a:rPr lang="fr-FR" i="1">
                                <a:latin typeface="Cambria Math" panose="02040503050406030204" pitchFamily="18" charset="0"/>
                                <a:ea typeface="Cambria Math"/>
                              </a:rPr>
                            </m:ctrlPr>
                          </m:eqArrPr>
                          <m:e>
                            <m:sSub>
                              <m:sSubPr>
                                <m:ctrlPr>
                                  <a:rPr lang="fr-FR" i="1" smtClean="0">
                                    <a:latin typeface="Cambria Math" panose="02040503050406030204" pitchFamily="18" charset="0"/>
                                    <a:ea typeface="Cambria Math"/>
                                  </a:rPr>
                                </m:ctrlPr>
                              </m:sSubPr>
                              <m:e>
                                <m:r>
                                  <a:rPr lang="fr-FR" b="0" i="1" smtClean="0">
                                    <a:latin typeface="Cambria Math"/>
                                    <a:ea typeface="Cambria Math"/>
                                  </a:rPr>
                                  <m:t>𝑓</m:t>
                                </m:r>
                              </m:e>
                              <m:sub>
                                <m:r>
                                  <a:rPr lang="fr-FR" b="0" i="1" smtClean="0">
                                    <a:latin typeface="Cambria Math"/>
                                    <a:ea typeface="Cambria Math"/>
                                  </a:rPr>
                                  <m:t>𝑒𝑥</m:t>
                                </m:r>
                              </m:sub>
                            </m:sSub>
                          </m:e>
                          <m:e>
                            <m:sSub>
                              <m:sSubPr>
                                <m:ctrlPr>
                                  <a:rPr lang="fr-FR" i="1">
                                    <a:latin typeface="Cambria Math" panose="02040503050406030204" pitchFamily="18" charset="0"/>
                                    <a:ea typeface="Cambria Math"/>
                                  </a:rPr>
                                </m:ctrlPr>
                              </m:sSubPr>
                              <m:e>
                                <m:r>
                                  <a:rPr lang="fr-FR" b="0" i="1">
                                    <a:latin typeface="Cambria Math"/>
                                    <a:ea typeface="Cambria Math"/>
                                  </a:rPr>
                                  <m:t>𝑓</m:t>
                                </m:r>
                              </m:e>
                              <m:sub>
                                <m:r>
                                  <a:rPr lang="fr-FR" b="0" i="1" smtClean="0">
                                    <a:latin typeface="Cambria Math"/>
                                    <a:ea typeface="Cambria Math"/>
                                  </a:rPr>
                                  <m:t>𝑒</m:t>
                                </m:r>
                                <m:r>
                                  <a:rPr lang="fr-FR" b="0" i="1">
                                    <a:latin typeface="Cambria Math"/>
                                    <a:ea typeface="Cambria Math"/>
                                  </a:rPr>
                                  <m:t>𝑦</m:t>
                                </m:r>
                              </m:sub>
                            </m:sSub>
                          </m:e>
                        </m:eqArr>
                      </m:e>
                    </m:d>
                    <m:r>
                      <a:rPr lang="fr-FR" b="0" i="1" smtClean="0">
                        <a:latin typeface="Cambria Math"/>
                        <a:ea typeface="Cambria Math"/>
                      </a:rPr>
                      <m:t>=</m:t>
                    </m:r>
                    <m:sSub>
                      <m:sSubPr>
                        <m:ctrlPr>
                          <a:rPr lang="fr-FR" b="0" i="1" smtClean="0">
                            <a:latin typeface="Cambria Math" panose="02040503050406030204" pitchFamily="18" charset="0"/>
                            <a:ea typeface="Cambria Math"/>
                          </a:rPr>
                        </m:ctrlPr>
                      </m:sSubPr>
                      <m:e>
                        <m:r>
                          <a:rPr lang="fr-FR" b="1" i="0" smtClean="0">
                            <a:latin typeface="Cambria Math"/>
                            <a:ea typeface="Cambria Math"/>
                          </a:rPr>
                          <m:t>𝐊</m:t>
                        </m:r>
                      </m:e>
                      <m:sub>
                        <m:r>
                          <a:rPr lang="fr-FR" b="0" i="1" smtClean="0">
                            <a:latin typeface="Cambria Math"/>
                            <a:ea typeface="Cambria Math"/>
                          </a:rPr>
                          <m:t>𝑒</m:t>
                        </m:r>
                      </m:sub>
                    </m:sSub>
                    <m:r>
                      <a:rPr lang="fr-FR" b="1" i="0" smtClean="0">
                        <a:latin typeface="Cambria Math"/>
                        <a:ea typeface="Cambria Math"/>
                      </a:rPr>
                      <m:t>(</m:t>
                    </m:r>
                    <m:r>
                      <a:rPr lang="fr-FR" b="1" i="0" smtClean="0">
                        <a:latin typeface="Cambria Math"/>
                        <a:ea typeface="Cambria Math"/>
                      </a:rPr>
                      <m:t>𝐱</m:t>
                    </m:r>
                    <m:r>
                      <a:rPr lang="fr-FR" b="1" i="0" smtClean="0">
                        <a:latin typeface="Cambria Math"/>
                        <a:ea typeface="Cambria Math"/>
                      </a:rPr>
                      <m:t>−</m:t>
                    </m:r>
                    <m:sSub>
                      <m:sSubPr>
                        <m:ctrlPr>
                          <a:rPr lang="fr-FR" b="1" i="1" smtClean="0">
                            <a:latin typeface="Cambria Math" panose="02040503050406030204" pitchFamily="18" charset="0"/>
                            <a:ea typeface="Cambria Math"/>
                          </a:rPr>
                        </m:ctrlPr>
                      </m:sSubPr>
                      <m:e>
                        <m:r>
                          <a:rPr lang="fr-FR" b="1" i="0" smtClean="0">
                            <a:latin typeface="Cambria Math"/>
                            <a:ea typeface="Cambria Math"/>
                          </a:rPr>
                          <m:t>𝐱</m:t>
                        </m:r>
                      </m:e>
                      <m:sub>
                        <m:r>
                          <a:rPr lang="fr-FR" b="1" i="1" smtClean="0">
                            <a:latin typeface="Cambria Math"/>
                            <a:ea typeface="Cambria Math"/>
                          </a:rPr>
                          <m:t>𝒆</m:t>
                        </m:r>
                      </m:sub>
                    </m:sSub>
                    <m:r>
                      <a:rPr lang="fr-FR" b="1" i="0" smtClean="0">
                        <a:latin typeface="Cambria Math"/>
                        <a:ea typeface="Cambria Math"/>
                      </a:rPr>
                      <m:t>)</m:t>
                    </m:r>
                  </m:oMath>
                </a14:m>
                <a:r>
                  <a:rPr lang="fr-FR" b="1" dirty="0"/>
                  <a:t>  </a:t>
                </a:r>
              </a:p>
              <a:p>
                <a:pPr marL="0" indent="0">
                  <a:buNone/>
                </a:pPr>
                <a:r>
                  <a:rPr lang="fr-FR" dirty="0"/>
                  <a:t>Avec  </a:t>
                </a:r>
                <a14:m>
                  <m:oMath xmlns:m="http://schemas.openxmlformats.org/officeDocument/2006/math">
                    <m:sSub>
                      <m:sSubPr>
                        <m:ctrlPr>
                          <a:rPr lang="fr-FR" i="1">
                            <a:latin typeface="Cambria Math" panose="02040503050406030204" pitchFamily="18" charset="0"/>
                            <a:ea typeface="Cambria Math"/>
                          </a:rPr>
                        </m:ctrlPr>
                      </m:sSubPr>
                      <m:e>
                        <m:r>
                          <a:rPr lang="fr-FR" b="1">
                            <a:latin typeface="Cambria Math"/>
                            <a:ea typeface="Cambria Math"/>
                          </a:rPr>
                          <m:t>𝐊</m:t>
                        </m:r>
                      </m:e>
                      <m:sub>
                        <m:r>
                          <a:rPr lang="fr-FR" i="1">
                            <a:latin typeface="Cambria Math"/>
                            <a:ea typeface="Cambria Math"/>
                          </a:rPr>
                          <m:t>𝑒</m:t>
                        </m:r>
                      </m:sub>
                    </m:sSub>
                    <m:r>
                      <a:rPr lang="fr-FR" b="1" i="1" smtClean="0">
                        <a:latin typeface="Cambria Math"/>
                      </a:rPr>
                      <m:t>=</m:t>
                    </m:r>
                    <m:d>
                      <m:dPr>
                        <m:ctrlPr>
                          <a:rPr lang="fr-FR" b="1" i="1" smtClean="0">
                            <a:latin typeface="Cambria Math" panose="02040503050406030204" pitchFamily="18" charset="0"/>
                          </a:rPr>
                        </m:ctrlPr>
                      </m:dPr>
                      <m:e>
                        <m:m>
                          <m:mPr>
                            <m:mcs>
                              <m:mc>
                                <m:mcPr>
                                  <m:count m:val="2"/>
                                  <m:mcJc m:val="center"/>
                                </m:mcPr>
                              </m:mc>
                            </m:mcs>
                            <m:ctrlPr>
                              <a:rPr lang="fr-FR" b="1" i="1" smtClean="0">
                                <a:latin typeface="Cambria Math" panose="02040503050406030204" pitchFamily="18" charset="0"/>
                              </a:rPr>
                            </m:ctrlPr>
                          </m:mPr>
                          <m:mr>
                            <m:e>
                              <m:sSub>
                                <m:sSubPr>
                                  <m:ctrlPr>
                                    <a:rPr lang="fr-FR" i="1" smtClean="0">
                                      <a:latin typeface="Cambria Math" panose="02040503050406030204" pitchFamily="18" charset="0"/>
                                    </a:rPr>
                                  </m:ctrlPr>
                                </m:sSubPr>
                                <m:e>
                                  <m:r>
                                    <a:rPr lang="fr-FR" b="0" i="1" smtClean="0">
                                      <a:latin typeface="Cambria Math"/>
                                    </a:rPr>
                                    <m:t>𝑘</m:t>
                                  </m:r>
                                </m:e>
                                <m:sub>
                                  <m:r>
                                    <a:rPr lang="fr-FR" b="0" i="1" smtClean="0">
                                      <a:latin typeface="Cambria Math"/>
                                    </a:rPr>
                                    <m:t>𝑒𝑥</m:t>
                                  </m:r>
                                </m:sub>
                              </m:sSub>
                            </m:e>
                            <m:e>
                              <m:r>
                                <a:rPr lang="fr-FR" b="0" i="0" smtClean="0">
                                  <a:latin typeface="Cambria Math"/>
                                </a:rPr>
                                <m:t>0</m:t>
                              </m:r>
                            </m:e>
                          </m:mr>
                          <m:mr>
                            <m:e>
                              <m:r>
                                <a:rPr lang="fr-FR" b="0" i="0" smtClean="0">
                                  <a:latin typeface="Cambria Math"/>
                                </a:rPr>
                                <m:t>0</m:t>
                              </m:r>
                            </m:e>
                            <m:e>
                              <m:r>
                                <a:rPr lang="fr-FR" b="0" i="0" smtClean="0">
                                  <a:latin typeface="Cambria Math"/>
                                </a:rPr>
                                <m:t>0</m:t>
                              </m:r>
                            </m:e>
                          </m:mr>
                        </m:m>
                      </m:e>
                    </m:d>
                  </m:oMath>
                </a14:m>
                <a:endParaRPr lang="fr-FR" b="1" dirty="0"/>
              </a:p>
              <a:p>
                <a:pPr marL="0" indent="0">
                  <a:buNone/>
                </a:pPr>
                <a:endParaRPr lang="fr-FR"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4"/>
                <a:stretch>
                  <a:fillRect l="-1096" t="-884"/>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Exemple de modélisation</a:t>
            </a:r>
          </a:p>
        </p:txBody>
      </p:sp>
      <p:cxnSp>
        <p:nvCxnSpPr>
          <p:cNvPr id="5" name="Connecteur droit avec flèche 4"/>
          <p:cNvCxnSpPr>
            <a:endCxn id="4" idx="4"/>
          </p:cNvCxnSpPr>
          <p:nvPr/>
        </p:nvCxnSpPr>
        <p:spPr>
          <a:xfrm flipV="1">
            <a:off x="5448776" y="4236827"/>
            <a:ext cx="0" cy="59574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 name="Connecteur droit avec flèche 5"/>
          <p:cNvCxnSpPr>
            <a:stCxn id="4" idx="6"/>
            <a:endCxn id="16" idx="1"/>
          </p:cNvCxnSpPr>
          <p:nvPr/>
        </p:nvCxnSpPr>
        <p:spPr>
          <a:xfrm flipV="1">
            <a:off x="5591651" y="4090320"/>
            <a:ext cx="501506" cy="363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 name="Connecteur droit avec flèche 6"/>
          <p:cNvCxnSpPr/>
          <p:nvPr/>
        </p:nvCxnSpPr>
        <p:spPr>
          <a:xfrm flipV="1">
            <a:off x="5448775" y="5168653"/>
            <a:ext cx="20638" cy="54311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 name="Connecteur droit avec flèche 7"/>
          <p:cNvCxnSpPr>
            <a:stCxn id="16" idx="3"/>
          </p:cNvCxnSpPr>
          <p:nvPr/>
        </p:nvCxnSpPr>
        <p:spPr>
          <a:xfrm flipV="1">
            <a:off x="7095430" y="4086530"/>
            <a:ext cx="756285" cy="379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flipV="1">
            <a:off x="4662964" y="4089983"/>
            <a:ext cx="642937" cy="793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10" name="Object 9"/>
          <p:cNvGraphicFramePr>
            <a:graphicFrameLocks noChangeAspect="1"/>
          </p:cNvGraphicFramePr>
          <p:nvPr>
            <p:extLst>
              <p:ext uri="{D42A27DB-BD31-4B8C-83A1-F6EECF244321}">
                <p14:modId xmlns:p14="http://schemas.microsoft.com/office/powerpoint/2010/main" val="1325652768"/>
              </p:ext>
            </p:extLst>
          </p:nvPr>
        </p:nvGraphicFramePr>
        <p:xfrm>
          <a:off x="5169376" y="4270164"/>
          <a:ext cx="215900" cy="157163"/>
        </p:xfrm>
        <a:graphic>
          <a:graphicData uri="http://schemas.openxmlformats.org/presentationml/2006/ole">
            <mc:AlternateContent xmlns:mc="http://schemas.openxmlformats.org/markup-compatibility/2006">
              <mc:Choice xmlns:v="urn:schemas-microsoft-com:vml" Requires="v">
                <p:oleObj name="Equation" r:id="rId5" imgW="139680" imgH="101520" progId="Equation.DSMT4">
                  <p:embed/>
                </p:oleObj>
              </mc:Choice>
              <mc:Fallback>
                <p:oleObj name="Equation" r:id="rId5" imgW="139680" imgH="10152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69376" y="4270164"/>
                        <a:ext cx="215900" cy="157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1" name="ZoneTexte 10"/>
              <p:cNvSpPr txBox="1"/>
              <p:nvPr/>
            </p:nvSpPr>
            <p:spPr>
              <a:xfrm>
                <a:off x="7356674" y="3717198"/>
                <a:ext cx="38824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b="1" i="0" smtClean="0">
                          <a:latin typeface="Cambria Math"/>
                        </a:rPr>
                        <m:t>𝐪</m:t>
                      </m:r>
                    </m:oMath>
                  </m:oMathPara>
                </a14:m>
                <a:endParaRPr lang="fr-FR" dirty="0"/>
              </a:p>
            </p:txBody>
          </p:sp>
        </mc:Choice>
        <mc:Fallback xmlns="">
          <p:sp>
            <p:nvSpPr>
              <p:cNvPr id="11" name="ZoneTexte 10"/>
              <p:cNvSpPr txBox="1">
                <a:spLocks noRot="1" noChangeAspect="1" noMove="1" noResize="1" noEditPoints="1" noAdjustHandles="1" noChangeArrowheads="1" noChangeShapeType="1" noTextEdit="1"/>
              </p:cNvSpPr>
              <p:nvPr/>
            </p:nvSpPr>
            <p:spPr>
              <a:xfrm>
                <a:off x="7356674" y="3717198"/>
                <a:ext cx="388248" cy="369332"/>
              </a:xfrm>
              <a:prstGeom prst="rect">
                <a:avLst/>
              </a:prstGeom>
              <a:blipFill rotWithShape="1">
                <a:blip r:embed="rId7"/>
                <a:stretch>
                  <a:fillRect b="-833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2" name="ZoneTexte 11"/>
              <p:cNvSpPr txBox="1"/>
              <p:nvPr/>
            </p:nvSpPr>
            <p:spPr>
              <a:xfrm>
                <a:off x="5067884" y="5343093"/>
                <a:ext cx="4573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i="1">
                              <a:latin typeface="Cambria Math" panose="02040503050406030204" pitchFamily="18" charset="0"/>
                              <a:ea typeface="Cambria Math"/>
                            </a:rPr>
                          </m:ctrlPr>
                        </m:sSubPr>
                        <m:e>
                          <m:r>
                            <a:rPr lang="fr-FR" i="1">
                              <a:latin typeface="Cambria Math"/>
                              <a:ea typeface="Cambria Math"/>
                            </a:rPr>
                            <m:t>𝕗</m:t>
                          </m:r>
                        </m:e>
                        <m:sub>
                          <m:r>
                            <a:rPr lang="fr-FR" i="1">
                              <a:latin typeface="Cambria Math"/>
                              <a:ea typeface="Cambria Math"/>
                            </a:rPr>
                            <m:t>𝑒</m:t>
                          </m:r>
                        </m:sub>
                      </m:sSub>
                    </m:oMath>
                  </m:oMathPara>
                </a14:m>
                <a:endParaRPr lang="fr-FR" dirty="0"/>
              </a:p>
            </p:txBody>
          </p:sp>
        </mc:Choice>
        <mc:Fallback xmlns="">
          <p:sp>
            <p:nvSpPr>
              <p:cNvPr id="12" name="ZoneTexte 11"/>
              <p:cNvSpPr txBox="1">
                <a:spLocks noRot="1" noChangeAspect="1" noMove="1" noResize="1" noEditPoints="1" noAdjustHandles="1" noChangeArrowheads="1" noChangeShapeType="1" noTextEdit="1"/>
              </p:cNvSpPr>
              <p:nvPr/>
            </p:nvSpPr>
            <p:spPr>
              <a:xfrm>
                <a:off x="5067884" y="5343093"/>
                <a:ext cx="457369" cy="369332"/>
              </a:xfrm>
              <a:prstGeom prst="rect">
                <a:avLst/>
              </a:prstGeom>
              <a:blipFill rotWithShape="1">
                <a:blip r:embed="rId8"/>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3" name="ZoneTexte 12"/>
              <p:cNvSpPr txBox="1"/>
              <p:nvPr/>
            </p:nvSpPr>
            <p:spPr>
              <a:xfrm>
                <a:off x="5153500" y="4832570"/>
                <a:ext cx="590551"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0" smtClean="0">
                              <a:latin typeface="Cambria Math"/>
                            </a:rPr>
                            <m:t>  </m:t>
                          </m:r>
                          <m:r>
                            <a:rPr lang="fr-FR" b="1" i="0" smtClean="0">
                              <a:latin typeface="Cambria Math"/>
                            </a:rPr>
                            <m:t>𝐉</m:t>
                          </m:r>
                        </m:e>
                        <m:sup>
                          <m:r>
                            <a:rPr lang="fr-FR" b="0" i="1" smtClean="0">
                              <a:latin typeface="Cambria Math"/>
                            </a:rPr>
                            <m:t>𝑇</m:t>
                          </m:r>
                        </m:sup>
                      </m:sSup>
                    </m:oMath>
                  </m:oMathPara>
                </a14:m>
                <a:endParaRPr lang="fr-FR" dirty="0"/>
              </a:p>
            </p:txBody>
          </p:sp>
        </mc:Choice>
        <mc:Fallback xmlns="">
          <p:sp>
            <p:nvSpPr>
              <p:cNvPr id="13" name="ZoneTexte 12"/>
              <p:cNvSpPr txBox="1">
                <a:spLocks noRot="1" noChangeAspect="1" noMove="1" noResize="1" noEditPoints="1" noAdjustHandles="1" noChangeArrowheads="1" noChangeShapeType="1" noTextEdit="1"/>
              </p:cNvSpPr>
              <p:nvPr/>
            </p:nvSpPr>
            <p:spPr>
              <a:xfrm>
                <a:off x="5153500" y="4832570"/>
                <a:ext cx="590551" cy="369332"/>
              </a:xfrm>
              <a:prstGeom prst="rect">
                <a:avLst/>
              </a:prstGeom>
              <a:blipFill rotWithShape="1">
                <a:blip r:embed="rId9"/>
                <a:stretch>
                  <a:fillRect/>
                </a:stretch>
              </a:blipFill>
              <a:ln w="25400"/>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4" name="ZoneTexte 13"/>
              <p:cNvSpPr txBox="1"/>
              <p:nvPr/>
            </p:nvSpPr>
            <p:spPr>
              <a:xfrm>
                <a:off x="5061521" y="4392519"/>
                <a:ext cx="45935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el-GR" b="1" i="0" smtClean="0">
                              <a:latin typeface="Cambria Math"/>
                              <a:ea typeface="Cambria Math"/>
                            </a:rPr>
                            <m:t>𝚪</m:t>
                          </m:r>
                        </m:e>
                        <m:sub>
                          <m:r>
                            <a:rPr lang="fr-FR" b="0" i="1" smtClean="0">
                              <a:latin typeface="Cambria Math"/>
                            </a:rPr>
                            <m:t>𝑒</m:t>
                          </m:r>
                        </m:sub>
                      </m:sSub>
                    </m:oMath>
                  </m:oMathPara>
                </a14:m>
                <a:endParaRPr lang="fr-FR" dirty="0"/>
              </a:p>
            </p:txBody>
          </p:sp>
        </mc:Choice>
        <mc:Fallback xmlns="">
          <p:sp>
            <p:nvSpPr>
              <p:cNvPr id="14" name="ZoneTexte 13"/>
              <p:cNvSpPr txBox="1">
                <a:spLocks noRot="1" noChangeAspect="1" noMove="1" noResize="1" noEditPoints="1" noAdjustHandles="1" noChangeArrowheads="1" noChangeShapeType="1" noTextEdit="1"/>
              </p:cNvSpPr>
              <p:nvPr/>
            </p:nvSpPr>
            <p:spPr>
              <a:xfrm>
                <a:off x="5061521" y="4392519"/>
                <a:ext cx="459357" cy="369332"/>
              </a:xfrm>
              <a:prstGeom prst="rect">
                <a:avLst/>
              </a:prstGeom>
              <a:blipFill rotWithShape="1">
                <a:blip r:embed="rId10"/>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5" name="ZoneTexte 14"/>
              <p:cNvSpPr txBox="1"/>
              <p:nvPr/>
            </p:nvSpPr>
            <p:spPr>
              <a:xfrm>
                <a:off x="4585964" y="3734448"/>
                <a:ext cx="3786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l-GR" b="1">
                          <a:latin typeface="Cambria Math"/>
                          <a:ea typeface="Cambria Math"/>
                        </a:rPr>
                        <m:t>𝚪</m:t>
                      </m:r>
                    </m:oMath>
                  </m:oMathPara>
                </a14:m>
                <a:endParaRPr lang="fr-FR" dirty="0"/>
              </a:p>
            </p:txBody>
          </p:sp>
        </mc:Choice>
        <mc:Fallback xmlns="">
          <p:sp>
            <p:nvSpPr>
              <p:cNvPr id="15" name="ZoneTexte 14"/>
              <p:cNvSpPr txBox="1">
                <a:spLocks noRot="1" noChangeAspect="1" noMove="1" noResize="1" noEditPoints="1" noAdjustHandles="1" noChangeArrowheads="1" noChangeShapeType="1" noTextEdit="1"/>
              </p:cNvSpPr>
              <p:nvPr/>
            </p:nvSpPr>
            <p:spPr>
              <a:xfrm>
                <a:off x="4585964" y="3734448"/>
                <a:ext cx="378630" cy="369332"/>
              </a:xfrm>
              <a:prstGeom prst="rect">
                <a:avLst/>
              </a:prstGeom>
              <a:blipFill rotWithShape="1">
                <a:blip r:embed="rId11"/>
                <a:stretch>
                  <a:fillRect/>
                </a:stretch>
              </a:blipFill>
            </p:spPr>
            <p:txBody>
              <a:bodyPr/>
              <a:lstStyle/>
              <a:p>
                <a:r>
                  <a:rPr lang="fr-FR">
                    <a:noFill/>
                  </a:rPr>
                  <a:t> </a:t>
                </a:r>
              </a:p>
            </p:txBody>
          </p:sp>
        </mc:Fallback>
      </mc:AlternateContent>
      <p:sp>
        <p:nvSpPr>
          <p:cNvPr id="16" name="ZoneTexte 15"/>
          <p:cNvSpPr txBox="1"/>
          <p:nvPr/>
        </p:nvSpPr>
        <p:spPr>
          <a:xfrm>
            <a:off x="6093157" y="3905654"/>
            <a:ext cx="1002273"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dirty="0"/>
              <a:t>Robot</a:t>
            </a:r>
          </a:p>
        </p:txBody>
      </p:sp>
      <p:cxnSp>
        <p:nvCxnSpPr>
          <p:cNvPr id="18" name="Connecteur droit avec flèche 17"/>
          <p:cNvCxnSpPr/>
          <p:nvPr/>
        </p:nvCxnSpPr>
        <p:spPr>
          <a:xfrm>
            <a:off x="7485509" y="4086530"/>
            <a:ext cx="5016" cy="56137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9" name="Connecteur droit 18"/>
          <p:cNvCxnSpPr>
            <a:stCxn id="21" idx="2"/>
          </p:cNvCxnSpPr>
          <p:nvPr/>
        </p:nvCxnSpPr>
        <p:spPr>
          <a:xfrm>
            <a:off x="7485509" y="5017236"/>
            <a:ext cx="3222" cy="69814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Connecteur droit avec flèche 19"/>
          <p:cNvCxnSpPr/>
          <p:nvPr/>
        </p:nvCxnSpPr>
        <p:spPr>
          <a:xfrm flipH="1">
            <a:off x="7124318" y="5711769"/>
            <a:ext cx="366207"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1" name="ZoneTexte 20"/>
          <p:cNvSpPr txBox="1"/>
          <p:nvPr/>
        </p:nvSpPr>
        <p:spPr>
          <a:xfrm>
            <a:off x="7121097" y="4647904"/>
            <a:ext cx="728824"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dirty="0"/>
              <a:t>MGD</a:t>
            </a:r>
          </a:p>
        </p:txBody>
      </p:sp>
      <mc:AlternateContent xmlns:mc="http://schemas.openxmlformats.org/markup-compatibility/2006" xmlns:a14="http://schemas.microsoft.com/office/drawing/2010/main">
        <mc:Choice Requires="a14">
          <p:sp>
            <p:nvSpPr>
              <p:cNvPr id="22" name="ZoneTexte 21"/>
              <p:cNvSpPr txBox="1"/>
              <p:nvPr/>
            </p:nvSpPr>
            <p:spPr>
              <a:xfrm>
                <a:off x="7457572" y="5366308"/>
                <a:ext cx="3706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b="1" i="0" smtClean="0">
                          <a:latin typeface="Cambria Math"/>
                          <a:ea typeface="Cambria Math"/>
                        </a:rPr>
                        <m:t>𝐱</m:t>
                      </m:r>
                    </m:oMath>
                  </m:oMathPara>
                </a14:m>
                <a:endParaRPr lang="fr-FR" dirty="0"/>
              </a:p>
            </p:txBody>
          </p:sp>
        </mc:Choice>
        <mc:Fallback xmlns="">
          <p:sp>
            <p:nvSpPr>
              <p:cNvPr id="22" name="ZoneTexte 21"/>
              <p:cNvSpPr txBox="1">
                <a:spLocks noRot="1" noChangeAspect="1" noMove="1" noResize="1" noEditPoints="1" noAdjustHandles="1" noChangeArrowheads="1" noChangeShapeType="1" noTextEdit="1"/>
              </p:cNvSpPr>
              <p:nvPr/>
            </p:nvSpPr>
            <p:spPr>
              <a:xfrm>
                <a:off x="7457572" y="5366308"/>
                <a:ext cx="370614" cy="369332"/>
              </a:xfrm>
              <a:prstGeom prst="rect">
                <a:avLst/>
              </a:prstGeom>
              <a:blipFill rotWithShape="1">
                <a:blip r:embed="rId12"/>
                <a:stretch>
                  <a:fillRect/>
                </a:stretch>
              </a:blipFill>
            </p:spPr>
            <p:txBody>
              <a:bodyPr/>
              <a:lstStyle/>
              <a:p>
                <a:r>
                  <a:rPr lang="fr-FR">
                    <a:noFill/>
                  </a:rPr>
                  <a:t> </a:t>
                </a:r>
              </a:p>
            </p:txBody>
          </p:sp>
        </mc:Fallback>
      </mc:AlternateContent>
      <p:sp>
        <p:nvSpPr>
          <p:cNvPr id="25" name="Ellipse 24"/>
          <p:cNvSpPr/>
          <p:nvPr/>
        </p:nvSpPr>
        <p:spPr>
          <a:xfrm>
            <a:off x="6838568" y="5571877"/>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cxnSp>
        <p:nvCxnSpPr>
          <p:cNvPr id="35" name="Connecteur droit 34"/>
          <p:cNvCxnSpPr>
            <a:endCxn id="28" idx="1"/>
          </p:cNvCxnSpPr>
          <p:nvPr/>
        </p:nvCxnSpPr>
        <p:spPr>
          <a:xfrm flipV="1">
            <a:off x="5467825" y="5714752"/>
            <a:ext cx="411270" cy="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Connecteur droit avec flèche 26"/>
          <p:cNvCxnSpPr>
            <a:stCxn id="25" idx="2"/>
            <a:endCxn id="28" idx="3"/>
          </p:cNvCxnSpPr>
          <p:nvPr/>
        </p:nvCxnSpPr>
        <p:spPr>
          <a:xfrm flipH="1">
            <a:off x="6469646" y="5714752"/>
            <a:ext cx="368922"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ZoneTexte 27"/>
              <p:cNvSpPr txBox="1"/>
              <p:nvPr/>
            </p:nvSpPr>
            <p:spPr>
              <a:xfrm>
                <a:off x="5879095" y="5530086"/>
                <a:ext cx="590551"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sSub>
                        <m:sSubPr>
                          <m:ctrlPr>
                            <a:rPr lang="fr-FR" i="1">
                              <a:latin typeface="Cambria Math" panose="02040503050406030204" pitchFamily="18" charset="0"/>
                              <a:ea typeface="Cambria Math"/>
                            </a:rPr>
                          </m:ctrlPr>
                        </m:sSubPr>
                        <m:e>
                          <m:r>
                            <a:rPr lang="fr-FR" b="1">
                              <a:latin typeface="Cambria Math"/>
                              <a:ea typeface="Cambria Math"/>
                            </a:rPr>
                            <m:t>𝐊</m:t>
                          </m:r>
                        </m:e>
                        <m:sub>
                          <m:r>
                            <a:rPr lang="fr-FR" i="1">
                              <a:latin typeface="Cambria Math"/>
                              <a:ea typeface="Cambria Math"/>
                            </a:rPr>
                            <m:t>𝑒</m:t>
                          </m:r>
                        </m:sub>
                      </m:sSub>
                    </m:oMath>
                  </m:oMathPara>
                </a14:m>
                <a:endParaRPr lang="fr-FR" b="1" dirty="0"/>
              </a:p>
            </p:txBody>
          </p:sp>
        </mc:Choice>
        <mc:Fallback xmlns="">
          <p:sp>
            <p:nvSpPr>
              <p:cNvPr id="28" name="ZoneTexte 27"/>
              <p:cNvSpPr txBox="1">
                <a:spLocks noRot="1" noChangeAspect="1" noMove="1" noResize="1" noEditPoints="1" noAdjustHandles="1" noChangeArrowheads="1" noChangeShapeType="1" noTextEdit="1"/>
              </p:cNvSpPr>
              <p:nvPr/>
            </p:nvSpPr>
            <p:spPr>
              <a:xfrm>
                <a:off x="5879095" y="5530086"/>
                <a:ext cx="590551" cy="369332"/>
              </a:xfrm>
              <a:prstGeom prst="rect">
                <a:avLst/>
              </a:prstGeom>
              <a:blipFill rotWithShape="1">
                <a:blip r:embed="rId13"/>
                <a:stretch>
                  <a:fillRect/>
                </a:stretch>
              </a:blipFill>
              <a:ln w="25400"/>
            </p:spPr>
            <p:txBody>
              <a:bodyPr/>
              <a:lstStyle/>
              <a:p>
                <a:r>
                  <a:rPr lang="fr-FR">
                    <a:noFill/>
                  </a:rPr>
                  <a:t> </a:t>
                </a:r>
              </a:p>
            </p:txBody>
          </p:sp>
        </mc:Fallback>
      </mc:AlternateContent>
      <p:cxnSp>
        <p:nvCxnSpPr>
          <p:cNvPr id="30" name="Connecteur droit avec flèche 29"/>
          <p:cNvCxnSpPr>
            <a:endCxn id="25" idx="4"/>
          </p:cNvCxnSpPr>
          <p:nvPr/>
        </p:nvCxnSpPr>
        <p:spPr>
          <a:xfrm flipV="1">
            <a:off x="6981443" y="5857627"/>
            <a:ext cx="0" cy="40339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ZoneTexte 31"/>
              <p:cNvSpPr txBox="1"/>
              <p:nvPr/>
            </p:nvSpPr>
            <p:spPr>
              <a:xfrm>
                <a:off x="6965130" y="5946564"/>
                <a:ext cx="487826" cy="369332"/>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sSub>
                        <m:sSubPr>
                          <m:ctrlPr>
                            <a:rPr lang="fr-FR" i="1" smtClean="0">
                              <a:latin typeface="Cambria Math" panose="02040503050406030204" pitchFamily="18" charset="0"/>
                            </a:rPr>
                          </m:ctrlPr>
                        </m:sSubPr>
                        <m:e>
                          <m:r>
                            <a:rPr lang="fr-FR" b="1" i="0" smtClean="0">
                              <a:latin typeface="Cambria Math"/>
                            </a:rPr>
                            <m:t>𝐱</m:t>
                          </m:r>
                        </m:e>
                        <m:sub>
                          <m:r>
                            <a:rPr lang="fr-FR" b="0" i="1" smtClean="0">
                              <a:latin typeface="Cambria Math"/>
                            </a:rPr>
                            <m:t>𝑒</m:t>
                          </m:r>
                        </m:sub>
                      </m:sSub>
                    </m:oMath>
                  </m:oMathPara>
                </a14:m>
                <a:endParaRPr lang="fr-FR" dirty="0"/>
              </a:p>
            </p:txBody>
          </p:sp>
        </mc:Choice>
        <mc:Fallback xmlns="">
          <p:sp>
            <p:nvSpPr>
              <p:cNvPr id="32" name="ZoneTexte 31"/>
              <p:cNvSpPr txBox="1">
                <a:spLocks noRot="1" noChangeAspect="1" noMove="1" noResize="1" noEditPoints="1" noAdjustHandles="1" noChangeArrowheads="1" noChangeShapeType="1" noTextEdit="1"/>
              </p:cNvSpPr>
              <p:nvPr/>
            </p:nvSpPr>
            <p:spPr>
              <a:xfrm>
                <a:off x="6965130" y="5946564"/>
                <a:ext cx="487826" cy="369332"/>
              </a:xfrm>
              <a:prstGeom prst="rect">
                <a:avLst/>
              </a:prstGeom>
              <a:blipFill rotWithShape="1">
                <a:blip r:embed="rId14"/>
                <a:stretch>
                  <a:fillRect/>
                </a:stretch>
              </a:blipFill>
            </p:spPr>
            <p:txBody>
              <a:bodyPr/>
              <a:lstStyle/>
              <a:p>
                <a:r>
                  <a:rPr lang="fr-FR">
                    <a:noFill/>
                  </a:rPr>
                  <a:t> </a:t>
                </a:r>
              </a:p>
            </p:txBody>
          </p:sp>
        </mc:Fallback>
      </mc:AlternateContent>
      <p:graphicFrame>
        <p:nvGraphicFramePr>
          <p:cNvPr id="31" name="Objet 30"/>
          <p:cNvGraphicFramePr>
            <a:graphicFrameLocks noChangeAspect="1"/>
          </p:cNvGraphicFramePr>
          <p:nvPr>
            <p:extLst>
              <p:ext uri="{D42A27DB-BD31-4B8C-83A1-F6EECF244321}">
                <p14:modId xmlns:p14="http://schemas.microsoft.com/office/powerpoint/2010/main" val="1176483892"/>
              </p:ext>
            </p:extLst>
          </p:nvPr>
        </p:nvGraphicFramePr>
        <p:xfrm>
          <a:off x="6731951" y="5980740"/>
          <a:ext cx="215900" cy="157163"/>
        </p:xfrm>
        <a:graphic>
          <a:graphicData uri="http://schemas.openxmlformats.org/presentationml/2006/ole">
            <mc:AlternateContent xmlns:mc="http://schemas.openxmlformats.org/markup-compatibility/2006">
              <mc:Choice xmlns:v="urn:schemas-microsoft-com:vml" Requires="v">
                <p:oleObj name="Equation" r:id="rId15" imgW="139639" imgH="101556" progId="Equation.DSMT4">
                  <p:embed/>
                </p:oleObj>
              </mc:Choice>
              <mc:Fallback>
                <p:oleObj name="Equation" r:id="rId15" imgW="139639" imgH="101556"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31951" y="5980740"/>
                        <a:ext cx="215900" cy="157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Ellipse 3"/>
          <p:cNvSpPr/>
          <p:nvPr/>
        </p:nvSpPr>
        <p:spPr>
          <a:xfrm>
            <a:off x="5305901" y="3951077"/>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sp>
        <p:nvSpPr>
          <p:cNvPr id="17" name="Rectangle 16"/>
          <p:cNvSpPr/>
          <p:nvPr/>
        </p:nvSpPr>
        <p:spPr>
          <a:xfrm>
            <a:off x="5067884" y="5343092"/>
            <a:ext cx="2312792" cy="972803"/>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ZoneTexte 22"/>
          <p:cNvSpPr txBox="1"/>
          <p:nvPr/>
        </p:nvSpPr>
        <p:spPr>
          <a:xfrm>
            <a:off x="5780717" y="5051551"/>
            <a:ext cx="1428326" cy="307777"/>
          </a:xfrm>
          <a:prstGeom prst="rect">
            <a:avLst/>
          </a:prstGeom>
          <a:noFill/>
        </p:spPr>
        <p:txBody>
          <a:bodyPr wrap="square" rtlCol="0">
            <a:spAutoFit/>
          </a:bodyPr>
          <a:lstStyle/>
          <a:p>
            <a:r>
              <a:rPr lang="fr-FR" sz="1400" dirty="0">
                <a:solidFill>
                  <a:srgbClr val="FF0000"/>
                </a:solidFill>
              </a:rPr>
              <a:t>Environnement</a:t>
            </a:r>
          </a:p>
        </p:txBody>
      </p:sp>
    </p:spTree>
    <p:extLst>
      <p:ext uri="{BB962C8B-B14F-4D97-AF65-F5344CB8AC3E}">
        <p14:creationId xmlns:p14="http://schemas.microsoft.com/office/powerpoint/2010/main" val="25274209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re 5"/>
          <p:cNvSpPr>
            <a:spLocks noGrp="1"/>
          </p:cNvSpPr>
          <p:nvPr>
            <p:ph type="title"/>
          </p:nvPr>
        </p:nvSpPr>
        <p:spPr/>
        <p:txBody>
          <a:bodyPr/>
          <a:lstStyle/>
          <a:p>
            <a:r>
              <a:rPr lang="fr-FR" dirty="0"/>
              <a:t>Lois de commande en effort</a:t>
            </a:r>
          </a:p>
        </p:txBody>
      </p:sp>
      <p:sp>
        <p:nvSpPr>
          <p:cNvPr id="8" name="Espace réservé du contenu 7"/>
          <p:cNvSpPr>
            <a:spLocks noGrp="1"/>
          </p:cNvSpPr>
          <p:nvPr>
            <p:ph sz="quarter" idx="1"/>
          </p:nvPr>
        </p:nvSpPr>
        <p:spPr>
          <a:xfrm>
            <a:off x="280656" y="950431"/>
            <a:ext cx="8347295" cy="5514285"/>
          </a:xfrm>
        </p:spPr>
        <p:txBody>
          <a:bodyPr/>
          <a:lstStyle/>
          <a:p>
            <a:r>
              <a:rPr lang="fr-FR" dirty="0"/>
              <a:t>Deux stratégies de commande possible : </a:t>
            </a:r>
          </a:p>
          <a:p>
            <a:endParaRPr lang="fr-FR" dirty="0"/>
          </a:p>
          <a:p>
            <a:endParaRPr lang="fr-FR" dirty="0"/>
          </a:p>
          <a:p>
            <a:endParaRPr lang="fr-FR" dirty="0"/>
          </a:p>
          <a:p>
            <a:endParaRPr lang="fr-FR" dirty="0"/>
          </a:p>
          <a:p>
            <a:endParaRPr lang="fr-FR" dirty="0"/>
          </a:p>
          <a:p>
            <a:endParaRPr lang="fr-FR" dirty="0"/>
          </a:p>
          <a:p>
            <a:endParaRPr lang="fr-FR" dirty="0"/>
          </a:p>
          <a:p>
            <a:r>
              <a:rPr lang="fr-FR" dirty="0"/>
              <a:t>Commande sans consigne d’effort : la force est contrôlée via la commande du </a:t>
            </a:r>
            <a:r>
              <a:rPr lang="fr-FR"/>
              <a:t>mouvement (sans </a:t>
            </a:r>
            <a:r>
              <a:rPr lang="fr-FR" dirty="0"/>
              <a:t>avoir </a:t>
            </a:r>
            <a:r>
              <a:rPr lang="fr-FR"/>
              <a:t>une boucle fermée sur l’effort)</a:t>
            </a:r>
            <a:endParaRPr lang="fr-FR" dirty="0"/>
          </a:p>
          <a:p>
            <a:endParaRPr lang="fr-FR" dirty="0"/>
          </a:p>
          <a:p>
            <a:r>
              <a:rPr lang="fr-FR" dirty="0"/>
              <a:t>Commande avec consigne d’effort : la valeur de l’effort est explicitement spécifié dans la boucle de commande</a:t>
            </a:r>
          </a:p>
        </p:txBody>
      </p:sp>
      <p:graphicFrame>
        <p:nvGraphicFramePr>
          <p:cNvPr id="7" name="Tableau 6"/>
          <p:cNvGraphicFramePr>
            <a:graphicFrameLocks noGrp="1"/>
          </p:cNvGraphicFramePr>
          <p:nvPr>
            <p:extLst>
              <p:ext uri="{D42A27DB-BD31-4B8C-83A1-F6EECF244321}">
                <p14:modId xmlns:p14="http://schemas.microsoft.com/office/powerpoint/2010/main" val="2702224560"/>
              </p:ext>
            </p:extLst>
          </p:nvPr>
        </p:nvGraphicFramePr>
        <p:xfrm>
          <a:off x="923636" y="1680730"/>
          <a:ext cx="7213600" cy="1661523"/>
        </p:xfrm>
        <a:graphic>
          <a:graphicData uri="http://schemas.openxmlformats.org/drawingml/2006/table">
            <a:tbl>
              <a:tblPr firstRow="1" bandRow="1">
                <a:tableStyleId>{5C22544A-7EE6-4342-B048-85BDC9FD1C3A}</a:tableStyleId>
              </a:tblPr>
              <a:tblGrid>
                <a:gridCol w="3606800">
                  <a:extLst>
                    <a:ext uri="{9D8B030D-6E8A-4147-A177-3AD203B41FA5}">
                      <a16:colId xmlns:a16="http://schemas.microsoft.com/office/drawing/2014/main" val="20000"/>
                    </a:ext>
                  </a:extLst>
                </a:gridCol>
                <a:gridCol w="3606800">
                  <a:extLst>
                    <a:ext uri="{9D8B030D-6E8A-4147-A177-3AD203B41FA5}">
                      <a16:colId xmlns:a16="http://schemas.microsoft.com/office/drawing/2014/main" val="20001"/>
                    </a:ext>
                  </a:extLst>
                </a:gridCol>
              </a:tblGrid>
              <a:tr h="9180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800" dirty="0">
                          <a:effectLst/>
                        </a:rPr>
                        <a:t>Commande sans consigne d’effort</a:t>
                      </a:r>
                      <a:endParaRPr lang="fr-FR" sz="1800" dirty="0">
                        <a:effectLst/>
                        <a:latin typeface="+mn-lt"/>
                        <a:ea typeface="Calibri"/>
                        <a:cs typeface="Times New Roman"/>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800" dirty="0">
                          <a:effectLst/>
                        </a:rPr>
                        <a:t>Commande avec consigne en effort</a:t>
                      </a:r>
                      <a:endParaRPr lang="fr-FR" sz="1800" dirty="0">
                        <a:effectLst/>
                        <a:latin typeface="+mn-lt"/>
                        <a:ea typeface="Calibri"/>
                        <a:cs typeface="Times New Roman"/>
                      </a:endParaRPr>
                    </a:p>
                    <a:p>
                      <a:pPr algn="ctr"/>
                      <a:endParaRPr lang="fr-FR" dirty="0"/>
                    </a:p>
                  </a:txBody>
                  <a:tcPr/>
                </a:tc>
                <a:extLst>
                  <a:ext uri="{0D108BD9-81ED-4DB2-BD59-A6C34878D82A}">
                    <a16:rowId xmlns:a16="http://schemas.microsoft.com/office/drawing/2014/main" val="10000"/>
                  </a:ext>
                </a:extLst>
              </a:tr>
              <a:tr h="37175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dirty="0"/>
                        <a:t>Commande en compliance</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800" dirty="0">
                          <a:effectLst/>
                        </a:rPr>
                        <a:t>CF direct</a:t>
                      </a:r>
                      <a:endParaRPr lang="fr-FR" sz="1800" dirty="0">
                        <a:effectLst/>
                        <a:latin typeface="+mn-lt"/>
                        <a:ea typeface="Calibri"/>
                        <a:cs typeface="Times New Roman"/>
                      </a:endParaRPr>
                    </a:p>
                  </a:txBody>
                  <a:tcPr/>
                </a:tc>
                <a:extLst>
                  <a:ext uri="{0D108BD9-81ED-4DB2-BD59-A6C34878D82A}">
                    <a16:rowId xmlns:a16="http://schemas.microsoft.com/office/drawing/2014/main" val="10001"/>
                  </a:ext>
                </a:extLst>
              </a:tr>
              <a:tr h="37175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dirty="0"/>
                        <a:t>Commande en impédance</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1800" dirty="0">
                          <a:effectLst/>
                        </a:rPr>
                        <a:t>Commande hybride</a:t>
                      </a:r>
                      <a:endParaRPr lang="fr-FR" sz="1800" dirty="0">
                        <a:effectLst/>
                        <a:latin typeface="+mn-lt"/>
                        <a:ea typeface="Calibri"/>
                        <a:cs typeface="Times New Roman"/>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7339962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u contenu 1"/>
          <p:cNvSpPr>
            <a:spLocks noGrp="1"/>
          </p:cNvSpPr>
          <p:nvPr>
            <p:ph sz="quarter" idx="1"/>
          </p:nvPr>
        </p:nvSpPr>
        <p:spPr/>
        <p:txBody>
          <a:bodyPr/>
          <a:lstStyle/>
          <a:p>
            <a:r>
              <a:rPr lang="fr-FR" dirty="0"/>
              <a:t>Commande en compliance</a:t>
            </a:r>
          </a:p>
          <a:p>
            <a:r>
              <a:rPr lang="fr-FR" dirty="0"/>
              <a:t>Commande en impédance</a:t>
            </a:r>
          </a:p>
          <a:p>
            <a:endParaRPr lang="fr-FR" dirty="0"/>
          </a:p>
        </p:txBody>
      </p:sp>
      <p:sp>
        <p:nvSpPr>
          <p:cNvPr id="3" name="Titre 2"/>
          <p:cNvSpPr>
            <a:spLocks noGrp="1"/>
          </p:cNvSpPr>
          <p:nvPr>
            <p:ph type="title"/>
          </p:nvPr>
        </p:nvSpPr>
        <p:spPr/>
        <p:txBody>
          <a:bodyPr/>
          <a:lstStyle/>
          <a:p>
            <a:r>
              <a:rPr lang="fr-FR" dirty="0"/>
              <a:t>Commande sans consigne d’effort</a:t>
            </a:r>
          </a:p>
        </p:txBody>
      </p:sp>
    </p:spTree>
    <p:extLst>
      <p:ext uri="{BB962C8B-B14F-4D97-AF65-F5344CB8AC3E}">
        <p14:creationId xmlns:p14="http://schemas.microsoft.com/office/powerpoint/2010/main" val="8193019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r>
                  <a:rPr lang="fr-FR" b="1" dirty="0"/>
                  <a:t>Schéma de principe : </a:t>
                </a:r>
                <a:r>
                  <a:rPr lang="fr-FR" dirty="0"/>
                  <a:t>(</a:t>
                </a:r>
                <a14:m>
                  <m:oMath xmlns:m="http://schemas.openxmlformats.org/officeDocument/2006/math">
                    <m:sSup>
                      <m:sSupPr>
                        <m:ctrlPr>
                          <a:rPr lang="fr-FR" b="1" i="1" smtClean="0">
                            <a:latin typeface="Cambria Math" panose="02040503050406030204" pitchFamily="18" charset="0"/>
                          </a:rPr>
                        </m:ctrlPr>
                      </m:sSupPr>
                      <m:e>
                        <m:r>
                          <a:rPr lang="fr-FR" b="1" i="0" smtClean="0">
                            <a:latin typeface="Cambria Math"/>
                          </a:rPr>
                          <m:t>𝐱</m:t>
                        </m:r>
                      </m:e>
                      <m:sup>
                        <m:r>
                          <a:rPr lang="fr-FR" b="1" i="1" smtClean="0">
                            <a:latin typeface="Cambria Math"/>
                          </a:rPr>
                          <m:t>𝒅</m:t>
                        </m:r>
                      </m:sup>
                    </m:sSup>
                    <m:r>
                      <a:rPr lang="fr-FR" b="1" i="1" smtClean="0">
                        <a:latin typeface="Cambria Math"/>
                      </a:rPr>
                      <m:t>=</m:t>
                    </m:r>
                  </m:oMath>
                </a14:m>
                <a:r>
                  <a:rPr lang="fr-FR" b="0" dirty="0"/>
                  <a:t> </a:t>
                </a:r>
                <a:r>
                  <a:rPr lang="fr-FR" b="0" dirty="0" err="1"/>
                  <a:t>cte</a:t>
                </a:r>
                <a:r>
                  <a:rPr lang="fr-FR" dirty="0"/>
                  <a:t>, </a:t>
                </a:r>
                <a14:m>
                  <m:oMath xmlns:m="http://schemas.openxmlformats.org/officeDocument/2006/math">
                    <m:sSup>
                      <m:sSupPr>
                        <m:ctrlPr>
                          <a:rPr lang="fr-FR" i="1" smtClean="0">
                            <a:latin typeface="Cambria Math" panose="02040503050406030204" pitchFamily="18" charset="0"/>
                          </a:rPr>
                        </m:ctrlPr>
                      </m:sSupPr>
                      <m:e>
                        <m:acc>
                          <m:accPr>
                            <m:chr m:val="̇"/>
                            <m:ctrlPr>
                              <a:rPr lang="fr-FR" i="1" smtClean="0">
                                <a:latin typeface="Cambria Math" panose="02040503050406030204" pitchFamily="18" charset="0"/>
                              </a:rPr>
                            </m:ctrlPr>
                          </m:accPr>
                          <m:e>
                            <m:r>
                              <a:rPr lang="fr-FR" b="1" i="0" smtClean="0">
                                <a:latin typeface="Cambria Math"/>
                              </a:rPr>
                              <m:t>𝐱</m:t>
                            </m:r>
                          </m:e>
                        </m:acc>
                      </m:e>
                      <m:sup>
                        <m:r>
                          <a:rPr lang="fr-FR" b="0" i="1" smtClean="0">
                            <a:latin typeface="Cambria Math"/>
                          </a:rPr>
                          <m:t>𝑑</m:t>
                        </m:r>
                      </m:sup>
                    </m:sSup>
                    <m:r>
                      <a:rPr lang="fr-FR" b="0" i="1" smtClean="0">
                        <a:latin typeface="Cambria Math"/>
                      </a:rPr>
                      <m:t>=0</m:t>
                    </m:r>
                  </m:oMath>
                </a14:m>
                <a:r>
                  <a:rPr lang="fr-FR" b="0" dirty="0"/>
                  <a:t>)</a:t>
                </a:r>
              </a:p>
              <a:p>
                <a:pPr marL="0" indent="0">
                  <a:buNone/>
                </a:pPr>
                <a:endParaRPr lang="fr-FR"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4"/>
                <a:stretch>
                  <a:fillRect l="-584" t="-331"/>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en compliance</a:t>
            </a:r>
          </a:p>
        </p:txBody>
      </p:sp>
      <p:cxnSp>
        <p:nvCxnSpPr>
          <p:cNvPr id="5" name="Connecteur droit avec flèche 4"/>
          <p:cNvCxnSpPr/>
          <p:nvPr/>
        </p:nvCxnSpPr>
        <p:spPr>
          <a:xfrm flipV="1">
            <a:off x="4807610" y="3442875"/>
            <a:ext cx="114145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a:stCxn id="16" idx="6"/>
          </p:cNvCxnSpPr>
          <p:nvPr/>
        </p:nvCxnSpPr>
        <p:spPr>
          <a:xfrm>
            <a:off x="1407578" y="3454153"/>
            <a:ext cx="405587"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a:endCxn id="16" idx="2"/>
          </p:cNvCxnSpPr>
          <p:nvPr/>
        </p:nvCxnSpPr>
        <p:spPr>
          <a:xfrm flipV="1">
            <a:off x="638414" y="3454153"/>
            <a:ext cx="48341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 name="Connecteur droit avec flèche 10"/>
          <p:cNvCxnSpPr>
            <a:endCxn id="16" idx="4"/>
          </p:cNvCxnSpPr>
          <p:nvPr/>
        </p:nvCxnSpPr>
        <p:spPr>
          <a:xfrm flipH="1" flipV="1">
            <a:off x="1264703" y="3597028"/>
            <a:ext cx="1" cy="105770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12" name="Objet 11"/>
          <p:cNvGraphicFramePr>
            <a:graphicFrameLocks noChangeAspect="1"/>
          </p:cNvGraphicFramePr>
          <p:nvPr>
            <p:extLst>
              <p:ext uri="{D42A27DB-BD31-4B8C-83A1-F6EECF244321}">
                <p14:modId xmlns:p14="http://schemas.microsoft.com/office/powerpoint/2010/main" val="1331830911"/>
              </p:ext>
            </p:extLst>
          </p:nvPr>
        </p:nvGraphicFramePr>
        <p:xfrm>
          <a:off x="1033235" y="3744047"/>
          <a:ext cx="172417" cy="157163"/>
        </p:xfrm>
        <a:graphic>
          <a:graphicData uri="http://schemas.openxmlformats.org/presentationml/2006/ole">
            <mc:AlternateContent xmlns:mc="http://schemas.openxmlformats.org/markup-compatibility/2006">
              <mc:Choice xmlns:v="urn:schemas-microsoft-com:vml" Requires="v">
                <p:oleObj name="Equation" r:id="rId5" imgW="139639" imgH="101556" progId="Equation.DSMT4">
                  <p:embed/>
                </p:oleObj>
              </mc:Choice>
              <mc:Fallback>
                <p:oleObj name="Equation" r:id="rId5" imgW="139639" imgH="101556"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3235" y="3744047"/>
                        <a:ext cx="172417" cy="157163"/>
                      </a:xfrm>
                      <a:prstGeom prst="rect">
                        <a:avLst/>
                      </a:prstGeom>
                      <a:no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13" name="ZoneTexte 12"/>
              <p:cNvSpPr txBox="1"/>
              <p:nvPr/>
            </p:nvSpPr>
            <p:spPr>
              <a:xfrm>
                <a:off x="621133" y="3091929"/>
                <a:ext cx="500393" cy="3797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b="1" i="1" smtClean="0">
                              <a:latin typeface="Cambria Math" panose="02040503050406030204" pitchFamily="18" charset="0"/>
                              <a:ea typeface="Cambria Math"/>
                            </a:rPr>
                          </m:ctrlPr>
                        </m:sSupPr>
                        <m:e>
                          <m:r>
                            <a:rPr lang="fr-FR" b="1" i="0" smtClean="0">
                              <a:latin typeface="Cambria Math"/>
                              <a:ea typeface="Cambria Math"/>
                            </a:rPr>
                            <m:t>𝐱</m:t>
                          </m:r>
                        </m:e>
                        <m:sup>
                          <m:r>
                            <a:rPr lang="fr-FR" b="1" i="1" smtClean="0">
                              <a:latin typeface="Cambria Math"/>
                              <a:ea typeface="Cambria Math"/>
                            </a:rPr>
                            <m:t>𝒅</m:t>
                          </m:r>
                        </m:sup>
                      </m:sSup>
                    </m:oMath>
                  </m:oMathPara>
                </a14:m>
                <a:endParaRPr lang="fr-FR" dirty="0"/>
              </a:p>
            </p:txBody>
          </p:sp>
        </mc:Choice>
        <mc:Fallback xmlns="">
          <p:sp>
            <p:nvSpPr>
              <p:cNvPr id="13" name="ZoneTexte 12"/>
              <p:cNvSpPr txBox="1">
                <a:spLocks noRot="1" noChangeAspect="1" noMove="1" noResize="1" noEditPoints="1" noAdjustHandles="1" noChangeArrowheads="1" noChangeShapeType="1" noTextEdit="1"/>
              </p:cNvSpPr>
              <p:nvPr/>
            </p:nvSpPr>
            <p:spPr>
              <a:xfrm>
                <a:off x="621133" y="3091929"/>
                <a:ext cx="500393" cy="379784"/>
              </a:xfrm>
              <a:prstGeom prst="rect">
                <a:avLst/>
              </a:prstGeom>
              <a:blipFill rotWithShape="1">
                <a:blip r:embed="rId7"/>
                <a:stretch>
                  <a:fillRect/>
                </a:stretch>
              </a:blipFill>
            </p:spPr>
            <p:txBody>
              <a:bodyPr/>
              <a:lstStyle/>
              <a:p>
                <a:r>
                  <a:rPr lang="fr-FR">
                    <a:noFill/>
                  </a:rPr>
                  <a:t> </a:t>
                </a:r>
              </a:p>
            </p:txBody>
          </p:sp>
        </mc:Fallback>
      </mc:AlternateContent>
      <p:sp>
        <p:nvSpPr>
          <p:cNvPr id="16" name="Ellipse 15"/>
          <p:cNvSpPr/>
          <p:nvPr/>
        </p:nvSpPr>
        <p:spPr>
          <a:xfrm>
            <a:off x="1121828" y="3311278"/>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cxnSp>
        <p:nvCxnSpPr>
          <p:cNvPr id="17" name="Connecteur droit avec flèche 16"/>
          <p:cNvCxnSpPr>
            <a:stCxn id="21" idx="3"/>
            <a:endCxn id="52" idx="2"/>
          </p:cNvCxnSpPr>
          <p:nvPr/>
        </p:nvCxnSpPr>
        <p:spPr>
          <a:xfrm flipV="1">
            <a:off x="2336678" y="3445288"/>
            <a:ext cx="485173" cy="188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ZoneTexte 20"/>
              <p:cNvSpPr txBox="1"/>
              <p:nvPr/>
            </p:nvSpPr>
            <p:spPr>
              <a:xfrm>
                <a:off x="1813166" y="3262507"/>
                <a:ext cx="523512"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
                    </m:oMathParaPr>
                    <m:oMath xmlns:m="http://schemas.openxmlformats.org/officeDocument/2006/math">
                      <m:r>
                        <a:rPr lang="fr-FR" b="1" i="0" smtClean="0">
                          <a:latin typeface="Cambria Math"/>
                        </a:rPr>
                        <m:t>𝐊</m:t>
                      </m:r>
                    </m:oMath>
                  </m:oMathPara>
                </a14:m>
                <a:endParaRPr lang="fr-FR" b="1" dirty="0"/>
              </a:p>
            </p:txBody>
          </p:sp>
        </mc:Choice>
        <mc:Fallback xmlns="">
          <p:sp>
            <p:nvSpPr>
              <p:cNvPr id="21" name="ZoneTexte 20"/>
              <p:cNvSpPr txBox="1">
                <a:spLocks noRot="1" noChangeAspect="1" noMove="1" noResize="1" noEditPoints="1" noAdjustHandles="1" noChangeArrowheads="1" noChangeShapeType="1" noTextEdit="1"/>
              </p:cNvSpPr>
              <p:nvPr/>
            </p:nvSpPr>
            <p:spPr>
              <a:xfrm>
                <a:off x="1813166" y="3262507"/>
                <a:ext cx="523512" cy="369332"/>
              </a:xfrm>
              <a:prstGeom prst="rect">
                <a:avLst/>
              </a:prstGeom>
              <a:blipFill rotWithShape="1">
                <a:blip r:embed="rId8"/>
                <a:stretch>
                  <a:fillRect/>
                </a:stretch>
              </a:blipFill>
              <a:ln w="25400"/>
            </p:spPr>
            <p:txBody>
              <a:bodyPr/>
              <a:lstStyle/>
              <a:p>
                <a:r>
                  <a:rPr lang="fr-FR">
                    <a:noFill/>
                  </a:rPr>
                  <a:t> </a:t>
                </a:r>
              </a:p>
            </p:txBody>
          </p:sp>
        </mc:Fallback>
      </mc:AlternateContent>
      <p:cxnSp>
        <p:nvCxnSpPr>
          <p:cNvPr id="22" name="Connecteur droit avec flèche 21"/>
          <p:cNvCxnSpPr>
            <a:endCxn id="25" idx="1"/>
          </p:cNvCxnSpPr>
          <p:nvPr/>
        </p:nvCxnSpPr>
        <p:spPr>
          <a:xfrm flipV="1">
            <a:off x="3107601" y="3443303"/>
            <a:ext cx="1176497"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ZoneTexte 24"/>
              <p:cNvSpPr txBox="1"/>
              <p:nvPr/>
            </p:nvSpPr>
            <p:spPr>
              <a:xfrm>
                <a:off x="4284098" y="3255527"/>
                <a:ext cx="523512" cy="37555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
                    </m:oMathParaPr>
                    <m:oMath xmlns:m="http://schemas.openxmlformats.org/officeDocument/2006/math">
                      <m:sSup>
                        <m:sSupPr>
                          <m:ctrlPr>
                            <a:rPr lang="fr-FR" b="1" i="1" smtClean="0">
                              <a:latin typeface="Cambria Math" panose="02040503050406030204" pitchFamily="18" charset="0"/>
                            </a:rPr>
                          </m:ctrlPr>
                        </m:sSupPr>
                        <m:e>
                          <m:r>
                            <a:rPr lang="fr-FR" b="1" i="0" smtClean="0">
                              <a:latin typeface="Cambria Math"/>
                            </a:rPr>
                            <m:t>𝐉</m:t>
                          </m:r>
                        </m:e>
                        <m:sup>
                          <m:r>
                            <a:rPr lang="fr-FR" b="1" i="1" smtClean="0">
                              <a:latin typeface="Cambria Math"/>
                            </a:rPr>
                            <m:t>𝑻</m:t>
                          </m:r>
                        </m:sup>
                      </m:sSup>
                    </m:oMath>
                  </m:oMathPara>
                </a14:m>
                <a:endParaRPr lang="fr-FR" b="1" dirty="0"/>
              </a:p>
            </p:txBody>
          </p:sp>
        </mc:Choice>
        <mc:Fallback xmlns="">
          <p:sp>
            <p:nvSpPr>
              <p:cNvPr id="25" name="ZoneTexte 24"/>
              <p:cNvSpPr txBox="1">
                <a:spLocks noRot="1" noChangeAspect="1" noMove="1" noResize="1" noEditPoints="1" noAdjustHandles="1" noChangeArrowheads="1" noChangeShapeType="1" noTextEdit="1"/>
              </p:cNvSpPr>
              <p:nvPr/>
            </p:nvSpPr>
            <p:spPr>
              <a:xfrm>
                <a:off x="4284098" y="3255527"/>
                <a:ext cx="523512" cy="375552"/>
              </a:xfrm>
              <a:prstGeom prst="rect">
                <a:avLst/>
              </a:prstGeom>
              <a:blipFill rotWithShape="1">
                <a:blip r:embed="rId9"/>
                <a:stretch>
                  <a:fillRect/>
                </a:stretch>
              </a:blipFill>
              <a:ln w="25400"/>
            </p:spPr>
            <p:txBody>
              <a:bodyPr/>
              <a:lstStyle/>
              <a:p>
                <a:r>
                  <a:rPr lang="fr-FR">
                    <a:noFill/>
                  </a:rPr>
                  <a:t> </a:t>
                </a:r>
              </a:p>
            </p:txBody>
          </p:sp>
        </mc:Fallback>
      </mc:AlternateContent>
      <p:cxnSp>
        <p:nvCxnSpPr>
          <p:cNvPr id="29" name="Connecteur droit avec flèche 28"/>
          <p:cNvCxnSpPr/>
          <p:nvPr/>
        </p:nvCxnSpPr>
        <p:spPr>
          <a:xfrm flipV="1">
            <a:off x="6849542" y="3346611"/>
            <a:ext cx="478129"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40" name="Objet 39"/>
          <p:cNvGraphicFramePr>
            <a:graphicFrameLocks noGrp="1" noChangeAspect="1"/>
          </p:cNvGraphicFramePr>
          <p:nvPr>
            <p:extLst>
              <p:ext uri="{D42A27DB-BD31-4B8C-83A1-F6EECF244321}">
                <p14:modId xmlns:p14="http://schemas.microsoft.com/office/powerpoint/2010/main" val="1565993479"/>
              </p:ext>
            </p:extLst>
          </p:nvPr>
        </p:nvGraphicFramePr>
        <p:xfrm>
          <a:off x="2483220" y="3481238"/>
          <a:ext cx="173037" cy="173037"/>
        </p:xfrm>
        <a:graphic>
          <a:graphicData uri="http://schemas.openxmlformats.org/presentationml/2006/ole">
            <mc:AlternateContent xmlns:mc="http://schemas.openxmlformats.org/markup-compatibility/2006">
              <mc:Choice xmlns:v="urn:schemas-microsoft-com:vml" Requires="v">
                <p:oleObj name="Equation" r:id="rId10" imgW="139680" imgH="139680" progId="Equation.DSMT4">
                  <p:embed/>
                </p:oleObj>
              </mc:Choice>
              <mc:Fallback>
                <p:oleObj name="Equation" r:id="rId10" imgW="139680" imgH="139680" progId="Equation.DSMT4">
                  <p:embed/>
                  <p:pic>
                    <p:nvPicPr>
                      <p:cNvPr id="0" name=""/>
                      <p:cNvPicPr>
                        <a:picLocks noGrp="1"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83220" y="3481238"/>
                        <a:ext cx="173037"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 name="Objet 40"/>
          <p:cNvGraphicFramePr>
            <a:graphicFrameLocks noChangeAspect="1"/>
          </p:cNvGraphicFramePr>
          <p:nvPr>
            <p:extLst>
              <p:ext uri="{D42A27DB-BD31-4B8C-83A1-F6EECF244321}">
                <p14:modId xmlns:p14="http://schemas.microsoft.com/office/powerpoint/2010/main" val="1787638304"/>
              </p:ext>
            </p:extLst>
          </p:nvPr>
        </p:nvGraphicFramePr>
        <p:xfrm>
          <a:off x="2698026" y="3022872"/>
          <a:ext cx="171450" cy="157163"/>
        </p:xfrm>
        <a:graphic>
          <a:graphicData uri="http://schemas.openxmlformats.org/presentationml/2006/ole">
            <mc:AlternateContent xmlns:mc="http://schemas.openxmlformats.org/markup-compatibility/2006">
              <mc:Choice xmlns:v="urn:schemas-microsoft-com:vml" Requires="v">
                <p:oleObj name="Equation" r:id="rId12" imgW="139639" imgH="101556" progId="Equation.DSMT4">
                  <p:embed/>
                </p:oleObj>
              </mc:Choice>
              <mc:Fallback>
                <p:oleObj name="Equation" r:id="rId12" imgW="139639" imgH="101556"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98026" y="3022872"/>
                        <a:ext cx="171450" cy="15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43" name="ZoneTexte 42"/>
              <p:cNvSpPr txBox="1"/>
              <p:nvPr/>
            </p:nvSpPr>
            <p:spPr>
              <a:xfrm>
                <a:off x="7031456" y="2930667"/>
                <a:ext cx="3882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fr-FR" i="1" smtClean="0">
                              <a:latin typeface="Cambria Math" panose="02040503050406030204" pitchFamily="18" charset="0"/>
                            </a:rPr>
                          </m:ctrlPr>
                        </m:accPr>
                        <m:e>
                          <m:r>
                            <a:rPr lang="fr-FR" b="1" i="0" smtClean="0">
                              <a:latin typeface="Cambria Math"/>
                            </a:rPr>
                            <m:t>𝐪</m:t>
                          </m:r>
                        </m:e>
                      </m:acc>
                    </m:oMath>
                  </m:oMathPara>
                </a14:m>
                <a:endParaRPr lang="fr-FR" dirty="0"/>
              </a:p>
            </p:txBody>
          </p:sp>
        </mc:Choice>
        <mc:Fallback xmlns="">
          <p:sp>
            <p:nvSpPr>
              <p:cNvPr id="43" name="ZoneTexte 42"/>
              <p:cNvSpPr txBox="1">
                <a:spLocks noRot="1" noChangeAspect="1" noMove="1" noResize="1" noEditPoints="1" noAdjustHandles="1" noChangeArrowheads="1" noChangeShapeType="1" noTextEdit="1"/>
              </p:cNvSpPr>
              <p:nvPr/>
            </p:nvSpPr>
            <p:spPr>
              <a:xfrm>
                <a:off x="7031456" y="2930667"/>
                <a:ext cx="388247" cy="369332"/>
              </a:xfrm>
              <a:prstGeom prst="rect">
                <a:avLst/>
              </a:prstGeom>
              <a:blipFill rotWithShape="1">
                <a:blip r:embed="rId13"/>
                <a:stretch>
                  <a:fillRect b="-8333"/>
                </a:stretch>
              </a:blipFill>
            </p:spPr>
            <p:txBody>
              <a:bodyPr/>
              <a:lstStyle/>
              <a:p>
                <a:r>
                  <a:rPr lang="fr-FR">
                    <a:noFill/>
                  </a:rPr>
                  <a:t> </a:t>
                </a:r>
              </a:p>
            </p:txBody>
          </p:sp>
        </mc:Fallback>
      </mc:AlternateContent>
      <p:cxnSp>
        <p:nvCxnSpPr>
          <p:cNvPr id="44" name="Connecteur droit 43"/>
          <p:cNvCxnSpPr/>
          <p:nvPr/>
        </p:nvCxnSpPr>
        <p:spPr>
          <a:xfrm flipH="1">
            <a:off x="1264704" y="4654733"/>
            <a:ext cx="2805561"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2" name="Ellipse 51"/>
          <p:cNvSpPr/>
          <p:nvPr/>
        </p:nvSpPr>
        <p:spPr>
          <a:xfrm>
            <a:off x="2821851" y="3302413"/>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cxnSp>
        <p:nvCxnSpPr>
          <p:cNvPr id="64" name="Connecteur droit avec flèche 63"/>
          <p:cNvCxnSpPr/>
          <p:nvPr/>
        </p:nvCxnSpPr>
        <p:spPr>
          <a:xfrm flipV="1">
            <a:off x="6859067" y="3521372"/>
            <a:ext cx="478129"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5" name="Connecteur droit 64"/>
          <p:cNvCxnSpPr>
            <a:endCxn id="67" idx="3"/>
          </p:cNvCxnSpPr>
          <p:nvPr/>
        </p:nvCxnSpPr>
        <p:spPr>
          <a:xfrm flipH="1">
            <a:off x="5608634" y="2454458"/>
            <a:ext cx="1390940" cy="0"/>
          </a:xfrm>
          <a:prstGeom prst="line">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5" name="ZoneTexte 34"/>
          <p:cNvSpPr txBox="1"/>
          <p:nvPr/>
        </p:nvSpPr>
        <p:spPr>
          <a:xfrm>
            <a:off x="5963744" y="3249972"/>
            <a:ext cx="876273"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dirty="0"/>
              <a:t>Robot</a:t>
            </a:r>
          </a:p>
        </p:txBody>
      </p:sp>
      <p:cxnSp>
        <p:nvCxnSpPr>
          <p:cNvPr id="69" name="Connecteur droit 68"/>
          <p:cNvCxnSpPr/>
          <p:nvPr/>
        </p:nvCxnSpPr>
        <p:spPr>
          <a:xfrm>
            <a:off x="6999574" y="2454458"/>
            <a:ext cx="0" cy="88262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4" name="Connecteur droit 73"/>
          <p:cNvCxnSpPr>
            <a:stCxn id="67" idx="1"/>
          </p:cNvCxnSpPr>
          <p:nvPr/>
        </p:nvCxnSpPr>
        <p:spPr>
          <a:xfrm flipH="1">
            <a:off x="4251539" y="2454458"/>
            <a:ext cx="833583" cy="0"/>
          </a:xfrm>
          <a:prstGeom prst="line">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76" name="Connecteur droit 75"/>
          <p:cNvCxnSpPr/>
          <p:nvPr/>
        </p:nvCxnSpPr>
        <p:spPr>
          <a:xfrm flipH="1">
            <a:off x="2982620" y="2451466"/>
            <a:ext cx="745408" cy="2992"/>
          </a:xfrm>
          <a:prstGeom prst="line">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77" name="Connecteur droit 76"/>
          <p:cNvCxnSpPr>
            <a:endCxn id="52" idx="0"/>
          </p:cNvCxnSpPr>
          <p:nvPr/>
        </p:nvCxnSpPr>
        <p:spPr>
          <a:xfrm>
            <a:off x="2964726" y="2451466"/>
            <a:ext cx="0" cy="850947"/>
          </a:xfrm>
          <a:prstGeom prst="line">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3" name="ZoneTexte 82"/>
              <p:cNvSpPr txBox="1"/>
              <p:nvPr/>
            </p:nvSpPr>
            <p:spPr>
              <a:xfrm>
                <a:off x="4545854" y="2085126"/>
                <a:ext cx="38183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fr-FR" i="1" smtClean="0">
                              <a:latin typeface="Cambria Math" panose="02040503050406030204" pitchFamily="18" charset="0"/>
                            </a:rPr>
                          </m:ctrlPr>
                        </m:accPr>
                        <m:e>
                          <m:r>
                            <a:rPr lang="fr-FR" b="1" i="0" smtClean="0">
                              <a:latin typeface="Cambria Math"/>
                            </a:rPr>
                            <m:t>𝐱</m:t>
                          </m:r>
                        </m:e>
                      </m:acc>
                    </m:oMath>
                  </m:oMathPara>
                </a14:m>
                <a:endParaRPr lang="fr-FR" dirty="0"/>
              </a:p>
            </p:txBody>
          </p:sp>
        </mc:Choice>
        <mc:Fallback xmlns="">
          <p:sp>
            <p:nvSpPr>
              <p:cNvPr id="83" name="ZoneTexte 82"/>
              <p:cNvSpPr txBox="1">
                <a:spLocks noRot="1" noChangeAspect="1" noMove="1" noResize="1" noEditPoints="1" noAdjustHandles="1" noChangeArrowheads="1" noChangeShapeType="1" noTextEdit="1"/>
              </p:cNvSpPr>
              <p:nvPr/>
            </p:nvSpPr>
            <p:spPr>
              <a:xfrm>
                <a:off x="4545854" y="2085126"/>
                <a:ext cx="381835" cy="369332"/>
              </a:xfrm>
              <a:prstGeom prst="rect">
                <a:avLst/>
              </a:prstGeom>
              <a:blipFill rotWithShape="1">
                <a:blip r:embed="rId14"/>
                <a:stretch>
                  <a:fillRect/>
                </a:stretch>
              </a:blipFill>
            </p:spPr>
            <p:txBody>
              <a:bodyPr/>
              <a:lstStyle/>
              <a:p>
                <a:r>
                  <a:rPr lang="fr-FR">
                    <a:noFill/>
                  </a:rPr>
                  <a:t> </a:t>
                </a:r>
              </a:p>
            </p:txBody>
          </p:sp>
        </mc:Fallback>
      </mc:AlternateContent>
      <p:sp>
        <p:nvSpPr>
          <p:cNvPr id="86" name="ZoneTexte 85"/>
          <p:cNvSpPr txBox="1"/>
          <p:nvPr/>
        </p:nvSpPr>
        <p:spPr>
          <a:xfrm>
            <a:off x="3728029" y="4460542"/>
            <a:ext cx="817826"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dirty="0"/>
              <a:t>MGD</a:t>
            </a:r>
          </a:p>
        </p:txBody>
      </p:sp>
      <p:cxnSp>
        <p:nvCxnSpPr>
          <p:cNvPr id="88" name="Connecteur droit 87"/>
          <p:cNvCxnSpPr/>
          <p:nvPr/>
        </p:nvCxnSpPr>
        <p:spPr>
          <a:xfrm flipH="1">
            <a:off x="4545855" y="4649970"/>
            <a:ext cx="2489699" cy="0"/>
          </a:xfrm>
          <a:prstGeom prst="line">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0" name="Connecteur droit avec flèche 89"/>
          <p:cNvCxnSpPr/>
          <p:nvPr/>
        </p:nvCxnSpPr>
        <p:spPr>
          <a:xfrm flipH="1" flipV="1">
            <a:off x="7035553" y="3521373"/>
            <a:ext cx="1" cy="1128597"/>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sp>
        <p:nvSpPr>
          <p:cNvPr id="20" name="ZoneTexte 19"/>
          <p:cNvSpPr txBox="1"/>
          <p:nvPr/>
        </p:nvSpPr>
        <p:spPr>
          <a:xfrm>
            <a:off x="3728027" y="2269792"/>
            <a:ext cx="523512"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b="1" dirty="0"/>
              <a:t>B</a:t>
            </a:r>
          </a:p>
        </p:txBody>
      </p:sp>
      <mc:AlternateContent xmlns:mc="http://schemas.openxmlformats.org/markup-compatibility/2006" xmlns:a14="http://schemas.microsoft.com/office/drawing/2010/main">
        <mc:Choice Requires="a14">
          <p:sp>
            <p:nvSpPr>
              <p:cNvPr id="67" name="ZoneTexte 66"/>
              <p:cNvSpPr txBox="1"/>
              <p:nvPr/>
            </p:nvSpPr>
            <p:spPr>
              <a:xfrm>
                <a:off x="5085122" y="2269792"/>
                <a:ext cx="523512"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r>
                        <a:rPr lang="fr-FR" b="1" i="0" smtClean="0">
                          <a:latin typeface="Cambria Math"/>
                        </a:rPr>
                        <m:t>𝐉</m:t>
                      </m:r>
                    </m:oMath>
                  </m:oMathPara>
                </a14:m>
                <a:endParaRPr lang="fr-FR" b="1" dirty="0"/>
              </a:p>
            </p:txBody>
          </p:sp>
        </mc:Choice>
        <mc:Fallback xmlns="">
          <p:sp>
            <p:nvSpPr>
              <p:cNvPr id="67" name="ZoneTexte 66"/>
              <p:cNvSpPr txBox="1">
                <a:spLocks noRot="1" noChangeAspect="1" noMove="1" noResize="1" noEditPoints="1" noAdjustHandles="1" noChangeArrowheads="1" noChangeShapeType="1" noTextEdit="1"/>
              </p:cNvSpPr>
              <p:nvPr/>
            </p:nvSpPr>
            <p:spPr>
              <a:xfrm>
                <a:off x="5085122" y="2269792"/>
                <a:ext cx="523512" cy="369332"/>
              </a:xfrm>
              <a:prstGeom prst="rect">
                <a:avLst/>
              </a:prstGeom>
              <a:blipFill rotWithShape="1">
                <a:blip r:embed="rId15"/>
                <a:stretch>
                  <a:fillRect/>
                </a:stretch>
              </a:blipFill>
              <a:ln w="25400"/>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02" name="ZoneTexte 101"/>
              <p:cNvSpPr txBox="1"/>
              <p:nvPr/>
            </p:nvSpPr>
            <p:spPr>
              <a:xfrm>
                <a:off x="2662355" y="4313127"/>
                <a:ext cx="38183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b="1" i="0" smtClean="0">
                          <a:latin typeface="Cambria Math"/>
                        </a:rPr>
                        <m:t>𝐱</m:t>
                      </m:r>
                    </m:oMath>
                  </m:oMathPara>
                </a14:m>
                <a:endParaRPr lang="fr-FR" dirty="0"/>
              </a:p>
            </p:txBody>
          </p:sp>
        </mc:Choice>
        <mc:Fallback xmlns="">
          <p:sp>
            <p:nvSpPr>
              <p:cNvPr id="102" name="ZoneTexte 101"/>
              <p:cNvSpPr txBox="1">
                <a:spLocks noRot="1" noChangeAspect="1" noMove="1" noResize="1" noEditPoints="1" noAdjustHandles="1" noChangeArrowheads="1" noChangeShapeType="1" noTextEdit="1"/>
              </p:cNvSpPr>
              <p:nvPr/>
            </p:nvSpPr>
            <p:spPr>
              <a:xfrm>
                <a:off x="2662355" y="4313127"/>
                <a:ext cx="381836" cy="369332"/>
              </a:xfrm>
              <a:prstGeom prst="rect">
                <a:avLst/>
              </a:prstGeom>
              <a:blipFill rotWithShape="1">
                <a:blip r:embed="rId1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03" name="ZoneTexte 102"/>
              <p:cNvSpPr txBox="1"/>
              <p:nvPr/>
            </p:nvSpPr>
            <p:spPr>
              <a:xfrm>
                <a:off x="7114485" y="3428965"/>
                <a:ext cx="3882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b="1" i="0" smtClean="0">
                          <a:latin typeface="Cambria Math"/>
                        </a:rPr>
                        <m:t>𝐪</m:t>
                      </m:r>
                    </m:oMath>
                  </m:oMathPara>
                </a14:m>
                <a:endParaRPr lang="fr-FR" dirty="0"/>
              </a:p>
            </p:txBody>
          </p:sp>
        </mc:Choice>
        <mc:Fallback xmlns="">
          <p:sp>
            <p:nvSpPr>
              <p:cNvPr id="103" name="ZoneTexte 102"/>
              <p:cNvSpPr txBox="1">
                <a:spLocks noRot="1" noChangeAspect="1" noMove="1" noResize="1" noEditPoints="1" noAdjustHandles="1" noChangeArrowheads="1" noChangeShapeType="1" noTextEdit="1"/>
              </p:cNvSpPr>
              <p:nvPr/>
            </p:nvSpPr>
            <p:spPr>
              <a:xfrm>
                <a:off x="7114485" y="3428965"/>
                <a:ext cx="388247" cy="369332"/>
              </a:xfrm>
              <a:prstGeom prst="rect">
                <a:avLst/>
              </a:prstGeom>
              <a:blipFill rotWithShape="1">
                <a:blip r:embed="rId17"/>
                <a:stretch>
                  <a:fillRect b="-6557"/>
                </a:stretch>
              </a:blipFill>
            </p:spPr>
            <p:txBody>
              <a:bodyPr/>
              <a:lstStyle/>
              <a:p>
                <a:r>
                  <a:rPr lang="fr-FR">
                    <a:noFill/>
                  </a:rPr>
                  <a:t> </a:t>
                </a:r>
              </a:p>
            </p:txBody>
          </p:sp>
        </mc:Fallback>
      </mc:AlternateContent>
    </p:spTree>
    <p:extLst>
      <p:ext uri="{BB962C8B-B14F-4D97-AF65-F5344CB8AC3E}">
        <p14:creationId xmlns:p14="http://schemas.microsoft.com/office/powerpoint/2010/main" val="19622135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r>
                  <a:rPr lang="fr-FR" b="1" u="sng" dirty="0"/>
                  <a:t>Exemple :</a:t>
                </a:r>
                <a:r>
                  <a:rPr lang="fr-FR" dirty="0"/>
                  <a:t> robot plan à 2 </a:t>
                </a:r>
                <a:r>
                  <a:rPr lang="fr-FR" dirty="0" err="1"/>
                  <a:t>ddl</a:t>
                </a:r>
                <a:endParaRPr lang="fr-FR" dirty="0"/>
              </a:p>
              <a:p>
                <a:pPr marL="0" indent="0">
                  <a:buNone/>
                </a:pPr>
                <a:endParaRPr lang="fr-FR" b="1" i="0" dirty="0">
                  <a:latin typeface="Cambria Math"/>
                  <a:ea typeface="Cambria Math"/>
                </a:endParaRPr>
              </a:p>
              <a:p>
                <a:pPr marL="0" indent="0">
                  <a:buNone/>
                </a:pPr>
                <a:endParaRPr lang="fr-FR" b="1" dirty="0">
                  <a:latin typeface="Cambria Math"/>
                  <a:ea typeface="Cambria Math"/>
                </a:endParaRPr>
              </a:p>
              <a:p>
                <a:pPr marL="0" indent="0">
                  <a:buNone/>
                </a:pPr>
                <a:endParaRPr lang="fr-FR" b="1" i="0" dirty="0">
                  <a:latin typeface="Cambria Math"/>
                  <a:ea typeface="Cambria Math"/>
                </a:endParaRPr>
              </a:p>
              <a:p>
                <a:pPr marL="0" indent="0">
                  <a:buNone/>
                </a:pPr>
                <a:endParaRPr lang="fr-FR" b="1" i="0" dirty="0">
                  <a:latin typeface="Cambria Math"/>
                  <a:ea typeface="Cambria Math"/>
                </a:endParaRPr>
              </a:p>
              <a:p>
                <a:pPr marL="0" indent="0">
                  <a:buNone/>
                </a:pPr>
                <a:r>
                  <a:rPr lang="fr-FR" b="1" dirty="0"/>
                  <a:t>Robot :</a:t>
                </a:r>
              </a:p>
              <a:p>
                <a:pPr marL="0" indent="0">
                  <a:buNone/>
                </a:pPr>
                <a:r>
                  <a:rPr lang="fr-FR" dirty="0"/>
                  <a:t>Position initiale : </a:t>
                </a:r>
                <a14:m>
                  <m:oMath xmlns:m="http://schemas.openxmlformats.org/officeDocument/2006/math">
                    <m:r>
                      <a:rPr lang="fr-FR" b="1" i="0" smtClean="0">
                        <a:latin typeface="Cambria Math"/>
                        <a:ea typeface="Cambria Math"/>
                      </a:rPr>
                      <m:t>𝐱</m:t>
                    </m:r>
                    <m:r>
                      <a:rPr lang="fr-FR" b="1" i="0" smtClean="0">
                        <a:latin typeface="Cambria Math"/>
                        <a:ea typeface="Cambria Math"/>
                      </a:rPr>
                      <m:t>=</m:t>
                    </m:r>
                    <m:sSup>
                      <m:sSupPr>
                        <m:ctrlPr>
                          <a:rPr lang="fr-FR" i="1">
                            <a:latin typeface="Cambria Math" panose="02040503050406030204" pitchFamily="18" charset="0"/>
                            <a:ea typeface="Cambria Math"/>
                          </a:rPr>
                        </m:ctrlPr>
                      </m:sSupPr>
                      <m:e>
                        <m:d>
                          <m:dPr>
                            <m:begChr m:val="["/>
                            <m:endChr m:val="]"/>
                            <m:ctrlPr>
                              <a:rPr lang="fr-FR" i="1">
                                <a:latin typeface="Cambria Math" panose="02040503050406030204" pitchFamily="18" charset="0"/>
                                <a:ea typeface="Cambria Math"/>
                              </a:rPr>
                            </m:ctrlPr>
                          </m:dPr>
                          <m:e>
                            <m:m>
                              <m:mPr>
                                <m:mcs>
                                  <m:mc>
                                    <m:mcPr>
                                      <m:count m:val="2"/>
                                      <m:mcJc m:val="center"/>
                                    </m:mcPr>
                                  </m:mc>
                                </m:mcs>
                                <m:ctrlPr>
                                  <a:rPr lang="fr-FR" i="1">
                                    <a:latin typeface="Cambria Math" panose="02040503050406030204" pitchFamily="18" charset="0"/>
                                    <a:ea typeface="Cambria Math"/>
                                  </a:rPr>
                                </m:ctrlPr>
                              </m:mPr>
                              <m:mr>
                                <m:e>
                                  <m:r>
                                    <m:rPr>
                                      <m:brk m:alnAt="7"/>
                                    </m:rPr>
                                    <a:rPr lang="fr-FR" i="1">
                                      <a:latin typeface="Cambria Math"/>
                                      <a:ea typeface="Cambria Math"/>
                                    </a:rPr>
                                    <m:t>1</m:t>
                                  </m:r>
                                </m:e>
                                <m:e>
                                  <m:r>
                                    <a:rPr lang="fr-FR" i="1">
                                      <a:latin typeface="Cambria Math"/>
                                      <a:ea typeface="Cambria Math"/>
                                    </a:rPr>
                                    <m:t>0</m:t>
                                  </m:r>
                                </m:e>
                              </m:mr>
                            </m:m>
                          </m:e>
                        </m:d>
                      </m:e>
                      <m:sup>
                        <m:r>
                          <a:rPr lang="fr-FR" i="1">
                            <a:latin typeface="Cambria Math"/>
                            <a:ea typeface="Cambria Math"/>
                          </a:rPr>
                          <m:t>𝑇</m:t>
                        </m:r>
                      </m:sup>
                    </m:sSup>
                  </m:oMath>
                </a14:m>
                <a:r>
                  <a:rPr lang="fr-FR" dirty="0">
                    <a:latin typeface="Cambria Math"/>
                    <a:ea typeface="Cambria Math"/>
                  </a:rPr>
                  <a:t> </a:t>
                </a:r>
                <a:endParaRPr lang="fr-FR" b="1" i="0" dirty="0">
                  <a:latin typeface="Cambria Math"/>
                  <a:ea typeface="Cambria Math"/>
                </a:endParaRPr>
              </a:p>
              <a:p>
                <a:pPr marL="0" indent="0">
                  <a:buNone/>
                </a:pPr>
                <a:r>
                  <a:rPr lang="fr-FR" dirty="0"/>
                  <a:t>Position désirée : </a:t>
                </a:r>
                <a14:m>
                  <m:oMath xmlns:m="http://schemas.openxmlformats.org/officeDocument/2006/math">
                    <m:sSup>
                      <m:sSupPr>
                        <m:ctrlPr>
                          <a:rPr lang="fr-FR" i="1" smtClean="0">
                            <a:latin typeface="Cambria Math" panose="02040503050406030204" pitchFamily="18" charset="0"/>
                            <a:ea typeface="Cambria Math"/>
                          </a:rPr>
                        </m:ctrlPr>
                      </m:sSupPr>
                      <m:e>
                        <m:r>
                          <a:rPr lang="fr-FR" b="1" i="0" smtClean="0">
                            <a:latin typeface="Cambria Math"/>
                            <a:ea typeface="Cambria Math"/>
                          </a:rPr>
                          <m:t>𝐱</m:t>
                        </m:r>
                      </m:e>
                      <m:sup>
                        <m:r>
                          <a:rPr lang="fr-FR" b="0" i="1" smtClean="0">
                            <a:latin typeface="Cambria Math"/>
                            <a:ea typeface="Cambria Math"/>
                          </a:rPr>
                          <m:t>𝑑</m:t>
                        </m:r>
                      </m:sup>
                    </m:sSup>
                    <m:r>
                      <a:rPr lang="fr-FR" b="0" i="1" smtClean="0">
                        <a:latin typeface="Cambria Math"/>
                        <a:ea typeface="Cambria Math"/>
                      </a:rPr>
                      <m:t>=</m:t>
                    </m:r>
                    <m:sSup>
                      <m:sSupPr>
                        <m:ctrlPr>
                          <a:rPr lang="fr-FR" b="0" i="1" smtClean="0">
                            <a:latin typeface="Cambria Math" panose="02040503050406030204" pitchFamily="18" charset="0"/>
                            <a:ea typeface="Cambria Math"/>
                          </a:rPr>
                        </m:ctrlPr>
                      </m:sSupPr>
                      <m:e>
                        <m:d>
                          <m:dPr>
                            <m:begChr m:val="["/>
                            <m:endChr m:val="]"/>
                            <m:ctrlPr>
                              <a:rPr lang="fr-FR" b="0" i="1" smtClean="0">
                                <a:latin typeface="Cambria Math" panose="02040503050406030204" pitchFamily="18" charset="0"/>
                                <a:ea typeface="Cambria Math"/>
                              </a:rPr>
                            </m:ctrlPr>
                          </m:dPr>
                          <m:e>
                            <m:m>
                              <m:mPr>
                                <m:mcs>
                                  <m:mc>
                                    <m:mcPr>
                                      <m:count m:val="2"/>
                                      <m:mcJc m:val="center"/>
                                    </m:mcPr>
                                  </m:mc>
                                </m:mcs>
                                <m:ctrlPr>
                                  <a:rPr lang="fr-FR" b="0" i="1" smtClean="0">
                                    <a:latin typeface="Cambria Math" panose="02040503050406030204" pitchFamily="18" charset="0"/>
                                    <a:ea typeface="Cambria Math"/>
                                  </a:rPr>
                                </m:ctrlPr>
                              </m:mPr>
                              <m:mr>
                                <m:e>
                                  <m:r>
                                    <m:rPr>
                                      <m:brk m:alnAt="7"/>
                                    </m:rPr>
                                    <a:rPr lang="fr-FR" b="0" i="1" smtClean="0">
                                      <a:latin typeface="Cambria Math"/>
                                      <a:ea typeface="Cambria Math"/>
                                    </a:rPr>
                                    <m:t>1</m:t>
                                  </m:r>
                                  <m:r>
                                    <a:rPr lang="fr-FR" b="0" i="1" smtClean="0">
                                      <a:latin typeface="Cambria Math"/>
                                      <a:ea typeface="Cambria Math"/>
                                    </a:rPr>
                                    <m:t>,1</m:t>
                                  </m:r>
                                </m:e>
                                <m:e>
                                  <m:r>
                                    <a:rPr lang="fr-FR" b="0" i="1" smtClean="0">
                                      <a:latin typeface="Cambria Math"/>
                                      <a:ea typeface="Cambria Math"/>
                                    </a:rPr>
                                    <m:t>0,1</m:t>
                                  </m:r>
                                </m:e>
                              </m:mr>
                            </m:m>
                          </m:e>
                        </m:d>
                      </m:e>
                      <m:sup>
                        <m:r>
                          <a:rPr lang="fr-FR" b="0" i="1" smtClean="0">
                            <a:latin typeface="Cambria Math"/>
                            <a:ea typeface="Cambria Math"/>
                          </a:rPr>
                          <m:t>𝑇</m:t>
                        </m:r>
                      </m:sup>
                    </m:sSup>
                  </m:oMath>
                </a14:m>
                <a:r>
                  <a:rPr lang="fr-FR" dirty="0">
                    <a:latin typeface="Cambria Math"/>
                    <a:ea typeface="Cambria Math"/>
                  </a:rPr>
                  <a:t> </a:t>
                </a:r>
              </a:p>
              <a:p>
                <a:pPr marL="0" indent="0">
                  <a:buNone/>
                </a:pPr>
                <a:endParaRPr lang="fr-FR" b="1" i="0" dirty="0">
                  <a:latin typeface="Cambria Math"/>
                  <a:ea typeface="Cambria Math"/>
                </a:endParaRPr>
              </a:p>
              <a:p>
                <a:pPr marL="0" indent="0">
                  <a:buNone/>
                </a:pPr>
                <a:r>
                  <a:rPr lang="fr-FR" b="1" dirty="0"/>
                  <a:t>Environnement élastique :</a:t>
                </a:r>
                <a:r>
                  <a:rPr lang="fr-FR" dirty="0"/>
                  <a:t>	</a:t>
                </a:r>
              </a:p>
              <a:p>
                <a:pPr marL="0" indent="0">
                  <a:buNone/>
                </a:pPr>
                <a:r>
                  <a:rPr lang="fr-FR" dirty="0"/>
                  <a:t>Position :</a:t>
                </a:r>
                <a:r>
                  <a:rPr lang="fr-FR" dirty="0">
                    <a:latin typeface="Cambria Math"/>
                    <a:ea typeface="Cambria Math"/>
                  </a:rPr>
                  <a:t> </a:t>
                </a:r>
                <a14:m>
                  <m:oMath xmlns:m="http://schemas.openxmlformats.org/officeDocument/2006/math">
                    <m:sSub>
                      <m:sSubPr>
                        <m:ctrlPr>
                          <a:rPr lang="fr-FR" i="1" smtClean="0">
                            <a:latin typeface="Cambria Math" panose="02040503050406030204" pitchFamily="18" charset="0"/>
                            <a:ea typeface="Cambria Math"/>
                          </a:rPr>
                        </m:ctrlPr>
                      </m:sSubPr>
                      <m:e>
                        <m:r>
                          <a:rPr lang="fr-FR" b="0" i="1" smtClean="0">
                            <a:latin typeface="Cambria Math"/>
                            <a:ea typeface="Cambria Math"/>
                          </a:rPr>
                          <m:t>𝑥</m:t>
                        </m:r>
                      </m:e>
                      <m:sub>
                        <m:r>
                          <a:rPr lang="fr-FR" b="0" i="1" smtClean="0">
                            <a:latin typeface="Cambria Math"/>
                            <a:ea typeface="Cambria Math"/>
                          </a:rPr>
                          <m:t>𝑒</m:t>
                        </m:r>
                      </m:sub>
                    </m:sSub>
                    <m:r>
                      <a:rPr lang="fr-FR" b="0" i="1" smtClean="0">
                        <a:latin typeface="Cambria Math"/>
                        <a:ea typeface="Cambria Math"/>
                      </a:rPr>
                      <m:t>=</m:t>
                    </m:r>
                    <m:r>
                      <a:rPr lang="fr-FR" b="0" i="0" smtClean="0">
                        <a:latin typeface="Cambria Math"/>
                        <a:ea typeface="Cambria Math"/>
                      </a:rPr>
                      <m:t>1 </m:t>
                    </m:r>
                    <m:r>
                      <m:rPr>
                        <m:sty m:val="p"/>
                      </m:rPr>
                      <a:rPr lang="fr-FR" b="0" i="0" smtClean="0">
                        <a:latin typeface="Cambria Math"/>
                        <a:ea typeface="Cambria Math"/>
                      </a:rPr>
                      <m:t>m</m:t>
                    </m:r>
                  </m:oMath>
                </a14:m>
                <a:endParaRPr lang="fr-FR" b="0" dirty="0">
                  <a:latin typeface="Cambria Math"/>
                  <a:ea typeface="Cambria Math"/>
                </a:endParaRPr>
              </a:p>
              <a:p>
                <a:pPr marL="0" indent="0">
                  <a:buNone/>
                </a:pPr>
                <a:r>
                  <a:rPr lang="fr-FR" dirty="0"/>
                  <a:t>Raideur :</a:t>
                </a:r>
                <a:r>
                  <a:rPr lang="fr-FR" dirty="0">
                    <a:ea typeface="Cambria Math"/>
                  </a:rPr>
                  <a:t> </a:t>
                </a:r>
                <a14:m>
                  <m:oMath xmlns:m="http://schemas.openxmlformats.org/officeDocument/2006/math">
                    <m:sSub>
                      <m:sSubPr>
                        <m:ctrlPr>
                          <a:rPr lang="fr-FR" i="1">
                            <a:latin typeface="Cambria Math" panose="02040503050406030204" pitchFamily="18" charset="0"/>
                            <a:ea typeface="Cambria Math"/>
                          </a:rPr>
                        </m:ctrlPr>
                      </m:sSubPr>
                      <m:e>
                        <m:r>
                          <a:rPr lang="fr-FR" b="1" i="1">
                            <a:latin typeface="Cambria Math"/>
                          </a:rPr>
                          <m:t>𝐤</m:t>
                        </m:r>
                      </m:e>
                      <m:sub>
                        <m:r>
                          <a:rPr lang="fr-FR" i="1">
                            <a:latin typeface="Cambria Math"/>
                            <a:ea typeface="Cambria Math"/>
                          </a:rPr>
                          <m:t>𝑒</m:t>
                        </m:r>
                      </m:sub>
                    </m:sSub>
                    <m:r>
                      <a:rPr lang="fr-FR" i="1">
                        <a:latin typeface="Cambria Math"/>
                        <a:ea typeface="Cambria Math"/>
                      </a:rPr>
                      <m:t>=</m:t>
                    </m:r>
                    <m:r>
                      <a:rPr lang="fr-FR" b="0" i="1">
                        <a:latin typeface="Cambria Math"/>
                        <a:ea typeface="Cambria Math"/>
                      </a:rPr>
                      <m:t>𝑑𝑖𝑎𝑔</m:t>
                    </m:r>
                    <m:r>
                      <a:rPr lang="fr-FR" i="1">
                        <a:latin typeface="Cambria Math"/>
                        <a:ea typeface="Cambria Math"/>
                      </a:rPr>
                      <m:t>(</m:t>
                    </m:r>
                    <m:sSub>
                      <m:sSubPr>
                        <m:ctrlPr>
                          <a:rPr lang="fr-FR" i="1">
                            <a:latin typeface="Cambria Math" panose="02040503050406030204" pitchFamily="18" charset="0"/>
                            <a:ea typeface="Cambria Math"/>
                          </a:rPr>
                        </m:ctrlPr>
                      </m:sSubPr>
                      <m:e>
                        <m:r>
                          <a:rPr lang="fr-FR" i="1">
                            <a:latin typeface="Cambria Math"/>
                            <a:ea typeface="Cambria Math"/>
                          </a:rPr>
                          <m:t>𝑘</m:t>
                        </m:r>
                      </m:e>
                      <m:sub>
                        <m:r>
                          <a:rPr lang="fr-FR" i="1">
                            <a:latin typeface="Cambria Math"/>
                            <a:ea typeface="Cambria Math"/>
                          </a:rPr>
                          <m:t>𝑒𝑥</m:t>
                        </m:r>
                      </m:sub>
                    </m:sSub>
                    <m:r>
                      <a:rPr lang="fr-FR" i="1">
                        <a:latin typeface="Cambria Math"/>
                        <a:ea typeface="Cambria Math"/>
                      </a:rPr>
                      <m:t>,</m:t>
                    </m:r>
                    <m:sSub>
                      <m:sSubPr>
                        <m:ctrlPr>
                          <a:rPr lang="fr-FR" i="1">
                            <a:latin typeface="Cambria Math" panose="02040503050406030204" pitchFamily="18" charset="0"/>
                            <a:ea typeface="Cambria Math"/>
                          </a:rPr>
                        </m:ctrlPr>
                      </m:sSubPr>
                      <m:e>
                        <m:r>
                          <a:rPr lang="fr-FR" i="1">
                            <a:latin typeface="Cambria Math"/>
                            <a:ea typeface="Cambria Math"/>
                          </a:rPr>
                          <m:t>𝑘</m:t>
                        </m:r>
                      </m:e>
                      <m:sub>
                        <m:r>
                          <a:rPr lang="fr-FR" i="1">
                            <a:latin typeface="Cambria Math"/>
                            <a:ea typeface="Cambria Math"/>
                          </a:rPr>
                          <m:t>𝑒𝑦</m:t>
                        </m:r>
                      </m:sub>
                    </m:sSub>
                    <m:r>
                      <a:rPr lang="fr-FR" i="1">
                        <a:latin typeface="Cambria Math"/>
                        <a:ea typeface="Cambria Math"/>
                      </a:rPr>
                      <m:t>)</m:t>
                    </m:r>
                  </m:oMath>
                </a14:m>
                <a:r>
                  <a:rPr lang="fr-FR" dirty="0">
                    <a:latin typeface="Cambria Math"/>
                    <a:ea typeface="Cambria Math"/>
                  </a:rPr>
                  <a:t> avec </a:t>
                </a:r>
                <a14:m>
                  <m:oMath xmlns:m="http://schemas.openxmlformats.org/officeDocument/2006/math">
                    <m:sSub>
                      <m:sSubPr>
                        <m:ctrlPr>
                          <a:rPr lang="fr-FR" i="1">
                            <a:latin typeface="Cambria Math" panose="02040503050406030204" pitchFamily="18" charset="0"/>
                            <a:ea typeface="Cambria Math"/>
                          </a:rPr>
                        </m:ctrlPr>
                      </m:sSubPr>
                      <m:e>
                        <m:r>
                          <a:rPr lang="fr-FR" i="1">
                            <a:latin typeface="Cambria Math"/>
                            <a:ea typeface="Cambria Math"/>
                          </a:rPr>
                          <m:t>𝑘</m:t>
                        </m:r>
                      </m:e>
                      <m:sub>
                        <m:r>
                          <a:rPr lang="fr-FR" i="1">
                            <a:latin typeface="Cambria Math"/>
                            <a:ea typeface="Cambria Math"/>
                          </a:rPr>
                          <m:t>𝑒𝑦</m:t>
                        </m:r>
                      </m:sub>
                    </m:sSub>
                    <m:r>
                      <a:rPr lang="fr-FR" i="1">
                        <a:latin typeface="Cambria Math"/>
                        <a:ea typeface="Cambria Math"/>
                      </a:rPr>
                      <m:t>=0</m:t>
                    </m:r>
                  </m:oMath>
                </a14:m>
                <a:endParaRPr lang="fr-FR" b="0" dirty="0">
                  <a:latin typeface="Cambria Math"/>
                  <a:ea typeface="Cambria Math"/>
                </a:endParaRPr>
              </a:p>
              <a:p>
                <a:pPr marL="0" indent="0">
                  <a:buNone/>
                </a:pPr>
                <a:endParaRPr lang="fr-FR" b="0" i="1" dirty="0">
                  <a:latin typeface="Cambria Math"/>
                  <a:ea typeface="Cambria Math"/>
                </a:endParaRPr>
              </a:p>
              <a:p>
                <a:pPr marL="0" indent="0">
                  <a:buNone/>
                </a:pPr>
                <a:endParaRPr lang="fr-FR" dirty="0">
                  <a:latin typeface="Cambria Math"/>
                  <a:ea typeface="Cambria Math"/>
                </a:endParaRPr>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3"/>
                <a:stretch>
                  <a:fillRect l="-584" t="-552"/>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en compliance</a:t>
            </a:r>
          </a:p>
        </p:txBody>
      </p:sp>
      <p:grpSp>
        <p:nvGrpSpPr>
          <p:cNvPr id="4" name="Groupe 3"/>
          <p:cNvGrpSpPr/>
          <p:nvPr/>
        </p:nvGrpSpPr>
        <p:grpSpPr>
          <a:xfrm>
            <a:off x="4843739" y="1262661"/>
            <a:ext cx="3633606" cy="2658895"/>
            <a:chOff x="1657350" y="2908580"/>
            <a:chExt cx="3633606" cy="2658895"/>
          </a:xfrm>
        </p:grpSpPr>
        <p:pic>
          <p:nvPicPr>
            <p:cNvPr id="5" name="Picture 3"/>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657350" y="2908580"/>
              <a:ext cx="3633606" cy="2630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ZoneTexte 5"/>
            <p:cNvSpPr txBox="1"/>
            <p:nvPr/>
          </p:nvSpPr>
          <p:spPr>
            <a:xfrm>
              <a:off x="3488112" y="3234018"/>
              <a:ext cx="1270388" cy="276999"/>
            </a:xfrm>
            <a:prstGeom prst="rect">
              <a:avLst/>
            </a:prstGeom>
            <a:noFill/>
          </p:spPr>
          <p:txBody>
            <a:bodyPr wrap="square" rtlCol="0">
              <a:spAutoFit/>
            </a:bodyPr>
            <a:lstStyle/>
            <a:p>
              <a:r>
                <a:rPr lang="fr-FR" sz="1200" dirty="0">
                  <a:solidFill>
                    <a:srgbClr val="7030A0"/>
                  </a:solidFill>
                </a:rPr>
                <a:t>Environnement</a:t>
              </a:r>
            </a:p>
          </p:txBody>
        </p:sp>
        <p:cxnSp>
          <p:nvCxnSpPr>
            <p:cNvPr id="7" name="Connecteur droit avec flèche 6"/>
            <p:cNvCxnSpPr/>
            <p:nvPr/>
          </p:nvCxnSpPr>
          <p:spPr>
            <a:xfrm>
              <a:off x="1872971" y="5297936"/>
              <a:ext cx="3202363"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Connecteur droit avec flèche 7"/>
            <p:cNvCxnSpPr/>
            <p:nvPr/>
          </p:nvCxnSpPr>
          <p:spPr>
            <a:xfrm flipV="1">
              <a:off x="1872971" y="3085227"/>
              <a:ext cx="0" cy="2212709"/>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a:off x="1886931" y="5290956"/>
              <a:ext cx="3202363"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ZoneTexte 9"/>
            <p:cNvSpPr txBox="1"/>
            <p:nvPr/>
          </p:nvSpPr>
          <p:spPr>
            <a:xfrm>
              <a:off x="2069978" y="4053081"/>
              <a:ext cx="624361" cy="276999"/>
            </a:xfrm>
            <a:prstGeom prst="rect">
              <a:avLst/>
            </a:prstGeom>
            <a:noFill/>
          </p:spPr>
          <p:txBody>
            <a:bodyPr wrap="square" rtlCol="0">
              <a:spAutoFit/>
            </a:bodyPr>
            <a:lstStyle/>
            <a:p>
              <a:r>
                <a:rPr lang="fr-FR" sz="1200" dirty="0">
                  <a:solidFill>
                    <a:srgbClr val="7030A0"/>
                  </a:solidFill>
                </a:rPr>
                <a:t>Robot</a:t>
              </a:r>
            </a:p>
          </p:txBody>
        </p:sp>
        <mc:AlternateContent xmlns:mc="http://schemas.openxmlformats.org/markup-compatibility/2006" xmlns:a14="http://schemas.microsoft.com/office/drawing/2010/main">
          <mc:Choice Requires="a14">
            <p:sp>
              <p:nvSpPr>
                <p:cNvPr id="11" name="ZoneTexte 10"/>
                <p:cNvSpPr txBox="1"/>
                <p:nvPr/>
              </p:nvSpPr>
              <p:spPr>
                <a:xfrm>
                  <a:off x="1886931" y="2957019"/>
                  <a:ext cx="295531"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200" b="0" i="1" smtClean="0">
                            <a:solidFill>
                              <a:schemeClr val="tx1"/>
                            </a:solidFill>
                            <a:latin typeface="Cambria Math"/>
                          </a:rPr>
                          <m:t>𝑦</m:t>
                        </m:r>
                      </m:oMath>
                    </m:oMathPara>
                  </a14:m>
                  <a:endParaRPr lang="fr-FR" sz="1200" dirty="0">
                    <a:solidFill>
                      <a:schemeClr val="tx1"/>
                    </a:solidFill>
                  </a:endParaRPr>
                </a:p>
              </p:txBody>
            </p:sp>
          </mc:Choice>
          <mc:Fallback xmlns="">
            <p:sp>
              <p:nvSpPr>
                <p:cNvPr id="11" name="ZoneTexte 10"/>
                <p:cNvSpPr txBox="1">
                  <a:spLocks noRot="1" noChangeAspect="1" noMove="1" noResize="1" noEditPoints="1" noAdjustHandles="1" noChangeArrowheads="1" noChangeShapeType="1" noTextEdit="1"/>
                </p:cNvSpPr>
                <p:nvPr/>
              </p:nvSpPr>
              <p:spPr>
                <a:xfrm>
                  <a:off x="1886931" y="2957019"/>
                  <a:ext cx="295531" cy="276999"/>
                </a:xfrm>
                <a:prstGeom prst="rect">
                  <a:avLst/>
                </a:prstGeom>
                <a:blipFill rotWithShape="1">
                  <a:blip r:embed="rId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2" name="ZoneTexte 11"/>
                <p:cNvSpPr txBox="1"/>
                <p:nvPr/>
              </p:nvSpPr>
              <p:spPr>
                <a:xfrm>
                  <a:off x="4927568" y="5024247"/>
                  <a:ext cx="295531"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200" b="0" i="1" smtClean="0">
                            <a:solidFill>
                              <a:schemeClr val="tx1"/>
                            </a:solidFill>
                            <a:latin typeface="Cambria Math"/>
                          </a:rPr>
                          <m:t>𝑥</m:t>
                        </m:r>
                      </m:oMath>
                    </m:oMathPara>
                  </a14:m>
                  <a:endParaRPr lang="fr-FR" sz="1200" dirty="0">
                    <a:solidFill>
                      <a:schemeClr val="tx1"/>
                    </a:solidFill>
                  </a:endParaRPr>
                </a:p>
              </p:txBody>
            </p:sp>
          </mc:Choice>
          <mc:Fallback xmlns="">
            <p:sp>
              <p:nvSpPr>
                <p:cNvPr id="12" name="ZoneTexte 11"/>
                <p:cNvSpPr txBox="1">
                  <a:spLocks noRot="1" noChangeAspect="1" noMove="1" noResize="1" noEditPoints="1" noAdjustHandles="1" noChangeArrowheads="1" noChangeShapeType="1" noTextEdit="1"/>
                </p:cNvSpPr>
                <p:nvPr/>
              </p:nvSpPr>
              <p:spPr>
                <a:xfrm>
                  <a:off x="4927568" y="5024247"/>
                  <a:ext cx="295531" cy="276999"/>
                </a:xfrm>
                <a:prstGeom prst="rect">
                  <a:avLst/>
                </a:prstGeom>
                <a:blipFill rotWithShape="1">
                  <a:blip r:embed="rId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3" name="ZoneTexte 12"/>
                <p:cNvSpPr txBox="1"/>
                <p:nvPr/>
              </p:nvSpPr>
              <p:spPr>
                <a:xfrm>
                  <a:off x="4020568" y="4583778"/>
                  <a:ext cx="317597" cy="2803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200" i="1" dirty="0" smtClean="0">
                                <a:latin typeface="Cambria Math" panose="02040503050406030204" pitchFamily="18" charset="0"/>
                              </a:rPr>
                            </m:ctrlPr>
                          </m:sSupPr>
                          <m:e>
                            <m:r>
                              <a:rPr lang="fr-FR" sz="1200" b="1" i="0" dirty="0" smtClean="0">
                                <a:latin typeface="Cambria Math"/>
                              </a:rPr>
                              <m:t>𝐱</m:t>
                            </m:r>
                          </m:e>
                          <m:sup>
                            <m:r>
                              <a:rPr lang="fr-FR" sz="1200" b="0" i="1" dirty="0" smtClean="0">
                                <a:latin typeface="Cambria Math"/>
                              </a:rPr>
                              <m:t>𝑑</m:t>
                            </m:r>
                          </m:sup>
                        </m:sSup>
                      </m:oMath>
                    </m:oMathPara>
                  </a14:m>
                  <a:endParaRPr lang="fr-FR" sz="1200" dirty="0"/>
                </a:p>
              </p:txBody>
            </p:sp>
          </mc:Choice>
          <mc:Fallback xmlns="">
            <p:sp>
              <p:nvSpPr>
                <p:cNvPr id="13" name="ZoneTexte 12"/>
                <p:cNvSpPr txBox="1">
                  <a:spLocks noRot="1" noChangeAspect="1" noMove="1" noResize="1" noEditPoints="1" noAdjustHandles="1" noChangeArrowheads="1" noChangeShapeType="1" noTextEdit="1"/>
                </p:cNvSpPr>
                <p:nvPr/>
              </p:nvSpPr>
              <p:spPr>
                <a:xfrm>
                  <a:off x="4020568" y="4583778"/>
                  <a:ext cx="317597" cy="280333"/>
                </a:xfrm>
                <a:prstGeom prst="rect">
                  <a:avLst/>
                </a:prstGeom>
                <a:blipFill rotWithShape="1">
                  <a:blip r:embed="rId7"/>
                  <a:stretch>
                    <a:fillRect/>
                  </a:stretch>
                </a:blipFill>
              </p:spPr>
              <p:txBody>
                <a:bodyPr/>
                <a:lstStyle/>
                <a:p>
                  <a:r>
                    <a:rPr lang="fr-FR">
                      <a:noFill/>
                    </a:rPr>
                    <a:t> </a:t>
                  </a:r>
                </a:p>
              </p:txBody>
            </p:sp>
          </mc:Fallback>
        </mc:AlternateContent>
        <p:cxnSp>
          <p:nvCxnSpPr>
            <p:cNvPr id="14" name="Connecteur droit avec flèche 13"/>
            <p:cNvCxnSpPr/>
            <p:nvPr/>
          </p:nvCxnSpPr>
          <p:spPr>
            <a:xfrm flipH="1">
              <a:off x="3706462" y="4860777"/>
              <a:ext cx="342027" cy="25128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ZoneTexte 14"/>
                <p:cNvSpPr txBox="1"/>
                <p:nvPr/>
              </p:nvSpPr>
              <p:spPr>
                <a:xfrm>
                  <a:off x="3319405" y="5290476"/>
                  <a:ext cx="295531"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200" b="0" i="1" smtClean="0">
                            <a:solidFill>
                              <a:schemeClr val="tx1"/>
                            </a:solidFill>
                            <a:latin typeface="Cambria Math"/>
                          </a:rPr>
                          <m:t>1 </m:t>
                        </m:r>
                        <m:r>
                          <a:rPr lang="fr-FR" sz="1200" b="0" i="1" smtClean="0">
                            <a:solidFill>
                              <a:schemeClr val="tx1"/>
                            </a:solidFill>
                            <a:latin typeface="Cambria Math"/>
                          </a:rPr>
                          <m:t>𝑚</m:t>
                        </m:r>
                      </m:oMath>
                    </m:oMathPara>
                  </a14:m>
                  <a:endParaRPr lang="fr-FR" sz="1200" dirty="0">
                    <a:solidFill>
                      <a:schemeClr val="tx1"/>
                    </a:solidFill>
                  </a:endParaRPr>
                </a:p>
              </p:txBody>
            </p:sp>
          </mc:Choice>
          <mc:Fallback xmlns="">
            <p:sp>
              <p:nvSpPr>
                <p:cNvPr id="15" name="ZoneTexte 14"/>
                <p:cNvSpPr txBox="1">
                  <a:spLocks noRot="1" noChangeAspect="1" noMove="1" noResize="1" noEditPoints="1" noAdjustHandles="1" noChangeArrowheads="1" noChangeShapeType="1" noTextEdit="1"/>
                </p:cNvSpPr>
                <p:nvPr/>
              </p:nvSpPr>
              <p:spPr>
                <a:xfrm>
                  <a:off x="3319405" y="5290476"/>
                  <a:ext cx="295531" cy="276999"/>
                </a:xfrm>
                <a:prstGeom prst="rect">
                  <a:avLst/>
                </a:prstGeom>
                <a:blipFill rotWithShape="1">
                  <a:blip r:embed="rId8"/>
                  <a:stretch>
                    <a:fillRect r="-28571"/>
                  </a:stretch>
                </a:blipFill>
              </p:spPr>
              <p:txBody>
                <a:bodyPr/>
                <a:lstStyle/>
                <a:p>
                  <a:r>
                    <a:rPr lang="fr-FR">
                      <a:noFill/>
                    </a:rPr>
                    <a:t> </a:t>
                  </a:r>
                </a:p>
              </p:txBody>
            </p:sp>
          </mc:Fallback>
        </mc:AlternateContent>
      </p:grpSp>
    </p:spTree>
    <p:extLst>
      <p:ext uri="{BB962C8B-B14F-4D97-AF65-F5344CB8AC3E}">
        <p14:creationId xmlns:p14="http://schemas.microsoft.com/office/powerpoint/2010/main" val="28097992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u contenu 1"/>
          <p:cNvSpPr>
            <a:spLocks noGrp="1"/>
          </p:cNvSpPr>
          <p:nvPr>
            <p:ph sz="quarter" idx="1"/>
          </p:nvPr>
        </p:nvSpPr>
        <p:spPr/>
        <p:txBody>
          <a:bodyPr/>
          <a:lstStyle/>
          <a:p>
            <a:pPr marL="0" indent="0">
              <a:buNone/>
            </a:pPr>
            <a:r>
              <a:rPr lang="fr-FR" b="1" u="sng" dirty="0"/>
              <a:t>Exemple :</a:t>
            </a:r>
            <a:r>
              <a:rPr lang="fr-FR" dirty="0"/>
              <a:t> robot plan à 2 </a:t>
            </a:r>
            <a:r>
              <a:rPr lang="fr-FR" dirty="0" err="1"/>
              <a:t>ddl</a:t>
            </a:r>
            <a:endParaRPr lang="fr-FR" dirty="0"/>
          </a:p>
          <a:p>
            <a:r>
              <a:rPr lang="fr-FR" dirty="0"/>
              <a:t>Schéma de commande :</a:t>
            </a:r>
          </a:p>
        </p:txBody>
      </p:sp>
      <p:sp>
        <p:nvSpPr>
          <p:cNvPr id="3" name="Titre 2"/>
          <p:cNvSpPr>
            <a:spLocks noGrp="1"/>
          </p:cNvSpPr>
          <p:nvPr>
            <p:ph type="title"/>
          </p:nvPr>
        </p:nvSpPr>
        <p:spPr/>
        <p:txBody>
          <a:bodyPr/>
          <a:lstStyle/>
          <a:p>
            <a:r>
              <a:rPr lang="fr-FR" dirty="0"/>
              <a:t>Commande en compliance</a:t>
            </a:r>
          </a:p>
        </p:txBody>
      </p:sp>
      <p:cxnSp>
        <p:nvCxnSpPr>
          <p:cNvPr id="4" name="Connecteur droit avec flèche 3"/>
          <p:cNvCxnSpPr/>
          <p:nvPr/>
        </p:nvCxnSpPr>
        <p:spPr>
          <a:xfrm flipV="1">
            <a:off x="7187404" y="2677770"/>
            <a:ext cx="678244" cy="525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ZoneTexte 5"/>
              <p:cNvSpPr txBox="1"/>
              <p:nvPr/>
            </p:nvSpPr>
            <p:spPr>
              <a:xfrm>
                <a:off x="4931359" y="4387445"/>
                <a:ext cx="4573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i="1">
                              <a:latin typeface="Cambria Math" panose="02040503050406030204" pitchFamily="18" charset="0"/>
                              <a:ea typeface="Cambria Math"/>
                            </a:rPr>
                          </m:ctrlPr>
                        </m:sSubPr>
                        <m:e>
                          <m:r>
                            <a:rPr lang="fr-FR" i="1">
                              <a:latin typeface="Cambria Math"/>
                              <a:ea typeface="Cambria Math"/>
                            </a:rPr>
                            <m:t>𝕗</m:t>
                          </m:r>
                        </m:e>
                        <m:sub>
                          <m:r>
                            <a:rPr lang="fr-FR" i="1">
                              <a:latin typeface="Cambria Math"/>
                              <a:ea typeface="Cambria Math"/>
                            </a:rPr>
                            <m:t>𝑒</m:t>
                          </m:r>
                        </m:sub>
                      </m:sSub>
                    </m:oMath>
                  </m:oMathPara>
                </a14:m>
                <a:endParaRPr lang="fr-FR" dirty="0"/>
              </a:p>
            </p:txBody>
          </p:sp>
        </mc:Choice>
        <mc:Fallback xmlns="">
          <p:sp>
            <p:nvSpPr>
              <p:cNvPr id="6" name="ZoneTexte 5"/>
              <p:cNvSpPr txBox="1">
                <a:spLocks noRot="1" noChangeAspect="1" noMove="1" noResize="1" noEditPoints="1" noAdjustHandles="1" noChangeArrowheads="1" noChangeShapeType="1" noTextEdit="1"/>
              </p:cNvSpPr>
              <p:nvPr/>
            </p:nvSpPr>
            <p:spPr>
              <a:xfrm>
                <a:off x="4931359" y="4387445"/>
                <a:ext cx="457369" cy="369332"/>
              </a:xfrm>
              <a:prstGeom prst="rect">
                <a:avLst/>
              </a:prstGeom>
              <a:blipFill rotWithShape="1">
                <a:blip r:embed="rId4"/>
                <a:stretch>
                  <a:fillRect/>
                </a:stretch>
              </a:blipFill>
            </p:spPr>
            <p:txBody>
              <a:bodyPr/>
              <a:lstStyle/>
              <a:p>
                <a:r>
                  <a:rPr lang="fr-FR">
                    <a:noFill/>
                  </a:rPr>
                  <a:t> </a:t>
                </a:r>
              </a:p>
            </p:txBody>
          </p:sp>
        </mc:Fallback>
      </mc:AlternateContent>
      <p:cxnSp>
        <p:nvCxnSpPr>
          <p:cNvPr id="7" name="Connecteur droit avec flèche 6"/>
          <p:cNvCxnSpPr/>
          <p:nvPr/>
        </p:nvCxnSpPr>
        <p:spPr>
          <a:xfrm>
            <a:off x="7602726" y="2678732"/>
            <a:ext cx="0" cy="2492831"/>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ZoneTexte 7"/>
              <p:cNvSpPr txBox="1"/>
              <p:nvPr/>
            </p:nvSpPr>
            <p:spPr>
              <a:xfrm>
                <a:off x="7310106" y="2360692"/>
                <a:ext cx="3706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b="1" i="0" smtClean="0">
                          <a:latin typeface="Cambria Math"/>
                          <a:ea typeface="Cambria Math"/>
                        </a:rPr>
                        <m:t>𝐱</m:t>
                      </m:r>
                    </m:oMath>
                  </m:oMathPara>
                </a14:m>
                <a:endParaRPr lang="fr-FR" dirty="0"/>
              </a:p>
            </p:txBody>
          </p:sp>
        </mc:Choice>
        <mc:Fallback xmlns="">
          <p:sp>
            <p:nvSpPr>
              <p:cNvPr id="8" name="ZoneTexte 7"/>
              <p:cNvSpPr txBox="1">
                <a:spLocks noRot="1" noChangeAspect="1" noMove="1" noResize="1" noEditPoints="1" noAdjustHandles="1" noChangeArrowheads="1" noChangeShapeType="1" noTextEdit="1"/>
              </p:cNvSpPr>
              <p:nvPr/>
            </p:nvSpPr>
            <p:spPr>
              <a:xfrm>
                <a:off x="7310106" y="2360692"/>
                <a:ext cx="370614" cy="369332"/>
              </a:xfrm>
              <a:prstGeom prst="rect">
                <a:avLst/>
              </a:prstGeom>
              <a:blipFill rotWithShape="1">
                <a:blip r:embed="rId5"/>
                <a:stretch>
                  <a:fillRect/>
                </a:stretch>
              </a:blipFill>
            </p:spPr>
            <p:txBody>
              <a:bodyPr/>
              <a:lstStyle/>
              <a:p>
                <a:r>
                  <a:rPr lang="fr-FR">
                    <a:noFill/>
                  </a:rPr>
                  <a:t> </a:t>
                </a:r>
              </a:p>
            </p:txBody>
          </p:sp>
        </mc:Fallback>
      </mc:AlternateContent>
      <p:cxnSp>
        <p:nvCxnSpPr>
          <p:cNvPr id="9" name="Connecteur droit avec flèche 8"/>
          <p:cNvCxnSpPr>
            <a:stCxn id="16" idx="6"/>
          </p:cNvCxnSpPr>
          <p:nvPr/>
        </p:nvCxnSpPr>
        <p:spPr>
          <a:xfrm>
            <a:off x="1696405" y="2691730"/>
            <a:ext cx="405587"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a:endCxn id="16" idx="2"/>
          </p:cNvCxnSpPr>
          <p:nvPr/>
        </p:nvCxnSpPr>
        <p:spPr>
          <a:xfrm flipV="1">
            <a:off x="927241" y="2691730"/>
            <a:ext cx="48341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 name="Connecteur droit avec flèche 10"/>
          <p:cNvCxnSpPr>
            <a:endCxn id="16" idx="4"/>
          </p:cNvCxnSpPr>
          <p:nvPr/>
        </p:nvCxnSpPr>
        <p:spPr>
          <a:xfrm flipV="1">
            <a:off x="1553530" y="2834605"/>
            <a:ext cx="0" cy="233695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12" name="Objet 11"/>
          <p:cNvGraphicFramePr>
            <a:graphicFrameLocks noChangeAspect="1"/>
          </p:cNvGraphicFramePr>
          <p:nvPr>
            <p:extLst>
              <p:ext uri="{D42A27DB-BD31-4B8C-83A1-F6EECF244321}">
                <p14:modId xmlns:p14="http://schemas.microsoft.com/office/powerpoint/2010/main" val="4064415670"/>
              </p:ext>
            </p:extLst>
          </p:nvPr>
        </p:nvGraphicFramePr>
        <p:xfrm>
          <a:off x="1322062" y="2981624"/>
          <a:ext cx="172417" cy="157163"/>
        </p:xfrm>
        <a:graphic>
          <a:graphicData uri="http://schemas.openxmlformats.org/presentationml/2006/ole">
            <mc:AlternateContent xmlns:mc="http://schemas.openxmlformats.org/markup-compatibility/2006">
              <mc:Choice xmlns:v="urn:schemas-microsoft-com:vml" Requires="v">
                <p:oleObj name="Equation" r:id="rId6" imgW="139639" imgH="101556" progId="Equation.DSMT4">
                  <p:embed/>
                </p:oleObj>
              </mc:Choice>
              <mc:Fallback>
                <p:oleObj name="Equation" r:id="rId6" imgW="139639" imgH="101556"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22062" y="2981624"/>
                        <a:ext cx="172417" cy="157163"/>
                      </a:xfrm>
                      <a:prstGeom prst="rect">
                        <a:avLst/>
                      </a:prstGeom>
                      <a:no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13" name="ZoneTexte 12"/>
              <p:cNvSpPr txBox="1"/>
              <p:nvPr/>
            </p:nvSpPr>
            <p:spPr>
              <a:xfrm>
                <a:off x="909960" y="2329506"/>
                <a:ext cx="500393" cy="3797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b="1" i="1" smtClean="0">
                              <a:latin typeface="Cambria Math" panose="02040503050406030204" pitchFamily="18" charset="0"/>
                              <a:ea typeface="Cambria Math"/>
                            </a:rPr>
                          </m:ctrlPr>
                        </m:sSupPr>
                        <m:e>
                          <m:r>
                            <a:rPr lang="fr-FR" b="1" i="0" smtClean="0">
                              <a:latin typeface="Cambria Math"/>
                              <a:ea typeface="Cambria Math"/>
                            </a:rPr>
                            <m:t>𝐱</m:t>
                          </m:r>
                        </m:e>
                        <m:sup>
                          <m:r>
                            <a:rPr lang="fr-FR" b="1" i="1" smtClean="0">
                              <a:latin typeface="Cambria Math"/>
                              <a:ea typeface="Cambria Math"/>
                            </a:rPr>
                            <m:t>𝒅</m:t>
                          </m:r>
                        </m:sup>
                      </m:sSup>
                    </m:oMath>
                  </m:oMathPara>
                </a14:m>
                <a:endParaRPr lang="fr-FR" dirty="0"/>
              </a:p>
            </p:txBody>
          </p:sp>
        </mc:Choice>
        <mc:Fallback xmlns="">
          <p:sp>
            <p:nvSpPr>
              <p:cNvPr id="13" name="ZoneTexte 12"/>
              <p:cNvSpPr txBox="1">
                <a:spLocks noRot="1" noChangeAspect="1" noMove="1" noResize="1" noEditPoints="1" noAdjustHandles="1" noChangeArrowheads="1" noChangeShapeType="1" noTextEdit="1"/>
              </p:cNvSpPr>
              <p:nvPr/>
            </p:nvSpPr>
            <p:spPr>
              <a:xfrm>
                <a:off x="909960" y="2329506"/>
                <a:ext cx="500393" cy="379784"/>
              </a:xfrm>
              <a:prstGeom prst="rect">
                <a:avLst/>
              </a:prstGeom>
              <a:blipFill rotWithShape="1">
                <a:blip r:embed="rId8"/>
                <a:stretch>
                  <a:fillRect/>
                </a:stretch>
              </a:blipFill>
            </p:spPr>
            <p:txBody>
              <a:bodyPr/>
              <a:lstStyle/>
              <a:p>
                <a:r>
                  <a:rPr lang="fr-FR">
                    <a:noFill/>
                  </a:rPr>
                  <a:t> </a:t>
                </a:r>
              </a:p>
            </p:txBody>
          </p:sp>
        </mc:Fallback>
      </mc:AlternateContent>
      <p:sp>
        <p:nvSpPr>
          <p:cNvPr id="16" name="Ellipse 15"/>
          <p:cNvSpPr/>
          <p:nvPr/>
        </p:nvSpPr>
        <p:spPr>
          <a:xfrm>
            <a:off x="1410655" y="2548855"/>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cxnSp>
        <p:nvCxnSpPr>
          <p:cNvPr id="17" name="Connecteur droit avec flèche 16"/>
          <p:cNvCxnSpPr>
            <a:stCxn id="21" idx="3"/>
            <a:endCxn id="52" idx="2"/>
          </p:cNvCxnSpPr>
          <p:nvPr/>
        </p:nvCxnSpPr>
        <p:spPr>
          <a:xfrm flipV="1">
            <a:off x="2625505" y="2682865"/>
            <a:ext cx="485173" cy="188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ZoneTexte 20"/>
              <p:cNvSpPr txBox="1"/>
              <p:nvPr/>
            </p:nvSpPr>
            <p:spPr>
              <a:xfrm>
                <a:off x="2101993" y="2500084"/>
                <a:ext cx="523512"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
                    </m:oMathParaPr>
                    <m:oMath xmlns:m="http://schemas.openxmlformats.org/officeDocument/2006/math">
                      <m:r>
                        <a:rPr lang="fr-FR" b="1" i="0" smtClean="0">
                          <a:latin typeface="Cambria Math"/>
                        </a:rPr>
                        <m:t>𝐊</m:t>
                      </m:r>
                    </m:oMath>
                  </m:oMathPara>
                </a14:m>
                <a:endParaRPr lang="fr-FR" b="1" dirty="0"/>
              </a:p>
            </p:txBody>
          </p:sp>
        </mc:Choice>
        <mc:Fallback xmlns="">
          <p:sp>
            <p:nvSpPr>
              <p:cNvPr id="21" name="ZoneTexte 20"/>
              <p:cNvSpPr txBox="1">
                <a:spLocks noRot="1" noChangeAspect="1" noMove="1" noResize="1" noEditPoints="1" noAdjustHandles="1" noChangeArrowheads="1" noChangeShapeType="1" noTextEdit="1"/>
              </p:cNvSpPr>
              <p:nvPr/>
            </p:nvSpPr>
            <p:spPr>
              <a:xfrm>
                <a:off x="2101993" y="2500084"/>
                <a:ext cx="523512" cy="369332"/>
              </a:xfrm>
              <a:prstGeom prst="rect">
                <a:avLst/>
              </a:prstGeom>
              <a:blipFill rotWithShape="1">
                <a:blip r:embed="rId9"/>
                <a:stretch>
                  <a:fillRect/>
                </a:stretch>
              </a:blipFill>
              <a:ln w="25400"/>
            </p:spPr>
            <p:txBody>
              <a:bodyPr/>
              <a:lstStyle/>
              <a:p>
                <a:r>
                  <a:rPr lang="fr-FR">
                    <a:noFill/>
                  </a:rPr>
                  <a:t> </a:t>
                </a:r>
              </a:p>
            </p:txBody>
          </p:sp>
        </mc:Fallback>
      </mc:AlternateContent>
      <p:cxnSp>
        <p:nvCxnSpPr>
          <p:cNvPr id="24" name="Connecteur droit avec flèche 23"/>
          <p:cNvCxnSpPr>
            <a:stCxn id="51" idx="6"/>
            <a:endCxn id="35" idx="1"/>
          </p:cNvCxnSpPr>
          <p:nvPr/>
        </p:nvCxnSpPr>
        <p:spPr>
          <a:xfrm flipV="1">
            <a:off x="4145260" y="2686998"/>
            <a:ext cx="735712" cy="123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9" name="Connecteur droit avec flèche 28"/>
          <p:cNvCxnSpPr>
            <a:stCxn id="35" idx="3"/>
          </p:cNvCxnSpPr>
          <p:nvPr/>
        </p:nvCxnSpPr>
        <p:spPr>
          <a:xfrm flipV="1">
            <a:off x="5393956" y="2678732"/>
            <a:ext cx="152811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0" name="Connecteur droit 29"/>
          <p:cNvCxnSpPr/>
          <p:nvPr/>
        </p:nvCxnSpPr>
        <p:spPr>
          <a:xfrm>
            <a:off x="5999981" y="2677770"/>
            <a:ext cx="0" cy="106384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1" name="Connecteur droit avec flèche 30"/>
          <p:cNvCxnSpPr>
            <a:endCxn id="34" idx="3"/>
          </p:cNvCxnSpPr>
          <p:nvPr/>
        </p:nvCxnSpPr>
        <p:spPr>
          <a:xfrm flipH="1">
            <a:off x="5356250" y="3755575"/>
            <a:ext cx="643731"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2" name="Connecteur droit 31"/>
          <p:cNvCxnSpPr>
            <a:stCxn id="34" idx="1"/>
          </p:cNvCxnSpPr>
          <p:nvPr/>
        </p:nvCxnSpPr>
        <p:spPr>
          <a:xfrm flipH="1">
            <a:off x="4002385" y="3755575"/>
            <a:ext cx="83035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3" name="Connecteur droit avec flèche 32"/>
          <p:cNvCxnSpPr/>
          <p:nvPr/>
        </p:nvCxnSpPr>
        <p:spPr>
          <a:xfrm flipV="1">
            <a:off x="4002385" y="2831108"/>
            <a:ext cx="0" cy="92446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4" name="ZoneTexte 33"/>
          <p:cNvSpPr txBox="1"/>
          <p:nvPr/>
        </p:nvSpPr>
        <p:spPr>
          <a:xfrm>
            <a:off x="4832738" y="3570909"/>
            <a:ext cx="523512"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b="1" dirty="0"/>
              <a:t>B</a:t>
            </a:r>
          </a:p>
        </p:txBody>
      </p:sp>
      <mc:AlternateContent xmlns:mc="http://schemas.openxmlformats.org/markup-compatibility/2006" xmlns:a14="http://schemas.microsoft.com/office/drawing/2010/main">
        <mc:Choice Requires="a14">
          <p:sp>
            <p:nvSpPr>
              <p:cNvPr id="35" name="ZoneTexte 34"/>
              <p:cNvSpPr txBox="1"/>
              <p:nvPr/>
            </p:nvSpPr>
            <p:spPr>
              <a:xfrm>
                <a:off x="4880972" y="2497074"/>
                <a:ext cx="512984" cy="379848"/>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
                    </m:oMathParaPr>
                    <m:oMath xmlns:m="http://schemas.openxmlformats.org/officeDocument/2006/math">
                      <m:r>
                        <a:rPr lang="fr-FR" i="1" smtClean="0">
                          <a:latin typeface="Cambria Math"/>
                          <a:ea typeface="Cambria Math"/>
                        </a:rPr>
                        <m:t>∫</m:t>
                      </m:r>
                    </m:oMath>
                  </m:oMathPara>
                </a14:m>
                <a:endParaRPr lang="fr-FR" dirty="0"/>
              </a:p>
            </p:txBody>
          </p:sp>
        </mc:Choice>
        <mc:Fallback xmlns="">
          <p:sp>
            <p:nvSpPr>
              <p:cNvPr id="35" name="ZoneTexte 34"/>
              <p:cNvSpPr txBox="1">
                <a:spLocks noRot="1" noChangeAspect="1" noMove="1" noResize="1" noEditPoints="1" noAdjustHandles="1" noChangeArrowheads="1" noChangeShapeType="1" noTextEdit="1"/>
              </p:cNvSpPr>
              <p:nvPr/>
            </p:nvSpPr>
            <p:spPr>
              <a:xfrm>
                <a:off x="4880972" y="2497074"/>
                <a:ext cx="512984" cy="379848"/>
              </a:xfrm>
              <a:prstGeom prst="rect">
                <a:avLst/>
              </a:prstGeom>
              <a:blipFill rotWithShape="1">
                <a:blip r:embed="rId10"/>
                <a:stretch>
                  <a:fillRect/>
                </a:stretch>
              </a:blipFill>
              <a:ln w="25400"/>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6" name="ZoneTexte 35"/>
              <p:cNvSpPr txBox="1"/>
              <p:nvPr/>
            </p:nvSpPr>
            <p:spPr>
              <a:xfrm>
                <a:off x="6674420" y="2488808"/>
                <a:ext cx="512984" cy="379848"/>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
                    </m:oMathParaPr>
                    <m:oMath xmlns:m="http://schemas.openxmlformats.org/officeDocument/2006/math">
                      <m:r>
                        <a:rPr lang="fr-FR" i="1" smtClean="0">
                          <a:latin typeface="Cambria Math"/>
                          <a:ea typeface="Cambria Math"/>
                        </a:rPr>
                        <m:t>∫</m:t>
                      </m:r>
                    </m:oMath>
                  </m:oMathPara>
                </a14:m>
                <a:endParaRPr lang="fr-FR" dirty="0"/>
              </a:p>
            </p:txBody>
          </p:sp>
        </mc:Choice>
        <mc:Fallback xmlns="">
          <p:sp>
            <p:nvSpPr>
              <p:cNvPr id="36" name="ZoneTexte 35"/>
              <p:cNvSpPr txBox="1">
                <a:spLocks noRot="1" noChangeAspect="1" noMove="1" noResize="1" noEditPoints="1" noAdjustHandles="1" noChangeArrowheads="1" noChangeShapeType="1" noTextEdit="1"/>
              </p:cNvSpPr>
              <p:nvPr/>
            </p:nvSpPr>
            <p:spPr>
              <a:xfrm>
                <a:off x="6674420" y="2488808"/>
                <a:ext cx="512984" cy="379848"/>
              </a:xfrm>
              <a:prstGeom prst="rect">
                <a:avLst/>
              </a:prstGeom>
              <a:blipFill rotWithShape="1">
                <a:blip r:embed="rId11"/>
                <a:stretch>
                  <a:fillRect/>
                </a:stretch>
              </a:blipFill>
              <a:ln w="25400"/>
            </p:spPr>
            <p:txBody>
              <a:bodyPr/>
              <a:lstStyle/>
              <a:p>
                <a:r>
                  <a:rPr lang="fr-FR">
                    <a:noFill/>
                  </a:rPr>
                  <a:t> </a:t>
                </a:r>
              </a:p>
            </p:txBody>
          </p:sp>
        </mc:Fallback>
      </mc:AlternateContent>
      <p:cxnSp>
        <p:nvCxnSpPr>
          <p:cNvPr id="37" name="Connecteur droit avec flèche 36"/>
          <p:cNvCxnSpPr>
            <a:stCxn id="59" idx="2"/>
            <a:endCxn id="48" idx="3"/>
          </p:cNvCxnSpPr>
          <p:nvPr/>
        </p:nvCxnSpPr>
        <p:spPr>
          <a:xfrm flipH="1" flipV="1">
            <a:off x="6207556" y="4429789"/>
            <a:ext cx="482181" cy="665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8" name="Connecteur droit avec flèche 37"/>
          <p:cNvCxnSpPr>
            <a:endCxn id="59" idx="6"/>
          </p:cNvCxnSpPr>
          <p:nvPr/>
        </p:nvCxnSpPr>
        <p:spPr>
          <a:xfrm flipH="1">
            <a:off x="6975487" y="4436442"/>
            <a:ext cx="627239"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9" name="Connecteur droit avec flèche 38"/>
          <p:cNvCxnSpPr/>
          <p:nvPr/>
        </p:nvCxnSpPr>
        <p:spPr>
          <a:xfrm>
            <a:off x="6832612" y="3824861"/>
            <a:ext cx="0" cy="47634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40" name="Objet 39"/>
          <p:cNvGraphicFramePr>
            <a:graphicFrameLocks noGrp="1" noChangeAspect="1"/>
          </p:cNvGraphicFramePr>
          <p:nvPr>
            <p:extLst>
              <p:ext uri="{D42A27DB-BD31-4B8C-83A1-F6EECF244321}">
                <p14:modId xmlns:p14="http://schemas.microsoft.com/office/powerpoint/2010/main" val="2523012887"/>
              </p:ext>
            </p:extLst>
          </p:nvPr>
        </p:nvGraphicFramePr>
        <p:xfrm>
          <a:off x="2857156" y="2458839"/>
          <a:ext cx="173037" cy="173037"/>
        </p:xfrm>
        <a:graphic>
          <a:graphicData uri="http://schemas.openxmlformats.org/presentationml/2006/ole">
            <mc:AlternateContent xmlns:mc="http://schemas.openxmlformats.org/markup-compatibility/2006">
              <mc:Choice xmlns:v="urn:schemas-microsoft-com:vml" Requires="v">
                <p:oleObj name="Equation" r:id="rId12" imgW="139680" imgH="139680" progId="Equation.DSMT4">
                  <p:embed/>
                </p:oleObj>
              </mc:Choice>
              <mc:Fallback>
                <p:oleObj name="Equation" r:id="rId12" imgW="139680" imgH="139680" progId="Equation.DSMT4">
                  <p:embed/>
                  <p:pic>
                    <p:nvPicPr>
                      <p:cNvPr id="0" name=""/>
                      <p:cNvPicPr>
                        <a:picLocks noGrp="1"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156" y="2458839"/>
                        <a:ext cx="173037" cy="17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 name="Objet 40"/>
          <p:cNvGraphicFramePr>
            <a:graphicFrameLocks noChangeAspect="1"/>
          </p:cNvGraphicFramePr>
          <p:nvPr>
            <p:extLst>
              <p:ext uri="{D42A27DB-BD31-4B8C-83A1-F6EECF244321}">
                <p14:modId xmlns:p14="http://schemas.microsoft.com/office/powerpoint/2010/main" val="3041639936"/>
              </p:ext>
            </p:extLst>
          </p:nvPr>
        </p:nvGraphicFramePr>
        <p:xfrm>
          <a:off x="3766805" y="2981624"/>
          <a:ext cx="171450" cy="157163"/>
        </p:xfrm>
        <a:graphic>
          <a:graphicData uri="http://schemas.openxmlformats.org/presentationml/2006/ole">
            <mc:AlternateContent xmlns:mc="http://schemas.openxmlformats.org/markup-compatibility/2006">
              <mc:Choice xmlns:v="urn:schemas-microsoft-com:vml" Requires="v">
                <p:oleObj name="Equation" r:id="rId14" imgW="139639" imgH="101556" progId="Equation.DSMT4">
                  <p:embed/>
                </p:oleObj>
              </mc:Choice>
              <mc:Fallback>
                <p:oleObj name="Equation" r:id="rId14" imgW="139639" imgH="101556"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66805" y="2981624"/>
                        <a:ext cx="171450" cy="15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42" name="ZoneTexte 41"/>
              <p:cNvSpPr txBox="1"/>
              <p:nvPr/>
            </p:nvSpPr>
            <p:spPr>
              <a:xfrm>
                <a:off x="4402421" y="2370567"/>
                <a:ext cx="3792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fr-FR" i="1" smtClean="0">
                              <a:latin typeface="Cambria Math" panose="02040503050406030204" pitchFamily="18" charset="0"/>
                            </a:rPr>
                          </m:ctrlPr>
                        </m:accPr>
                        <m:e>
                          <m:r>
                            <a:rPr lang="fr-FR" b="1" i="0" smtClean="0">
                              <a:latin typeface="Cambria Math"/>
                            </a:rPr>
                            <m:t>𝐱</m:t>
                          </m:r>
                        </m:e>
                      </m:acc>
                    </m:oMath>
                  </m:oMathPara>
                </a14:m>
                <a:endParaRPr lang="fr-FR" dirty="0"/>
              </a:p>
            </p:txBody>
          </p:sp>
        </mc:Choice>
        <mc:Fallback xmlns="">
          <p:sp>
            <p:nvSpPr>
              <p:cNvPr id="42" name="ZoneTexte 41"/>
              <p:cNvSpPr txBox="1">
                <a:spLocks noRot="1" noChangeAspect="1" noMove="1" noResize="1" noEditPoints="1" noAdjustHandles="1" noChangeArrowheads="1" noChangeShapeType="1" noTextEdit="1"/>
              </p:cNvSpPr>
              <p:nvPr/>
            </p:nvSpPr>
            <p:spPr>
              <a:xfrm>
                <a:off x="4402421" y="2370567"/>
                <a:ext cx="379206" cy="369332"/>
              </a:xfrm>
              <a:prstGeom prst="rect">
                <a:avLst/>
              </a:prstGeom>
              <a:blipFill rotWithShape="1">
                <a:blip r:embed="rId15"/>
                <a:stretch>
                  <a:fillRect r="-25806"/>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3" name="ZoneTexte 42"/>
              <p:cNvSpPr txBox="1"/>
              <p:nvPr/>
            </p:nvSpPr>
            <p:spPr>
              <a:xfrm>
                <a:off x="6097369" y="2377841"/>
                <a:ext cx="3792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fr-FR" i="1" smtClean="0">
                              <a:latin typeface="Cambria Math" panose="02040503050406030204" pitchFamily="18" charset="0"/>
                            </a:rPr>
                          </m:ctrlPr>
                        </m:accPr>
                        <m:e>
                          <m:r>
                            <a:rPr lang="fr-FR" b="1" i="0" smtClean="0">
                              <a:latin typeface="Cambria Math"/>
                            </a:rPr>
                            <m:t>𝐱</m:t>
                          </m:r>
                        </m:e>
                      </m:acc>
                    </m:oMath>
                  </m:oMathPara>
                </a14:m>
                <a:endParaRPr lang="fr-FR" dirty="0"/>
              </a:p>
            </p:txBody>
          </p:sp>
        </mc:Choice>
        <mc:Fallback xmlns="">
          <p:sp>
            <p:nvSpPr>
              <p:cNvPr id="43" name="ZoneTexte 42"/>
              <p:cNvSpPr txBox="1">
                <a:spLocks noRot="1" noChangeAspect="1" noMove="1" noResize="1" noEditPoints="1" noAdjustHandles="1" noChangeArrowheads="1" noChangeShapeType="1" noTextEdit="1"/>
              </p:cNvSpPr>
              <p:nvPr/>
            </p:nvSpPr>
            <p:spPr>
              <a:xfrm>
                <a:off x="6097369" y="2377841"/>
                <a:ext cx="379206" cy="369332"/>
              </a:xfrm>
              <a:prstGeom prst="rect">
                <a:avLst/>
              </a:prstGeom>
              <a:blipFill rotWithShape="1">
                <a:blip r:embed="rId16"/>
                <a:stretch>
                  <a:fillRect/>
                </a:stretch>
              </a:blipFill>
            </p:spPr>
            <p:txBody>
              <a:bodyPr/>
              <a:lstStyle/>
              <a:p>
                <a:r>
                  <a:rPr lang="fr-FR">
                    <a:noFill/>
                  </a:rPr>
                  <a:t> </a:t>
                </a:r>
              </a:p>
            </p:txBody>
          </p:sp>
        </mc:Fallback>
      </mc:AlternateContent>
      <p:cxnSp>
        <p:nvCxnSpPr>
          <p:cNvPr id="44" name="Connecteur droit 43"/>
          <p:cNvCxnSpPr/>
          <p:nvPr/>
        </p:nvCxnSpPr>
        <p:spPr>
          <a:xfrm flipH="1">
            <a:off x="1553530" y="5171563"/>
            <a:ext cx="6049197"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ZoneTexte 44"/>
              <p:cNvSpPr txBox="1"/>
              <p:nvPr/>
            </p:nvSpPr>
            <p:spPr>
              <a:xfrm>
                <a:off x="7200999" y="4349742"/>
                <a:ext cx="3706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b="1" i="0" smtClean="0">
                          <a:latin typeface="Cambria Math"/>
                          <a:ea typeface="Cambria Math"/>
                        </a:rPr>
                        <m:t>𝐱</m:t>
                      </m:r>
                    </m:oMath>
                  </m:oMathPara>
                </a14:m>
                <a:endParaRPr lang="fr-FR" dirty="0"/>
              </a:p>
            </p:txBody>
          </p:sp>
        </mc:Choice>
        <mc:Fallback xmlns="">
          <p:sp>
            <p:nvSpPr>
              <p:cNvPr id="45" name="ZoneTexte 44"/>
              <p:cNvSpPr txBox="1">
                <a:spLocks noRot="1" noChangeAspect="1" noMove="1" noResize="1" noEditPoints="1" noAdjustHandles="1" noChangeArrowheads="1" noChangeShapeType="1" noTextEdit="1"/>
              </p:cNvSpPr>
              <p:nvPr/>
            </p:nvSpPr>
            <p:spPr>
              <a:xfrm>
                <a:off x="7200999" y="4349742"/>
                <a:ext cx="370614" cy="369332"/>
              </a:xfrm>
              <a:prstGeom prst="rect">
                <a:avLst/>
              </a:prstGeom>
              <a:blipFill rotWithShape="1">
                <a:blip r:embed="rId17"/>
                <a:stretch>
                  <a:fillRect/>
                </a:stretch>
              </a:blipFill>
            </p:spPr>
            <p:txBody>
              <a:bodyPr/>
              <a:lstStyle/>
              <a:p>
                <a:r>
                  <a:rPr lang="fr-FR">
                    <a:noFill/>
                  </a:rPr>
                  <a:t> </a:t>
                </a:r>
              </a:p>
            </p:txBody>
          </p:sp>
        </mc:Fallback>
      </mc:AlternateContent>
      <p:cxnSp>
        <p:nvCxnSpPr>
          <p:cNvPr id="46" name="Connecteur droit 45"/>
          <p:cNvCxnSpPr>
            <a:stCxn id="48" idx="1"/>
          </p:cNvCxnSpPr>
          <p:nvPr/>
        </p:nvCxnSpPr>
        <p:spPr>
          <a:xfrm flipH="1">
            <a:off x="3253553" y="4429789"/>
            <a:ext cx="2441019" cy="665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7" name="Connecteur droit avec flèche 46"/>
          <p:cNvCxnSpPr>
            <a:endCxn id="52" idx="4"/>
          </p:cNvCxnSpPr>
          <p:nvPr/>
        </p:nvCxnSpPr>
        <p:spPr>
          <a:xfrm flipV="1">
            <a:off x="3253553" y="2825740"/>
            <a:ext cx="0" cy="160404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ZoneTexte 47"/>
              <p:cNvSpPr txBox="1"/>
              <p:nvPr/>
            </p:nvSpPr>
            <p:spPr>
              <a:xfrm>
                <a:off x="5694572" y="4245123"/>
                <a:ext cx="512984"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
                    </m:oMathParaPr>
                    <m:oMath xmlns:m="http://schemas.openxmlformats.org/officeDocument/2006/math">
                      <m:sSub>
                        <m:sSubPr>
                          <m:ctrlPr>
                            <a:rPr lang="fr-FR" i="1" smtClean="0">
                              <a:latin typeface="Cambria Math" panose="02040503050406030204" pitchFamily="18" charset="0"/>
                            </a:rPr>
                          </m:ctrlPr>
                        </m:sSubPr>
                        <m:e>
                          <m:r>
                            <a:rPr lang="fr-FR" b="1" i="0" smtClean="0">
                              <a:latin typeface="Cambria Math"/>
                            </a:rPr>
                            <m:t>𝐊</m:t>
                          </m:r>
                        </m:e>
                        <m:sub>
                          <m:r>
                            <a:rPr lang="fr-FR" b="0" i="1" smtClean="0">
                              <a:latin typeface="Cambria Math"/>
                            </a:rPr>
                            <m:t>𝑒</m:t>
                          </m:r>
                        </m:sub>
                      </m:sSub>
                    </m:oMath>
                  </m:oMathPara>
                </a14:m>
                <a:endParaRPr lang="fr-FR" dirty="0"/>
              </a:p>
            </p:txBody>
          </p:sp>
        </mc:Choice>
        <mc:Fallback xmlns="">
          <p:sp>
            <p:nvSpPr>
              <p:cNvPr id="48" name="ZoneTexte 47"/>
              <p:cNvSpPr txBox="1">
                <a:spLocks noRot="1" noChangeAspect="1" noMove="1" noResize="1" noEditPoints="1" noAdjustHandles="1" noChangeArrowheads="1" noChangeShapeType="1" noTextEdit="1"/>
              </p:cNvSpPr>
              <p:nvPr/>
            </p:nvSpPr>
            <p:spPr>
              <a:xfrm>
                <a:off x="5694572" y="4245123"/>
                <a:ext cx="512984" cy="369332"/>
              </a:xfrm>
              <a:prstGeom prst="rect">
                <a:avLst/>
              </a:prstGeom>
              <a:blipFill rotWithShape="1">
                <a:blip r:embed="rId18"/>
                <a:stretch>
                  <a:fillRect/>
                </a:stretch>
              </a:blipFill>
              <a:ln w="25400"/>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9" name="ZoneTexte 48"/>
              <p:cNvSpPr txBox="1"/>
              <p:nvPr/>
            </p:nvSpPr>
            <p:spPr>
              <a:xfrm>
                <a:off x="6757600" y="3590678"/>
                <a:ext cx="48391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1" i="0" smtClean="0">
                              <a:latin typeface="Cambria Math"/>
                            </a:rPr>
                            <m:t>𝐱</m:t>
                          </m:r>
                        </m:e>
                        <m:sub>
                          <m:r>
                            <a:rPr lang="fr-FR" b="0" i="1" smtClean="0">
                              <a:latin typeface="Cambria Math"/>
                            </a:rPr>
                            <m:t>𝑒</m:t>
                          </m:r>
                        </m:sub>
                      </m:sSub>
                    </m:oMath>
                  </m:oMathPara>
                </a14:m>
                <a:endParaRPr lang="fr-FR" dirty="0"/>
              </a:p>
            </p:txBody>
          </p:sp>
        </mc:Choice>
        <mc:Fallback xmlns="">
          <p:sp>
            <p:nvSpPr>
              <p:cNvPr id="49" name="ZoneTexte 48"/>
              <p:cNvSpPr txBox="1">
                <a:spLocks noRot="1" noChangeAspect="1" noMove="1" noResize="1" noEditPoints="1" noAdjustHandles="1" noChangeArrowheads="1" noChangeShapeType="1" noTextEdit="1"/>
              </p:cNvSpPr>
              <p:nvPr/>
            </p:nvSpPr>
            <p:spPr>
              <a:xfrm>
                <a:off x="6757600" y="3590678"/>
                <a:ext cx="483915" cy="369332"/>
              </a:xfrm>
              <a:prstGeom prst="rect">
                <a:avLst/>
              </a:prstGeom>
              <a:blipFill rotWithShape="1">
                <a:blip r:embed="rId19"/>
                <a:stretch>
                  <a:fillRect/>
                </a:stretch>
              </a:blipFill>
            </p:spPr>
            <p:txBody>
              <a:bodyPr/>
              <a:lstStyle/>
              <a:p>
                <a:r>
                  <a:rPr lang="fr-FR">
                    <a:noFill/>
                  </a:rPr>
                  <a:t> </a:t>
                </a:r>
              </a:p>
            </p:txBody>
          </p:sp>
        </mc:Fallback>
      </mc:AlternateContent>
      <p:graphicFrame>
        <p:nvGraphicFramePr>
          <p:cNvPr id="50" name="Objet 49"/>
          <p:cNvGraphicFramePr>
            <a:graphicFrameLocks noChangeAspect="1"/>
          </p:cNvGraphicFramePr>
          <p:nvPr>
            <p:extLst>
              <p:ext uri="{D42A27DB-BD31-4B8C-83A1-F6EECF244321}">
                <p14:modId xmlns:p14="http://schemas.microsoft.com/office/powerpoint/2010/main" val="2097922327"/>
              </p:ext>
            </p:extLst>
          </p:nvPr>
        </p:nvGraphicFramePr>
        <p:xfrm>
          <a:off x="6900447" y="4046080"/>
          <a:ext cx="171450" cy="157163"/>
        </p:xfrm>
        <a:graphic>
          <a:graphicData uri="http://schemas.openxmlformats.org/presentationml/2006/ole">
            <mc:AlternateContent xmlns:mc="http://schemas.openxmlformats.org/markup-compatibility/2006">
              <mc:Choice xmlns:v="urn:schemas-microsoft-com:vml" Requires="v">
                <p:oleObj name="Equation" r:id="rId20" imgW="139639" imgH="101556" progId="Equation.DSMT4">
                  <p:embed/>
                </p:oleObj>
              </mc:Choice>
              <mc:Fallback>
                <p:oleObj name="Equation" r:id="rId20" imgW="139639" imgH="101556"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00447" y="4046080"/>
                        <a:ext cx="171450" cy="15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 name="Ellipse 50"/>
          <p:cNvSpPr/>
          <p:nvPr/>
        </p:nvSpPr>
        <p:spPr>
          <a:xfrm>
            <a:off x="3859510" y="2545358"/>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sp>
        <p:nvSpPr>
          <p:cNvPr id="52" name="Ellipse 51"/>
          <p:cNvSpPr/>
          <p:nvPr/>
        </p:nvSpPr>
        <p:spPr>
          <a:xfrm>
            <a:off x="3110678" y="2539990"/>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cxnSp>
        <p:nvCxnSpPr>
          <p:cNvPr id="53" name="Connecteur droit avec flèche 52"/>
          <p:cNvCxnSpPr/>
          <p:nvPr/>
        </p:nvCxnSpPr>
        <p:spPr>
          <a:xfrm flipV="1">
            <a:off x="3409658" y="2686144"/>
            <a:ext cx="464233" cy="188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56" name="Objet 55"/>
          <p:cNvGraphicFramePr>
            <a:graphicFrameLocks noGrp="1" noChangeAspect="1"/>
          </p:cNvGraphicFramePr>
          <p:nvPr>
            <p:extLst>
              <p:ext uri="{D42A27DB-BD31-4B8C-83A1-F6EECF244321}">
                <p14:modId xmlns:p14="http://schemas.microsoft.com/office/powerpoint/2010/main" val="2750845812"/>
              </p:ext>
            </p:extLst>
          </p:nvPr>
        </p:nvGraphicFramePr>
        <p:xfrm>
          <a:off x="4455639" y="2709290"/>
          <a:ext cx="173037" cy="173038"/>
        </p:xfrm>
        <a:graphic>
          <a:graphicData uri="http://schemas.openxmlformats.org/presentationml/2006/ole">
            <mc:AlternateContent xmlns:mc="http://schemas.openxmlformats.org/markup-compatibility/2006">
              <mc:Choice xmlns:v="urn:schemas-microsoft-com:vml" Requires="v">
                <p:oleObj name="Equation" r:id="rId21" imgW="139700" imgH="139700" progId="Equation.DSMT4">
                  <p:embed/>
                </p:oleObj>
              </mc:Choice>
              <mc:Fallback>
                <p:oleObj name="Equation" r:id="rId21" imgW="139700" imgH="139700" progId="Equation.DSMT4">
                  <p:embed/>
                  <p:pic>
                    <p:nvPicPr>
                      <p:cNvPr id="0" name=""/>
                      <p:cNvPicPr>
                        <a:picLocks noGrp="1"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55639" y="2709290"/>
                        <a:ext cx="173037"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7" name="Objet 56"/>
          <p:cNvGraphicFramePr>
            <a:graphicFrameLocks noGrp="1" noChangeAspect="1"/>
          </p:cNvGraphicFramePr>
          <p:nvPr>
            <p:extLst>
              <p:ext uri="{D42A27DB-BD31-4B8C-83A1-F6EECF244321}">
                <p14:modId xmlns:p14="http://schemas.microsoft.com/office/powerpoint/2010/main" val="1007667195"/>
              </p:ext>
            </p:extLst>
          </p:nvPr>
        </p:nvGraphicFramePr>
        <p:xfrm>
          <a:off x="3599778" y="2730024"/>
          <a:ext cx="173037" cy="173038"/>
        </p:xfrm>
        <a:graphic>
          <a:graphicData uri="http://schemas.openxmlformats.org/presentationml/2006/ole">
            <mc:AlternateContent xmlns:mc="http://schemas.openxmlformats.org/markup-compatibility/2006">
              <mc:Choice xmlns:v="urn:schemas-microsoft-com:vml" Requires="v">
                <p:oleObj name="Equation" r:id="rId22" imgW="139700" imgH="139700" progId="Equation.DSMT4">
                  <p:embed/>
                </p:oleObj>
              </mc:Choice>
              <mc:Fallback>
                <p:oleObj name="Equation" r:id="rId22" imgW="139700" imgH="139700" progId="Equation.DSMT4">
                  <p:embed/>
                  <p:pic>
                    <p:nvPicPr>
                      <p:cNvPr id="0" name=""/>
                      <p:cNvPicPr>
                        <a:picLocks noGrp="1"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99778" y="2730024"/>
                        <a:ext cx="173037"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 name="Objet 57"/>
          <p:cNvGraphicFramePr>
            <a:graphicFrameLocks noChangeAspect="1"/>
          </p:cNvGraphicFramePr>
          <p:nvPr>
            <p:extLst>
              <p:ext uri="{D42A27DB-BD31-4B8C-83A1-F6EECF244321}">
                <p14:modId xmlns:p14="http://schemas.microsoft.com/office/powerpoint/2010/main" val="2657599913"/>
              </p:ext>
            </p:extLst>
          </p:nvPr>
        </p:nvGraphicFramePr>
        <p:xfrm>
          <a:off x="3017611" y="2991395"/>
          <a:ext cx="171450" cy="157162"/>
        </p:xfrm>
        <a:graphic>
          <a:graphicData uri="http://schemas.openxmlformats.org/presentationml/2006/ole">
            <mc:AlternateContent xmlns:mc="http://schemas.openxmlformats.org/markup-compatibility/2006">
              <mc:Choice xmlns:v="urn:schemas-microsoft-com:vml" Requires="v">
                <p:oleObj name="Equation" r:id="rId23" imgW="139639" imgH="101556" progId="Equation.DSMT4">
                  <p:embed/>
                </p:oleObj>
              </mc:Choice>
              <mc:Fallback>
                <p:oleObj name="Equation" r:id="rId23" imgW="139639" imgH="101556"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17611" y="2991395"/>
                        <a:ext cx="171450" cy="15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 name="Ellipse 58"/>
          <p:cNvSpPr/>
          <p:nvPr/>
        </p:nvSpPr>
        <p:spPr>
          <a:xfrm>
            <a:off x="6689737" y="4293567"/>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spTree>
    <p:extLst>
      <p:ext uri="{BB962C8B-B14F-4D97-AF65-F5344CB8AC3E}">
        <p14:creationId xmlns:p14="http://schemas.microsoft.com/office/powerpoint/2010/main" val="32439935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r>
                  <a:rPr lang="fr-FR" dirty="0"/>
                  <a:t>Le système est décrit par :</a:t>
                </a:r>
              </a:p>
              <a:p>
                <a:endParaRPr lang="fr-FR" dirty="0"/>
              </a:p>
              <a:p>
                <a:pPr marL="0" indent="0">
                  <a:buNone/>
                </a:pPr>
                <a14:m>
                  <m:oMathPara xmlns:m="http://schemas.openxmlformats.org/officeDocument/2006/math">
                    <m:oMathParaPr>
                      <m:jc m:val="centerGroup"/>
                    </m:oMathParaPr>
                    <m:oMath xmlns:m="http://schemas.openxmlformats.org/officeDocument/2006/math">
                      <m:acc>
                        <m:accPr>
                          <m:chr m:val="̈"/>
                          <m:ctrlPr>
                            <a:rPr lang="fr-FR" i="1" smtClean="0">
                              <a:latin typeface="Cambria Math" panose="02040503050406030204" pitchFamily="18" charset="0"/>
                            </a:rPr>
                          </m:ctrlPr>
                        </m:accPr>
                        <m:e>
                          <m:r>
                            <a:rPr lang="fr-FR" b="1" i="0" smtClean="0">
                              <a:latin typeface="Cambria Math"/>
                            </a:rPr>
                            <m:t>𝐱</m:t>
                          </m:r>
                        </m:e>
                      </m:acc>
                      <m:r>
                        <a:rPr lang="fr-FR" b="0" i="0" smtClean="0">
                          <a:latin typeface="Cambria Math"/>
                        </a:rPr>
                        <m:t>=</m:t>
                      </m:r>
                      <m:r>
                        <a:rPr lang="fr-FR" b="1" i="0" smtClean="0">
                          <a:latin typeface="Cambria Math"/>
                        </a:rPr>
                        <m:t>𝐊</m:t>
                      </m:r>
                      <m:d>
                        <m:dPr>
                          <m:ctrlPr>
                            <a:rPr lang="fr-FR" b="0" i="1" smtClean="0">
                              <a:latin typeface="Cambria Math" panose="02040503050406030204" pitchFamily="18" charset="0"/>
                            </a:rPr>
                          </m:ctrlPr>
                        </m:dPr>
                        <m:e>
                          <m:sSup>
                            <m:sSupPr>
                              <m:ctrlPr>
                                <a:rPr lang="fr-FR" b="0" i="1" smtClean="0">
                                  <a:latin typeface="Cambria Math" panose="02040503050406030204" pitchFamily="18" charset="0"/>
                                </a:rPr>
                              </m:ctrlPr>
                            </m:sSupPr>
                            <m:e>
                              <m:r>
                                <a:rPr lang="fr-FR" b="1" i="0" smtClean="0">
                                  <a:latin typeface="Cambria Math"/>
                                </a:rPr>
                                <m:t>𝐱</m:t>
                              </m:r>
                            </m:e>
                            <m:sup>
                              <m:r>
                                <a:rPr lang="fr-FR" b="0" i="1" smtClean="0">
                                  <a:latin typeface="Cambria Math"/>
                                </a:rPr>
                                <m:t>𝑑</m:t>
                              </m:r>
                            </m:sup>
                          </m:sSup>
                          <m:r>
                            <a:rPr lang="fr-FR" b="0" i="1" smtClean="0">
                              <a:latin typeface="Cambria Math"/>
                            </a:rPr>
                            <m:t>−</m:t>
                          </m:r>
                          <m:r>
                            <a:rPr lang="fr-FR" b="1" i="0" smtClean="0">
                              <a:latin typeface="Cambria Math"/>
                            </a:rPr>
                            <m:t>𝐱</m:t>
                          </m:r>
                        </m:e>
                      </m:d>
                      <m:r>
                        <a:rPr lang="fr-FR" b="0" i="1" smtClean="0">
                          <a:latin typeface="Cambria Math"/>
                        </a:rPr>
                        <m:t>−</m:t>
                      </m:r>
                      <m:r>
                        <a:rPr lang="fr-FR" b="1" i="0" smtClean="0">
                          <a:latin typeface="Cambria Math"/>
                        </a:rPr>
                        <m:t>𝐁</m:t>
                      </m:r>
                      <m:acc>
                        <m:accPr>
                          <m:chr m:val="̇"/>
                          <m:ctrlPr>
                            <a:rPr lang="fr-FR" b="0" i="1" smtClean="0">
                              <a:latin typeface="Cambria Math" panose="02040503050406030204" pitchFamily="18" charset="0"/>
                            </a:rPr>
                          </m:ctrlPr>
                        </m:accPr>
                        <m:e>
                          <m:r>
                            <a:rPr lang="fr-FR" b="1" i="0" smtClean="0">
                              <a:latin typeface="Cambria Math"/>
                            </a:rPr>
                            <m:t>𝐱</m:t>
                          </m:r>
                        </m:e>
                      </m:acc>
                      <m:r>
                        <a:rPr lang="fr-FR" b="0" i="1" smtClean="0">
                          <a:latin typeface="Cambria Math"/>
                        </a:rPr>
                        <m:t>−</m:t>
                      </m:r>
                      <m:sSub>
                        <m:sSubPr>
                          <m:ctrlPr>
                            <a:rPr lang="fr-FR" b="0" i="1" smtClean="0">
                              <a:latin typeface="Cambria Math" panose="02040503050406030204" pitchFamily="18" charset="0"/>
                            </a:rPr>
                          </m:ctrlPr>
                        </m:sSubPr>
                        <m:e>
                          <m:r>
                            <a:rPr lang="fr-FR" b="0" i="1" smtClean="0">
                              <a:latin typeface="Cambria Math"/>
                              <a:ea typeface="Cambria Math"/>
                            </a:rPr>
                            <m:t>𝕗</m:t>
                          </m:r>
                        </m:e>
                        <m:sub>
                          <m:r>
                            <a:rPr lang="fr-FR" b="0" i="1" smtClean="0">
                              <a:latin typeface="Cambria Math"/>
                            </a:rPr>
                            <m:t>𝑒</m:t>
                          </m:r>
                        </m:sub>
                      </m:sSub>
                    </m:oMath>
                  </m:oMathPara>
                </a14:m>
                <a:endParaRPr lang="fr-FR" dirty="0"/>
              </a:p>
              <a:p>
                <a:endParaRPr lang="fr-FR" dirty="0"/>
              </a:p>
              <a:p>
                <a:r>
                  <a:rPr lang="fr-FR" dirty="0">
                    <a:ea typeface="Cambria Math"/>
                  </a:rPr>
                  <a:t>Environnement élastique : </a:t>
                </a:r>
              </a:p>
              <a:p>
                <a:pPr marL="0" indent="0">
                  <a:buNone/>
                </a:pPr>
                <a14:m>
                  <m:oMathPara xmlns:m="http://schemas.openxmlformats.org/officeDocument/2006/math">
                    <m:oMathParaPr>
                      <m:jc m:val="centerGroup"/>
                    </m:oMathParaPr>
                    <m:oMath xmlns:m="http://schemas.openxmlformats.org/officeDocument/2006/math">
                      <m:sSub>
                        <m:sSubPr>
                          <m:ctrlPr>
                            <a:rPr lang="fr-FR" i="1">
                              <a:latin typeface="Cambria Math" panose="02040503050406030204" pitchFamily="18" charset="0"/>
                              <a:ea typeface="Cambria Math"/>
                            </a:rPr>
                          </m:ctrlPr>
                        </m:sSubPr>
                        <m:e>
                          <m:r>
                            <a:rPr lang="fr-FR" i="1">
                              <a:latin typeface="Cambria Math"/>
                              <a:ea typeface="Cambria Math"/>
                            </a:rPr>
                            <m:t>𝕗</m:t>
                          </m:r>
                        </m:e>
                        <m:sub>
                          <m:r>
                            <a:rPr lang="fr-FR" i="1">
                              <a:latin typeface="Cambria Math"/>
                              <a:ea typeface="Cambria Math"/>
                            </a:rPr>
                            <m:t>𝑒</m:t>
                          </m:r>
                        </m:sub>
                      </m:sSub>
                      <m:r>
                        <a:rPr lang="fr-FR" i="1">
                          <a:latin typeface="Cambria Math"/>
                          <a:ea typeface="Cambria Math"/>
                        </a:rPr>
                        <m:t>=</m:t>
                      </m:r>
                      <m:sSub>
                        <m:sSubPr>
                          <m:ctrlPr>
                            <a:rPr lang="fr-FR" i="1">
                              <a:latin typeface="Cambria Math" panose="02040503050406030204" pitchFamily="18" charset="0"/>
                              <a:ea typeface="Cambria Math"/>
                            </a:rPr>
                          </m:ctrlPr>
                        </m:sSubPr>
                        <m:e>
                          <m:r>
                            <a:rPr lang="fr-FR" b="1">
                              <a:latin typeface="Cambria Math"/>
                              <a:ea typeface="Cambria Math"/>
                            </a:rPr>
                            <m:t>𝐊</m:t>
                          </m:r>
                        </m:e>
                        <m:sub>
                          <m:r>
                            <a:rPr lang="fr-FR" i="1">
                              <a:latin typeface="Cambria Math"/>
                              <a:ea typeface="Cambria Math"/>
                            </a:rPr>
                            <m:t>𝑒</m:t>
                          </m:r>
                        </m:sub>
                      </m:sSub>
                      <m:d>
                        <m:dPr>
                          <m:ctrlPr>
                            <a:rPr lang="fr-FR" i="1">
                              <a:latin typeface="Cambria Math" panose="02040503050406030204" pitchFamily="18" charset="0"/>
                              <a:ea typeface="Cambria Math"/>
                            </a:rPr>
                          </m:ctrlPr>
                        </m:dPr>
                        <m:e>
                          <m:r>
                            <a:rPr lang="fr-FR" b="1">
                              <a:latin typeface="Cambria Math"/>
                              <a:ea typeface="Cambria Math"/>
                            </a:rPr>
                            <m:t>𝐱</m:t>
                          </m:r>
                          <m:r>
                            <a:rPr lang="fr-FR" i="1">
                              <a:latin typeface="Cambria Math"/>
                              <a:ea typeface="Cambria Math"/>
                            </a:rPr>
                            <m:t>−</m:t>
                          </m:r>
                          <m:sSub>
                            <m:sSubPr>
                              <m:ctrlPr>
                                <a:rPr lang="fr-FR" i="1">
                                  <a:latin typeface="Cambria Math" panose="02040503050406030204" pitchFamily="18" charset="0"/>
                                  <a:ea typeface="Cambria Math"/>
                                </a:rPr>
                              </m:ctrlPr>
                            </m:sSubPr>
                            <m:e>
                              <m:r>
                                <a:rPr lang="fr-FR" b="1">
                                  <a:latin typeface="Cambria Math"/>
                                  <a:ea typeface="Cambria Math"/>
                                </a:rPr>
                                <m:t>𝐱</m:t>
                              </m:r>
                            </m:e>
                            <m:sub>
                              <m:r>
                                <a:rPr lang="fr-FR" i="1">
                                  <a:latin typeface="Cambria Math"/>
                                  <a:ea typeface="Cambria Math"/>
                                </a:rPr>
                                <m:t>𝑒</m:t>
                              </m:r>
                            </m:sub>
                          </m:sSub>
                        </m:e>
                      </m:d>
                    </m:oMath>
                  </m:oMathPara>
                </a14:m>
                <a:endParaRPr lang="fr-FR" dirty="0">
                  <a:latin typeface="Cambria Math"/>
                  <a:ea typeface="Cambria Math"/>
                </a:endParaRPr>
              </a:p>
              <a:p>
                <a:endParaRPr lang="fr-FR" dirty="0"/>
              </a:p>
              <a:p>
                <a:r>
                  <a:rPr lang="fr-FR" dirty="0"/>
                  <a:t>À l’équilibre : 	</a:t>
                </a:r>
              </a:p>
              <a:p>
                <a:pPr lvl="1"/>
                <a14:m>
                  <m:oMath xmlns:m="http://schemas.openxmlformats.org/officeDocument/2006/math">
                    <m:acc>
                      <m:accPr>
                        <m:chr m:val="̇"/>
                        <m:ctrlPr>
                          <a:rPr lang="fr-FR" i="1" smtClean="0">
                            <a:latin typeface="Cambria Math" panose="02040503050406030204" pitchFamily="18" charset="0"/>
                          </a:rPr>
                        </m:ctrlPr>
                      </m:accPr>
                      <m:e>
                        <m:r>
                          <a:rPr lang="fr-FR" b="1" i="0" smtClean="0">
                            <a:latin typeface="Cambria Math"/>
                          </a:rPr>
                          <m:t>𝐱</m:t>
                        </m:r>
                      </m:e>
                    </m:acc>
                    <m:r>
                      <a:rPr lang="fr-FR" b="0" i="1" smtClean="0">
                        <a:latin typeface="Cambria Math"/>
                      </a:rPr>
                      <m:t>=0</m:t>
                    </m:r>
                  </m:oMath>
                </a14:m>
                <a:r>
                  <a:rPr lang="fr-FR" dirty="0"/>
                  <a:t> (vitesse nulle)</a:t>
                </a:r>
              </a:p>
              <a:p>
                <a:pPr lvl="1"/>
                <a14:m>
                  <m:oMath xmlns:m="http://schemas.openxmlformats.org/officeDocument/2006/math">
                    <m:r>
                      <a:rPr lang="fr-FR" sz="2000" b="1" i="0">
                        <a:latin typeface="Cambria Math"/>
                      </a:rPr>
                      <m:t>𝐱</m:t>
                    </m:r>
                    <m:r>
                      <a:rPr lang="fr-FR" sz="2000" i="1">
                        <a:latin typeface="Cambria Math"/>
                        <a:ea typeface="Cambria Math"/>
                      </a:rPr>
                      <m:t>⟶</m:t>
                    </m:r>
                    <m:d>
                      <m:dPr>
                        <m:ctrlPr>
                          <a:rPr lang="fr-FR" sz="2000" i="1" smtClean="0">
                            <a:latin typeface="Cambria Math" panose="02040503050406030204" pitchFamily="18" charset="0"/>
                            <a:ea typeface="Cambria Math"/>
                          </a:rPr>
                        </m:ctrlPr>
                      </m:dPr>
                      <m:e>
                        <m:m>
                          <m:mPr>
                            <m:mcs>
                              <m:mc>
                                <m:mcPr>
                                  <m:count m:val="1"/>
                                  <m:mcJc m:val="center"/>
                                </m:mcPr>
                              </m:mc>
                            </m:mcs>
                            <m:ctrlPr>
                              <a:rPr lang="fr-FR" sz="2000" i="1" smtClean="0">
                                <a:latin typeface="Cambria Math" panose="02040503050406030204" pitchFamily="18" charset="0"/>
                                <a:ea typeface="Cambria Math"/>
                              </a:rPr>
                            </m:ctrlPr>
                          </m:mPr>
                          <m:mr>
                            <m:e>
                              <m:f>
                                <m:fPr>
                                  <m:ctrlPr>
                                    <a:rPr lang="fr-FR" sz="2000" i="1">
                                      <a:latin typeface="Cambria Math" panose="02040503050406030204" pitchFamily="18" charset="0"/>
                                      <a:ea typeface="Cambria Math"/>
                                    </a:rPr>
                                  </m:ctrlPr>
                                </m:fPr>
                                <m:num>
                                  <m:sSub>
                                    <m:sSubPr>
                                      <m:ctrlPr>
                                        <a:rPr lang="fr-FR" sz="2000" i="1">
                                          <a:latin typeface="Cambria Math" panose="02040503050406030204" pitchFamily="18" charset="0"/>
                                          <a:ea typeface="Cambria Math"/>
                                        </a:rPr>
                                      </m:ctrlPr>
                                    </m:sSubPr>
                                    <m:e>
                                      <m:r>
                                        <a:rPr lang="fr-FR" sz="2000" i="1">
                                          <a:latin typeface="Cambria Math"/>
                                          <a:ea typeface="Cambria Math"/>
                                        </a:rPr>
                                        <m:t>𝑘</m:t>
                                      </m:r>
                                    </m:e>
                                    <m:sub>
                                      <m:r>
                                        <a:rPr lang="fr-FR" sz="2000" i="1">
                                          <a:latin typeface="Cambria Math"/>
                                          <a:ea typeface="Cambria Math"/>
                                        </a:rPr>
                                        <m:t>𝑥</m:t>
                                      </m:r>
                                    </m:sub>
                                  </m:sSub>
                                  <m:sSup>
                                    <m:sSupPr>
                                      <m:ctrlPr>
                                        <a:rPr lang="fr-FR" sz="2000" i="1">
                                          <a:latin typeface="Cambria Math" panose="02040503050406030204" pitchFamily="18" charset="0"/>
                                          <a:ea typeface="Cambria Math"/>
                                        </a:rPr>
                                      </m:ctrlPr>
                                    </m:sSupPr>
                                    <m:e>
                                      <m:r>
                                        <a:rPr lang="fr-FR" sz="2000" i="1">
                                          <a:latin typeface="Cambria Math"/>
                                          <a:ea typeface="Cambria Math"/>
                                        </a:rPr>
                                        <m:t>𝑥</m:t>
                                      </m:r>
                                    </m:e>
                                    <m:sup>
                                      <m:r>
                                        <a:rPr lang="fr-FR" sz="2000" i="1">
                                          <a:latin typeface="Cambria Math"/>
                                          <a:ea typeface="Cambria Math"/>
                                        </a:rPr>
                                        <m:t>𝑑</m:t>
                                      </m:r>
                                    </m:sup>
                                  </m:sSup>
                                  <m:r>
                                    <a:rPr lang="fr-FR" sz="2000" i="1">
                                      <a:latin typeface="Cambria Math"/>
                                      <a:ea typeface="Cambria Math"/>
                                    </a:rPr>
                                    <m:t>+</m:t>
                                  </m:r>
                                  <m:sSub>
                                    <m:sSubPr>
                                      <m:ctrlPr>
                                        <a:rPr lang="fr-FR" sz="2000" i="1">
                                          <a:latin typeface="Cambria Math" panose="02040503050406030204" pitchFamily="18" charset="0"/>
                                          <a:ea typeface="Cambria Math"/>
                                        </a:rPr>
                                      </m:ctrlPr>
                                    </m:sSubPr>
                                    <m:e>
                                      <m:r>
                                        <a:rPr lang="fr-FR" sz="2000" i="1">
                                          <a:latin typeface="Cambria Math"/>
                                          <a:ea typeface="Cambria Math"/>
                                        </a:rPr>
                                        <m:t>𝑘</m:t>
                                      </m:r>
                                    </m:e>
                                    <m:sub>
                                      <m:r>
                                        <a:rPr lang="fr-FR" sz="2000" i="1">
                                          <a:latin typeface="Cambria Math"/>
                                          <a:ea typeface="Cambria Math"/>
                                        </a:rPr>
                                        <m:t>𝑒𝑥</m:t>
                                      </m:r>
                                    </m:sub>
                                  </m:sSub>
                                  <m:sSub>
                                    <m:sSubPr>
                                      <m:ctrlPr>
                                        <a:rPr lang="fr-FR" sz="2000" i="1">
                                          <a:latin typeface="Cambria Math" panose="02040503050406030204" pitchFamily="18" charset="0"/>
                                          <a:ea typeface="Cambria Math"/>
                                        </a:rPr>
                                      </m:ctrlPr>
                                    </m:sSubPr>
                                    <m:e>
                                      <m:r>
                                        <a:rPr lang="fr-FR" sz="2000" i="1">
                                          <a:latin typeface="Cambria Math"/>
                                          <a:ea typeface="Cambria Math"/>
                                        </a:rPr>
                                        <m:t>𝑥</m:t>
                                      </m:r>
                                    </m:e>
                                    <m:sub>
                                      <m:r>
                                        <a:rPr lang="fr-FR" sz="2000" i="1">
                                          <a:latin typeface="Cambria Math"/>
                                          <a:ea typeface="Cambria Math"/>
                                        </a:rPr>
                                        <m:t>𝑒</m:t>
                                      </m:r>
                                    </m:sub>
                                  </m:sSub>
                                </m:num>
                                <m:den>
                                  <m:sSub>
                                    <m:sSubPr>
                                      <m:ctrlPr>
                                        <a:rPr lang="fr-FR" sz="2000" i="1">
                                          <a:latin typeface="Cambria Math" panose="02040503050406030204" pitchFamily="18" charset="0"/>
                                          <a:ea typeface="Cambria Math"/>
                                        </a:rPr>
                                      </m:ctrlPr>
                                    </m:sSubPr>
                                    <m:e>
                                      <m:r>
                                        <a:rPr lang="fr-FR" sz="2000" i="1">
                                          <a:latin typeface="Cambria Math"/>
                                          <a:ea typeface="Cambria Math"/>
                                        </a:rPr>
                                        <m:t>𝑘</m:t>
                                      </m:r>
                                    </m:e>
                                    <m:sub>
                                      <m:r>
                                        <a:rPr lang="fr-FR" sz="2000" i="1">
                                          <a:latin typeface="Cambria Math"/>
                                          <a:ea typeface="Cambria Math"/>
                                        </a:rPr>
                                        <m:t>𝑥</m:t>
                                      </m:r>
                                    </m:sub>
                                  </m:sSub>
                                  <m:r>
                                    <a:rPr lang="fr-FR" sz="2000" i="1">
                                      <a:latin typeface="Cambria Math"/>
                                      <a:ea typeface="Cambria Math"/>
                                    </a:rPr>
                                    <m:t>+</m:t>
                                  </m:r>
                                  <m:sSub>
                                    <m:sSubPr>
                                      <m:ctrlPr>
                                        <a:rPr lang="fr-FR" sz="2000" i="1">
                                          <a:latin typeface="Cambria Math" panose="02040503050406030204" pitchFamily="18" charset="0"/>
                                          <a:ea typeface="Cambria Math"/>
                                        </a:rPr>
                                      </m:ctrlPr>
                                    </m:sSubPr>
                                    <m:e>
                                      <m:r>
                                        <a:rPr lang="fr-FR" sz="2000" i="1">
                                          <a:latin typeface="Cambria Math"/>
                                          <a:ea typeface="Cambria Math"/>
                                        </a:rPr>
                                        <m:t>𝑘</m:t>
                                      </m:r>
                                    </m:e>
                                    <m:sub>
                                      <m:r>
                                        <a:rPr lang="fr-FR" sz="2000" i="1">
                                          <a:latin typeface="Cambria Math"/>
                                          <a:ea typeface="Cambria Math"/>
                                        </a:rPr>
                                        <m:t>𝑒𝑥</m:t>
                                      </m:r>
                                    </m:sub>
                                  </m:sSub>
                                </m:den>
                              </m:f>
                            </m:e>
                          </m:mr>
                          <m:mr>
                            <m:e>
                              <m:sSup>
                                <m:sSupPr>
                                  <m:ctrlPr>
                                    <a:rPr lang="fr-FR" sz="2000" i="1" smtClean="0">
                                      <a:latin typeface="Cambria Math" panose="02040503050406030204" pitchFamily="18" charset="0"/>
                                      <a:ea typeface="Cambria Math"/>
                                    </a:rPr>
                                  </m:ctrlPr>
                                </m:sSupPr>
                                <m:e>
                                  <m:r>
                                    <a:rPr lang="fr-FR" sz="2000" b="0" i="1" smtClean="0">
                                      <a:latin typeface="Cambria Math"/>
                                      <a:ea typeface="Cambria Math"/>
                                    </a:rPr>
                                    <m:t>𝑦</m:t>
                                  </m:r>
                                </m:e>
                                <m:sup>
                                  <m:r>
                                    <a:rPr lang="fr-FR" sz="2000" b="0" i="1" smtClean="0">
                                      <a:latin typeface="Cambria Math"/>
                                      <a:ea typeface="Cambria Math"/>
                                    </a:rPr>
                                    <m:t>𝑑</m:t>
                                  </m:r>
                                </m:sup>
                              </m:sSup>
                            </m:e>
                          </m:mr>
                        </m:m>
                      </m:e>
                    </m:d>
                  </m:oMath>
                </a14:m>
                <a:endParaRPr lang="fr-FR" sz="2000" dirty="0"/>
              </a:p>
              <a:p>
                <a:endParaRPr lang="fr-FR" dirty="0"/>
              </a:p>
              <a:p>
                <a:pPr marL="0" indent="0">
                  <a:buNone/>
                </a:pPr>
                <a:endParaRPr lang="fr-FR" dirty="0"/>
              </a:p>
              <a:p>
                <a:pPr marL="0" indent="0">
                  <a:buNone/>
                </a:pPr>
                <a:r>
                  <a:rPr lang="fr-FR" dirty="0"/>
                  <a:t>L’environnement élastique fait que le bras manipulateur se déplace jusqu’à atteindre les coordonnées ci-dessus</a:t>
                </a:r>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3"/>
                <a:stretch>
                  <a:fillRect l="-584" t="-552" r="-1096" b="-1768"/>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en compliance</a:t>
            </a:r>
          </a:p>
        </p:txBody>
      </p:sp>
      <p:sp>
        <p:nvSpPr>
          <p:cNvPr id="4" name="Ellipse 3"/>
          <p:cNvSpPr/>
          <p:nvPr/>
        </p:nvSpPr>
        <p:spPr>
          <a:xfrm>
            <a:off x="914400" y="4048125"/>
            <a:ext cx="2533650" cy="1133476"/>
          </a:xfrm>
          <a:prstGeom prst="ellipse">
            <a:avLst/>
          </a:prstGeom>
          <a:noFill/>
          <a:ln w="25400">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Arc 4"/>
          <p:cNvSpPr/>
          <p:nvPr/>
        </p:nvSpPr>
        <p:spPr>
          <a:xfrm>
            <a:off x="2733675" y="5010151"/>
            <a:ext cx="895350" cy="838199"/>
          </a:xfrm>
          <a:prstGeom prst="arc">
            <a:avLst>
              <a:gd name="adj1" fmla="val 16200000"/>
              <a:gd name="adj2" fmla="val 2928847"/>
            </a:avLst>
          </a:prstGeom>
          <a:ln w="25400">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Tree>
    <p:extLst>
      <p:ext uri="{BB962C8B-B14F-4D97-AF65-F5344CB8AC3E}">
        <p14:creationId xmlns:p14="http://schemas.microsoft.com/office/powerpoint/2010/main" val="218013689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r>
                  <a:rPr lang="fr-FR" dirty="0"/>
                  <a:t>À l’équilibre, l’effort de contact tend vers :</a:t>
                </a:r>
              </a:p>
              <a:p>
                <a:pPr marL="0" indent="0">
                  <a:buNone/>
                </a:pPr>
                <a:endParaRPr lang="fr-FR" i="1" dirty="0">
                  <a:latin typeface="Cambria Math"/>
                </a:endParaRPr>
              </a:p>
              <a:p>
                <a:pPr marL="0" indent="0">
                  <a:buNone/>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i="1" smtClean="0">
                              <a:latin typeface="Cambria Math"/>
                              <a:ea typeface="Cambria Math"/>
                            </a:rPr>
                            <m:t>𝕗</m:t>
                          </m:r>
                        </m:e>
                        <m:sub>
                          <m:r>
                            <a:rPr lang="fr-FR" b="0" i="1" smtClean="0">
                              <a:latin typeface="Cambria Math"/>
                            </a:rPr>
                            <m:t>𝑒</m:t>
                          </m:r>
                        </m:sub>
                      </m:sSub>
                      <m:r>
                        <a:rPr lang="fr-FR" i="1" smtClean="0">
                          <a:latin typeface="Cambria Math"/>
                          <a:ea typeface="Cambria Math"/>
                        </a:rPr>
                        <m:t>⟶</m:t>
                      </m:r>
                      <m:d>
                        <m:dPr>
                          <m:ctrlPr>
                            <a:rPr lang="fr-FR" i="1" smtClean="0">
                              <a:latin typeface="Cambria Math" panose="02040503050406030204" pitchFamily="18" charset="0"/>
                              <a:ea typeface="Cambria Math"/>
                            </a:rPr>
                          </m:ctrlPr>
                        </m:dPr>
                        <m:e>
                          <m:eqArr>
                            <m:eqArrPr>
                              <m:ctrlPr>
                                <a:rPr lang="fr-FR" i="1" smtClean="0">
                                  <a:latin typeface="Cambria Math" panose="02040503050406030204" pitchFamily="18" charset="0"/>
                                  <a:ea typeface="Cambria Math"/>
                                </a:rPr>
                              </m:ctrlPr>
                            </m:eqArrPr>
                            <m:e>
                              <m:f>
                                <m:fPr>
                                  <m:ctrlPr>
                                    <a:rPr lang="fr-FR" i="1" smtClean="0">
                                      <a:latin typeface="Cambria Math" panose="02040503050406030204" pitchFamily="18" charset="0"/>
                                      <a:ea typeface="Cambria Math"/>
                                    </a:rPr>
                                  </m:ctrlPr>
                                </m:fPr>
                                <m:num>
                                  <m:sSub>
                                    <m:sSubPr>
                                      <m:ctrlPr>
                                        <a:rPr lang="fr-FR" i="1" smtClean="0">
                                          <a:latin typeface="Cambria Math" panose="02040503050406030204" pitchFamily="18" charset="0"/>
                                          <a:ea typeface="Cambria Math"/>
                                        </a:rPr>
                                      </m:ctrlPr>
                                    </m:sSubPr>
                                    <m:e>
                                      <m:r>
                                        <a:rPr lang="fr-FR" b="0" i="1" smtClean="0">
                                          <a:latin typeface="Cambria Math"/>
                                          <a:ea typeface="Cambria Math"/>
                                        </a:rPr>
                                        <m:t>𝑘</m:t>
                                      </m:r>
                                    </m:e>
                                    <m:sub>
                                      <m:r>
                                        <a:rPr lang="fr-FR" b="0" i="1" smtClean="0">
                                          <a:latin typeface="Cambria Math"/>
                                          <a:ea typeface="Cambria Math"/>
                                        </a:rPr>
                                        <m:t>𝑥</m:t>
                                      </m:r>
                                    </m:sub>
                                  </m:sSub>
                                  <m:sSub>
                                    <m:sSubPr>
                                      <m:ctrlPr>
                                        <a:rPr lang="fr-FR" i="1" smtClean="0">
                                          <a:latin typeface="Cambria Math" panose="02040503050406030204" pitchFamily="18" charset="0"/>
                                          <a:ea typeface="Cambria Math"/>
                                        </a:rPr>
                                      </m:ctrlPr>
                                    </m:sSubPr>
                                    <m:e>
                                      <m:r>
                                        <a:rPr lang="fr-FR" b="0" i="1" smtClean="0">
                                          <a:latin typeface="Cambria Math"/>
                                          <a:ea typeface="Cambria Math"/>
                                        </a:rPr>
                                        <m:t>𝑘</m:t>
                                      </m:r>
                                    </m:e>
                                    <m:sub>
                                      <m:r>
                                        <a:rPr lang="fr-FR" b="0" i="1" smtClean="0">
                                          <a:latin typeface="Cambria Math"/>
                                          <a:ea typeface="Cambria Math"/>
                                        </a:rPr>
                                        <m:t>𝑒𝑥</m:t>
                                      </m:r>
                                    </m:sub>
                                  </m:sSub>
                                </m:num>
                                <m:den>
                                  <m:sSub>
                                    <m:sSubPr>
                                      <m:ctrlPr>
                                        <a:rPr lang="fr-FR" i="1" smtClean="0">
                                          <a:latin typeface="Cambria Math" panose="02040503050406030204" pitchFamily="18" charset="0"/>
                                          <a:ea typeface="Cambria Math"/>
                                        </a:rPr>
                                      </m:ctrlPr>
                                    </m:sSubPr>
                                    <m:e>
                                      <m:r>
                                        <a:rPr lang="fr-FR" b="0" i="1" smtClean="0">
                                          <a:latin typeface="Cambria Math"/>
                                          <a:ea typeface="Cambria Math"/>
                                        </a:rPr>
                                        <m:t>𝑘</m:t>
                                      </m:r>
                                    </m:e>
                                    <m:sub>
                                      <m:r>
                                        <a:rPr lang="fr-FR" b="0" i="1" smtClean="0">
                                          <a:latin typeface="Cambria Math"/>
                                          <a:ea typeface="Cambria Math"/>
                                        </a:rPr>
                                        <m:t>𝑥</m:t>
                                      </m:r>
                                    </m:sub>
                                  </m:sSub>
                                  <m:r>
                                    <a:rPr lang="fr-FR" b="0" i="1" smtClean="0">
                                      <a:latin typeface="Cambria Math"/>
                                      <a:ea typeface="Cambria Math"/>
                                    </a:rPr>
                                    <m:t>+</m:t>
                                  </m:r>
                                  <m:sSub>
                                    <m:sSubPr>
                                      <m:ctrlPr>
                                        <a:rPr lang="fr-FR" b="0" i="1" smtClean="0">
                                          <a:latin typeface="Cambria Math" panose="02040503050406030204" pitchFamily="18" charset="0"/>
                                          <a:ea typeface="Cambria Math"/>
                                        </a:rPr>
                                      </m:ctrlPr>
                                    </m:sSubPr>
                                    <m:e>
                                      <m:r>
                                        <a:rPr lang="fr-FR" b="0" i="1" smtClean="0">
                                          <a:latin typeface="Cambria Math"/>
                                          <a:ea typeface="Cambria Math"/>
                                        </a:rPr>
                                        <m:t>𝑘</m:t>
                                      </m:r>
                                    </m:e>
                                    <m:sub>
                                      <m:r>
                                        <a:rPr lang="fr-FR" b="0" i="1" smtClean="0">
                                          <a:latin typeface="Cambria Math"/>
                                          <a:ea typeface="Cambria Math"/>
                                        </a:rPr>
                                        <m:t>𝑒𝑥</m:t>
                                      </m:r>
                                    </m:sub>
                                  </m:sSub>
                                </m:den>
                              </m:f>
                              <m:d>
                                <m:dPr>
                                  <m:ctrlPr>
                                    <a:rPr lang="fr-FR" i="1" smtClean="0">
                                      <a:latin typeface="Cambria Math" panose="02040503050406030204" pitchFamily="18" charset="0"/>
                                      <a:ea typeface="Cambria Math"/>
                                    </a:rPr>
                                  </m:ctrlPr>
                                </m:dPr>
                                <m:e>
                                  <m:sSup>
                                    <m:sSupPr>
                                      <m:ctrlPr>
                                        <a:rPr lang="fr-FR" i="1" smtClean="0">
                                          <a:latin typeface="Cambria Math" panose="02040503050406030204" pitchFamily="18" charset="0"/>
                                          <a:ea typeface="Cambria Math"/>
                                        </a:rPr>
                                      </m:ctrlPr>
                                    </m:sSupPr>
                                    <m:e>
                                      <m:r>
                                        <a:rPr lang="fr-FR" b="0" i="1" smtClean="0">
                                          <a:latin typeface="Cambria Math"/>
                                          <a:ea typeface="Cambria Math"/>
                                        </a:rPr>
                                        <m:t>𝑥</m:t>
                                      </m:r>
                                    </m:e>
                                    <m:sup>
                                      <m:r>
                                        <a:rPr lang="fr-FR" b="0" i="1" smtClean="0">
                                          <a:latin typeface="Cambria Math"/>
                                          <a:ea typeface="Cambria Math"/>
                                        </a:rPr>
                                        <m:t>𝑑</m:t>
                                      </m:r>
                                    </m:sup>
                                  </m:sSup>
                                  <m:r>
                                    <a:rPr lang="fr-FR" b="0" i="1" smtClean="0">
                                      <a:latin typeface="Cambria Math"/>
                                      <a:ea typeface="Cambria Math"/>
                                    </a:rPr>
                                    <m:t>−</m:t>
                                  </m:r>
                                  <m:sSub>
                                    <m:sSubPr>
                                      <m:ctrlPr>
                                        <a:rPr lang="fr-FR" b="0" i="1" smtClean="0">
                                          <a:latin typeface="Cambria Math" panose="02040503050406030204" pitchFamily="18" charset="0"/>
                                          <a:ea typeface="Cambria Math"/>
                                        </a:rPr>
                                      </m:ctrlPr>
                                    </m:sSubPr>
                                    <m:e>
                                      <m:r>
                                        <a:rPr lang="fr-FR" b="0" i="1" smtClean="0">
                                          <a:latin typeface="Cambria Math"/>
                                          <a:ea typeface="Cambria Math"/>
                                        </a:rPr>
                                        <m:t>𝑥</m:t>
                                      </m:r>
                                    </m:e>
                                    <m:sub>
                                      <m:r>
                                        <a:rPr lang="fr-FR" b="0" i="1" smtClean="0">
                                          <a:latin typeface="Cambria Math"/>
                                          <a:ea typeface="Cambria Math"/>
                                        </a:rPr>
                                        <m:t>𝑒</m:t>
                                      </m:r>
                                    </m:sub>
                                  </m:sSub>
                                </m:e>
                              </m:d>
                            </m:e>
                            <m:e>
                              <m:r>
                                <a:rPr lang="fr-FR" b="0" i="1" smtClean="0">
                                  <a:latin typeface="Cambria Math"/>
                                </a:rPr>
                                <m:t>0</m:t>
                              </m:r>
                            </m:e>
                          </m:eqArr>
                        </m:e>
                      </m:d>
                    </m:oMath>
                  </m:oMathPara>
                </a14:m>
                <a:endParaRPr lang="fr-FR" dirty="0">
                  <a:ea typeface="Cambria Math"/>
                </a:endParaRPr>
              </a:p>
              <a:p>
                <a:pPr marL="0" indent="0">
                  <a:buNone/>
                </a:pPr>
                <a:endParaRPr lang="fr-FR" dirty="0"/>
              </a:p>
              <a:p>
                <a:r>
                  <a:rPr lang="fr-FR" dirty="0"/>
                  <a:t>La raideur du bras manipulateur et la raideur de l’environnement influence les configurations  d’équilibre</a:t>
                </a:r>
              </a:p>
              <a:p>
                <a:endParaRPr lang="fr-FR" dirty="0"/>
              </a:p>
              <a:p>
                <a14:m>
                  <m:oMath xmlns:m="http://schemas.openxmlformats.org/officeDocument/2006/math">
                    <m:f>
                      <m:fPr>
                        <m:type m:val="lin"/>
                        <m:ctrlPr>
                          <a:rPr lang="fr-FR" i="1" smtClean="0">
                            <a:latin typeface="Cambria Math" panose="02040503050406030204" pitchFamily="18" charset="0"/>
                          </a:rPr>
                        </m:ctrlPr>
                      </m:fPr>
                      <m:num>
                        <m:sSub>
                          <m:sSubPr>
                            <m:ctrlPr>
                              <a:rPr lang="fr-FR" i="1" smtClean="0">
                                <a:latin typeface="Cambria Math" panose="02040503050406030204" pitchFamily="18" charset="0"/>
                              </a:rPr>
                            </m:ctrlPr>
                          </m:sSubPr>
                          <m:e>
                            <m:r>
                              <a:rPr lang="fr-FR" b="0" i="1" smtClean="0">
                                <a:latin typeface="Cambria Math"/>
                              </a:rPr>
                              <m:t>𝑘</m:t>
                            </m:r>
                          </m:e>
                          <m:sub>
                            <m:r>
                              <a:rPr lang="fr-FR" b="0" i="1" smtClean="0">
                                <a:latin typeface="Cambria Math"/>
                              </a:rPr>
                              <m:t>𝑥</m:t>
                            </m:r>
                          </m:sub>
                        </m:sSub>
                      </m:num>
                      <m:den>
                        <m:sSub>
                          <m:sSubPr>
                            <m:ctrlPr>
                              <a:rPr lang="fr-FR" i="1" smtClean="0">
                                <a:latin typeface="Cambria Math" panose="02040503050406030204" pitchFamily="18" charset="0"/>
                              </a:rPr>
                            </m:ctrlPr>
                          </m:sSubPr>
                          <m:e>
                            <m:r>
                              <a:rPr lang="fr-FR" b="0" i="1" smtClean="0">
                                <a:latin typeface="Cambria Math"/>
                              </a:rPr>
                              <m:t>𝑘</m:t>
                            </m:r>
                          </m:e>
                          <m:sub>
                            <m:r>
                              <a:rPr lang="fr-FR" b="0" i="1" smtClean="0">
                                <a:latin typeface="Cambria Math"/>
                              </a:rPr>
                              <m:t>𝑒𝑥</m:t>
                            </m:r>
                          </m:sub>
                        </m:sSub>
                      </m:den>
                    </m:f>
                    <m:r>
                      <a:rPr lang="fr-FR" i="1" smtClean="0">
                        <a:latin typeface="Cambria Math"/>
                        <a:ea typeface="Cambria Math"/>
                      </a:rPr>
                      <m:t>≫</m:t>
                    </m:r>
                    <m:r>
                      <a:rPr lang="fr-FR" b="0" i="1" smtClean="0">
                        <a:latin typeface="Cambria Math"/>
                        <a:ea typeface="Cambria Math"/>
                      </a:rPr>
                      <m:t>1</m:t>
                    </m:r>
                  </m:oMath>
                </a14:m>
                <a:r>
                  <a:rPr lang="fr-FR" dirty="0"/>
                  <a:t> </a:t>
                </a:r>
                <a14:m>
                  <m:oMath xmlns:m="http://schemas.openxmlformats.org/officeDocument/2006/math">
                    <m:r>
                      <a:rPr lang="fr-FR" i="1" dirty="0" smtClean="0">
                        <a:latin typeface="Cambria Math"/>
                        <a:ea typeface="Cambria Math"/>
                      </a:rPr>
                      <m:t>⟹</m:t>
                    </m:r>
                  </m:oMath>
                </a14:m>
                <a:r>
                  <a:rPr lang="fr-FR" dirty="0"/>
                  <a:t> </a:t>
                </a:r>
                <a14:m>
                  <m:oMath xmlns:m="http://schemas.openxmlformats.org/officeDocument/2006/math">
                    <m:r>
                      <a:rPr lang="fr-FR" b="0" i="1" dirty="0" smtClean="0">
                        <a:latin typeface="Cambria Math"/>
                      </a:rPr>
                      <m:t>𝑥</m:t>
                    </m:r>
                    <m:r>
                      <a:rPr lang="fr-FR" b="0" i="1" dirty="0" smtClean="0">
                        <a:latin typeface="Cambria Math"/>
                        <a:ea typeface="Cambria Math"/>
                      </a:rPr>
                      <m:t>⟶</m:t>
                    </m:r>
                    <m:sSup>
                      <m:sSupPr>
                        <m:ctrlPr>
                          <a:rPr lang="fr-FR" b="0" i="1" dirty="0" smtClean="0">
                            <a:latin typeface="Cambria Math" panose="02040503050406030204" pitchFamily="18" charset="0"/>
                            <a:ea typeface="Cambria Math"/>
                          </a:rPr>
                        </m:ctrlPr>
                      </m:sSupPr>
                      <m:e>
                        <m:r>
                          <a:rPr lang="fr-FR" b="0" i="1" dirty="0" smtClean="0">
                            <a:latin typeface="Cambria Math"/>
                            <a:ea typeface="Cambria Math"/>
                          </a:rPr>
                          <m:t>𝑥</m:t>
                        </m:r>
                      </m:e>
                      <m:sup>
                        <m:r>
                          <a:rPr lang="fr-FR" b="0" i="1" dirty="0" smtClean="0">
                            <a:latin typeface="Cambria Math"/>
                            <a:ea typeface="Cambria Math"/>
                          </a:rPr>
                          <m:t>𝑑</m:t>
                        </m:r>
                      </m:sup>
                    </m:sSup>
                  </m:oMath>
                </a14:m>
                <a:r>
                  <a:rPr lang="fr-FR" dirty="0"/>
                  <a:t>,	</a:t>
                </a:r>
                <a14:m>
                  <m:oMath xmlns:m="http://schemas.openxmlformats.org/officeDocument/2006/math">
                    <m:sSub>
                      <m:sSubPr>
                        <m:ctrlPr>
                          <a:rPr lang="fr-FR" i="1" dirty="0" smtClean="0">
                            <a:latin typeface="Cambria Math" panose="02040503050406030204" pitchFamily="18" charset="0"/>
                          </a:rPr>
                        </m:ctrlPr>
                      </m:sSubPr>
                      <m:e>
                        <m:r>
                          <a:rPr lang="fr-FR" b="0" i="1" dirty="0" smtClean="0">
                            <a:latin typeface="Cambria Math"/>
                          </a:rPr>
                          <m:t>𝑓</m:t>
                        </m:r>
                      </m:e>
                      <m:sub>
                        <m:r>
                          <a:rPr lang="fr-FR" b="0" i="1" dirty="0" smtClean="0">
                            <a:latin typeface="Cambria Math"/>
                          </a:rPr>
                          <m:t>𝑒𝑥</m:t>
                        </m:r>
                      </m:sub>
                    </m:sSub>
                    <m:r>
                      <a:rPr lang="fr-FR" i="1" dirty="0" smtClean="0">
                        <a:latin typeface="Cambria Math"/>
                        <a:ea typeface="Cambria Math"/>
                      </a:rPr>
                      <m:t>⟶</m:t>
                    </m:r>
                    <m:sSub>
                      <m:sSubPr>
                        <m:ctrlPr>
                          <a:rPr lang="fr-FR" i="1" dirty="0" smtClean="0">
                            <a:latin typeface="Cambria Math" panose="02040503050406030204" pitchFamily="18" charset="0"/>
                            <a:ea typeface="Cambria Math"/>
                          </a:rPr>
                        </m:ctrlPr>
                      </m:sSubPr>
                      <m:e>
                        <m:r>
                          <a:rPr lang="fr-FR" b="0" i="1" dirty="0" smtClean="0">
                            <a:latin typeface="Cambria Math"/>
                            <a:ea typeface="Cambria Math"/>
                          </a:rPr>
                          <m:t>𝑘</m:t>
                        </m:r>
                      </m:e>
                      <m:sub>
                        <m:r>
                          <a:rPr lang="fr-FR" b="0" i="1" dirty="0" smtClean="0">
                            <a:latin typeface="Cambria Math"/>
                            <a:ea typeface="Cambria Math"/>
                          </a:rPr>
                          <m:t>𝑒𝑥</m:t>
                        </m:r>
                      </m:sub>
                    </m:sSub>
                    <m:d>
                      <m:dPr>
                        <m:ctrlPr>
                          <a:rPr lang="fr-FR" i="1" dirty="0" smtClean="0">
                            <a:latin typeface="Cambria Math" panose="02040503050406030204" pitchFamily="18" charset="0"/>
                            <a:ea typeface="Cambria Math"/>
                          </a:rPr>
                        </m:ctrlPr>
                      </m:dPr>
                      <m:e>
                        <m:sSup>
                          <m:sSupPr>
                            <m:ctrlPr>
                              <a:rPr lang="fr-FR" i="1" dirty="0" smtClean="0">
                                <a:latin typeface="Cambria Math" panose="02040503050406030204" pitchFamily="18" charset="0"/>
                                <a:ea typeface="Cambria Math"/>
                              </a:rPr>
                            </m:ctrlPr>
                          </m:sSupPr>
                          <m:e>
                            <m:r>
                              <a:rPr lang="fr-FR" b="0" i="1" dirty="0" smtClean="0">
                                <a:latin typeface="Cambria Math"/>
                                <a:ea typeface="Cambria Math"/>
                              </a:rPr>
                              <m:t>𝑥</m:t>
                            </m:r>
                          </m:e>
                          <m:sup>
                            <m:r>
                              <a:rPr lang="fr-FR" b="0" i="1" dirty="0" smtClean="0">
                                <a:latin typeface="Cambria Math"/>
                                <a:ea typeface="Cambria Math"/>
                              </a:rPr>
                              <m:t>𝑑</m:t>
                            </m:r>
                          </m:sup>
                        </m:sSup>
                        <m:r>
                          <a:rPr lang="fr-FR" b="0" i="1" dirty="0" smtClean="0">
                            <a:latin typeface="Cambria Math"/>
                            <a:ea typeface="Cambria Math"/>
                          </a:rPr>
                          <m:t>−</m:t>
                        </m:r>
                        <m:sSub>
                          <m:sSubPr>
                            <m:ctrlPr>
                              <a:rPr lang="fr-FR" b="0" i="1" dirty="0" smtClean="0">
                                <a:latin typeface="Cambria Math" panose="02040503050406030204" pitchFamily="18" charset="0"/>
                                <a:ea typeface="Cambria Math"/>
                              </a:rPr>
                            </m:ctrlPr>
                          </m:sSubPr>
                          <m:e>
                            <m:r>
                              <a:rPr lang="fr-FR" b="0" i="1" dirty="0" smtClean="0">
                                <a:latin typeface="Cambria Math"/>
                                <a:ea typeface="Cambria Math"/>
                              </a:rPr>
                              <m:t>𝑥</m:t>
                            </m:r>
                          </m:e>
                          <m:sub>
                            <m:r>
                              <a:rPr lang="fr-FR" b="0" i="1" dirty="0" smtClean="0">
                                <a:latin typeface="Cambria Math"/>
                                <a:ea typeface="Cambria Math"/>
                              </a:rPr>
                              <m:t>𝑒</m:t>
                            </m:r>
                          </m:sub>
                        </m:sSub>
                      </m:e>
                    </m:d>
                  </m:oMath>
                </a14:m>
                <a:endParaRPr lang="fr-FR" dirty="0"/>
              </a:p>
              <a:p>
                <a:pPr marL="0" indent="0">
                  <a:buNone/>
                </a:pPr>
                <a:r>
                  <a:rPr lang="fr-FR" dirty="0">
                    <a:sym typeface="Wingdings" panose="05000000000000000000" pitchFamily="2" charset="2"/>
                  </a:rPr>
                  <a:t></a:t>
                </a:r>
                <a:r>
                  <a:rPr lang="fr-FR" dirty="0"/>
                  <a:t>Le bras l’emporte sur l’environnement. L’effort élastique est généré par la raideur de l’environnement (raideur passive)</a:t>
                </a:r>
              </a:p>
              <a:p>
                <a:endParaRPr lang="fr-FR" dirty="0"/>
              </a:p>
              <a:p>
                <a14:m>
                  <m:oMath xmlns:m="http://schemas.openxmlformats.org/officeDocument/2006/math">
                    <m:f>
                      <m:fPr>
                        <m:type m:val="lin"/>
                        <m:ctrlPr>
                          <a:rPr lang="fr-FR" i="1">
                            <a:latin typeface="Cambria Math" panose="02040503050406030204" pitchFamily="18" charset="0"/>
                          </a:rPr>
                        </m:ctrlPr>
                      </m:fPr>
                      <m:num>
                        <m:sSub>
                          <m:sSubPr>
                            <m:ctrlPr>
                              <a:rPr lang="fr-FR" i="1">
                                <a:latin typeface="Cambria Math" panose="02040503050406030204" pitchFamily="18" charset="0"/>
                              </a:rPr>
                            </m:ctrlPr>
                          </m:sSubPr>
                          <m:e>
                            <m:r>
                              <a:rPr lang="fr-FR" i="1">
                                <a:latin typeface="Cambria Math"/>
                              </a:rPr>
                              <m:t>𝑘</m:t>
                            </m:r>
                          </m:e>
                          <m:sub>
                            <m:r>
                              <a:rPr lang="fr-FR" i="1">
                                <a:latin typeface="Cambria Math"/>
                              </a:rPr>
                              <m:t>𝑥</m:t>
                            </m:r>
                          </m:sub>
                        </m:sSub>
                      </m:num>
                      <m:den>
                        <m:sSub>
                          <m:sSubPr>
                            <m:ctrlPr>
                              <a:rPr lang="fr-FR" i="1">
                                <a:latin typeface="Cambria Math" panose="02040503050406030204" pitchFamily="18" charset="0"/>
                              </a:rPr>
                            </m:ctrlPr>
                          </m:sSubPr>
                          <m:e>
                            <m:r>
                              <a:rPr lang="fr-FR" i="1">
                                <a:latin typeface="Cambria Math"/>
                              </a:rPr>
                              <m:t>𝑘</m:t>
                            </m:r>
                          </m:e>
                          <m:sub>
                            <m:r>
                              <a:rPr lang="fr-FR" i="1">
                                <a:latin typeface="Cambria Math"/>
                              </a:rPr>
                              <m:t>𝑒𝑥</m:t>
                            </m:r>
                          </m:sub>
                        </m:sSub>
                      </m:den>
                    </m:f>
                    <m:r>
                      <a:rPr lang="fr-FR" i="1" smtClean="0">
                        <a:latin typeface="Cambria Math"/>
                        <a:ea typeface="Cambria Math"/>
                      </a:rPr>
                      <m:t>≪</m:t>
                    </m:r>
                    <m:r>
                      <a:rPr lang="fr-FR" i="1">
                        <a:latin typeface="Cambria Math"/>
                        <a:ea typeface="Cambria Math"/>
                      </a:rPr>
                      <m:t>1</m:t>
                    </m:r>
                  </m:oMath>
                </a14:m>
                <a:r>
                  <a:rPr lang="fr-FR" dirty="0"/>
                  <a:t> </a:t>
                </a:r>
                <a14:m>
                  <m:oMath xmlns:m="http://schemas.openxmlformats.org/officeDocument/2006/math">
                    <m:r>
                      <a:rPr lang="fr-FR" i="1" dirty="0">
                        <a:latin typeface="Cambria Math"/>
                        <a:ea typeface="Cambria Math"/>
                      </a:rPr>
                      <m:t>⟹</m:t>
                    </m:r>
                  </m:oMath>
                </a14:m>
                <a:r>
                  <a:rPr lang="fr-FR" dirty="0"/>
                  <a:t> </a:t>
                </a:r>
                <a14:m>
                  <m:oMath xmlns:m="http://schemas.openxmlformats.org/officeDocument/2006/math">
                    <m:r>
                      <a:rPr lang="fr-FR" i="1" dirty="0">
                        <a:latin typeface="Cambria Math"/>
                      </a:rPr>
                      <m:t>𝑥</m:t>
                    </m:r>
                    <m:r>
                      <a:rPr lang="fr-FR" i="1" dirty="0">
                        <a:latin typeface="Cambria Math"/>
                        <a:ea typeface="Cambria Math"/>
                      </a:rPr>
                      <m:t>⟶</m:t>
                    </m:r>
                    <m:sSub>
                      <m:sSubPr>
                        <m:ctrlPr>
                          <a:rPr lang="fr-FR" i="1" dirty="0" smtClean="0">
                            <a:latin typeface="Cambria Math" panose="02040503050406030204" pitchFamily="18" charset="0"/>
                            <a:ea typeface="Cambria Math"/>
                          </a:rPr>
                        </m:ctrlPr>
                      </m:sSubPr>
                      <m:e>
                        <m:r>
                          <a:rPr lang="fr-FR" b="0" i="1" dirty="0" smtClean="0">
                            <a:latin typeface="Cambria Math"/>
                            <a:ea typeface="Cambria Math"/>
                          </a:rPr>
                          <m:t>𝑥</m:t>
                        </m:r>
                      </m:e>
                      <m:sub>
                        <m:r>
                          <a:rPr lang="fr-FR" b="0" i="1" dirty="0" smtClean="0">
                            <a:latin typeface="Cambria Math"/>
                            <a:ea typeface="Cambria Math"/>
                          </a:rPr>
                          <m:t>𝑒</m:t>
                        </m:r>
                      </m:sub>
                    </m:sSub>
                  </m:oMath>
                </a14:m>
                <a:r>
                  <a:rPr lang="fr-FR" dirty="0"/>
                  <a:t>,	</a:t>
                </a:r>
                <a14:m>
                  <m:oMath xmlns:m="http://schemas.openxmlformats.org/officeDocument/2006/math">
                    <m:sSub>
                      <m:sSubPr>
                        <m:ctrlPr>
                          <a:rPr lang="fr-FR" i="1" dirty="0">
                            <a:latin typeface="Cambria Math" panose="02040503050406030204" pitchFamily="18" charset="0"/>
                          </a:rPr>
                        </m:ctrlPr>
                      </m:sSubPr>
                      <m:e>
                        <m:r>
                          <a:rPr lang="fr-FR" i="1" dirty="0">
                            <a:latin typeface="Cambria Math"/>
                          </a:rPr>
                          <m:t>𝑓</m:t>
                        </m:r>
                      </m:e>
                      <m:sub>
                        <m:r>
                          <a:rPr lang="fr-FR" i="1" dirty="0">
                            <a:latin typeface="Cambria Math"/>
                          </a:rPr>
                          <m:t>𝑒𝑥</m:t>
                        </m:r>
                      </m:sub>
                    </m:sSub>
                    <m:r>
                      <a:rPr lang="fr-FR" i="1" dirty="0">
                        <a:latin typeface="Cambria Math"/>
                        <a:ea typeface="Cambria Math"/>
                      </a:rPr>
                      <m:t>⟶</m:t>
                    </m:r>
                    <m:sSub>
                      <m:sSubPr>
                        <m:ctrlPr>
                          <a:rPr lang="fr-FR" i="1" dirty="0">
                            <a:latin typeface="Cambria Math" panose="02040503050406030204" pitchFamily="18" charset="0"/>
                            <a:ea typeface="Cambria Math"/>
                          </a:rPr>
                        </m:ctrlPr>
                      </m:sSubPr>
                      <m:e>
                        <m:r>
                          <a:rPr lang="fr-FR" i="1" dirty="0">
                            <a:latin typeface="Cambria Math"/>
                            <a:ea typeface="Cambria Math"/>
                          </a:rPr>
                          <m:t>𝑘</m:t>
                        </m:r>
                      </m:e>
                      <m:sub>
                        <m:r>
                          <a:rPr lang="fr-FR" i="1" dirty="0">
                            <a:latin typeface="Cambria Math"/>
                            <a:ea typeface="Cambria Math"/>
                          </a:rPr>
                          <m:t>𝑥</m:t>
                        </m:r>
                      </m:sub>
                    </m:sSub>
                    <m:d>
                      <m:dPr>
                        <m:ctrlPr>
                          <a:rPr lang="fr-FR" i="1" dirty="0">
                            <a:latin typeface="Cambria Math" panose="02040503050406030204" pitchFamily="18" charset="0"/>
                            <a:ea typeface="Cambria Math"/>
                          </a:rPr>
                        </m:ctrlPr>
                      </m:dPr>
                      <m:e>
                        <m:sSup>
                          <m:sSupPr>
                            <m:ctrlPr>
                              <a:rPr lang="fr-FR" i="1" dirty="0">
                                <a:latin typeface="Cambria Math" panose="02040503050406030204" pitchFamily="18" charset="0"/>
                                <a:ea typeface="Cambria Math"/>
                              </a:rPr>
                            </m:ctrlPr>
                          </m:sSupPr>
                          <m:e>
                            <m:r>
                              <a:rPr lang="fr-FR" i="1" dirty="0">
                                <a:latin typeface="Cambria Math"/>
                                <a:ea typeface="Cambria Math"/>
                              </a:rPr>
                              <m:t>𝑥</m:t>
                            </m:r>
                          </m:e>
                          <m:sup>
                            <m:r>
                              <a:rPr lang="fr-FR" i="1" dirty="0">
                                <a:latin typeface="Cambria Math"/>
                                <a:ea typeface="Cambria Math"/>
                              </a:rPr>
                              <m:t>𝑑</m:t>
                            </m:r>
                          </m:sup>
                        </m:sSup>
                        <m:r>
                          <a:rPr lang="fr-FR" i="1" dirty="0">
                            <a:latin typeface="Cambria Math"/>
                            <a:ea typeface="Cambria Math"/>
                          </a:rPr>
                          <m:t>−</m:t>
                        </m:r>
                        <m:sSub>
                          <m:sSubPr>
                            <m:ctrlPr>
                              <a:rPr lang="fr-FR" i="1" dirty="0">
                                <a:latin typeface="Cambria Math" panose="02040503050406030204" pitchFamily="18" charset="0"/>
                                <a:ea typeface="Cambria Math"/>
                              </a:rPr>
                            </m:ctrlPr>
                          </m:sSubPr>
                          <m:e>
                            <m:r>
                              <a:rPr lang="fr-FR" i="1" dirty="0">
                                <a:latin typeface="Cambria Math"/>
                                <a:ea typeface="Cambria Math"/>
                              </a:rPr>
                              <m:t>𝑥</m:t>
                            </m:r>
                          </m:e>
                          <m:sub>
                            <m:r>
                              <a:rPr lang="fr-FR" i="1" dirty="0">
                                <a:latin typeface="Cambria Math"/>
                                <a:ea typeface="Cambria Math"/>
                              </a:rPr>
                              <m:t>𝑒</m:t>
                            </m:r>
                          </m:sub>
                        </m:sSub>
                      </m:e>
                    </m:d>
                  </m:oMath>
                </a14:m>
                <a:endParaRPr lang="fr-FR" dirty="0"/>
              </a:p>
              <a:p>
                <a:pPr marL="0" indent="0">
                  <a:buNone/>
                </a:pPr>
                <a:r>
                  <a:rPr lang="fr-FR" dirty="0">
                    <a:sym typeface="Wingdings" panose="05000000000000000000" pitchFamily="2" charset="2"/>
                  </a:rPr>
                  <a:t></a:t>
                </a:r>
                <a:r>
                  <a:rPr lang="fr-FR" dirty="0"/>
                  <a:t>L’environnement l’emporte sur le bras. L’effort élastique est principalement formé par la raideur du bras (raideur active) </a:t>
                </a:r>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3"/>
                <a:stretch>
                  <a:fillRect l="-584" t="-552"/>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en compliance</a:t>
            </a:r>
          </a:p>
        </p:txBody>
      </p:sp>
      <p:sp>
        <p:nvSpPr>
          <p:cNvPr id="4" name="Ellipse 3"/>
          <p:cNvSpPr/>
          <p:nvPr/>
        </p:nvSpPr>
        <p:spPr>
          <a:xfrm>
            <a:off x="3724276" y="1571625"/>
            <a:ext cx="981074" cy="781050"/>
          </a:xfrm>
          <a:prstGeom prst="ellipse">
            <a:avLst/>
          </a:prstGeom>
          <a:noFill/>
          <a:ln w="25400">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p:cNvSpPr txBox="1"/>
          <p:nvPr/>
        </p:nvSpPr>
        <p:spPr>
          <a:xfrm>
            <a:off x="5819775" y="1495425"/>
            <a:ext cx="1866899" cy="461665"/>
          </a:xfrm>
          <a:prstGeom prst="rect">
            <a:avLst/>
          </a:prstGeom>
          <a:noFill/>
        </p:spPr>
        <p:txBody>
          <a:bodyPr wrap="square" rtlCol="0">
            <a:spAutoFit/>
          </a:bodyPr>
          <a:lstStyle/>
          <a:p>
            <a:pPr marL="0" lvl="1"/>
            <a:r>
              <a:rPr lang="fr-FR" sz="1200" dirty="0"/>
              <a:t>Raideur équivalente (composition parallèle)</a:t>
            </a:r>
          </a:p>
        </p:txBody>
      </p:sp>
      <p:sp>
        <p:nvSpPr>
          <p:cNvPr id="6" name="Arc 5"/>
          <p:cNvSpPr/>
          <p:nvPr/>
        </p:nvSpPr>
        <p:spPr>
          <a:xfrm>
            <a:off x="4543425" y="1500484"/>
            <a:ext cx="1476375" cy="337841"/>
          </a:xfrm>
          <a:prstGeom prst="arc">
            <a:avLst>
              <a:gd name="adj1" fmla="val 11013879"/>
              <a:gd name="adj2" fmla="val 21017979"/>
            </a:avLst>
          </a:prstGeom>
          <a:ln w="25400">
            <a:tailEnd type="arrow"/>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Tree>
    <p:extLst>
      <p:ext uri="{BB962C8B-B14F-4D97-AF65-F5344CB8AC3E}">
        <p14:creationId xmlns:p14="http://schemas.microsoft.com/office/powerpoint/2010/main" val="124522239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lgn="just">
                  <a:buNone/>
                </a:pPr>
                <a:r>
                  <a:rPr lang="fr-FR" dirty="0"/>
                  <a:t>La notion d’impédance a été formalisée par [</a:t>
                </a:r>
                <a:r>
                  <a:rPr lang="fr-FR" dirty="0" err="1"/>
                  <a:t>Hogan</a:t>
                </a:r>
                <a:r>
                  <a:rPr lang="fr-FR" dirty="0"/>
                  <a:t> 85] et est définie comme une fonction de transfert </a:t>
                </a:r>
                <a14:m>
                  <m:oMath xmlns:m="http://schemas.openxmlformats.org/officeDocument/2006/math">
                    <m:r>
                      <a:rPr lang="fr-FR" b="1" i="0" smtClean="0">
                        <a:latin typeface="Cambria Math"/>
                      </a:rPr>
                      <m:t>𝐙</m:t>
                    </m:r>
                    <m:d>
                      <m:dPr>
                        <m:ctrlPr>
                          <a:rPr lang="fr-FR" b="0" i="1" smtClean="0">
                            <a:latin typeface="Cambria Math" panose="02040503050406030204" pitchFamily="18" charset="0"/>
                          </a:rPr>
                        </m:ctrlPr>
                      </m:dPr>
                      <m:e>
                        <m:r>
                          <a:rPr lang="fr-FR" b="0" i="1" smtClean="0">
                            <a:latin typeface="Cambria Math"/>
                          </a:rPr>
                          <m:t>𝑠</m:t>
                        </m:r>
                      </m:e>
                    </m:d>
                  </m:oMath>
                </a14:m>
                <a:r>
                  <a:rPr lang="fr-FR" dirty="0"/>
                  <a:t> qui relie la vitesse de l’OT et l’effort appliqué par l’OT sur l’environnement :</a:t>
                </a:r>
              </a:p>
              <a:p>
                <a:pPr marL="0" indent="0">
                  <a:buNone/>
                </a:pPr>
                <a:endParaRPr lang="fr-FR" b="1" i="1" dirty="0">
                  <a:latin typeface="Cambria Math"/>
                </a:endParaRPr>
              </a:p>
              <a:p>
                <a:pPr marL="0" indent="0">
                  <a:buNone/>
                </a:pPr>
                <a14:m>
                  <m:oMathPara xmlns:m="http://schemas.openxmlformats.org/officeDocument/2006/math">
                    <m:oMathParaPr>
                      <m:jc m:val="centerGroup"/>
                    </m:oMathParaPr>
                    <m:oMath xmlns:m="http://schemas.openxmlformats.org/officeDocument/2006/math">
                      <m:r>
                        <a:rPr lang="fr-FR" b="0" i="1" smtClean="0">
                          <a:latin typeface="Cambria Math"/>
                          <a:ea typeface="Cambria Math"/>
                        </a:rPr>
                        <m:t>𝕗</m:t>
                      </m:r>
                      <m:d>
                        <m:dPr>
                          <m:ctrlPr>
                            <a:rPr lang="fr-FR" b="0" i="1" smtClean="0">
                              <a:latin typeface="Cambria Math" panose="02040503050406030204" pitchFamily="18" charset="0"/>
                            </a:rPr>
                          </m:ctrlPr>
                        </m:dPr>
                        <m:e>
                          <m:r>
                            <a:rPr lang="fr-FR" b="0" i="1" smtClean="0">
                              <a:latin typeface="Cambria Math"/>
                            </a:rPr>
                            <m:t>𝑠</m:t>
                          </m:r>
                        </m:e>
                      </m:d>
                      <m:r>
                        <a:rPr lang="fr-FR" b="0" i="1" smtClean="0">
                          <a:latin typeface="Cambria Math"/>
                        </a:rPr>
                        <m:t>=</m:t>
                      </m:r>
                      <m:r>
                        <a:rPr lang="fr-FR" b="1" i="0" smtClean="0">
                          <a:latin typeface="Cambria Math"/>
                        </a:rPr>
                        <m:t>𝐙</m:t>
                      </m:r>
                      <m:d>
                        <m:dPr>
                          <m:ctrlPr>
                            <a:rPr lang="fr-FR" b="0" i="1" smtClean="0">
                              <a:latin typeface="Cambria Math" panose="02040503050406030204" pitchFamily="18" charset="0"/>
                            </a:rPr>
                          </m:ctrlPr>
                        </m:dPr>
                        <m:e>
                          <m:r>
                            <a:rPr lang="fr-FR" b="0" i="1" smtClean="0">
                              <a:latin typeface="Cambria Math"/>
                            </a:rPr>
                            <m:t>𝑠</m:t>
                          </m:r>
                        </m:e>
                      </m:d>
                      <m:r>
                        <a:rPr lang="fr-FR" b="1" i="0" smtClean="0">
                          <a:latin typeface="Cambria Math"/>
                        </a:rPr>
                        <m:t>𝐝𝐱</m:t>
                      </m:r>
                      <m:r>
                        <a:rPr lang="fr-FR" b="0" i="1" smtClean="0">
                          <a:latin typeface="Cambria Math"/>
                        </a:rPr>
                        <m:t>(</m:t>
                      </m:r>
                      <m:r>
                        <a:rPr lang="fr-FR" b="0" i="1" smtClean="0">
                          <a:latin typeface="Cambria Math"/>
                        </a:rPr>
                        <m:t>𝑠</m:t>
                      </m:r>
                      <m:r>
                        <a:rPr lang="fr-FR" b="0" i="1" smtClean="0">
                          <a:latin typeface="Cambria Math"/>
                        </a:rPr>
                        <m:t>)</m:t>
                      </m:r>
                    </m:oMath>
                  </m:oMathPara>
                </a14:m>
                <a:endParaRPr lang="fr-FR" dirty="0"/>
              </a:p>
              <a:p>
                <a:pPr marL="0" indent="0">
                  <a:buNone/>
                </a:pPr>
                <a:endParaRPr lang="fr-FR" dirty="0"/>
              </a:p>
              <a:p>
                <a:pPr marL="0" indent="0">
                  <a:buNone/>
                </a:pPr>
                <a14:m>
                  <m:oMath xmlns:m="http://schemas.openxmlformats.org/officeDocument/2006/math">
                    <m:r>
                      <a:rPr lang="fr-FR" b="1" i="0" smtClean="0">
                        <a:latin typeface="Cambria Math"/>
                      </a:rPr>
                      <m:t>𝐝𝐱</m:t>
                    </m:r>
                    <m:d>
                      <m:dPr>
                        <m:ctrlPr>
                          <a:rPr lang="fr-FR" b="1" i="1">
                            <a:latin typeface="Cambria Math" panose="02040503050406030204" pitchFamily="18" charset="0"/>
                          </a:rPr>
                        </m:ctrlPr>
                      </m:dPr>
                      <m:e>
                        <m:r>
                          <a:rPr lang="fr-FR" i="1">
                            <a:latin typeface="Cambria Math"/>
                          </a:rPr>
                          <m:t>𝑠</m:t>
                        </m:r>
                      </m:e>
                    </m:d>
                    <m:r>
                      <a:rPr lang="fr-FR" b="0" i="1" smtClean="0">
                        <a:latin typeface="Cambria Math"/>
                      </a:rPr>
                      <m:t> :</m:t>
                    </m:r>
                  </m:oMath>
                </a14:m>
                <a:r>
                  <a:rPr lang="fr-FR" dirty="0"/>
                  <a:t> vitesse de déplacement de l’organe terminal</a:t>
                </a:r>
              </a:p>
              <a:p>
                <a:pPr marL="0" indent="0">
                  <a:buNone/>
                </a:pPr>
                <a14:m>
                  <m:oMath xmlns:m="http://schemas.openxmlformats.org/officeDocument/2006/math">
                    <m:r>
                      <a:rPr lang="fr-FR" i="1" smtClean="0">
                        <a:latin typeface="Cambria Math"/>
                        <a:ea typeface="Cambria Math"/>
                      </a:rPr>
                      <m:t>𝕗</m:t>
                    </m:r>
                    <m:r>
                      <a:rPr lang="fr-FR" i="1">
                        <a:latin typeface="Cambria Math"/>
                      </a:rPr>
                      <m:t>(</m:t>
                    </m:r>
                    <m:r>
                      <a:rPr lang="fr-FR" i="1">
                        <a:latin typeface="Cambria Math"/>
                      </a:rPr>
                      <m:t>𝑠</m:t>
                    </m:r>
                    <m:r>
                      <a:rPr lang="fr-FR" i="1">
                        <a:latin typeface="Cambria Math"/>
                      </a:rPr>
                      <m:t>)</m:t>
                    </m:r>
                  </m:oMath>
                </a14:m>
                <a:r>
                  <a:rPr lang="fr-FR" dirty="0"/>
                  <a:t> : effort exercé par l’organe terminal sur l’environnement</a:t>
                </a:r>
              </a:p>
              <a:p>
                <a:pPr marL="0" indent="0">
                  <a:buNone/>
                </a:pPr>
                <a:endParaRPr lang="fr-FR" dirty="0"/>
              </a:p>
              <a:p>
                <a:pPr marL="0" indent="0">
                  <a:buNone/>
                </a:pPr>
                <a14:m>
                  <m:oMathPara xmlns:m="http://schemas.openxmlformats.org/officeDocument/2006/math">
                    <m:oMathParaPr>
                      <m:jc m:val="centerGroup"/>
                    </m:oMathParaPr>
                    <m:oMath xmlns:m="http://schemas.openxmlformats.org/officeDocument/2006/math">
                      <m:r>
                        <a:rPr lang="fr-FR" i="1" smtClean="0">
                          <a:latin typeface="Cambria Math"/>
                          <a:ea typeface="Cambria Math"/>
                        </a:rPr>
                        <m:t>𝕗</m:t>
                      </m:r>
                      <m:r>
                        <a:rPr lang="fr-FR" b="0" i="1" smtClean="0">
                          <a:latin typeface="Cambria Math"/>
                          <a:ea typeface="Cambria Math"/>
                        </a:rPr>
                        <m:t>     </m:t>
                      </m:r>
                      <m:groupChr>
                        <m:groupChrPr>
                          <m:chr m:val="→"/>
                          <m:vertJc m:val="bot"/>
                          <m:ctrlPr>
                            <a:rPr lang="fr-FR" i="1" smtClean="0">
                              <a:latin typeface="Cambria Math" panose="02040503050406030204" pitchFamily="18" charset="0"/>
                              <a:ea typeface="Cambria Math"/>
                            </a:rPr>
                          </m:ctrlPr>
                        </m:groupChrPr>
                        <m:e>
                          <m:r>
                            <a:rPr lang="fr-FR" i="1" smtClean="0">
                              <a:latin typeface="Cambria Math"/>
                              <a:ea typeface="Cambria Math"/>
                            </a:rPr>
                            <m:t>ℒ</m:t>
                          </m:r>
                          <m:r>
                            <a:rPr lang="fr-FR" b="0" i="1" smtClean="0">
                              <a:latin typeface="Cambria Math"/>
                              <a:ea typeface="Cambria Math"/>
                            </a:rPr>
                            <m:t>𝑎𝑝𝑙𝑎𝑐𝑒</m:t>
                          </m:r>
                        </m:e>
                      </m:groupChr>
                      <m:r>
                        <a:rPr lang="fr-FR" b="0" i="1" smtClean="0">
                          <a:latin typeface="Cambria Math"/>
                          <a:ea typeface="Cambria Math"/>
                        </a:rPr>
                        <m:t>  </m:t>
                      </m:r>
                      <m:r>
                        <a:rPr lang="fr-FR" b="0" i="1" smtClean="0">
                          <a:latin typeface="Cambria Math"/>
                          <a:ea typeface="Cambria Math"/>
                        </a:rPr>
                        <m:t>𝕗</m:t>
                      </m:r>
                      <m:d>
                        <m:dPr>
                          <m:ctrlPr>
                            <a:rPr lang="fr-FR" b="0" i="1" smtClean="0">
                              <a:latin typeface="Cambria Math" panose="02040503050406030204" pitchFamily="18" charset="0"/>
                              <a:ea typeface="Cambria Math"/>
                            </a:rPr>
                          </m:ctrlPr>
                        </m:dPr>
                        <m:e>
                          <m:r>
                            <a:rPr lang="fr-FR" b="0" i="1" smtClean="0">
                              <a:latin typeface="Cambria Math"/>
                              <a:ea typeface="Cambria Math"/>
                            </a:rPr>
                            <m:t>𝑠</m:t>
                          </m:r>
                        </m:e>
                      </m:d>
                    </m:oMath>
                  </m:oMathPara>
                </a14:m>
                <a:endParaRPr lang="fr-FR" b="0" dirty="0">
                  <a:ea typeface="Cambria Math"/>
                </a:endParaRPr>
              </a:p>
              <a:p>
                <a:pPr marL="0" indent="0">
                  <a:buNone/>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0" smtClean="0">
                              <a:latin typeface="Cambria Math"/>
                            </a:rPr>
                            <m:t>𝐝𝐱</m:t>
                          </m:r>
                          <m:r>
                            <a:rPr lang="fr-FR" b="0" i="1" smtClean="0">
                              <a:latin typeface="Cambria Math"/>
                            </a:rPr>
                            <m:t>=</m:t>
                          </m:r>
                          <m:r>
                            <a:rPr lang="fr-FR" b="1" i="0" smtClean="0">
                              <a:latin typeface="Cambria Math"/>
                            </a:rPr>
                            <m:t>𝐱</m:t>
                          </m:r>
                        </m:e>
                        <m:sup>
                          <m:r>
                            <a:rPr lang="fr-FR" b="0" i="1" smtClean="0">
                              <a:latin typeface="Cambria Math"/>
                            </a:rPr>
                            <m:t>𝑑</m:t>
                          </m:r>
                        </m:sup>
                      </m:sSup>
                      <m:r>
                        <a:rPr lang="fr-FR" b="0" i="1" smtClean="0">
                          <a:latin typeface="Cambria Math"/>
                        </a:rPr>
                        <m:t>−</m:t>
                      </m:r>
                      <m:r>
                        <a:rPr lang="fr-FR" b="1" i="0" smtClean="0">
                          <a:latin typeface="Cambria Math"/>
                        </a:rPr>
                        <m:t>𝐱</m:t>
                      </m:r>
                      <m:r>
                        <a:rPr lang="fr-FR" b="0" i="1" smtClean="0">
                          <a:latin typeface="Cambria Math"/>
                        </a:rPr>
                        <m:t>    </m:t>
                      </m:r>
                      <m:groupChr>
                        <m:groupChrPr>
                          <m:chr m:val="→"/>
                          <m:vertJc m:val="bot"/>
                          <m:ctrlPr>
                            <a:rPr lang="fr-FR" i="1">
                              <a:latin typeface="Cambria Math" panose="02040503050406030204" pitchFamily="18" charset="0"/>
                              <a:ea typeface="Cambria Math"/>
                            </a:rPr>
                          </m:ctrlPr>
                        </m:groupChrPr>
                        <m:e>
                          <m:r>
                            <a:rPr lang="fr-FR" i="1">
                              <a:latin typeface="Cambria Math"/>
                              <a:ea typeface="Cambria Math"/>
                            </a:rPr>
                            <m:t>ℒ</m:t>
                          </m:r>
                          <m:r>
                            <a:rPr lang="fr-FR" i="1">
                              <a:latin typeface="Cambria Math"/>
                              <a:ea typeface="Cambria Math"/>
                            </a:rPr>
                            <m:t>𝑎𝑝𝑙𝑎𝑐𝑒</m:t>
                          </m:r>
                        </m:e>
                      </m:groupChr>
                      <m:r>
                        <a:rPr lang="fr-FR" b="1" i="0" smtClean="0">
                          <a:latin typeface="Cambria Math"/>
                          <a:ea typeface="Cambria Math"/>
                        </a:rPr>
                        <m:t>  </m:t>
                      </m:r>
                      <m:r>
                        <a:rPr lang="fr-FR" b="1">
                          <a:latin typeface="Cambria Math"/>
                        </a:rPr>
                        <m:t>𝐝</m:t>
                      </m:r>
                      <m:r>
                        <a:rPr lang="fr-FR" b="1" i="0" smtClean="0">
                          <a:latin typeface="Cambria Math"/>
                        </a:rPr>
                        <m:t>𝐱</m:t>
                      </m:r>
                      <m:r>
                        <a:rPr lang="fr-FR" i="1">
                          <a:latin typeface="Cambria Math"/>
                        </a:rPr>
                        <m:t>(</m:t>
                      </m:r>
                      <m:r>
                        <a:rPr lang="fr-FR" i="1">
                          <a:latin typeface="Cambria Math"/>
                        </a:rPr>
                        <m:t>𝑠</m:t>
                      </m:r>
                      <m:r>
                        <a:rPr lang="fr-FR" i="1">
                          <a:latin typeface="Cambria Math"/>
                        </a:rPr>
                        <m:t>)</m:t>
                      </m:r>
                    </m:oMath>
                  </m:oMathPara>
                </a14:m>
                <a:endParaRPr lang="fr-FR" b="1" dirty="0"/>
              </a:p>
              <a:p>
                <a:pPr marL="0" indent="0">
                  <a:buNone/>
                </a:pPr>
                <a:endParaRPr lang="fr-FR"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3"/>
                <a:stretch>
                  <a:fillRect l="-584" t="-552" r="-657"/>
                </a:stretch>
              </a:blipFill>
            </p:spPr>
            <p:txBody>
              <a:bodyPr/>
              <a:lstStyle/>
              <a:p>
                <a:r>
                  <a:rPr lang="fr-FR">
                    <a:noFill/>
                  </a:rPr>
                  <a:t> </a:t>
                </a:r>
              </a:p>
            </p:txBody>
          </p:sp>
        </mc:Fallback>
      </mc:AlternateContent>
      <p:sp>
        <p:nvSpPr>
          <p:cNvPr id="3" name="Titre 2"/>
          <p:cNvSpPr>
            <a:spLocks noGrp="1"/>
          </p:cNvSpPr>
          <p:nvPr>
            <p:ph type="title"/>
          </p:nvPr>
        </p:nvSpPr>
        <p:spPr/>
        <p:txBody>
          <a:bodyPr/>
          <a:lstStyle/>
          <a:p>
            <a:pPr marL="0" indent="0"/>
            <a:r>
              <a:rPr lang="fr-FR" dirty="0"/>
              <a:t>Commande en impédance</a:t>
            </a:r>
          </a:p>
        </p:txBody>
      </p:sp>
    </p:spTree>
    <p:extLst>
      <p:ext uri="{BB962C8B-B14F-4D97-AF65-F5344CB8AC3E}">
        <p14:creationId xmlns:p14="http://schemas.microsoft.com/office/powerpoint/2010/main" val="25410056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lgn="just">
                  <a:buNone/>
                </a:pPr>
                <a:r>
                  <a:rPr lang="fr-FR" b="1" u="sng" dirty="0"/>
                  <a:t>Idée fondamentale :</a:t>
                </a:r>
                <a:r>
                  <a:rPr lang="fr-FR" dirty="0"/>
                  <a:t> attribuer un comportement dynamique quand le robot interagit avec l’environnement</a:t>
                </a:r>
              </a:p>
              <a:p>
                <a:pPr marL="0" indent="0" algn="just">
                  <a:buNone/>
                </a:pPr>
                <a:r>
                  <a:rPr lang="fr-FR" dirty="0"/>
                  <a:t> </a:t>
                </a:r>
              </a:p>
              <a:p>
                <a:pPr algn="just"/>
                <a:r>
                  <a:rPr lang="fr-FR" dirty="0"/>
                  <a:t>Performance spécifiée par une impédance équivalente à un système masse-ressort-amortisseur :</a:t>
                </a:r>
              </a:p>
              <a:p>
                <a:pPr marL="0" indent="0">
                  <a:buNone/>
                </a:pPr>
                <a:endParaRPr lang="fr-FR" dirty="0"/>
              </a:p>
              <a:p>
                <a:pPr marL="0" indent="0">
                  <a:buNone/>
                </a:pPr>
                <a14:m>
                  <m:oMathPara xmlns:m="http://schemas.openxmlformats.org/officeDocument/2006/math">
                    <m:oMathParaPr>
                      <m:jc m:val="centerGroup"/>
                    </m:oMathParaPr>
                    <m:oMath xmlns:m="http://schemas.openxmlformats.org/officeDocument/2006/math">
                      <m:r>
                        <a:rPr lang="fr-FR" b="1">
                          <a:latin typeface="Cambria Math"/>
                        </a:rPr>
                        <m:t>𝐙</m:t>
                      </m:r>
                      <m:d>
                        <m:dPr>
                          <m:ctrlPr>
                            <a:rPr lang="fr-FR" b="1" i="1">
                              <a:latin typeface="Cambria Math" panose="02040503050406030204" pitchFamily="18" charset="0"/>
                            </a:rPr>
                          </m:ctrlPr>
                        </m:dPr>
                        <m:e>
                          <m:r>
                            <a:rPr lang="fr-FR" i="1">
                              <a:latin typeface="Cambria Math"/>
                            </a:rPr>
                            <m:t>𝑠</m:t>
                          </m:r>
                        </m:e>
                      </m:d>
                      <m:r>
                        <a:rPr lang="fr-FR" b="0" i="1" smtClean="0">
                          <a:latin typeface="Cambria Math"/>
                        </a:rPr>
                        <m:t>= </m:t>
                      </m:r>
                      <m:r>
                        <a:rPr lang="el-GR" b="1" i="0" smtClean="0">
                          <a:latin typeface="Cambria Math"/>
                          <a:ea typeface="Cambria Math"/>
                        </a:rPr>
                        <m:t>𝚲</m:t>
                      </m:r>
                      <m:sSup>
                        <m:sSupPr>
                          <m:ctrlPr>
                            <a:rPr lang="el-GR" b="0" i="1" smtClean="0">
                              <a:latin typeface="Cambria Math" panose="02040503050406030204" pitchFamily="18" charset="0"/>
                              <a:ea typeface="Cambria Math"/>
                            </a:rPr>
                          </m:ctrlPr>
                        </m:sSupPr>
                        <m:e>
                          <m:r>
                            <a:rPr lang="fr-FR" b="0" i="1" smtClean="0">
                              <a:latin typeface="Cambria Math"/>
                              <a:ea typeface="Cambria Math"/>
                            </a:rPr>
                            <m:t>𝑠</m:t>
                          </m:r>
                        </m:e>
                        <m:sup>
                          <m:r>
                            <a:rPr lang="fr-FR" b="0" i="1" smtClean="0">
                              <a:latin typeface="Cambria Math"/>
                              <a:ea typeface="Cambria Math"/>
                            </a:rPr>
                            <m:t>2</m:t>
                          </m:r>
                        </m:sup>
                      </m:sSup>
                      <m:r>
                        <a:rPr lang="fr-FR" b="0" i="1" smtClean="0">
                          <a:latin typeface="Cambria Math"/>
                          <a:ea typeface="Cambria Math"/>
                        </a:rPr>
                        <m:t>+</m:t>
                      </m:r>
                      <m:r>
                        <a:rPr lang="fr-FR" b="1" i="0" smtClean="0">
                          <a:latin typeface="Cambria Math"/>
                          <a:ea typeface="Cambria Math"/>
                        </a:rPr>
                        <m:t>𝐁</m:t>
                      </m:r>
                      <m:r>
                        <a:rPr lang="fr-FR" b="0" i="1" smtClean="0">
                          <a:latin typeface="Cambria Math"/>
                          <a:ea typeface="Cambria Math"/>
                        </a:rPr>
                        <m:t>𝑠</m:t>
                      </m:r>
                      <m:r>
                        <a:rPr lang="fr-FR" b="0" i="1" smtClean="0">
                          <a:latin typeface="Cambria Math"/>
                          <a:ea typeface="Cambria Math"/>
                        </a:rPr>
                        <m:t>+</m:t>
                      </m:r>
                      <m:r>
                        <a:rPr lang="fr-FR" b="1" i="0" smtClean="0">
                          <a:latin typeface="Cambria Math"/>
                          <a:ea typeface="Cambria Math"/>
                        </a:rPr>
                        <m:t>𝐊</m:t>
                      </m:r>
                    </m:oMath>
                  </m:oMathPara>
                </a14:m>
                <a:endParaRPr lang="fr-FR" b="1" dirty="0"/>
              </a:p>
              <a:p>
                <a:pPr marL="0" indent="0">
                  <a:buNone/>
                </a:pPr>
                <a:endParaRPr lang="fr-FR" b="1" i="0" dirty="0">
                  <a:latin typeface="Cambria Math"/>
                  <a:ea typeface="Cambria Math"/>
                </a:endParaRPr>
              </a:p>
              <a:p>
                <a:pPr marL="0" indent="0">
                  <a:buNone/>
                </a:pPr>
                <a14:m>
                  <m:oMath xmlns:m="http://schemas.openxmlformats.org/officeDocument/2006/math">
                    <m:r>
                      <a:rPr lang="el-GR" b="1">
                        <a:latin typeface="Cambria Math"/>
                        <a:ea typeface="Cambria Math"/>
                      </a:rPr>
                      <m:t>𝚲</m:t>
                    </m:r>
                  </m:oMath>
                </a14:m>
                <a:r>
                  <a:rPr lang="fr-FR" dirty="0"/>
                  <a:t> : matrice d’inertie de dimension </a:t>
                </a:r>
                <a14:m>
                  <m:oMath xmlns:m="http://schemas.openxmlformats.org/officeDocument/2006/math">
                    <m:r>
                      <m:rPr>
                        <m:sty m:val="p"/>
                      </m:rPr>
                      <a:rPr lang="fr-FR" b="0" i="0" smtClean="0">
                        <a:latin typeface="Cambria Math"/>
                      </a:rPr>
                      <m:t>m</m:t>
                    </m:r>
                    <m:r>
                      <a:rPr lang="fr-FR" b="0" i="1" smtClean="0">
                        <a:latin typeface="Cambria Math"/>
                        <a:ea typeface="Cambria Math"/>
                      </a:rPr>
                      <m:t>×</m:t>
                    </m:r>
                    <m:r>
                      <m:rPr>
                        <m:sty m:val="p"/>
                      </m:rPr>
                      <a:rPr lang="fr-FR" b="0" i="0" smtClean="0">
                        <a:latin typeface="Cambria Math"/>
                        <a:ea typeface="Cambria Math"/>
                      </a:rPr>
                      <m:t>m</m:t>
                    </m:r>
                  </m:oMath>
                </a14:m>
                <a:endParaRPr lang="fr-FR" dirty="0"/>
              </a:p>
              <a:p>
                <a:pPr marL="0" indent="0">
                  <a:buNone/>
                </a:pPr>
                <a14:m>
                  <m:oMath xmlns:m="http://schemas.openxmlformats.org/officeDocument/2006/math">
                    <m:r>
                      <a:rPr lang="fr-FR" b="1">
                        <a:latin typeface="Cambria Math"/>
                        <a:ea typeface="Cambria Math"/>
                      </a:rPr>
                      <m:t>𝐁</m:t>
                    </m:r>
                  </m:oMath>
                </a14:m>
                <a:r>
                  <a:rPr lang="fr-FR" dirty="0"/>
                  <a:t> : matrice d’amortissement de dimension </a:t>
                </a:r>
                <a14:m>
                  <m:oMath xmlns:m="http://schemas.openxmlformats.org/officeDocument/2006/math">
                    <m:r>
                      <m:rPr>
                        <m:sty m:val="p"/>
                      </m:rPr>
                      <a:rPr lang="fr-FR" b="0" i="0" smtClean="0">
                        <a:latin typeface="Cambria Math"/>
                      </a:rPr>
                      <m:t>m</m:t>
                    </m:r>
                    <m:r>
                      <a:rPr lang="fr-FR" i="1">
                        <a:latin typeface="Cambria Math"/>
                        <a:ea typeface="Cambria Math"/>
                      </a:rPr>
                      <m:t>×</m:t>
                    </m:r>
                    <m:r>
                      <m:rPr>
                        <m:sty m:val="p"/>
                      </m:rPr>
                      <a:rPr lang="fr-FR" b="0" i="0" smtClean="0">
                        <a:latin typeface="Cambria Math"/>
                        <a:ea typeface="Cambria Math"/>
                      </a:rPr>
                      <m:t>m</m:t>
                    </m:r>
                  </m:oMath>
                </a14:m>
                <a:endParaRPr lang="fr-FR" dirty="0"/>
              </a:p>
              <a:p>
                <a:pPr marL="0" indent="0">
                  <a:buNone/>
                </a:pPr>
                <a14:m>
                  <m:oMath xmlns:m="http://schemas.openxmlformats.org/officeDocument/2006/math">
                    <m:r>
                      <a:rPr lang="fr-FR" b="1">
                        <a:latin typeface="Cambria Math"/>
                        <a:ea typeface="Cambria Math"/>
                      </a:rPr>
                      <m:t>𝐊</m:t>
                    </m:r>
                    <m:r>
                      <a:rPr lang="fr-FR" b="1" i="0" smtClean="0">
                        <a:latin typeface="Cambria Math"/>
                        <a:ea typeface="Cambria Math"/>
                      </a:rPr>
                      <m:t> </m:t>
                    </m:r>
                  </m:oMath>
                </a14:m>
                <a:r>
                  <a:rPr lang="fr-FR" dirty="0"/>
                  <a:t>: matrice de raideur de dimension </a:t>
                </a:r>
                <a14:m>
                  <m:oMath xmlns:m="http://schemas.openxmlformats.org/officeDocument/2006/math">
                    <m:r>
                      <m:rPr>
                        <m:sty m:val="p"/>
                      </m:rPr>
                      <a:rPr lang="fr-FR" b="0" i="0" smtClean="0">
                        <a:latin typeface="Cambria Math"/>
                      </a:rPr>
                      <m:t>m</m:t>
                    </m:r>
                    <m:r>
                      <a:rPr lang="fr-FR" i="1">
                        <a:latin typeface="Cambria Math"/>
                        <a:ea typeface="Cambria Math"/>
                      </a:rPr>
                      <m:t>×</m:t>
                    </m:r>
                    <m:r>
                      <m:rPr>
                        <m:sty m:val="p"/>
                      </m:rPr>
                      <a:rPr lang="fr-FR" b="0" i="0" smtClean="0">
                        <a:latin typeface="Cambria Math"/>
                        <a:ea typeface="Cambria Math"/>
                      </a:rPr>
                      <m:t>m</m:t>
                    </m:r>
                  </m:oMath>
                </a14:m>
                <a:endParaRPr lang="fr-FR" dirty="0"/>
              </a:p>
              <a:p>
                <a:pPr marL="0" indent="0">
                  <a:buNone/>
                </a:pPr>
                <a:endParaRPr lang="fr-FR" dirty="0"/>
              </a:p>
              <a:p>
                <a:pPr marL="0" indent="0">
                  <a:buNone/>
                </a:pPr>
                <a:r>
                  <a:rPr lang="fr-FR" dirty="0"/>
                  <a:t>La notion d’impédance en temporel :</a:t>
                </a:r>
              </a:p>
              <a:p>
                <a:pPr marL="0" indent="0">
                  <a:buNone/>
                </a:pPr>
                <a:endParaRPr lang="fr-FR" dirty="0"/>
              </a:p>
              <a:p>
                <a:pPr marL="0" indent="0">
                  <a:buNone/>
                </a:pPr>
                <a14:m>
                  <m:oMathPara xmlns:m="http://schemas.openxmlformats.org/officeDocument/2006/math">
                    <m:oMathParaPr>
                      <m:jc m:val="centerGroup"/>
                    </m:oMathParaPr>
                    <m:oMath xmlns:m="http://schemas.openxmlformats.org/officeDocument/2006/math">
                      <m:r>
                        <a:rPr lang="fr-FR" i="1">
                          <a:latin typeface="Cambria Math"/>
                          <a:ea typeface="Cambria Math"/>
                        </a:rPr>
                        <m:t>𝕗</m:t>
                      </m:r>
                      <m:r>
                        <a:rPr lang="fr-FR" i="1">
                          <a:latin typeface="Cambria Math"/>
                          <a:ea typeface="Cambria Math"/>
                        </a:rPr>
                        <m:t>=</m:t>
                      </m:r>
                      <m:r>
                        <a:rPr lang="el-GR" b="1">
                          <a:latin typeface="Cambria Math"/>
                          <a:ea typeface="Cambria Math"/>
                        </a:rPr>
                        <m:t>𝚲</m:t>
                      </m:r>
                      <m:r>
                        <a:rPr lang="fr-FR" i="1">
                          <a:latin typeface="Cambria Math"/>
                          <a:ea typeface="Cambria Math"/>
                        </a:rPr>
                        <m:t>(</m:t>
                      </m:r>
                      <m:sSup>
                        <m:sSupPr>
                          <m:ctrlPr>
                            <a:rPr lang="fr-FR" i="1">
                              <a:latin typeface="Cambria Math" panose="02040503050406030204" pitchFamily="18" charset="0"/>
                              <a:ea typeface="Cambria Math"/>
                            </a:rPr>
                          </m:ctrlPr>
                        </m:sSupPr>
                        <m:e>
                          <m:acc>
                            <m:accPr>
                              <m:chr m:val="̈"/>
                              <m:ctrlPr>
                                <a:rPr lang="fr-FR" i="1">
                                  <a:latin typeface="Cambria Math" panose="02040503050406030204" pitchFamily="18" charset="0"/>
                                  <a:ea typeface="Cambria Math"/>
                                </a:rPr>
                              </m:ctrlPr>
                            </m:accPr>
                            <m:e>
                              <m:r>
                                <a:rPr lang="fr-FR" b="1">
                                  <a:latin typeface="Cambria Math"/>
                                  <a:ea typeface="Cambria Math"/>
                                </a:rPr>
                                <m:t>𝐱</m:t>
                              </m:r>
                            </m:e>
                          </m:acc>
                        </m:e>
                        <m:sup>
                          <m:r>
                            <a:rPr lang="fr-FR" i="1">
                              <a:latin typeface="Cambria Math"/>
                              <a:ea typeface="Cambria Math"/>
                            </a:rPr>
                            <m:t>𝑑</m:t>
                          </m:r>
                        </m:sup>
                      </m:sSup>
                      <m:r>
                        <a:rPr lang="fr-FR" i="1">
                          <a:latin typeface="Cambria Math"/>
                          <a:ea typeface="Cambria Math"/>
                        </a:rPr>
                        <m:t>−</m:t>
                      </m:r>
                      <m:acc>
                        <m:accPr>
                          <m:chr m:val="̈"/>
                          <m:ctrlPr>
                            <a:rPr lang="fr-FR" i="1">
                              <a:latin typeface="Cambria Math" panose="02040503050406030204" pitchFamily="18" charset="0"/>
                              <a:ea typeface="Cambria Math"/>
                            </a:rPr>
                          </m:ctrlPr>
                        </m:accPr>
                        <m:e>
                          <m:r>
                            <a:rPr lang="fr-FR" b="1">
                              <a:latin typeface="Cambria Math"/>
                              <a:ea typeface="Cambria Math"/>
                            </a:rPr>
                            <m:t>𝐱</m:t>
                          </m:r>
                        </m:e>
                      </m:acc>
                      <m:r>
                        <a:rPr lang="fr-FR" i="1">
                          <a:latin typeface="Cambria Math"/>
                          <a:ea typeface="Cambria Math"/>
                        </a:rPr>
                        <m:t>)+</m:t>
                      </m:r>
                      <m:r>
                        <a:rPr lang="el-GR" b="1">
                          <a:latin typeface="Cambria Math"/>
                          <a:ea typeface="Cambria Math"/>
                        </a:rPr>
                        <m:t>𝚩</m:t>
                      </m:r>
                      <m:r>
                        <a:rPr lang="fr-FR" i="1">
                          <a:latin typeface="Cambria Math"/>
                          <a:ea typeface="Cambria Math"/>
                        </a:rPr>
                        <m:t>(</m:t>
                      </m:r>
                      <m:sSup>
                        <m:sSupPr>
                          <m:ctrlPr>
                            <a:rPr lang="fr-FR" i="1">
                              <a:latin typeface="Cambria Math" panose="02040503050406030204" pitchFamily="18" charset="0"/>
                              <a:ea typeface="Cambria Math"/>
                            </a:rPr>
                          </m:ctrlPr>
                        </m:sSupPr>
                        <m:e>
                          <m:acc>
                            <m:accPr>
                              <m:chr m:val="̇"/>
                              <m:ctrlPr>
                                <a:rPr lang="fr-FR" i="1">
                                  <a:latin typeface="Cambria Math" panose="02040503050406030204" pitchFamily="18" charset="0"/>
                                  <a:ea typeface="Cambria Math"/>
                                </a:rPr>
                              </m:ctrlPr>
                            </m:accPr>
                            <m:e>
                              <m:r>
                                <a:rPr lang="fr-FR" b="1">
                                  <a:latin typeface="Cambria Math"/>
                                  <a:ea typeface="Cambria Math"/>
                                </a:rPr>
                                <m:t>𝐱</m:t>
                              </m:r>
                            </m:e>
                          </m:acc>
                        </m:e>
                        <m:sup>
                          <m:r>
                            <a:rPr lang="fr-FR" i="1">
                              <a:latin typeface="Cambria Math"/>
                              <a:ea typeface="Cambria Math"/>
                            </a:rPr>
                            <m:t>𝑑</m:t>
                          </m:r>
                        </m:sup>
                      </m:sSup>
                      <m:r>
                        <a:rPr lang="fr-FR" i="1">
                          <a:latin typeface="Cambria Math"/>
                          <a:ea typeface="Cambria Math"/>
                        </a:rPr>
                        <m:t>−</m:t>
                      </m:r>
                      <m:acc>
                        <m:accPr>
                          <m:chr m:val="̇"/>
                          <m:ctrlPr>
                            <a:rPr lang="fr-FR" i="1">
                              <a:latin typeface="Cambria Math" panose="02040503050406030204" pitchFamily="18" charset="0"/>
                              <a:ea typeface="Cambria Math"/>
                            </a:rPr>
                          </m:ctrlPr>
                        </m:accPr>
                        <m:e>
                          <m:r>
                            <a:rPr lang="fr-FR" b="1">
                              <a:latin typeface="Cambria Math"/>
                              <a:ea typeface="Cambria Math"/>
                            </a:rPr>
                            <m:t>𝐱</m:t>
                          </m:r>
                        </m:e>
                      </m:acc>
                      <m:r>
                        <a:rPr lang="fr-FR" i="1">
                          <a:latin typeface="Cambria Math"/>
                          <a:ea typeface="Cambria Math"/>
                        </a:rPr>
                        <m:t>)+</m:t>
                      </m:r>
                      <m:r>
                        <a:rPr lang="fr-FR" b="1">
                          <a:latin typeface="Cambria Math"/>
                          <a:ea typeface="Cambria Math"/>
                        </a:rPr>
                        <m:t>𝐊</m:t>
                      </m:r>
                      <m:r>
                        <a:rPr lang="fr-FR">
                          <a:latin typeface="Cambria Math"/>
                          <a:ea typeface="Cambria Math"/>
                        </a:rPr>
                        <m:t>(</m:t>
                      </m:r>
                      <m:sSup>
                        <m:sSupPr>
                          <m:ctrlPr>
                            <a:rPr lang="fr-FR" i="1">
                              <a:latin typeface="Cambria Math" panose="02040503050406030204" pitchFamily="18" charset="0"/>
                              <a:ea typeface="Cambria Math"/>
                            </a:rPr>
                          </m:ctrlPr>
                        </m:sSupPr>
                        <m:e>
                          <m:r>
                            <a:rPr lang="fr-FR" b="1">
                              <a:latin typeface="Cambria Math"/>
                              <a:ea typeface="Cambria Math"/>
                            </a:rPr>
                            <m:t>𝐱</m:t>
                          </m:r>
                        </m:e>
                        <m:sup>
                          <m:r>
                            <a:rPr lang="fr-FR" i="1">
                              <a:latin typeface="Cambria Math"/>
                              <a:ea typeface="Cambria Math"/>
                            </a:rPr>
                            <m:t>𝑑</m:t>
                          </m:r>
                        </m:sup>
                      </m:sSup>
                      <m:r>
                        <a:rPr lang="fr-FR" i="1">
                          <a:latin typeface="Cambria Math"/>
                          <a:ea typeface="Cambria Math"/>
                        </a:rPr>
                        <m:t>−</m:t>
                      </m:r>
                      <m:r>
                        <a:rPr lang="fr-FR" b="1">
                          <a:latin typeface="Cambria Math"/>
                          <a:ea typeface="Cambria Math"/>
                        </a:rPr>
                        <m:t>𝐱</m:t>
                      </m:r>
                      <m:r>
                        <a:rPr lang="fr-FR">
                          <a:latin typeface="Cambria Math"/>
                          <a:ea typeface="Cambria Math"/>
                        </a:rPr>
                        <m:t>)</m:t>
                      </m:r>
                    </m:oMath>
                  </m:oMathPara>
                </a14:m>
                <a:endParaRPr lang="fr-FR" dirty="0"/>
              </a:p>
              <a:p>
                <a:pPr marL="0" indent="0">
                  <a:buNone/>
                </a:pPr>
                <a:endParaRPr lang="fr-FR"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3"/>
                <a:stretch>
                  <a:fillRect l="-584" t="-552" r="-657"/>
                </a:stretch>
              </a:blipFill>
            </p:spPr>
            <p:txBody>
              <a:bodyPr/>
              <a:lstStyle/>
              <a:p>
                <a:r>
                  <a:rPr lang="fr-FR">
                    <a:noFill/>
                  </a:rPr>
                  <a:t> </a:t>
                </a:r>
              </a:p>
            </p:txBody>
          </p:sp>
        </mc:Fallback>
      </mc:AlternateContent>
      <p:sp>
        <p:nvSpPr>
          <p:cNvPr id="3" name="Titre 2"/>
          <p:cNvSpPr>
            <a:spLocks noGrp="1"/>
          </p:cNvSpPr>
          <p:nvPr>
            <p:ph type="title"/>
          </p:nvPr>
        </p:nvSpPr>
        <p:spPr/>
        <p:txBody>
          <a:bodyPr/>
          <a:lstStyle/>
          <a:p>
            <a:pPr marL="0" indent="0"/>
            <a:r>
              <a:rPr lang="fr-FR" dirty="0"/>
              <a:t>Commande en impédance</a:t>
            </a:r>
          </a:p>
        </p:txBody>
      </p:sp>
    </p:spTree>
    <p:extLst>
      <p:ext uri="{BB962C8B-B14F-4D97-AF65-F5344CB8AC3E}">
        <p14:creationId xmlns:p14="http://schemas.microsoft.com/office/powerpoint/2010/main" val="28449046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u contenu 1"/>
          <p:cNvSpPr>
            <a:spLocks noGrp="1"/>
          </p:cNvSpPr>
          <p:nvPr>
            <p:ph sz="quarter" idx="1"/>
          </p:nvPr>
        </p:nvSpPr>
        <p:spPr/>
        <p:txBody>
          <a:bodyPr/>
          <a:lstStyle/>
          <a:p>
            <a:pPr marL="0" indent="0">
              <a:buNone/>
            </a:pPr>
            <a:r>
              <a:rPr lang="fr-FR" b="1" dirty="0"/>
              <a:t>Schéma de principe :</a:t>
            </a:r>
          </a:p>
          <a:p>
            <a:pPr marL="0" indent="0">
              <a:buNone/>
            </a:pPr>
            <a:endParaRPr lang="fr-FR" b="1" dirty="0"/>
          </a:p>
          <a:p>
            <a:pPr marL="0" indent="0">
              <a:buNone/>
            </a:pPr>
            <a:endParaRPr lang="fr-FR" b="1" dirty="0"/>
          </a:p>
          <a:p>
            <a:pPr marL="0" indent="0">
              <a:buNone/>
            </a:pPr>
            <a:endParaRPr lang="fr-FR" b="1" dirty="0"/>
          </a:p>
          <a:p>
            <a:pPr marL="0" indent="0">
              <a:buNone/>
            </a:pPr>
            <a:endParaRPr lang="fr-FR" b="1" dirty="0"/>
          </a:p>
          <a:p>
            <a:pPr marL="0" indent="0">
              <a:buNone/>
            </a:pPr>
            <a:r>
              <a:rPr lang="fr-FR" b="1" dirty="0"/>
              <a:t>		</a:t>
            </a:r>
          </a:p>
          <a:p>
            <a:pPr marL="0" indent="0" algn="ctr">
              <a:buNone/>
            </a:pPr>
            <a:r>
              <a:rPr lang="fr-FR" sz="1800" dirty="0"/>
              <a:t>Commande en impédance sans mesure d’effort</a:t>
            </a:r>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lgn="ctr">
              <a:buNone/>
            </a:pPr>
            <a:r>
              <a:rPr lang="fr-FR" sz="1800" dirty="0"/>
              <a:t>Commande en impédance avec mesure d’effort</a:t>
            </a:r>
          </a:p>
          <a:p>
            <a:pPr marL="0" indent="0">
              <a:buNone/>
            </a:pPr>
            <a:endParaRPr lang="fr-FR" sz="1800" dirty="0"/>
          </a:p>
          <a:p>
            <a:pPr marL="0" indent="0">
              <a:buNone/>
            </a:pPr>
            <a:endParaRPr lang="fr-FR" b="1" dirty="0"/>
          </a:p>
          <a:p>
            <a:pPr marL="0" indent="0">
              <a:buNone/>
            </a:pPr>
            <a:endParaRPr lang="fr-FR" b="1" dirty="0"/>
          </a:p>
          <a:p>
            <a:pPr marL="0" indent="0">
              <a:buNone/>
            </a:pPr>
            <a:endParaRPr lang="fr-FR" b="1" dirty="0"/>
          </a:p>
          <a:p>
            <a:pPr marL="0" indent="0">
              <a:buNone/>
            </a:pPr>
            <a:endParaRPr lang="fr-FR" b="1" dirty="0"/>
          </a:p>
          <a:p>
            <a:pPr marL="0" indent="0">
              <a:buNone/>
            </a:pPr>
            <a:endParaRPr lang="fr-FR" b="1" dirty="0"/>
          </a:p>
          <a:p>
            <a:pPr marL="0" indent="0">
              <a:buNone/>
            </a:pPr>
            <a:endParaRPr lang="fr-FR" b="1" dirty="0"/>
          </a:p>
          <a:p>
            <a:pPr marL="0" indent="0">
              <a:buNone/>
            </a:pPr>
            <a:endParaRPr lang="fr-FR" b="1" dirty="0"/>
          </a:p>
          <a:p>
            <a:pPr marL="0" indent="0">
              <a:buNone/>
            </a:pPr>
            <a:endParaRPr lang="fr-FR" b="1" dirty="0"/>
          </a:p>
          <a:p>
            <a:pPr marL="0" indent="0">
              <a:buNone/>
            </a:pPr>
            <a:endParaRPr lang="fr-FR" b="1" dirty="0"/>
          </a:p>
          <a:p>
            <a:pPr marL="0" indent="0">
              <a:buNone/>
            </a:pPr>
            <a:endParaRPr lang="fr-FR" b="1" dirty="0"/>
          </a:p>
          <a:p>
            <a:pPr marL="0" indent="0">
              <a:buNone/>
            </a:pPr>
            <a:endParaRPr lang="fr-FR" b="1" dirty="0"/>
          </a:p>
          <a:p>
            <a:pPr marL="0" indent="0">
              <a:buNone/>
            </a:pPr>
            <a:r>
              <a:rPr lang="fr-FR" b="1" dirty="0"/>
              <a:t> </a:t>
            </a:r>
          </a:p>
        </p:txBody>
      </p:sp>
      <p:sp>
        <p:nvSpPr>
          <p:cNvPr id="3" name="Titre 2"/>
          <p:cNvSpPr>
            <a:spLocks noGrp="1"/>
          </p:cNvSpPr>
          <p:nvPr>
            <p:ph type="title"/>
          </p:nvPr>
        </p:nvSpPr>
        <p:spPr/>
        <p:txBody>
          <a:bodyPr/>
          <a:lstStyle/>
          <a:p>
            <a:r>
              <a:rPr lang="fr-FR" dirty="0"/>
              <a:t>Commande en impédance</a:t>
            </a:r>
          </a:p>
        </p:txBody>
      </p:sp>
      <p:cxnSp>
        <p:nvCxnSpPr>
          <p:cNvPr id="25" name="Connecteur droit avec flèche 24"/>
          <p:cNvCxnSpPr>
            <a:stCxn id="33" idx="3"/>
          </p:cNvCxnSpPr>
          <p:nvPr/>
        </p:nvCxnSpPr>
        <p:spPr>
          <a:xfrm flipV="1">
            <a:off x="7003091" y="1818143"/>
            <a:ext cx="756285" cy="379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6" name="Connecteur droit avec flèche 25"/>
          <p:cNvCxnSpPr>
            <a:stCxn id="47" idx="3"/>
          </p:cNvCxnSpPr>
          <p:nvPr/>
        </p:nvCxnSpPr>
        <p:spPr>
          <a:xfrm flipV="1">
            <a:off x="5310653" y="1821597"/>
            <a:ext cx="663729" cy="396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ZoneTexte 27"/>
              <p:cNvSpPr txBox="1"/>
              <p:nvPr/>
            </p:nvSpPr>
            <p:spPr>
              <a:xfrm>
                <a:off x="7252222" y="1440207"/>
                <a:ext cx="38824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b="1" i="0" smtClean="0">
                          <a:latin typeface="Cambria Math"/>
                        </a:rPr>
                        <m:t>𝐪</m:t>
                      </m:r>
                    </m:oMath>
                  </m:oMathPara>
                </a14:m>
                <a:endParaRPr lang="fr-FR" dirty="0"/>
              </a:p>
            </p:txBody>
          </p:sp>
        </mc:Choice>
        <mc:Fallback xmlns="">
          <p:sp>
            <p:nvSpPr>
              <p:cNvPr id="28" name="ZoneTexte 27"/>
              <p:cNvSpPr txBox="1">
                <a:spLocks noRot="1" noChangeAspect="1" noMove="1" noResize="1" noEditPoints="1" noAdjustHandles="1" noChangeArrowheads="1" noChangeShapeType="1" noTextEdit="1"/>
              </p:cNvSpPr>
              <p:nvPr/>
            </p:nvSpPr>
            <p:spPr>
              <a:xfrm>
                <a:off x="7252222" y="1440207"/>
                <a:ext cx="388248" cy="369332"/>
              </a:xfrm>
              <a:prstGeom prst="rect">
                <a:avLst/>
              </a:prstGeom>
              <a:blipFill rotWithShape="1">
                <a:blip r:embed="rId4"/>
                <a:stretch>
                  <a:fillRect b="-655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2" name="ZoneTexte 31"/>
              <p:cNvSpPr txBox="1"/>
              <p:nvPr/>
            </p:nvSpPr>
            <p:spPr>
              <a:xfrm>
                <a:off x="5434524" y="1490062"/>
                <a:ext cx="3786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l-GR" b="1">
                          <a:latin typeface="Cambria Math"/>
                          <a:ea typeface="Cambria Math"/>
                        </a:rPr>
                        <m:t>𝚪</m:t>
                      </m:r>
                    </m:oMath>
                  </m:oMathPara>
                </a14:m>
                <a:endParaRPr lang="fr-FR" dirty="0"/>
              </a:p>
            </p:txBody>
          </p:sp>
        </mc:Choice>
        <mc:Fallback xmlns="">
          <p:sp>
            <p:nvSpPr>
              <p:cNvPr id="32" name="ZoneTexte 31"/>
              <p:cNvSpPr txBox="1">
                <a:spLocks noRot="1" noChangeAspect="1" noMove="1" noResize="1" noEditPoints="1" noAdjustHandles="1" noChangeArrowheads="1" noChangeShapeType="1" noTextEdit="1"/>
              </p:cNvSpPr>
              <p:nvPr/>
            </p:nvSpPr>
            <p:spPr>
              <a:xfrm>
                <a:off x="5434524" y="1490062"/>
                <a:ext cx="378630" cy="369332"/>
              </a:xfrm>
              <a:prstGeom prst="rect">
                <a:avLst/>
              </a:prstGeom>
              <a:blipFill rotWithShape="1">
                <a:blip r:embed="rId5"/>
                <a:stretch>
                  <a:fillRect/>
                </a:stretch>
              </a:blipFill>
            </p:spPr>
            <p:txBody>
              <a:bodyPr/>
              <a:lstStyle/>
              <a:p>
                <a:r>
                  <a:rPr lang="fr-FR">
                    <a:noFill/>
                  </a:rPr>
                  <a:t> </a:t>
                </a:r>
              </a:p>
            </p:txBody>
          </p:sp>
        </mc:Fallback>
      </mc:AlternateContent>
      <p:sp>
        <p:nvSpPr>
          <p:cNvPr id="33" name="ZoneTexte 32"/>
          <p:cNvSpPr txBox="1"/>
          <p:nvPr/>
        </p:nvSpPr>
        <p:spPr>
          <a:xfrm>
            <a:off x="6000818" y="1637267"/>
            <a:ext cx="1002273"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dirty="0"/>
              <a:t>Robot</a:t>
            </a:r>
          </a:p>
        </p:txBody>
      </p:sp>
      <p:cxnSp>
        <p:nvCxnSpPr>
          <p:cNvPr id="34" name="Connecteur droit avec flèche 33"/>
          <p:cNvCxnSpPr/>
          <p:nvPr/>
        </p:nvCxnSpPr>
        <p:spPr>
          <a:xfrm>
            <a:off x="7393170" y="1818143"/>
            <a:ext cx="0" cy="958204"/>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43" name="Connecteur droit avec flèche 42"/>
          <p:cNvCxnSpPr/>
          <p:nvPr/>
        </p:nvCxnSpPr>
        <p:spPr>
          <a:xfrm>
            <a:off x="1762309" y="1818143"/>
            <a:ext cx="580089"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9" name="Connecteur droit avec flèche 48"/>
          <p:cNvCxnSpPr>
            <a:stCxn id="42" idx="3"/>
            <a:endCxn id="47" idx="1"/>
          </p:cNvCxnSpPr>
          <p:nvPr/>
        </p:nvCxnSpPr>
        <p:spPr>
          <a:xfrm flipV="1">
            <a:off x="3905953" y="1825564"/>
            <a:ext cx="814149" cy="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0" name="Connecteur droit avec flèche 49"/>
          <p:cNvCxnSpPr/>
          <p:nvPr/>
        </p:nvCxnSpPr>
        <p:spPr>
          <a:xfrm>
            <a:off x="776760" y="1823580"/>
            <a:ext cx="699799"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4" name="Connecteur droit 53"/>
          <p:cNvCxnSpPr>
            <a:stCxn id="37" idx="1"/>
          </p:cNvCxnSpPr>
          <p:nvPr/>
        </p:nvCxnSpPr>
        <p:spPr>
          <a:xfrm flipH="1">
            <a:off x="1619434" y="2776347"/>
            <a:ext cx="260400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6" name="Connecteur droit avec flèche 55"/>
          <p:cNvCxnSpPr>
            <a:endCxn id="40" idx="4"/>
          </p:cNvCxnSpPr>
          <p:nvPr/>
        </p:nvCxnSpPr>
        <p:spPr>
          <a:xfrm flipV="1">
            <a:off x="1619434" y="1952414"/>
            <a:ext cx="0" cy="82393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61" name="Objet 60"/>
          <p:cNvGraphicFramePr>
            <a:graphicFrameLocks noChangeAspect="1"/>
          </p:cNvGraphicFramePr>
          <p:nvPr>
            <p:extLst>
              <p:ext uri="{D42A27DB-BD31-4B8C-83A1-F6EECF244321}">
                <p14:modId xmlns:p14="http://schemas.microsoft.com/office/powerpoint/2010/main" val="785027617"/>
              </p:ext>
            </p:extLst>
          </p:nvPr>
        </p:nvGraphicFramePr>
        <p:xfrm>
          <a:off x="1310271" y="2092737"/>
          <a:ext cx="215900" cy="157163"/>
        </p:xfrm>
        <a:graphic>
          <a:graphicData uri="http://schemas.openxmlformats.org/presentationml/2006/ole">
            <mc:AlternateContent xmlns:mc="http://schemas.openxmlformats.org/markup-compatibility/2006">
              <mc:Choice xmlns:v="urn:schemas-microsoft-com:vml" Requires="v">
                <p:oleObj name="Equation" r:id="rId6" imgW="139639" imgH="101556" progId="Equation.DSMT4">
                  <p:embed/>
                </p:oleObj>
              </mc:Choice>
              <mc:Fallback>
                <p:oleObj name="Equation" r:id="rId6" imgW="139639" imgH="101556" progId="Equation.DSMT4">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10271" y="2092737"/>
                        <a:ext cx="215900" cy="157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63" name="ZoneTexte 62"/>
              <p:cNvSpPr txBox="1"/>
              <p:nvPr/>
            </p:nvSpPr>
            <p:spPr>
              <a:xfrm>
                <a:off x="849847" y="1490062"/>
                <a:ext cx="500393" cy="3797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b="1" i="1" smtClean="0">
                              <a:latin typeface="Cambria Math" panose="02040503050406030204" pitchFamily="18" charset="0"/>
                              <a:ea typeface="Cambria Math"/>
                            </a:rPr>
                          </m:ctrlPr>
                        </m:sSupPr>
                        <m:e>
                          <m:r>
                            <a:rPr lang="fr-FR" b="1" i="0" smtClean="0">
                              <a:latin typeface="Cambria Math"/>
                              <a:ea typeface="Cambria Math"/>
                            </a:rPr>
                            <m:t>𝐱</m:t>
                          </m:r>
                        </m:e>
                        <m:sup>
                          <m:r>
                            <a:rPr lang="fr-FR" b="1" i="1" smtClean="0">
                              <a:latin typeface="Cambria Math"/>
                              <a:ea typeface="Cambria Math"/>
                            </a:rPr>
                            <m:t>𝒅</m:t>
                          </m:r>
                        </m:sup>
                      </m:sSup>
                    </m:oMath>
                  </m:oMathPara>
                </a14:m>
                <a:endParaRPr lang="fr-FR" dirty="0"/>
              </a:p>
            </p:txBody>
          </p:sp>
        </mc:Choice>
        <mc:Fallback xmlns="">
          <p:sp>
            <p:nvSpPr>
              <p:cNvPr id="63" name="ZoneTexte 62"/>
              <p:cNvSpPr txBox="1">
                <a:spLocks noRot="1" noChangeAspect="1" noMove="1" noResize="1" noEditPoints="1" noAdjustHandles="1" noChangeArrowheads="1" noChangeShapeType="1" noTextEdit="1"/>
              </p:cNvSpPr>
              <p:nvPr/>
            </p:nvSpPr>
            <p:spPr>
              <a:xfrm>
                <a:off x="849847" y="1490062"/>
                <a:ext cx="500393" cy="379784"/>
              </a:xfrm>
              <a:prstGeom prst="rect">
                <a:avLst/>
              </a:prstGeom>
              <a:blipFill rotWithShape="1">
                <a:blip r:embed="rId8"/>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2" name="ZoneTexte 41"/>
              <p:cNvSpPr txBox="1"/>
              <p:nvPr/>
            </p:nvSpPr>
            <p:spPr>
              <a:xfrm>
                <a:off x="2342398" y="1640899"/>
                <a:ext cx="1563555"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r>
                        <a:rPr lang="el-GR" b="1">
                          <a:latin typeface="Cambria Math"/>
                          <a:ea typeface="Cambria Math"/>
                        </a:rPr>
                        <m:t>𝚲</m:t>
                      </m:r>
                      <m:sSup>
                        <m:sSupPr>
                          <m:ctrlPr>
                            <a:rPr lang="el-GR" i="1">
                              <a:latin typeface="Cambria Math" panose="02040503050406030204" pitchFamily="18" charset="0"/>
                              <a:ea typeface="Cambria Math"/>
                            </a:rPr>
                          </m:ctrlPr>
                        </m:sSupPr>
                        <m:e>
                          <m:r>
                            <a:rPr lang="fr-FR" i="1">
                              <a:latin typeface="Cambria Math"/>
                              <a:ea typeface="Cambria Math"/>
                            </a:rPr>
                            <m:t>𝑠</m:t>
                          </m:r>
                        </m:e>
                        <m:sup>
                          <m:r>
                            <a:rPr lang="fr-FR" i="1">
                              <a:latin typeface="Cambria Math"/>
                              <a:ea typeface="Cambria Math"/>
                            </a:rPr>
                            <m:t>2</m:t>
                          </m:r>
                        </m:sup>
                      </m:sSup>
                      <m:r>
                        <a:rPr lang="fr-FR" i="1">
                          <a:latin typeface="Cambria Math"/>
                          <a:ea typeface="Cambria Math"/>
                        </a:rPr>
                        <m:t>+</m:t>
                      </m:r>
                      <m:r>
                        <a:rPr lang="fr-FR" b="1">
                          <a:latin typeface="Cambria Math"/>
                          <a:ea typeface="Cambria Math"/>
                        </a:rPr>
                        <m:t>𝐁</m:t>
                      </m:r>
                      <m:r>
                        <a:rPr lang="fr-FR" i="1">
                          <a:latin typeface="Cambria Math"/>
                          <a:ea typeface="Cambria Math"/>
                        </a:rPr>
                        <m:t>𝑠</m:t>
                      </m:r>
                      <m:r>
                        <a:rPr lang="fr-FR" i="1">
                          <a:latin typeface="Cambria Math"/>
                          <a:ea typeface="Cambria Math"/>
                        </a:rPr>
                        <m:t>+</m:t>
                      </m:r>
                      <m:r>
                        <a:rPr lang="fr-FR" b="1">
                          <a:latin typeface="Cambria Math"/>
                          <a:ea typeface="Cambria Math"/>
                        </a:rPr>
                        <m:t>𝐊</m:t>
                      </m:r>
                    </m:oMath>
                  </m:oMathPara>
                </a14:m>
                <a:endParaRPr lang="fr-FR" b="1" dirty="0"/>
              </a:p>
            </p:txBody>
          </p:sp>
        </mc:Choice>
        <mc:Fallback xmlns="">
          <p:sp>
            <p:nvSpPr>
              <p:cNvPr id="42" name="ZoneTexte 41"/>
              <p:cNvSpPr txBox="1">
                <a:spLocks noRot="1" noChangeAspect="1" noMove="1" noResize="1" noEditPoints="1" noAdjustHandles="1" noChangeArrowheads="1" noChangeShapeType="1" noTextEdit="1"/>
              </p:cNvSpPr>
              <p:nvPr/>
            </p:nvSpPr>
            <p:spPr>
              <a:xfrm>
                <a:off x="2342398" y="1640899"/>
                <a:ext cx="1563555" cy="369332"/>
              </a:xfrm>
              <a:prstGeom prst="rect">
                <a:avLst/>
              </a:prstGeom>
              <a:blipFill rotWithShape="1">
                <a:blip r:embed="rId9"/>
                <a:stretch>
                  <a:fillRect/>
                </a:stretch>
              </a:blipFill>
              <a:ln w="25400"/>
            </p:spPr>
            <p:txBody>
              <a:bodyPr/>
              <a:lstStyle/>
              <a:p>
                <a:r>
                  <a:rPr lang="fr-FR">
                    <a:noFill/>
                  </a:rPr>
                  <a:t> </a:t>
                </a:r>
              </a:p>
            </p:txBody>
          </p:sp>
        </mc:Fallback>
      </mc:AlternateContent>
      <p:sp>
        <p:nvSpPr>
          <p:cNvPr id="40" name="Ellipse 39"/>
          <p:cNvSpPr/>
          <p:nvPr/>
        </p:nvSpPr>
        <p:spPr>
          <a:xfrm>
            <a:off x="1476559" y="1666664"/>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cxnSp>
        <p:nvCxnSpPr>
          <p:cNvPr id="41" name="Connecteur droit 40"/>
          <p:cNvCxnSpPr/>
          <p:nvPr/>
        </p:nvCxnSpPr>
        <p:spPr>
          <a:xfrm flipH="1">
            <a:off x="4967692" y="2776347"/>
            <a:ext cx="2425478" cy="0"/>
          </a:xfrm>
          <a:prstGeom prst="line">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7" name="ZoneTexte 36"/>
          <p:cNvSpPr txBox="1"/>
          <p:nvPr/>
        </p:nvSpPr>
        <p:spPr>
          <a:xfrm>
            <a:off x="4223438" y="2591681"/>
            <a:ext cx="728824"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dirty="0"/>
              <a:t>MGD</a:t>
            </a:r>
          </a:p>
        </p:txBody>
      </p:sp>
      <mc:AlternateContent xmlns:mc="http://schemas.openxmlformats.org/markup-compatibility/2006" xmlns:a14="http://schemas.microsoft.com/office/drawing/2010/main">
        <mc:Choice Requires="a14">
          <p:sp>
            <p:nvSpPr>
              <p:cNvPr id="47" name="ZoneTexte 46"/>
              <p:cNvSpPr txBox="1"/>
              <p:nvPr/>
            </p:nvSpPr>
            <p:spPr>
              <a:xfrm>
                <a:off x="4720102" y="1640898"/>
                <a:ext cx="590551"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0" smtClean="0">
                              <a:latin typeface="Cambria Math"/>
                            </a:rPr>
                            <m:t>  </m:t>
                          </m:r>
                          <m:r>
                            <a:rPr lang="fr-FR" b="1" i="0" smtClean="0">
                              <a:latin typeface="Cambria Math"/>
                            </a:rPr>
                            <m:t>𝐉</m:t>
                          </m:r>
                        </m:e>
                        <m:sup>
                          <m:r>
                            <a:rPr lang="fr-FR" b="0" i="1" smtClean="0">
                              <a:latin typeface="Cambria Math"/>
                            </a:rPr>
                            <m:t>𝑇</m:t>
                          </m:r>
                        </m:sup>
                      </m:sSup>
                    </m:oMath>
                  </m:oMathPara>
                </a14:m>
                <a:endParaRPr lang="fr-FR" dirty="0"/>
              </a:p>
            </p:txBody>
          </p:sp>
        </mc:Choice>
        <mc:Fallback xmlns="">
          <p:sp>
            <p:nvSpPr>
              <p:cNvPr id="47" name="ZoneTexte 46"/>
              <p:cNvSpPr txBox="1">
                <a:spLocks noRot="1" noChangeAspect="1" noMove="1" noResize="1" noEditPoints="1" noAdjustHandles="1" noChangeArrowheads="1" noChangeShapeType="1" noTextEdit="1"/>
              </p:cNvSpPr>
              <p:nvPr/>
            </p:nvSpPr>
            <p:spPr>
              <a:xfrm>
                <a:off x="4720102" y="1640898"/>
                <a:ext cx="590551" cy="369332"/>
              </a:xfrm>
              <a:prstGeom prst="rect">
                <a:avLst/>
              </a:prstGeom>
              <a:blipFill rotWithShape="1">
                <a:blip r:embed="rId10"/>
                <a:stretch>
                  <a:fillRect/>
                </a:stretch>
              </a:blipFill>
              <a:ln w="25400"/>
            </p:spPr>
            <p:txBody>
              <a:bodyPr/>
              <a:lstStyle/>
              <a:p>
                <a:r>
                  <a:rPr lang="fr-FR">
                    <a:noFill/>
                  </a:rPr>
                  <a:t> </a:t>
                </a:r>
              </a:p>
            </p:txBody>
          </p:sp>
        </mc:Fallback>
      </mc:AlternateContent>
      <p:cxnSp>
        <p:nvCxnSpPr>
          <p:cNvPr id="44" name="Connecteur droit avec flèche 43"/>
          <p:cNvCxnSpPr>
            <a:stCxn id="51" idx="3"/>
          </p:cNvCxnSpPr>
          <p:nvPr/>
        </p:nvCxnSpPr>
        <p:spPr>
          <a:xfrm flipV="1">
            <a:off x="6266217" y="4410018"/>
            <a:ext cx="756285" cy="379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ZoneTexte 45"/>
              <p:cNvSpPr txBox="1"/>
              <p:nvPr/>
            </p:nvSpPr>
            <p:spPr>
              <a:xfrm>
                <a:off x="6515348" y="4039062"/>
                <a:ext cx="35137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b="1" i="1" smtClean="0">
                          <a:latin typeface="Cambria Math"/>
                          <a:ea typeface="Cambria Math"/>
                        </a:rPr>
                        <m:t>𝕗</m:t>
                      </m:r>
                    </m:oMath>
                  </m:oMathPara>
                </a14:m>
                <a:endParaRPr lang="fr-FR" dirty="0"/>
              </a:p>
            </p:txBody>
          </p:sp>
        </mc:Choice>
        <mc:Fallback xmlns="">
          <p:sp>
            <p:nvSpPr>
              <p:cNvPr id="46" name="ZoneTexte 45"/>
              <p:cNvSpPr txBox="1">
                <a:spLocks noRot="1" noChangeAspect="1" noMove="1" noResize="1" noEditPoints="1" noAdjustHandles="1" noChangeArrowheads="1" noChangeShapeType="1" noTextEdit="1"/>
              </p:cNvSpPr>
              <p:nvPr/>
            </p:nvSpPr>
            <p:spPr>
              <a:xfrm>
                <a:off x="6515348" y="4039062"/>
                <a:ext cx="351378" cy="369332"/>
              </a:xfrm>
              <a:prstGeom prst="rect">
                <a:avLst/>
              </a:prstGeom>
              <a:blipFill rotWithShape="1">
                <a:blip r:embed="rId11"/>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8" name="ZoneTexte 47"/>
              <p:cNvSpPr txBox="1"/>
              <p:nvPr/>
            </p:nvSpPr>
            <p:spPr>
              <a:xfrm>
                <a:off x="4600100" y="4088917"/>
                <a:ext cx="3786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l-GR" b="1">
                          <a:latin typeface="Cambria Math"/>
                          <a:ea typeface="Cambria Math"/>
                        </a:rPr>
                        <m:t>𝚪</m:t>
                      </m:r>
                    </m:oMath>
                  </m:oMathPara>
                </a14:m>
                <a:endParaRPr lang="fr-FR" dirty="0"/>
              </a:p>
            </p:txBody>
          </p:sp>
        </mc:Choice>
        <mc:Fallback xmlns="">
          <p:sp>
            <p:nvSpPr>
              <p:cNvPr id="48" name="ZoneTexte 47"/>
              <p:cNvSpPr txBox="1">
                <a:spLocks noRot="1" noChangeAspect="1" noMove="1" noResize="1" noEditPoints="1" noAdjustHandles="1" noChangeArrowheads="1" noChangeShapeType="1" noTextEdit="1"/>
              </p:cNvSpPr>
              <p:nvPr/>
            </p:nvSpPr>
            <p:spPr>
              <a:xfrm>
                <a:off x="4600100" y="4088917"/>
                <a:ext cx="378630" cy="369332"/>
              </a:xfrm>
              <a:prstGeom prst="rect">
                <a:avLst/>
              </a:prstGeom>
              <a:blipFill rotWithShape="1">
                <a:blip r:embed="rId12"/>
                <a:stretch>
                  <a:fillRect/>
                </a:stretch>
              </a:blipFill>
            </p:spPr>
            <p:txBody>
              <a:bodyPr/>
              <a:lstStyle/>
              <a:p>
                <a:r>
                  <a:rPr lang="fr-FR">
                    <a:noFill/>
                  </a:rPr>
                  <a:t> </a:t>
                </a:r>
              </a:p>
            </p:txBody>
          </p:sp>
        </mc:Fallback>
      </mc:AlternateContent>
      <p:cxnSp>
        <p:nvCxnSpPr>
          <p:cNvPr id="53" name="Connecteur droit avec flèche 52"/>
          <p:cNvCxnSpPr/>
          <p:nvPr/>
        </p:nvCxnSpPr>
        <p:spPr>
          <a:xfrm>
            <a:off x="6656296" y="4416998"/>
            <a:ext cx="0" cy="1115908"/>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57" name="Connecteur droit avec flèche 56"/>
          <p:cNvCxnSpPr/>
          <p:nvPr/>
        </p:nvCxnSpPr>
        <p:spPr>
          <a:xfrm flipV="1">
            <a:off x="2601657" y="4406499"/>
            <a:ext cx="924423" cy="189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8" name="Connecteur droit avec flèche 57"/>
          <p:cNvCxnSpPr/>
          <p:nvPr/>
        </p:nvCxnSpPr>
        <p:spPr>
          <a:xfrm>
            <a:off x="1616108" y="4416998"/>
            <a:ext cx="699799"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9" name="Connecteur droit 58"/>
          <p:cNvCxnSpPr>
            <a:stCxn id="65" idx="1"/>
          </p:cNvCxnSpPr>
          <p:nvPr/>
        </p:nvCxnSpPr>
        <p:spPr>
          <a:xfrm flipH="1" flipV="1">
            <a:off x="2458781" y="5522259"/>
            <a:ext cx="1067299" cy="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0" name="Connecteur droit avec flèche 59"/>
          <p:cNvCxnSpPr/>
          <p:nvPr/>
        </p:nvCxnSpPr>
        <p:spPr>
          <a:xfrm flipH="1" flipV="1">
            <a:off x="2458781" y="4540622"/>
            <a:ext cx="1" cy="98163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62" name="Objet 61"/>
          <p:cNvGraphicFramePr>
            <a:graphicFrameLocks noChangeAspect="1"/>
          </p:cNvGraphicFramePr>
          <p:nvPr>
            <p:extLst>
              <p:ext uri="{D42A27DB-BD31-4B8C-83A1-F6EECF244321}">
                <p14:modId xmlns:p14="http://schemas.microsoft.com/office/powerpoint/2010/main" val="1091528260"/>
              </p:ext>
            </p:extLst>
          </p:nvPr>
        </p:nvGraphicFramePr>
        <p:xfrm>
          <a:off x="2207957" y="4598474"/>
          <a:ext cx="215900" cy="157163"/>
        </p:xfrm>
        <a:graphic>
          <a:graphicData uri="http://schemas.openxmlformats.org/presentationml/2006/ole">
            <mc:AlternateContent xmlns:mc="http://schemas.openxmlformats.org/markup-compatibility/2006">
              <mc:Choice xmlns:v="urn:schemas-microsoft-com:vml" Requires="v">
                <p:oleObj name="Equation" r:id="rId13" imgW="139639" imgH="101556" progId="Equation.DSMT4">
                  <p:embed/>
                </p:oleObj>
              </mc:Choice>
              <mc:Fallback>
                <p:oleObj name="Equation" r:id="rId13" imgW="139639" imgH="101556"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7957" y="4598474"/>
                        <a:ext cx="215900" cy="157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64" name="ZoneTexte 63"/>
              <p:cNvSpPr txBox="1"/>
              <p:nvPr/>
            </p:nvSpPr>
            <p:spPr>
              <a:xfrm>
                <a:off x="1616108" y="4075627"/>
                <a:ext cx="500393" cy="3797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b="1" i="1" smtClean="0">
                              <a:latin typeface="Cambria Math" panose="02040503050406030204" pitchFamily="18" charset="0"/>
                              <a:ea typeface="Cambria Math"/>
                            </a:rPr>
                          </m:ctrlPr>
                        </m:sSupPr>
                        <m:e>
                          <m:r>
                            <a:rPr lang="fr-FR" b="1" i="0" smtClean="0">
                              <a:latin typeface="Cambria Math"/>
                              <a:ea typeface="Cambria Math"/>
                            </a:rPr>
                            <m:t>𝐱</m:t>
                          </m:r>
                        </m:e>
                        <m:sup>
                          <m:r>
                            <a:rPr lang="fr-FR" b="1" i="1" smtClean="0">
                              <a:latin typeface="Cambria Math"/>
                              <a:ea typeface="Cambria Math"/>
                            </a:rPr>
                            <m:t>𝒅</m:t>
                          </m:r>
                        </m:sup>
                      </m:sSup>
                    </m:oMath>
                  </m:oMathPara>
                </a14:m>
                <a:endParaRPr lang="fr-FR" dirty="0"/>
              </a:p>
            </p:txBody>
          </p:sp>
        </mc:Choice>
        <mc:Fallback xmlns="">
          <p:sp>
            <p:nvSpPr>
              <p:cNvPr id="64" name="ZoneTexte 63"/>
              <p:cNvSpPr txBox="1">
                <a:spLocks noRot="1" noChangeAspect="1" noMove="1" noResize="1" noEditPoints="1" noAdjustHandles="1" noChangeArrowheads="1" noChangeShapeType="1" noTextEdit="1"/>
              </p:cNvSpPr>
              <p:nvPr/>
            </p:nvSpPr>
            <p:spPr>
              <a:xfrm>
                <a:off x="1616108" y="4075627"/>
                <a:ext cx="500393" cy="379784"/>
              </a:xfrm>
              <a:prstGeom prst="rect">
                <a:avLst/>
              </a:prstGeom>
              <a:blipFill rotWithShape="1">
                <a:blip r:embed="rId14"/>
                <a:stretch>
                  <a:fillRect/>
                </a:stretch>
              </a:blipFill>
            </p:spPr>
            <p:txBody>
              <a:bodyPr/>
              <a:lstStyle/>
              <a:p>
                <a:r>
                  <a:rPr lang="fr-FR">
                    <a:noFill/>
                  </a:rPr>
                  <a:t> </a:t>
                </a:r>
              </a:p>
            </p:txBody>
          </p:sp>
        </mc:Fallback>
      </mc:AlternateContent>
      <p:sp>
        <p:nvSpPr>
          <p:cNvPr id="66" name="Ellipse 65"/>
          <p:cNvSpPr/>
          <p:nvPr/>
        </p:nvSpPr>
        <p:spPr>
          <a:xfrm>
            <a:off x="2315907" y="4265519"/>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cxnSp>
        <p:nvCxnSpPr>
          <p:cNvPr id="67" name="Connecteur droit 66"/>
          <p:cNvCxnSpPr>
            <a:endCxn id="65" idx="3"/>
          </p:cNvCxnSpPr>
          <p:nvPr/>
        </p:nvCxnSpPr>
        <p:spPr>
          <a:xfrm flipH="1">
            <a:off x="5089635" y="5522260"/>
            <a:ext cx="1566661" cy="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0" name="Connecteur droit avec flèche 69"/>
          <p:cNvCxnSpPr>
            <a:endCxn id="51" idx="1"/>
          </p:cNvCxnSpPr>
          <p:nvPr/>
        </p:nvCxnSpPr>
        <p:spPr>
          <a:xfrm>
            <a:off x="4138562" y="4408394"/>
            <a:ext cx="1125382" cy="541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9" name="ZoneTexte 68"/>
              <p:cNvSpPr txBox="1"/>
              <p:nvPr/>
            </p:nvSpPr>
            <p:spPr>
              <a:xfrm>
                <a:off x="3526080" y="4223728"/>
                <a:ext cx="590551"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r>
                        <a:rPr lang="fr-FR" b="1" i="0" smtClean="0">
                          <a:latin typeface="Cambria Math"/>
                        </a:rPr>
                        <m:t>𝐋𝐂𝐏</m:t>
                      </m:r>
                    </m:oMath>
                  </m:oMathPara>
                </a14:m>
                <a:endParaRPr lang="fr-FR" b="1" dirty="0"/>
              </a:p>
            </p:txBody>
          </p:sp>
        </mc:Choice>
        <mc:Fallback xmlns="">
          <p:sp>
            <p:nvSpPr>
              <p:cNvPr id="69" name="ZoneTexte 68"/>
              <p:cNvSpPr txBox="1">
                <a:spLocks noRot="1" noChangeAspect="1" noMove="1" noResize="1" noEditPoints="1" noAdjustHandles="1" noChangeArrowheads="1" noChangeShapeType="1" noTextEdit="1"/>
              </p:cNvSpPr>
              <p:nvPr/>
            </p:nvSpPr>
            <p:spPr>
              <a:xfrm>
                <a:off x="3526080" y="4223728"/>
                <a:ext cx="590551" cy="369332"/>
              </a:xfrm>
              <a:prstGeom prst="rect">
                <a:avLst/>
              </a:prstGeom>
              <a:blipFill rotWithShape="1">
                <a:blip r:embed="rId15"/>
                <a:stretch>
                  <a:fillRect/>
                </a:stretch>
              </a:blipFill>
              <a:ln w="25400"/>
            </p:spPr>
            <p:txBody>
              <a:bodyPr/>
              <a:lstStyle/>
              <a:p>
                <a:r>
                  <a:rPr lang="fr-FR">
                    <a:noFill/>
                  </a:rPr>
                  <a:t> </a:t>
                </a:r>
              </a:p>
            </p:txBody>
          </p:sp>
        </mc:Fallback>
      </mc:AlternateContent>
      <p:sp>
        <p:nvSpPr>
          <p:cNvPr id="51" name="ZoneTexte 50"/>
          <p:cNvSpPr txBox="1"/>
          <p:nvPr/>
        </p:nvSpPr>
        <p:spPr>
          <a:xfrm>
            <a:off x="5263944" y="4229142"/>
            <a:ext cx="1002273"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dirty="0"/>
              <a:t>Robot</a:t>
            </a:r>
          </a:p>
        </p:txBody>
      </p:sp>
      <mc:AlternateContent xmlns:mc="http://schemas.openxmlformats.org/markup-compatibility/2006" xmlns:a14="http://schemas.microsoft.com/office/drawing/2010/main">
        <mc:Choice Requires="a14">
          <p:sp>
            <p:nvSpPr>
              <p:cNvPr id="65" name="ZoneTexte 64"/>
              <p:cNvSpPr txBox="1"/>
              <p:nvPr/>
            </p:nvSpPr>
            <p:spPr>
              <a:xfrm>
                <a:off x="3526080" y="5201660"/>
                <a:ext cx="1563555" cy="641201"/>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f>
                        <m:fPr>
                          <m:ctrlPr>
                            <a:rPr lang="el-GR" b="1" i="1" smtClean="0">
                              <a:latin typeface="Cambria Math" panose="02040503050406030204" pitchFamily="18" charset="0"/>
                              <a:ea typeface="Cambria Math"/>
                            </a:rPr>
                          </m:ctrlPr>
                        </m:fPr>
                        <m:num>
                          <m:r>
                            <a:rPr lang="fr-FR" b="1" i="1" smtClean="0">
                              <a:latin typeface="Cambria Math"/>
                              <a:ea typeface="Cambria Math"/>
                            </a:rPr>
                            <m:t>𝟏</m:t>
                          </m:r>
                        </m:num>
                        <m:den>
                          <m:r>
                            <a:rPr lang="el-GR" b="1">
                              <a:latin typeface="Cambria Math"/>
                              <a:ea typeface="Cambria Math"/>
                            </a:rPr>
                            <m:t>𝚲</m:t>
                          </m:r>
                          <m:sSup>
                            <m:sSupPr>
                              <m:ctrlPr>
                                <a:rPr lang="el-GR" i="1">
                                  <a:latin typeface="Cambria Math" panose="02040503050406030204" pitchFamily="18" charset="0"/>
                                  <a:ea typeface="Cambria Math"/>
                                </a:rPr>
                              </m:ctrlPr>
                            </m:sSupPr>
                            <m:e>
                              <m:r>
                                <a:rPr lang="fr-FR" i="1">
                                  <a:latin typeface="Cambria Math"/>
                                  <a:ea typeface="Cambria Math"/>
                                </a:rPr>
                                <m:t>𝑠</m:t>
                              </m:r>
                            </m:e>
                            <m:sup>
                              <m:r>
                                <a:rPr lang="fr-FR" i="1">
                                  <a:latin typeface="Cambria Math"/>
                                  <a:ea typeface="Cambria Math"/>
                                </a:rPr>
                                <m:t>2</m:t>
                              </m:r>
                            </m:sup>
                          </m:sSup>
                          <m:r>
                            <a:rPr lang="fr-FR" i="1">
                              <a:latin typeface="Cambria Math"/>
                              <a:ea typeface="Cambria Math"/>
                            </a:rPr>
                            <m:t>+</m:t>
                          </m:r>
                          <m:r>
                            <a:rPr lang="fr-FR" b="1">
                              <a:latin typeface="Cambria Math"/>
                              <a:ea typeface="Cambria Math"/>
                            </a:rPr>
                            <m:t>𝐁</m:t>
                          </m:r>
                          <m:r>
                            <a:rPr lang="fr-FR" i="1">
                              <a:latin typeface="Cambria Math"/>
                              <a:ea typeface="Cambria Math"/>
                            </a:rPr>
                            <m:t>𝑠</m:t>
                          </m:r>
                          <m:r>
                            <a:rPr lang="fr-FR" i="1">
                              <a:latin typeface="Cambria Math"/>
                              <a:ea typeface="Cambria Math"/>
                            </a:rPr>
                            <m:t>+</m:t>
                          </m:r>
                          <m:r>
                            <a:rPr lang="fr-FR" b="1">
                              <a:latin typeface="Cambria Math"/>
                              <a:ea typeface="Cambria Math"/>
                            </a:rPr>
                            <m:t>𝐊</m:t>
                          </m:r>
                        </m:den>
                      </m:f>
                    </m:oMath>
                  </m:oMathPara>
                </a14:m>
                <a:endParaRPr lang="fr-FR" b="1" dirty="0"/>
              </a:p>
            </p:txBody>
          </p:sp>
        </mc:Choice>
        <mc:Fallback xmlns="">
          <p:sp>
            <p:nvSpPr>
              <p:cNvPr id="65" name="ZoneTexte 64"/>
              <p:cNvSpPr txBox="1">
                <a:spLocks noRot="1" noChangeAspect="1" noMove="1" noResize="1" noEditPoints="1" noAdjustHandles="1" noChangeArrowheads="1" noChangeShapeType="1" noTextEdit="1"/>
              </p:cNvSpPr>
              <p:nvPr/>
            </p:nvSpPr>
            <p:spPr>
              <a:xfrm>
                <a:off x="3526080" y="5201660"/>
                <a:ext cx="1563555" cy="641201"/>
              </a:xfrm>
              <a:prstGeom prst="rect">
                <a:avLst/>
              </a:prstGeom>
              <a:blipFill rotWithShape="1">
                <a:blip r:embed="rId16"/>
                <a:stretch>
                  <a:fillRect/>
                </a:stretch>
              </a:blipFill>
              <a:ln w="25400"/>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8" name="ZoneTexte 37"/>
              <p:cNvSpPr txBox="1"/>
              <p:nvPr/>
            </p:nvSpPr>
            <p:spPr>
              <a:xfrm>
                <a:off x="3155466" y="2445115"/>
                <a:ext cx="3706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b="1" i="0" smtClean="0">
                          <a:latin typeface="Cambria Math"/>
                        </a:rPr>
                        <m:t>𝐱</m:t>
                      </m:r>
                    </m:oMath>
                  </m:oMathPara>
                </a14:m>
                <a:endParaRPr lang="fr-FR" dirty="0"/>
              </a:p>
            </p:txBody>
          </p:sp>
        </mc:Choice>
        <mc:Fallback xmlns="">
          <p:sp>
            <p:nvSpPr>
              <p:cNvPr id="38" name="ZoneTexte 37"/>
              <p:cNvSpPr txBox="1">
                <a:spLocks noRot="1" noChangeAspect="1" noMove="1" noResize="1" noEditPoints="1" noAdjustHandles="1" noChangeArrowheads="1" noChangeShapeType="1" noTextEdit="1"/>
              </p:cNvSpPr>
              <p:nvPr/>
            </p:nvSpPr>
            <p:spPr>
              <a:xfrm>
                <a:off x="3155466" y="2445115"/>
                <a:ext cx="370614" cy="369332"/>
              </a:xfrm>
              <a:prstGeom prst="rect">
                <a:avLst/>
              </a:prstGeom>
              <a:blipFill rotWithShape="1">
                <a:blip r:embed="rId17"/>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9" name="ZoneTexte 38"/>
              <p:cNvSpPr txBox="1"/>
              <p:nvPr/>
            </p:nvSpPr>
            <p:spPr>
              <a:xfrm>
                <a:off x="2881932" y="5181502"/>
                <a:ext cx="3706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b="1" i="0" smtClean="0">
                          <a:latin typeface="Cambria Math"/>
                        </a:rPr>
                        <m:t>𝐱</m:t>
                      </m:r>
                    </m:oMath>
                  </m:oMathPara>
                </a14:m>
                <a:endParaRPr lang="fr-FR" dirty="0"/>
              </a:p>
            </p:txBody>
          </p:sp>
        </mc:Choice>
        <mc:Fallback xmlns="">
          <p:sp>
            <p:nvSpPr>
              <p:cNvPr id="39" name="ZoneTexte 38"/>
              <p:cNvSpPr txBox="1">
                <a:spLocks noRot="1" noChangeAspect="1" noMove="1" noResize="1" noEditPoints="1" noAdjustHandles="1" noChangeArrowheads="1" noChangeShapeType="1" noTextEdit="1"/>
              </p:cNvSpPr>
              <p:nvPr/>
            </p:nvSpPr>
            <p:spPr>
              <a:xfrm>
                <a:off x="2881932" y="5181502"/>
                <a:ext cx="370614" cy="369332"/>
              </a:xfrm>
              <a:prstGeom prst="rect">
                <a:avLst/>
              </a:prstGeom>
              <a:blipFill rotWithShape="1">
                <a:blip r:embed="rId18"/>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343830718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r>
                  <a:rPr lang="fr-FR" dirty="0"/>
                  <a:t>Choix des gains :</a:t>
                </a:r>
              </a:p>
              <a:p>
                <a:pPr marL="0" indent="0">
                  <a:buNone/>
                </a:pPr>
                <a:endParaRPr lang="fr-FR" dirty="0"/>
              </a:p>
              <a:p>
                <a:r>
                  <a:rPr lang="fr-FR" dirty="0"/>
                  <a:t>Valeurs élevées de </a:t>
                </a:r>
                <a14:m>
                  <m:oMath xmlns:m="http://schemas.openxmlformats.org/officeDocument/2006/math">
                    <m:r>
                      <a:rPr lang="el-GR" b="1" i="0" smtClean="0">
                        <a:latin typeface="Cambria Math"/>
                        <a:ea typeface="Cambria Math"/>
                      </a:rPr>
                      <m:t>𝚲</m:t>
                    </m:r>
                  </m:oMath>
                </a14:m>
                <a:r>
                  <a:rPr lang="fr-FR" dirty="0"/>
                  <a:t> dans les directions où l’on attend un contact afin de diminuer la dynamique du robot</a:t>
                </a:r>
              </a:p>
              <a:p>
                <a:pPr>
                  <a:buFontTx/>
                  <a:buChar char="-"/>
                </a:pPr>
                <a:endParaRPr lang="fr-FR" dirty="0"/>
              </a:p>
              <a:p>
                <a:r>
                  <a:rPr lang="fr-FR" dirty="0"/>
                  <a:t>Valeurs importantes de </a:t>
                </a:r>
                <a14:m>
                  <m:oMath xmlns:m="http://schemas.openxmlformats.org/officeDocument/2006/math">
                    <m:r>
                      <a:rPr lang="fr-FR" b="1" i="0" smtClean="0">
                        <a:latin typeface="Cambria Math"/>
                      </a:rPr>
                      <m:t>𝐁</m:t>
                    </m:r>
                  </m:oMath>
                </a14:m>
                <a:r>
                  <a:rPr lang="fr-FR" dirty="0"/>
                  <a:t> s’il nécessaire de dissiper l’énergie cinétique du robot afin d’amortir la réponse</a:t>
                </a:r>
              </a:p>
              <a:p>
                <a:pPr>
                  <a:buFontTx/>
                  <a:buChar char="-"/>
                </a:pPr>
                <a:endParaRPr lang="fr-FR" dirty="0"/>
              </a:p>
              <a:p>
                <a:r>
                  <a:rPr lang="fr-FR" dirty="0"/>
                  <a:t>Dans les directions commandées en effort, la raideur </a:t>
                </a:r>
                <a14:m>
                  <m:oMath xmlns:m="http://schemas.openxmlformats.org/officeDocument/2006/math">
                    <m:r>
                      <a:rPr lang="fr-FR" b="1" i="0" smtClean="0">
                        <a:latin typeface="Cambria Math"/>
                      </a:rPr>
                      <m:t>𝐊</m:t>
                    </m:r>
                  </m:oMath>
                </a14:m>
                <a:r>
                  <a:rPr lang="fr-FR" dirty="0"/>
                  <a:t> doit être faible pour limiter les force de contact ; dans les directions commandées en position, la raideur </a:t>
                </a:r>
                <a14:m>
                  <m:oMath xmlns:m="http://schemas.openxmlformats.org/officeDocument/2006/math">
                    <m:r>
                      <a:rPr lang="fr-FR" b="1">
                        <a:latin typeface="Cambria Math"/>
                      </a:rPr>
                      <m:t>𝐊</m:t>
                    </m:r>
                  </m:oMath>
                </a14:m>
                <a:r>
                  <a:rPr lang="fr-FR" dirty="0"/>
                  <a:t> doit être importante pour imposer un positionnement précis du robot</a:t>
                </a:r>
              </a:p>
              <a:p>
                <a:pPr>
                  <a:buFontTx/>
                  <a:buChar char="-"/>
                </a:pPr>
                <a:endParaRPr lang="fr-FR" dirty="0"/>
              </a:p>
              <a:p>
                <a:pPr marL="0" indent="0">
                  <a:buNone/>
                </a:pPr>
                <a:endParaRPr lang="fr-FR"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3"/>
                <a:stretch>
                  <a:fillRect l="-584" t="-552" r="-1096"/>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en impédance</a:t>
            </a:r>
          </a:p>
        </p:txBody>
      </p:sp>
    </p:spTree>
    <p:extLst>
      <p:ext uri="{BB962C8B-B14F-4D97-AF65-F5344CB8AC3E}">
        <p14:creationId xmlns:p14="http://schemas.microsoft.com/office/powerpoint/2010/main" val="10948274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r>
                  <a:rPr lang="fr-FR" b="1" u="sng" dirty="0"/>
                  <a:t>Exemple :</a:t>
                </a:r>
                <a:r>
                  <a:rPr lang="fr-FR" dirty="0"/>
                  <a:t> robot plan à 2 </a:t>
                </a:r>
                <a:r>
                  <a:rPr lang="fr-FR" dirty="0" err="1"/>
                  <a:t>ddl</a:t>
                </a:r>
                <a:endParaRPr lang="fr-FR" dirty="0"/>
              </a:p>
              <a:p>
                <a:pPr marL="0" indent="0">
                  <a:buNone/>
                </a:pPr>
                <a:endParaRPr lang="fr-FR" b="1" i="0" dirty="0">
                  <a:latin typeface="Cambria Math"/>
                  <a:ea typeface="Cambria Math"/>
                </a:endParaRPr>
              </a:p>
              <a:p>
                <a:pPr marL="0" indent="0">
                  <a:buNone/>
                </a:pPr>
                <a:r>
                  <a:rPr lang="fr-FR" b="1" dirty="0"/>
                  <a:t>Robot :</a:t>
                </a:r>
              </a:p>
              <a:p>
                <a:pPr marL="0" indent="0">
                  <a:buNone/>
                </a:pPr>
                <a:r>
                  <a:rPr lang="fr-FR" dirty="0"/>
                  <a:t>Position initiale : </a:t>
                </a:r>
                <a14:m>
                  <m:oMath xmlns:m="http://schemas.openxmlformats.org/officeDocument/2006/math">
                    <m:r>
                      <a:rPr lang="fr-FR" b="1" i="0" smtClean="0">
                        <a:latin typeface="Cambria Math"/>
                        <a:ea typeface="Cambria Math"/>
                      </a:rPr>
                      <m:t>𝐱</m:t>
                    </m:r>
                    <m:r>
                      <a:rPr lang="fr-FR" b="1" i="0" smtClean="0">
                        <a:latin typeface="Cambria Math"/>
                        <a:ea typeface="Cambria Math"/>
                      </a:rPr>
                      <m:t>=</m:t>
                    </m:r>
                    <m:sSup>
                      <m:sSupPr>
                        <m:ctrlPr>
                          <a:rPr lang="fr-FR" i="1">
                            <a:latin typeface="Cambria Math" panose="02040503050406030204" pitchFamily="18" charset="0"/>
                            <a:ea typeface="Cambria Math"/>
                          </a:rPr>
                        </m:ctrlPr>
                      </m:sSupPr>
                      <m:e>
                        <m:d>
                          <m:dPr>
                            <m:begChr m:val="["/>
                            <m:endChr m:val="]"/>
                            <m:ctrlPr>
                              <a:rPr lang="fr-FR" i="1">
                                <a:latin typeface="Cambria Math" panose="02040503050406030204" pitchFamily="18" charset="0"/>
                                <a:ea typeface="Cambria Math"/>
                              </a:rPr>
                            </m:ctrlPr>
                          </m:dPr>
                          <m:e>
                            <m:m>
                              <m:mPr>
                                <m:mcs>
                                  <m:mc>
                                    <m:mcPr>
                                      <m:count m:val="2"/>
                                      <m:mcJc m:val="center"/>
                                    </m:mcPr>
                                  </m:mc>
                                </m:mcs>
                                <m:ctrlPr>
                                  <a:rPr lang="fr-FR" i="1">
                                    <a:latin typeface="Cambria Math" panose="02040503050406030204" pitchFamily="18" charset="0"/>
                                    <a:ea typeface="Cambria Math"/>
                                  </a:rPr>
                                </m:ctrlPr>
                              </m:mPr>
                              <m:mr>
                                <m:e>
                                  <m:r>
                                    <m:rPr>
                                      <m:brk m:alnAt="7"/>
                                    </m:rPr>
                                    <a:rPr lang="fr-FR" i="1">
                                      <a:latin typeface="Cambria Math"/>
                                      <a:ea typeface="Cambria Math"/>
                                    </a:rPr>
                                    <m:t>1</m:t>
                                  </m:r>
                                </m:e>
                                <m:e>
                                  <m:r>
                                    <a:rPr lang="fr-FR" i="1">
                                      <a:latin typeface="Cambria Math"/>
                                      <a:ea typeface="Cambria Math"/>
                                    </a:rPr>
                                    <m:t>0</m:t>
                                  </m:r>
                                </m:e>
                              </m:mr>
                            </m:m>
                          </m:e>
                        </m:d>
                      </m:e>
                      <m:sup>
                        <m:r>
                          <a:rPr lang="fr-FR" i="1">
                            <a:latin typeface="Cambria Math"/>
                            <a:ea typeface="Cambria Math"/>
                          </a:rPr>
                          <m:t>𝑇</m:t>
                        </m:r>
                      </m:sup>
                    </m:sSup>
                  </m:oMath>
                </a14:m>
                <a:r>
                  <a:rPr lang="fr-FR" dirty="0">
                    <a:latin typeface="Cambria Math"/>
                    <a:ea typeface="Cambria Math"/>
                  </a:rPr>
                  <a:t> </a:t>
                </a:r>
                <a:endParaRPr lang="fr-FR" b="1" i="0" dirty="0">
                  <a:latin typeface="Cambria Math"/>
                  <a:ea typeface="Cambria Math"/>
                </a:endParaRPr>
              </a:p>
              <a:p>
                <a:pPr marL="0" indent="0">
                  <a:buNone/>
                </a:pPr>
                <a:r>
                  <a:rPr lang="fr-FR" dirty="0"/>
                  <a:t>Position désirée : </a:t>
                </a:r>
                <a14:m>
                  <m:oMath xmlns:m="http://schemas.openxmlformats.org/officeDocument/2006/math">
                    <m:sSup>
                      <m:sSupPr>
                        <m:ctrlPr>
                          <a:rPr lang="fr-FR" i="1" smtClean="0">
                            <a:latin typeface="Cambria Math" panose="02040503050406030204" pitchFamily="18" charset="0"/>
                            <a:ea typeface="Cambria Math"/>
                          </a:rPr>
                        </m:ctrlPr>
                      </m:sSupPr>
                      <m:e>
                        <m:r>
                          <a:rPr lang="fr-FR" b="1" i="0" smtClean="0">
                            <a:latin typeface="Cambria Math"/>
                            <a:ea typeface="Cambria Math"/>
                          </a:rPr>
                          <m:t>𝐱</m:t>
                        </m:r>
                      </m:e>
                      <m:sup>
                        <m:r>
                          <a:rPr lang="fr-FR" b="0" i="1" smtClean="0">
                            <a:latin typeface="Cambria Math"/>
                            <a:ea typeface="Cambria Math"/>
                          </a:rPr>
                          <m:t>𝑑</m:t>
                        </m:r>
                      </m:sup>
                    </m:sSup>
                    <m:r>
                      <a:rPr lang="fr-FR" b="0" i="1" smtClean="0">
                        <a:latin typeface="Cambria Math"/>
                        <a:ea typeface="Cambria Math"/>
                      </a:rPr>
                      <m:t>=</m:t>
                    </m:r>
                    <m:sSup>
                      <m:sSupPr>
                        <m:ctrlPr>
                          <a:rPr lang="fr-FR" b="0" i="1" smtClean="0">
                            <a:latin typeface="Cambria Math" panose="02040503050406030204" pitchFamily="18" charset="0"/>
                            <a:ea typeface="Cambria Math"/>
                          </a:rPr>
                        </m:ctrlPr>
                      </m:sSupPr>
                      <m:e>
                        <m:d>
                          <m:dPr>
                            <m:begChr m:val="["/>
                            <m:endChr m:val="]"/>
                            <m:ctrlPr>
                              <a:rPr lang="fr-FR" b="0" i="1" smtClean="0">
                                <a:latin typeface="Cambria Math" panose="02040503050406030204" pitchFamily="18" charset="0"/>
                                <a:ea typeface="Cambria Math"/>
                              </a:rPr>
                            </m:ctrlPr>
                          </m:dPr>
                          <m:e>
                            <m:m>
                              <m:mPr>
                                <m:mcs>
                                  <m:mc>
                                    <m:mcPr>
                                      <m:count m:val="2"/>
                                      <m:mcJc m:val="center"/>
                                    </m:mcPr>
                                  </m:mc>
                                </m:mcs>
                                <m:ctrlPr>
                                  <a:rPr lang="fr-FR" b="0" i="1" smtClean="0">
                                    <a:latin typeface="Cambria Math" panose="02040503050406030204" pitchFamily="18" charset="0"/>
                                    <a:ea typeface="Cambria Math"/>
                                  </a:rPr>
                                </m:ctrlPr>
                              </m:mPr>
                              <m:mr>
                                <m:e>
                                  <m:r>
                                    <m:rPr>
                                      <m:brk m:alnAt="7"/>
                                    </m:rPr>
                                    <a:rPr lang="fr-FR" b="0" i="1" smtClean="0">
                                      <a:latin typeface="Cambria Math"/>
                                      <a:ea typeface="Cambria Math"/>
                                    </a:rPr>
                                    <m:t>1</m:t>
                                  </m:r>
                                  <m:r>
                                    <a:rPr lang="fr-FR" b="0" i="1" smtClean="0">
                                      <a:latin typeface="Cambria Math"/>
                                      <a:ea typeface="Cambria Math"/>
                                    </a:rPr>
                                    <m:t>,1</m:t>
                                  </m:r>
                                </m:e>
                                <m:e>
                                  <m:r>
                                    <a:rPr lang="fr-FR" b="0" i="1" smtClean="0">
                                      <a:latin typeface="Cambria Math"/>
                                      <a:ea typeface="Cambria Math"/>
                                    </a:rPr>
                                    <m:t>0,1</m:t>
                                  </m:r>
                                </m:e>
                              </m:mr>
                            </m:m>
                          </m:e>
                        </m:d>
                      </m:e>
                      <m:sup>
                        <m:r>
                          <a:rPr lang="fr-FR" b="0" i="1" smtClean="0">
                            <a:latin typeface="Cambria Math"/>
                            <a:ea typeface="Cambria Math"/>
                          </a:rPr>
                          <m:t>𝑇</m:t>
                        </m:r>
                      </m:sup>
                    </m:sSup>
                  </m:oMath>
                </a14:m>
                <a:r>
                  <a:rPr lang="fr-FR" dirty="0">
                    <a:latin typeface="Cambria Math"/>
                    <a:ea typeface="Cambria Math"/>
                  </a:rPr>
                  <a:t> </a:t>
                </a:r>
              </a:p>
              <a:p>
                <a:pPr marL="0" indent="0">
                  <a:buNone/>
                </a:pPr>
                <a:endParaRPr lang="fr-FR" b="1" i="0" dirty="0">
                  <a:latin typeface="Cambria Math"/>
                  <a:ea typeface="Cambria Math"/>
                </a:endParaRPr>
              </a:p>
              <a:p>
                <a:pPr marL="0" indent="0">
                  <a:buNone/>
                </a:pPr>
                <a:r>
                  <a:rPr lang="fr-FR" b="1" dirty="0"/>
                  <a:t>Environnement élastique :</a:t>
                </a:r>
                <a:r>
                  <a:rPr lang="fr-FR" dirty="0"/>
                  <a:t>	</a:t>
                </a:r>
              </a:p>
              <a:p>
                <a:pPr marL="0" indent="0">
                  <a:buNone/>
                </a:pPr>
                <a:r>
                  <a:rPr lang="fr-FR" dirty="0"/>
                  <a:t>Position :</a:t>
                </a:r>
                <a:r>
                  <a:rPr lang="fr-FR" dirty="0">
                    <a:latin typeface="Cambria Math"/>
                    <a:ea typeface="Cambria Math"/>
                  </a:rPr>
                  <a:t> </a:t>
                </a:r>
                <a14:m>
                  <m:oMath xmlns:m="http://schemas.openxmlformats.org/officeDocument/2006/math">
                    <m:sSub>
                      <m:sSubPr>
                        <m:ctrlPr>
                          <a:rPr lang="fr-FR" i="1" smtClean="0">
                            <a:latin typeface="Cambria Math" panose="02040503050406030204" pitchFamily="18" charset="0"/>
                            <a:ea typeface="Cambria Math"/>
                          </a:rPr>
                        </m:ctrlPr>
                      </m:sSubPr>
                      <m:e>
                        <m:r>
                          <a:rPr lang="fr-FR" b="0" i="1" smtClean="0">
                            <a:latin typeface="Cambria Math"/>
                            <a:ea typeface="Cambria Math"/>
                          </a:rPr>
                          <m:t>𝑥</m:t>
                        </m:r>
                      </m:e>
                      <m:sub>
                        <m:r>
                          <a:rPr lang="fr-FR" b="0" i="1" smtClean="0">
                            <a:latin typeface="Cambria Math"/>
                            <a:ea typeface="Cambria Math"/>
                          </a:rPr>
                          <m:t>𝑒</m:t>
                        </m:r>
                      </m:sub>
                    </m:sSub>
                    <m:r>
                      <a:rPr lang="fr-FR" b="0" i="1" smtClean="0">
                        <a:latin typeface="Cambria Math"/>
                        <a:ea typeface="Cambria Math"/>
                      </a:rPr>
                      <m:t>=</m:t>
                    </m:r>
                    <m:r>
                      <a:rPr lang="fr-FR" b="0" i="0" smtClean="0">
                        <a:latin typeface="Cambria Math"/>
                        <a:ea typeface="Cambria Math"/>
                      </a:rPr>
                      <m:t>1 </m:t>
                    </m:r>
                    <m:r>
                      <m:rPr>
                        <m:sty m:val="p"/>
                      </m:rPr>
                      <a:rPr lang="fr-FR" b="0" i="0" smtClean="0">
                        <a:latin typeface="Cambria Math"/>
                        <a:ea typeface="Cambria Math"/>
                      </a:rPr>
                      <m:t>m</m:t>
                    </m:r>
                  </m:oMath>
                </a14:m>
                <a:endParaRPr lang="fr-FR" b="0" dirty="0">
                  <a:latin typeface="Cambria Math"/>
                  <a:ea typeface="Cambria Math"/>
                </a:endParaRPr>
              </a:p>
              <a:p>
                <a:pPr marL="0" indent="0">
                  <a:buNone/>
                </a:pPr>
                <a:r>
                  <a:rPr lang="fr-FR" dirty="0"/>
                  <a:t>Raideur :</a:t>
                </a:r>
                <a:r>
                  <a:rPr lang="fr-FR" dirty="0">
                    <a:ea typeface="Cambria Math"/>
                  </a:rPr>
                  <a:t> </a:t>
                </a:r>
                <a14:m>
                  <m:oMath xmlns:m="http://schemas.openxmlformats.org/officeDocument/2006/math">
                    <m:sSub>
                      <m:sSubPr>
                        <m:ctrlPr>
                          <a:rPr lang="fr-FR" i="1">
                            <a:latin typeface="Cambria Math" panose="02040503050406030204" pitchFamily="18" charset="0"/>
                            <a:ea typeface="Cambria Math"/>
                          </a:rPr>
                        </m:ctrlPr>
                      </m:sSubPr>
                      <m:e>
                        <m:r>
                          <a:rPr lang="fr-FR" b="1" i="1">
                            <a:latin typeface="Cambria Math"/>
                          </a:rPr>
                          <m:t>𝐤</m:t>
                        </m:r>
                      </m:e>
                      <m:sub>
                        <m:r>
                          <a:rPr lang="fr-FR" i="1">
                            <a:latin typeface="Cambria Math"/>
                            <a:ea typeface="Cambria Math"/>
                          </a:rPr>
                          <m:t>𝑒</m:t>
                        </m:r>
                      </m:sub>
                    </m:sSub>
                    <m:r>
                      <a:rPr lang="fr-FR" i="1">
                        <a:latin typeface="Cambria Math"/>
                        <a:ea typeface="Cambria Math"/>
                      </a:rPr>
                      <m:t>=</m:t>
                    </m:r>
                    <m:r>
                      <a:rPr lang="fr-FR" i="1">
                        <a:latin typeface="Cambria Math"/>
                        <a:ea typeface="Cambria Math"/>
                      </a:rPr>
                      <m:t>𝑑𝑖𝑎𝑔</m:t>
                    </m:r>
                    <m:r>
                      <a:rPr lang="fr-FR" i="1">
                        <a:latin typeface="Cambria Math"/>
                        <a:ea typeface="Cambria Math"/>
                      </a:rPr>
                      <m:t>(</m:t>
                    </m:r>
                    <m:sSub>
                      <m:sSubPr>
                        <m:ctrlPr>
                          <a:rPr lang="fr-FR" i="1">
                            <a:latin typeface="Cambria Math" panose="02040503050406030204" pitchFamily="18" charset="0"/>
                            <a:ea typeface="Cambria Math"/>
                          </a:rPr>
                        </m:ctrlPr>
                      </m:sSubPr>
                      <m:e>
                        <m:r>
                          <a:rPr lang="fr-FR" i="1">
                            <a:latin typeface="Cambria Math"/>
                            <a:ea typeface="Cambria Math"/>
                          </a:rPr>
                          <m:t>𝑘</m:t>
                        </m:r>
                      </m:e>
                      <m:sub>
                        <m:r>
                          <a:rPr lang="fr-FR" i="1">
                            <a:latin typeface="Cambria Math"/>
                            <a:ea typeface="Cambria Math"/>
                          </a:rPr>
                          <m:t>𝑒𝑥</m:t>
                        </m:r>
                      </m:sub>
                    </m:sSub>
                    <m:r>
                      <a:rPr lang="fr-FR" i="1">
                        <a:latin typeface="Cambria Math"/>
                        <a:ea typeface="Cambria Math"/>
                      </a:rPr>
                      <m:t>,</m:t>
                    </m:r>
                    <m:sSub>
                      <m:sSubPr>
                        <m:ctrlPr>
                          <a:rPr lang="fr-FR" i="1">
                            <a:latin typeface="Cambria Math" panose="02040503050406030204" pitchFamily="18" charset="0"/>
                            <a:ea typeface="Cambria Math"/>
                          </a:rPr>
                        </m:ctrlPr>
                      </m:sSubPr>
                      <m:e>
                        <m:r>
                          <a:rPr lang="fr-FR" i="1">
                            <a:latin typeface="Cambria Math"/>
                            <a:ea typeface="Cambria Math"/>
                          </a:rPr>
                          <m:t>𝑘</m:t>
                        </m:r>
                      </m:e>
                      <m:sub>
                        <m:r>
                          <a:rPr lang="fr-FR" i="1">
                            <a:latin typeface="Cambria Math"/>
                            <a:ea typeface="Cambria Math"/>
                          </a:rPr>
                          <m:t>𝑒𝑦</m:t>
                        </m:r>
                      </m:sub>
                    </m:sSub>
                    <m:r>
                      <a:rPr lang="fr-FR" i="1">
                        <a:latin typeface="Cambria Math"/>
                        <a:ea typeface="Cambria Math"/>
                      </a:rPr>
                      <m:t>)</m:t>
                    </m:r>
                  </m:oMath>
                </a14:m>
                <a:r>
                  <a:rPr lang="fr-FR" dirty="0">
                    <a:latin typeface="Cambria Math"/>
                    <a:ea typeface="Cambria Math"/>
                  </a:rPr>
                  <a:t> avec </a:t>
                </a:r>
                <a14:m>
                  <m:oMath xmlns:m="http://schemas.openxmlformats.org/officeDocument/2006/math">
                    <m:sSub>
                      <m:sSubPr>
                        <m:ctrlPr>
                          <a:rPr lang="fr-FR" i="1">
                            <a:latin typeface="Cambria Math" panose="02040503050406030204" pitchFamily="18" charset="0"/>
                            <a:ea typeface="Cambria Math"/>
                          </a:rPr>
                        </m:ctrlPr>
                      </m:sSubPr>
                      <m:e>
                        <m:r>
                          <a:rPr lang="fr-FR" i="1">
                            <a:latin typeface="Cambria Math"/>
                            <a:ea typeface="Cambria Math"/>
                          </a:rPr>
                          <m:t>𝑘</m:t>
                        </m:r>
                      </m:e>
                      <m:sub>
                        <m:r>
                          <a:rPr lang="fr-FR" i="1">
                            <a:latin typeface="Cambria Math"/>
                            <a:ea typeface="Cambria Math"/>
                          </a:rPr>
                          <m:t>𝑒𝑦</m:t>
                        </m:r>
                      </m:sub>
                    </m:sSub>
                    <m:r>
                      <a:rPr lang="fr-FR" i="1">
                        <a:latin typeface="Cambria Math"/>
                        <a:ea typeface="Cambria Math"/>
                      </a:rPr>
                      <m:t>=0</m:t>
                    </m:r>
                  </m:oMath>
                </a14:m>
                <a:endParaRPr lang="fr-FR" dirty="0">
                  <a:latin typeface="Cambria Math"/>
                  <a:ea typeface="Cambria Math"/>
                </a:endParaRPr>
              </a:p>
              <a:p>
                <a:pPr marL="0" indent="0">
                  <a:buNone/>
                </a:pPr>
                <a:endParaRPr lang="fr-FR" b="0" dirty="0">
                  <a:latin typeface="Cambria Math"/>
                  <a:ea typeface="Cambria Math"/>
                </a:endParaRPr>
              </a:p>
              <a:p>
                <a:pPr marL="0" indent="0">
                  <a:buNone/>
                </a:pPr>
                <a:r>
                  <a:rPr lang="fr-FR" b="1" dirty="0">
                    <a:latin typeface="Cambria Math"/>
                    <a:ea typeface="Cambria Math"/>
                  </a:rPr>
                  <a:t>Gains de correction (paramètres de l’impédance) :</a:t>
                </a:r>
              </a:p>
              <a:p>
                <a:pPr marL="0" indent="0">
                  <a:buNone/>
                </a:pPr>
                <a14:m>
                  <m:oMath xmlns:m="http://schemas.openxmlformats.org/officeDocument/2006/math">
                    <m:r>
                      <a:rPr lang="el-GR" b="1">
                        <a:latin typeface="Cambria Math"/>
                        <a:ea typeface="Cambria Math"/>
                      </a:rPr>
                      <m:t>𝚲</m:t>
                    </m:r>
                    <m:r>
                      <a:rPr lang="fr-FR" b="1">
                        <a:latin typeface="Cambria Math"/>
                        <a:ea typeface="Cambria Math"/>
                      </a:rPr>
                      <m:t>=</m:t>
                    </m:r>
                    <m:r>
                      <a:rPr lang="fr-FR" i="1">
                        <a:latin typeface="Cambria Math"/>
                        <a:ea typeface="Cambria Math"/>
                      </a:rPr>
                      <m:t>𝑑𝑖𝑎𝑔</m:t>
                    </m:r>
                    <m:d>
                      <m:dPr>
                        <m:ctrlPr>
                          <a:rPr lang="fr-FR" i="1">
                            <a:latin typeface="Cambria Math" panose="02040503050406030204" pitchFamily="18" charset="0"/>
                            <a:ea typeface="Cambria Math"/>
                          </a:rPr>
                        </m:ctrlPr>
                      </m:dPr>
                      <m:e>
                        <m:sSub>
                          <m:sSubPr>
                            <m:ctrlPr>
                              <a:rPr lang="fr-FR" i="1">
                                <a:latin typeface="Cambria Math" panose="02040503050406030204" pitchFamily="18" charset="0"/>
                                <a:ea typeface="Cambria Math"/>
                              </a:rPr>
                            </m:ctrlPr>
                          </m:sSubPr>
                          <m:e>
                            <m:r>
                              <a:rPr lang="fr-FR" i="1">
                                <a:latin typeface="Cambria Math"/>
                                <a:ea typeface="Cambria Math"/>
                              </a:rPr>
                              <m:t>𝜆</m:t>
                            </m:r>
                          </m:e>
                          <m:sub>
                            <m:r>
                              <a:rPr lang="fr-FR" i="1">
                                <a:latin typeface="Cambria Math"/>
                                <a:ea typeface="Cambria Math"/>
                              </a:rPr>
                              <m:t>𝑥</m:t>
                            </m:r>
                          </m:sub>
                        </m:sSub>
                        <m:r>
                          <a:rPr lang="fr-FR" i="1">
                            <a:latin typeface="Cambria Math"/>
                            <a:ea typeface="Cambria Math"/>
                          </a:rPr>
                          <m:t>,</m:t>
                        </m:r>
                        <m:sSub>
                          <m:sSubPr>
                            <m:ctrlPr>
                              <a:rPr lang="fr-FR" i="1">
                                <a:latin typeface="Cambria Math" panose="02040503050406030204" pitchFamily="18" charset="0"/>
                                <a:ea typeface="Cambria Math"/>
                              </a:rPr>
                            </m:ctrlPr>
                          </m:sSubPr>
                          <m:e>
                            <m:r>
                              <a:rPr lang="fr-FR" i="1">
                                <a:latin typeface="Cambria Math"/>
                                <a:ea typeface="Cambria Math"/>
                              </a:rPr>
                              <m:t>𝜆</m:t>
                            </m:r>
                          </m:e>
                          <m:sub>
                            <m:r>
                              <a:rPr lang="fr-FR" i="1">
                                <a:latin typeface="Cambria Math"/>
                                <a:ea typeface="Cambria Math"/>
                              </a:rPr>
                              <m:t>𝑦</m:t>
                            </m:r>
                          </m:sub>
                        </m:sSub>
                      </m:e>
                    </m:d>
                  </m:oMath>
                </a14:m>
                <a:r>
                  <a:rPr lang="fr-FR" b="1" dirty="0"/>
                  <a:t> 	</a:t>
                </a:r>
                <a14:m>
                  <m:oMath xmlns:m="http://schemas.openxmlformats.org/officeDocument/2006/math">
                    <m:r>
                      <a:rPr lang="fr-FR" b="1">
                        <a:latin typeface="Cambria Math"/>
                      </a:rPr>
                      <m:t>𝐁</m:t>
                    </m:r>
                    <m:r>
                      <a:rPr lang="fr-FR" i="1">
                        <a:latin typeface="Cambria Math"/>
                      </a:rPr>
                      <m:t>=</m:t>
                    </m:r>
                    <m:r>
                      <a:rPr lang="fr-FR" i="1">
                        <a:latin typeface="Cambria Math"/>
                      </a:rPr>
                      <m:t>𝑑𝑖𝑎𝑔</m:t>
                    </m:r>
                    <m:r>
                      <a:rPr lang="fr-FR" i="1">
                        <a:latin typeface="Cambria Math"/>
                      </a:rPr>
                      <m:t>(</m:t>
                    </m:r>
                    <m:sSub>
                      <m:sSubPr>
                        <m:ctrlPr>
                          <a:rPr lang="fr-FR" i="1">
                            <a:latin typeface="Cambria Math" panose="02040503050406030204" pitchFamily="18" charset="0"/>
                          </a:rPr>
                        </m:ctrlPr>
                      </m:sSubPr>
                      <m:e>
                        <m:r>
                          <a:rPr lang="fr-FR" i="1">
                            <a:latin typeface="Cambria Math"/>
                          </a:rPr>
                          <m:t>𝑏</m:t>
                        </m:r>
                      </m:e>
                      <m:sub>
                        <m:r>
                          <a:rPr lang="fr-FR" i="1">
                            <a:latin typeface="Cambria Math"/>
                          </a:rPr>
                          <m:t>𝑥</m:t>
                        </m:r>
                      </m:sub>
                    </m:sSub>
                    <m:r>
                      <a:rPr lang="fr-FR" i="1">
                        <a:latin typeface="Cambria Math"/>
                      </a:rPr>
                      <m:t>,</m:t>
                    </m:r>
                    <m:sSub>
                      <m:sSubPr>
                        <m:ctrlPr>
                          <a:rPr lang="fr-FR" i="1">
                            <a:latin typeface="Cambria Math" panose="02040503050406030204" pitchFamily="18" charset="0"/>
                          </a:rPr>
                        </m:ctrlPr>
                      </m:sSubPr>
                      <m:e>
                        <m:r>
                          <a:rPr lang="fr-FR" i="1">
                            <a:latin typeface="Cambria Math"/>
                          </a:rPr>
                          <m:t>𝑏</m:t>
                        </m:r>
                      </m:e>
                      <m:sub>
                        <m:r>
                          <a:rPr lang="fr-FR" i="1">
                            <a:latin typeface="Cambria Math"/>
                          </a:rPr>
                          <m:t>𝑦</m:t>
                        </m:r>
                      </m:sub>
                    </m:sSub>
                    <m:r>
                      <a:rPr lang="fr-FR" i="1">
                        <a:latin typeface="Cambria Math"/>
                      </a:rPr>
                      <m:t>)</m:t>
                    </m:r>
                  </m:oMath>
                </a14:m>
                <a:r>
                  <a:rPr lang="fr-FR" b="1" dirty="0"/>
                  <a:t> 	</a:t>
                </a:r>
                <a14:m>
                  <m:oMath xmlns:m="http://schemas.openxmlformats.org/officeDocument/2006/math">
                    <m:r>
                      <a:rPr lang="fr-FR" b="1">
                        <a:latin typeface="Cambria Math"/>
                      </a:rPr>
                      <m:t>𝐊</m:t>
                    </m:r>
                    <m:r>
                      <a:rPr lang="fr-FR" i="1">
                        <a:latin typeface="Cambria Math"/>
                      </a:rPr>
                      <m:t>=</m:t>
                    </m:r>
                    <m:r>
                      <a:rPr lang="fr-FR" i="1">
                        <a:latin typeface="Cambria Math"/>
                      </a:rPr>
                      <m:t>𝑑𝑖𝑎𝑔</m:t>
                    </m:r>
                    <m:r>
                      <a:rPr lang="fr-FR" i="1">
                        <a:latin typeface="Cambria Math"/>
                      </a:rPr>
                      <m:t>(</m:t>
                    </m:r>
                    <m:sSub>
                      <m:sSubPr>
                        <m:ctrlPr>
                          <a:rPr lang="fr-FR" i="1">
                            <a:latin typeface="Cambria Math" panose="02040503050406030204" pitchFamily="18" charset="0"/>
                          </a:rPr>
                        </m:ctrlPr>
                      </m:sSubPr>
                      <m:e>
                        <m:r>
                          <a:rPr lang="fr-FR" i="1">
                            <a:latin typeface="Cambria Math"/>
                          </a:rPr>
                          <m:t>𝑘</m:t>
                        </m:r>
                      </m:e>
                      <m:sub>
                        <m:r>
                          <a:rPr lang="fr-FR" i="1">
                            <a:latin typeface="Cambria Math"/>
                          </a:rPr>
                          <m:t>𝑥</m:t>
                        </m:r>
                      </m:sub>
                    </m:sSub>
                    <m:r>
                      <a:rPr lang="fr-FR" i="1">
                        <a:latin typeface="Cambria Math"/>
                      </a:rPr>
                      <m:t>,</m:t>
                    </m:r>
                    <m:sSub>
                      <m:sSubPr>
                        <m:ctrlPr>
                          <a:rPr lang="fr-FR" i="1">
                            <a:latin typeface="Cambria Math" panose="02040503050406030204" pitchFamily="18" charset="0"/>
                          </a:rPr>
                        </m:ctrlPr>
                      </m:sSubPr>
                      <m:e>
                        <m:r>
                          <a:rPr lang="fr-FR" i="1">
                            <a:latin typeface="Cambria Math"/>
                          </a:rPr>
                          <m:t>𝑘</m:t>
                        </m:r>
                      </m:e>
                      <m:sub>
                        <m:r>
                          <a:rPr lang="fr-FR" i="1">
                            <a:latin typeface="Cambria Math"/>
                          </a:rPr>
                          <m:t>𝑦</m:t>
                        </m:r>
                      </m:sub>
                    </m:sSub>
                    <m:r>
                      <a:rPr lang="fr-FR" i="1">
                        <a:latin typeface="Cambria Math"/>
                      </a:rPr>
                      <m:t>)</m:t>
                    </m:r>
                  </m:oMath>
                </a14:m>
                <a:endParaRPr lang="fr-FR" i="1" dirty="0"/>
              </a:p>
              <a:p>
                <a:pPr marL="0" indent="0">
                  <a:buNone/>
                </a:pPr>
                <a14:m>
                  <m:oMath xmlns:m="http://schemas.openxmlformats.org/officeDocument/2006/math">
                    <m:sSub>
                      <m:sSubPr>
                        <m:ctrlPr>
                          <a:rPr lang="fr-FR" i="1">
                            <a:latin typeface="Cambria Math" panose="02040503050406030204" pitchFamily="18" charset="0"/>
                          </a:rPr>
                        </m:ctrlPr>
                      </m:sSubPr>
                      <m:e>
                        <m:r>
                          <a:rPr lang="fr-FR" i="1">
                            <a:latin typeface="Cambria Math"/>
                            <a:ea typeface="Cambria Math"/>
                          </a:rPr>
                          <m:t>𝜆</m:t>
                        </m:r>
                      </m:e>
                      <m:sub>
                        <m:r>
                          <a:rPr lang="fr-FR" i="1">
                            <a:latin typeface="Cambria Math"/>
                          </a:rPr>
                          <m:t>𝑥</m:t>
                        </m:r>
                      </m:sub>
                    </m:sSub>
                    <m:r>
                      <a:rPr lang="fr-FR" i="1">
                        <a:latin typeface="Cambria Math"/>
                      </a:rPr>
                      <m:t>=</m:t>
                    </m:r>
                    <m:sSub>
                      <m:sSubPr>
                        <m:ctrlPr>
                          <a:rPr lang="fr-FR" i="1">
                            <a:latin typeface="Cambria Math" panose="02040503050406030204" pitchFamily="18" charset="0"/>
                          </a:rPr>
                        </m:ctrlPr>
                      </m:sSubPr>
                      <m:e>
                        <m:r>
                          <a:rPr lang="fr-FR" i="1">
                            <a:latin typeface="Cambria Math"/>
                            <a:ea typeface="Cambria Math"/>
                          </a:rPr>
                          <m:t>𝜆</m:t>
                        </m:r>
                      </m:e>
                      <m:sub>
                        <m:r>
                          <a:rPr lang="fr-FR" i="1">
                            <a:latin typeface="Cambria Math"/>
                            <a:ea typeface="Cambria Math"/>
                          </a:rPr>
                          <m:t>𝑦</m:t>
                        </m:r>
                      </m:sub>
                    </m:sSub>
                    <m:r>
                      <a:rPr lang="fr-FR" i="1">
                        <a:latin typeface="Cambria Math"/>
                      </a:rPr>
                      <m:t>=100</m:t>
                    </m:r>
                  </m:oMath>
                </a14:m>
                <a:r>
                  <a:rPr lang="fr-FR" i="1" dirty="0">
                    <a:latin typeface="Cambria Math"/>
                  </a:rPr>
                  <a:t> 	</a:t>
                </a:r>
                <a14:m>
                  <m:oMath xmlns:m="http://schemas.openxmlformats.org/officeDocument/2006/math">
                    <m:sSub>
                      <m:sSubPr>
                        <m:ctrlPr>
                          <a:rPr lang="fr-FR" i="1">
                            <a:latin typeface="Cambria Math" panose="02040503050406030204" pitchFamily="18" charset="0"/>
                          </a:rPr>
                        </m:ctrlPr>
                      </m:sSubPr>
                      <m:e>
                        <m:r>
                          <a:rPr lang="fr-FR" i="1">
                            <a:latin typeface="Cambria Math"/>
                          </a:rPr>
                          <m:t>𝑏</m:t>
                        </m:r>
                      </m:e>
                      <m:sub>
                        <m:r>
                          <a:rPr lang="fr-FR" i="1">
                            <a:latin typeface="Cambria Math"/>
                          </a:rPr>
                          <m:t>𝑥</m:t>
                        </m:r>
                      </m:sub>
                    </m:sSub>
                    <m:r>
                      <a:rPr lang="fr-FR" i="1">
                        <a:latin typeface="Cambria Math"/>
                      </a:rPr>
                      <m:t>=</m:t>
                    </m:r>
                    <m:sSub>
                      <m:sSubPr>
                        <m:ctrlPr>
                          <a:rPr lang="fr-FR" i="1">
                            <a:latin typeface="Cambria Math" panose="02040503050406030204" pitchFamily="18" charset="0"/>
                          </a:rPr>
                        </m:ctrlPr>
                      </m:sSubPr>
                      <m:e>
                        <m:r>
                          <a:rPr lang="fr-FR" i="1">
                            <a:latin typeface="Cambria Math"/>
                          </a:rPr>
                          <m:t>𝑏</m:t>
                        </m:r>
                      </m:e>
                      <m:sub>
                        <m:r>
                          <a:rPr lang="fr-FR" i="1">
                            <a:latin typeface="Cambria Math"/>
                          </a:rPr>
                          <m:t>𝑦</m:t>
                        </m:r>
                      </m:sub>
                    </m:sSub>
                    <m:r>
                      <a:rPr lang="fr-FR" i="1">
                        <a:latin typeface="Cambria Math"/>
                      </a:rPr>
                      <m:t>=500</m:t>
                    </m:r>
                  </m:oMath>
                </a14:m>
                <a:r>
                  <a:rPr lang="fr-FR" dirty="0"/>
                  <a:t>	 </a:t>
                </a:r>
                <a14:m>
                  <m:oMath xmlns:m="http://schemas.openxmlformats.org/officeDocument/2006/math">
                    <m:sSub>
                      <m:sSubPr>
                        <m:ctrlPr>
                          <a:rPr lang="fr-FR" i="1">
                            <a:latin typeface="Cambria Math" panose="02040503050406030204" pitchFamily="18" charset="0"/>
                          </a:rPr>
                        </m:ctrlPr>
                      </m:sSubPr>
                      <m:e>
                        <m:r>
                          <a:rPr lang="fr-FR" i="1">
                            <a:latin typeface="Cambria Math"/>
                          </a:rPr>
                          <m:t>𝑘</m:t>
                        </m:r>
                      </m:e>
                      <m:sub>
                        <m:r>
                          <a:rPr lang="fr-FR" i="1">
                            <a:latin typeface="Cambria Math"/>
                          </a:rPr>
                          <m:t>𝑥</m:t>
                        </m:r>
                      </m:sub>
                    </m:sSub>
                    <m:r>
                      <a:rPr lang="fr-FR" i="1">
                        <a:latin typeface="Cambria Math"/>
                      </a:rPr>
                      <m:t>=</m:t>
                    </m:r>
                    <m:sSub>
                      <m:sSubPr>
                        <m:ctrlPr>
                          <a:rPr lang="fr-FR" i="1">
                            <a:latin typeface="Cambria Math" panose="02040503050406030204" pitchFamily="18" charset="0"/>
                          </a:rPr>
                        </m:ctrlPr>
                      </m:sSubPr>
                      <m:e>
                        <m:r>
                          <a:rPr lang="fr-FR" i="1">
                            <a:latin typeface="Cambria Math"/>
                          </a:rPr>
                          <m:t>𝑘</m:t>
                        </m:r>
                      </m:e>
                      <m:sub>
                        <m:r>
                          <a:rPr lang="fr-FR" i="1">
                            <a:latin typeface="Cambria Math"/>
                          </a:rPr>
                          <m:t>𝑦</m:t>
                        </m:r>
                      </m:sub>
                    </m:sSub>
                    <m:r>
                      <a:rPr lang="fr-FR" i="1">
                        <a:latin typeface="Cambria Math"/>
                      </a:rPr>
                      <m:t>=2500</m:t>
                    </m:r>
                  </m:oMath>
                </a14:m>
                <a:endParaRPr lang="fr-FR" i="1" dirty="0"/>
              </a:p>
              <a:p>
                <a:endParaRPr lang="fr-FR" dirty="0"/>
              </a:p>
              <a:p>
                <a:pPr marL="0" indent="0">
                  <a:buNone/>
                </a:pPr>
                <a:endParaRPr lang="fr-FR" b="0" dirty="0">
                  <a:latin typeface="Cambria Math"/>
                  <a:ea typeface="Cambria Math"/>
                </a:endParaRPr>
              </a:p>
              <a:p>
                <a:pPr marL="0" indent="0">
                  <a:buNone/>
                </a:pPr>
                <a:endParaRPr lang="fr-FR" dirty="0">
                  <a:latin typeface="Cambria Math"/>
                  <a:ea typeface="Cambria Math"/>
                </a:endParaRPr>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0">
                <a:blip r:embed="rId3"/>
                <a:stretch>
                  <a:fillRect l="-584" t="-552"/>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en impédance</a:t>
            </a:r>
          </a:p>
        </p:txBody>
      </p:sp>
      <p:grpSp>
        <p:nvGrpSpPr>
          <p:cNvPr id="4" name="Groupe 3"/>
          <p:cNvGrpSpPr/>
          <p:nvPr/>
        </p:nvGrpSpPr>
        <p:grpSpPr>
          <a:xfrm>
            <a:off x="4843739" y="1262661"/>
            <a:ext cx="3633606" cy="2658895"/>
            <a:chOff x="1657350" y="2908580"/>
            <a:chExt cx="3633606" cy="2658895"/>
          </a:xfrm>
        </p:grpSpPr>
        <p:pic>
          <p:nvPicPr>
            <p:cNvPr id="5" name="Picture 3"/>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657350" y="2908580"/>
              <a:ext cx="3633606" cy="2630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ZoneTexte 5"/>
            <p:cNvSpPr txBox="1"/>
            <p:nvPr/>
          </p:nvSpPr>
          <p:spPr>
            <a:xfrm>
              <a:off x="3488112" y="3234018"/>
              <a:ext cx="1270388" cy="276999"/>
            </a:xfrm>
            <a:prstGeom prst="rect">
              <a:avLst/>
            </a:prstGeom>
            <a:noFill/>
          </p:spPr>
          <p:txBody>
            <a:bodyPr wrap="square" rtlCol="0">
              <a:spAutoFit/>
            </a:bodyPr>
            <a:lstStyle/>
            <a:p>
              <a:r>
                <a:rPr lang="fr-FR" sz="1200" dirty="0">
                  <a:solidFill>
                    <a:srgbClr val="7030A0"/>
                  </a:solidFill>
                </a:rPr>
                <a:t>Environnement</a:t>
              </a:r>
            </a:p>
          </p:txBody>
        </p:sp>
        <p:cxnSp>
          <p:nvCxnSpPr>
            <p:cNvPr id="7" name="Connecteur droit avec flèche 6"/>
            <p:cNvCxnSpPr/>
            <p:nvPr/>
          </p:nvCxnSpPr>
          <p:spPr>
            <a:xfrm>
              <a:off x="1872971" y="5297936"/>
              <a:ext cx="3202363"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Connecteur droit avec flèche 7"/>
            <p:cNvCxnSpPr/>
            <p:nvPr/>
          </p:nvCxnSpPr>
          <p:spPr>
            <a:xfrm flipV="1">
              <a:off x="1872971" y="3085227"/>
              <a:ext cx="0" cy="2212709"/>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a:off x="1886931" y="5290956"/>
              <a:ext cx="3202363"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ZoneTexte 9"/>
            <p:cNvSpPr txBox="1"/>
            <p:nvPr/>
          </p:nvSpPr>
          <p:spPr>
            <a:xfrm>
              <a:off x="2069978" y="4053081"/>
              <a:ext cx="624361" cy="276999"/>
            </a:xfrm>
            <a:prstGeom prst="rect">
              <a:avLst/>
            </a:prstGeom>
            <a:noFill/>
          </p:spPr>
          <p:txBody>
            <a:bodyPr wrap="square" rtlCol="0">
              <a:spAutoFit/>
            </a:bodyPr>
            <a:lstStyle/>
            <a:p>
              <a:r>
                <a:rPr lang="fr-FR" sz="1200" dirty="0">
                  <a:solidFill>
                    <a:srgbClr val="7030A0"/>
                  </a:solidFill>
                </a:rPr>
                <a:t>Robot</a:t>
              </a:r>
            </a:p>
          </p:txBody>
        </p:sp>
        <mc:AlternateContent xmlns:mc="http://schemas.openxmlformats.org/markup-compatibility/2006" xmlns:a14="http://schemas.microsoft.com/office/drawing/2010/main">
          <mc:Choice Requires="a14">
            <p:sp>
              <p:nvSpPr>
                <p:cNvPr id="11" name="ZoneTexte 10"/>
                <p:cNvSpPr txBox="1"/>
                <p:nvPr/>
              </p:nvSpPr>
              <p:spPr>
                <a:xfrm>
                  <a:off x="1886931" y="2957019"/>
                  <a:ext cx="295531"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200" b="0" i="1" smtClean="0">
                            <a:solidFill>
                              <a:schemeClr val="tx1"/>
                            </a:solidFill>
                            <a:latin typeface="Cambria Math"/>
                          </a:rPr>
                          <m:t>𝑦</m:t>
                        </m:r>
                      </m:oMath>
                    </m:oMathPara>
                  </a14:m>
                  <a:endParaRPr lang="fr-FR" sz="1200" dirty="0">
                    <a:solidFill>
                      <a:schemeClr val="tx1"/>
                    </a:solidFill>
                  </a:endParaRPr>
                </a:p>
              </p:txBody>
            </p:sp>
          </mc:Choice>
          <mc:Fallback xmlns="">
            <p:sp>
              <p:nvSpPr>
                <p:cNvPr id="11" name="ZoneTexte 10"/>
                <p:cNvSpPr txBox="1">
                  <a:spLocks noRot="1" noChangeAspect="1" noMove="1" noResize="1" noEditPoints="1" noAdjustHandles="1" noChangeArrowheads="1" noChangeShapeType="1" noTextEdit="1"/>
                </p:cNvSpPr>
                <p:nvPr/>
              </p:nvSpPr>
              <p:spPr>
                <a:xfrm>
                  <a:off x="1886931" y="2957019"/>
                  <a:ext cx="295531" cy="276999"/>
                </a:xfrm>
                <a:prstGeom prst="rect">
                  <a:avLst/>
                </a:prstGeom>
                <a:blipFill rotWithShape="1">
                  <a:blip r:embed="rId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2" name="ZoneTexte 11"/>
                <p:cNvSpPr txBox="1"/>
                <p:nvPr/>
              </p:nvSpPr>
              <p:spPr>
                <a:xfrm>
                  <a:off x="4927568" y="5024247"/>
                  <a:ext cx="295531"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200" b="0" i="1" smtClean="0">
                            <a:solidFill>
                              <a:schemeClr val="tx1"/>
                            </a:solidFill>
                            <a:latin typeface="Cambria Math"/>
                          </a:rPr>
                          <m:t>𝑥</m:t>
                        </m:r>
                      </m:oMath>
                    </m:oMathPara>
                  </a14:m>
                  <a:endParaRPr lang="fr-FR" sz="1200" dirty="0">
                    <a:solidFill>
                      <a:schemeClr val="tx1"/>
                    </a:solidFill>
                  </a:endParaRPr>
                </a:p>
              </p:txBody>
            </p:sp>
          </mc:Choice>
          <mc:Fallback xmlns="">
            <p:sp>
              <p:nvSpPr>
                <p:cNvPr id="12" name="ZoneTexte 11"/>
                <p:cNvSpPr txBox="1">
                  <a:spLocks noRot="1" noChangeAspect="1" noMove="1" noResize="1" noEditPoints="1" noAdjustHandles="1" noChangeArrowheads="1" noChangeShapeType="1" noTextEdit="1"/>
                </p:cNvSpPr>
                <p:nvPr/>
              </p:nvSpPr>
              <p:spPr>
                <a:xfrm>
                  <a:off x="4927568" y="5024247"/>
                  <a:ext cx="295531" cy="276999"/>
                </a:xfrm>
                <a:prstGeom prst="rect">
                  <a:avLst/>
                </a:prstGeom>
                <a:blipFill rotWithShape="1">
                  <a:blip r:embed="rId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3" name="ZoneTexte 12"/>
                <p:cNvSpPr txBox="1"/>
                <p:nvPr/>
              </p:nvSpPr>
              <p:spPr>
                <a:xfrm>
                  <a:off x="4020568" y="4583778"/>
                  <a:ext cx="317597" cy="28033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sz="1200" i="1" dirty="0" smtClean="0">
                                <a:latin typeface="Cambria Math" panose="02040503050406030204" pitchFamily="18" charset="0"/>
                              </a:rPr>
                            </m:ctrlPr>
                          </m:sSupPr>
                          <m:e>
                            <m:r>
                              <a:rPr lang="fr-FR" sz="1200" b="1" i="0" dirty="0" smtClean="0">
                                <a:latin typeface="Cambria Math"/>
                              </a:rPr>
                              <m:t>𝐱</m:t>
                            </m:r>
                          </m:e>
                          <m:sup>
                            <m:r>
                              <a:rPr lang="fr-FR" sz="1200" b="0" i="1" dirty="0" smtClean="0">
                                <a:latin typeface="Cambria Math"/>
                              </a:rPr>
                              <m:t>𝑑</m:t>
                            </m:r>
                          </m:sup>
                        </m:sSup>
                      </m:oMath>
                    </m:oMathPara>
                  </a14:m>
                  <a:endParaRPr lang="fr-FR" sz="1200" dirty="0"/>
                </a:p>
              </p:txBody>
            </p:sp>
          </mc:Choice>
          <mc:Fallback xmlns="">
            <p:sp>
              <p:nvSpPr>
                <p:cNvPr id="13" name="ZoneTexte 12"/>
                <p:cNvSpPr txBox="1">
                  <a:spLocks noRot="1" noChangeAspect="1" noMove="1" noResize="1" noEditPoints="1" noAdjustHandles="1" noChangeArrowheads="1" noChangeShapeType="1" noTextEdit="1"/>
                </p:cNvSpPr>
                <p:nvPr/>
              </p:nvSpPr>
              <p:spPr>
                <a:xfrm>
                  <a:off x="4020568" y="4583778"/>
                  <a:ext cx="317597" cy="280333"/>
                </a:xfrm>
                <a:prstGeom prst="rect">
                  <a:avLst/>
                </a:prstGeom>
                <a:blipFill rotWithShape="1">
                  <a:blip r:embed="rId7"/>
                  <a:stretch>
                    <a:fillRect/>
                  </a:stretch>
                </a:blipFill>
              </p:spPr>
              <p:txBody>
                <a:bodyPr/>
                <a:lstStyle/>
                <a:p>
                  <a:r>
                    <a:rPr lang="fr-FR">
                      <a:noFill/>
                    </a:rPr>
                    <a:t> </a:t>
                  </a:r>
                </a:p>
              </p:txBody>
            </p:sp>
          </mc:Fallback>
        </mc:AlternateContent>
        <p:cxnSp>
          <p:nvCxnSpPr>
            <p:cNvPr id="14" name="Connecteur droit avec flèche 13"/>
            <p:cNvCxnSpPr/>
            <p:nvPr/>
          </p:nvCxnSpPr>
          <p:spPr>
            <a:xfrm flipH="1">
              <a:off x="3706462" y="4860777"/>
              <a:ext cx="342027" cy="25128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ZoneTexte 14"/>
                <p:cNvSpPr txBox="1"/>
                <p:nvPr/>
              </p:nvSpPr>
              <p:spPr>
                <a:xfrm>
                  <a:off x="3319405" y="5290476"/>
                  <a:ext cx="295531"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200" b="0" i="1" smtClean="0">
                            <a:solidFill>
                              <a:schemeClr val="tx1"/>
                            </a:solidFill>
                            <a:latin typeface="Cambria Math"/>
                          </a:rPr>
                          <m:t>1 </m:t>
                        </m:r>
                        <m:r>
                          <a:rPr lang="fr-FR" sz="1200" b="0" i="1" smtClean="0">
                            <a:solidFill>
                              <a:schemeClr val="tx1"/>
                            </a:solidFill>
                            <a:latin typeface="Cambria Math"/>
                          </a:rPr>
                          <m:t>𝑚</m:t>
                        </m:r>
                      </m:oMath>
                    </m:oMathPara>
                  </a14:m>
                  <a:endParaRPr lang="fr-FR" sz="1200" dirty="0">
                    <a:solidFill>
                      <a:schemeClr val="tx1"/>
                    </a:solidFill>
                  </a:endParaRPr>
                </a:p>
              </p:txBody>
            </p:sp>
          </mc:Choice>
          <mc:Fallback xmlns="">
            <p:sp>
              <p:nvSpPr>
                <p:cNvPr id="15" name="ZoneTexte 14"/>
                <p:cNvSpPr txBox="1">
                  <a:spLocks noRot="1" noChangeAspect="1" noMove="1" noResize="1" noEditPoints="1" noAdjustHandles="1" noChangeArrowheads="1" noChangeShapeType="1" noTextEdit="1"/>
                </p:cNvSpPr>
                <p:nvPr/>
              </p:nvSpPr>
              <p:spPr>
                <a:xfrm>
                  <a:off x="3319405" y="5290476"/>
                  <a:ext cx="295531" cy="276999"/>
                </a:xfrm>
                <a:prstGeom prst="rect">
                  <a:avLst/>
                </a:prstGeom>
                <a:blipFill rotWithShape="1">
                  <a:blip r:embed="rId8"/>
                  <a:stretch>
                    <a:fillRect r="-28571"/>
                  </a:stretch>
                </a:blipFill>
              </p:spPr>
              <p:txBody>
                <a:bodyPr/>
                <a:lstStyle/>
                <a:p>
                  <a:r>
                    <a:rPr lang="fr-FR">
                      <a:noFill/>
                    </a:rPr>
                    <a:t> </a:t>
                  </a:r>
                </a:p>
              </p:txBody>
            </p:sp>
          </mc:Fallback>
        </mc:AlternateContent>
      </p:grpSp>
    </p:spTree>
    <p:extLst>
      <p:ext uri="{BB962C8B-B14F-4D97-AF65-F5344CB8AC3E}">
        <p14:creationId xmlns:p14="http://schemas.microsoft.com/office/powerpoint/2010/main" val="266497737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fr-FR" dirty="0"/>
              <a:t>Commande en impédance</a:t>
            </a:r>
          </a:p>
        </p:txBody>
      </p:sp>
      <mc:AlternateContent xmlns:mc="http://schemas.openxmlformats.org/markup-compatibility/2006" xmlns:a14="http://schemas.microsoft.com/office/drawing/2010/main">
        <mc:Choice Requires="a14">
          <p:sp>
            <p:nvSpPr>
              <p:cNvPr id="15" name="Espace réservé du contenu 14"/>
              <p:cNvSpPr>
                <a:spLocks noGrp="1"/>
              </p:cNvSpPr>
              <p:nvPr>
                <p:ph sz="quarter" idx="1"/>
              </p:nvPr>
            </p:nvSpPr>
            <p:spPr/>
            <p:txBody>
              <a:bodyPr/>
              <a:lstStyle/>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r>
                  <a:rPr lang="fr-FR" dirty="0"/>
                  <a:t>Raideur : </a:t>
                </a:r>
                <a14:m>
                  <m:oMath xmlns:m="http://schemas.openxmlformats.org/officeDocument/2006/math">
                    <m:sSub>
                      <m:sSubPr>
                        <m:ctrlPr>
                          <a:rPr lang="fr-FR" i="1">
                            <a:latin typeface="Cambria Math" panose="02040503050406030204" pitchFamily="18" charset="0"/>
                            <a:ea typeface="Cambria Math"/>
                          </a:rPr>
                        </m:ctrlPr>
                      </m:sSubPr>
                      <m:e>
                        <m:r>
                          <a:rPr lang="fr-FR" i="1">
                            <a:latin typeface="Cambria Math"/>
                            <a:ea typeface="Cambria Math"/>
                          </a:rPr>
                          <m:t>𝑘</m:t>
                        </m:r>
                      </m:e>
                      <m:sub>
                        <m:r>
                          <a:rPr lang="fr-FR" i="1">
                            <a:latin typeface="Cambria Math"/>
                            <a:ea typeface="Cambria Math"/>
                          </a:rPr>
                          <m:t>𝑒𝑥</m:t>
                        </m:r>
                      </m:sub>
                    </m:sSub>
                    <m:r>
                      <a:rPr lang="fr-FR" i="1">
                        <a:latin typeface="Cambria Math"/>
                        <a:ea typeface="Cambria Math"/>
                      </a:rPr>
                      <m:t>=</m:t>
                    </m:r>
                    <m:sSup>
                      <m:sSupPr>
                        <m:ctrlPr>
                          <a:rPr lang="fr-FR" i="1">
                            <a:latin typeface="Cambria Math" panose="02040503050406030204" pitchFamily="18" charset="0"/>
                            <a:ea typeface="Cambria Math"/>
                          </a:rPr>
                        </m:ctrlPr>
                      </m:sSupPr>
                      <m:e>
                        <m:r>
                          <a:rPr lang="fr-FR" i="1">
                            <a:latin typeface="Cambria Math"/>
                            <a:ea typeface="Cambria Math"/>
                          </a:rPr>
                          <m:t>10</m:t>
                        </m:r>
                      </m:e>
                      <m:sup>
                        <m:r>
                          <a:rPr lang="fr-FR" i="1">
                            <a:latin typeface="Cambria Math"/>
                            <a:ea typeface="Cambria Math"/>
                          </a:rPr>
                          <m:t>3</m:t>
                        </m:r>
                      </m:sup>
                    </m:sSup>
                    <m:r>
                      <a:rPr lang="fr-FR" i="1">
                        <a:latin typeface="Cambria Math"/>
                        <a:ea typeface="Cambria Math"/>
                      </a:rPr>
                      <m:t> </m:t>
                    </m:r>
                    <m:r>
                      <m:rPr>
                        <m:sty m:val="p"/>
                      </m:rPr>
                      <a:rPr lang="fr-FR">
                        <a:latin typeface="Cambria Math"/>
                        <a:ea typeface="Cambria Math"/>
                      </a:rPr>
                      <m:t>N</m:t>
                    </m:r>
                    <m:r>
                      <a:rPr lang="fr-FR">
                        <a:latin typeface="Cambria Math"/>
                        <a:ea typeface="Cambria Math"/>
                      </a:rPr>
                      <m:t>/</m:t>
                    </m:r>
                    <m:r>
                      <m:rPr>
                        <m:sty m:val="p"/>
                      </m:rPr>
                      <a:rPr lang="fr-FR">
                        <a:latin typeface="Cambria Math"/>
                        <a:ea typeface="Cambria Math"/>
                      </a:rPr>
                      <m:t>m</m:t>
                    </m:r>
                  </m:oMath>
                </a14:m>
                <a:endParaRPr lang="fr-FR" dirty="0"/>
              </a:p>
              <a:p>
                <a:pPr marL="0" indent="0">
                  <a:buNone/>
                </a:pPr>
                <a:r>
                  <a:rPr lang="fr-FR" dirty="0"/>
                  <a:t>Déplacement = 7,15 cm</a:t>
                </a:r>
              </a:p>
              <a:p>
                <a:pPr marL="0" indent="0">
                  <a:buNone/>
                </a:pPr>
                <a:r>
                  <a:rPr lang="fr-FR" dirty="0"/>
                  <a:t>Effort de contact = 71,5 N</a:t>
                </a:r>
              </a:p>
            </p:txBody>
          </p:sp>
        </mc:Choice>
        <mc:Fallback xmlns="">
          <p:sp>
            <p:nvSpPr>
              <p:cNvPr id="15" name="Espace réservé du contenu 14"/>
              <p:cNvSpPr>
                <a:spLocks noGrp="1" noRot="1" noChangeAspect="1" noMove="1" noResize="1" noEditPoints="1" noAdjustHandles="1" noChangeArrowheads="1" noChangeShapeType="1" noTextEdit="1"/>
              </p:cNvSpPr>
              <p:nvPr>
                <p:ph sz="quarter" idx="1"/>
              </p:nvPr>
            </p:nvSpPr>
            <p:spPr>
              <a:blipFill rotWithShape="1">
                <a:blip r:embed="rId3"/>
                <a:stretch>
                  <a:fillRect l="-584"/>
                </a:stretch>
              </a:blipFill>
            </p:spPr>
            <p:txBody>
              <a:bodyPr/>
              <a:lstStyle/>
              <a:p>
                <a:r>
                  <a:rPr lang="fr-FR">
                    <a:noFill/>
                  </a:rPr>
                  <a:t> </a:t>
                </a:r>
              </a:p>
            </p:txBody>
          </p:sp>
        </mc:Fallback>
      </mc:AlternateContent>
      <p:pic>
        <p:nvPicPr>
          <p:cNvPr id="14341" name="Picture 5"/>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4827877" y="3584734"/>
            <a:ext cx="3468800" cy="2600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2" name="Picture 6"/>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4827876" y="998297"/>
            <a:ext cx="3468800" cy="2587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4" name="Picture 8"/>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670095" y="1011893"/>
            <a:ext cx="3434236" cy="2574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7" name="Connecteur droit avec flèche 16"/>
          <p:cNvCxnSpPr/>
          <p:nvPr/>
        </p:nvCxnSpPr>
        <p:spPr>
          <a:xfrm flipH="1">
            <a:off x="7761930" y="2017267"/>
            <a:ext cx="2" cy="1207566"/>
          </a:xfrm>
          <a:prstGeom prst="straightConnector1">
            <a:avLst/>
          </a:prstGeom>
          <a:ln w="254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9" name="ZoneTexte 18"/>
          <p:cNvSpPr txBox="1"/>
          <p:nvPr/>
        </p:nvSpPr>
        <p:spPr>
          <a:xfrm>
            <a:off x="7064378" y="2512855"/>
            <a:ext cx="780843" cy="276999"/>
          </a:xfrm>
          <a:prstGeom prst="rect">
            <a:avLst/>
          </a:prstGeom>
          <a:noFill/>
        </p:spPr>
        <p:txBody>
          <a:bodyPr wrap="square" rtlCol="0">
            <a:spAutoFit/>
          </a:bodyPr>
          <a:lstStyle/>
          <a:p>
            <a:r>
              <a:rPr lang="fr-FR" sz="1200" dirty="0"/>
              <a:t>7,15 cm</a:t>
            </a:r>
          </a:p>
        </p:txBody>
      </p:sp>
      <p:cxnSp>
        <p:nvCxnSpPr>
          <p:cNvPr id="21" name="Connecteur droit avec flèche 20"/>
          <p:cNvCxnSpPr/>
          <p:nvPr/>
        </p:nvCxnSpPr>
        <p:spPr>
          <a:xfrm>
            <a:off x="7845221" y="4209034"/>
            <a:ext cx="0" cy="1612415"/>
          </a:xfrm>
          <a:prstGeom prst="straightConnector1">
            <a:avLst/>
          </a:prstGeom>
          <a:ln w="254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3" name="ZoneTexte 32"/>
          <p:cNvSpPr txBox="1"/>
          <p:nvPr/>
        </p:nvSpPr>
        <p:spPr>
          <a:xfrm>
            <a:off x="7197467" y="4995334"/>
            <a:ext cx="780843" cy="276999"/>
          </a:xfrm>
          <a:prstGeom prst="rect">
            <a:avLst/>
          </a:prstGeom>
          <a:noFill/>
        </p:spPr>
        <p:txBody>
          <a:bodyPr wrap="square" rtlCol="0">
            <a:spAutoFit/>
          </a:bodyPr>
          <a:lstStyle/>
          <a:p>
            <a:r>
              <a:rPr lang="fr-FR" sz="1200" dirty="0"/>
              <a:t>71,5 N</a:t>
            </a:r>
          </a:p>
        </p:txBody>
      </p:sp>
    </p:spTree>
    <p:extLst>
      <p:ext uri="{BB962C8B-B14F-4D97-AF65-F5344CB8AC3E}">
        <p14:creationId xmlns:p14="http://schemas.microsoft.com/office/powerpoint/2010/main" val="123437677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Espace réservé du contenu 3"/>
          <p:cNvPicPr>
            <a:picLocks noGrp="1" noChangeAspect="1"/>
          </p:cNvPicPr>
          <p:nvPr>
            <p:ph sz="quarter" idx="1"/>
          </p:nvPr>
        </p:nvPicPr>
        <p:blipFill>
          <a:blip r:embed="rId3" cstate="email">
            <a:extLst>
              <a:ext uri="{28A0092B-C50C-407E-A947-70E740481C1C}">
                <a14:useLocalDpi xmlns:a14="http://schemas.microsoft.com/office/drawing/2010/main" val="0"/>
              </a:ext>
            </a:extLst>
          </a:blip>
          <a:stretch>
            <a:fillRect/>
          </a:stretch>
        </p:blipFill>
        <p:spPr>
          <a:xfrm>
            <a:off x="673254" y="1014188"/>
            <a:ext cx="3418961" cy="2559650"/>
          </a:xfrm>
        </p:spPr>
      </p:pic>
      <p:sp>
        <p:nvSpPr>
          <p:cNvPr id="3" name="Titre 2"/>
          <p:cNvSpPr>
            <a:spLocks noGrp="1"/>
          </p:cNvSpPr>
          <p:nvPr>
            <p:ph type="title"/>
          </p:nvPr>
        </p:nvSpPr>
        <p:spPr/>
        <p:txBody>
          <a:bodyPr/>
          <a:lstStyle/>
          <a:p>
            <a:r>
              <a:rPr lang="fr-FR" dirty="0"/>
              <a:t>Commande en impédance</a:t>
            </a:r>
          </a:p>
        </p:txBody>
      </p:sp>
      <p:pic>
        <p:nvPicPr>
          <p:cNvPr id="5" name="Image 4"/>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4746504" y="994120"/>
            <a:ext cx="3501708" cy="2621599"/>
          </a:xfrm>
          <a:prstGeom prst="rect">
            <a:avLst/>
          </a:prstGeom>
        </p:spPr>
      </p:pic>
      <p:pic>
        <p:nvPicPr>
          <p:cNvPr id="6" name="Image 5"/>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4658766" y="3687899"/>
            <a:ext cx="3640636" cy="2725609"/>
          </a:xfrm>
          <a:prstGeom prst="rect">
            <a:avLst/>
          </a:prstGeom>
        </p:spPr>
      </p:pic>
      <mc:AlternateContent xmlns:mc="http://schemas.openxmlformats.org/markup-compatibility/2006" xmlns:a14="http://schemas.microsoft.com/office/drawing/2010/main">
        <mc:Choice Requires="a14">
          <p:sp>
            <p:nvSpPr>
              <p:cNvPr id="7" name="Espace réservé du contenu 14"/>
              <p:cNvSpPr txBox="1">
                <a:spLocks/>
              </p:cNvSpPr>
              <p:nvPr/>
            </p:nvSpPr>
            <p:spPr>
              <a:xfrm>
                <a:off x="280656" y="959667"/>
                <a:ext cx="8347295" cy="5514285"/>
              </a:xfrm>
              <a:prstGeom prst="rect">
                <a:avLst/>
              </a:prstGeom>
              <a:effectLst/>
            </p:spPr>
            <p:txBody>
              <a:bodyPr/>
              <a:lstStyle>
                <a:lvl1pPr marL="273050" indent="-273050" algn="l" rtl="0" eaLnBrk="0" fontAlgn="base" hangingPunct="0">
                  <a:spcBef>
                    <a:spcPts val="600"/>
                  </a:spcBef>
                  <a:spcAft>
                    <a:spcPct val="0"/>
                  </a:spcAft>
                  <a:buClr>
                    <a:schemeClr val="accent1"/>
                  </a:buClr>
                  <a:buSzPct val="70000"/>
                  <a:buFont typeface="Wingdings" charset="0"/>
                  <a:buChar char=""/>
                  <a:defRPr sz="2400" kern="1200">
                    <a:solidFill>
                      <a:schemeClr val="tx1"/>
                    </a:solidFill>
                    <a:latin typeface="+mn-lt"/>
                    <a:ea typeface="ＭＳ Ｐゴシック" charset="-128"/>
                    <a:cs typeface="ＭＳ Ｐゴシック" charset="-128"/>
                  </a:defRPr>
                </a:lvl1pPr>
                <a:lvl2pPr marL="639763" indent="-273050" algn="l" rtl="0" eaLnBrk="0" fontAlgn="base" hangingPunct="0">
                  <a:spcBef>
                    <a:spcPct val="20000"/>
                  </a:spcBef>
                  <a:spcAft>
                    <a:spcPct val="0"/>
                  </a:spcAft>
                  <a:buClr>
                    <a:schemeClr val="accent1"/>
                  </a:buClr>
                  <a:buSzPct val="80000"/>
                  <a:buFont typeface="Wingdings 2" charset="0"/>
                  <a:buChar char=""/>
                  <a:defRPr sz="2100" kern="1200">
                    <a:solidFill>
                      <a:schemeClr val="tx1"/>
                    </a:solidFill>
                    <a:latin typeface="+mn-lt"/>
                    <a:ea typeface="ＭＳ Ｐゴシック" charset="-128"/>
                    <a:cs typeface="+mn-cs"/>
                  </a:defRPr>
                </a:lvl2pPr>
                <a:lvl3pPr marL="914400" indent="-182563" algn="l" rtl="0" eaLnBrk="0" fontAlgn="base" hangingPunct="0">
                  <a:spcBef>
                    <a:spcPct val="20000"/>
                  </a:spcBef>
                  <a:spcAft>
                    <a:spcPct val="0"/>
                  </a:spcAft>
                  <a:buClr>
                    <a:srgbClr val="307F93"/>
                  </a:buClr>
                  <a:buSzPct val="60000"/>
                  <a:buFont typeface="Wingdings" charset="0"/>
                  <a:buChar char=""/>
                  <a:defRPr sz="2400" kern="1200">
                    <a:solidFill>
                      <a:schemeClr val="tx1"/>
                    </a:solidFill>
                    <a:latin typeface="+mn-lt"/>
                    <a:ea typeface="ＭＳ Ｐゴシック" charset="-128"/>
                    <a:cs typeface="+mn-cs"/>
                  </a:defRPr>
                </a:lvl3pPr>
                <a:lvl4pPr marL="1187450" indent="-182563" algn="l" rtl="0" eaLnBrk="0" fontAlgn="base" hangingPunct="0">
                  <a:spcBef>
                    <a:spcPct val="20000"/>
                  </a:spcBef>
                  <a:spcAft>
                    <a:spcPct val="0"/>
                  </a:spcAft>
                  <a:buClr>
                    <a:srgbClr val="AEC7D0"/>
                  </a:buClr>
                  <a:buSzPct val="60000"/>
                  <a:buFont typeface="Wingdings" charset="0"/>
                  <a:buChar char=""/>
                  <a:defRPr sz="2000" kern="1200">
                    <a:solidFill>
                      <a:schemeClr val="tx1"/>
                    </a:solidFill>
                    <a:latin typeface="+mn-lt"/>
                    <a:ea typeface="ＭＳ Ｐゴシック" charset="-128"/>
                    <a:cs typeface="+mn-cs"/>
                  </a:defRPr>
                </a:lvl4pPr>
                <a:lvl5pPr marL="1462088" indent="-182563" algn="l" rtl="0" eaLnBrk="0" fontAlgn="base" hangingPunct="0">
                  <a:spcBef>
                    <a:spcPct val="20000"/>
                  </a:spcBef>
                  <a:spcAft>
                    <a:spcPct val="0"/>
                  </a:spcAft>
                  <a:buClr>
                    <a:srgbClr val="FED8AA"/>
                  </a:buClr>
                  <a:buSzPct val="68000"/>
                  <a:buFont typeface="Wingdings 2" charset="0"/>
                  <a:buChar char=""/>
                  <a:defRPr sz="1600" kern="1200">
                    <a:solidFill>
                      <a:schemeClr val="tx1"/>
                    </a:solidFill>
                    <a:latin typeface="+mn-lt"/>
                    <a:ea typeface="ＭＳ Ｐゴシック" charset="-128"/>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pPr marL="0" indent="0">
                  <a:buFont typeface="Wingdings" charset="0"/>
                  <a:buNone/>
                </a:pPr>
                <a:endParaRPr lang="fr-FR" dirty="0"/>
              </a:p>
              <a:p>
                <a:pPr marL="0" indent="0">
                  <a:buFont typeface="Wingdings" charset="0"/>
                  <a:buNone/>
                </a:pPr>
                <a:endParaRPr lang="fr-FR" dirty="0"/>
              </a:p>
              <a:p>
                <a:pPr marL="0" indent="0">
                  <a:buFont typeface="Wingdings" charset="0"/>
                  <a:buNone/>
                </a:pPr>
                <a:endParaRPr lang="fr-FR" dirty="0"/>
              </a:p>
              <a:p>
                <a:pPr marL="0" indent="0">
                  <a:buFont typeface="Wingdings" charset="0"/>
                  <a:buNone/>
                </a:pPr>
                <a:endParaRPr lang="fr-FR" dirty="0"/>
              </a:p>
              <a:p>
                <a:pPr marL="0" indent="0">
                  <a:buFont typeface="Wingdings" charset="0"/>
                  <a:buNone/>
                </a:pPr>
                <a:endParaRPr lang="fr-FR" dirty="0"/>
              </a:p>
              <a:p>
                <a:pPr marL="0" indent="0">
                  <a:buFont typeface="Wingdings" charset="0"/>
                  <a:buNone/>
                </a:pPr>
                <a:endParaRPr lang="fr-FR" dirty="0"/>
              </a:p>
              <a:p>
                <a:pPr marL="0" indent="0">
                  <a:buFont typeface="Wingdings" charset="0"/>
                  <a:buNone/>
                </a:pPr>
                <a:endParaRPr lang="fr-FR" dirty="0"/>
              </a:p>
              <a:p>
                <a:pPr marL="0" indent="0">
                  <a:buFont typeface="Wingdings" charset="0"/>
                  <a:buNone/>
                </a:pPr>
                <a:r>
                  <a:rPr lang="fr-FR" sz="1800" dirty="0"/>
                  <a:t>Raideur : </a:t>
                </a:r>
                <a14:m>
                  <m:oMath xmlns:m="http://schemas.openxmlformats.org/officeDocument/2006/math">
                    <m:sSub>
                      <m:sSubPr>
                        <m:ctrlPr>
                          <a:rPr lang="fr-FR" sz="1800" i="1">
                            <a:latin typeface="Cambria Math" panose="02040503050406030204" pitchFamily="18" charset="0"/>
                            <a:ea typeface="Cambria Math"/>
                          </a:rPr>
                        </m:ctrlPr>
                      </m:sSubPr>
                      <m:e>
                        <m:r>
                          <a:rPr lang="fr-FR" sz="1800" i="1">
                            <a:latin typeface="Cambria Math"/>
                            <a:ea typeface="Cambria Math"/>
                          </a:rPr>
                          <m:t>𝑘</m:t>
                        </m:r>
                      </m:e>
                      <m:sub>
                        <m:r>
                          <a:rPr lang="fr-FR" sz="1800" i="1">
                            <a:latin typeface="Cambria Math"/>
                            <a:ea typeface="Cambria Math"/>
                          </a:rPr>
                          <m:t>𝑒𝑥</m:t>
                        </m:r>
                      </m:sub>
                    </m:sSub>
                    <m:r>
                      <a:rPr lang="fr-FR" sz="1800" i="1">
                        <a:latin typeface="Cambria Math"/>
                        <a:ea typeface="Cambria Math"/>
                      </a:rPr>
                      <m:t>=</m:t>
                    </m:r>
                    <m:sSup>
                      <m:sSupPr>
                        <m:ctrlPr>
                          <a:rPr lang="fr-FR" sz="1800" i="1">
                            <a:latin typeface="Cambria Math" panose="02040503050406030204" pitchFamily="18" charset="0"/>
                            <a:ea typeface="Cambria Math"/>
                          </a:rPr>
                        </m:ctrlPr>
                      </m:sSupPr>
                      <m:e>
                        <m:r>
                          <a:rPr lang="fr-FR" sz="1800" i="1">
                            <a:latin typeface="Cambria Math"/>
                            <a:ea typeface="Cambria Math"/>
                          </a:rPr>
                          <m:t>10</m:t>
                        </m:r>
                      </m:e>
                      <m:sup>
                        <m:r>
                          <a:rPr lang="fr-FR" sz="1800" b="0" i="1" smtClean="0">
                            <a:latin typeface="Cambria Math"/>
                            <a:ea typeface="Cambria Math"/>
                          </a:rPr>
                          <m:t>4</m:t>
                        </m:r>
                      </m:sup>
                    </m:sSup>
                    <m:r>
                      <a:rPr lang="fr-FR" sz="1800" i="1">
                        <a:latin typeface="Cambria Math"/>
                        <a:ea typeface="Cambria Math"/>
                      </a:rPr>
                      <m:t> </m:t>
                    </m:r>
                    <m:r>
                      <m:rPr>
                        <m:sty m:val="p"/>
                      </m:rPr>
                      <a:rPr lang="fr-FR" sz="1800">
                        <a:latin typeface="Cambria Math"/>
                        <a:ea typeface="Cambria Math"/>
                      </a:rPr>
                      <m:t>N</m:t>
                    </m:r>
                    <m:r>
                      <a:rPr lang="fr-FR" sz="1800">
                        <a:latin typeface="Cambria Math"/>
                        <a:ea typeface="Cambria Math"/>
                      </a:rPr>
                      <m:t>/</m:t>
                    </m:r>
                    <m:r>
                      <m:rPr>
                        <m:sty m:val="p"/>
                      </m:rPr>
                      <a:rPr lang="fr-FR" sz="1800">
                        <a:latin typeface="Cambria Math"/>
                        <a:ea typeface="Cambria Math"/>
                      </a:rPr>
                      <m:t>m</m:t>
                    </m:r>
                  </m:oMath>
                </a14:m>
                <a:endParaRPr lang="fr-FR" sz="1800" dirty="0"/>
              </a:p>
              <a:p>
                <a:pPr marL="0" indent="0">
                  <a:buFont typeface="Wingdings" charset="0"/>
                  <a:buNone/>
                </a:pPr>
                <a:r>
                  <a:rPr lang="fr-FR" sz="1800" dirty="0"/>
                  <a:t>Déplacement = 2 cm</a:t>
                </a:r>
              </a:p>
              <a:p>
                <a:pPr marL="0" indent="0">
                  <a:buFont typeface="Wingdings" charset="0"/>
                  <a:buNone/>
                </a:pPr>
                <a:r>
                  <a:rPr lang="fr-FR" sz="1800" dirty="0"/>
                  <a:t>Effort de contact = 200 N</a:t>
                </a:r>
              </a:p>
            </p:txBody>
          </p:sp>
        </mc:Choice>
        <mc:Fallback xmlns="">
          <p:sp>
            <p:nvSpPr>
              <p:cNvPr id="7" name="Espace réservé du contenu 14"/>
              <p:cNvSpPr txBox="1">
                <a:spLocks noRot="1" noChangeAspect="1" noMove="1" noResize="1" noEditPoints="1" noAdjustHandles="1" noChangeArrowheads="1" noChangeShapeType="1" noTextEdit="1"/>
              </p:cNvSpPr>
              <p:nvPr/>
            </p:nvSpPr>
            <p:spPr>
              <a:xfrm>
                <a:off x="280656" y="959667"/>
                <a:ext cx="8347295" cy="5514285"/>
              </a:xfrm>
              <a:prstGeom prst="rect">
                <a:avLst/>
              </a:prstGeom>
              <a:blipFill rotWithShape="1">
                <a:blip r:embed="rId6"/>
                <a:stretch>
                  <a:fillRect l="-584"/>
                </a:stretch>
              </a:blipFill>
              <a:effectLst/>
            </p:spPr>
            <p:txBody>
              <a:bodyPr/>
              <a:lstStyle/>
              <a:p>
                <a:r>
                  <a:rPr lang="fr-FR">
                    <a:noFill/>
                  </a:rPr>
                  <a:t> </a:t>
                </a:r>
              </a:p>
            </p:txBody>
          </p:sp>
        </mc:Fallback>
      </mc:AlternateContent>
      <p:cxnSp>
        <p:nvCxnSpPr>
          <p:cNvPr id="8" name="Connecteur droit avec flèche 7"/>
          <p:cNvCxnSpPr/>
          <p:nvPr/>
        </p:nvCxnSpPr>
        <p:spPr>
          <a:xfrm>
            <a:off x="7761932" y="2893273"/>
            <a:ext cx="0" cy="355988"/>
          </a:xfrm>
          <a:prstGeom prst="straightConnector1">
            <a:avLst/>
          </a:prstGeom>
          <a:ln w="254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3" name="ZoneTexte 12"/>
          <p:cNvSpPr txBox="1"/>
          <p:nvPr/>
        </p:nvSpPr>
        <p:spPr>
          <a:xfrm>
            <a:off x="7238875" y="2932767"/>
            <a:ext cx="780843" cy="276999"/>
          </a:xfrm>
          <a:prstGeom prst="rect">
            <a:avLst/>
          </a:prstGeom>
          <a:noFill/>
        </p:spPr>
        <p:txBody>
          <a:bodyPr wrap="square" rtlCol="0">
            <a:spAutoFit/>
          </a:bodyPr>
          <a:lstStyle/>
          <a:p>
            <a:r>
              <a:rPr lang="fr-FR" sz="1200" dirty="0"/>
              <a:t>2 cm</a:t>
            </a:r>
          </a:p>
        </p:txBody>
      </p:sp>
      <p:cxnSp>
        <p:nvCxnSpPr>
          <p:cNvPr id="14" name="Connecteur droit avec flèche 13"/>
          <p:cNvCxnSpPr/>
          <p:nvPr/>
        </p:nvCxnSpPr>
        <p:spPr>
          <a:xfrm>
            <a:off x="7761932" y="4620860"/>
            <a:ext cx="0" cy="1401975"/>
          </a:xfrm>
          <a:prstGeom prst="straightConnector1">
            <a:avLst/>
          </a:prstGeom>
          <a:ln w="254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5" name="ZoneTexte 14"/>
          <p:cNvSpPr txBox="1"/>
          <p:nvPr/>
        </p:nvSpPr>
        <p:spPr>
          <a:xfrm>
            <a:off x="7114178" y="5105980"/>
            <a:ext cx="780843" cy="276999"/>
          </a:xfrm>
          <a:prstGeom prst="rect">
            <a:avLst/>
          </a:prstGeom>
          <a:noFill/>
        </p:spPr>
        <p:txBody>
          <a:bodyPr wrap="square" rtlCol="0">
            <a:spAutoFit/>
          </a:bodyPr>
          <a:lstStyle/>
          <a:p>
            <a:r>
              <a:rPr lang="fr-FR" sz="1200" dirty="0"/>
              <a:t>200 N</a:t>
            </a:r>
          </a:p>
        </p:txBody>
      </p:sp>
    </p:spTree>
    <p:extLst>
      <p:ext uri="{BB962C8B-B14F-4D97-AF65-F5344CB8AC3E}">
        <p14:creationId xmlns:p14="http://schemas.microsoft.com/office/powerpoint/2010/main" val="243804338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u contenu 1"/>
          <p:cNvSpPr>
            <a:spLocks noGrp="1"/>
          </p:cNvSpPr>
          <p:nvPr>
            <p:ph sz="quarter" idx="1"/>
          </p:nvPr>
        </p:nvSpPr>
        <p:spPr/>
        <p:txBody>
          <a:bodyPr/>
          <a:lstStyle/>
          <a:p>
            <a:r>
              <a:rPr lang="fr-FR" dirty="0"/>
              <a:t>Remarque : </a:t>
            </a:r>
          </a:p>
          <a:p>
            <a:pPr lvl="1"/>
            <a:r>
              <a:rPr lang="fr-FR" dirty="0"/>
              <a:t>On ne peut pas spécifier et contrôler de manière précise un effort donné d’interaction, que ce soit pour la commande en impédance ou pour la commande en compliance</a:t>
            </a:r>
          </a:p>
        </p:txBody>
      </p:sp>
      <p:sp>
        <p:nvSpPr>
          <p:cNvPr id="3" name="Titre 2"/>
          <p:cNvSpPr>
            <a:spLocks noGrp="1"/>
          </p:cNvSpPr>
          <p:nvPr>
            <p:ph type="title"/>
          </p:nvPr>
        </p:nvSpPr>
        <p:spPr/>
        <p:txBody>
          <a:bodyPr/>
          <a:lstStyle/>
          <a:p>
            <a:r>
              <a:rPr lang="fr-FR" dirty="0"/>
              <a:t>Commande </a:t>
            </a:r>
            <a:r>
              <a:rPr lang="fr-FR"/>
              <a:t>en impédance</a:t>
            </a:r>
            <a:endParaRPr lang="fr-FR" dirty="0"/>
          </a:p>
        </p:txBody>
      </p:sp>
    </p:spTree>
    <p:extLst>
      <p:ext uri="{BB962C8B-B14F-4D97-AF65-F5344CB8AC3E}">
        <p14:creationId xmlns:p14="http://schemas.microsoft.com/office/powerpoint/2010/main" val="40645132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u contenu 1"/>
          <p:cNvSpPr>
            <a:spLocks noGrp="1"/>
          </p:cNvSpPr>
          <p:nvPr>
            <p:ph sz="quarter" idx="1"/>
          </p:nvPr>
        </p:nvSpPr>
        <p:spPr/>
        <p:txBody>
          <a:bodyPr/>
          <a:lstStyle/>
          <a:p>
            <a:r>
              <a:rPr lang="fr-FR" dirty="0"/>
              <a:t>Commande en effort avec boucle interne en position</a:t>
            </a:r>
          </a:p>
          <a:p>
            <a:r>
              <a:rPr lang="fr-FR" dirty="0"/>
              <a:t>Commande en effort avec boucle interne en vitesse</a:t>
            </a:r>
          </a:p>
          <a:p>
            <a:r>
              <a:rPr lang="fr-FR" dirty="0"/>
              <a:t>Commande hybride (</a:t>
            </a:r>
            <a:r>
              <a:rPr lang="fr-FR" dirty="0" err="1"/>
              <a:t>Parallel</a:t>
            </a:r>
            <a:r>
              <a:rPr lang="fr-FR" dirty="0"/>
              <a:t> Force/Position control)</a:t>
            </a:r>
          </a:p>
          <a:p>
            <a:endParaRPr lang="fr-FR" dirty="0"/>
          </a:p>
        </p:txBody>
      </p:sp>
      <p:sp>
        <p:nvSpPr>
          <p:cNvPr id="3" name="Titre 2"/>
          <p:cNvSpPr>
            <a:spLocks noGrp="1"/>
          </p:cNvSpPr>
          <p:nvPr>
            <p:ph type="title"/>
          </p:nvPr>
        </p:nvSpPr>
        <p:spPr/>
        <p:txBody>
          <a:bodyPr/>
          <a:lstStyle/>
          <a:p>
            <a:r>
              <a:rPr lang="fr-FR" dirty="0"/>
              <a:t>Commande avec consigne d’effort</a:t>
            </a:r>
          </a:p>
        </p:txBody>
      </p:sp>
    </p:spTree>
    <p:extLst>
      <p:ext uri="{BB962C8B-B14F-4D97-AF65-F5344CB8AC3E}">
        <p14:creationId xmlns:p14="http://schemas.microsoft.com/office/powerpoint/2010/main" val="99660030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u contenu 1"/>
          <p:cNvSpPr>
            <a:spLocks noGrp="1"/>
          </p:cNvSpPr>
          <p:nvPr>
            <p:ph sz="quarter" idx="1"/>
          </p:nvPr>
        </p:nvSpPr>
        <p:spPr/>
        <p:txBody>
          <a:bodyPr/>
          <a:lstStyle/>
          <a:p>
            <a:pPr marL="0" indent="0">
              <a:buNone/>
            </a:pPr>
            <a:r>
              <a:rPr lang="fr-FR" b="1" dirty="0"/>
              <a:t>Schéma de principe :</a:t>
            </a:r>
          </a:p>
        </p:txBody>
      </p:sp>
      <p:sp>
        <p:nvSpPr>
          <p:cNvPr id="3" name="Titre 2"/>
          <p:cNvSpPr>
            <a:spLocks noGrp="1"/>
          </p:cNvSpPr>
          <p:nvPr>
            <p:ph type="title"/>
          </p:nvPr>
        </p:nvSpPr>
        <p:spPr/>
        <p:txBody>
          <a:bodyPr/>
          <a:lstStyle/>
          <a:p>
            <a:r>
              <a:rPr lang="fr-FR" dirty="0"/>
              <a:t>Commande en effort avec boucle interne en position</a:t>
            </a:r>
          </a:p>
        </p:txBody>
      </p:sp>
      <p:cxnSp>
        <p:nvCxnSpPr>
          <p:cNvPr id="7" name="Connecteur droit avec flèche 6"/>
          <p:cNvCxnSpPr/>
          <p:nvPr/>
        </p:nvCxnSpPr>
        <p:spPr>
          <a:xfrm>
            <a:off x="6646479" y="3018896"/>
            <a:ext cx="528191"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ZoneTexte 9"/>
              <p:cNvSpPr txBox="1"/>
              <p:nvPr/>
            </p:nvSpPr>
            <p:spPr>
              <a:xfrm>
                <a:off x="6711690" y="2651676"/>
                <a:ext cx="38824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b="1" i="0" smtClean="0">
                          <a:latin typeface="Cambria Math"/>
                        </a:rPr>
                        <m:t>𝐪</m:t>
                      </m:r>
                    </m:oMath>
                  </m:oMathPara>
                </a14:m>
                <a:endParaRPr lang="fr-FR" dirty="0"/>
              </a:p>
            </p:txBody>
          </p:sp>
        </mc:Choice>
        <mc:Fallback xmlns="">
          <p:sp>
            <p:nvSpPr>
              <p:cNvPr id="10" name="ZoneTexte 9"/>
              <p:cNvSpPr txBox="1">
                <a:spLocks noRot="1" noChangeAspect="1" noMove="1" noResize="1" noEditPoints="1" noAdjustHandles="1" noChangeArrowheads="1" noChangeShapeType="1" noTextEdit="1"/>
              </p:cNvSpPr>
              <p:nvPr/>
            </p:nvSpPr>
            <p:spPr>
              <a:xfrm>
                <a:off x="6711690" y="2651676"/>
                <a:ext cx="388248" cy="369332"/>
              </a:xfrm>
              <a:prstGeom prst="rect">
                <a:avLst/>
              </a:prstGeom>
              <a:blipFill rotWithShape="0">
                <a:blip r:embed="rId4"/>
                <a:stretch>
                  <a:fillRect b="-655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 name="ZoneTexte 10"/>
              <p:cNvSpPr txBox="1"/>
              <p:nvPr/>
            </p:nvSpPr>
            <p:spPr>
              <a:xfrm>
                <a:off x="6661619" y="3128033"/>
                <a:ext cx="4573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i="1">
                              <a:latin typeface="Cambria Math" panose="02040503050406030204" pitchFamily="18" charset="0"/>
                              <a:ea typeface="Cambria Math"/>
                            </a:rPr>
                          </m:ctrlPr>
                        </m:sSubPr>
                        <m:e>
                          <m:r>
                            <a:rPr lang="fr-FR" i="1">
                              <a:latin typeface="Cambria Math"/>
                              <a:ea typeface="Cambria Math"/>
                            </a:rPr>
                            <m:t>𝕗</m:t>
                          </m:r>
                        </m:e>
                        <m:sub>
                          <m:r>
                            <a:rPr lang="fr-FR" i="1">
                              <a:latin typeface="Cambria Math"/>
                              <a:ea typeface="Cambria Math"/>
                            </a:rPr>
                            <m:t>𝑒</m:t>
                          </m:r>
                        </m:sub>
                      </m:sSub>
                    </m:oMath>
                  </m:oMathPara>
                </a14:m>
                <a:endParaRPr lang="fr-FR" dirty="0"/>
              </a:p>
            </p:txBody>
          </p:sp>
        </mc:Choice>
        <mc:Fallback xmlns="">
          <p:sp>
            <p:nvSpPr>
              <p:cNvPr id="11" name="ZoneTexte 10"/>
              <p:cNvSpPr txBox="1">
                <a:spLocks noRot="1" noChangeAspect="1" noMove="1" noResize="1" noEditPoints="1" noAdjustHandles="1" noChangeArrowheads="1" noChangeShapeType="1" noTextEdit="1"/>
              </p:cNvSpPr>
              <p:nvPr/>
            </p:nvSpPr>
            <p:spPr>
              <a:xfrm>
                <a:off x="6661619" y="3128033"/>
                <a:ext cx="457369" cy="369332"/>
              </a:xfrm>
              <a:prstGeom prst="rect">
                <a:avLst/>
              </a:prstGeom>
              <a:blipFill rotWithShape="0">
                <a:blip r:embed="rId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4" name="ZoneTexte 13"/>
              <p:cNvSpPr txBox="1"/>
              <p:nvPr/>
            </p:nvSpPr>
            <p:spPr>
              <a:xfrm>
                <a:off x="5080040" y="2755750"/>
                <a:ext cx="3786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l-GR" b="1">
                          <a:latin typeface="Cambria Math"/>
                          <a:ea typeface="Cambria Math"/>
                        </a:rPr>
                        <m:t>𝚪</m:t>
                      </m:r>
                    </m:oMath>
                  </m:oMathPara>
                </a14:m>
                <a:endParaRPr lang="fr-FR" dirty="0"/>
              </a:p>
            </p:txBody>
          </p:sp>
        </mc:Choice>
        <mc:Fallback xmlns="">
          <p:sp>
            <p:nvSpPr>
              <p:cNvPr id="14" name="ZoneTexte 13"/>
              <p:cNvSpPr txBox="1">
                <a:spLocks noRot="1" noChangeAspect="1" noMove="1" noResize="1" noEditPoints="1" noAdjustHandles="1" noChangeArrowheads="1" noChangeShapeType="1" noTextEdit="1"/>
              </p:cNvSpPr>
              <p:nvPr/>
            </p:nvSpPr>
            <p:spPr>
              <a:xfrm>
                <a:off x="5080040" y="2755750"/>
                <a:ext cx="378630" cy="369332"/>
              </a:xfrm>
              <a:prstGeom prst="rect">
                <a:avLst/>
              </a:prstGeom>
              <a:blipFill rotWithShape="0">
                <a:blip r:embed="rId6"/>
                <a:stretch>
                  <a:fillRect/>
                </a:stretch>
              </a:blipFill>
            </p:spPr>
            <p:txBody>
              <a:bodyPr/>
              <a:lstStyle/>
              <a:p>
                <a:r>
                  <a:rPr lang="fr-FR">
                    <a:noFill/>
                  </a:rPr>
                  <a:t> </a:t>
                </a:r>
              </a:p>
            </p:txBody>
          </p:sp>
        </mc:Fallback>
      </mc:AlternateContent>
      <p:cxnSp>
        <p:nvCxnSpPr>
          <p:cNvPr id="22" name="Connecteur droit avec flèche 21"/>
          <p:cNvCxnSpPr>
            <a:stCxn id="31" idx="6"/>
          </p:cNvCxnSpPr>
          <p:nvPr/>
        </p:nvCxnSpPr>
        <p:spPr>
          <a:xfrm flipV="1">
            <a:off x="1639181" y="3094160"/>
            <a:ext cx="454438"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3" name="Connecteur droit avec flèche 22"/>
          <p:cNvCxnSpPr/>
          <p:nvPr/>
        </p:nvCxnSpPr>
        <p:spPr>
          <a:xfrm>
            <a:off x="2684170" y="3091760"/>
            <a:ext cx="509551" cy="24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4" name="Connecteur droit avec flèche 23"/>
          <p:cNvCxnSpPr/>
          <p:nvPr/>
        </p:nvCxnSpPr>
        <p:spPr>
          <a:xfrm flipV="1">
            <a:off x="695325" y="3089058"/>
            <a:ext cx="65810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7" name="Connecteur droit avec flèche 26"/>
          <p:cNvCxnSpPr>
            <a:endCxn id="31" idx="4"/>
          </p:cNvCxnSpPr>
          <p:nvPr/>
        </p:nvCxnSpPr>
        <p:spPr>
          <a:xfrm flipH="1" flipV="1">
            <a:off x="1496306" y="3241755"/>
            <a:ext cx="2" cy="10111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29" name="Objet 28"/>
          <p:cNvGraphicFramePr>
            <a:graphicFrameLocks noChangeAspect="1"/>
          </p:cNvGraphicFramePr>
          <p:nvPr>
            <p:extLst>
              <p:ext uri="{D42A27DB-BD31-4B8C-83A1-F6EECF244321}">
                <p14:modId xmlns:p14="http://schemas.microsoft.com/office/powerpoint/2010/main" val="902472031"/>
              </p:ext>
            </p:extLst>
          </p:nvPr>
        </p:nvGraphicFramePr>
        <p:xfrm>
          <a:off x="1207517" y="3363651"/>
          <a:ext cx="215900" cy="157163"/>
        </p:xfrm>
        <a:graphic>
          <a:graphicData uri="http://schemas.openxmlformats.org/presentationml/2006/ole">
            <mc:AlternateContent xmlns:mc="http://schemas.openxmlformats.org/markup-compatibility/2006">
              <mc:Choice xmlns:v="urn:schemas-microsoft-com:vml" Requires="v">
                <p:oleObj name="Equation" r:id="rId7" imgW="139639" imgH="101556" progId="Equation.DSMT4">
                  <p:embed/>
                </p:oleObj>
              </mc:Choice>
              <mc:Fallback>
                <p:oleObj name="Equation" r:id="rId7" imgW="139639" imgH="101556"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07517" y="3363651"/>
                        <a:ext cx="215900" cy="157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30" name="ZoneTexte 29"/>
              <p:cNvSpPr txBox="1"/>
              <p:nvPr/>
            </p:nvSpPr>
            <p:spPr>
              <a:xfrm>
                <a:off x="797769" y="2725522"/>
                <a:ext cx="469937" cy="3797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ea typeface="Cambria Math"/>
                            </a:rPr>
                          </m:ctrlPr>
                        </m:sSupPr>
                        <m:e>
                          <m:r>
                            <a:rPr lang="fr-FR" b="0" i="1" smtClean="0">
                              <a:latin typeface="Cambria Math"/>
                              <a:ea typeface="Cambria Math"/>
                            </a:rPr>
                            <m:t>𝕗</m:t>
                          </m:r>
                        </m:e>
                        <m:sup>
                          <m:r>
                            <a:rPr lang="fr-FR" b="0" i="1" smtClean="0">
                              <a:latin typeface="Cambria Math"/>
                              <a:ea typeface="Cambria Math"/>
                            </a:rPr>
                            <m:t>𝑑</m:t>
                          </m:r>
                        </m:sup>
                      </m:sSup>
                    </m:oMath>
                  </m:oMathPara>
                </a14:m>
                <a:endParaRPr lang="fr-FR" dirty="0"/>
              </a:p>
            </p:txBody>
          </p:sp>
        </mc:Choice>
        <mc:Fallback xmlns="">
          <p:sp>
            <p:nvSpPr>
              <p:cNvPr id="30" name="ZoneTexte 29"/>
              <p:cNvSpPr txBox="1">
                <a:spLocks noRot="1" noChangeAspect="1" noMove="1" noResize="1" noEditPoints="1" noAdjustHandles="1" noChangeArrowheads="1" noChangeShapeType="1" noTextEdit="1"/>
              </p:cNvSpPr>
              <p:nvPr/>
            </p:nvSpPr>
            <p:spPr>
              <a:xfrm>
                <a:off x="797769" y="2725522"/>
                <a:ext cx="469937" cy="379784"/>
              </a:xfrm>
              <a:prstGeom prst="rect">
                <a:avLst/>
              </a:prstGeom>
              <a:blipFill rotWithShape="0">
                <a:blip r:embed="rId9"/>
                <a:stretch>
                  <a:fillRect/>
                </a:stretch>
              </a:blipFill>
            </p:spPr>
            <p:txBody>
              <a:bodyPr/>
              <a:lstStyle/>
              <a:p>
                <a:r>
                  <a:rPr lang="fr-FR">
                    <a:noFill/>
                  </a:rPr>
                  <a:t> </a:t>
                </a:r>
              </a:p>
            </p:txBody>
          </p:sp>
        </mc:Fallback>
      </mc:AlternateContent>
      <p:sp>
        <p:nvSpPr>
          <p:cNvPr id="31" name="Ellipse 30"/>
          <p:cNvSpPr/>
          <p:nvPr/>
        </p:nvSpPr>
        <p:spPr>
          <a:xfrm>
            <a:off x="1353431" y="2956005"/>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mc:AlternateContent xmlns:mc="http://schemas.openxmlformats.org/markup-compatibility/2006" xmlns:a14="http://schemas.microsoft.com/office/drawing/2010/main">
        <mc:Choice Requires="a14">
          <p:sp>
            <p:nvSpPr>
              <p:cNvPr id="32" name="ZoneTexte 31"/>
              <p:cNvSpPr txBox="1"/>
              <p:nvPr/>
            </p:nvSpPr>
            <p:spPr>
              <a:xfrm>
                <a:off x="2093619" y="2909494"/>
                <a:ext cx="590551"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r>
                        <a:rPr lang="fr-FR" b="1" i="0" smtClean="0">
                          <a:latin typeface="Cambria Math"/>
                        </a:rPr>
                        <m:t>𝐋𝐂𝐅</m:t>
                      </m:r>
                    </m:oMath>
                  </m:oMathPara>
                </a14:m>
                <a:endParaRPr lang="fr-FR" b="1" dirty="0"/>
              </a:p>
            </p:txBody>
          </p:sp>
        </mc:Choice>
        <mc:Fallback xmlns="">
          <p:sp>
            <p:nvSpPr>
              <p:cNvPr id="32" name="ZoneTexte 31"/>
              <p:cNvSpPr txBox="1">
                <a:spLocks noRot="1" noChangeAspect="1" noMove="1" noResize="1" noEditPoints="1" noAdjustHandles="1" noChangeArrowheads="1" noChangeShapeType="1" noTextEdit="1"/>
              </p:cNvSpPr>
              <p:nvPr/>
            </p:nvSpPr>
            <p:spPr>
              <a:xfrm>
                <a:off x="2093619" y="2909494"/>
                <a:ext cx="590551" cy="369332"/>
              </a:xfrm>
              <a:prstGeom prst="rect">
                <a:avLst/>
              </a:prstGeom>
              <a:blipFill rotWithShape="0">
                <a:blip r:embed="rId10"/>
                <a:stretch>
                  <a:fillRect/>
                </a:stretch>
              </a:blipFill>
              <a:ln w="25400"/>
            </p:spPr>
            <p:txBody>
              <a:bodyPr/>
              <a:lstStyle/>
              <a:p>
                <a:r>
                  <a:rPr lang="fr-FR">
                    <a:noFill/>
                  </a:rPr>
                  <a:t> </a:t>
                </a:r>
              </a:p>
            </p:txBody>
          </p:sp>
        </mc:Fallback>
      </mc:AlternateContent>
      <p:cxnSp>
        <p:nvCxnSpPr>
          <p:cNvPr id="34" name="Connecteur droit avec flèche 33"/>
          <p:cNvCxnSpPr>
            <a:stCxn id="33" idx="6"/>
            <a:endCxn id="75" idx="1"/>
          </p:cNvCxnSpPr>
          <p:nvPr/>
        </p:nvCxnSpPr>
        <p:spPr>
          <a:xfrm flipV="1">
            <a:off x="3479471" y="3089057"/>
            <a:ext cx="831290" cy="982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6" name="Connecteur droit avec flèche 35"/>
          <p:cNvCxnSpPr/>
          <p:nvPr/>
        </p:nvCxnSpPr>
        <p:spPr>
          <a:xfrm>
            <a:off x="4920461" y="3113828"/>
            <a:ext cx="735314"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ZoneTexte 37"/>
              <p:cNvSpPr txBox="1"/>
              <p:nvPr/>
            </p:nvSpPr>
            <p:spPr>
              <a:xfrm>
                <a:off x="2666634" y="2702899"/>
                <a:ext cx="46281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1" i="1" smtClean="0">
                              <a:latin typeface="Cambria Math" panose="02040503050406030204" pitchFamily="18" charset="0"/>
                              <a:ea typeface="Cambria Math"/>
                            </a:rPr>
                          </m:ctrlPr>
                        </m:sSubPr>
                        <m:e>
                          <m:r>
                            <a:rPr lang="fr-FR" b="1" i="0" smtClean="0">
                              <a:latin typeface="Cambria Math"/>
                              <a:ea typeface="Cambria Math"/>
                            </a:rPr>
                            <m:t>𝐱</m:t>
                          </m:r>
                        </m:e>
                        <m:sub>
                          <m:r>
                            <a:rPr lang="fr-FR" b="1" i="1" smtClean="0">
                              <a:latin typeface="Cambria Math"/>
                              <a:ea typeface="Cambria Math"/>
                            </a:rPr>
                            <m:t>𝕗</m:t>
                          </m:r>
                        </m:sub>
                      </m:sSub>
                    </m:oMath>
                  </m:oMathPara>
                </a14:m>
                <a:endParaRPr lang="fr-FR" dirty="0"/>
              </a:p>
            </p:txBody>
          </p:sp>
        </mc:Choice>
        <mc:Fallback xmlns="">
          <p:sp>
            <p:nvSpPr>
              <p:cNvPr id="38" name="ZoneTexte 37"/>
              <p:cNvSpPr txBox="1">
                <a:spLocks noRot="1" noChangeAspect="1" noMove="1" noResize="1" noEditPoints="1" noAdjustHandles="1" noChangeArrowheads="1" noChangeShapeType="1" noTextEdit="1"/>
              </p:cNvSpPr>
              <p:nvPr/>
            </p:nvSpPr>
            <p:spPr>
              <a:xfrm>
                <a:off x="2666634" y="2702899"/>
                <a:ext cx="462819" cy="369332"/>
              </a:xfrm>
              <a:prstGeom prst="rect">
                <a:avLst/>
              </a:prstGeom>
              <a:blipFill rotWithShape="0">
                <a:blip r:embed="rId11"/>
                <a:stretch>
                  <a:fillRect b="-1639"/>
                </a:stretch>
              </a:blipFill>
            </p:spPr>
            <p:txBody>
              <a:bodyPr/>
              <a:lstStyle/>
              <a:p>
                <a:r>
                  <a:rPr lang="fr-FR">
                    <a:noFill/>
                  </a:rPr>
                  <a:t> </a:t>
                </a:r>
              </a:p>
            </p:txBody>
          </p:sp>
        </mc:Fallback>
      </mc:AlternateContent>
      <p:cxnSp>
        <p:nvCxnSpPr>
          <p:cNvPr id="39" name="Connecteur droit 38"/>
          <p:cNvCxnSpPr/>
          <p:nvPr/>
        </p:nvCxnSpPr>
        <p:spPr>
          <a:xfrm flipV="1">
            <a:off x="7174671" y="2142449"/>
            <a:ext cx="4482" cy="87644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0" name="Connecteur droit avec flèche 39"/>
          <p:cNvCxnSpPr/>
          <p:nvPr/>
        </p:nvCxnSpPr>
        <p:spPr>
          <a:xfrm flipH="1" flipV="1">
            <a:off x="5655775" y="2144454"/>
            <a:ext cx="1518895" cy="200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1" name="Connecteur droit 40"/>
          <p:cNvCxnSpPr>
            <a:stCxn id="44" idx="1"/>
          </p:cNvCxnSpPr>
          <p:nvPr/>
        </p:nvCxnSpPr>
        <p:spPr>
          <a:xfrm flipH="1">
            <a:off x="3336596" y="2146460"/>
            <a:ext cx="158083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2" name="Connecteur droit avec flèche 41"/>
          <p:cNvCxnSpPr>
            <a:endCxn id="33" idx="0"/>
          </p:cNvCxnSpPr>
          <p:nvPr/>
        </p:nvCxnSpPr>
        <p:spPr>
          <a:xfrm>
            <a:off x="3336596" y="2144454"/>
            <a:ext cx="0" cy="81155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43" name="Espace réservé du contenu 73"/>
          <p:cNvGraphicFramePr>
            <a:graphicFrameLocks noChangeAspect="1"/>
          </p:cNvGraphicFramePr>
          <p:nvPr>
            <p:extLst>
              <p:ext uri="{D42A27DB-BD31-4B8C-83A1-F6EECF244321}">
                <p14:modId xmlns:p14="http://schemas.microsoft.com/office/powerpoint/2010/main" val="1776228739"/>
              </p:ext>
            </p:extLst>
          </p:nvPr>
        </p:nvGraphicFramePr>
        <p:xfrm>
          <a:off x="3409621" y="2699724"/>
          <a:ext cx="139700" cy="101600"/>
        </p:xfrm>
        <a:graphic>
          <a:graphicData uri="http://schemas.openxmlformats.org/presentationml/2006/ole">
            <mc:AlternateContent xmlns:mc="http://schemas.openxmlformats.org/markup-compatibility/2006">
              <mc:Choice xmlns:v="urn:schemas-microsoft-com:vml" Requires="v">
                <p:oleObj name="Equation" r:id="rId12" imgW="139639" imgH="101556" progId="Equation.DSMT4">
                  <p:embed/>
                </p:oleObj>
              </mc:Choice>
              <mc:Fallback>
                <p:oleObj name="Equation" r:id="rId12" imgW="139639" imgH="101556"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09621" y="2699724"/>
                        <a:ext cx="139700" cy="10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 name="ZoneTexte 43"/>
          <p:cNvSpPr txBox="1"/>
          <p:nvPr/>
        </p:nvSpPr>
        <p:spPr>
          <a:xfrm>
            <a:off x="4917426" y="1961794"/>
            <a:ext cx="728824"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dirty="0"/>
              <a:t>MGD</a:t>
            </a:r>
          </a:p>
        </p:txBody>
      </p:sp>
      <mc:AlternateContent xmlns:mc="http://schemas.openxmlformats.org/markup-compatibility/2006" xmlns:a14="http://schemas.microsoft.com/office/drawing/2010/main">
        <mc:Choice Requires="a14">
          <p:sp>
            <p:nvSpPr>
              <p:cNvPr id="45" name="ZoneTexte 44"/>
              <p:cNvSpPr txBox="1"/>
              <p:nvPr/>
            </p:nvSpPr>
            <p:spPr>
              <a:xfrm>
                <a:off x="3940147" y="1811346"/>
                <a:ext cx="3706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b="1" i="0" smtClean="0">
                          <a:latin typeface="Cambria Math"/>
                          <a:ea typeface="Cambria Math"/>
                        </a:rPr>
                        <m:t>𝐱</m:t>
                      </m:r>
                    </m:oMath>
                  </m:oMathPara>
                </a14:m>
                <a:endParaRPr lang="fr-FR" dirty="0"/>
              </a:p>
            </p:txBody>
          </p:sp>
        </mc:Choice>
        <mc:Fallback xmlns="">
          <p:sp>
            <p:nvSpPr>
              <p:cNvPr id="45" name="ZoneTexte 44"/>
              <p:cNvSpPr txBox="1">
                <a:spLocks noRot="1" noChangeAspect="1" noMove="1" noResize="1" noEditPoints="1" noAdjustHandles="1" noChangeArrowheads="1" noChangeShapeType="1" noTextEdit="1"/>
              </p:cNvSpPr>
              <p:nvPr/>
            </p:nvSpPr>
            <p:spPr>
              <a:xfrm>
                <a:off x="3940147" y="1811346"/>
                <a:ext cx="370614" cy="369332"/>
              </a:xfrm>
              <a:prstGeom prst="rect">
                <a:avLst/>
              </a:prstGeom>
              <a:blipFill rotWithShape="0">
                <a:blip r:embed="rId13"/>
                <a:stretch>
                  <a:fillRect/>
                </a:stretch>
              </a:blipFill>
            </p:spPr>
            <p:txBody>
              <a:bodyPr/>
              <a:lstStyle/>
              <a:p>
                <a:r>
                  <a:rPr lang="fr-FR">
                    <a:noFill/>
                  </a:rPr>
                  <a:t> </a:t>
                </a:r>
              </a:p>
            </p:txBody>
          </p:sp>
        </mc:Fallback>
      </mc:AlternateContent>
      <p:cxnSp>
        <p:nvCxnSpPr>
          <p:cNvPr id="46" name="Connecteur droit 45"/>
          <p:cNvCxnSpPr/>
          <p:nvPr/>
        </p:nvCxnSpPr>
        <p:spPr>
          <a:xfrm flipH="1">
            <a:off x="1496308" y="4252935"/>
            <a:ext cx="568284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5" name="Connecteur droit avec flèche 54"/>
          <p:cNvCxnSpPr/>
          <p:nvPr/>
        </p:nvCxnSpPr>
        <p:spPr>
          <a:xfrm>
            <a:off x="6646479" y="3164096"/>
            <a:ext cx="532674"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56" name="Connecteur droit 55"/>
          <p:cNvCxnSpPr/>
          <p:nvPr/>
        </p:nvCxnSpPr>
        <p:spPr>
          <a:xfrm flipV="1">
            <a:off x="7174670" y="3171296"/>
            <a:ext cx="4483" cy="1081639"/>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5" name="ZoneTexte 14"/>
          <p:cNvSpPr txBox="1"/>
          <p:nvPr/>
        </p:nvSpPr>
        <p:spPr>
          <a:xfrm>
            <a:off x="5644206" y="2904391"/>
            <a:ext cx="1002273"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dirty="0"/>
              <a:t>Robot</a:t>
            </a:r>
          </a:p>
        </p:txBody>
      </p:sp>
      <p:sp>
        <p:nvSpPr>
          <p:cNvPr id="33" name="Ellipse 32"/>
          <p:cNvSpPr/>
          <p:nvPr/>
        </p:nvSpPr>
        <p:spPr>
          <a:xfrm>
            <a:off x="3193721" y="2956005"/>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mc:AlternateContent xmlns:mc="http://schemas.openxmlformats.org/markup-compatibility/2006" xmlns:a14="http://schemas.microsoft.com/office/drawing/2010/main">
        <mc:Choice Requires="a14">
          <p:sp>
            <p:nvSpPr>
              <p:cNvPr id="75" name="ZoneTexte 74"/>
              <p:cNvSpPr txBox="1"/>
              <p:nvPr/>
            </p:nvSpPr>
            <p:spPr>
              <a:xfrm>
                <a:off x="4310761" y="2904391"/>
                <a:ext cx="600175"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r>
                        <a:rPr lang="fr-FR" b="1" i="0" dirty="0" smtClean="0">
                          <a:latin typeface="Cambria Math"/>
                        </a:rPr>
                        <m:t>𝐋𝐂𝐏</m:t>
                      </m:r>
                    </m:oMath>
                  </m:oMathPara>
                </a14:m>
                <a:endParaRPr lang="fr-FR" b="1" dirty="0"/>
              </a:p>
            </p:txBody>
          </p:sp>
        </mc:Choice>
        <mc:Fallback xmlns="">
          <p:sp>
            <p:nvSpPr>
              <p:cNvPr id="75" name="ZoneTexte 74"/>
              <p:cNvSpPr txBox="1">
                <a:spLocks noRot="1" noChangeAspect="1" noMove="1" noResize="1" noEditPoints="1" noAdjustHandles="1" noChangeArrowheads="1" noChangeShapeType="1" noTextEdit="1"/>
              </p:cNvSpPr>
              <p:nvPr/>
            </p:nvSpPr>
            <p:spPr>
              <a:xfrm>
                <a:off x="4310761" y="2904391"/>
                <a:ext cx="600175" cy="369332"/>
              </a:xfrm>
              <a:prstGeom prst="rect">
                <a:avLst/>
              </a:prstGeom>
              <a:blipFill rotWithShape="0">
                <a:blip r:embed="rId14"/>
                <a:stretch>
                  <a:fillRect/>
                </a:stretch>
              </a:blipFill>
              <a:ln w="25400"/>
            </p:spPr>
            <p:txBody>
              <a:bodyPr/>
              <a:lstStyle/>
              <a:p>
                <a:r>
                  <a:rPr lang="fr-FR">
                    <a:noFill/>
                  </a:rPr>
                  <a:t> </a:t>
                </a:r>
              </a:p>
            </p:txBody>
          </p:sp>
        </mc:Fallback>
      </mc:AlternateContent>
    </p:spTree>
    <p:extLst>
      <p:ext uri="{BB962C8B-B14F-4D97-AF65-F5344CB8AC3E}">
        <p14:creationId xmlns:p14="http://schemas.microsoft.com/office/powerpoint/2010/main" val="202393275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u contenu 1"/>
          <p:cNvSpPr>
            <a:spLocks noGrp="1"/>
          </p:cNvSpPr>
          <p:nvPr>
            <p:ph sz="quarter" idx="1"/>
          </p:nvPr>
        </p:nvSpPr>
        <p:spPr/>
        <p:txBody>
          <a:bodyPr/>
          <a:lstStyle/>
          <a:p>
            <a:pPr marL="0" indent="0">
              <a:buNone/>
            </a:pPr>
            <a:r>
              <a:rPr lang="fr-FR" b="1" dirty="0"/>
              <a:t>Schéma de principe :</a:t>
            </a:r>
          </a:p>
        </p:txBody>
      </p:sp>
      <p:sp>
        <p:nvSpPr>
          <p:cNvPr id="3" name="Titre 2"/>
          <p:cNvSpPr>
            <a:spLocks noGrp="1"/>
          </p:cNvSpPr>
          <p:nvPr>
            <p:ph type="title"/>
          </p:nvPr>
        </p:nvSpPr>
        <p:spPr/>
        <p:txBody>
          <a:bodyPr/>
          <a:lstStyle/>
          <a:p>
            <a:r>
              <a:rPr lang="fr-FR" dirty="0"/>
              <a:t>Commande en effort avec boucle interne en vitesse</a:t>
            </a:r>
          </a:p>
        </p:txBody>
      </p:sp>
      <mc:AlternateContent xmlns:mc="http://schemas.openxmlformats.org/markup-compatibility/2006" xmlns:a14="http://schemas.microsoft.com/office/drawing/2010/main">
        <mc:Choice Requires="a14">
          <p:sp>
            <p:nvSpPr>
              <p:cNvPr id="11" name="ZoneTexte 10"/>
              <p:cNvSpPr txBox="1"/>
              <p:nvPr/>
            </p:nvSpPr>
            <p:spPr>
              <a:xfrm>
                <a:off x="7305225" y="3246667"/>
                <a:ext cx="4573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i="1">
                              <a:latin typeface="Cambria Math" panose="02040503050406030204" pitchFamily="18" charset="0"/>
                              <a:ea typeface="Cambria Math"/>
                            </a:rPr>
                          </m:ctrlPr>
                        </m:sSubPr>
                        <m:e>
                          <m:r>
                            <a:rPr lang="fr-FR" i="1">
                              <a:latin typeface="Cambria Math"/>
                              <a:ea typeface="Cambria Math"/>
                            </a:rPr>
                            <m:t>𝕗</m:t>
                          </m:r>
                        </m:e>
                        <m:sub>
                          <m:r>
                            <a:rPr lang="fr-FR" i="1">
                              <a:latin typeface="Cambria Math"/>
                              <a:ea typeface="Cambria Math"/>
                            </a:rPr>
                            <m:t>𝑒</m:t>
                          </m:r>
                        </m:sub>
                      </m:sSub>
                    </m:oMath>
                  </m:oMathPara>
                </a14:m>
                <a:endParaRPr lang="fr-FR" dirty="0"/>
              </a:p>
            </p:txBody>
          </p:sp>
        </mc:Choice>
        <mc:Fallback xmlns="">
          <p:sp>
            <p:nvSpPr>
              <p:cNvPr id="11" name="ZoneTexte 10"/>
              <p:cNvSpPr txBox="1">
                <a:spLocks noRot="1" noChangeAspect="1" noMove="1" noResize="1" noEditPoints="1" noAdjustHandles="1" noChangeArrowheads="1" noChangeShapeType="1" noTextEdit="1"/>
              </p:cNvSpPr>
              <p:nvPr/>
            </p:nvSpPr>
            <p:spPr>
              <a:xfrm>
                <a:off x="7305225" y="3246667"/>
                <a:ext cx="457369" cy="369332"/>
              </a:xfrm>
              <a:prstGeom prst="rect">
                <a:avLst/>
              </a:prstGeom>
              <a:blipFill rotWithShape="0">
                <a:blip r:embed="rId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4" name="ZoneTexte 13"/>
              <p:cNvSpPr txBox="1"/>
              <p:nvPr/>
            </p:nvSpPr>
            <p:spPr>
              <a:xfrm>
                <a:off x="5534217" y="2891248"/>
                <a:ext cx="3786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l-GR" b="1">
                          <a:latin typeface="Cambria Math"/>
                          <a:ea typeface="Cambria Math"/>
                        </a:rPr>
                        <m:t>𝚪</m:t>
                      </m:r>
                    </m:oMath>
                  </m:oMathPara>
                </a14:m>
                <a:endParaRPr lang="fr-FR" dirty="0"/>
              </a:p>
            </p:txBody>
          </p:sp>
        </mc:Choice>
        <mc:Fallback xmlns="">
          <p:sp>
            <p:nvSpPr>
              <p:cNvPr id="14" name="ZoneTexte 13"/>
              <p:cNvSpPr txBox="1">
                <a:spLocks noRot="1" noChangeAspect="1" noMove="1" noResize="1" noEditPoints="1" noAdjustHandles="1" noChangeArrowheads="1" noChangeShapeType="1" noTextEdit="1"/>
              </p:cNvSpPr>
              <p:nvPr/>
            </p:nvSpPr>
            <p:spPr>
              <a:xfrm>
                <a:off x="5534217" y="2891248"/>
                <a:ext cx="378630" cy="369332"/>
              </a:xfrm>
              <a:prstGeom prst="rect">
                <a:avLst/>
              </a:prstGeom>
              <a:blipFill rotWithShape="0">
                <a:blip r:embed="rId5"/>
                <a:stretch>
                  <a:fillRect/>
                </a:stretch>
              </a:blipFill>
            </p:spPr>
            <p:txBody>
              <a:bodyPr/>
              <a:lstStyle/>
              <a:p>
                <a:r>
                  <a:rPr lang="fr-FR">
                    <a:noFill/>
                  </a:rPr>
                  <a:t> </a:t>
                </a:r>
              </a:p>
            </p:txBody>
          </p:sp>
        </mc:Fallback>
      </mc:AlternateContent>
      <p:cxnSp>
        <p:nvCxnSpPr>
          <p:cNvPr id="22" name="Connecteur droit avec flèche 21"/>
          <p:cNvCxnSpPr>
            <a:stCxn id="31" idx="6"/>
          </p:cNvCxnSpPr>
          <p:nvPr/>
        </p:nvCxnSpPr>
        <p:spPr>
          <a:xfrm flipV="1">
            <a:off x="1731329" y="3224432"/>
            <a:ext cx="454438"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3" name="Connecteur droit avec flèche 22"/>
          <p:cNvCxnSpPr/>
          <p:nvPr/>
        </p:nvCxnSpPr>
        <p:spPr>
          <a:xfrm>
            <a:off x="2776318" y="3222032"/>
            <a:ext cx="509551" cy="24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7" name="Connecteur droit avec flèche 26"/>
          <p:cNvCxnSpPr>
            <a:endCxn id="31" idx="4"/>
          </p:cNvCxnSpPr>
          <p:nvPr/>
        </p:nvCxnSpPr>
        <p:spPr>
          <a:xfrm flipV="1">
            <a:off x="1588454" y="3372027"/>
            <a:ext cx="0" cy="100971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29" name="Objet 28"/>
          <p:cNvGraphicFramePr>
            <a:graphicFrameLocks noChangeAspect="1"/>
          </p:cNvGraphicFramePr>
          <p:nvPr>
            <p:extLst>
              <p:ext uri="{D42A27DB-BD31-4B8C-83A1-F6EECF244321}">
                <p14:modId xmlns:p14="http://schemas.microsoft.com/office/powerpoint/2010/main" val="3023523231"/>
              </p:ext>
            </p:extLst>
          </p:nvPr>
        </p:nvGraphicFramePr>
        <p:xfrm>
          <a:off x="1299665" y="3493923"/>
          <a:ext cx="215900" cy="157163"/>
        </p:xfrm>
        <a:graphic>
          <a:graphicData uri="http://schemas.openxmlformats.org/presentationml/2006/ole">
            <mc:AlternateContent xmlns:mc="http://schemas.openxmlformats.org/markup-compatibility/2006">
              <mc:Choice xmlns:v="urn:schemas-microsoft-com:vml" Requires="v">
                <p:oleObj name="Equation" r:id="rId6" imgW="139639" imgH="101556" progId="Equation.DSMT4">
                  <p:embed/>
                </p:oleObj>
              </mc:Choice>
              <mc:Fallback>
                <p:oleObj name="Equation" r:id="rId6" imgW="139639" imgH="101556"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9665" y="3493923"/>
                        <a:ext cx="215900" cy="157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30" name="ZoneTexte 29"/>
              <p:cNvSpPr txBox="1"/>
              <p:nvPr/>
            </p:nvSpPr>
            <p:spPr>
              <a:xfrm>
                <a:off x="975642" y="2855794"/>
                <a:ext cx="469937" cy="3797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ea typeface="Cambria Math"/>
                            </a:rPr>
                          </m:ctrlPr>
                        </m:sSupPr>
                        <m:e>
                          <m:r>
                            <a:rPr lang="fr-FR" b="0" i="1" smtClean="0">
                              <a:latin typeface="Cambria Math"/>
                              <a:ea typeface="Cambria Math"/>
                            </a:rPr>
                            <m:t>𝕗</m:t>
                          </m:r>
                        </m:e>
                        <m:sup>
                          <m:r>
                            <a:rPr lang="fr-FR" b="0" i="1" smtClean="0">
                              <a:latin typeface="Cambria Math"/>
                              <a:ea typeface="Cambria Math"/>
                            </a:rPr>
                            <m:t>𝑑</m:t>
                          </m:r>
                        </m:sup>
                      </m:sSup>
                    </m:oMath>
                  </m:oMathPara>
                </a14:m>
                <a:endParaRPr lang="fr-FR" dirty="0"/>
              </a:p>
            </p:txBody>
          </p:sp>
        </mc:Choice>
        <mc:Fallback xmlns="">
          <p:sp>
            <p:nvSpPr>
              <p:cNvPr id="30" name="ZoneTexte 29"/>
              <p:cNvSpPr txBox="1">
                <a:spLocks noRot="1" noChangeAspect="1" noMove="1" noResize="1" noEditPoints="1" noAdjustHandles="1" noChangeArrowheads="1" noChangeShapeType="1" noTextEdit="1"/>
              </p:cNvSpPr>
              <p:nvPr/>
            </p:nvSpPr>
            <p:spPr>
              <a:xfrm>
                <a:off x="975642" y="2855794"/>
                <a:ext cx="469937" cy="379784"/>
              </a:xfrm>
              <a:prstGeom prst="rect">
                <a:avLst/>
              </a:prstGeom>
              <a:blipFill rotWithShape="0">
                <a:blip r:embed="rId8"/>
                <a:stretch>
                  <a:fillRect/>
                </a:stretch>
              </a:blipFill>
            </p:spPr>
            <p:txBody>
              <a:bodyPr/>
              <a:lstStyle/>
              <a:p>
                <a:r>
                  <a:rPr lang="fr-FR">
                    <a:noFill/>
                  </a:rPr>
                  <a:t> </a:t>
                </a:r>
              </a:p>
            </p:txBody>
          </p:sp>
        </mc:Fallback>
      </mc:AlternateContent>
      <p:sp>
        <p:nvSpPr>
          <p:cNvPr id="31" name="Ellipse 30"/>
          <p:cNvSpPr/>
          <p:nvPr/>
        </p:nvSpPr>
        <p:spPr>
          <a:xfrm>
            <a:off x="1445579" y="3086277"/>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mc:AlternateContent xmlns:mc="http://schemas.openxmlformats.org/markup-compatibility/2006" xmlns:a14="http://schemas.microsoft.com/office/drawing/2010/main">
        <mc:Choice Requires="a14">
          <p:sp>
            <p:nvSpPr>
              <p:cNvPr id="32" name="ZoneTexte 31"/>
              <p:cNvSpPr txBox="1"/>
              <p:nvPr/>
            </p:nvSpPr>
            <p:spPr>
              <a:xfrm>
                <a:off x="2185767" y="3039766"/>
                <a:ext cx="590551"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r>
                        <a:rPr lang="fr-FR" b="1" i="0" smtClean="0">
                          <a:latin typeface="Cambria Math"/>
                        </a:rPr>
                        <m:t>𝐋𝐂𝐅</m:t>
                      </m:r>
                    </m:oMath>
                  </m:oMathPara>
                </a14:m>
                <a:endParaRPr lang="fr-FR" b="1" dirty="0"/>
              </a:p>
            </p:txBody>
          </p:sp>
        </mc:Choice>
        <mc:Fallback xmlns="">
          <p:sp>
            <p:nvSpPr>
              <p:cNvPr id="32" name="ZoneTexte 31"/>
              <p:cNvSpPr txBox="1">
                <a:spLocks noRot="1" noChangeAspect="1" noMove="1" noResize="1" noEditPoints="1" noAdjustHandles="1" noChangeArrowheads="1" noChangeShapeType="1" noTextEdit="1"/>
              </p:cNvSpPr>
              <p:nvPr/>
            </p:nvSpPr>
            <p:spPr>
              <a:xfrm>
                <a:off x="2185767" y="3039766"/>
                <a:ext cx="590551" cy="369332"/>
              </a:xfrm>
              <a:prstGeom prst="rect">
                <a:avLst/>
              </a:prstGeom>
              <a:blipFill rotWithShape="0">
                <a:blip r:embed="rId9"/>
                <a:stretch>
                  <a:fillRect/>
                </a:stretch>
              </a:blipFill>
              <a:ln w="25400"/>
            </p:spPr>
            <p:txBody>
              <a:bodyPr/>
              <a:lstStyle/>
              <a:p>
                <a:r>
                  <a:rPr lang="fr-FR">
                    <a:noFill/>
                  </a:rPr>
                  <a:t> </a:t>
                </a:r>
              </a:p>
            </p:txBody>
          </p:sp>
        </mc:Fallback>
      </mc:AlternateContent>
      <p:cxnSp>
        <p:nvCxnSpPr>
          <p:cNvPr id="34" name="Connecteur droit avec flèche 33"/>
          <p:cNvCxnSpPr>
            <a:stCxn id="33" idx="6"/>
            <a:endCxn id="37" idx="1"/>
          </p:cNvCxnSpPr>
          <p:nvPr/>
        </p:nvCxnSpPr>
        <p:spPr>
          <a:xfrm flipV="1">
            <a:off x="3571619" y="3226309"/>
            <a:ext cx="716839"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6" name="Connecteur droit avec flèche 35"/>
          <p:cNvCxnSpPr>
            <a:stCxn id="37" idx="3"/>
            <a:endCxn id="15" idx="1"/>
          </p:cNvCxnSpPr>
          <p:nvPr/>
        </p:nvCxnSpPr>
        <p:spPr>
          <a:xfrm flipV="1">
            <a:off x="5136969" y="3223119"/>
            <a:ext cx="1026632" cy="319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ZoneTexte 36"/>
              <p:cNvSpPr txBox="1"/>
              <p:nvPr/>
            </p:nvSpPr>
            <p:spPr>
              <a:xfrm>
                <a:off x="4288458" y="3041643"/>
                <a:ext cx="848511"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r>
                        <a:rPr lang="fr-FR" b="1" i="0" dirty="0" smtClean="0">
                          <a:latin typeface="Cambria Math"/>
                        </a:rPr>
                        <m:t>𝐋𝐂𝐕</m:t>
                      </m:r>
                    </m:oMath>
                  </m:oMathPara>
                </a14:m>
                <a:endParaRPr lang="fr-FR" dirty="0"/>
              </a:p>
            </p:txBody>
          </p:sp>
        </mc:Choice>
        <mc:Fallback xmlns="">
          <p:sp>
            <p:nvSpPr>
              <p:cNvPr id="37" name="ZoneTexte 36"/>
              <p:cNvSpPr txBox="1">
                <a:spLocks noRot="1" noChangeAspect="1" noMove="1" noResize="1" noEditPoints="1" noAdjustHandles="1" noChangeArrowheads="1" noChangeShapeType="1" noTextEdit="1"/>
              </p:cNvSpPr>
              <p:nvPr/>
            </p:nvSpPr>
            <p:spPr>
              <a:xfrm>
                <a:off x="4288458" y="3041643"/>
                <a:ext cx="848511" cy="369332"/>
              </a:xfrm>
              <a:prstGeom prst="rect">
                <a:avLst/>
              </a:prstGeom>
              <a:blipFill rotWithShape="0">
                <a:blip r:embed="rId10"/>
                <a:stretch>
                  <a:fillRect/>
                </a:stretch>
              </a:blipFill>
              <a:ln w="25400"/>
            </p:spPr>
            <p:txBody>
              <a:bodyPr/>
              <a:lstStyle/>
              <a:p>
                <a:r>
                  <a:rPr lang="fr-FR">
                    <a:noFill/>
                  </a:rPr>
                  <a:t> </a:t>
                </a:r>
              </a:p>
            </p:txBody>
          </p:sp>
        </mc:Fallback>
      </mc:AlternateContent>
      <p:cxnSp>
        <p:nvCxnSpPr>
          <p:cNvPr id="39" name="Connecteur droit 38"/>
          <p:cNvCxnSpPr/>
          <p:nvPr/>
        </p:nvCxnSpPr>
        <p:spPr>
          <a:xfrm flipV="1">
            <a:off x="7358544" y="2253920"/>
            <a:ext cx="0" cy="821994"/>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0" name="Connecteur droit avec flèche 39"/>
          <p:cNvCxnSpPr>
            <a:endCxn id="44" idx="3"/>
          </p:cNvCxnSpPr>
          <p:nvPr/>
        </p:nvCxnSpPr>
        <p:spPr>
          <a:xfrm flipH="1">
            <a:off x="5756018" y="2253919"/>
            <a:ext cx="158770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1" name="Connecteur droit 40"/>
          <p:cNvCxnSpPr>
            <a:stCxn id="44" idx="1"/>
          </p:cNvCxnSpPr>
          <p:nvPr/>
        </p:nvCxnSpPr>
        <p:spPr>
          <a:xfrm flipH="1">
            <a:off x="3428744" y="2253919"/>
            <a:ext cx="174242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2" name="Connecteur droit avec flèche 41"/>
          <p:cNvCxnSpPr>
            <a:endCxn id="33" idx="0"/>
          </p:cNvCxnSpPr>
          <p:nvPr/>
        </p:nvCxnSpPr>
        <p:spPr>
          <a:xfrm>
            <a:off x="3428744" y="2253919"/>
            <a:ext cx="0" cy="83235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43" name="Espace réservé du contenu 73"/>
          <p:cNvGraphicFramePr>
            <a:graphicFrameLocks noChangeAspect="1"/>
          </p:cNvGraphicFramePr>
          <p:nvPr>
            <p:extLst>
              <p:ext uri="{D42A27DB-BD31-4B8C-83A1-F6EECF244321}">
                <p14:modId xmlns:p14="http://schemas.microsoft.com/office/powerpoint/2010/main" val="1772750983"/>
              </p:ext>
            </p:extLst>
          </p:nvPr>
        </p:nvGraphicFramePr>
        <p:xfrm>
          <a:off x="3501769" y="2829996"/>
          <a:ext cx="139700" cy="101600"/>
        </p:xfrm>
        <a:graphic>
          <a:graphicData uri="http://schemas.openxmlformats.org/presentationml/2006/ole">
            <mc:AlternateContent xmlns:mc="http://schemas.openxmlformats.org/markup-compatibility/2006">
              <mc:Choice xmlns:v="urn:schemas-microsoft-com:vml" Requires="v">
                <p:oleObj name="Equation" r:id="rId11" imgW="139639" imgH="101556" progId="Equation.DSMT4">
                  <p:embed/>
                </p:oleObj>
              </mc:Choice>
              <mc:Fallback>
                <p:oleObj name="Equation" r:id="rId11" imgW="139639" imgH="101556"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01769" y="2829996"/>
                        <a:ext cx="139700" cy="10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44" name="ZoneTexte 43"/>
              <p:cNvSpPr txBox="1"/>
              <p:nvPr/>
            </p:nvSpPr>
            <p:spPr>
              <a:xfrm>
                <a:off x="5171165" y="2069253"/>
                <a:ext cx="584853"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r>
                        <a:rPr lang="fr-FR" b="1" i="0" smtClean="0">
                          <a:latin typeface="Cambria Math"/>
                        </a:rPr>
                        <m:t>𝐉</m:t>
                      </m:r>
                    </m:oMath>
                  </m:oMathPara>
                </a14:m>
                <a:endParaRPr lang="fr-FR" b="1" dirty="0"/>
              </a:p>
            </p:txBody>
          </p:sp>
        </mc:Choice>
        <mc:Fallback xmlns="">
          <p:sp>
            <p:nvSpPr>
              <p:cNvPr id="44" name="ZoneTexte 43"/>
              <p:cNvSpPr txBox="1">
                <a:spLocks noRot="1" noChangeAspect="1" noMove="1" noResize="1" noEditPoints="1" noAdjustHandles="1" noChangeArrowheads="1" noChangeShapeType="1" noTextEdit="1"/>
              </p:cNvSpPr>
              <p:nvPr/>
            </p:nvSpPr>
            <p:spPr>
              <a:xfrm>
                <a:off x="5171165" y="2069253"/>
                <a:ext cx="584853" cy="369332"/>
              </a:xfrm>
              <a:prstGeom prst="rect">
                <a:avLst/>
              </a:prstGeom>
              <a:blipFill rotWithShape="0">
                <a:blip r:embed="rId12"/>
                <a:stretch>
                  <a:fillRect/>
                </a:stretch>
              </a:blipFill>
              <a:ln w="25400"/>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5" name="ZoneTexte 44"/>
              <p:cNvSpPr txBox="1"/>
              <p:nvPr/>
            </p:nvSpPr>
            <p:spPr>
              <a:xfrm>
                <a:off x="3428744" y="1906359"/>
                <a:ext cx="38183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fr-FR" b="1" i="1" smtClean="0">
                              <a:latin typeface="Cambria Math" panose="02040503050406030204" pitchFamily="18" charset="0"/>
                              <a:ea typeface="Cambria Math"/>
                            </a:rPr>
                          </m:ctrlPr>
                        </m:accPr>
                        <m:e>
                          <m:r>
                            <a:rPr lang="fr-FR" b="1" i="0" smtClean="0">
                              <a:latin typeface="Cambria Math"/>
                              <a:ea typeface="Cambria Math"/>
                            </a:rPr>
                            <m:t>𝐱</m:t>
                          </m:r>
                        </m:e>
                      </m:acc>
                    </m:oMath>
                  </m:oMathPara>
                </a14:m>
                <a:endParaRPr lang="fr-FR" dirty="0"/>
              </a:p>
            </p:txBody>
          </p:sp>
        </mc:Choice>
        <mc:Fallback xmlns="">
          <p:sp>
            <p:nvSpPr>
              <p:cNvPr id="45" name="ZoneTexte 44"/>
              <p:cNvSpPr txBox="1">
                <a:spLocks noRot="1" noChangeAspect="1" noMove="1" noResize="1" noEditPoints="1" noAdjustHandles="1" noChangeArrowheads="1" noChangeShapeType="1" noTextEdit="1"/>
              </p:cNvSpPr>
              <p:nvPr/>
            </p:nvSpPr>
            <p:spPr>
              <a:xfrm>
                <a:off x="3428744" y="1906359"/>
                <a:ext cx="381835" cy="369332"/>
              </a:xfrm>
              <a:prstGeom prst="rect">
                <a:avLst/>
              </a:prstGeom>
              <a:blipFill rotWithShape="0">
                <a:blip r:embed="rId13"/>
                <a:stretch>
                  <a:fillRect/>
                </a:stretch>
              </a:blipFill>
            </p:spPr>
            <p:txBody>
              <a:bodyPr/>
              <a:lstStyle/>
              <a:p>
                <a:r>
                  <a:rPr lang="fr-FR">
                    <a:noFill/>
                  </a:rPr>
                  <a:t> </a:t>
                </a:r>
              </a:p>
            </p:txBody>
          </p:sp>
        </mc:Fallback>
      </mc:AlternateContent>
      <p:cxnSp>
        <p:nvCxnSpPr>
          <p:cNvPr id="46" name="Connecteur droit 45"/>
          <p:cNvCxnSpPr/>
          <p:nvPr/>
        </p:nvCxnSpPr>
        <p:spPr>
          <a:xfrm flipH="1">
            <a:off x="1588454" y="4381745"/>
            <a:ext cx="5781148" cy="0"/>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ZoneTexte 57"/>
              <p:cNvSpPr txBox="1"/>
              <p:nvPr/>
            </p:nvSpPr>
            <p:spPr>
              <a:xfrm>
                <a:off x="7285406" y="2823646"/>
                <a:ext cx="3882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fr-FR" b="1" i="1" smtClean="0">
                              <a:latin typeface="Cambria Math" panose="02040503050406030204" pitchFamily="18" charset="0"/>
                            </a:rPr>
                          </m:ctrlPr>
                        </m:accPr>
                        <m:e>
                          <m:r>
                            <a:rPr lang="fr-FR" b="1" i="0" smtClean="0">
                              <a:latin typeface="Cambria Math"/>
                            </a:rPr>
                            <m:t>𝐪</m:t>
                          </m:r>
                        </m:e>
                      </m:acc>
                    </m:oMath>
                  </m:oMathPara>
                </a14:m>
                <a:endParaRPr lang="fr-FR" dirty="0"/>
              </a:p>
            </p:txBody>
          </p:sp>
        </mc:Choice>
        <mc:Fallback xmlns="">
          <p:sp>
            <p:nvSpPr>
              <p:cNvPr id="58" name="ZoneTexte 57"/>
              <p:cNvSpPr txBox="1">
                <a:spLocks noRot="1" noChangeAspect="1" noMove="1" noResize="1" noEditPoints="1" noAdjustHandles="1" noChangeArrowheads="1" noChangeShapeType="1" noTextEdit="1"/>
              </p:cNvSpPr>
              <p:nvPr/>
            </p:nvSpPr>
            <p:spPr>
              <a:xfrm>
                <a:off x="7285406" y="2823646"/>
                <a:ext cx="388247" cy="369332"/>
              </a:xfrm>
              <a:prstGeom prst="rect">
                <a:avLst/>
              </a:prstGeom>
              <a:blipFill rotWithShape="0">
                <a:blip r:embed="rId14"/>
                <a:stretch>
                  <a:fillRect b="-8197"/>
                </a:stretch>
              </a:blipFill>
            </p:spPr>
            <p:txBody>
              <a:bodyPr/>
              <a:lstStyle/>
              <a:p>
                <a:r>
                  <a:rPr lang="fr-FR">
                    <a:noFill/>
                  </a:rPr>
                  <a:t> </a:t>
                </a:r>
              </a:p>
            </p:txBody>
          </p:sp>
        </mc:Fallback>
      </mc:AlternateContent>
      <p:cxnSp>
        <p:nvCxnSpPr>
          <p:cNvPr id="57" name="Connecteur droit avec flèche 56"/>
          <p:cNvCxnSpPr/>
          <p:nvPr/>
        </p:nvCxnSpPr>
        <p:spPr>
          <a:xfrm>
            <a:off x="7174593" y="3312878"/>
            <a:ext cx="195008"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59" name="Connecteur droit avec flèche 58"/>
          <p:cNvCxnSpPr/>
          <p:nvPr/>
        </p:nvCxnSpPr>
        <p:spPr>
          <a:xfrm>
            <a:off x="7163536" y="3092610"/>
            <a:ext cx="195008"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sp>
        <p:nvSpPr>
          <p:cNvPr id="15" name="ZoneTexte 14"/>
          <p:cNvSpPr txBox="1"/>
          <p:nvPr/>
        </p:nvSpPr>
        <p:spPr>
          <a:xfrm>
            <a:off x="6163601" y="3038453"/>
            <a:ext cx="1002273"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dirty="0"/>
              <a:t>Robot</a:t>
            </a:r>
          </a:p>
        </p:txBody>
      </p:sp>
      <p:cxnSp>
        <p:nvCxnSpPr>
          <p:cNvPr id="60" name="Connecteur droit 59"/>
          <p:cNvCxnSpPr/>
          <p:nvPr/>
        </p:nvCxnSpPr>
        <p:spPr>
          <a:xfrm flipV="1">
            <a:off x="7369601" y="3312878"/>
            <a:ext cx="0" cy="106886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3" name="Ellipse 32"/>
          <p:cNvSpPr/>
          <p:nvPr/>
        </p:nvSpPr>
        <p:spPr>
          <a:xfrm>
            <a:off x="3285869" y="3086277"/>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cxnSp>
        <p:nvCxnSpPr>
          <p:cNvPr id="35" name="Connecteur droit avec flèche 34"/>
          <p:cNvCxnSpPr/>
          <p:nvPr/>
        </p:nvCxnSpPr>
        <p:spPr>
          <a:xfrm flipV="1">
            <a:off x="787473" y="3235578"/>
            <a:ext cx="65810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708189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6" name="Image 15"/>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346347" y="1194614"/>
            <a:ext cx="3156493" cy="2584018"/>
          </a:xfrm>
          <a:prstGeom prst="rect">
            <a:avLst/>
          </a:prstGeom>
        </p:spPr>
      </p:pic>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r>
                  <a:rPr lang="fr-FR" b="1" u="sng" dirty="0"/>
                  <a:t>Exemple :</a:t>
                </a:r>
                <a:r>
                  <a:rPr lang="fr-FR" b="1" dirty="0"/>
                  <a:t> </a:t>
                </a:r>
                <a:r>
                  <a:rPr lang="fr-FR" dirty="0"/>
                  <a:t>robot plan à 2 </a:t>
                </a:r>
                <a:r>
                  <a:rPr lang="fr-FR" dirty="0" err="1"/>
                  <a:t>ddl</a:t>
                </a:r>
                <a:endParaRPr lang="fr-FR" dirty="0"/>
              </a:p>
              <a:p>
                <a:pPr marL="0" indent="0">
                  <a:buNone/>
                </a:pPr>
                <a:endParaRPr lang="fr-FR" b="1" dirty="0"/>
              </a:p>
              <a:p>
                <a:pPr marL="0" indent="0">
                  <a:buNone/>
                </a:pPr>
                <a:r>
                  <a:rPr lang="fr-FR" b="1" dirty="0"/>
                  <a:t>Objectif : </a:t>
                </a:r>
                <a:r>
                  <a:rPr lang="fr-FR" dirty="0"/>
                  <a:t>asservir l’effort de contact suivant </a:t>
                </a:r>
                <a14:m>
                  <m:oMath xmlns:m="http://schemas.openxmlformats.org/officeDocument/2006/math">
                    <m:r>
                      <a:rPr lang="fr-FR" b="0" i="1" smtClean="0">
                        <a:latin typeface="Cambria Math"/>
                      </a:rPr>
                      <m:t>𝑥</m:t>
                    </m:r>
                  </m:oMath>
                </a14:m>
                <a:endParaRPr lang="fr-FR" dirty="0"/>
              </a:p>
              <a:p>
                <a:pPr marL="0" indent="0">
                  <a:buNone/>
                </a:pPr>
                <a:endParaRPr lang="fr-FR" b="1" dirty="0"/>
              </a:p>
              <a:p>
                <a:pPr marL="0" indent="0">
                  <a:buNone/>
                </a:pPr>
                <a:r>
                  <a:rPr lang="fr-FR" b="1" dirty="0"/>
                  <a:t>Robot :</a:t>
                </a:r>
              </a:p>
              <a:p>
                <a:pPr marL="0" indent="0">
                  <a:buNone/>
                </a:pPr>
                <a:r>
                  <a:rPr lang="fr-FR" dirty="0"/>
                  <a:t>Position initiale : </a:t>
                </a:r>
                <a14:m>
                  <m:oMath xmlns:m="http://schemas.openxmlformats.org/officeDocument/2006/math">
                    <m:r>
                      <a:rPr lang="fr-FR" b="1" i="0" smtClean="0">
                        <a:latin typeface="Cambria Math"/>
                        <a:ea typeface="Cambria Math"/>
                      </a:rPr>
                      <m:t>𝐱</m:t>
                    </m:r>
                    <m:r>
                      <a:rPr lang="fr-FR" b="1" i="0" smtClean="0">
                        <a:latin typeface="Cambria Math"/>
                        <a:ea typeface="Cambria Math"/>
                      </a:rPr>
                      <m:t>=</m:t>
                    </m:r>
                    <m:sSup>
                      <m:sSupPr>
                        <m:ctrlPr>
                          <a:rPr lang="fr-FR" i="1">
                            <a:latin typeface="Cambria Math" panose="02040503050406030204" pitchFamily="18" charset="0"/>
                            <a:ea typeface="Cambria Math"/>
                          </a:rPr>
                        </m:ctrlPr>
                      </m:sSupPr>
                      <m:e>
                        <m:d>
                          <m:dPr>
                            <m:begChr m:val="["/>
                            <m:endChr m:val="]"/>
                            <m:ctrlPr>
                              <a:rPr lang="fr-FR" i="1">
                                <a:latin typeface="Cambria Math" panose="02040503050406030204" pitchFamily="18" charset="0"/>
                                <a:ea typeface="Cambria Math"/>
                              </a:rPr>
                            </m:ctrlPr>
                          </m:dPr>
                          <m:e>
                            <m:m>
                              <m:mPr>
                                <m:mcs>
                                  <m:mc>
                                    <m:mcPr>
                                      <m:count m:val="2"/>
                                      <m:mcJc m:val="center"/>
                                    </m:mcPr>
                                  </m:mc>
                                </m:mcs>
                                <m:ctrlPr>
                                  <a:rPr lang="fr-FR" i="1">
                                    <a:latin typeface="Cambria Math" panose="02040503050406030204" pitchFamily="18" charset="0"/>
                                    <a:ea typeface="Cambria Math"/>
                                  </a:rPr>
                                </m:ctrlPr>
                              </m:mPr>
                              <m:mr>
                                <m:e>
                                  <m:r>
                                    <m:rPr>
                                      <m:brk m:alnAt="7"/>
                                    </m:rPr>
                                    <a:rPr lang="fr-FR" i="1">
                                      <a:latin typeface="Cambria Math"/>
                                      <a:ea typeface="Cambria Math"/>
                                    </a:rPr>
                                    <m:t>1</m:t>
                                  </m:r>
                                </m:e>
                                <m:e>
                                  <m:r>
                                    <a:rPr lang="fr-FR" i="1">
                                      <a:latin typeface="Cambria Math"/>
                                      <a:ea typeface="Cambria Math"/>
                                    </a:rPr>
                                    <m:t>0</m:t>
                                  </m:r>
                                </m:e>
                              </m:mr>
                            </m:m>
                          </m:e>
                        </m:d>
                      </m:e>
                      <m:sup>
                        <m:r>
                          <a:rPr lang="fr-FR" i="1">
                            <a:latin typeface="Cambria Math"/>
                            <a:ea typeface="Cambria Math"/>
                          </a:rPr>
                          <m:t>𝑇</m:t>
                        </m:r>
                      </m:sup>
                    </m:sSup>
                  </m:oMath>
                </a14:m>
                <a:r>
                  <a:rPr lang="fr-FR" dirty="0">
                    <a:latin typeface="Cambria Math"/>
                    <a:ea typeface="Cambria Math"/>
                  </a:rPr>
                  <a:t> m </a:t>
                </a:r>
                <a:endParaRPr lang="fr-FR" b="1" i="0" dirty="0">
                  <a:latin typeface="Cambria Math"/>
                  <a:ea typeface="Cambria Math"/>
                </a:endParaRPr>
              </a:p>
              <a:p>
                <a:pPr marL="0" indent="0">
                  <a:buNone/>
                </a:pPr>
                <a:r>
                  <a:rPr lang="fr-FR" dirty="0"/>
                  <a:t>Force désirée : </a:t>
                </a:r>
                <a14:m>
                  <m:oMath xmlns:m="http://schemas.openxmlformats.org/officeDocument/2006/math">
                    <m:sSup>
                      <m:sSupPr>
                        <m:ctrlPr>
                          <a:rPr lang="fr-FR" i="1" smtClean="0">
                            <a:latin typeface="Cambria Math" panose="02040503050406030204" pitchFamily="18" charset="0"/>
                            <a:ea typeface="Cambria Math"/>
                          </a:rPr>
                        </m:ctrlPr>
                      </m:sSupPr>
                      <m:e>
                        <m:r>
                          <a:rPr lang="fr-FR" i="1" smtClean="0">
                            <a:latin typeface="Cambria Math"/>
                            <a:ea typeface="Cambria Math"/>
                          </a:rPr>
                          <m:t>𝕗</m:t>
                        </m:r>
                      </m:e>
                      <m:sup>
                        <m:r>
                          <a:rPr lang="fr-FR" b="0" i="1" smtClean="0">
                            <a:latin typeface="Cambria Math"/>
                            <a:ea typeface="Cambria Math"/>
                          </a:rPr>
                          <m:t>𝑑</m:t>
                        </m:r>
                      </m:sup>
                    </m:sSup>
                    <m:r>
                      <a:rPr lang="fr-FR" b="0" i="1" smtClean="0">
                        <a:latin typeface="Cambria Math"/>
                        <a:ea typeface="Cambria Math"/>
                      </a:rPr>
                      <m:t>=</m:t>
                    </m:r>
                    <m:sSup>
                      <m:sSupPr>
                        <m:ctrlPr>
                          <a:rPr lang="fr-FR" b="0" i="1" smtClean="0">
                            <a:latin typeface="Cambria Math" panose="02040503050406030204" pitchFamily="18" charset="0"/>
                            <a:ea typeface="Cambria Math"/>
                          </a:rPr>
                        </m:ctrlPr>
                      </m:sSupPr>
                      <m:e>
                        <m:d>
                          <m:dPr>
                            <m:begChr m:val="["/>
                            <m:endChr m:val="]"/>
                            <m:ctrlPr>
                              <a:rPr lang="fr-FR" b="0" i="1" smtClean="0">
                                <a:latin typeface="Cambria Math" panose="02040503050406030204" pitchFamily="18" charset="0"/>
                                <a:ea typeface="Cambria Math"/>
                              </a:rPr>
                            </m:ctrlPr>
                          </m:dPr>
                          <m:e>
                            <m:m>
                              <m:mPr>
                                <m:mcs>
                                  <m:mc>
                                    <m:mcPr>
                                      <m:count m:val="2"/>
                                      <m:mcJc m:val="center"/>
                                    </m:mcPr>
                                  </m:mc>
                                </m:mcs>
                                <m:ctrlPr>
                                  <a:rPr lang="fr-FR" b="0" i="1" smtClean="0">
                                    <a:latin typeface="Cambria Math" panose="02040503050406030204" pitchFamily="18" charset="0"/>
                                    <a:ea typeface="Cambria Math"/>
                                  </a:rPr>
                                </m:ctrlPr>
                              </m:mPr>
                              <m:mr>
                                <m:e>
                                  <m:r>
                                    <m:rPr>
                                      <m:brk m:alnAt="7"/>
                                    </m:rPr>
                                    <a:rPr lang="fr-FR" b="0" i="1" smtClean="0">
                                      <a:latin typeface="Cambria Math"/>
                                      <a:ea typeface="Cambria Math"/>
                                    </a:rPr>
                                    <m:t>1</m:t>
                                  </m:r>
                                  <m:r>
                                    <a:rPr lang="fr-FR" b="0" i="1" smtClean="0">
                                      <a:latin typeface="Cambria Math"/>
                                      <a:ea typeface="Cambria Math"/>
                                    </a:rPr>
                                    <m:t>0</m:t>
                                  </m:r>
                                </m:e>
                                <m:e>
                                  <m:r>
                                    <a:rPr lang="fr-FR" b="0" i="1" smtClean="0">
                                      <a:latin typeface="Cambria Math"/>
                                      <a:ea typeface="Cambria Math"/>
                                    </a:rPr>
                                    <m:t>0</m:t>
                                  </m:r>
                                </m:e>
                              </m:mr>
                            </m:m>
                          </m:e>
                        </m:d>
                      </m:e>
                      <m:sup>
                        <m:r>
                          <a:rPr lang="fr-FR" b="0" i="1" smtClean="0">
                            <a:latin typeface="Cambria Math"/>
                            <a:ea typeface="Cambria Math"/>
                          </a:rPr>
                          <m:t>𝑇</m:t>
                        </m:r>
                      </m:sup>
                    </m:sSup>
                    <m:r>
                      <a:rPr lang="fr-FR" b="0" i="1" smtClean="0">
                        <a:latin typeface="Cambria Math"/>
                        <a:ea typeface="Cambria Math"/>
                      </a:rPr>
                      <m:t> </m:t>
                    </m:r>
                    <m:r>
                      <m:rPr>
                        <m:sty m:val="p"/>
                      </m:rPr>
                      <a:rPr lang="fr-FR" b="0" i="0" smtClean="0">
                        <a:latin typeface="Cambria Math"/>
                        <a:ea typeface="Cambria Math"/>
                      </a:rPr>
                      <m:t>N</m:t>
                    </m:r>
                  </m:oMath>
                </a14:m>
                <a:r>
                  <a:rPr lang="fr-FR" dirty="0">
                    <a:latin typeface="Cambria Math"/>
                    <a:ea typeface="Cambria Math"/>
                  </a:rPr>
                  <a:t> </a:t>
                </a:r>
              </a:p>
              <a:p>
                <a:pPr marL="0" indent="0">
                  <a:buNone/>
                </a:pPr>
                <a:r>
                  <a:rPr lang="fr-FR" b="1" i="0" dirty="0">
                    <a:latin typeface="Cambria Math"/>
                    <a:ea typeface="Cambria Math"/>
                  </a:rPr>
                  <a:t> </a:t>
                </a:r>
                <a:endParaRPr lang="fr-FR" b="1" dirty="0"/>
              </a:p>
              <a:p>
                <a:pPr marL="0" indent="0">
                  <a:buNone/>
                </a:pPr>
                <a:r>
                  <a:rPr lang="fr-FR" b="1" dirty="0"/>
                  <a:t>Environnement élastique :</a:t>
                </a:r>
                <a:r>
                  <a:rPr lang="fr-FR" dirty="0"/>
                  <a:t>	</a:t>
                </a:r>
              </a:p>
              <a:p>
                <a:pPr marL="0" indent="0">
                  <a:buNone/>
                </a:pPr>
                <a:r>
                  <a:rPr lang="fr-FR" dirty="0"/>
                  <a:t>Position :</a:t>
                </a:r>
                <a:r>
                  <a:rPr lang="fr-FR" dirty="0">
                    <a:latin typeface="Cambria Math"/>
                    <a:ea typeface="Cambria Math"/>
                  </a:rPr>
                  <a:t> </a:t>
                </a:r>
                <a14:m>
                  <m:oMath xmlns:m="http://schemas.openxmlformats.org/officeDocument/2006/math">
                    <m:sSub>
                      <m:sSubPr>
                        <m:ctrlPr>
                          <a:rPr lang="fr-FR" i="1" smtClean="0">
                            <a:latin typeface="Cambria Math" panose="02040503050406030204" pitchFamily="18" charset="0"/>
                            <a:ea typeface="Cambria Math"/>
                          </a:rPr>
                        </m:ctrlPr>
                      </m:sSubPr>
                      <m:e>
                        <m:r>
                          <a:rPr lang="fr-FR" b="0" i="1" smtClean="0">
                            <a:latin typeface="Cambria Math"/>
                            <a:ea typeface="Cambria Math"/>
                          </a:rPr>
                          <m:t>𝑥</m:t>
                        </m:r>
                      </m:e>
                      <m:sub>
                        <m:r>
                          <a:rPr lang="fr-FR" b="0" i="1" smtClean="0">
                            <a:latin typeface="Cambria Math"/>
                            <a:ea typeface="Cambria Math"/>
                          </a:rPr>
                          <m:t>𝑒</m:t>
                        </m:r>
                      </m:sub>
                    </m:sSub>
                    <m:r>
                      <a:rPr lang="fr-FR" b="0" i="1" smtClean="0">
                        <a:latin typeface="Cambria Math"/>
                        <a:ea typeface="Cambria Math"/>
                      </a:rPr>
                      <m:t>=</m:t>
                    </m:r>
                    <m:r>
                      <a:rPr lang="fr-FR" b="0" i="0" smtClean="0">
                        <a:latin typeface="Cambria Math"/>
                        <a:ea typeface="Cambria Math"/>
                      </a:rPr>
                      <m:t>1 </m:t>
                    </m:r>
                    <m:r>
                      <m:rPr>
                        <m:sty m:val="p"/>
                      </m:rPr>
                      <a:rPr lang="fr-FR" b="0" i="0" smtClean="0">
                        <a:latin typeface="Cambria Math"/>
                        <a:ea typeface="Cambria Math"/>
                      </a:rPr>
                      <m:t>m</m:t>
                    </m:r>
                  </m:oMath>
                </a14:m>
                <a:endParaRPr lang="fr-FR" b="0" dirty="0">
                  <a:latin typeface="Cambria Math"/>
                  <a:ea typeface="Cambria Math"/>
                </a:endParaRPr>
              </a:p>
              <a:p>
                <a:pPr marL="0" indent="0">
                  <a:buNone/>
                </a:pPr>
                <a:r>
                  <a:rPr lang="fr-FR" dirty="0"/>
                  <a:t>Raideur :</a:t>
                </a:r>
                <a:r>
                  <a:rPr lang="fr-FR" dirty="0">
                    <a:ea typeface="Cambria Math"/>
                  </a:rPr>
                  <a:t> </a:t>
                </a:r>
                <a14:m>
                  <m:oMath xmlns:m="http://schemas.openxmlformats.org/officeDocument/2006/math">
                    <m:sSub>
                      <m:sSubPr>
                        <m:ctrlPr>
                          <a:rPr lang="fr-FR" i="1">
                            <a:latin typeface="Cambria Math" panose="02040503050406030204" pitchFamily="18" charset="0"/>
                            <a:ea typeface="Cambria Math"/>
                          </a:rPr>
                        </m:ctrlPr>
                      </m:sSubPr>
                      <m:e>
                        <m:r>
                          <a:rPr lang="fr-FR" b="1" i="1">
                            <a:latin typeface="Cambria Math"/>
                          </a:rPr>
                          <m:t>𝐤</m:t>
                        </m:r>
                      </m:e>
                      <m:sub>
                        <m:r>
                          <a:rPr lang="fr-FR" i="1">
                            <a:latin typeface="Cambria Math"/>
                            <a:ea typeface="Cambria Math"/>
                          </a:rPr>
                          <m:t>𝑒</m:t>
                        </m:r>
                      </m:sub>
                    </m:sSub>
                    <m:r>
                      <a:rPr lang="fr-FR" i="1">
                        <a:latin typeface="Cambria Math"/>
                        <a:ea typeface="Cambria Math"/>
                      </a:rPr>
                      <m:t>=</m:t>
                    </m:r>
                    <m:r>
                      <a:rPr lang="fr-FR" i="1">
                        <a:latin typeface="Cambria Math"/>
                        <a:ea typeface="Cambria Math"/>
                      </a:rPr>
                      <m:t>𝑑𝑖𝑎𝑔</m:t>
                    </m:r>
                    <m:r>
                      <a:rPr lang="fr-FR" i="1">
                        <a:latin typeface="Cambria Math"/>
                        <a:ea typeface="Cambria Math"/>
                      </a:rPr>
                      <m:t>(</m:t>
                    </m:r>
                    <m:sSub>
                      <m:sSubPr>
                        <m:ctrlPr>
                          <a:rPr lang="fr-FR" i="1">
                            <a:latin typeface="Cambria Math" panose="02040503050406030204" pitchFamily="18" charset="0"/>
                            <a:ea typeface="Cambria Math"/>
                          </a:rPr>
                        </m:ctrlPr>
                      </m:sSubPr>
                      <m:e>
                        <m:r>
                          <a:rPr lang="fr-FR" i="1">
                            <a:latin typeface="Cambria Math"/>
                            <a:ea typeface="Cambria Math"/>
                          </a:rPr>
                          <m:t>𝑘</m:t>
                        </m:r>
                      </m:e>
                      <m:sub>
                        <m:r>
                          <a:rPr lang="fr-FR" i="1">
                            <a:latin typeface="Cambria Math"/>
                            <a:ea typeface="Cambria Math"/>
                          </a:rPr>
                          <m:t>𝑒𝑥</m:t>
                        </m:r>
                      </m:sub>
                    </m:sSub>
                    <m:r>
                      <a:rPr lang="fr-FR" i="1">
                        <a:latin typeface="Cambria Math"/>
                        <a:ea typeface="Cambria Math"/>
                      </a:rPr>
                      <m:t>,</m:t>
                    </m:r>
                    <m:sSub>
                      <m:sSubPr>
                        <m:ctrlPr>
                          <a:rPr lang="fr-FR" i="1">
                            <a:latin typeface="Cambria Math" panose="02040503050406030204" pitchFamily="18" charset="0"/>
                            <a:ea typeface="Cambria Math"/>
                          </a:rPr>
                        </m:ctrlPr>
                      </m:sSubPr>
                      <m:e>
                        <m:r>
                          <a:rPr lang="fr-FR" i="1">
                            <a:latin typeface="Cambria Math"/>
                            <a:ea typeface="Cambria Math"/>
                          </a:rPr>
                          <m:t>𝑘</m:t>
                        </m:r>
                      </m:e>
                      <m:sub>
                        <m:r>
                          <a:rPr lang="fr-FR" i="1">
                            <a:latin typeface="Cambria Math"/>
                            <a:ea typeface="Cambria Math"/>
                          </a:rPr>
                          <m:t>𝑒𝑦</m:t>
                        </m:r>
                      </m:sub>
                    </m:sSub>
                    <m:r>
                      <a:rPr lang="fr-FR" i="1">
                        <a:latin typeface="Cambria Math"/>
                        <a:ea typeface="Cambria Math"/>
                      </a:rPr>
                      <m:t>)</m:t>
                    </m:r>
                  </m:oMath>
                </a14:m>
                <a:r>
                  <a:rPr lang="fr-FR" dirty="0">
                    <a:latin typeface="Cambria Math"/>
                    <a:ea typeface="Cambria Math"/>
                  </a:rPr>
                  <a:t> ; </a:t>
                </a:r>
                <a14:m>
                  <m:oMath xmlns:m="http://schemas.openxmlformats.org/officeDocument/2006/math">
                    <m:sSub>
                      <m:sSubPr>
                        <m:ctrlPr>
                          <a:rPr lang="fr-FR" i="1">
                            <a:latin typeface="Cambria Math" panose="02040503050406030204" pitchFamily="18" charset="0"/>
                            <a:ea typeface="Cambria Math"/>
                          </a:rPr>
                        </m:ctrlPr>
                      </m:sSubPr>
                      <m:e>
                        <m:r>
                          <a:rPr lang="fr-FR" i="1">
                            <a:latin typeface="Cambria Math"/>
                            <a:ea typeface="Cambria Math"/>
                          </a:rPr>
                          <m:t>𝑘</m:t>
                        </m:r>
                      </m:e>
                      <m:sub>
                        <m:r>
                          <a:rPr lang="fr-FR" i="1">
                            <a:latin typeface="Cambria Math"/>
                            <a:ea typeface="Cambria Math"/>
                          </a:rPr>
                          <m:t>𝑒𝑥</m:t>
                        </m:r>
                      </m:sub>
                    </m:sSub>
                    <m:r>
                      <a:rPr lang="fr-FR" i="1">
                        <a:latin typeface="Cambria Math"/>
                        <a:ea typeface="Cambria Math"/>
                      </a:rPr>
                      <m:t>=</m:t>
                    </m:r>
                    <m:sSup>
                      <m:sSupPr>
                        <m:ctrlPr>
                          <a:rPr lang="fr-FR" i="1">
                            <a:latin typeface="Cambria Math" panose="02040503050406030204" pitchFamily="18" charset="0"/>
                            <a:ea typeface="Cambria Math"/>
                          </a:rPr>
                        </m:ctrlPr>
                      </m:sSupPr>
                      <m:e>
                        <m:r>
                          <a:rPr lang="fr-FR" i="1">
                            <a:latin typeface="Cambria Math"/>
                            <a:ea typeface="Cambria Math"/>
                          </a:rPr>
                          <m:t>10</m:t>
                        </m:r>
                      </m:e>
                      <m:sup>
                        <m:r>
                          <a:rPr lang="fr-FR" i="1">
                            <a:latin typeface="Cambria Math"/>
                            <a:ea typeface="Cambria Math"/>
                          </a:rPr>
                          <m:t>3</m:t>
                        </m:r>
                      </m:sup>
                    </m:sSup>
                    <m:r>
                      <a:rPr lang="fr-FR" i="1">
                        <a:latin typeface="Cambria Math"/>
                        <a:ea typeface="Cambria Math"/>
                      </a:rPr>
                      <m:t> </m:t>
                    </m:r>
                    <m:r>
                      <m:rPr>
                        <m:sty m:val="p"/>
                      </m:rPr>
                      <a:rPr lang="fr-FR">
                        <a:latin typeface="Cambria Math"/>
                        <a:ea typeface="Cambria Math"/>
                      </a:rPr>
                      <m:t>N</m:t>
                    </m:r>
                    <m:r>
                      <a:rPr lang="fr-FR">
                        <a:latin typeface="Cambria Math"/>
                        <a:ea typeface="Cambria Math"/>
                      </a:rPr>
                      <m:t>/</m:t>
                    </m:r>
                    <m:r>
                      <m:rPr>
                        <m:sty m:val="p"/>
                      </m:rPr>
                      <a:rPr lang="fr-FR">
                        <a:latin typeface="Cambria Math"/>
                        <a:ea typeface="Cambria Math"/>
                      </a:rPr>
                      <m:t>m</m:t>
                    </m:r>
                  </m:oMath>
                </a14:m>
                <a:r>
                  <a:rPr lang="fr-FR" dirty="0"/>
                  <a:t> ; </a:t>
                </a:r>
                <a14:m>
                  <m:oMath xmlns:m="http://schemas.openxmlformats.org/officeDocument/2006/math">
                    <m:sSub>
                      <m:sSubPr>
                        <m:ctrlPr>
                          <a:rPr lang="fr-FR" i="1">
                            <a:latin typeface="Cambria Math" panose="02040503050406030204" pitchFamily="18" charset="0"/>
                            <a:ea typeface="Cambria Math"/>
                          </a:rPr>
                        </m:ctrlPr>
                      </m:sSubPr>
                      <m:e>
                        <m:r>
                          <a:rPr lang="fr-FR" i="1">
                            <a:latin typeface="Cambria Math"/>
                            <a:ea typeface="Cambria Math"/>
                          </a:rPr>
                          <m:t>𝑘</m:t>
                        </m:r>
                      </m:e>
                      <m:sub>
                        <m:r>
                          <a:rPr lang="fr-FR" i="1">
                            <a:latin typeface="Cambria Math"/>
                            <a:ea typeface="Cambria Math"/>
                          </a:rPr>
                          <m:t>𝑒𝑦</m:t>
                        </m:r>
                      </m:sub>
                    </m:sSub>
                    <m:r>
                      <a:rPr lang="fr-FR" i="1">
                        <a:latin typeface="Cambria Math"/>
                        <a:ea typeface="Cambria Math"/>
                      </a:rPr>
                      <m:t>=0</m:t>
                    </m:r>
                  </m:oMath>
                </a14:m>
                <a:endParaRPr lang="fr-FR" b="0" dirty="0">
                  <a:latin typeface="Cambria Math"/>
                  <a:ea typeface="Cambria Math"/>
                </a:endParaRPr>
              </a:p>
              <a:p>
                <a:pPr marL="0" indent="0">
                  <a:buNone/>
                </a:pPr>
                <a:endParaRPr lang="fr-FR" dirty="0">
                  <a:latin typeface="Cambria Math"/>
                  <a:ea typeface="Cambria Math"/>
                </a:endParaRPr>
              </a:p>
              <a:p>
                <a:pPr marL="0" indent="0">
                  <a:buNone/>
                </a:pPr>
                <a:endParaRPr lang="fr-FR" dirty="0">
                  <a:latin typeface="Cambria Math"/>
                  <a:ea typeface="Cambria Math"/>
                </a:endParaRPr>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0">
                <a:blip r:embed="rId4"/>
                <a:stretch>
                  <a:fillRect l="-584" t="-552"/>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en effort avec boucle interne en vitesse</a:t>
            </a:r>
          </a:p>
        </p:txBody>
      </p:sp>
      <p:sp>
        <p:nvSpPr>
          <p:cNvPr id="6" name="ZoneTexte 5"/>
          <p:cNvSpPr txBox="1"/>
          <p:nvPr/>
        </p:nvSpPr>
        <p:spPr>
          <a:xfrm>
            <a:off x="7156121" y="1588099"/>
            <a:ext cx="1270388" cy="276999"/>
          </a:xfrm>
          <a:prstGeom prst="rect">
            <a:avLst/>
          </a:prstGeom>
          <a:noFill/>
        </p:spPr>
        <p:txBody>
          <a:bodyPr wrap="square" rtlCol="0">
            <a:spAutoFit/>
          </a:bodyPr>
          <a:lstStyle/>
          <a:p>
            <a:r>
              <a:rPr lang="fr-FR" sz="1200" dirty="0">
                <a:solidFill>
                  <a:srgbClr val="7030A0"/>
                </a:solidFill>
              </a:rPr>
              <a:t>Environnement</a:t>
            </a:r>
          </a:p>
        </p:txBody>
      </p:sp>
      <p:cxnSp>
        <p:nvCxnSpPr>
          <p:cNvPr id="8" name="Connecteur droit avec flèche 7"/>
          <p:cNvCxnSpPr/>
          <p:nvPr/>
        </p:nvCxnSpPr>
        <p:spPr>
          <a:xfrm flipV="1">
            <a:off x="5540980" y="1382070"/>
            <a:ext cx="0" cy="226994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a:off x="5554940" y="3645037"/>
            <a:ext cx="2871569" cy="698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ZoneTexte 9"/>
          <p:cNvSpPr txBox="1"/>
          <p:nvPr/>
        </p:nvSpPr>
        <p:spPr>
          <a:xfrm>
            <a:off x="5737987" y="2407162"/>
            <a:ext cx="624361" cy="276999"/>
          </a:xfrm>
          <a:prstGeom prst="rect">
            <a:avLst/>
          </a:prstGeom>
          <a:noFill/>
        </p:spPr>
        <p:txBody>
          <a:bodyPr wrap="square" rtlCol="0">
            <a:spAutoFit/>
          </a:bodyPr>
          <a:lstStyle/>
          <a:p>
            <a:r>
              <a:rPr lang="fr-FR" sz="1200" dirty="0">
                <a:solidFill>
                  <a:srgbClr val="7030A0"/>
                </a:solidFill>
              </a:rPr>
              <a:t>Robot</a:t>
            </a:r>
          </a:p>
        </p:txBody>
      </p:sp>
      <mc:AlternateContent xmlns:mc="http://schemas.openxmlformats.org/markup-compatibility/2006" xmlns:a14="http://schemas.microsoft.com/office/drawing/2010/main">
        <mc:Choice Requires="a14">
          <p:sp>
            <p:nvSpPr>
              <p:cNvPr id="11" name="ZoneTexte 10"/>
              <p:cNvSpPr txBox="1"/>
              <p:nvPr/>
            </p:nvSpPr>
            <p:spPr>
              <a:xfrm>
                <a:off x="5554940" y="1311100"/>
                <a:ext cx="295531"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200" b="0" i="1" smtClean="0">
                          <a:solidFill>
                            <a:schemeClr val="tx1"/>
                          </a:solidFill>
                          <a:latin typeface="Cambria Math"/>
                        </a:rPr>
                        <m:t>𝑦</m:t>
                      </m:r>
                    </m:oMath>
                  </m:oMathPara>
                </a14:m>
                <a:endParaRPr lang="fr-FR" sz="1200" dirty="0">
                  <a:solidFill>
                    <a:schemeClr val="tx1"/>
                  </a:solidFill>
                </a:endParaRPr>
              </a:p>
            </p:txBody>
          </p:sp>
        </mc:Choice>
        <mc:Fallback xmlns="">
          <p:sp>
            <p:nvSpPr>
              <p:cNvPr id="11" name="ZoneTexte 10"/>
              <p:cNvSpPr txBox="1">
                <a:spLocks noRot="1" noChangeAspect="1" noMove="1" noResize="1" noEditPoints="1" noAdjustHandles="1" noChangeArrowheads="1" noChangeShapeType="1" noTextEdit="1"/>
              </p:cNvSpPr>
              <p:nvPr/>
            </p:nvSpPr>
            <p:spPr>
              <a:xfrm>
                <a:off x="5554940" y="1311100"/>
                <a:ext cx="295531" cy="276999"/>
              </a:xfrm>
              <a:prstGeom prst="rect">
                <a:avLst/>
              </a:prstGeom>
              <a:blipFill rotWithShape="0">
                <a:blip r:embed="rId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2" name="ZoneTexte 11"/>
              <p:cNvSpPr txBox="1"/>
              <p:nvPr/>
            </p:nvSpPr>
            <p:spPr>
              <a:xfrm>
                <a:off x="8207309" y="3371528"/>
                <a:ext cx="295531"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200" b="0" i="1" smtClean="0">
                          <a:solidFill>
                            <a:schemeClr val="tx1"/>
                          </a:solidFill>
                          <a:latin typeface="Cambria Math"/>
                        </a:rPr>
                        <m:t>𝑥</m:t>
                      </m:r>
                    </m:oMath>
                  </m:oMathPara>
                </a14:m>
                <a:endParaRPr lang="fr-FR" sz="1200" dirty="0">
                  <a:solidFill>
                    <a:schemeClr val="tx1"/>
                  </a:solidFill>
                </a:endParaRPr>
              </a:p>
            </p:txBody>
          </p:sp>
        </mc:Choice>
        <mc:Fallback xmlns="">
          <p:sp>
            <p:nvSpPr>
              <p:cNvPr id="12" name="ZoneTexte 11"/>
              <p:cNvSpPr txBox="1">
                <a:spLocks noRot="1" noChangeAspect="1" noMove="1" noResize="1" noEditPoints="1" noAdjustHandles="1" noChangeArrowheads="1" noChangeShapeType="1" noTextEdit="1"/>
              </p:cNvSpPr>
              <p:nvPr/>
            </p:nvSpPr>
            <p:spPr>
              <a:xfrm>
                <a:off x="8207309" y="3371528"/>
                <a:ext cx="295531" cy="276999"/>
              </a:xfrm>
              <a:prstGeom prst="rect">
                <a:avLst/>
              </a:prstGeom>
              <a:blipFill rotWithShape="0">
                <a:blip r:embed="rId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5" name="ZoneTexte 14"/>
              <p:cNvSpPr txBox="1"/>
              <p:nvPr/>
            </p:nvSpPr>
            <p:spPr>
              <a:xfrm>
                <a:off x="6776827" y="3631994"/>
                <a:ext cx="295531"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200" b="0" i="1" smtClean="0">
                          <a:solidFill>
                            <a:schemeClr val="tx1"/>
                          </a:solidFill>
                          <a:latin typeface="Cambria Math"/>
                        </a:rPr>
                        <m:t>1 </m:t>
                      </m:r>
                      <m:r>
                        <a:rPr lang="fr-FR" sz="1200" b="0" i="1" smtClean="0">
                          <a:solidFill>
                            <a:schemeClr val="tx1"/>
                          </a:solidFill>
                          <a:latin typeface="Cambria Math"/>
                        </a:rPr>
                        <m:t>𝑚</m:t>
                      </m:r>
                    </m:oMath>
                  </m:oMathPara>
                </a14:m>
                <a:endParaRPr lang="fr-FR" sz="1200" dirty="0">
                  <a:solidFill>
                    <a:schemeClr val="tx1"/>
                  </a:solidFill>
                </a:endParaRPr>
              </a:p>
            </p:txBody>
          </p:sp>
        </mc:Choice>
        <mc:Fallback xmlns="">
          <p:sp>
            <p:nvSpPr>
              <p:cNvPr id="15" name="ZoneTexte 14"/>
              <p:cNvSpPr txBox="1">
                <a:spLocks noRot="1" noChangeAspect="1" noMove="1" noResize="1" noEditPoints="1" noAdjustHandles="1" noChangeArrowheads="1" noChangeShapeType="1" noTextEdit="1"/>
              </p:cNvSpPr>
              <p:nvPr/>
            </p:nvSpPr>
            <p:spPr>
              <a:xfrm>
                <a:off x="6776827" y="3631994"/>
                <a:ext cx="295531" cy="276999"/>
              </a:xfrm>
              <a:prstGeom prst="rect">
                <a:avLst/>
              </a:prstGeom>
              <a:blipFill rotWithShape="0">
                <a:blip r:embed="rId7"/>
                <a:stretch>
                  <a:fillRect r="-29167"/>
                </a:stretch>
              </a:blipFill>
            </p:spPr>
            <p:txBody>
              <a:bodyPr/>
              <a:lstStyle/>
              <a:p>
                <a:r>
                  <a:rPr lang="fr-FR">
                    <a:noFill/>
                  </a:rPr>
                  <a:t> </a:t>
                </a:r>
              </a:p>
            </p:txBody>
          </p:sp>
        </mc:Fallback>
      </mc:AlternateContent>
      <p:cxnSp>
        <p:nvCxnSpPr>
          <p:cNvPr id="21" name="Connecteur droit avec flèche 20"/>
          <p:cNvCxnSpPr/>
          <p:nvPr/>
        </p:nvCxnSpPr>
        <p:spPr>
          <a:xfrm>
            <a:off x="6946768" y="3645024"/>
            <a:ext cx="577879" cy="0"/>
          </a:xfrm>
          <a:prstGeom prst="straightConnector1">
            <a:avLst/>
          </a:prstGeom>
          <a:ln w="47625">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ZoneTexte 21"/>
              <p:cNvSpPr txBox="1"/>
              <p:nvPr/>
            </p:nvSpPr>
            <p:spPr>
              <a:xfrm>
                <a:off x="7336695" y="3250744"/>
                <a:ext cx="392364" cy="3742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i="1" smtClean="0">
                              <a:solidFill>
                                <a:srgbClr val="FF0000"/>
                              </a:solidFill>
                              <a:latin typeface="Cambria Math" panose="02040503050406030204" pitchFamily="18" charset="0"/>
                            </a:rPr>
                          </m:ctrlPr>
                        </m:sSupPr>
                        <m:e>
                          <m:r>
                            <a:rPr lang="fr-FR" i="1" smtClean="0">
                              <a:solidFill>
                                <a:srgbClr val="FF0000"/>
                              </a:solidFill>
                              <a:latin typeface="Cambria Math"/>
                              <a:ea typeface="Cambria Math"/>
                            </a:rPr>
                            <m:t>𝕗</m:t>
                          </m:r>
                        </m:e>
                        <m:sup>
                          <m:r>
                            <a:rPr lang="fr-FR" b="0" i="1" smtClean="0">
                              <a:solidFill>
                                <a:srgbClr val="FF0000"/>
                              </a:solidFill>
                              <a:latin typeface="Cambria Math"/>
                            </a:rPr>
                            <m:t>𝑑</m:t>
                          </m:r>
                        </m:sup>
                      </m:sSup>
                    </m:oMath>
                  </m:oMathPara>
                </a14:m>
                <a:endParaRPr lang="fr-FR" dirty="0">
                  <a:solidFill>
                    <a:srgbClr val="FF0000"/>
                  </a:solidFill>
                </a:endParaRPr>
              </a:p>
            </p:txBody>
          </p:sp>
        </mc:Choice>
        <mc:Fallback xmlns="">
          <p:sp>
            <p:nvSpPr>
              <p:cNvPr id="22" name="ZoneTexte 21"/>
              <p:cNvSpPr txBox="1">
                <a:spLocks noRot="1" noChangeAspect="1" noMove="1" noResize="1" noEditPoints="1" noAdjustHandles="1" noChangeArrowheads="1" noChangeShapeType="1" noTextEdit="1"/>
              </p:cNvSpPr>
              <p:nvPr/>
            </p:nvSpPr>
            <p:spPr>
              <a:xfrm>
                <a:off x="7336695" y="3250744"/>
                <a:ext cx="392364" cy="374270"/>
              </a:xfrm>
              <a:prstGeom prst="rect">
                <a:avLst/>
              </a:prstGeom>
              <a:blipFill rotWithShape="0">
                <a:blip r:embed="rId8"/>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115658712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u contenu 1"/>
          <p:cNvSpPr>
            <a:spLocks noGrp="1"/>
          </p:cNvSpPr>
          <p:nvPr>
            <p:ph sz="quarter" idx="1"/>
          </p:nvPr>
        </p:nvSpPr>
        <p:spPr/>
        <p:txBody>
          <a:bodyPr/>
          <a:lstStyle/>
          <a:p>
            <a:pPr marL="0" indent="0">
              <a:buNone/>
            </a:pPr>
            <a:r>
              <a:rPr lang="fr-FR" u="sng" dirty="0"/>
              <a:t>Exemple :</a:t>
            </a:r>
            <a:r>
              <a:rPr lang="fr-FR" dirty="0"/>
              <a:t> robot plan à 2 </a:t>
            </a:r>
            <a:r>
              <a:rPr lang="fr-FR" dirty="0" err="1"/>
              <a:t>ddl</a:t>
            </a:r>
            <a:endParaRPr lang="fr-FR" dirty="0"/>
          </a:p>
          <a:p>
            <a:pPr marL="0" indent="0">
              <a:buNone/>
            </a:pPr>
            <a:r>
              <a:rPr lang="fr-FR" dirty="0"/>
              <a:t>Schéma de commande :</a:t>
            </a:r>
          </a:p>
        </p:txBody>
      </p:sp>
      <p:sp>
        <p:nvSpPr>
          <p:cNvPr id="3" name="Titre 2"/>
          <p:cNvSpPr>
            <a:spLocks noGrp="1"/>
          </p:cNvSpPr>
          <p:nvPr>
            <p:ph type="title"/>
          </p:nvPr>
        </p:nvSpPr>
        <p:spPr/>
        <p:txBody>
          <a:bodyPr/>
          <a:lstStyle/>
          <a:p>
            <a:r>
              <a:rPr lang="fr-FR" dirty="0"/>
              <a:t>Commande en effort avec boucle interne en vitesse</a:t>
            </a:r>
          </a:p>
        </p:txBody>
      </p:sp>
      <p:cxnSp>
        <p:nvCxnSpPr>
          <p:cNvPr id="4" name="Connecteur droit avec flèche 3"/>
          <p:cNvCxnSpPr/>
          <p:nvPr/>
        </p:nvCxnSpPr>
        <p:spPr>
          <a:xfrm flipV="1">
            <a:off x="6608699" y="3033177"/>
            <a:ext cx="493316" cy="1616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ZoneTexte 4"/>
              <p:cNvSpPr txBox="1"/>
              <p:nvPr/>
            </p:nvSpPr>
            <p:spPr>
              <a:xfrm>
                <a:off x="8293535" y="2599142"/>
                <a:ext cx="45736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ea typeface="Cambria Math"/>
                            </a:rPr>
                          </m:ctrlPr>
                        </m:sSubPr>
                        <m:e>
                          <m:r>
                            <a:rPr lang="fr-FR" b="0" i="1" smtClean="0">
                              <a:latin typeface="Cambria Math"/>
                              <a:ea typeface="Cambria Math"/>
                            </a:rPr>
                            <m:t>𝕗</m:t>
                          </m:r>
                        </m:e>
                        <m:sub>
                          <m:r>
                            <a:rPr lang="fr-FR" i="1">
                              <a:latin typeface="Cambria Math"/>
                              <a:ea typeface="Cambria Math"/>
                            </a:rPr>
                            <m:t>𝑒</m:t>
                          </m:r>
                        </m:sub>
                      </m:sSub>
                    </m:oMath>
                  </m:oMathPara>
                </a14:m>
                <a:endParaRPr lang="fr-FR" dirty="0"/>
              </a:p>
            </p:txBody>
          </p:sp>
        </mc:Choice>
        <mc:Fallback xmlns="">
          <p:sp>
            <p:nvSpPr>
              <p:cNvPr id="5" name="ZoneTexte 4"/>
              <p:cNvSpPr txBox="1">
                <a:spLocks noRot="1" noChangeAspect="1" noMove="1" noResize="1" noEditPoints="1" noAdjustHandles="1" noChangeArrowheads="1" noChangeShapeType="1" noTextEdit="1"/>
              </p:cNvSpPr>
              <p:nvPr/>
            </p:nvSpPr>
            <p:spPr>
              <a:xfrm>
                <a:off x="8293535" y="2599142"/>
                <a:ext cx="457368" cy="369332"/>
              </a:xfrm>
              <a:prstGeom prst="rect">
                <a:avLst/>
              </a:prstGeom>
              <a:blipFill rotWithShape="1">
                <a:blip r:embed="rId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 name="ZoneTexte 6"/>
              <p:cNvSpPr txBox="1"/>
              <p:nvPr/>
            </p:nvSpPr>
            <p:spPr>
              <a:xfrm>
                <a:off x="6645105" y="2716634"/>
                <a:ext cx="3792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b="1" i="0" smtClean="0">
                          <a:latin typeface="Cambria Math"/>
                          <a:ea typeface="Cambria Math"/>
                        </a:rPr>
                        <m:t>𝐱</m:t>
                      </m:r>
                    </m:oMath>
                  </m:oMathPara>
                </a14:m>
                <a:endParaRPr lang="fr-FR" b="1" dirty="0"/>
              </a:p>
            </p:txBody>
          </p:sp>
        </mc:Choice>
        <mc:Fallback xmlns="">
          <p:sp>
            <p:nvSpPr>
              <p:cNvPr id="7" name="ZoneTexte 6"/>
              <p:cNvSpPr txBox="1">
                <a:spLocks noRot="1" noChangeAspect="1" noMove="1" noResize="1" noEditPoints="1" noAdjustHandles="1" noChangeArrowheads="1" noChangeShapeType="1" noTextEdit="1"/>
              </p:cNvSpPr>
              <p:nvPr/>
            </p:nvSpPr>
            <p:spPr>
              <a:xfrm>
                <a:off x="6645105" y="2716634"/>
                <a:ext cx="379206" cy="369332"/>
              </a:xfrm>
              <a:prstGeom prst="rect">
                <a:avLst/>
              </a:prstGeom>
              <a:blipFill rotWithShape="1">
                <a:blip r:embed="rId5"/>
                <a:stretch>
                  <a:fillRect/>
                </a:stretch>
              </a:blipFill>
            </p:spPr>
            <p:txBody>
              <a:bodyPr/>
              <a:lstStyle/>
              <a:p>
                <a:r>
                  <a:rPr lang="fr-FR">
                    <a:noFill/>
                  </a:rPr>
                  <a:t> </a:t>
                </a:r>
              </a:p>
            </p:txBody>
          </p:sp>
        </mc:Fallback>
      </mc:AlternateContent>
      <p:cxnSp>
        <p:nvCxnSpPr>
          <p:cNvPr id="8" name="Connecteur droit avec flèche 7"/>
          <p:cNvCxnSpPr>
            <a:stCxn id="39" idx="3"/>
          </p:cNvCxnSpPr>
          <p:nvPr/>
        </p:nvCxnSpPr>
        <p:spPr>
          <a:xfrm flipV="1">
            <a:off x="1931374" y="3064832"/>
            <a:ext cx="608870" cy="19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a:endCxn id="13" idx="4"/>
          </p:cNvCxnSpPr>
          <p:nvPr/>
        </p:nvCxnSpPr>
        <p:spPr>
          <a:xfrm flipV="1">
            <a:off x="771653" y="3228841"/>
            <a:ext cx="0" cy="137153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10" name="Objet 9"/>
          <p:cNvGraphicFramePr>
            <a:graphicFrameLocks noChangeAspect="1"/>
          </p:cNvGraphicFramePr>
          <p:nvPr>
            <p:extLst>
              <p:ext uri="{D42A27DB-BD31-4B8C-83A1-F6EECF244321}">
                <p14:modId xmlns:p14="http://schemas.microsoft.com/office/powerpoint/2010/main" val="1917030839"/>
              </p:ext>
            </p:extLst>
          </p:nvPr>
        </p:nvGraphicFramePr>
        <p:xfrm>
          <a:off x="542569" y="3355010"/>
          <a:ext cx="172417" cy="157163"/>
        </p:xfrm>
        <a:graphic>
          <a:graphicData uri="http://schemas.openxmlformats.org/presentationml/2006/ole">
            <mc:AlternateContent xmlns:mc="http://schemas.openxmlformats.org/markup-compatibility/2006">
              <mc:Choice xmlns:v="urn:schemas-microsoft-com:vml" Requires="v">
                <p:oleObj name="Equation" r:id="rId6" imgW="139639" imgH="101556" progId="Equation.DSMT4">
                  <p:embed/>
                </p:oleObj>
              </mc:Choice>
              <mc:Fallback>
                <p:oleObj name="Equation" r:id="rId6" imgW="139639" imgH="101556"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2569" y="3355010"/>
                        <a:ext cx="172417" cy="157163"/>
                      </a:xfrm>
                      <a:prstGeom prst="rect">
                        <a:avLst/>
                      </a:prstGeom>
                      <a:no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11" name="ZoneTexte 10"/>
              <p:cNvSpPr txBox="1"/>
              <p:nvPr/>
            </p:nvSpPr>
            <p:spPr>
              <a:xfrm>
                <a:off x="1982246" y="2711696"/>
                <a:ext cx="46281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1" i="1">
                              <a:latin typeface="Cambria Math" panose="02040503050406030204" pitchFamily="18" charset="0"/>
                              <a:ea typeface="Cambria Math"/>
                            </a:rPr>
                          </m:ctrlPr>
                        </m:sSubPr>
                        <m:e>
                          <m:r>
                            <a:rPr lang="fr-FR" b="1">
                              <a:latin typeface="Cambria Math"/>
                              <a:ea typeface="Cambria Math"/>
                            </a:rPr>
                            <m:t>𝐱</m:t>
                          </m:r>
                        </m:e>
                        <m:sub>
                          <m:r>
                            <a:rPr lang="fr-FR" b="1" i="1">
                              <a:latin typeface="Cambria Math"/>
                              <a:ea typeface="Cambria Math"/>
                            </a:rPr>
                            <m:t>𝕗</m:t>
                          </m:r>
                        </m:sub>
                      </m:sSub>
                    </m:oMath>
                  </m:oMathPara>
                </a14:m>
                <a:endParaRPr lang="fr-FR" dirty="0"/>
              </a:p>
            </p:txBody>
          </p:sp>
        </mc:Choice>
        <mc:Fallback xmlns="">
          <p:sp>
            <p:nvSpPr>
              <p:cNvPr id="11" name="ZoneTexte 10"/>
              <p:cNvSpPr txBox="1">
                <a:spLocks noRot="1" noChangeAspect="1" noMove="1" noResize="1" noEditPoints="1" noAdjustHandles="1" noChangeArrowheads="1" noChangeShapeType="1" noTextEdit="1"/>
              </p:cNvSpPr>
              <p:nvPr/>
            </p:nvSpPr>
            <p:spPr>
              <a:xfrm>
                <a:off x="1982246" y="2711696"/>
                <a:ext cx="462819" cy="369332"/>
              </a:xfrm>
              <a:prstGeom prst="rect">
                <a:avLst/>
              </a:prstGeom>
              <a:blipFill rotWithShape="1">
                <a:blip r:embed="rId8"/>
                <a:stretch>
                  <a:fillRect b="-3333"/>
                </a:stretch>
              </a:blipFill>
            </p:spPr>
            <p:txBody>
              <a:bodyPr/>
              <a:lstStyle/>
              <a:p>
                <a:r>
                  <a:rPr lang="fr-FR">
                    <a:noFill/>
                  </a:rPr>
                  <a:t> </a:t>
                </a:r>
              </a:p>
            </p:txBody>
          </p:sp>
        </mc:Fallback>
      </mc:AlternateContent>
      <p:sp>
        <p:nvSpPr>
          <p:cNvPr id="13" name="Ellipse 12"/>
          <p:cNvSpPr/>
          <p:nvPr/>
        </p:nvSpPr>
        <p:spPr>
          <a:xfrm>
            <a:off x="628778" y="2943091"/>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cxnSp>
        <p:nvCxnSpPr>
          <p:cNvPr id="14" name="Connecteur droit avec flèche 13"/>
          <p:cNvCxnSpPr/>
          <p:nvPr/>
        </p:nvCxnSpPr>
        <p:spPr>
          <a:xfrm flipV="1">
            <a:off x="3909940" y="3061156"/>
            <a:ext cx="364845" cy="735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5" name="Connecteur droit avec flèche 14"/>
          <p:cNvCxnSpPr/>
          <p:nvPr/>
        </p:nvCxnSpPr>
        <p:spPr>
          <a:xfrm flipV="1">
            <a:off x="4812257" y="3058046"/>
            <a:ext cx="396393" cy="311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ZoneTexte 15"/>
              <p:cNvSpPr txBox="1"/>
              <p:nvPr/>
            </p:nvSpPr>
            <p:spPr>
              <a:xfrm>
                <a:off x="4267805" y="2873380"/>
                <a:ext cx="544452"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
                    </m:oMathParaPr>
                    <m:oMath xmlns:m="http://schemas.openxmlformats.org/officeDocument/2006/math">
                      <m:sSup>
                        <m:sSupPr>
                          <m:ctrlPr>
                            <a:rPr lang="fr-FR" i="1">
                              <a:latin typeface="Cambria Math" panose="02040503050406030204" pitchFamily="18" charset="0"/>
                            </a:rPr>
                          </m:ctrlPr>
                        </m:sSupPr>
                        <m:e>
                          <m:r>
                            <a:rPr lang="el-GR" b="1">
                              <a:latin typeface="Cambria Math"/>
                              <a:ea typeface="Cambria Math"/>
                            </a:rPr>
                            <m:t>𝚲</m:t>
                          </m:r>
                        </m:e>
                        <m:sup>
                          <m:r>
                            <a:rPr lang="fr-FR" i="1">
                              <a:latin typeface="Cambria Math"/>
                            </a:rPr>
                            <m:t>−1</m:t>
                          </m:r>
                        </m:sup>
                      </m:sSup>
                    </m:oMath>
                  </m:oMathPara>
                </a14:m>
                <a:endParaRPr lang="fr-FR" dirty="0"/>
              </a:p>
            </p:txBody>
          </p:sp>
        </mc:Choice>
        <mc:Fallback xmlns="">
          <p:sp>
            <p:nvSpPr>
              <p:cNvPr id="16" name="ZoneTexte 15"/>
              <p:cNvSpPr txBox="1">
                <a:spLocks noRot="1" noChangeAspect="1" noMove="1" noResize="1" noEditPoints="1" noAdjustHandles="1" noChangeArrowheads="1" noChangeShapeType="1" noTextEdit="1"/>
              </p:cNvSpPr>
              <p:nvPr/>
            </p:nvSpPr>
            <p:spPr>
              <a:xfrm>
                <a:off x="4267805" y="2873380"/>
                <a:ext cx="544452" cy="369332"/>
              </a:xfrm>
              <a:prstGeom prst="rect">
                <a:avLst/>
              </a:prstGeom>
              <a:blipFill rotWithShape="1">
                <a:blip r:embed="rId9"/>
                <a:stretch>
                  <a:fillRect/>
                </a:stretch>
              </a:blipFill>
              <a:ln w="25400"/>
            </p:spPr>
            <p:txBody>
              <a:bodyPr/>
              <a:lstStyle/>
              <a:p>
                <a:r>
                  <a:rPr lang="fr-FR">
                    <a:noFill/>
                  </a:rPr>
                  <a:t> </a:t>
                </a:r>
              </a:p>
            </p:txBody>
          </p:sp>
        </mc:Fallback>
      </mc:AlternateContent>
      <p:cxnSp>
        <p:nvCxnSpPr>
          <p:cNvPr id="17" name="Connecteur droit avec flèche 16"/>
          <p:cNvCxnSpPr>
            <a:stCxn id="23" idx="3"/>
            <a:endCxn id="24" idx="1"/>
          </p:cNvCxnSpPr>
          <p:nvPr/>
        </p:nvCxnSpPr>
        <p:spPr>
          <a:xfrm flipV="1">
            <a:off x="5653921" y="3059008"/>
            <a:ext cx="567434" cy="826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8" name="Connecteur droit 17"/>
          <p:cNvCxnSpPr/>
          <p:nvPr/>
        </p:nvCxnSpPr>
        <p:spPr>
          <a:xfrm>
            <a:off x="5879758" y="3067274"/>
            <a:ext cx="0" cy="106384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Connecteur droit avec flèche 18"/>
          <p:cNvCxnSpPr>
            <a:endCxn id="22" idx="3"/>
          </p:cNvCxnSpPr>
          <p:nvPr/>
        </p:nvCxnSpPr>
        <p:spPr>
          <a:xfrm flipH="1" flipV="1">
            <a:off x="5012095" y="4121891"/>
            <a:ext cx="867664" cy="349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0" name="Connecteur droit 19"/>
          <p:cNvCxnSpPr>
            <a:stCxn id="22" idx="1"/>
          </p:cNvCxnSpPr>
          <p:nvPr/>
        </p:nvCxnSpPr>
        <p:spPr>
          <a:xfrm flipH="1">
            <a:off x="3815925" y="4121891"/>
            <a:ext cx="672658" cy="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Connecteur droit avec flèche 20"/>
          <p:cNvCxnSpPr/>
          <p:nvPr/>
        </p:nvCxnSpPr>
        <p:spPr>
          <a:xfrm flipV="1">
            <a:off x="3815925" y="3200921"/>
            <a:ext cx="0" cy="92446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ZoneTexte 21"/>
              <p:cNvSpPr txBox="1"/>
              <p:nvPr/>
            </p:nvSpPr>
            <p:spPr>
              <a:xfrm>
                <a:off x="4488583" y="3937225"/>
                <a:ext cx="523512"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r>
                        <a:rPr lang="fr-FR" b="1" i="0" smtClean="0">
                          <a:latin typeface="Cambria Math"/>
                        </a:rPr>
                        <m:t>𝐁</m:t>
                      </m:r>
                    </m:oMath>
                  </m:oMathPara>
                </a14:m>
                <a:endParaRPr lang="fr-FR" b="1" dirty="0"/>
              </a:p>
            </p:txBody>
          </p:sp>
        </mc:Choice>
        <mc:Fallback xmlns="">
          <p:sp>
            <p:nvSpPr>
              <p:cNvPr id="22" name="ZoneTexte 21"/>
              <p:cNvSpPr txBox="1">
                <a:spLocks noRot="1" noChangeAspect="1" noMove="1" noResize="1" noEditPoints="1" noAdjustHandles="1" noChangeArrowheads="1" noChangeShapeType="1" noTextEdit="1"/>
              </p:cNvSpPr>
              <p:nvPr/>
            </p:nvSpPr>
            <p:spPr>
              <a:xfrm>
                <a:off x="4488583" y="3937225"/>
                <a:ext cx="523512" cy="369332"/>
              </a:xfrm>
              <a:prstGeom prst="rect">
                <a:avLst/>
              </a:prstGeom>
              <a:blipFill rotWithShape="1">
                <a:blip r:embed="rId10"/>
                <a:stretch>
                  <a:fillRect/>
                </a:stretch>
              </a:blipFill>
              <a:ln w="25400"/>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3" name="ZoneTexte 22"/>
              <p:cNvSpPr txBox="1"/>
              <p:nvPr/>
            </p:nvSpPr>
            <p:spPr>
              <a:xfrm>
                <a:off x="5217097" y="2877350"/>
                <a:ext cx="436824" cy="379848"/>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
                    </m:oMathParaPr>
                    <m:oMath xmlns:m="http://schemas.openxmlformats.org/officeDocument/2006/math">
                      <m:r>
                        <a:rPr lang="fr-FR" i="1" smtClean="0">
                          <a:latin typeface="Cambria Math"/>
                          <a:ea typeface="Cambria Math"/>
                        </a:rPr>
                        <m:t>∫</m:t>
                      </m:r>
                    </m:oMath>
                  </m:oMathPara>
                </a14:m>
                <a:endParaRPr lang="fr-FR" dirty="0"/>
              </a:p>
            </p:txBody>
          </p:sp>
        </mc:Choice>
        <mc:Fallback xmlns="">
          <p:sp>
            <p:nvSpPr>
              <p:cNvPr id="23" name="ZoneTexte 22"/>
              <p:cNvSpPr txBox="1">
                <a:spLocks noRot="1" noChangeAspect="1" noMove="1" noResize="1" noEditPoints="1" noAdjustHandles="1" noChangeArrowheads="1" noChangeShapeType="1" noTextEdit="1"/>
              </p:cNvSpPr>
              <p:nvPr/>
            </p:nvSpPr>
            <p:spPr>
              <a:xfrm>
                <a:off x="5217097" y="2877350"/>
                <a:ext cx="436824" cy="379848"/>
              </a:xfrm>
              <a:prstGeom prst="rect">
                <a:avLst/>
              </a:prstGeom>
              <a:blipFill rotWithShape="1">
                <a:blip r:embed="rId11"/>
                <a:stretch>
                  <a:fillRect/>
                </a:stretch>
              </a:blipFill>
              <a:ln w="25400"/>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4" name="ZoneTexte 23"/>
              <p:cNvSpPr txBox="1"/>
              <p:nvPr/>
            </p:nvSpPr>
            <p:spPr>
              <a:xfrm>
                <a:off x="6221355" y="2869084"/>
                <a:ext cx="423750" cy="379848"/>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
                    </m:oMathParaPr>
                    <m:oMath xmlns:m="http://schemas.openxmlformats.org/officeDocument/2006/math">
                      <m:r>
                        <a:rPr lang="fr-FR" i="1" smtClean="0">
                          <a:latin typeface="Cambria Math"/>
                          <a:ea typeface="Cambria Math"/>
                        </a:rPr>
                        <m:t>∫</m:t>
                      </m:r>
                    </m:oMath>
                  </m:oMathPara>
                </a14:m>
                <a:endParaRPr lang="fr-FR" dirty="0"/>
              </a:p>
            </p:txBody>
          </p:sp>
        </mc:Choice>
        <mc:Fallback xmlns="">
          <p:sp>
            <p:nvSpPr>
              <p:cNvPr id="24" name="ZoneTexte 23"/>
              <p:cNvSpPr txBox="1">
                <a:spLocks noRot="1" noChangeAspect="1" noMove="1" noResize="1" noEditPoints="1" noAdjustHandles="1" noChangeArrowheads="1" noChangeShapeType="1" noTextEdit="1"/>
              </p:cNvSpPr>
              <p:nvPr/>
            </p:nvSpPr>
            <p:spPr>
              <a:xfrm>
                <a:off x="6221355" y="2869084"/>
                <a:ext cx="423750" cy="379848"/>
              </a:xfrm>
              <a:prstGeom prst="rect">
                <a:avLst/>
              </a:prstGeom>
              <a:blipFill rotWithShape="1">
                <a:blip r:embed="rId12"/>
                <a:stretch>
                  <a:fillRect/>
                </a:stretch>
              </a:blipFill>
              <a:ln w="25400"/>
            </p:spPr>
            <p:txBody>
              <a:bodyPr/>
              <a:lstStyle/>
              <a:p>
                <a:r>
                  <a:rPr lang="fr-FR">
                    <a:noFill/>
                  </a:rPr>
                  <a:t> </a:t>
                </a:r>
              </a:p>
            </p:txBody>
          </p:sp>
        </mc:Fallback>
      </mc:AlternateContent>
      <p:sp>
        <p:nvSpPr>
          <p:cNvPr id="25" name="Ellipse 24"/>
          <p:cNvSpPr/>
          <p:nvPr/>
        </p:nvSpPr>
        <p:spPr>
          <a:xfrm>
            <a:off x="7101613" y="2901211"/>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cxnSp>
        <p:nvCxnSpPr>
          <p:cNvPr id="26" name="Connecteur droit avec flèche 25"/>
          <p:cNvCxnSpPr>
            <a:endCxn id="25" idx="0"/>
          </p:cNvCxnSpPr>
          <p:nvPr/>
        </p:nvCxnSpPr>
        <p:spPr>
          <a:xfrm>
            <a:off x="7244488" y="2424868"/>
            <a:ext cx="0" cy="47634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ZoneTexte 27"/>
              <p:cNvSpPr txBox="1"/>
              <p:nvPr/>
            </p:nvSpPr>
            <p:spPr>
              <a:xfrm>
                <a:off x="5690155" y="2745203"/>
                <a:ext cx="3792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fr-FR" i="1" smtClean="0">
                              <a:latin typeface="Cambria Math" panose="02040503050406030204" pitchFamily="18" charset="0"/>
                            </a:rPr>
                          </m:ctrlPr>
                        </m:accPr>
                        <m:e>
                          <m:r>
                            <a:rPr lang="fr-FR" b="1" i="0" smtClean="0">
                              <a:latin typeface="Cambria Math"/>
                            </a:rPr>
                            <m:t>𝐱</m:t>
                          </m:r>
                        </m:e>
                      </m:acc>
                    </m:oMath>
                  </m:oMathPara>
                </a14:m>
                <a:endParaRPr lang="fr-FR" dirty="0"/>
              </a:p>
            </p:txBody>
          </p:sp>
        </mc:Choice>
        <mc:Fallback xmlns="">
          <p:sp>
            <p:nvSpPr>
              <p:cNvPr id="28" name="ZoneTexte 27"/>
              <p:cNvSpPr txBox="1">
                <a:spLocks noRot="1" noChangeAspect="1" noMove="1" noResize="1" noEditPoints="1" noAdjustHandles="1" noChangeArrowheads="1" noChangeShapeType="1" noTextEdit="1"/>
              </p:cNvSpPr>
              <p:nvPr/>
            </p:nvSpPr>
            <p:spPr>
              <a:xfrm>
                <a:off x="5690155" y="2745203"/>
                <a:ext cx="379206" cy="369332"/>
              </a:xfrm>
              <a:prstGeom prst="rect">
                <a:avLst/>
              </a:prstGeom>
              <a:blipFill rotWithShape="1">
                <a:blip r:embed="rId13"/>
                <a:stretch>
                  <a:fillRect/>
                </a:stretch>
              </a:blipFill>
            </p:spPr>
            <p:txBody>
              <a:bodyPr/>
              <a:lstStyle/>
              <a:p>
                <a:r>
                  <a:rPr lang="fr-FR">
                    <a:noFill/>
                  </a:rPr>
                  <a:t> </a:t>
                </a:r>
              </a:p>
            </p:txBody>
          </p:sp>
        </mc:Fallback>
      </mc:AlternateContent>
      <p:cxnSp>
        <p:nvCxnSpPr>
          <p:cNvPr id="29" name="Connecteur droit 28"/>
          <p:cNvCxnSpPr/>
          <p:nvPr/>
        </p:nvCxnSpPr>
        <p:spPr>
          <a:xfrm flipH="1" flipV="1">
            <a:off x="781104" y="4600375"/>
            <a:ext cx="7609043" cy="6672"/>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ZoneTexte 30"/>
              <p:cNvSpPr txBox="1"/>
              <p:nvPr/>
            </p:nvSpPr>
            <p:spPr>
              <a:xfrm>
                <a:off x="7167708" y="2176196"/>
                <a:ext cx="48391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1" i="0" smtClean="0">
                              <a:latin typeface="Cambria Math"/>
                            </a:rPr>
                            <m:t>𝐱</m:t>
                          </m:r>
                        </m:e>
                        <m:sub>
                          <m:r>
                            <a:rPr lang="fr-FR" b="0" i="1" smtClean="0">
                              <a:latin typeface="Cambria Math"/>
                            </a:rPr>
                            <m:t>𝑒</m:t>
                          </m:r>
                        </m:sub>
                      </m:sSub>
                    </m:oMath>
                  </m:oMathPara>
                </a14:m>
                <a:endParaRPr lang="fr-FR" dirty="0"/>
              </a:p>
            </p:txBody>
          </p:sp>
        </mc:Choice>
        <mc:Fallback xmlns="">
          <p:sp>
            <p:nvSpPr>
              <p:cNvPr id="31" name="ZoneTexte 30"/>
              <p:cNvSpPr txBox="1">
                <a:spLocks noRot="1" noChangeAspect="1" noMove="1" noResize="1" noEditPoints="1" noAdjustHandles="1" noChangeArrowheads="1" noChangeShapeType="1" noTextEdit="1"/>
              </p:cNvSpPr>
              <p:nvPr/>
            </p:nvSpPr>
            <p:spPr>
              <a:xfrm>
                <a:off x="7167708" y="2176196"/>
                <a:ext cx="483915" cy="369332"/>
              </a:xfrm>
              <a:prstGeom prst="rect">
                <a:avLst/>
              </a:prstGeom>
              <a:blipFill rotWithShape="1">
                <a:blip r:embed="rId14"/>
                <a:stretch>
                  <a:fillRect/>
                </a:stretch>
              </a:blipFill>
            </p:spPr>
            <p:txBody>
              <a:bodyPr/>
              <a:lstStyle/>
              <a:p>
                <a:r>
                  <a:rPr lang="fr-FR">
                    <a:noFill/>
                  </a:rPr>
                  <a:t> </a:t>
                </a:r>
              </a:p>
            </p:txBody>
          </p:sp>
        </mc:Fallback>
      </mc:AlternateContent>
      <p:graphicFrame>
        <p:nvGraphicFramePr>
          <p:cNvPr id="32" name="Objet 31"/>
          <p:cNvGraphicFramePr>
            <a:graphicFrameLocks noChangeAspect="1"/>
          </p:cNvGraphicFramePr>
          <p:nvPr>
            <p:extLst>
              <p:ext uri="{D42A27DB-BD31-4B8C-83A1-F6EECF244321}">
                <p14:modId xmlns:p14="http://schemas.microsoft.com/office/powerpoint/2010/main" val="1407020438"/>
              </p:ext>
            </p:extLst>
          </p:nvPr>
        </p:nvGraphicFramePr>
        <p:xfrm>
          <a:off x="7407700" y="2673618"/>
          <a:ext cx="171450" cy="157163"/>
        </p:xfrm>
        <a:graphic>
          <a:graphicData uri="http://schemas.openxmlformats.org/presentationml/2006/ole">
            <mc:AlternateContent xmlns:mc="http://schemas.openxmlformats.org/markup-compatibility/2006">
              <mc:Choice xmlns:v="urn:schemas-microsoft-com:vml" Requires="v">
                <p:oleObj name="Equation" r:id="rId15" imgW="139639" imgH="101556" progId="Equation.DSMT4">
                  <p:embed/>
                </p:oleObj>
              </mc:Choice>
              <mc:Fallback>
                <p:oleObj name="Equation" r:id="rId15" imgW="139639" imgH="101556"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07700" y="2673618"/>
                        <a:ext cx="171450" cy="15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 name="Ellipse 32"/>
          <p:cNvSpPr/>
          <p:nvPr/>
        </p:nvSpPr>
        <p:spPr>
          <a:xfrm>
            <a:off x="3659090" y="2925634"/>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cxnSp>
        <p:nvCxnSpPr>
          <p:cNvPr id="34" name="Connecteur droit avec flèche 33"/>
          <p:cNvCxnSpPr>
            <a:stCxn id="35" idx="3"/>
          </p:cNvCxnSpPr>
          <p:nvPr/>
        </p:nvCxnSpPr>
        <p:spPr>
          <a:xfrm flipV="1">
            <a:off x="3063756" y="3073401"/>
            <a:ext cx="602735" cy="558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ZoneTexte 34"/>
              <p:cNvSpPr txBox="1"/>
              <p:nvPr/>
            </p:nvSpPr>
            <p:spPr>
              <a:xfrm>
                <a:off x="2540244" y="2894320"/>
                <a:ext cx="523512"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
                    </m:oMathParaPr>
                    <m:oMath xmlns:m="http://schemas.openxmlformats.org/officeDocument/2006/math">
                      <m:r>
                        <a:rPr lang="fr-FR" b="1" i="0" smtClean="0">
                          <a:latin typeface="Cambria Math"/>
                        </a:rPr>
                        <m:t>𝐊</m:t>
                      </m:r>
                    </m:oMath>
                  </m:oMathPara>
                </a14:m>
                <a:endParaRPr lang="fr-FR" b="1" dirty="0"/>
              </a:p>
            </p:txBody>
          </p:sp>
        </mc:Choice>
        <mc:Fallback xmlns="">
          <p:sp>
            <p:nvSpPr>
              <p:cNvPr id="35" name="ZoneTexte 34"/>
              <p:cNvSpPr txBox="1">
                <a:spLocks noRot="1" noChangeAspect="1" noMove="1" noResize="1" noEditPoints="1" noAdjustHandles="1" noChangeArrowheads="1" noChangeShapeType="1" noTextEdit="1"/>
              </p:cNvSpPr>
              <p:nvPr/>
            </p:nvSpPr>
            <p:spPr>
              <a:xfrm>
                <a:off x="2540244" y="2894320"/>
                <a:ext cx="523512" cy="369332"/>
              </a:xfrm>
              <a:prstGeom prst="rect">
                <a:avLst/>
              </a:prstGeom>
              <a:blipFill rotWithShape="1">
                <a:blip r:embed="rId16"/>
                <a:stretch>
                  <a:fillRect/>
                </a:stretch>
              </a:blipFill>
              <a:ln w="25400"/>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9" name="ZoneTexte 38"/>
              <p:cNvSpPr txBox="1"/>
              <p:nvPr/>
            </p:nvSpPr>
            <p:spPr>
              <a:xfrm>
                <a:off x="1407862" y="2880360"/>
                <a:ext cx="523512"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
                    </m:oMathParaPr>
                    <m:oMath xmlns:m="http://schemas.openxmlformats.org/officeDocument/2006/math">
                      <m:sSub>
                        <m:sSubPr>
                          <m:ctrlPr>
                            <a:rPr lang="fr-FR" i="1" smtClean="0">
                              <a:latin typeface="Cambria Math" panose="02040503050406030204" pitchFamily="18" charset="0"/>
                            </a:rPr>
                          </m:ctrlPr>
                        </m:sSubPr>
                        <m:e>
                          <m:r>
                            <a:rPr lang="fr-FR" b="1" i="0">
                              <a:latin typeface="Cambria Math"/>
                            </a:rPr>
                            <m:t>𝐂</m:t>
                          </m:r>
                        </m:e>
                        <m:sub>
                          <m:r>
                            <a:rPr lang="fr-FR" b="0" i="1" smtClean="0">
                              <a:latin typeface="Cambria Math"/>
                              <a:ea typeface="Cambria Math"/>
                            </a:rPr>
                            <m:t>𝕗</m:t>
                          </m:r>
                        </m:sub>
                      </m:sSub>
                    </m:oMath>
                  </m:oMathPara>
                </a14:m>
                <a:endParaRPr lang="fr-FR" b="1" dirty="0"/>
              </a:p>
            </p:txBody>
          </p:sp>
        </mc:Choice>
        <mc:Fallback xmlns="">
          <p:sp>
            <p:nvSpPr>
              <p:cNvPr id="39" name="ZoneTexte 38"/>
              <p:cNvSpPr txBox="1">
                <a:spLocks noRot="1" noChangeAspect="1" noMove="1" noResize="1" noEditPoints="1" noAdjustHandles="1" noChangeArrowheads="1" noChangeShapeType="1" noTextEdit="1"/>
              </p:cNvSpPr>
              <p:nvPr/>
            </p:nvSpPr>
            <p:spPr>
              <a:xfrm>
                <a:off x="1407862" y="2880360"/>
                <a:ext cx="523512" cy="369332"/>
              </a:xfrm>
              <a:prstGeom prst="rect">
                <a:avLst/>
              </a:prstGeom>
              <a:blipFill rotWithShape="1">
                <a:blip r:embed="rId17"/>
                <a:stretch>
                  <a:fillRect/>
                </a:stretch>
              </a:blipFill>
              <a:ln w="25400"/>
            </p:spPr>
            <p:txBody>
              <a:bodyPr/>
              <a:lstStyle/>
              <a:p>
                <a:r>
                  <a:rPr lang="fr-FR">
                    <a:noFill/>
                  </a:rPr>
                  <a:t> </a:t>
                </a:r>
              </a:p>
            </p:txBody>
          </p:sp>
        </mc:Fallback>
      </mc:AlternateContent>
      <p:cxnSp>
        <p:nvCxnSpPr>
          <p:cNvPr id="40" name="Connecteur droit avec flèche 39"/>
          <p:cNvCxnSpPr/>
          <p:nvPr/>
        </p:nvCxnSpPr>
        <p:spPr>
          <a:xfrm flipV="1">
            <a:off x="7401323" y="3038720"/>
            <a:ext cx="349748"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1" name="Connecteur droit avec flèche 40"/>
          <p:cNvCxnSpPr/>
          <p:nvPr/>
        </p:nvCxnSpPr>
        <p:spPr>
          <a:xfrm flipV="1">
            <a:off x="8293535" y="3016343"/>
            <a:ext cx="349748" cy="153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2" name="Connecteur droit avec flèche 41"/>
          <p:cNvCxnSpPr>
            <a:endCxn id="39" idx="1"/>
          </p:cNvCxnSpPr>
          <p:nvPr/>
        </p:nvCxnSpPr>
        <p:spPr>
          <a:xfrm flipV="1">
            <a:off x="918207" y="3065026"/>
            <a:ext cx="489655" cy="1112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3" name="Connecteur droit avec flèche 42"/>
          <p:cNvCxnSpPr/>
          <p:nvPr/>
        </p:nvCxnSpPr>
        <p:spPr>
          <a:xfrm flipV="1">
            <a:off x="300661" y="3084900"/>
            <a:ext cx="343075" cy="69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4" name="Connecteur droit avec flèche 43"/>
          <p:cNvCxnSpPr/>
          <p:nvPr/>
        </p:nvCxnSpPr>
        <p:spPr>
          <a:xfrm>
            <a:off x="8390147" y="3051066"/>
            <a:ext cx="0" cy="1555981"/>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ZoneTexte 44"/>
              <p:cNvSpPr txBox="1"/>
              <p:nvPr/>
            </p:nvSpPr>
            <p:spPr>
              <a:xfrm>
                <a:off x="7765031" y="2854054"/>
                <a:ext cx="512984"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
                    </m:oMathParaPr>
                    <m:oMath xmlns:m="http://schemas.openxmlformats.org/officeDocument/2006/math">
                      <m:sSub>
                        <m:sSubPr>
                          <m:ctrlPr>
                            <a:rPr lang="fr-FR" i="1" smtClean="0">
                              <a:latin typeface="Cambria Math" panose="02040503050406030204" pitchFamily="18" charset="0"/>
                            </a:rPr>
                          </m:ctrlPr>
                        </m:sSubPr>
                        <m:e>
                          <m:r>
                            <a:rPr lang="fr-FR" b="1" i="0" smtClean="0">
                              <a:latin typeface="Cambria Math"/>
                            </a:rPr>
                            <m:t>𝐊</m:t>
                          </m:r>
                        </m:e>
                        <m:sub>
                          <m:r>
                            <a:rPr lang="fr-FR" b="0" i="1" smtClean="0">
                              <a:latin typeface="Cambria Math"/>
                            </a:rPr>
                            <m:t>𝑒</m:t>
                          </m:r>
                        </m:sub>
                      </m:sSub>
                    </m:oMath>
                  </m:oMathPara>
                </a14:m>
                <a:endParaRPr lang="fr-FR" dirty="0"/>
              </a:p>
            </p:txBody>
          </p:sp>
        </mc:Choice>
        <mc:Fallback xmlns="">
          <p:sp>
            <p:nvSpPr>
              <p:cNvPr id="45" name="ZoneTexte 44"/>
              <p:cNvSpPr txBox="1">
                <a:spLocks noRot="1" noChangeAspect="1" noMove="1" noResize="1" noEditPoints="1" noAdjustHandles="1" noChangeArrowheads="1" noChangeShapeType="1" noTextEdit="1"/>
              </p:cNvSpPr>
              <p:nvPr/>
            </p:nvSpPr>
            <p:spPr>
              <a:xfrm>
                <a:off x="7765031" y="2854054"/>
                <a:ext cx="512984" cy="369332"/>
              </a:xfrm>
              <a:prstGeom prst="rect">
                <a:avLst/>
              </a:prstGeom>
              <a:blipFill rotWithShape="1">
                <a:blip r:embed="rId18"/>
                <a:stretch>
                  <a:fillRect/>
                </a:stretch>
              </a:blipFill>
              <a:ln w="25400"/>
            </p:spPr>
            <p:txBody>
              <a:bodyPr/>
              <a:lstStyle/>
              <a:p>
                <a:r>
                  <a:rPr lang="fr-FR">
                    <a:noFill/>
                  </a:rPr>
                  <a:t> </a:t>
                </a:r>
              </a:p>
            </p:txBody>
          </p:sp>
        </mc:Fallback>
      </mc:AlternateContent>
      <p:graphicFrame>
        <p:nvGraphicFramePr>
          <p:cNvPr id="46" name="Objet 45"/>
          <p:cNvGraphicFramePr>
            <a:graphicFrameLocks noChangeAspect="1"/>
          </p:cNvGraphicFramePr>
          <p:nvPr>
            <p:extLst>
              <p:ext uri="{D42A27DB-BD31-4B8C-83A1-F6EECF244321}">
                <p14:modId xmlns:p14="http://schemas.microsoft.com/office/powerpoint/2010/main" val="3132662676"/>
              </p:ext>
            </p:extLst>
          </p:nvPr>
        </p:nvGraphicFramePr>
        <p:xfrm>
          <a:off x="3555694" y="3353930"/>
          <a:ext cx="171450" cy="157162"/>
        </p:xfrm>
        <a:graphic>
          <a:graphicData uri="http://schemas.openxmlformats.org/presentationml/2006/ole">
            <mc:AlternateContent xmlns:mc="http://schemas.openxmlformats.org/markup-compatibility/2006">
              <mc:Choice xmlns:v="urn:schemas-microsoft-com:vml" Requires="v">
                <p:oleObj name="Equation" r:id="rId19" imgW="139639" imgH="101556" progId="Equation.DSMT4">
                  <p:embed/>
                </p:oleObj>
              </mc:Choice>
              <mc:Fallback>
                <p:oleObj name="Equation" r:id="rId19" imgW="139639" imgH="101556"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55694" y="3353930"/>
                        <a:ext cx="171450" cy="15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47" name="ZoneTexte 46"/>
              <p:cNvSpPr txBox="1"/>
              <p:nvPr/>
            </p:nvSpPr>
            <p:spPr>
              <a:xfrm>
                <a:off x="216327" y="2675074"/>
                <a:ext cx="473656" cy="3742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ea typeface="Cambria Math"/>
                            </a:rPr>
                          </m:ctrlPr>
                        </m:sSupPr>
                        <m:e>
                          <m:r>
                            <a:rPr lang="fr-FR" b="0" i="1" smtClean="0">
                              <a:latin typeface="Cambria Math"/>
                              <a:ea typeface="Cambria Math"/>
                            </a:rPr>
                            <m:t>𝕗</m:t>
                          </m:r>
                        </m:e>
                        <m:sup>
                          <m:r>
                            <a:rPr lang="fr-FR" b="0" i="1" smtClean="0">
                              <a:latin typeface="Cambria Math"/>
                              <a:ea typeface="Cambria Math"/>
                            </a:rPr>
                            <m:t>𝑑</m:t>
                          </m:r>
                        </m:sup>
                      </m:sSup>
                    </m:oMath>
                  </m:oMathPara>
                </a14:m>
                <a:endParaRPr lang="fr-FR" dirty="0"/>
              </a:p>
            </p:txBody>
          </p:sp>
        </mc:Choice>
        <mc:Fallback xmlns="">
          <p:sp>
            <p:nvSpPr>
              <p:cNvPr id="47" name="ZoneTexte 46"/>
              <p:cNvSpPr txBox="1">
                <a:spLocks noRot="1" noChangeAspect="1" noMove="1" noResize="1" noEditPoints="1" noAdjustHandles="1" noChangeArrowheads="1" noChangeShapeType="1" noTextEdit="1"/>
              </p:cNvSpPr>
              <p:nvPr/>
            </p:nvSpPr>
            <p:spPr>
              <a:xfrm>
                <a:off x="216327" y="2675074"/>
                <a:ext cx="473656" cy="374270"/>
              </a:xfrm>
              <a:prstGeom prst="rect">
                <a:avLst/>
              </a:prstGeom>
              <a:blipFill rotWithShape="1">
                <a:blip r:embed="rId20"/>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8" name="ZoneTexte 47"/>
              <p:cNvSpPr txBox="1"/>
              <p:nvPr/>
            </p:nvSpPr>
            <p:spPr>
              <a:xfrm>
                <a:off x="4777357" y="2723791"/>
                <a:ext cx="3706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fr-FR" b="0" i="1" smtClean="0">
                              <a:latin typeface="Cambria Math" panose="02040503050406030204" pitchFamily="18" charset="0"/>
                            </a:rPr>
                          </m:ctrlPr>
                        </m:accPr>
                        <m:e>
                          <m:r>
                            <a:rPr lang="fr-FR" b="1" i="0" smtClean="0">
                              <a:latin typeface="Cambria Math"/>
                            </a:rPr>
                            <m:t>𝐱</m:t>
                          </m:r>
                        </m:e>
                      </m:acc>
                    </m:oMath>
                  </m:oMathPara>
                </a14:m>
                <a:endParaRPr lang="fr-FR" dirty="0"/>
              </a:p>
            </p:txBody>
          </p:sp>
        </mc:Choice>
        <mc:Fallback xmlns="">
          <p:sp>
            <p:nvSpPr>
              <p:cNvPr id="48" name="ZoneTexte 47"/>
              <p:cNvSpPr txBox="1">
                <a:spLocks noRot="1" noChangeAspect="1" noMove="1" noResize="1" noEditPoints="1" noAdjustHandles="1" noChangeArrowheads="1" noChangeShapeType="1" noTextEdit="1"/>
              </p:cNvSpPr>
              <p:nvPr/>
            </p:nvSpPr>
            <p:spPr>
              <a:xfrm>
                <a:off x="4777357" y="2723791"/>
                <a:ext cx="370614" cy="369332"/>
              </a:xfrm>
              <a:prstGeom prst="rect">
                <a:avLst/>
              </a:prstGeom>
              <a:blipFill rotWithShape="1">
                <a:blip r:embed="rId21"/>
                <a:stretch>
                  <a:fillRect r="-25000"/>
                </a:stretch>
              </a:blipFill>
            </p:spPr>
            <p:txBody>
              <a:bodyPr/>
              <a:lstStyle/>
              <a:p>
                <a:r>
                  <a:rPr lang="fr-FR">
                    <a:noFill/>
                  </a:rPr>
                  <a:t> </a:t>
                </a:r>
              </a:p>
            </p:txBody>
          </p:sp>
        </mc:Fallback>
      </mc:AlternateContent>
    </p:spTree>
    <p:extLst>
      <p:ext uri="{BB962C8B-B14F-4D97-AF65-F5344CB8AC3E}">
        <p14:creationId xmlns:p14="http://schemas.microsoft.com/office/powerpoint/2010/main" val="129802982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r>
                  <a:rPr lang="fr-FR" dirty="0"/>
                  <a:t>Le système est décrit cette fois-ci par :</a:t>
                </a:r>
              </a:p>
              <a:p>
                <a:pPr marL="0" indent="0" algn="ctr">
                  <a:buNone/>
                </a:pPr>
                <a14:m>
                  <m:oMath xmlns:m="http://schemas.openxmlformats.org/officeDocument/2006/math">
                    <m:r>
                      <a:rPr lang="el-GR" b="1">
                        <a:latin typeface="Cambria Math"/>
                        <a:ea typeface="Cambria Math"/>
                      </a:rPr>
                      <m:t>𝚲</m:t>
                    </m:r>
                    <m:acc>
                      <m:accPr>
                        <m:chr m:val="̈"/>
                        <m:ctrlPr>
                          <a:rPr lang="el-GR" b="1" i="1">
                            <a:latin typeface="Cambria Math" panose="02040503050406030204" pitchFamily="18" charset="0"/>
                            <a:ea typeface="Cambria Math"/>
                          </a:rPr>
                        </m:ctrlPr>
                      </m:accPr>
                      <m:e>
                        <m:r>
                          <a:rPr lang="fr-FR" b="1">
                            <a:latin typeface="Cambria Math"/>
                            <a:ea typeface="Cambria Math"/>
                          </a:rPr>
                          <m:t>𝐱</m:t>
                        </m:r>
                      </m:e>
                    </m:acc>
                    <m:r>
                      <a:rPr lang="fr-FR" i="1">
                        <a:latin typeface="Cambria Math"/>
                        <a:ea typeface="Cambria Math"/>
                      </a:rPr>
                      <m:t>+</m:t>
                    </m:r>
                    <m:r>
                      <a:rPr lang="fr-FR" b="1">
                        <a:latin typeface="Cambria Math"/>
                        <a:ea typeface="Cambria Math"/>
                      </a:rPr>
                      <m:t>𝐁</m:t>
                    </m:r>
                    <m:acc>
                      <m:accPr>
                        <m:chr m:val="̇"/>
                        <m:ctrlPr>
                          <a:rPr lang="fr-FR" b="1" i="1">
                            <a:latin typeface="Cambria Math" panose="02040503050406030204" pitchFamily="18" charset="0"/>
                            <a:ea typeface="Cambria Math"/>
                          </a:rPr>
                        </m:ctrlPr>
                      </m:accPr>
                      <m:e>
                        <m:r>
                          <a:rPr lang="fr-FR" b="1">
                            <a:latin typeface="Cambria Math"/>
                            <a:ea typeface="Cambria Math"/>
                          </a:rPr>
                          <m:t>𝐱</m:t>
                        </m:r>
                      </m:e>
                    </m:acc>
                    <m:r>
                      <a:rPr lang="fr-FR" b="0" i="0" smtClean="0">
                        <a:latin typeface="Cambria Math"/>
                        <a:ea typeface="Cambria Math"/>
                      </a:rPr>
                      <m:t>=</m:t>
                    </m:r>
                    <m:r>
                      <a:rPr lang="fr-FR" b="1" i="0" smtClean="0">
                        <a:latin typeface="Cambria Math"/>
                        <a:ea typeface="Cambria Math"/>
                      </a:rPr>
                      <m:t>𝐊</m:t>
                    </m:r>
                    <m:sSub>
                      <m:sSubPr>
                        <m:ctrlPr>
                          <a:rPr lang="fr-FR" b="1" i="1">
                            <a:latin typeface="Cambria Math" panose="02040503050406030204" pitchFamily="18" charset="0"/>
                            <a:ea typeface="Cambria Math"/>
                          </a:rPr>
                        </m:ctrlPr>
                      </m:sSubPr>
                      <m:e>
                        <m:r>
                          <a:rPr lang="fr-FR" b="1">
                            <a:latin typeface="Cambria Math"/>
                            <a:ea typeface="Cambria Math"/>
                          </a:rPr>
                          <m:t>𝐱</m:t>
                        </m:r>
                      </m:e>
                      <m:sub>
                        <m:r>
                          <a:rPr lang="fr-FR" b="1" i="1">
                            <a:latin typeface="Cambria Math"/>
                            <a:ea typeface="Cambria Math"/>
                          </a:rPr>
                          <m:t>𝕗</m:t>
                        </m:r>
                      </m:sub>
                    </m:sSub>
                  </m:oMath>
                </a14:m>
                <a:r>
                  <a:rPr lang="fr-FR" dirty="0"/>
                  <a:t>	(1v)</a:t>
                </a:r>
              </a:p>
              <a:p>
                <a:pPr marL="0" indent="0">
                  <a:buNone/>
                </a:pPr>
                <a:endParaRPr lang="fr-FR" dirty="0"/>
              </a:p>
              <a:p>
                <a:pPr marL="0" indent="0">
                  <a:buNone/>
                </a:pPr>
                <a:r>
                  <a:rPr lang="fr-FR" dirty="0"/>
                  <a:t>La relation entre </a:t>
                </a:r>
                <a14:m>
                  <m:oMath xmlns:m="http://schemas.openxmlformats.org/officeDocument/2006/math">
                    <m:sSub>
                      <m:sSubPr>
                        <m:ctrlPr>
                          <a:rPr lang="fr-FR" b="1" i="1">
                            <a:latin typeface="Cambria Math" panose="02040503050406030204" pitchFamily="18" charset="0"/>
                            <a:ea typeface="Cambria Math"/>
                          </a:rPr>
                        </m:ctrlPr>
                      </m:sSubPr>
                      <m:e>
                        <m:r>
                          <a:rPr lang="fr-FR" b="1">
                            <a:latin typeface="Cambria Math"/>
                            <a:ea typeface="Cambria Math"/>
                          </a:rPr>
                          <m:t>𝐱</m:t>
                        </m:r>
                      </m:e>
                      <m:sub>
                        <m:r>
                          <a:rPr lang="fr-FR" b="1" i="1">
                            <a:latin typeface="Cambria Math"/>
                            <a:ea typeface="Cambria Math"/>
                          </a:rPr>
                          <m:t>𝕗</m:t>
                        </m:r>
                      </m:sub>
                    </m:sSub>
                  </m:oMath>
                </a14:m>
                <a:r>
                  <a:rPr lang="fr-FR" dirty="0"/>
                  <a:t>et l’erreur en effort est :</a:t>
                </a:r>
              </a:p>
              <a:p>
                <a:pPr marL="0" indent="0" algn="ctr">
                  <a:buNone/>
                </a:pPr>
                <a14:m>
                  <m:oMath xmlns:m="http://schemas.openxmlformats.org/officeDocument/2006/math">
                    <m:sSub>
                      <m:sSubPr>
                        <m:ctrlPr>
                          <a:rPr lang="fr-FR" b="1" i="1">
                            <a:latin typeface="Cambria Math" panose="02040503050406030204" pitchFamily="18" charset="0"/>
                            <a:ea typeface="Cambria Math"/>
                          </a:rPr>
                        </m:ctrlPr>
                      </m:sSubPr>
                      <m:e>
                        <m:r>
                          <a:rPr lang="fr-FR" b="1">
                            <a:latin typeface="Cambria Math"/>
                            <a:ea typeface="Cambria Math"/>
                          </a:rPr>
                          <m:t>𝐱</m:t>
                        </m:r>
                      </m:e>
                      <m:sub>
                        <m:r>
                          <a:rPr lang="fr-FR" b="1" i="1">
                            <a:latin typeface="Cambria Math"/>
                            <a:ea typeface="Cambria Math"/>
                          </a:rPr>
                          <m:t>𝕗</m:t>
                        </m:r>
                      </m:sub>
                    </m:sSub>
                    <m:r>
                      <a:rPr lang="fr-FR" b="1" i="1">
                        <a:latin typeface="Cambria Math"/>
                        <a:ea typeface="Cambria Math"/>
                      </a:rPr>
                      <m:t> </m:t>
                    </m:r>
                    <m:r>
                      <a:rPr lang="fr-FR" b="0" i="1" smtClean="0">
                        <a:latin typeface="Cambria Math"/>
                      </a:rPr>
                      <m:t>=</m:t>
                    </m:r>
                    <m:sSub>
                      <m:sSubPr>
                        <m:ctrlPr>
                          <a:rPr lang="fr-FR" b="0" i="1" smtClean="0">
                            <a:latin typeface="Cambria Math" panose="02040503050406030204" pitchFamily="18" charset="0"/>
                          </a:rPr>
                        </m:ctrlPr>
                      </m:sSubPr>
                      <m:e>
                        <m:r>
                          <a:rPr lang="fr-FR" b="1" i="0" smtClean="0">
                            <a:latin typeface="Cambria Math"/>
                          </a:rPr>
                          <m:t>𝐂</m:t>
                        </m:r>
                      </m:e>
                      <m:sub>
                        <m:r>
                          <a:rPr lang="fr-FR" b="0" i="1" smtClean="0">
                            <a:latin typeface="Cambria Math"/>
                            <a:ea typeface="Cambria Math"/>
                          </a:rPr>
                          <m:t>𝕗</m:t>
                        </m:r>
                      </m:sub>
                    </m:sSub>
                    <m:d>
                      <m:dPr>
                        <m:ctrlPr>
                          <a:rPr lang="fr-FR" b="0" i="1" smtClean="0">
                            <a:latin typeface="Cambria Math" panose="02040503050406030204" pitchFamily="18" charset="0"/>
                          </a:rPr>
                        </m:ctrlPr>
                      </m:dPr>
                      <m:e>
                        <m:sSup>
                          <m:sSupPr>
                            <m:ctrlPr>
                              <a:rPr lang="fr-FR" b="0" i="1" smtClean="0">
                                <a:latin typeface="Cambria Math" panose="02040503050406030204" pitchFamily="18" charset="0"/>
                              </a:rPr>
                            </m:ctrlPr>
                          </m:sSupPr>
                          <m:e>
                            <m:r>
                              <a:rPr lang="fr-FR" b="0" i="1" smtClean="0">
                                <a:latin typeface="Cambria Math"/>
                                <a:ea typeface="Cambria Math"/>
                              </a:rPr>
                              <m:t>𝕗</m:t>
                            </m:r>
                          </m:e>
                          <m:sup>
                            <m:r>
                              <a:rPr lang="fr-FR" b="0" i="1" smtClean="0">
                                <a:latin typeface="Cambria Math"/>
                              </a:rPr>
                              <m:t>𝑑</m:t>
                            </m:r>
                          </m:sup>
                        </m:sSup>
                        <m:r>
                          <a:rPr lang="fr-FR" b="0" i="1" smtClean="0">
                            <a:latin typeface="Cambria Math"/>
                          </a:rPr>
                          <m:t>−</m:t>
                        </m:r>
                        <m:sSub>
                          <m:sSubPr>
                            <m:ctrlPr>
                              <a:rPr lang="fr-FR" b="0" i="1" smtClean="0">
                                <a:latin typeface="Cambria Math" panose="02040503050406030204" pitchFamily="18" charset="0"/>
                              </a:rPr>
                            </m:ctrlPr>
                          </m:sSubPr>
                          <m:e>
                            <m:r>
                              <a:rPr lang="fr-FR" b="0" i="1" smtClean="0">
                                <a:latin typeface="Cambria Math"/>
                                <a:ea typeface="Cambria Math"/>
                              </a:rPr>
                              <m:t>𝕗</m:t>
                            </m:r>
                          </m:e>
                          <m:sub>
                            <m:r>
                              <a:rPr lang="fr-FR" b="0" i="1" smtClean="0">
                                <a:latin typeface="Cambria Math"/>
                              </a:rPr>
                              <m:t>𝑒</m:t>
                            </m:r>
                          </m:sub>
                        </m:sSub>
                      </m:e>
                    </m:d>
                  </m:oMath>
                </a14:m>
                <a:r>
                  <a:rPr lang="fr-FR" dirty="0"/>
                  <a:t>	(2v)</a:t>
                </a:r>
              </a:p>
              <a:p>
                <a:pPr marL="0" indent="0">
                  <a:buNone/>
                </a:pPr>
                <a:endParaRPr lang="fr-FR" dirty="0"/>
              </a:p>
              <a:p>
                <a:pPr marL="0" indent="0">
                  <a:buNone/>
                </a:pPr>
                <a:r>
                  <a:rPr lang="fr-FR" dirty="0"/>
                  <a:t>En combinant les équations (1v) et (2v), on obtient :</a:t>
                </a:r>
              </a:p>
              <a:p>
                <a:pPr marL="0" indent="0">
                  <a:buNone/>
                </a:pPr>
                <a14:m>
                  <m:oMathPara xmlns:m="http://schemas.openxmlformats.org/officeDocument/2006/math">
                    <m:oMathParaPr>
                      <m:jc m:val="centerGroup"/>
                    </m:oMathParaPr>
                    <m:oMath xmlns:m="http://schemas.openxmlformats.org/officeDocument/2006/math">
                      <m:r>
                        <a:rPr lang="el-GR" b="1">
                          <a:latin typeface="Cambria Math"/>
                          <a:ea typeface="Cambria Math"/>
                        </a:rPr>
                        <m:t>𝚲</m:t>
                      </m:r>
                      <m:acc>
                        <m:accPr>
                          <m:chr m:val="̈"/>
                          <m:ctrlPr>
                            <a:rPr lang="el-GR" i="1">
                              <a:latin typeface="Cambria Math" panose="02040503050406030204" pitchFamily="18" charset="0"/>
                              <a:ea typeface="Cambria Math"/>
                            </a:rPr>
                          </m:ctrlPr>
                        </m:accPr>
                        <m:e>
                          <m:r>
                            <a:rPr lang="fr-FR" b="1">
                              <a:latin typeface="Cambria Math"/>
                              <a:ea typeface="Cambria Math"/>
                            </a:rPr>
                            <m:t>𝐱</m:t>
                          </m:r>
                        </m:e>
                      </m:acc>
                      <m:r>
                        <a:rPr lang="fr-FR" i="1">
                          <a:latin typeface="Cambria Math"/>
                          <a:ea typeface="Cambria Math"/>
                        </a:rPr>
                        <m:t>+</m:t>
                      </m:r>
                      <m:r>
                        <a:rPr lang="fr-FR" b="1">
                          <a:latin typeface="Cambria Math"/>
                          <a:ea typeface="Cambria Math"/>
                        </a:rPr>
                        <m:t>𝐁</m:t>
                      </m:r>
                      <m:acc>
                        <m:accPr>
                          <m:chr m:val="̇"/>
                          <m:ctrlPr>
                            <a:rPr lang="fr-FR" i="1">
                              <a:latin typeface="Cambria Math" panose="02040503050406030204" pitchFamily="18" charset="0"/>
                              <a:ea typeface="Cambria Math"/>
                            </a:rPr>
                          </m:ctrlPr>
                        </m:accPr>
                        <m:e>
                          <m:r>
                            <a:rPr lang="fr-FR" b="1">
                              <a:latin typeface="Cambria Math"/>
                              <a:ea typeface="Cambria Math"/>
                            </a:rPr>
                            <m:t>𝐱</m:t>
                          </m:r>
                        </m:e>
                      </m:acc>
                      <m:r>
                        <a:rPr lang="fr-FR" i="1">
                          <a:latin typeface="Cambria Math"/>
                          <a:ea typeface="Cambria Math"/>
                        </a:rPr>
                        <m:t>=</m:t>
                      </m:r>
                      <m:r>
                        <a:rPr lang="fr-FR" b="1">
                          <a:latin typeface="Cambria Math"/>
                          <a:ea typeface="Cambria Math"/>
                        </a:rPr>
                        <m:t>𝐊</m:t>
                      </m:r>
                      <m:sSub>
                        <m:sSubPr>
                          <m:ctrlPr>
                            <a:rPr lang="fr-FR" i="1">
                              <a:latin typeface="Cambria Math" panose="02040503050406030204" pitchFamily="18" charset="0"/>
                              <a:ea typeface="Cambria Math"/>
                            </a:rPr>
                          </m:ctrlPr>
                        </m:sSubPr>
                        <m:e>
                          <m:r>
                            <a:rPr lang="fr-FR" b="1">
                              <a:latin typeface="Cambria Math"/>
                              <a:ea typeface="Cambria Math"/>
                            </a:rPr>
                            <m:t>𝐂</m:t>
                          </m:r>
                        </m:e>
                        <m:sub>
                          <m:r>
                            <a:rPr lang="fr-FR" i="1">
                              <a:latin typeface="Cambria Math"/>
                              <a:ea typeface="Cambria Math"/>
                            </a:rPr>
                            <m:t>𝕗</m:t>
                          </m:r>
                        </m:sub>
                      </m:sSub>
                      <m:d>
                        <m:dPr>
                          <m:ctrlPr>
                            <a:rPr lang="fr-FR" i="1">
                              <a:latin typeface="Cambria Math" panose="02040503050406030204" pitchFamily="18" charset="0"/>
                              <a:ea typeface="Cambria Math"/>
                            </a:rPr>
                          </m:ctrlPr>
                        </m:dPr>
                        <m:e>
                          <m:sSup>
                            <m:sSupPr>
                              <m:ctrlPr>
                                <a:rPr lang="fr-FR" i="1">
                                  <a:latin typeface="Cambria Math" panose="02040503050406030204" pitchFamily="18" charset="0"/>
                                  <a:ea typeface="Cambria Math"/>
                                </a:rPr>
                              </m:ctrlPr>
                            </m:sSupPr>
                            <m:e>
                              <m:r>
                                <a:rPr lang="fr-FR" i="1">
                                  <a:latin typeface="Cambria Math"/>
                                  <a:ea typeface="Cambria Math"/>
                                </a:rPr>
                                <m:t>𝕗</m:t>
                              </m:r>
                            </m:e>
                            <m:sup>
                              <m:r>
                                <a:rPr lang="fr-FR" i="1">
                                  <a:latin typeface="Cambria Math"/>
                                  <a:ea typeface="Cambria Math"/>
                                </a:rPr>
                                <m:t>𝑑</m:t>
                              </m:r>
                            </m:sup>
                          </m:sSup>
                          <m:r>
                            <a:rPr lang="fr-FR" b="0" i="1" smtClean="0">
                              <a:latin typeface="Cambria Math"/>
                              <a:ea typeface="Cambria Math"/>
                            </a:rPr>
                            <m:t>−</m:t>
                          </m:r>
                          <m:sSub>
                            <m:sSubPr>
                              <m:ctrlPr>
                                <a:rPr lang="fr-FR" i="1">
                                  <a:latin typeface="Cambria Math" panose="02040503050406030204" pitchFamily="18" charset="0"/>
                                </a:rPr>
                              </m:ctrlPr>
                            </m:sSubPr>
                            <m:e>
                              <m:r>
                                <a:rPr lang="fr-FR" i="1">
                                  <a:latin typeface="Cambria Math"/>
                                  <a:ea typeface="Cambria Math"/>
                                </a:rPr>
                                <m:t>𝕗</m:t>
                              </m:r>
                            </m:e>
                            <m:sub>
                              <m:r>
                                <a:rPr lang="fr-FR" i="1">
                                  <a:latin typeface="Cambria Math"/>
                                </a:rPr>
                                <m:t>𝑒</m:t>
                              </m:r>
                            </m:sub>
                          </m:sSub>
                        </m:e>
                      </m:d>
                    </m:oMath>
                  </m:oMathPara>
                </a14:m>
                <a:endParaRPr lang="fr-FR" dirty="0"/>
              </a:p>
              <a:p>
                <a:pPr marL="0" indent="0">
                  <a:buNone/>
                </a:pPr>
                <a:endParaRPr lang="fr-FR" dirty="0"/>
              </a:p>
              <a:p>
                <a:pPr marL="0" indent="0">
                  <a:buNone/>
                </a:pPr>
                <a:r>
                  <a:rPr lang="fr-FR" dirty="0"/>
                  <a:t>Ou encore sous forme d’équations scalaires  :</a:t>
                </a:r>
              </a:p>
              <a:p>
                <a:pPr marL="0" indent="0" algn="ctr">
                  <a:buNone/>
                </a:pPr>
                <a14:m>
                  <m:oMath xmlns:m="http://schemas.openxmlformats.org/officeDocument/2006/math">
                    <m:d>
                      <m:dPr>
                        <m:begChr m:val="{"/>
                        <m:endChr m:val=""/>
                        <m:ctrlPr>
                          <a:rPr lang="fr-FR" i="1">
                            <a:latin typeface="Cambria Math" panose="02040503050406030204" pitchFamily="18" charset="0"/>
                          </a:rPr>
                        </m:ctrlPr>
                      </m:dPr>
                      <m:e>
                        <m:eqArr>
                          <m:eqArrPr>
                            <m:ctrlPr>
                              <a:rPr lang="fr-FR" i="1">
                                <a:latin typeface="Cambria Math" panose="02040503050406030204" pitchFamily="18" charset="0"/>
                              </a:rPr>
                            </m:ctrlPr>
                          </m:eqArrPr>
                          <m:e>
                            <m:sSub>
                              <m:sSubPr>
                                <m:ctrlPr>
                                  <a:rPr lang="fr-FR" i="1">
                                    <a:latin typeface="Cambria Math" panose="02040503050406030204" pitchFamily="18" charset="0"/>
                                  </a:rPr>
                                </m:ctrlPr>
                              </m:sSubPr>
                              <m:e>
                                <m:r>
                                  <a:rPr lang="fr-FR" i="1">
                                    <a:latin typeface="Cambria Math"/>
                                    <a:ea typeface="Cambria Math"/>
                                  </a:rPr>
                                  <m:t>𝜆</m:t>
                                </m:r>
                              </m:e>
                              <m:sub>
                                <m:r>
                                  <a:rPr lang="fr-FR" i="1">
                                    <a:latin typeface="Cambria Math"/>
                                  </a:rPr>
                                  <m:t>𝑥</m:t>
                                </m:r>
                              </m:sub>
                            </m:sSub>
                            <m:acc>
                              <m:accPr>
                                <m:chr m:val="̈"/>
                                <m:ctrlPr>
                                  <a:rPr lang="fr-FR" i="1">
                                    <a:latin typeface="Cambria Math" panose="02040503050406030204" pitchFamily="18" charset="0"/>
                                  </a:rPr>
                                </m:ctrlPr>
                              </m:accPr>
                              <m:e>
                                <m:r>
                                  <a:rPr lang="fr-FR" i="1">
                                    <a:latin typeface="Cambria Math"/>
                                  </a:rPr>
                                  <m:t>𝑥</m:t>
                                </m:r>
                              </m:e>
                            </m:acc>
                            <m:r>
                              <a:rPr lang="fr-FR" i="1">
                                <a:latin typeface="Cambria Math"/>
                              </a:rPr>
                              <m:t>+</m:t>
                            </m:r>
                            <m:sSub>
                              <m:sSubPr>
                                <m:ctrlPr>
                                  <a:rPr lang="fr-FR" i="1">
                                    <a:latin typeface="Cambria Math" panose="02040503050406030204" pitchFamily="18" charset="0"/>
                                  </a:rPr>
                                </m:ctrlPr>
                              </m:sSubPr>
                              <m:e>
                                <m:r>
                                  <a:rPr lang="fr-FR" i="1">
                                    <a:latin typeface="Cambria Math"/>
                                  </a:rPr>
                                  <m:t>𝑏</m:t>
                                </m:r>
                              </m:e>
                              <m:sub>
                                <m:r>
                                  <a:rPr lang="fr-FR" i="1">
                                    <a:latin typeface="Cambria Math"/>
                                  </a:rPr>
                                  <m:t>𝑥</m:t>
                                </m:r>
                              </m:sub>
                            </m:sSub>
                            <m:acc>
                              <m:accPr>
                                <m:chr m:val="̇"/>
                                <m:ctrlPr>
                                  <a:rPr lang="fr-FR" i="1">
                                    <a:latin typeface="Cambria Math" panose="02040503050406030204" pitchFamily="18" charset="0"/>
                                  </a:rPr>
                                </m:ctrlPr>
                              </m:accPr>
                              <m:e>
                                <m:r>
                                  <a:rPr lang="fr-FR" i="1">
                                    <a:latin typeface="Cambria Math"/>
                                  </a:rPr>
                                  <m:t>𝑥</m:t>
                                </m:r>
                              </m:e>
                            </m:acc>
                            <m:r>
                              <a:rPr lang="fr-FR" i="1">
                                <a:latin typeface="Cambria Math"/>
                              </a:rPr>
                              <m:t>=</m:t>
                            </m:r>
                            <m:sSub>
                              <m:sSubPr>
                                <m:ctrlPr>
                                  <a:rPr lang="fr-FR" i="1">
                                    <a:latin typeface="Cambria Math" panose="02040503050406030204" pitchFamily="18" charset="0"/>
                                  </a:rPr>
                                </m:ctrlPr>
                              </m:sSubPr>
                              <m:e>
                                <m:r>
                                  <a:rPr lang="fr-FR" i="1">
                                    <a:latin typeface="Cambria Math"/>
                                  </a:rPr>
                                  <m:t>𝑘</m:t>
                                </m:r>
                              </m:e>
                              <m:sub>
                                <m:r>
                                  <a:rPr lang="fr-FR" i="1">
                                    <a:latin typeface="Cambria Math"/>
                                  </a:rPr>
                                  <m:t>𝑥</m:t>
                                </m:r>
                              </m:sub>
                            </m:sSub>
                            <m:sSub>
                              <m:sSubPr>
                                <m:ctrlPr>
                                  <a:rPr lang="fr-FR" i="1">
                                    <a:latin typeface="Cambria Math" panose="02040503050406030204" pitchFamily="18" charset="0"/>
                                  </a:rPr>
                                </m:ctrlPr>
                              </m:sSubPr>
                              <m:e>
                                <m:r>
                                  <a:rPr lang="fr-FR" i="1">
                                    <a:latin typeface="Cambria Math"/>
                                  </a:rPr>
                                  <m:t>𝑐</m:t>
                                </m:r>
                              </m:e>
                              <m:sub>
                                <m:sSub>
                                  <m:sSubPr>
                                    <m:ctrlPr>
                                      <a:rPr lang="fr-FR" i="1">
                                        <a:latin typeface="Cambria Math" panose="02040503050406030204" pitchFamily="18" charset="0"/>
                                      </a:rPr>
                                    </m:ctrlPr>
                                  </m:sSubPr>
                                  <m:e>
                                    <m:r>
                                      <a:rPr lang="fr-FR" i="1">
                                        <a:latin typeface="Cambria Math"/>
                                      </a:rPr>
                                      <m:t>𝑓</m:t>
                                    </m:r>
                                  </m:e>
                                  <m:sub>
                                    <m:r>
                                      <a:rPr lang="fr-FR" i="1">
                                        <a:latin typeface="Cambria Math"/>
                                      </a:rPr>
                                      <m:t>𝑥</m:t>
                                    </m:r>
                                  </m:sub>
                                </m:sSub>
                              </m:sub>
                            </m:sSub>
                            <m:d>
                              <m:dPr>
                                <m:ctrlPr>
                                  <a:rPr lang="fr-FR" i="1">
                                    <a:latin typeface="Cambria Math" panose="02040503050406030204" pitchFamily="18" charset="0"/>
                                  </a:rPr>
                                </m:ctrlPr>
                              </m:dPr>
                              <m:e>
                                <m:sSup>
                                  <m:sSupPr>
                                    <m:ctrlPr>
                                      <a:rPr lang="fr-FR" i="1">
                                        <a:latin typeface="Cambria Math" panose="02040503050406030204" pitchFamily="18" charset="0"/>
                                      </a:rPr>
                                    </m:ctrlPr>
                                  </m:sSupPr>
                                  <m:e>
                                    <m:sSub>
                                      <m:sSubPr>
                                        <m:ctrlPr>
                                          <a:rPr lang="fr-FR" i="1">
                                            <a:latin typeface="Cambria Math" panose="02040503050406030204" pitchFamily="18" charset="0"/>
                                          </a:rPr>
                                        </m:ctrlPr>
                                      </m:sSubPr>
                                      <m:e>
                                        <m:r>
                                          <a:rPr lang="fr-FR" i="1">
                                            <a:latin typeface="Cambria Math"/>
                                          </a:rPr>
                                          <m:t>𝑓</m:t>
                                        </m:r>
                                      </m:e>
                                      <m:sub>
                                        <m:r>
                                          <a:rPr lang="fr-FR" i="1">
                                            <a:latin typeface="Cambria Math"/>
                                          </a:rPr>
                                          <m:t>𝑥</m:t>
                                        </m:r>
                                      </m:sub>
                                    </m:sSub>
                                  </m:e>
                                  <m:sup>
                                    <m:r>
                                      <a:rPr lang="fr-FR" i="1">
                                        <a:latin typeface="Cambria Math"/>
                                      </a:rPr>
                                      <m:t>𝑑</m:t>
                                    </m:r>
                                  </m:sup>
                                </m:sSup>
                                <m:r>
                                  <a:rPr lang="fr-FR" i="1">
                                    <a:latin typeface="Cambria Math"/>
                                  </a:rPr>
                                  <m:t>−</m:t>
                                </m:r>
                                <m:sSub>
                                  <m:sSubPr>
                                    <m:ctrlPr>
                                      <a:rPr lang="fr-FR" i="1">
                                        <a:latin typeface="Cambria Math" panose="02040503050406030204" pitchFamily="18" charset="0"/>
                                      </a:rPr>
                                    </m:ctrlPr>
                                  </m:sSubPr>
                                  <m:e>
                                    <m:r>
                                      <a:rPr lang="fr-FR" i="1">
                                        <a:latin typeface="Cambria Math"/>
                                      </a:rPr>
                                      <m:t>𝑓</m:t>
                                    </m:r>
                                  </m:e>
                                  <m:sub>
                                    <m:r>
                                      <a:rPr lang="fr-FR" i="1">
                                        <a:latin typeface="Cambria Math"/>
                                      </a:rPr>
                                      <m:t>𝑒𝑥</m:t>
                                    </m:r>
                                  </m:sub>
                                </m:sSub>
                              </m:e>
                            </m:d>
                          </m:e>
                          <m:e>
                            <m:sSub>
                              <m:sSubPr>
                                <m:ctrlPr>
                                  <a:rPr lang="fr-FR" i="1">
                                    <a:latin typeface="Cambria Math" panose="02040503050406030204" pitchFamily="18" charset="0"/>
                                  </a:rPr>
                                </m:ctrlPr>
                              </m:sSubPr>
                              <m:e>
                                <m:r>
                                  <a:rPr lang="fr-FR" i="1">
                                    <a:latin typeface="Cambria Math"/>
                                    <a:ea typeface="Cambria Math"/>
                                  </a:rPr>
                                  <m:t>𝜆</m:t>
                                </m:r>
                              </m:e>
                              <m:sub>
                                <m:r>
                                  <a:rPr lang="fr-FR" i="1">
                                    <a:latin typeface="Cambria Math"/>
                                  </a:rPr>
                                  <m:t>𝑦</m:t>
                                </m:r>
                              </m:sub>
                            </m:sSub>
                            <m:acc>
                              <m:accPr>
                                <m:chr m:val="̈"/>
                                <m:ctrlPr>
                                  <a:rPr lang="fr-FR" i="1">
                                    <a:latin typeface="Cambria Math" panose="02040503050406030204" pitchFamily="18" charset="0"/>
                                  </a:rPr>
                                </m:ctrlPr>
                              </m:accPr>
                              <m:e>
                                <m:r>
                                  <a:rPr lang="fr-FR" i="1">
                                    <a:latin typeface="Cambria Math"/>
                                  </a:rPr>
                                  <m:t>𝑦</m:t>
                                </m:r>
                              </m:e>
                            </m:acc>
                            <m:r>
                              <a:rPr lang="fr-FR" i="1">
                                <a:latin typeface="Cambria Math"/>
                              </a:rPr>
                              <m:t>+</m:t>
                            </m:r>
                            <m:sSub>
                              <m:sSubPr>
                                <m:ctrlPr>
                                  <a:rPr lang="fr-FR" i="1">
                                    <a:latin typeface="Cambria Math" panose="02040503050406030204" pitchFamily="18" charset="0"/>
                                  </a:rPr>
                                </m:ctrlPr>
                              </m:sSubPr>
                              <m:e>
                                <m:r>
                                  <a:rPr lang="fr-FR" i="1">
                                    <a:latin typeface="Cambria Math"/>
                                  </a:rPr>
                                  <m:t>𝑏</m:t>
                                </m:r>
                              </m:e>
                              <m:sub>
                                <m:r>
                                  <a:rPr lang="fr-FR" i="1">
                                    <a:latin typeface="Cambria Math"/>
                                  </a:rPr>
                                  <m:t>𝑦</m:t>
                                </m:r>
                              </m:sub>
                            </m:sSub>
                            <m:acc>
                              <m:accPr>
                                <m:chr m:val="̇"/>
                                <m:ctrlPr>
                                  <a:rPr lang="fr-FR" i="1">
                                    <a:latin typeface="Cambria Math" panose="02040503050406030204" pitchFamily="18" charset="0"/>
                                  </a:rPr>
                                </m:ctrlPr>
                              </m:accPr>
                              <m:e>
                                <m:r>
                                  <a:rPr lang="fr-FR" i="1">
                                    <a:latin typeface="Cambria Math"/>
                                  </a:rPr>
                                  <m:t>𝑦</m:t>
                                </m:r>
                              </m:e>
                            </m:acc>
                            <m:r>
                              <a:rPr lang="fr-FR" i="1">
                                <a:latin typeface="Cambria Math"/>
                              </a:rPr>
                              <m:t>=0</m:t>
                            </m:r>
                          </m:e>
                        </m:eqArr>
                      </m:e>
                    </m:d>
                  </m:oMath>
                </a14:m>
                <a:r>
                  <a:rPr lang="fr-FR" dirty="0"/>
                  <a:t>	(3v)</a:t>
                </a:r>
              </a:p>
              <a:p>
                <a:pPr marL="0" indent="0">
                  <a:buNone/>
                </a:pPr>
                <a:endParaRPr lang="fr-FR"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3"/>
                <a:stretch>
                  <a:fillRect l="-1096" t="-884"/>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en effort avec boucle interne en vitesse</a:t>
            </a:r>
          </a:p>
        </p:txBody>
      </p:sp>
    </p:spTree>
    <p:extLst>
      <p:ext uri="{BB962C8B-B14F-4D97-AF65-F5344CB8AC3E}">
        <p14:creationId xmlns:p14="http://schemas.microsoft.com/office/powerpoint/2010/main" val="52528489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r>
                  <a:rPr lang="fr-FR" dirty="0"/>
                  <a:t>En appliquant la transformée de Laplace (3v. eq.1), on obtient :</a:t>
                </a:r>
              </a:p>
              <a:p>
                <a:pPr marL="0" indent="0" algn="ctr">
                  <a:buNone/>
                </a:pPr>
                <a14:m>
                  <m:oMath xmlns:m="http://schemas.openxmlformats.org/officeDocument/2006/math">
                    <m:r>
                      <a:rPr lang="fr-FR" i="1">
                        <a:latin typeface="Cambria Math"/>
                      </a:rPr>
                      <m:t>𝑥</m:t>
                    </m:r>
                    <m:r>
                      <a:rPr lang="fr-FR" i="1">
                        <a:latin typeface="Cambria Math"/>
                      </a:rPr>
                      <m:t>=</m:t>
                    </m:r>
                    <m:f>
                      <m:fPr>
                        <m:ctrlPr>
                          <a:rPr lang="fr-FR" i="1">
                            <a:latin typeface="Cambria Math" panose="02040503050406030204" pitchFamily="18" charset="0"/>
                          </a:rPr>
                        </m:ctrlPr>
                      </m:fPr>
                      <m:num>
                        <m:sSub>
                          <m:sSubPr>
                            <m:ctrlPr>
                              <a:rPr lang="fr-FR" i="1">
                                <a:latin typeface="Cambria Math" panose="02040503050406030204" pitchFamily="18" charset="0"/>
                              </a:rPr>
                            </m:ctrlPr>
                          </m:sSubPr>
                          <m:e>
                            <m:r>
                              <a:rPr lang="fr-FR" i="1">
                                <a:latin typeface="Cambria Math"/>
                              </a:rPr>
                              <m:t>𝑘</m:t>
                            </m:r>
                          </m:e>
                          <m:sub>
                            <m:r>
                              <a:rPr lang="fr-FR" i="1">
                                <a:latin typeface="Cambria Math"/>
                              </a:rPr>
                              <m:t>𝑥</m:t>
                            </m:r>
                          </m:sub>
                        </m:sSub>
                        <m:sSub>
                          <m:sSubPr>
                            <m:ctrlPr>
                              <a:rPr lang="fr-FR" i="1">
                                <a:latin typeface="Cambria Math" panose="02040503050406030204" pitchFamily="18" charset="0"/>
                              </a:rPr>
                            </m:ctrlPr>
                          </m:sSubPr>
                          <m:e>
                            <m:r>
                              <a:rPr lang="fr-FR" i="1">
                                <a:latin typeface="Cambria Math"/>
                              </a:rPr>
                              <m:t>𝑐</m:t>
                            </m:r>
                          </m:e>
                          <m:sub>
                            <m:sSub>
                              <m:sSubPr>
                                <m:ctrlPr>
                                  <a:rPr lang="fr-FR" i="1">
                                    <a:latin typeface="Cambria Math" panose="02040503050406030204" pitchFamily="18" charset="0"/>
                                  </a:rPr>
                                </m:ctrlPr>
                              </m:sSubPr>
                              <m:e>
                                <m:r>
                                  <a:rPr lang="fr-FR" i="1">
                                    <a:latin typeface="Cambria Math"/>
                                  </a:rPr>
                                  <m:t>𝑓</m:t>
                                </m:r>
                              </m:e>
                              <m:sub>
                                <m:r>
                                  <a:rPr lang="fr-FR" i="1">
                                    <a:latin typeface="Cambria Math"/>
                                  </a:rPr>
                                  <m:t>𝑥</m:t>
                                </m:r>
                              </m:sub>
                            </m:sSub>
                          </m:sub>
                        </m:sSub>
                      </m:num>
                      <m:den>
                        <m:sSub>
                          <m:sSubPr>
                            <m:ctrlPr>
                              <a:rPr lang="fr-FR" i="1">
                                <a:latin typeface="Cambria Math" panose="02040503050406030204" pitchFamily="18" charset="0"/>
                              </a:rPr>
                            </m:ctrlPr>
                          </m:sSubPr>
                          <m:e>
                            <m:r>
                              <a:rPr lang="fr-FR" i="1">
                                <a:latin typeface="Cambria Math"/>
                                <a:ea typeface="Cambria Math"/>
                              </a:rPr>
                              <m:t>𝜆</m:t>
                            </m:r>
                          </m:e>
                          <m:sub>
                            <m:r>
                              <a:rPr lang="fr-FR" i="1">
                                <a:latin typeface="Cambria Math"/>
                              </a:rPr>
                              <m:t>𝑥</m:t>
                            </m:r>
                          </m:sub>
                        </m:sSub>
                        <m:sSup>
                          <m:sSupPr>
                            <m:ctrlPr>
                              <a:rPr lang="fr-FR" i="1">
                                <a:latin typeface="Cambria Math" panose="02040503050406030204" pitchFamily="18" charset="0"/>
                              </a:rPr>
                            </m:ctrlPr>
                          </m:sSupPr>
                          <m:e>
                            <m:r>
                              <a:rPr lang="fr-FR" i="1">
                                <a:latin typeface="Cambria Math"/>
                              </a:rPr>
                              <m:t>𝑠</m:t>
                            </m:r>
                          </m:e>
                          <m:sup>
                            <m:r>
                              <a:rPr lang="fr-FR" i="1">
                                <a:latin typeface="Cambria Math"/>
                              </a:rPr>
                              <m:t>2</m:t>
                            </m:r>
                          </m:sup>
                        </m:sSup>
                        <m:r>
                          <a:rPr lang="fr-FR" i="1">
                            <a:latin typeface="Cambria Math"/>
                          </a:rPr>
                          <m:t>+</m:t>
                        </m:r>
                        <m:sSub>
                          <m:sSubPr>
                            <m:ctrlPr>
                              <a:rPr lang="fr-FR" i="1">
                                <a:latin typeface="Cambria Math" panose="02040503050406030204" pitchFamily="18" charset="0"/>
                              </a:rPr>
                            </m:ctrlPr>
                          </m:sSubPr>
                          <m:e>
                            <m:r>
                              <a:rPr lang="fr-FR" i="1">
                                <a:latin typeface="Cambria Math"/>
                              </a:rPr>
                              <m:t>𝑏</m:t>
                            </m:r>
                          </m:e>
                          <m:sub>
                            <m:r>
                              <a:rPr lang="fr-FR" i="1">
                                <a:latin typeface="Cambria Math"/>
                              </a:rPr>
                              <m:t>𝑥</m:t>
                            </m:r>
                          </m:sub>
                        </m:sSub>
                        <m:r>
                          <a:rPr lang="fr-FR" i="1">
                            <a:latin typeface="Cambria Math"/>
                          </a:rPr>
                          <m:t>𝑠</m:t>
                        </m:r>
                      </m:den>
                    </m:f>
                    <m:d>
                      <m:dPr>
                        <m:ctrlPr>
                          <a:rPr lang="fr-FR" i="1">
                            <a:latin typeface="Cambria Math" panose="02040503050406030204" pitchFamily="18" charset="0"/>
                          </a:rPr>
                        </m:ctrlPr>
                      </m:dPr>
                      <m:e>
                        <m:sSup>
                          <m:sSupPr>
                            <m:ctrlPr>
                              <a:rPr lang="fr-FR" i="1">
                                <a:latin typeface="Cambria Math" panose="02040503050406030204" pitchFamily="18" charset="0"/>
                              </a:rPr>
                            </m:ctrlPr>
                          </m:sSupPr>
                          <m:e>
                            <m:sSub>
                              <m:sSubPr>
                                <m:ctrlPr>
                                  <a:rPr lang="fr-FR" i="1">
                                    <a:latin typeface="Cambria Math" panose="02040503050406030204" pitchFamily="18" charset="0"/>
                                  </a:rPr>
                                </m:ctrlPr>
                              </m:sSubPr>
                              <m:e>
                                <m:r>
                                  <a:rPr lang="fr-FR" i="1">
                                    <a:latin typeface="Cambria Math"/>
                                  </a:rPr>
                                  <m:t>𝑓</m:t>
                                </m:r>
                              </m:e>
                              <m:sub>
                                <m:r>
                                  <a:rPr lang="fr-FR" i="1">
                                    <a:latin typeface="Cambria Math"/>
                                  </a:rPr>
                                  <m:t>𝑥</m:t>
                                </m:r>
                              </m:sub>
                            </m:sSub>
                          </m:e>
                          <m:sup>
                            <m:r>
                              <a:rPr lang="fr-FR" i="1">
                                <a:latin typeface="Cambria Math"/>
                              </a:rPr>
                              <m:t>𝑑</m:t>
                            </m:r>
                          </m:sup>
                        </m:sSup>
                        <m:r>
                          <a:rPr lang="fr-FR" i="1">
                            <a:latin typeface="Cambria Math"/>
                          </a:rPr>
                          <m:t>−</m:t>
                        </m:r>
                        <m:sSub>
                          <m:sSubPr>
                            <m:ctrlPr>
                              <a:rPr lang="fr-FR" i="1">
                                <a:latin typeface="Cambria Math" panose="02040503050406030204" pitchFamily="18" charset="0"/>
                              </a:rPr>
                            </m:ctrlPr>
                          </m:sSubPr>
                          <m:e>
                            <m:r>
                              <a:rPr lang="fr-FR" i="1">
                                <a:latin typeface="Cambria Math"/>
                              </a:rPr>
                              <m:t>𝑓</m:t>
                            </m:r>
                          </m:e>
                          <m:sub>
                            <m:r>
                              <a:rPr lang="fr-FR" i="1">
                                <a:latin typeface="Cambria Math"/>
                              </a:rPr>
                              <m:t>𝑒𝑥</m:t>
                            </m:r>
                          </m:sub>
                        </m:sSub>
                      </m:e>
                    </m:d>
                  </m:oMath>
                </a14:m>
                <a:r>
                  <a:rPr lang="fr-FR" dirty="0"/>
                  <a:t>	(4v)</a:t>
                </a:r>
              </a:p>
              <a:p>
                <a:pPr marL="0" indent="0">
                  <a:buNone/>
                </a:pPr>
                <a:endParaRPr lang="fr-FR" dirty="0"/>
              </a:p>
              <a:p>
                <a:pPr marL="0" indent="0">
                  <a:buNone/>
                </a:pPr>
                <a:r>
                  <a:rPr lang="fr-FR" dirty="0"/>
                  <a:t>L’effort de contact, appliqué suivant l’axe </a:t>
                </a:r>
                <a14:m>
                  <m:oMath xmlns:m="http://schemas.openxmlformats.org/officeDocument/2006/math">
                    <m:r>
                      <a:rPr lang="fr-FR" i="1">
                        <a:latin typeface="Cambria Math"/>
                      </a:rPr>
                      <m:t>𝑥</m:t>
                    </m:r>
                    <m:r>
                      <a:rPr lang="fr-FR" b="0" i="1" smtClean="0">
                        <a:latin typeface="Cambria Math"/>
                      </a:rPr>
                      <m:t>,</m:t>
                    </m:r>
                    <m:r>
                      <a:rPr lang="fr-FR" i="1">
                        <a:latin typeface="Cambria Math"/>
                      </a:rPr>
                      <m:t> </m:t>
                    </m:r>
                  </m:oMath>
                </a14:m>
                <a:r>
                  <a:rPr lang="fr-FR" dirty="0"/>
                  <a:t>est donné par :</a:t>
                </a:r>
              </a:p>
              <a:p>
                <a:pPr marL="0" indent="0" algn="ctr">
                  <a:buNone/>
                </a:pPr>
                <a14:m>
                  <m:oMath xmlns:m="http://schemas.openxmlformats.org/officeDocument/2006/math">
                    <m:sSub>
                      <m:sSubPr>
                        <m:ctrlPr>
                          <a:rPr lang="fr-FR" i="1">
                            <a:latin typeface="Cambria Math" panose="02040503050406030204" pitchFamily="18" charset="0"/>
                          </a:rPr>
                        </m:ctrlPr>
                      </m:sSubPr>
                      <m:e>
                        <m:r>
                          <a:rPr lang="fr-FR" i="1">
                            <a:latin typeface="Cambria Math"/>
                          </a:rPr>
                          <m:t>𝑓</m:t>
                        </m:r>
                      </m:e>
                      <m:sub>
                        <m:r>
                          <a:rPr lang="fr-FR" i="1">
                            <a:latin typeface="Cambria Math"/>
                          </a:rPr>
                          <m:t>𝑒𝑥</m:t>
                        </m:r>
                      </m:sub>
                    </m:sSub>
                    <m:r>
                      <a:rPr lang="fr-FR" i="1">
                        <a:latin typeface="Cambria Math"/>
                      </a:rPr>
                      <m:t>=</m:t>
                    </m:r>
                    <m:sSub>
                      <m:sSubPr>
                        <m:ctrlPr>
                          <a:rPr lang="fr-FR" i="1">
                            <a:latin typeface="Cambria Math" panose="02040503050406030204" pitchFamily="18" charset="0"/>
                          </a:rPr>
                        </m:ctrlPr>
                      </m:sSubPr>
                      <m:e>
                        <m:r>
                          <a:rPr lang="fr-FR" i="1">
                            <a:latin typeface="Cambria Math"/>
                          </a:rPr>
                          <m:t>𝑘</m:t>
                        </m:r>
                      </m:e>
                      <m:sub>
                        <m:r>
                          <a:rPr lang="fr-FR" i="1">
                            <a:latin typeface="Cambria Math"/>
                          </a:rPr>
                          <m:t>𝑒𝑥</m:t>
                        </m:r>
                      </m:sub>
                    </m:sSub>
                    <m:d>
                      <m:dPr>
                        <m:ctrlPr>
                          <a:rPr lang="fr-FR" i="1">
                            <a:latin typeface="Cambria Math" panose="02040503050406030204" pitchFamily="18" charset="0"/>
                          </a:rPr>
                        </m:ctrlPr>
                      </m:dPr>
                      <m:e>
                        <m:r>
                          <a:rPr lang="fr-FR" i="1">
                            <a:latin typeface="Cambria Math"/>
                          </a:rPr>
                          <m:t>𝑥</m:t>
                        </m:r>
                        <m:r>
                          <a:rPr lang="fr-FR" i="1">
                            <a:latin typeface="Cambria Math"/>
                          </a:rPr>
                          <m:t>−</m:t>
                        </m:r>
                        <m:sSub>
                          <m:sSubPr>
                            <m:ctrlPr>
                              <a:rPr lang="fr-FR" i="1">
                                <a:latin typeface="Cambria Math" panose="02040503050406030204" pitchFamily="18" charset="0"/>
                              </a:rPr>
                            </m:ctrlPr>
                          </m:sSubPr>
                          <m:e>
                            <m:r>
                              <a:rPr lang="fr-FR" i="1">
                                <a:latin typeface="Cambria Math"/>
                              </a:rPr>
                              <m:t>𝑥</m:t>
                            </m:r>
                          </m:e>
                          <m:sub>
                            <m:r>
                              <a:rPr lang="fr-FR" i="1">
                                <a:latin typeface="Cambria Math"/>
                              </a:rPr>
                              <m:t>𝑒</m:t>
                            </m:r>
                          </m:sub>
                        </m:sSub>
                      </m:e>
                    </m:d>
                  </m:oMath>
                </a14:m>
                <a:r>
                  <a:rPr lang="fr-FR" dirty="0"/>
                  <a:t>	(5v)</a:t>
                </a:r>
              </a:p>
              <a:p>
                <a:pPr marL="0" indent="0" algn="ctr">
                  <a:buNone/>
                </a:pPr>
                <a:endParaRPr lang="fr-FR" dirty="0"/>
              </a:p>
              <a:p>
                <a:pPr marL="0" indent="0">
                  <a:buNone/>
                </a:pPr>
                <a:r>
                  <a:rPr lang="fr-FR" dirty="0"/>
                  <a:t>En combinant les équations (4v) et (5v), on obtient :</a:t>
                </a:r>
              </a:p>
              <a:p>
                <a:pPr marL="0" indent="0">
                  <a:buNone/>
                </a:pPr>
                <a:endParaRPr lang="fr-FR" dirty="0"/>
              </a:p>
              <a:p>
                <a:pPr marL="0" indent="0">
                  <a:buNone/>
                </a:pPr>
                <a14:m>
                  <m:oMathPara xmlns:m="http://schemas.openxmlformats.org/officeDocument/2006/math">
                    <m:oMathParaPr>
                      <m:jc m:val="centerGroup"/>
                    </m:oMathParaPr>
                    <m:oMath xmlns:m="http://schemas.openxmlformats.org/officeDocument/2006/math">
                      <m:sSub>
                        <m:sSubPr>
                          <m:ctrlPr>
                            <a:rPr lang="fr-FR" i="1">
                              <a:solidFill>
                                <a:srgbClr val="FF0000"/>
                              </a:solidFill>
                              <a:latin typeface="Cambria Math" panose="02040503050406030204" pitchFamily="18" charset="0"/>
                            </a:rPr>
                          </m:ctrlPr>
                        </m:sSubPr>
                        <m:e>
                          <m:r>
                            <a:rPr lang="fr-FR" i="1">
                              <a:solidFill>
                                <a:srgbClr val="FF0000"/>
                              </a:solidFill>
                              <a:latin typeface="Cambria Math"/>
                            </a:rPr>
                            <m:t>𝑓</m:t>
                          </m:r>
                        </m:e>
                        <m:sub>
                          <m:r>
                            <a:rPr lang="fr-FR" i="1">
                              <a:solidFill>
                                <a:srgbClr val="FF0000"/>
                              </a:solidFill>
                              <a:latin typeface="Cambria Math"/>
                            </a:rPr>
                            <m:t>𝑒</m:t>
                          </m:r>
                          <m:r>
                            <a:rPr lang="fr-FR" b="0" i="1" smtClean="0">
                              <a:solidFill>
                                <a:srgbClr val="FF0000"/>
                              </a:solidFill>
                              <a:latin typeface="Cambria Math"/>
                            </a:rPr>
                            <m:t>𝑥</m:t>
                          </m:r>
                        </m:sub>
                      </m:sSub>
                      <m:r>
                        <a:rPr lang="fr-FR" i="1">
                          <a:latin typeface="Cambria Math"/>
                        </a:rPr>
                        <m:t>=</m:t>
                      </m:r>
                      <m:f>
                        <m:fPr>
                          <m:ctrlPr>
                            <a:rPr lang="fr-FR" i="1">
                              <a:latin typeface="Cambria Math" panose="02040503050406030204" pitchFamily="18" charset="0"/>
                            </a:rPr>
                          </m:ctrlPr>
                        </m:fPr>
                        <m:num>
                          <m:sSub>
                            <m:sSubPr>
                              <m:ctrlPr>
                                <a:rPr lang="fr-FR" i="1">
                                  <a:latin typeface="Cambria Math" panose="02040503050406030204" pitchFamily="18" charset="0"/>
                                </a:rPr>
                              </m:ctrlPr>
                            </m:sSubPr>
                            <m:e>
                              <m:r>
                                <a:rPr lang="fr-FR" i="1">
                                  <a:latin typeface="Cambria Math"/>
                                </a:rPr>
                                <m:t>𝑘</m:t>
                              </m:r>
                            </m:e>
                            <m:sub>
                              <m:r>
                                <a:rPr lang="fr-FR" i="1">
                                  <a:latin typeface="Cambria Math"/>
                                </a:rPr>
                                <m:t>𝑒</m:t>
                              </m:r>
                              <m:r>
                                <a:rPr lang="fr-FR" b="0" i="1" smtClean="0">
                                  <a:latin typeface="Cambria Math"/>
                                </a:rPr>
                                <m:t>𝑥</m:t>
                              </m:r>
                            </m:sub>
                          </m:sSub>
                        </m:num>
                        <m:den>
                          <m:sSub>
                            <m:sSubPr>
                              <m:ctrlPr>
                                <a:rPr lang="fr-FR" i="1" smtClean="0">
                                  <a:latin typeface="Cambria Math" panose="02040503050406030204" pitchFamily="18" charset="0"/>
                                </a:rPr>
                              </m:ctrlPr>
                            </m:sSubPr>
                            <m:e>
                              <m:r>
                                <a:rPr lang="fr-FR" i="1" smtClean="0">
                                  <a:latin typeface="Cambria Math"/>
                                  <a:ea typeface="Cambria Math"/>
                                </a:rPr>
                                <m:t>𝜆</m:t>
                              </m:r>
                            </m:e>
                            <m:sub>
                              <m:r>
                                <a:rPr lang="fr-FR" b="0" i="1" smtClean="0">
                                  <a:latin typeface="Cambria Math"/>
                                </a:rPr>
                                <m:t>𝑥</m:t>
                              </m:r>
                            </m:sub>
                          </m:sSub>
                          <m:sSup>
                            <m:sSupPr>
                              <m:ctrlPr>
                                <a:rPr lang="fr-FR" i="1">
                                  <a:latin typeface="Cambria Math" panose="02040503050406030204" pitchFamily="18" charset="0"/>
                                  <a:ea typeface="Cambria Math"/>
                                </a:rPr>
                              </m:ctrlPr>
                            </m:sSupPr>
                            <m:e>
                              <m:r>
                                <a:rPr lang="fr-FR" i="1">
                                  <a:latin typeface="Cambria Math"/>
                                  <a:ea typeface="Cambria Math"/>
                                </a:rPr>
                                <m:t>𝑠</m:t>
                              </m:r>
                            </m:e>
                            <m:sup>
                              <m:r>
                                <a:rPr lang="fr-FR" i="1">
                                  <a:latin typeface="Cambria Math"/>
                                  <a:ea typeface="Cambria Math"/>
                                </a:rPr>
                                <m:t>2</m:t>
                              </m:r>
                            </m:sup>
                          </m:sSup>
                          <m:r>
                            <a:rPr lang="fr-FR" i="1">
                              <a:latin typeface="Cambria Math"/>
                              <a:ea typeface="Cambria Math"/>
                            </a:rPr>
                            <m:t>+</m:t>
                          </m:r>
                          <m:sSub>
                            <m:sSubPr>
                              <m:ctrlPr>
                                <a:rPr lang="fr-FR" i="1" smtClean="0">
                                  <a:latin typeface="Cambria Math" panose="02040503050406030204" pitchFamily="18" charset="0"/>
                                  <a:ea typeface="Cambria Math"/>
                                </a:rPr>
                              </m:ctrlPr>
                            </m:sSubPr>
                            <m:e>
                              <m:r>
                                <a:rPr lang="fr-FR" b="0" i="1" smtClean="0">
                                  <a:latin typeface="Cambria Math"/>
                                  <a:ea typeface="Cambria Math"/>
                                </a:rPr>
                                <m:t>𝑏</m:t>
                              </m:r>
                            </m:e>
                            <m:sub>
                              <m:r>
                                <a:rPr lang="fr-FR" b="0" i="1" smtClean="0">
                                  <a:latin typeface="Cambria Math"/>
                                  <a:ea typeface="Cambria Math"/>
                                </a:rPr>
                                <m:t>𝑥</m:t>
                              </m:r>
                            </m:sub>
                          </m:sSub>
                          <m:r>
                            <a:rPr lang="fr-FR" i="1">
                              <a:latin typeface="Cambria Math"/>
                              <a:ea typeface="Cambria Math"/>
                            </a:rPr>
                            <m:t>𝑠</m:t>
                          </m:r>
                          <m:r>
                            <a:rPr lang="fr-FR" i="1">
                              <a:latin typeface="Cambria Math"/>
                              <a:ea typeface="Cambria Math"/>
                            </a:rPr>
                            <m:t>+</m:t>
                          </m:r>
                          <m:sSub>
                            <m:sSubPr>
                              <m:ctrlPr>
                                <a:rPr lang="fr-FR" i="1">
                                  <a:latin typeface="Cambria Math" panose="02040503050406030204" pitchFamily="18" charset="0"/>
                                  <a:ea typeface="Cambria Math"/>
                                </a:rPr>
                              </m:ctrlPr>
                            </m:sSubPr>
                            <m:e>
                              <m:r>
                                <a:rPr lang="fr-FR" i="1">
                                  <a:latin typeface="Cambria Math"/>
                                  <a:ea typeface="Cambria Math"/>
                                </a:rPr>
                                <m:t>𝑘</m:t>
                              </m:r>
                            </m:e>
                            <m:sub>
                              <m:r>
                                <a:rPr lang="fr-FR" i="1">
                                  <a:latin typeface="Cambria Math"/>
                                  <a:ea typeface="Cambria Math"/>
                                </a:rPr>
                                <m:t>𝑒</m:t>
                              </m:r>
                              <m:r>
                                <a:rPr lang="fr-FR" b="0" i="1" smtClean="0">
                                  <a:latin typeface="Cambria Math"/>
                                  <a:ea typeface="Cambria Math"/>
                                </a:rPr>
                                <m:t>𝑥</m:t>
                              </m:r>
                            </m:sub>
                          </m:sSub>
                          <m:sSub>
                            <m:sSubPr>
                              <m:ctrlPr>
                                <a:rPr lang="fr-FR" i="1" smtClean="0">
                                  <a:latin typeface="Cambria Math" panose="02040503050406030204" pitchFamily="18" charset="0"/>
                                  <a:ea typeface="Cambria Math"/>
                                </a:rPr>
                              </m:ctrlPr>
                            </m:sSubPr>
                            <m:e>
                              <m:r>
                                <a:rPr lang="fr-FR" b="0" i="1" smtClean="0">
                                  <a:latin typeface="Cambria Math"/>
                                  <a:ea typeface="Cambria Math"/>
                                </a:rPr>
                                <m:t>𝑘</m:t>
                              </m:r>
                            </m:e>
                            <m:sub>
                              <m:r>
                                <a:rPr lang="fr-FR" b="0" i="1" smtClean="0">
                                  <a:latin typeface="Cambria Math"/>
                                  <a:ea typeface="Cambria Math"/>
                                </a:rPr>
                                <m:t>𝑥</m:t>
                              </m:r>
                            </m:sub>
                          </m:sSub>
                          <m:sSub>
                            <m:sSubPr>
                              <m:ctrlPr>
                                <a:rPr lang="fr-FR" i="1" smtClean="0">
                                  <a:latin typeface="Cambria Math" panose="02040503050406030204" pitchFamily="18" charset="0"/>
                                  <a:ea typeface="Cambria Math"/>
                                </a:rPr>
                              </m:ctrlPr>
                            </m:sSubPr>
                            <m:e>
                              <m:r>
                                <a:rPr lang="fr-FR" b="0" i="1" smtClean="0">
                                  <a:latin typeface="Cambria Math"/>
                                  <a:ea typeface="Cambria Math"/>
                                </a:rPr>
                                <m:t>𝑐</m:t>
                              </m:r>
                            </m:e>
                            <m:sub>
                              <m:sSub>
                                <m:sSubPr>
                                  <m:ctrlPr>
                                    <a:rPr lang="fr-FR" i="1" smtClean="0">
                                      <a:latin typeface="Cambria Math" panose="02040503050406030204" pitchFamily="18" charset="0"/>
                                      <a:ea typeface="Cambria Math"/>
                                    </a:rPr>
                                  </m:ctrlPr>
                                </m:sSubPr>
                                <m:e>
                                  <m:r>
                                    <a:rPr lang="fr-FR" b="0" i="1" smtClean="0">
                                      <a:latin typeface="Cambria Math"/>
                                      <a:ea typeface="Cambria Math"/>
                                    </a:rPr>
                                    <m:t>𝑓</m:t>
                                  </m:r>
                                </m:e>
                                <m:sub>
                                  <m:r>
                                    <a:rPr lang="fr-FR" b="0" i="1" smtClean="0">
                                      <a:latin typeface="Cambria Math"/>
                                      <a:ea typeface="Cambria Math"/>
                                    </a:rPr>
                                    <m:t>𝑥</m:t>
                                  </m:r>
                                </m:sub>
                              </m:sSub>
                            </m:sub>
                          </m:sSub>
                        </m:den>
                      </m:f>
                      <m:d>
                        <m:dPr>
                          <m:ctrlPr>
                            <a:rPr lang="fr-FR" i="1">
                              <a:latin typeface="Cambria Math" panose="02040503050406030204" pitchFamily="18" charset="0"/>
                            </a:rPr>
                          </m:ctrlPr>
                        </m:dPr>
                        <m:e>
                          <m:sSub>
                            <m:sSubPr>
                              <m:ctrlPr>
                                <a:rPr lang="fr-FR" i="1" smtClean="0">
                                  <a:latin typeface="Cambria Math" panose="02040503050406030204" pitchFamily="18" charset="0"/>
                                </a:rPr>
                              </m:ctrlPr>
                            </m:sSubPr>
                            <m:e>
                              <m:r>
                                <a:rPr lang="fr-FR" b="0" i="1" smtClean="0">
                                  <a:latin typeface="Cambria Math"/>
                                </a:rPr>
                                <m:t>𝑘</m:t>
                              </m:r>
                            </m:e>
                            <m:sub>
                              <m:r>
                                <a:rPr lang="fr-FR" b="0" i="1" smtClean="0">
                                  <a:latin typeface="Cambria Math"/>
                                </a:rPr>
                                <m:t>𝑥</m:t>
                              </m:r>
                            </m:sub>
                          </m:sSub>
                          <m:sSub>
                            <m:sSubPr>
                              <m:ctrlPr>
                                <a:rPr lang="fr-FR" i="1">
                                  <a:latin typeface="Cambria Math" panose="02040503050406030204" pitchFamily="18" charset="0"/>
                                </a:rPr>
                              </m:ctrlPr>
                            </m:sSubPr>
                            <m:e>
                              <m:r>
                                <a:rPr lang="fr-FR" b="0" i="1" smtClean="0">
                                  <a:latin typeface="Cambria Math"/>
                                </a:rPr>
                                <m:t>𝑐</m:t>
                              </m:r>
                            </m:e>
                            <m:sub>
                              <m:sSub>
                                <m:sSubPr>
                                  <m:ctrlPr>
                                    <a:rPr lang="fr-FR" i="1" smtClean="0">
                                      <a:latin typeface="Cambria Math" panose="02040503050406030204" pitchFamily="18" charset="0"/>
                                    </a:rPr>
                                  </m:ctrlPr>
                                </m:sSubPr>
                                <m:e>
                                  <m:r>
                                    <a:rPr lang="fr-FR" b="0" i="1" smtClean="0">
                                      <a:latin typeface="Cambria Math"/>
                                    </a:rPr>
                                    <m:t>𝑓</m:t>
                                  </m:r>
                                </m:e>
                                <m:sub>
                                  <m:r>
                                    <a:rPr lang="fr-FR" b="0" i="1" smtClean="0">
                                      <a:latin typeface="Cambria Math"/>
                                    </a:rPr>
                                    <m:t>𝑥</m:t>
                                  </m:r>
                                </m:sub>
                              </m:sSub>
                            </m:sub>
                          </m:sSub>
                          <m:sSup>
                            <m:sSupPr>
                              <m:ctrlPr>
                                <a:rPr lang="fr-FR" i="1">
                                  <a:solidFill>
                                    <a:srgbClr val="FF0000"/>
                                  </a:solidFill>
                                  <a:latin typeface="Cambria Math" panose="02040503050406030204" pitchFamily="18" charset="0"/>
                                </a:rPr>
                              </m:ctrlPr>
                            </m:sSupPr>
                            <m:e>
                              <m:sSub>
                                <m:sSubPr>
                                  <m:ctrlPr>
                                    <a:rPr lang="fr-FR" i="1" smtClean="0">
                                      <a:solidFill>
                                        <a:srgbClr val="FF0000"/>
                                      </a:solidFill>
                                      <a:latin typeface="Cambria Math" panose="02040503050406030204" pitchFamily="18" charset="0"/>
                                    </a:rPr>
                                  </m:ctrlPr>
                                </m:sSubPr>
                                <m:e>
                                  <m:r>
                                    <a:rPr lang="fr-FR" b="0" i="1" smtClean="0">
                                      <a:solidFill>
                                        <a:srgbClr val="FF0000"/>
                                      </a:solidFill>
                                      <a:latin typeface="Cambria Math"/>
                                    </a:rPr>
                                    <m:t>𝑓</m:t>
                                  </m:r>
                                </m:e>
                                <m:sub>
                                  <m:r>
                                    <a:rPr lang="fr-FR" b="0" i="1" smtClean="0">
                                      <a:solidFill>
                                        <a:srgbClr val="FF0000"/>
                                      </a:solidFill>
                                      <a:latin typeface="Cambria Math"/>
                                    </a:rPr>
                                    <m:t>𝑥</m:t>
                                  </m:r>
                                </m:sub>
                              </m:sSub>
                            </m:e>
                            <m:sup>
                              <m:r>
                                <a:rPr lang="fr-FR" i="1">
                                  <a:solidFill>
                                    <a:srgbClr val="FF0000"/>
                                  </a:solidFill>
                                  <a:latin typeface="Cambria Math"/>
                                </a:rPr>
                                <m:t>𝑑</m:t>
                              </m:r>
                            </m:sup>
                          </m:sSup>
                          <m:r>
                            <a:rPr lang="fr-FR" i="1">
                              <a:latin typeface="Cambria Math"/>
                            </a:rPr>
                            <m:t>−</m:t>
                          </m:r>
                          <m:r>
                            <a:rPr lang="fr-FR" i="1">
                              <a:latin typeface="Cambria Math"/>
                            </a:rPr>
                            <m:t>𝑠</m:t>
                          </m:r>
                          <m:d>
                            <m:dPr>
                              <m:ctrlPr>
                                <a:rPr lang="fr-FR" i="1" smtClean="0">
                                  <a:latin typeface="Cambria Math" panose="02040503050406030204" pitchFamily="18" charset="0"/>
                                </a:rPr>
                              </m:ctrlPr>
                            </m:dPr>
                            <m:e>
                              <m:sSub>
                                <m:sSubPr>
                                  <m:ctrlPr>
                                    <a:rPr lang="fr-FR" i="1" smtClean="0">
                                      <a:latin typeface="Cambria Math" panose="02040503050406030204" pitchFamily="18" charset="0"/>
                                    </a:rPr>
                                  </m:ctrlPr>
                                </m:sSubPr>
                                <m:e>
                                  <m:r>
                                    <a:rPr lang="fr-FR" i="1" smtClean="0">
                                      <a:latin typeface="Cambria Math"/>
                                      <a:ea typeface="Cambria Math"/>
                                    </a:rPr>
                                    <m:t>𝜆</m:t>
                                  </m:r>
                                </m:e>
                                <m:sub>
                                  <m:r>
                                    <a:rPr lang="fr-FR" b="0" i="1" smtClean="0">
                                      <a:latin typeface="Cambria Math"/>
                                    </a:rPr>
                                    <m:t>𝑥</m:t>
                                  </m:r>
                                </m:sub>
                              </m:sSub>
                              <m:r>
                                <a:rPr lang="fr-FR" b="0" i="1" smtClean="0">
                                  <a:latin typeface="Cambria Math"/>
                                </a:rPr>
                                <m:t>𝑠</m:t>
                              </m:r>
                              <m:r>
                                <a:rPr lang="fr-FR" b="0" i="1" smtClean="0">
                                  <a:latin typeface="Cambria Math"/>
                                </a:rPr>
                                <m:t>+</m:t>
                              </m:r>
                              <m:sSub>
                                <m:sSubPr>
                                  <m:ctrlPr>
                                    <a:rPr lang="fr-FR" b="0" i="1" smtClean="0">
                                      <a:latin typeface="Cambria Math" panose="02040503050406030204" pitchFamily="18" charset="0"/>
                                    </a:rPr>
                                  </m:ctrlPr>
                                </m:sSubPr>
                                <m:e>
                                  <m:r>
                                    <a:rPr lang="fr-FR" b="0" i="1" smtClean="0">
                                      <a:latin typeface="Cambria Math"/>
                                    </a:rPr>
                                    <m:t>𝑏</m:t>
                                  </m:r>
                                </m:e>
                                <m:sub>
                                  <m:r>
                                    <a:rPr lang="fr-FR" b="0" i="1" smtClean="0">
                                      <a:latin typeface="Cambria Math"/>
                                    </a:rPr>
                                    <m:t>𝑥</m:t>
                                  </m:r>
                                </m:sub>
                              </m:sSub>
                            </m:e>
                          </m:d>
                          <m:sSub>
                            <m:sSubPr>
                              <m:ctrlPr>
                                <a:rPr lang="fr-FR" i="1" smtClean="0">
                                  <a:latin typeface="Cambria Math" panose="02040503050406030204" pitchFamily="18" charset="0"/>
                                </a:rPr>
                              </m:ctrlPr>
                            </m:sSubPr>
                            <m:e>
                              <m:r>
                                <a:rPr lang="fr-FR" b="0" i="1" smtClean="0">
                                  <a:latin typeface="Cambria Math"/>
                                </a:rPr>
                                <m:t>𝑥</m:t>
                              </m:r>
                            </m:e>
                            <m:sub>
                              <m:r>
                                <a:rPr lang="fr-FR" b="0" i="1" smtClean="0">
                                  <a:latin typeface="Cambria Math"/>
                                </a:rPr>
                                <m:t>𝑒</m:t>
                              </m:r>
                            </m:sub>
                          </m:sSub>
                        </m:e>
                      </m:d>
                    </m:oMath>
                  </m:oMathPara>
                </a14:m>
                <a:endParaRPr lang="fr-FR" dirty="0"/>
              </a:p>
              <a:p>
                <a:pPr marL="0" indent="0">
                  <a:buNone/>
                </a:pPr>
                <a:endParaRPr lang="fr-FR" dirty="0"/>
              </a:p>
              <a:p>
                <a:endParaRPr lang="fr-FR"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3"/>
                <a:stretch>
                  <a:fillRect l="-1096" t="-884"/>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en effort avec boucle interne en vitesse </a:t>
            </a:r>
          </a:p>
        </p:txBody>
      </p:sp>
    </p:spTree>
    <p:extLst>
      <p:ext uri="{BB962C8B-B14F-4D97-AF65-F5344CB8AC3E}">
        <p14:creationId xmlns:p14="http://schemas.microsoft.com/office/powerpoint/2010/main" val="346870440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r>
                  <a:rPr lang="fr-FR" dirty="0"/>
                  <a:t>Cas où : </a:t>
                </a:r>
                <a14:m>
                  <m:oMath xmlns:m="http://schemas.openxmlformats.org/officeDocument/2006/math">
                    <m:sSub>
                      <m:sSubPr>
                        <m:ctrlPr>
                          <a:rPr lang="fr-FR" i="1" smtClean="0">
                            <a:solidFill>
                              <a:srgbClr val="0066FF"/>
                            </a:solidFill>
                            <a:latin typeface="Cambria Math" panose="02040503050406030204" pitchFamily="18" charset="0"/>
                          </a:rPr>
                        </m:ctrlPr>
                      </m:sSubPr>
                      <m:e>
                        <m:r>
                          <a:rPr lang="fr-FR" b="0" i="1" smtClean="0">
                            <a:solidFill>
                              <a:srgbClr val="0066FF"/>
                            </a:solidFill>
                            <a:latin typeface="Cambria Math"/>
                          </a:rPr>
                          <m:t>𝑐</m:t>
                        </m:r>
                      </m:e>
                      <m:sub>
                        <m:sSub>
                          <m:sSubPr>
                            <m:ctrlPr>
                              <a:rPr lang="fr-FR" i="1" smtClean="0">
                                <a:solidFill>
                                  <a:srgbClr val="0066FF"/>
                                </a:solidFill>
                                <a:latin typeface="Cambria Math" panose="02040503050406030204" pitchFamily="18" charset="0"/>
                              </a:rPr>
                            </m:ctrlPr>
                          </m:sSubPr>
                          <m:e>
                            <m:r>
                              <a:rPr lang="fr-FR" b="0" i="1" smtClean="0">
                                <a:solidFill>
                                  <a:srgbClr val="0066FF"/>
                                </a:solidFill>
                                <a:latin typeface="Cambria Math"/>
                              </a:rPr>
                              <m:t>𝑓</m:t>
                            </m:r>
                          </m:e>
                          <m:sub>
                            <m:r>
                              <a:rPr lang="fr-FR" b="0" i="1" smtClean="0">
                                <a:solidFill>
                                  <a:srgbClr val="0066FF"/>
                                </a:solidFill>
                                <a:latin typeface="Cambria Math"/>
                              </a:rPr>
                              <m:t>𝑥</m:t>
                            </m:r>
                          </m:sub>
                        </m:sSub>
                      </m:sub>
                    </m:sSub>
                    <m:r>
                      <a:rPr lang="fr-FR" i="1">
                        <a:solidFill>
                          <a:srgbClr val="0066FF"/>
                        </a:solidFill>
                        <a:latin typeface="Cambria Math"/>
                      </a:rPr>
                      <m:t>=</m:t>
                    </m:r>
                    <m:sSub>
                      <m:sSubPr>
                        <m:ctrlPr>
                          <a:rPr lang="fr-FR" i="1">
                            <a:solidFill>
                              <a:srgbClr val="0066FF"/>
                            </a:solidFill>
                            <a:latin typeface="Cambria Math" panose="02040503050406030204" pitchFamily="18" charset="0"/>
                          </a:rPr>
                        </m:ctrlPr>
                      </m:sSubPr>
                      <m:e>
                        <m:r>
                          <a:rPr lang="fr-FR" i="1">
                            <a:solidFill>
                              <a:srgbClr val="0066FF"/>
                            </a:solidFill>
                            <a:latin typeface="Cambria Math"/>
                          </a:rPr>
                          <m:t>𝑘</m:t>
                        </m:r>
                      </m:e>
                      <m:sub>
                        <m:r>
                          <a:rPr lang="fr-FR" i="1">
                            <a:solidFill>
                              <a:srgbClr val="0066FF"/>
                            </a:solidFill>
                            <a:latin typeface="Cambria Math"/>
                          </a:rPr>
                          <m:t>𝑝</m:t>
                        </m:r>
                      </m:sub>
                    </m:sSub>
                  </m:oMath>
                </a14:m>
                <a:endParaRPr lang="fr-FR" dirty="0"/>
              </a:p>
              <a:p>
                <a:pPr marL="0" indent="0">
                  <a:buNone/>
                </a:pPr>
                <a14:m>
                  <m:oMathPara xmlns:m="http://schemas.openxmlformats.org/officeDocument/2006/math">
                    <m:oMathParaPr>
                      <m:jc m:val="centerGroup"/>
                    </m:oMathParaPr>
                    <m:oMath xmlns:m="http://schemas.openxmlformats.org/officeDocument/2006/math">
                      <m:sSub>
                        <m:sSubPr>
                          <m:ctrlPr>
                            <a:rPr lang="fr-FR" i="1">
                              <a:solidFill>
                                <a:srgbClr val="FF0000"/>
                              </a:solidFill>
                              <a:latin typeface="Cambria Math" panose="02040503050406030204" pitchFamily="18" charset="0"/>
                            </a:rPr>
                          </m:ctrlPr>
                        </m:sSubPr>
                        <m:e>
                          <m:r>
                            <a:rPr lang="fr-FR" i="1">
                              <a:solidFill>
                                <a:srgbClr val="FF0000"/>
                              </a:solidFill>
                              <a:latin typeface="Cambria Math"/>
                            </a:rPr>
                            <m:t>𝑓</m:t>
                          </m:r>
                        </m:e>
                        <m:sub>
                          <m:r>
                            <a:rPr lang="fr-FR" i="1">
                              <a:solidFill>
                                <a:srgbClr val="FF0000"/>
                              </a:solidFill>
                              <a:latin typeface="Cambria Math"/>
                            </a:rPr>
                            <m:t>𝑒</m:t>
                          </m:r>
                          <m:r>
                            <a:rPr lang="fr-FR" b="0" i="1" smtClean="0">
                              <a:solidFill>
                                <a:srgbClr val="FF0000"/>
                              </a:solidFill>
                              <a:latin typeface="Cambria Math"/>
                            </a:rPr>
                            <m:t>𝑥</m:t>
                          </m:r>
                        </m:sub>
                      </m:sSub>
                      <m:r>
                        <a:rPr lang="fr-FR" i="1">
                          <a:latin typeface="Cambria Math"/>
                        </a:rPr>
                        <m:t>=</m:t>
                      </m:r>
                      <m:f>
                        <m:fPr>
                          <m:ctrlPr>
                            <a:rPr lang="fr-FR" i="1">
                              <a:latin typeface="Cambria Math" panose="02040503050406030204" pitchFamily="18" charset="0"/>
                            </a:rPr>
                          </m:ctrlPr>
                        </m:fPr>
                        <m:num>
                          <m:sSub>
                            <m:sSubPr>
                              <m:ctrlPr>
                                <a:rPr lang="fr-FR" i="1">
                                  <a:latin typeface="Cambria Math" panose="02040503050406030204" pitchFamily="18" charset="0"/>
                                </a:rPr>
                              </m:ctrlPr>
                            </m:sSubPr>
                            <m:e>
                              <m:r>
                                <a:rPr lang="fr-FR" i="1">
                                  <a:latin typeface="Cambria Math"/>
                                </a:rPr>
                                <m:t>𝑘</m:t>
                              </m:r>
                            </m:e>
                            <m:sub>
                              <m:r>
                                <a:rPr lang="fr-FR" i="1">
                                  <a:latin typeface="Cambria Math"/>
                                </a:rPr>
                                <m:t>𝑒</m:t>
                              </m:r>
                              <m:r>
                                <a:rPr lang="fr-FR" b="0" i="1" smtClean="0">
                                  <a:latin typeface="Cambria Math"/>
                                </a:rPr>
                                <m:t>𝑥</m:t>
                              </m:r>
                            </m:sub>
                          </m:sSub>
                        </m:num>
                        <m:den>
                          <m:sSub>
                            <m:sSubPr>
                              <m:ctrlPr>
                                <a:rPr lang="fr-FR" i="1" smtClean="0">
                                  <a:latin typeface="Cambria Math" panose="02040503050406030204" pitchFamily="18" charset="0"/>
                                </a:rPr>
                              </m:ctrlPr>
                            </m:sSubPr>
                            <m:e>
                              <m:r>
                                <a:rPr lang="fr-FR" i="1" smtClean="0">
                                  <a:latin typeface="Cambria Math"/>
                                  <a:ea typeface="Cambria Math"/>
                                </a:rPr>
                                <m:t>𝜆</m:t>
                              </m:r>
                            </m:e>
                            <m:sub>
                              <m:r>
                                <a:rPr lang="fr-FR" b="0" i="1" smtClean="0">
                                  <a:latin typeface="Cambria Math"/>
                                </a:rPr>
                                <m:t>𝑥</m:t>
                              </m:r>
                            </m:sub>
                          </m:sSub>
                          <m:sSup>
                            <m:sSupPr>
                              <m:ctrlPr>
                                <a:rPr lang="fr-FR" i="1">
                                  <a:latin typeface="Cambria Math" panose="02040503050406030204" pitchFamily="18" charset="0"/>
                                  <a:ea typeface="Cambria Math"/>
                                </a:rPr>
                              </m:ctrlPr>
                            </m:sSupPr>
                            <m:e>
                              <m:r>
                                <a:rPr lang="fr-FR" i="1">
                                  <a:latin typeface="Cambria Math"/>
                                  <a:ea typeface="Cambria Math"/>
                                </a:rPr>
                                <m:t>𝑠</m:t>
                              </m:r>
                            </m:e>
                            <m:sup>
                              <m:r>
                                <a:rPr lang="fr-FR" i="1">
                                  <a:latin typeface="Cambria Math"/>
                                  <a:ea typeface="Cambria Math"/>
                                </a:rPr>
                                <m:t>2</m:t>
                              </m:r>
                            </m:sup>
                          </m:sSup>
                          <m:r>
                            <a:rPr lang="fr-FR" i="1">
                              <a:latin typeface="Cambria Math"/>
                              <a:ea typeface="Cambria Math"/>
                            </a:rPr>
                            <m:t>+</m:t>
                          </m:r>
                          <m:sSub>
                            <m:sSubPr>
                              <m:ctrlPr>
                                <a:rPr lang="fr-FR" i="1" smtClean="0">
                                  <a:latin typeface="Cambria Math" panose="02040503050406030204" pitchFamily="18" charset="0"/>
                                  <a:ea typeface="Cambria Math"/>
                                </a:rPr>
                              </m:ctrlPr>
                            </m:sSubPr>
                            <m:e>
                              <m:r>
                                <a:rPr lang="fr-FR" b="0" i="1" smtClean="0">
                                  <a:latin typeface="Cambria Math"/>
                                  <a:ea typeface="Cambria Math"/>
                                </a:rPr>
                                <m:t>𝑏</m:t>
                              </m:r>
                            </m:e>
                            <m:sub>
                              <m:r>
                                <a:rPr lang="fr-FR" b="0" i="1" smtClean="0">
                                  <a:latin typeface="Cambria Math"/>
                                  <a:ea typeface="Cambria Math"/>
                                </a:rPr>
                                <m:t>𝑥</m:t>
                              </m:r>
                            </m:sub>
                          </m:sSub>
                          <m:r>
                            <a:rPr lang="fr-FR" i="1">
                              <a:latin typeface="Cambria Math"/>
                              <a:ea typeface="Cambria Math"/>
                            </a:rPr>
                            <m:t>𝑠</m:t>
                          </m:r>
                          <m:r>
                            <a:rPr lang="fr-FR" i="1">
                              <a:latin typeface="Cambria Math"/>
                              <a:ea typeface="Cambria Math"/>
                            </a:rPr>
                            <m:t>+</m:t>
                          </m:r>
                          <m:sSub>
                            <m:sSubPr>
                              <m:ctrlPr>
                                <a:rPr lang="fr-FR" i="1">
                                  <a:latin typeface="Cambria Math" panose="02040503050406030204" pitchFamily="18" charset="0"/>
                                  <a:ea typeface="Cambria Math"/>
                                </a:rPr>
                              </m:ctrlPr>
                            </m:sSubPr>
                            <m:e>
                              <m:r>
                                <a:rPr lang="fr-FR" i="1">
                                  <a:latin typeface="Cambria Math"/>
                                  <a:ea typeface="Cambria Math"/>
                                </a:rPr>
                                <m:t>𝑘</m:t>
                              </m:r>
                            </m:e>
                            <m:sub>
                              <m:r>
                                <a:rPr lang="fr-FR" i="1">
                                  <a:latin typeface="Cambria Math"/>
                                  <a:ea typeface="Cambria Math"/>
                                </a:rPr>
                                <m:t>𝑒</m:t>
                              </m:r>
                              <m:r>
                                <a:rPr lang="fr-FR" b="0" i="1" smtClean="0">
                                  <a:latin typeface="Cambria Math"/>
                                  <a:ea typeface="Cambria Math"/>
                                </a:rPr>
                                <m:t>𝑥</m:t>
                              </m:r>
                            </m:sub>
                          </m:sSub>
                          <m:sSub>
                            <m:sSubPr>
                              <m:ctrlPr>
                                <a:rPr lang="fr-FR" i="1" smtClean="0">
                                  <a:latin typeface="Cambria Math" panose="02040503050406030204" pitchFamily="18" charset="0"/>
                                  <a:ea typeface="Cambria Math"/>
                                </a:rPr>
                              </m:ctrlPr>
                            </m:sSubPr>
                            <m:e>
                              <m:r>
                                <a:rPr lang="fr-FR" b="0" i="1" smtClean="0">
                                  <a:latin typeface="Cambria Math"/>
                                  <a:ea typeface="Cambria Math"/>
                                </a:rPr>
                                <m:t>𝑘</m:t>
                              </m:r>
                            </m:e>
                            <m:sub>
                              <m:r>
                                <a:rPr lang="fr-FR" b="0" i="1" smtClean="0">
                                  <a:latin typeface="Cambria Math"/>
                                  <a:ea typeface="Cambria Math"/>
                                </a:rPr>
                                <m:t>𝑥</m:t>
                              </m:r>
                            </m:sub>
                          </m:sSub>
                          <m:sSub>
                            <m:sSubPr>
                              <m:ctrlPr>
                                <a:rPr lang="fr-FR" i="1">
                                  <a:latin typeface="Cambria Math" panose="02040503050406030204" pitchFamily="18" charset="0"/>
                                  <a:ea typeface="Cambria Math"/>
                                </a:rPr>
                              </m:ctrlPr>
                            </m:sSubPr>
                            <m:e>
                              <m:r>
                                <a:rPr lang="fr-FR" i="1">
                                  <a:latin typeface="Cambria Math"/>
                                  <a:ea typeface="Cambria Math"/>
                                </a:rPr>
                                <m:t>𝑘</m:t>
                              </m:r>
                            </m:e>
                            <m:sub>
                              <m:r>
                                <a:rPr lang="fr-FR" i="1">
                                  <a:latin typeface="Cambria Math"/>
                                  <a:ea typeface="Cambria Math"/>
                                </a:rPr>
                                <m:t>𝑝</m:t>
                              </m:r>
                            </m:sub>
                          </m:sSub>
                        </m:den>
                      </m:f>
                      <m:d>
                        <m:dPr>
                          <m:ctrlPr>
                            <a:rPr lang="fr-FR" i="1">
                              <a:latin typeface="Cambria Math" panose="02040503050406030204" pitchFamily="18" charset="0"/>
                            </a:rPr>
                          </m:ctrlPr>
                        </m:dPr>
                        <m:e>
                          <m:sSub>
                            <m:sSubPr>
                              <m:ctrlPr>
                                <a:rPr lang="fr-FR" i="1" smtClean="0">
                                  <a:latin typeface="Cambria Math" panose="02040503050406030204" pitchFamily="18" charset="0"/>
                                </a:rPr>
                              </m:ctrlPr>
                            </m:sSubPr>
                            <m:e>
                              <m:r>
                                <a:rPr lang="fr-FR" b="0" i="1" smtClean="0">
                                  <a:latin typeface="Cambria Math"/>
                                </a:rPr>
                                <m:t>𝑘</m:t>
                              </m:r>
                            </m:e>
                            <m:sub>
                              <m:r>
                                <a:rPr lang="fr-FR" b="0" i="1" smtClean="0">
                                  <a:latin typeface="Cambria Math"/>
                                </a:rPr>
                                <m:t>𝑥</m:t>
                              </m:r>
                            </m:sub>
                          </m:sSub>
                          <m:sSub>
                            <m:sSubPr>
                              <m:ctrlPr>
                                <a:rPr lang="fr-FR" i="1">
                                  <a:latin typeface="Cambria Math" panose="02040503050406030204" pitchFamily="18" charset="0"/>
                                </a:rPr>
                              </m:ctrlPr>
                            </m:sSubPr>
                            <m:e>
                              <m:r>
                                <a:rPr lang="fr-FR" i="1">
                                  <a:latin typeface="Cambria Math"/>
                                </a:rPr>
                                <m:t>𝑘</m:t>
                              </m:r>
                            </m:e>
                            <m:sub>
                              <m:r>
                                <a:rPr lang="fr-FR" i="1">
                                  <a:latin typeface="Cambria Math"/>
                                </a:rPr>
                                <m:t>𝑝</m:t>
                              </m:r>
                            </m:sub>
                          </m:sSub>
                          <m:sSup>
                            <m:sSupPr>
                              <m:ctrlPr>
                                <a:rPr lang="fr-FR" i="1">
                                  <a:solidFill>
                                    <a:srgbClr val="FF0000"/>
                                  </a:solidFill>
                                  <a:latin typeface="Cambria Math" panose="02040503050406030204" pitchFamily="18" charset="0"/>
                                </a:rPr>
                              </m:ctrlPr>
                            </m:sSupPr>
                            <m:e>
                              <m:sSub>
                                <m:sSubPr>
                                  <m:ctrlPr>
                                    <a:rPr lang="fr-FR" i="1" smtClean="0">
                                      <a:solidFill>
                                        <a:srgbClr val="FF0000"/>
                                      </a:solidFill>
                                      <a:latin typeface="Cambria Math" panose="02040503050406030204" pitchFamily="18" charset="0"/>
                                    </a:rPr>
                                  </m:ctrlPr>
                                </m:sSubPr>
                                <m:e>
                                  <m:r>
                                    <a:rPr lang="fr-FR" b="0" i="1" smtClean="0">
                                      <a:solidFill>
                                        <a:srgbClr val="FF0000"/>
                                      </a:solidFill>
                                      <a:latin typeface="Cambria Math"/>
                                    </a:rPr>
                                    <m:t>𝑓</m:t>
                                  </m:r>
                                </m:e>
                                <m:sub>
                                  <m:r>
                                    <a:rPr lang="fr-FR" b="0" i="1" smtClean="0">
                                      <a:solidFill>
                                        <a:srgbClr val="FF0000"/>
                                      </a:solidFill>
                                      <a:latin typeface="Cambria Math"/>
                                    </a:rPr>
                                    <m:t>𝑥</m:t>
                                  </m:r>
                                </m:sub>
                              </m:sSub>
                            </m:e>
                            <m:sup>
                              <m:r>
                                <a:rPr lang="fr-FR" i="1">
                                  <a:solidFill>
                                    <a:srgbClr val="FF0000"/>
                                  </a:solidFill>
                                  <a:latin typeface="Cambria Math"/>
                                </a:rPr>
                                <m:t>𝑑</m:t>
                              </m:r>
                            </m:sup>
                          </m:sSup>
                          <m:r>
                            <a:rPr lang="fr-FR" i="1">
                              <a:latin typeface="Cambria Math"/>
                            </a:rPr>
                            <m:t>−</m:t>
                          </m:r>
                          <m:r>
                            <a:rPr lang="fr-FR" i="1">
                              <a:latin typeface="Cambria Math"/>
                            </a:rPr>
                            <m:t>𝑠</m:t>
                          </m:r>
                          <m:d>
                            <m:dPr>
                              <m:ctrlPr>
                                <a:rPr lang="fr-FR" i="1">
                                  <a:latin typeface="Cambria Math" panose="02040503050406030204" pitchFamily="18" charset="0"/>
                                </a:rPr>
                              </m:ctrlPr>
                            </m:dPr>
                            <m:e>
                              <m:r>
                                <a:rPr lang="fr-FR" i="1">
                                  <a:latin typeface="Cambria Math"/>
                                  <a:ea typeface="Cambria Math"/>
                                </a:rPr>
                                <m:t>𝜆</m:t>
                              </m:r>
                              <m:r>
                                <a:rPr lang="fr-FR" i="1">
                                  <a:latin typeface="Cambria Math"/>
                                  <a:ea typeface="Cambria Math"/>
                                </a:rPr>
                                <m:t>𝑠</m:t>
                              </m:r>
                              <m:r>
                                <a:rPr lang="fr-FR" i="1">
                                  <a:latin typeface="Cambria Math"/>
                                  <a:ea typeface="Cambria Math"/>
                                </a:rPr>
                                <m:t>+</m:t>
                              </m:r>
                              <m:r>
                                <a:rPr lang="fr-FR" i="1">
                                  <a:latin typeface="Cambria Math"/>
                                  <a:ea typeface="Cambria Math"/>
                                </a:rPr>
                                <m:t>𝑏</m:t>
                              </m:r>
                            </m:e>
                          </m:d>
                          <m:sSub>
                            <m:sSubPr>
                              <m:ctrlPr>
                                <a:rPr lang="fr-FR" i="1">
                                  <a:latin typeface="Cambria Math" panose="02040503050406030204" pitchFamily="18" charset="0"/>
                                </a:rPr>
                              </m:ctrlPr>
                            </m:sSubPr>
                            <m:e>
                              <m:r>
                                <a:rPr lang="fr-FR" i="1">
                                  <a:latin typeface="Cambria Math"/>
                                </a:rPr>
                                <m:t>𝑥</m:t>
                              </m:r>
                            </m:e>
                            <m:sub>
                              <m:r>
                                <a:rPr lang="fr-FR" i="1">
                                  <a:latin typeface="Cambria Math"/>
                                </a:rPr>
                                <m:t>𝑒</m:t>
                              </m:r>
                            </m:sub>
                          </m:sSub>
                        </m:e>
                      </m:d>
                    </m:oMath>
                  </m:oMathPara>
                </a14:m>
                <a:endParaRPr lang="fr-FR" dirty="0"/>
              </a:p>
              <a:p>
                <a:pPr marL="0" indent="0">
                  <a:buNone/>
                </a:pPr>
                <a:endParaRPr lang="fr-FR" dirty="0"/>
              </a:p>
              <a:p>
                <a:pPr marL="0" indent="0">
                  <a:buNone/>
                </a:pPr>
                <a:r>
                  <a:rPr lang="fr-FR" dirty="0"/>
                  <a:t>En régime permanant (</a:t>
                </a:r>
                <a14:m>
                  <m:oMath xmlns:m="http://schemas.openxmlformats.org/officeDocument/2006/math">
                    <m:r>
                      <a:rPr lang="fr-FR" i="1">
                        <a:latin typeface="Cambria Math"/>
                      </a:rPr>
                      <m:t>𝑠</m:t>
                    </m:r>
                    <m:r>
                      <a:rPr lang="fr-FR" i="1">
                        <a:latin typeface="Cambria Math"/>
                        <a:ea typeface="Cambria Math"/>
                      </a:rPr>
                      <m:t>⟶0</m:t>
                    </m:r>
                  </m:oMath>
                </a14:m>
                <a:r>
                  <a:rPr lang="fr-FR" dirty="0"/>
                  <a:t>) :</a:t>
                </a:r>
              </a:p>
              <a:p>
                <a:pPr marL="0" indent="0">
                  <a:buNone/>
                </a:pPr>
                <a:r>
                  <a:rPr lang="fr-FR" dirty="0"/>
                  <a:t>Avec uniquement un correcteur proportionnel, l’effort de contact </a:t>
                </a:r>
                <a14:m>
                  <m:oMath xmlns:m="http://schemas.openxmlformats.org/officeDocument/2006/math">
                    <m:sSub>
                      <m:sSubPr>
                        <m:ctrlPr>
                          <a:rPr lang="fr-FR" i="1" smtClean="0">
                            <a:solidFill>
                              <a:srgbClr val="FF0000"/>
                            </a:solidFill>
                            <a:latin typeface="Cambria Math" panose="02040503050406030204" pitchFamily="18" charset="0"/>
                          </a:rPr>
                        </m:ctrlPr>
                      </m:sSubPr>
                      <m:e>
                        <m:r>
                          <a:rPr lang="fr-FR" i="1">
                            <a:solidFill>
                              <a:srgbClr val="FF0000"/>
                            </a:solidFill>
                            <a:latin typeface="Cambria Math"/>
                          </a:rPr>
                          <m:t>𝑓</m:t>
                        </m:r>
                      </m:e>
                      <m:sub>
                        <m:r>
                          <a:rPr lang="fr-FR" i="1">
                            <a:solidFill>
                              <a:srgbClr val="FF0000"/>
                            </a:solidFill>
                            <a:latin typeface="Cambria Math"/>
                          </a:rPr>
                          <m:t>𝑒</m:t>
                        </m:r>
                        <m:r>
                          <a:rPr lang="fr-FR" b="0" i="1" smtClean="0">
                            <a:solidFill>
                              <a:srgbClr val="FF0000"/>
                            </a:solidFill>
                            <a:latin typeface="Cambria Math"/>
                          </a:rPr>
                          <m:t>𝑥</m:t>
                        </m:r>
                      </m:sub>
                    </m:sSub>
                  </m:oMath>
                </a14:m>
                <a:r>
                  <a:rPr lang="fr-FR" dirty="0"/>
                  <a:t> converge vers l’effort désiré </a:t>
                </a:r>
                <a14:m>
                  <m:oMath xmlns:m="http://schemas.openxmlformats.org/officeDocument/2006/math">
                    <m:sSup>
                      <m:sSupPr>
                        <m:ctrlPr>
                          <a:rPr lang="fr-FR" i="1" smtClean="0">
                            <a:solidFill>
                              <a:srgbClr val="FF0000"/>
                            </a:solidFill>
                            <a:latin typeface="Cambria Math" panose="02040503050406030204" pitchFamily="18" charset="0"/>
                          </a:rPr>
                        </m:ctrlPr>
                      </m:sSupPr>
                      <m:e>
                        <m:sSub>
                          <m:sSubPr>
                            <m:ctrlPr>
                              <a:rPr lang="fr-FR" i="1" smtClean="0">
                                <a:solidFill>
                                  <a:srgbClr val="FF0000"/>
                                </a:solidFill>
                                <a:latin typeface="Cambria Math" panose="02040503050406030204" pitchFamily="18" charset="0"/>
                              </a:rPr>
                            </m:ctrlPr>
                          </m:sSubPr>
                          <m:e>
                            <m:r>
                              <a:rPr lang="fr-FR" b="0" i="1" smtClean="0">
                                <a:solidFill>
                                  <a:srgbClr val="FF0000"/>
                                </a:solidFill>
                                <a:latin typeface="Cambria Math"/>
                              </a:rPr>
                              <m:t>𝑓</m:t>
                            </m:r>
                          </m:e>
                          <m:sub>
                            <m:r>
                              <a:rPr lang="fr-FR" b="0" i="1" smtClean="0">
                                <a:solidFill>
                                  <a:srgbClr val="FF0000"/>
                                </a:solidFill>
                                <a:latin typeface="Cambria Math"/>
                              </a:rPr>
                              <m:t>𝑥</m:t>
                            </m:r>
                          </m:sub>
                        </m:sSub>
                      </m:e>
                      <m:sup>
                        <m:r>
                          <a:rPr lang="fr-FR" i="1">
                            <a:solidFill>
                              <a:srgbClr val="FF0000"/>
                            </a:solidFill>
                            <a:latin typeface="Cambria Math"/>
                          </a:rPr>
                          <m:t>𝑑</m:t>
                        </m:r>
                      </m:sup>
                    </m:sSup>
                  </m:oMath>
                </a14:m>
                <a:endParaRPr lang="fr-FR"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3"/>
                <a:stretch>
                  <a:fillRect l="-1096" t="-773" r="-584"/>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en effort avec boucle interne en vitesse</a:t>
            </a:r>
          </a:p>
        </p:txBody>
      </p:sp>
    </p:spTree>
    <p:extLst>
      <p:ext uri="{BB962C8B-B14F-4D97-AF65-F5344CB8AC3E}">
        <p14:creationId xmlns:p14="http://schemas.microsoft.com/office/powerpoint/2010/main" val="306032728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r>
                  <a:rPr lang="fr-FR" dirty="0"/>
                  <a:t>Correcteur :P</a:t>
                </a:r>
              </a:p>
              <a:p>
                <a:pPr marL="0" indent="0">
                  <a:buNone/>
                </a:pPr>
                <a14:m>
                  <m:oMathPara xmlns:m="http://schemas.openxmlformats.org/officeDocument/2006/math">
                    <m:oMathParaPr>
                      <m:jc m:val="left"/>
                    </m:oMathParaPr>
                    <m:oMath xmlns:m="http://schemas.openxmlformats.org/officeDocument/2006/math">
                      <m:sSub>
                        <m:sSubPr>
                          <m:ctrlPr>
                            <a:rPr lang="fr-FR" i="1">
                              <a:latin typeface="Cambria Math" panose="02040503050406030204" pitchFamily="18" charset="0"/>
                            </a:rPr>
                          </m:ctrlPr>
                        </m:sSubPr>
                        <m:e>
                          <m:r>
                            <a:rPr lang="fr-FR" i="1">
                              <a:latin typeface="Cambria Math"/>
                            </a:rPr>
                            <m:t>𝑘</m:t>
                          </m:r>
                        </m:e>
                        <m:sub>
                          <m:r>
                            <a:rPr lang="fr-FR" i="1">
                              <a:latin typeface="Cambria Math"/>
                            </a:rPr>
                            <m:t>𝑝</m:t>
                          </m:r>
                        </m:sub>
                      </m:sSub>
                      <m:r>
                        <a:rPr lang="fr-FR" i="1">
                          <a:latin typeface="Cambria Math"/>
                        </a:rPr>
                        <m:t>=</m:t>
                      </m:r>
                      <m:r>
                        <a:rPr lang="fr-FR" b="0" i="1" smtClean="0">
                          <a:latin typeface="Cambria Math"/>
                        </a:rPr>
                        <m:t>2</m:t>
                      </m:r>
                      <m:r>
                        <a:rPr lang="fr-FR" i="1">
                          <a:latin typeface="Cambria Math"/>
                        </a:rPr>
                        <m:t>,4∗</m:t>
                      </m:r>
                      <m:sSup>
                        <m:sSupPr>
                          <m:ctrlPr>
                            <a:rPr lang="fr-FR" i="1">
                              <a:latin typeface="Cambria Math" panose="02040503050406030204" pitchFamily="18" charset="0"/>
                            </a:rPr>
                          </m:ctrlPr>
                        </m:sSupPr>
                        <m:e>
                          <m:r>
                            <a:rPr lang="fr-FR" i="1">
                              <a:latin typeface="Cambria Math"/>
                            </a:rPr>
                            <m:t>10</m:t>
                          </m:r>
                        </m:e>
                        <m:sup>
                          <m:r>
                            <a:rPr lang="fr-FR" i="1">
                              <a:latin typeface="Cambria Math"/>
                            </a:rPr>
                            <m:t>−4</m:t>
                          </m:r>
                        </m:sup>
                      </m:sSup>
                    </m:oMath>
                  </m:oMathPara>
                </a14:m>
                <a:endParaRPr lang="fr-FR" dirty="0"/>
              </a:p>
              <a:p>
                <a:pPr marL="0" indent="0">
                  <a:buNone/>
                </a:pPr>
                <a:r>
                  <a:rPr lang="fr-FR" dirty="0"/>
                  <a:t>Erreur statique = 0 N</a:t>
                </a:r>
              </a:p>
              <a:p>
                <a:endParaRPr lang="fr-FR" dirty="0"/>
              </a:p>
              <a:p>
                <a:endParaRPr lang="fr-FR"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3"/>
                <a:stretch>
                  <a:fillRect l="-584" t="-552"/>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en effort avec boucle interne en vitesse </a:t>
            </a:r>
          </a:p>
        </p:txBody>
      </p:sp>
      <p:pic>
        <p:nvPicPr>
          <p:cNvPr id="4" name="Image 3"/>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567885" y="2477948"/>
            <a:ext cx="3392629" cy="3076911"/>
          </a:xfrm>
          <a:prstGeom prst="rect">
            <a:avLst/>
          </a:prstGeom>
        </p:spPr>
      </p:pic>
    </p:spTree>
    <p:extLst>
      <p:ext uri="{BB962C8B-B14F-4D97-AF65-F5344CB8AC3E}">
        <p14:creationId xmlns:p14="http://schemas.microsoft.com/office/powerpoint/2010/main" val="363216761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fr-FR" dirty="0"/>
              <a:t>Commande hybride position/force</a:t>
            </a:r>
          </a:p>
        </p:txBody>
      </p:sp>
      <p:cxnSp>
        <p:nvCxnSpPr>
          <p:cNvPr id="98" name="Connecteur droit avec flèche 97"/>
          <p:cNvCxnSpPr/>
          <p:nvPr/>
        </p:nvCxnSpPr>
        <p:spPr>
          <a:xfrm flipV="1">
            <a:off x="7091267" y="2817002"/>
            <a:ext cx="226058"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1" name="ZoneTexte 100"/>
              <p:cNvSpPr txBox="1"/>
              <p:nvPr/>
            </p:nvSpPr>
            <p:spPr>
              <a:xfrm>
                <a:off x="7275285" y="2458710"/>
                <a:ext cx="38824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b="1" i="0" smtClean="0">
                          <a:latin typeface="Cambria Math"/>
                        </a:rPr>
                        <m:t>𝐪</m:t>
                      </m:r>
                    </m:oMath>
                  </m:oMathPara>
                </a14:m>
                <a:endParaRPr lang="fr-FR" dirty="0"/>
              </a:p>
            </p:txBody>
          </p:sp>
        </mc:Choice>
        <mc:Fallback xmlns="">
          <p:sp>
            <p:nvSpPr>
              <p:cNvPr id="101" name="ZoneTexte 100"/>
              <p:cNvSpPr txBox="1">
                <a:spLocks noRot="1" noChangeAspect="1" noMove="1" noResize="1" noEditPoints="1" noAdjustHandles="1" noChangeArrowheads="1" noChangeShapeType="1" noTextEdit="1"/>
              </p:cNvSpPr>
              <p:nvPr/>
            </p:nvSpPr>
            <p:spPr>
              <a:xfrm>
                <a:off x="7275285" y="2458710"/>
                <a:ext cx="388248" cy="369332"/>
              </a:xfrm>
              <a:prstGeom prst="rect">
                <a:avLst/>
              </a:prstGeom>
              <a:blipFill rotWithShape="1">
                <a:blip r:embed="rId4"/>
                <a:stretch>
                  <a:fillRect b="-655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02" name="ZoneTexte 101"/>
              <p:cNvSpPr txBox="1"/>
              <p:nvPr/>
            </p:nvSpPr>
            <p:spPr>
              <a:xfrm>
                <a:off x="7275285" y="2947833"/>
                <a:ext cx="4573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i="1">
                              <a:latin typeface="Cambria Math" panose="02040503050406030204" pitchFamily="18" charset="0"/>
                              <a:ea typeface="Cambria Math"/>
                            </a:rPr>
                          </m:ctrlPr>
                        </m:sSubPr>
                        <m:e>
                          <m:r>
                            <a:rPr lang="fr-FR" i="1">
                              <a:latin typeface="Cambria Math"/>
                              <a:ea typeface="Cambria Math"/>
                            </a:rPr>
                            <m:t>𝕗</m:t>
                          </m:r>
                        </m:e>
                        <m:sub>
                          <m:r>
                            <a:rPr lang="fr-FR" i="1">
                              <a:latin typeface="Cambria Math"/>
                              <a:ea typeface="Cambria Math"/>
                            </a:rPr>
                            <m:t>𝑒</m:t>
                          </m:r>
                        </m:sub>
                      </m:sSub>
                    </m:oMath>
                  </m:oMathPara>
                </a14:m>
                <a:endParaRPr lang="fr-FR" dirty="0"/>
              </a:p>
            </p:txBody>
          </p:sp>
        </mc:Choice>
        <mc:Fallback xmlns="">
          <p:sp>
            <p:nvSpPr>
              <p:cNvPr id="102" name="ZoneTexte 101"/>
              <p:cNvSpPr txBox="1">
                <a:spLocks noRot="1" noChangeAspect="1" noMove="1" noResize="1" noEditPoints="1" noAdjustHandles="1" noChangeArrowheads="1" noChangeShapeType="1" noTextEdit="1"/>
              </p:cNvSpPr>
              <p:nvPr/>
            </p:nvSpPr>
            <p:spPr>
              <a:xfrm>
                <a:off x="7275285" y="2947833"/>
                <a:ext cx="457369" cy="369332"/>
              </a:xfrm>
              <a:prstGeom prst="rect">
                <a:avLst/>
              </a:prstGeom>
              <a:blipFill rotWithShape="1">
                <a:blip r:embed="rId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05" name="ZoneTexte 104"/>
              <p:cNvSpPr txBox="1"/>
              <p:nvPr/>
            </p:nvSpPr>
            <p:spPr>
              <a:xfrm>
                <a:off x="5447449" y="2606136"/>
                <a:ext cx="3786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l-GR" b="1">
                          <a:latin typeface="Cambria Math"/>
                          <a:ea typeface="Cambria Math"/>
                        </a:rPr>
                        <m:t>𝚪</m:t>
                      </m:r>
                    </m:oMath>
                  </m:oMathPara>
                </a14:m>
                <a:endParaRPr lang="fr-FR" dirty="0"/>
              </a:p>
            </p:txBody>
          </p:sp>
        </mc:Choice>
        <mc:Fallback xmlns="">
          <p:sp>
            <p:nvSpPr>
              <p:cNvPr id="105" name="ZoneTexte 104"/>
              <p:cNvSpPr txBox="1">
                <a:spLocks noRot="1" noChangeAspect="1" noMove="1" noResize="1" noEditPoints="1" noAdjustHandles="1" noChangeArrowheads="1" noChangeShapeType="1" noTextEdit="1"/>
              </p:cNvSpPr>
              <p:nvPr/>
            </p:nvSpPr>
            <p:spPr>
              <a:xfrm>
                <a:off x="5447449" y="2606136"/>
                <a:ext cx="378630" cy="369332"/>
              </a:xfrm>
              <a:prstGeom prst="rect">
                <a:avLst/>
              </a:prstGeom>
              <a:blipFill rotWithShape="1">
                <a:blip r:embed="rId6"/>
                <a:stretch>
                  <a:fillRect/>
                </a:stretch>
              </a:blipFill>
            </p:spPr>
            <p:txBody>
              <a:bodyPr/>
              <a:lstStyle/>
              <a:p>
                <a:r>
                  <a:rPr lang="fr-FR">
                    <a:noFill/>
                  </a:rPr>
                  <a:t> </a:t>
                </a:r>
              </a:p>
            </p:txBody>
          </p:sp>
        </mc:Fallback>
      </mc:AlternateContent>
      <p:cxnSp>
        <p:nvCxnSpPr>
          <p:cNvPr id="108" name="Connecteur droit 107"/>
          <p:cNvCxnSpPr/>
          <p:nvPr/>
        </p:nvCxnSpPr>
        <p:spPr>
          <a:xfrm>
            <a:off x="7335915" y="2987256"/>
            <a:ext cx="0" cy="106411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3" name="Connecteur droit avec flèche 112"/>
          <p:cNvCxnSpPr>
            <a:stCxn id="122" idx="6"/>
          </p:cNvCxnSpPr>
          <p:nvPr/>
        </p:nvCxnSpPr>
        <p:spPr>
          <a:xfrm flipV="1">
            <a:off x="1506288" y="2928957"/>
            <a:ext cx="454438"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4" name="Connecteur droit avec flèche 113"/>
          <p:cNvCxnSpPr/>
          <p:nvPr/>
        </p:nvCxnSpPr>
        <p:spPr>
          <a:xfrm>
            <a:off x="2419343" y="2926557"/>
            <a:ext cx="509551" cy="24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5" name="Connecteur droit avec flèche 114"/>
          <p:cNvCxnSpPr/>
          <p:nvPr/>
        </p:nvCxnSpPr>
        <p:spPr>
          <a:xfrm flipV="1">
            <a:off x="666839" y="2923855"/>
            <a:ext cx="553699" cy="862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18" name="Connecteur droit avec flèche 117"/>
          <p:cNvCxnSpPr>
            <a:endCxn id="122" idx="4"/>
          </p:cNvCxnSpPr>
          <p:nvPr/>
        </p:nvCxnSpPr>
        <p:spPr>
          <a:xfrm flipV="1">
            <a:off x="1363413" y="3076552"/>
            <a:ext cx="0" cy="97481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120" name="Objet 119"/>
          <p:cNvGraphicFramePr>
            <a:graphicFrameLocks noChangeAspect="1"/>
          </p:cNvGraphicFramePr>
          <p:nvPr>
            <p:extLst>
              <p:ext uri="{D42A27DB-BD31-4B8C-83A1-F6EECF244321}">
                <p14:modId xmlns:p14="http://schemas.microsoft.com/office/powerpoint/2010/main" val="1886779912"/>
              </p:ext>
            </p:extLst>
          </p:nvPr>
        </p:nvGraphicFramePr>
        <p:xfrm>
          <a:off x="1398338" y="3238583"/>
          <a:ext cx="215900" cy="157163"/>
        </p:xfrm>
        <a:graphic>
          <a:graphicData uri="http://schemas.openxmlformats.org/presentationml/2006/ole">
            <mc:AlternateContent xmlns:mc="http://schemas.openxmlformats.org/markup-compatibility/2006">
              <mc:Choice xmlns:v="urn:schemas-microsoft-com:vml" Requires="v">
                <p:oleObj name="Equation" r:id="rId7" imgW="139639" imgH="101556" progId="Equation.DSMT4">
                  <p:embed/>
                </p:oleObj>
              </mc:Choice>
              <mc:Fallback>
                <p:oleObj name="Equation" r:id="rId7" imgW="139639" imgH="101556"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98338" y="3238583"/>
                        <a:ext cx="215900" cy="157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21" name="ZoneTexte 120"/>
              <p:cNvSpPr txBox="1"/>
              <p:nvPr/>
            </p:nvSpPr>
            <p:spPr>
              <a:xfrm>
                <a:off x="527236" y="2544070"/>
                <a:ext cx="469937" cy="3797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ea typeface="Cambria Math"/>
                            </a:rPr>
                          </m:ctrlPr>
                        </m:sSupPr>
                        <m:e>
                          <m:r>
                            <a:rPr lang="fr-FR" b="0" i="1" smtClean="0">
                              <a:latin typeface="Cambria Math"/>
                              <a:ea typeface="Cambria Math"/>
                            </a:rPr>
                            <m:t>𝕗</m:t>
                          </m:r>
                        </m:e>
                        <m:sup>
                          <m:r>
                            <a:rPr lang="fr-FR" b="0" i="1" smtClean="0">
                              <a:latin typeface="Cambria Math"/>
                              <a:ea typeface="Cambria Math"/>
                            </a:rPr>
                            <m:t>𝑑</m:t>
                          </m:r>
                        </m:sup>
                      </m:sSup>
                    </m:oMath>
                  </m:oMathPara>
                </a14:m>
                <a:endParaRPr lang="fr-FR" dirty="0"/>
              </a:p>
            </p:txBody>
          </p:sp>
        </mc:Choice>
        <mc:Fallback xmlns="">
          <p:sp>
            <p:nvSpPr>
              <p:cNvPr id="121" name="ZoneTexte 120"/>
              <p:cNvSpPr txBox="1">
                <a:spLocks noRot="1" noChangeAspect="1" noMove="1" noResize="1" noEditPoints="1" noAdjustHandles="1" noChangeArrowheads="1" noChangeShapeType="1" noTextEdit="1"/>
              </p:cNvSpPr>
              <p:nvPr/>
            </p:nvSpPr>
            <p:spPr>
              <a:xfrm>
                <a:off x="527236" y="2544070"/>
                <a:ext cx="469937" cy="379784"/>
              </a:xfrm>
              <a:prstGeom prst="rect">
                <a:avLst/>
              </a:prstGeom>
              <a:blipFill rotWithShape="1">
                <a:blip r:embed="rId9"/>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23" name="ZoneTexte 122"/>
              <p:cNvSpPr txBox="1"/>
              <p:nvPr/>
            </p:nvSpPr>
            <p:spPr>
              <a:xfrm>
                <a:off x="1960726" y="2744291"/>
                <a:ext cx="517228"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r>
                        <a:rPr lang="fr-FR" b="1" i="0" smtClean="0">
                          <a:latin typeface="Cambria Math"/>
                        </a:rPr>
                        <m:t>𝐋𝐂𝐅</m:t>
                      </m:r>
                    </m:oMath>
                  </m:oMathPara>
                </a14:m>
                <a:endParaRPr lang="fr-FR" b="1" dirty="0"/>
              </a:p>
            </p:txBody>
          </p:sp>
        </mc:Choice>
        <mc:Fallback xmlns="">
          <p:sp>
            <p:nvSpPr>
              <p:cNvPr id="123" name="ZoneTexte 122"/>
              <p:cNvSpPr txBox="1">
                <a:spLocks noRot="1" noChangeAspect="1" noMove="1" noResize="1" noEditPoints="1" noAdjustHandles="1" noChangeArrowheads="1" noChangeShapeType="1" noTextEdit="1"/>
              </p:cNvSpPr>
              <p:nvPr/>
            </p:nvSpPr>
            <p:spPr>
              <a:xfrm>
                <a:off x="1960726" y="2744291"/>
                <a:ext cx="517228" cy="369332"/>
              </a:xfrm>
              <a:prstGeom prst="rect">
                <a:avLst/>
              </a:prstGeom>
              <a:blipFill rotWithShape="1">
                <a:blip r:embed="rId10"/>
                <a:stretch>
                  <a:fillRect/>
                </a:stretch>
              </a:blipFill>
              <a:ln w="25400"/>
            </p:spPr>
            <p:txBody>
              <a:bodyPr/>
              <a:lstStyle/>
              <a:p>
                <a:r>
                  <a:rPr lang="fr-FR">
                    <a:noFill/>
                  </a:rPr>
                  <a:t> </a:t>
                </a:r>
              </a:p>
            </p:txBody>
          </p:sp>
        </mc:Fallback>
      </mc:AlternateContent>
      <p:cxnSp>
        <p:nvCxnSpPr>
          <p:cNvPr id="125" name="Connecteur droit avec flèche 124"/>
          <p:cNvCxnSpPr>
            <a:endCxn id="128" idx="1"/>
          </p:cNvCxnSpPr>
          <p:nvPr/>
        </p:nvCxnSpPr>
        <p:spPr>
          <a:xfrm>
            <a:off x="4003840" y="2932477"/>
            <a:ext cx="694858" cy="96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7" name="Connecteur droit avec flèche 126"/>
          <p:cNvCxnSpPr>
            <a:endCxn id="106" idx="1"/>
          </p:cNvCxnSpPr>
          <p:nvPr/>
        </p:nvCxnSpPr>
        <p:spPr>
          <a:xfrm flipV="1">
            <a:off x="5272352" y="2927644"/>
            <a:ext cx="826748"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8" name="ZoneTexte 127"/>
              <p:cNvSpPr txBox="1"/>
              <p:nvPr/>
            </p:nvSpPr>
            <p:spPr>
              <a:xfrm>
                <a:off x="4698698" y="2748778"/>
                <a:ext cx="573654"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r>
                        <a:rPr lang="fr-FR" b="1" i="0" dirty="0" smtClean="0">
                          <a:latin typeface="Cambria Math"/>
                        </a:rPr>
                        <m:t>𝐋𝐂𝐏</m:t>
                      </m:r>
                    </m:oMath>
                  </m:oMathPara>
                </a14:m>
                <a:endParaRPr lang="fr-FR" b="1" dirty="0"/>
              </a:p>
            </p:txBody>
          </p:sp>
        </mc:Choice>
        <mc:Fallback xmlns="">
          <p:sp>
            <p:nvSpPr>
              <p:cNvPr id="128" name="ZoneTexte 127"/>
              <p:cNvSpPr txBox="1">
                <a:spLocks noRot="1" noChangeAspect="1" noMove="1" noResize="1" noEditPoints="1" noAdjustHandles="1" noChangeArrowheads="1" noChangeShapeType="1" noTextEdit="1"/>
              </p:cNvSpPr>
              <p:nvPr/>
            </p:nvSpPr>
            <p:spPr>
              <a:xfrm>
                <a:off x="4698698" y="2748778"/>
                <a:ext cx="573654" cy="369332"/>
              </a:xfrm>
              <a:prstGeom prst="rect">
                <a:avLst/>
              </a:prstGeom>
              <a:blipFill rotWithShape="1">
                <a:blip r:embed="rId11"/>
                <a:stretch>
                  <a:fillRect/>
                </a:stretch>
              </a:blipFill>
              <a:ln w="25400"/>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29" name="ZoneTexte 128"/>
              <p:cNvSpPr txBox="1"/>
              <p:nvPr/>
            </p:nvSpPr>
            <p:spPr>
              <a:xfrm>
                <a:off x="3010043" y="1980215"/>
                <a:ext cx="500393" cy="37978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b="1" i="1" smtClean="0">
                              <a:latin typeface="Cambria Math" panose="02040503050406030204" pitchFamily="18" charset="0"/>
                              <a:ea typeface="Cambria Math"/>
                            </a:rPr>
                          </m:ctrlPr>
                        </m:sSupPr>
                        <m:e>
                          <m:r>
                            <a:rPr lang="fr-FR" b="1" i="0" smtClean="0">
                              <a:latin typeface="Cambria Math"/>
                              <a:ea typeface="Cambria Math"/>
                            </a:rPr>
                            <m:t>𝐱</m:t>
                          </m:r>
                        </m:e>
                        <m:sup>
                          <m:r>
                            <a:rPr lang="fr-FR" b="1" i="1" smtClean="0">
                              <a:latin typeface="Cambria Math"/>
                              <a:ea typeface="Cambria Math"/>
                            </a:rPr>
                            <m:t>𝒅</m:t>
                          </m:r>
                        </m:sup>
                      </m:sSup>
                    </m:oMath>
                  </m:oMathPara>
                </a14:m>
                <a:endParaRPr lang="fr-FR" dirty="0"/>
              </a:p>
            </p:txBody>
          </p:sp>
        </mc:Choice>
        <mc:Fallback xmlns="">
          <p:sp>
            <p:nvSpPr>
              <p:cNvPr id="129" name="ZoneTexte 128"/>
              <p:cNvSpPr txBox="1">
                <a:spLocks noRot="1" noChangeAspect="1" noMove="1" noResize="1" noEditPoints="1" noAdjustHandles="1" noChangeArrowheads="1" noChangeShapeType="1" noTextEdit="1"/>
              </p:cNvSpPr>
              <p:nvPr/>
            </p:nvSpPr>
            <p:spPr>
              <a:xfrm>
                <a:off x="3010043" y="1980215"/>
                <a:ext cx="500393" cy="379784"/>
              </a:xfrm>
              <a:prstGeom prst="rect">
                <a:avLst/>
              </a:prstGeom>
              <a:blipFill rotWithShape="1">
                <a:blip r:embed="rId12"/>
                <a:stretch>
                  <a:fillRect/>
                </a:stretch>
              </a:blipFill>
            </p:spPr>
            <p:txBody>
              <a:bodyPr/>
              <a:lstStyle/>
              <a:p>
                <a:r>
                  <a:rPr lang="fr-FR">
                    <a:noFill/>
                  </a:rPr>
                  <a:t> </a:t>
                </a:r>
              </a:p>
            </p:txBody>
          </p:sp>
        </mc:Fallback>
      </mc:AlternateContent>
      <p:cxnSp>
        <p:nvCxnSpPr>
          <p:cNvPr id="130" name="Connecteur droit 129"/>
          <p:cNvCxnSpPr/>
          <p:nvPr/>
        </p:nvCxnSpPr>
        <p:spPr>
          <a:xfrm flipV="1">
            <a:off x="7314988" y="1958445"/>
            <a:ext cx="2337" cy="85855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1" name="Connecteur droit avec flèche 130"/>
          <p:cNvCxnSpPr>
            <a:endCxn id="135" idx="3"/>
          </p:cNvCxnSpPr>
          <p:nvPr/>
        </p:nvCxnSpPr>
        <p:spPr>
          <a:xfrm flipH="1">
            <a:off x="5636764" y="1958444"/>
            <a:ext cx="1680561"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32" name="Connecteur droit 131"/>
          <p:cNvCxnSpPr>
            <a:stCxn id="135" idx="1"/>
          </p:cNvCxnSpPr>
          <p:nvPr/>
        </p:nvCxnSpPr>
        <p:spPr>
          <a:xfrm flipH="1">
            <a:off x="3860965" y="1958444"/>
            <a:ext cx="104697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3" name="Connecteur droit avec flèche 132"/>
          <p:cNvCxnSpPr>
            <a:endCxn id="124" idx="0"/>
          </p:cNvCxnSpPr>
          <p:nvPr/>
        </p:nvCxnSpPr>
        <p:spPr>
          <a:xfrm>
            <a:off x="3860965" y="1958445"/>
            <a:ext cx="0" cy="83235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134" name="Espace réservé du contenu 73"/>
          <p:cNvGraphicFramePr>
            <a:graphicFrameLocks noChangeAspect="1"/>
          </p:cNvGraphicFramePr>
          <p:nvPr>
            <p:extLst>
              <p:ext uri="{D42A27DB-BD31-4B8C-83A1-F6EECF244321}">
                <p14:modId xmlns:p14="http://schemas.microsoft.com/office/powerpoint/2010/main" val="3304070359"/>
              </p:ext>
            </p:extLst>
          </p:nvPr>
        </p:nvGraphicFramePr>
        <p:xfrm>
          <a:off x="3613224" y="2562388"/>
          <a:ext cx="139700" cy="101600"/>
        </p:xfrm>
        <a:graphic>
          <a:graphicData uri="http://schemas.openxmlformats.org/presentationml/2006/ole">
            <mc:AlternateContent xmlns:mc="http://schemas.openxmlformats.org/markup-compatibility/2006">
              <mc:Choice xmlns:v="urn:schemas-microsoft-com:vml" Requires="v">
                <p:oleObj name="Equation" r:id="rId13" imgW="139639" imgH="101556" progId="Equation.DSMT4">
                  <p:embed/>
                </p:oleObj>
              </mc:Choice>
              <mc:Fallback>
                <p:oleObj name="Equation" r:id="rId13" imgW="139639" imgH="101556"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13224" y="2562388"/>
                        <a:ext cx="139700" cy="10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5" name="ZoneTexte 134"/>
          <p:cNvSpPr txBox="1"/>
          <p:nvPr/>
        </p:nvSpPr>
        <p:spPr>
          <a:xfrm>
            <a:off x="4907940" y="1773778"/>
            <a:ext cx="728824"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dirty="0"/>
              <a:t>MGD</a:t>
            </a:r>
          </a:p>
        </p:txBody>
      </p:sp>
      <mc:AlternateContent xmlns:mc="http://schemas.openxmlformats.org/markup-compatibility/2006" xmlns:a14="http://schemas.microsoft.com/office/drawing/2010/main">
        <mc:Choice Requires="a14">
          <p:sp>
            <p:nvSpPr>
              <p:cNvPr id="136" name="ZoneTexte 135"/>
              <p:cNvSpPr txBox="1"/>
              <p:nvPr/>
            </p:nvSpPr>
            <p:spPr>
              <a:xfrm>
                <a:off x="4513391" y="1638803"/>
                <a:ext cx="3706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b="1" i="0" smtClean="0">
                          <a:latin typeface="Cambria Math"/>
                          <a:ea typeface="Cambria Math"/>
                        </a:rPr>
                        <m:t>𝐱</m:t>
                      </m:r>
                    </m:oMath>
                  </m:oMathPara>
                </a14:m>
                <a:endParaRPr lang="fr-FR" dirty="0"/>
              </a:p>
            </p:txBody>
          </p:sp>
        </mc:Choice>
        <mc:Fallback xmlns="">
          <p:sp>
            <p:nvSpPr>
              <p:cNvPr id="136" name="ZoneTexte 135"/>
              <p:cNvSpPr txBox="1">
                <a:spLocks noRot="1" noChangeAspect="1" noMove="1" noResize="1" noEditPoints="1" noAdjustHandles="1" noChangeArrowheads="1" noChangeShapeType="1" noTextEdit="1"/>
              </p:cNvSpPr>
              <p:nvPr/>
            </p:nvSpPr>
            <p:spPr>
              <a:xfrm>
                <a:off x="4513391" y="1638803"/>
                <a:ext cx="370614" cy="369332"/>
              </a:xfrm>
              <a:prstGeom prst="rect">
                <a:avLst/>
              </a:prstGeom>
              <a:blipFill rotWithShape="1">
                <a:blip r:embed="rId14"/>
                <a:stretch>
                  <a:fillRect/>
                </a:stretch>
              </a:blipFill>
            </p:spPr>
            <p:txBody>
              <a:bodyPr/>
              <a:lstStyle/>
              <a:p>
                <a:r>
                  <a:rPr lang="fr-FR">
                    <a:noFill/>
                  </a:rPr>
                  <a:t> </a:t>
                </a:r>
              </a:p>
            </p:txBody>
          </p:sp>
        </mc:Fallback>
      </mc:AlternateContent>
      <p:cxnSp>
        <p:nvCxnSpPr>
          <p:cNvPr id="137" name="Connecteur droit 136"/>
          <p:cNvCxnSpPr/>
          <p:nvPr/>
        </p:nvCxnSpPr>
        <p:spPr>
          <a:xfrm flipH="1">
            <a:off x="1363413" y="4051369"/>
            <a:ext cx="597250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0" name="Connecteur droit avec flèche 159"/>
          <p:cNvCxnSpPr/>
          <p:nvPr/>
        </p:nvCxnSpPr>
        <p:spPr>
          <a:xfrm flipV="1">
            <a:off x="7109857" y="2987256"/>
            <a:ext cx="226058"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sp>
        <p:nvSpPr>
          <p:cNvPr id="106" name="ZoneTexte 105"/>
          <p:cNvSpPr txBox="1"/>
          <p:nvPr/>
        </p:nvSpPr>
        <p:spPr>
          <a:xfrm>
            <a:off x="6099100" y="2742978"/>
            <a:ext cx="1002273"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fr-FR" dirty="0"/>
              <a:t>Robot</a:t>
            </a:r>
          </a:p>
        </p:txBody>
      </p:sp>
      <p:sp>
        <p:nvSpPr>
          <p:cNvPr id="124" name="Ellipse 123"/>
          <p:cNvSpPr/>
          <p:nvPr/>
        </p:nvSpPr>
        <p:spPr>
          <a:xfrm>
            <a:off x="3718090" y="2790802"/>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cxnSp>
        <p:nvCxnSpPr>
          <p:cNvPr id="171" name="Connecteur droit avec flèche 170"/>
          <p:cNvCxnSpPr/>
          <p:nvPr/>
        </p:nvCxnSpPr>
        <p:spPr>
          <a:xfrm>
            <a:off x="3071769" y="2251396"/>
            <a:ext cx="0" cy="53940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74" name="Connecteur droit avec flèche 173"/>
          <p:cNvCxnSpPr/>
          <p:nvPr/>
        </p:nvCxnSpPr>
        <p:spPr>
          <a:xfrm>
            <a:off x="3214644" y="2925372"/>
            <a:ext cx="509551" cy="24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70" name="Ellipse 169"/>
          <p:cNvSpPr/>
          <p:nvPr/>
        </p:nvSpPr>
        <p:spPr>
          <a:xfrm>
            <a:off x="2928894" y="2780979"/>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sp>
        <p:nvSpPr>
          <p:cNvPr id="122" name="Ellipse 121"/>
          <p:cNvSpPr/>
          <p:nvPr/>
        </p:nvSpPr>
        <p:spPr>
          <a:xfrm>
            <a:off x="1220538" y="2790802"/>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graphicFrame>
        <p:nvGraphicFramePr>
          <p:cNvPr id="176" name="Espace réservé du contenu 175"/>
          <p:cNvGraphicFramePr>
            <a:graphicFrameLocks noGrp="1" noChangeAspect="1"/>
          </p:cNvGraphicFramePr>
          <p:nvPr>
            <p:ph sz="quarter" idx="1"/>
            <p:extLst>
              <p:ext uri="{D42A27DB-BD31-4B8C-83A1-F6EECF244321}">
                <p14:modId xmlns:p14="http://schemas.microsoft.com/office/powerpoint/2010/main" val="3845818555"/>
              </p:ext>
            </p:extLst>
          </p:nvPr>
        </p:nvGraphicFramePr>
        <p:xfrm>
          <a:off x="2837564" y="2521098"/>
          <a:ext cx="182659" cy="182659"/>
        </p:xfrm>
        <a:graphic>
          <a:graphicData uri="http://schemas.openxmlformats.org/presentationml/2006/ole">
            <mc:AlternateContent xmlns:mc="http://schemas.openxmlformats.org/markup-compatibility/2006">
              <mc:Choice xmlns:v="urn:schemas-microsoft-com:vml" Requires="v">
                <p:oleObj name="Equation" r:id="rId15" imgW="139680" imgH="139680" progId="Equation.DSMT4">
                  <p:embed/>
                </p:oleObj>
              </mc:Choice>
              <mc:Fallback>
                <p:oleObj name="Equation" r:id="rId15" imgW="139680" imgH="139680" progId="Equation.DSMT4">
                  <p:embed/>
                  <p:pic>
                    <p:nvPicPr>
                      <p:cNvPr id="0" name="Objet 119"/>
                      <p:cNvPicPr>
                        <a:picLocks noChangeAspect="1" noChangeArrowheads="1"/>
                      </p:cNvPicPr>
                      <p:nvPr/>
                    </p:nvPicPr>
                    <p:blipFill>
                      <a:blip r:embed="rId16"/>
                      <a:srcRect/>
                      <a:stretch>
                        <a:fillRect/>
                      </a:stretch>
                    </p:blipFill>
                    <p:spPr bwMode="auto">
                      <a:xfrm>
                        <a:off x="2837564" y="2521098"/>
                        <a:ext cx="182659" cy="182659"/>
                      </a:xfrm>
                      <a:prstGeom prst="rect">
                        <a:avLst/>
                      </a:prstGeom>
                      <a:noFill/>
                      <a:ln>
                        <a:noFill/>
                      </a:ln>
                      <a:effectLst/>
                    </p:spPr>
                  </p:pic>
                </p:oleObj>
              </mc:Fallback>
            </mc:AlternateContent>
          </a:graphicData>
        </a:graphic>
      </p:graphicFrame>
      <p:graphicFrame>
        <p:nvGraphicFramePr>
          <p:cNvPr id="177" name="Objet 176"/>
          <p:cNvGraphicFramePr>
            <a:graphicFrameLocks noGrp="1" noChangeAspect="1"/>
          </p:cNvGraphicFramePr>
          <p:nvPr>
            <p:extLst>
              <p:ext uri="{D42A27DB-BD31-4B8C-83A1-F6EECF244321}">
                <p14:modId xmlns:p14="http://schemas.microsoft.com/office/powerpoint/2010/main" val="377010684"/>
              </p:ext>
            </p:extLst>
          </p:nvPr>
        </p:nvGraphicFramePr>
        <p:xfrm>
          <a:off x="2674118" y="2949936"/>
          <a:ext cx="184150" cy="182563"/>
        </p:xfrm>
        <a:graphic>
          <a:graphicData uri="http://schemas.openxmlformats.org/presentationml/2006/ole">
            <mc:AlternateContent xmlns:mc="http://schemas.openxmlformats.org/markup-compatibility/2006">
              <mc:Choice xmlns:v="urn:schemas-microsoft-com:vml" Requires="v">
                <p:oleObj name="Equation" r:id="rId17" imgW="139680" imgH="139680" progId="Equation.DSMT4">
                  <p:embed/>
                </p:oleObj>
              </mc:Choice>
              <mc:Fallback>
                <p:oleObj name="Equation" r:id="rId17" imgW="139680" imgH="139680" progId="Equation.DSMT4">
                  <p:embed/>
                  <p:pic>
                    <p:nvPicPr>
                      <p:cNvPr id="0" name="Espace réservé du contenu 175"/>
                      <p:cNvPicPr>
                        <a:picLocks noGrp="1"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74118" y="2949936"/>
                        <a:ext cx="18415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9" name="Objet 178"/>
          <p:cNvGraphicFramePr>
            <a:graphicFrameLocks noGrp="1" noChangeAspect="1"/>
          </p:cNvGraphicFramePr>
          <p:nvPr>
            <p:extLst>
              <p:ext uri="{D42A27DB-BD31-4B8C-83A1-F6EECF244321}">
                <p14:modId xmlns:p14="http://schemas.microsoft.com/office/powerpoint/2010/main" val="1555887463"/>
              </p:ext>
            </p:extLst>
          </p:nvPr>
        </p:nvGraphicFramePr>
        <p:xfrm>
          <a:off x="905098" y="2975447"/>
          <a:ext cx="184150" cy="182563"/>
        </p:xfrm>
        <a:graphic>
          <a:graphicData uri="http://schemas.openxmlformats.org/presentationml/2006/ole">
            <mc:AlternateContent xmlns:mc="http://schemas.openxmlformats.org/markup-compatibility/2006">
              <mc:Choice xmlns:v="urn:schemas-microsoft-com:vml" Requires="v">
                <p:oleObj name="Equation" r:id="rId19" imgW="139680" imgH="139680" progId="Equation.DSMT4">
                  <p:embed/>
                </p:oleObj>
              </mc:Choice>
              <mc:Fallback>
                <p:oleObj name="Equation" r:id="rId19" imgW="139680" imgH="139680" progId="Equation.DSMT4">
                  <p:embed/>
                  <p:pic>
                    <p:nvPicPr>
                      <p:cNvPr id="0" name="Espace réservé du contenu 175"/>
                      <p:cNvPicPr>
                        <a:picLocks noGrp="1"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05098" y="2975447"/>
                        <a:ext cx="18415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0370492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6" name="Image 15"/>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346347" y="1194614"/>
            <a:ext cx="3156493" cy="2584018"/>
          </a:xfrm>
          <a:prstGeom prst="rect">
            <a:avLst/>
          </a:prstGeom>
        </p:spPr>
      </p:pic>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r>
                  <a:rPr lang="fr-FR" u="sng" dirty="0"/>
                  <a:t>Exemple :</a:t>
                </a:r>
                <a:r>
                  <a:rPr lang="fr-FR" b="1" dirty="0"/>
                  <a:t> </a:t>
                </a:r>
                <a:r>
                  <a:rPr lang="fr-FR" dirty="0"/>
                  <a:t>robot plan à 2 </a:t>
                </a:r>
                <a:r>
                  <a:rPr lang="fr-FR" dirty="0" err="1"/>
                  <a:t>ddl</a:t>
                </a:r>
                <a:endParaRPr lang="fr-FR" dirty="0"/>
              </a:p>
              <a:p>
                <a:pPr marL="0" indent="0">
                  <a:buNone/>
                </a:pPr>
                <a:r>
                  <a:rPr lang="fr-FR" b="1" dirty="0"/>
                  <a:t>Objectif : </a:t>
                </a:r>
                <a:r>
                  <a:rPr lang="fr-FR" dirty="0"/>
                  <a:t>asservir</a:t>
                </a:r>
              </a:p>
              <a:p>
                <a:pPr marL="0" indent="0">
                  <a:buNone/>
                </a:pPr>
                <a:r>
                  <a:rPr lang="fr-FR" dirty="0"/>
                  <a:t>1- l’effort de contact suivant </a:t>
                </a:r>
                <a14:m>
                  <m:oMath xmlns:m="http://schemas.openxmlformats.org/officeDocument/2006/math">
                    <m:r>
                      <a:rPr lang="fr-FR" b="0" i="1" smtClean="0">
                        <a:latin typeface="Cambria Math"/>
                      </a:rPr>
                      <m:t>𝑥</m:t>
                    </m:r>
                  </m:oMath>
                </a14:m>
                <a:endParaRPr lang="fr-FR" dirty="0"/>
              </a:p>
              <a:p>
                <a:pPr marL="0" indent="0">
                  <a:buNone/>
                </a:pPr>
                <a:r>
                  <a:rPr lang="fr-FR" dirty="0"/>
                  <a:t>2- la position de l’OT suivant </a:t>
                </a:r>
                <a14:m>
                  <m:oMath xmlns:m="http://schemas.openxmlformats.org/officeDocument/2006/math">
                    <m:r>
                      <a:rPr lang="fr-FR" b="0" i="1" smtClean="0">
                        <a:latin typeface="Cambria Math"/>
                      </a:rPr>
                      <m:t>𝑦</m:t>
                    </m:r>
                  </m:oMath>
                </a14:m>
                <a:endParaRPr lang="fr-FR" dirty="0"/>
              </a:p>
              <a:p>
                <a:pPr marL="0" indent="0">
                  <a:buNone/>
                </a:pPr>
                <a:endParaRPr lang="fr-FR" b="1" dirty="0"/>
              </a:p>
              <a:p>
                <a:pPr marL="0" indent="0">
                  <a:buNone/>
                </a:pPr>
                <a:r>
                  <a:rPr lang="fr-FR" b="1" dirty="0"/>
                  <a:t>Robot :</a:t>
                </a:r>
              </a:p>
              <a:p>
                <a:pPr marL="0" indent="0">
                  <a:buNone/>
                </a:pPr>
                <a:r>
                  <a:rPr lang="fr-FR" dirty="0"/>
                  <a:t>Position initiale : </a:t>
                </a:r>
                <a14:m>
                  <m:oMath xmlns:m="http://schemas.openxmlformats.org/officeDocument/2006/math">
                    <m:r>
                      <a:rPr lang="fr-FR" b="1" i="0" smtClean="0">
                        <a:latin typeface="Cambria Math"/>
                        <a:ea typeface="Cambria Math"/>
                      </a:rPr>
                      <m:t>𝐱</m:t>
                    </m:r>
                    <m:r>
                      <a:rPr lang="fr-FR" b="1" i="0" smtClean="0">
                        <a:latin typeface="Cambria Math"/>
                        <a:ea typeface="Cambria Math"/>
                      </a:rPr>
                      <m:t>=</m:t>
                    </m:r>
                    <m:sSup>
                      <m:sSupPr>
                        <m:ctrlPr>
                          <a:rPr lang="fr-FR" i="1">
                            <a:latin typeface="Cambria Math" panose="02040503050406030204" pitchFamily="18" charset="0"/>
                            <a:ea typeface="Cambria Math"/>
                          </a:rPr>
                        </m:ctrlPr>
                      </m:sSupPr>
                      <m:e>
                        <m:d>
                          <m:dPr>
                            <m:begChr m:val="["/>
                            <m:endChr m:val="]"/>
                            <m:ctrlPr>
                              <a:rPr lang="fr-FR" i="1">
                                <a:latin typeface="Cambria Math" panose="02040503050406030204" pitchFamily="18" charset="0"/>
                                <a:ea typeface="Cambria Math"/>
                              </a:rPr>
                            </m:ctrlPr>
                          </m:dPr>
                          <m:e>
                            <m:m>
                              <m:mPr>
                                <m:mcs>
                                  <m:mc>
                                    <m:mcPr>
                                      <m:count m:val="2"/>
                                      <m:mcJc m:val="center"/>
                                    </m:mcPr>
                                  </m:mc>
                                </m:mcs>
                                <m:ctrlPr>
                                  <a:rPr lang="fr-FR" i="1">
                                    <a:latin typeface="Cambria Math" panose="02040503050406030204" pitchFamily="18" charset="0"/>
                                    <a:ea typeface="Cambria Math"/>
                                  </a:rPr>
                                </m:ctrlPr>
                              </m:mPr>
                              <m:mr>
                                <m:e>
                                  <m:r>
                                    <m:rPr>
                                      <m:brk m:alnAt="7"/>
                                    </m:rPr>
                                    <a:rPr lang="fr-FR" i="1">
                                      <a:latin typeface="Cambria Math"/>
                                      <a:ea typeface="Cambria Math"/>
                                    </a:rPr>
                                    <m:t>1</m:t>
                                  </m:r>
                                </m:e>
                                <m:e>
                                  <m:r>
                                    <a:rPr lang="fr-FR" i="1">
                                      <a:latin typeface="Cambria Math"/>
                                      <a:ea typeface="Cambria Math"/>
                                    </a:rPr>
                                    <m:t>0</m:t>
                                  </m:r>
                                </m:e>
                              </m:mr>
                            </m:m>
                          </m:e>
                        </m:d>
                      </m:e>
                      <m:sup>
                        <m:r>
                          <a:rPr lang="fr-FR" i="1">
                            <a:latin typeface="Cambria Math"/>
                            <a:ea typeface="Cambria Math"/>
                          </a:rPr>
                          <m:t>𝑇</m:t>
                        </m:r>
                      </m:sup>
                    </m:sSup>
                  </m:oMath>
                </a14:m>
                <a:r>
                  <a:rPr lang="fr-FR" dirty="0">
                    <a:latin typeface="Cambria Math"/>
                    <a:ea typeface="Cambria Math"/>
                  </a:rPr>
                  <a:t> m </a:t>
                </a:r>
                <a:endParaRPr lang="fr-FR" b="1" i="0" dirty="0">
                  <a:latin typeface="Cambria Math"/>
                  <a:ea typeface="Cambria Math"/>
                </a:endParaRPr>
              </a:p>
              <a:p>
                <a:pPr marL="0" indent="0">
                  <a:buNone/>
                </a:pPr>
                <a:r>
                  <a:rPr lang="fr-FR" dirty="0"/>
                  <a:t>Force désirée : </a:t>
                </a:r>
                <a14:m>
                  <m:oMath xmlns:m="http://schemas.openxmlformats.org/officeDocument/2006/math">
                    <m:sSup>
                      <m:sSupPr>
                        <m:ctrlPr>
                          <a:rPr lang="fr-FR" i="1" smtClean="0">
                            <a:latin typeface="Cambria Math" panose="02040503050406030204" pitchFamily="18" charset="0"/>
                            <a:ea typeface="Cambria Math"/>
                          </a:rPr>
                        </m:ctrlPr>
                      </m:sSupPr>
                      <m:e>
                        <m:r>
                          <a:rPr lang="fr-FR" i="1" smtClean="0">
                            <a:latin typeface="Cambria Math"/>
                            <a:ea typeface="Cambria Math"/>
                          </a:rPr>
                          <m:t>𝕗</m:t>
                        </m:r>
                      </m:e>
                      <m:sup>
                        <m:r>
                          <a:rPr lang="fr-FR" b="0" i="1" smtClean="0">
                            <a:latin typeface="Cambria Math"/>
                            <a:ea typeface="Cambria Math"/>
                          </a:rPr>
                          <m:t>𝑑</m:t>
                        </m:r>
                      </m:sup>
                    </m:sSup>
                    <m:r>
                      <a:rPr lang="fr-FR" b="0" i="1" smtClean="0">
                        <a:latin typeface="Cambria Math"/>
                        <a:ea typeface="Cambria Math"/>
                      </a:rPr>
                      <m:t>=</m:t>
                    </m:r>
                    <m:sSup>
                      <m:sSupPr>
                        <m:ctrlPr>
                          <a:rPr lang="fr-FR" b="0" i="1" smtClean="0">
                            <a:latin typeface="Cambria Math" panose="02040503050406030204" pitchFamily="18" charset="0"/>
                            <a:ea typeface="Cambria Math"/>
                          </a:rPr>
                        </m:ctrlPr>
                      </m:sSupPr>
                      <m:e>
                        <m:d>
                          <m:dPr>
                            <m:begChr m:val="["/>
                            <m:endChr m:val="]"/>
                            <m:ctrlPr>
                              <a:rPr lang="fr-FR" b="0" i="1" smtClean="0">
                                <a:latin typeface="Cambria Math" panose="02040503050406030204" pitchFamily="18" charset="0"/>
                                <a:ea typeface="Cambria Math"/>
                              </a:rPr>
                            </m:ctrlPr>
                          </m:dPr>
                          <m:e>
                            <m:m>
                              <m:mPr>
                                <m:mcs>
                                  <m:mc>
                                    <m:mcPr>
                                      <m:count m:val="2"/>
                                      <m:mcJc m:val="center"/>
                                    </m:mcPr>
                                  </m:mc>
                                </m:mcs>
                                <m:ctrlPr>
                                  <a:rPr lang="fr-FR" b="0" i="1" smtClean="0">
                                    <a:latin typeface="Cambria Math" panose="02040503050406030204" pitchFamily="18" charset="0"/>
                                    <a:ea typeface="Cambria Math"/>
                                  </a:rPr>
                                </m:ctrlPr>
                              </m:mPr>
                              <m:mr>
                                <m:e>
                                  <m:r>
                                    <m:rPr>
                                      <m:brk m:alnAt="7"/>
                                    </m:rPr>
                                    <a:rPr lang="fr-FR" b="0" i="1" smtClean="0">
                                      <a:latin typeface="Cambria Math"/>
                                      <a:ea typeface="Cambria Math"/>
                                    </a:rPr>
                                    <m:t>1</m:t>
                                  </m:r>
                                  <m:r>
                                    <a:rPr lang="fr-FR" b="0" i="1" smtClean="0">
                                      <a:latin typeface="Cambria Math"/>
                                      <a:ea typeface="Cambria Math"/>
                                    </a:rPr>
                                    <m:t>0</m:t>
                                  </m:r>
                                </m:e>
                                <m:e>
                                  <m:r>
                                    <a:rPr lang="fr-FR" b="0" i="1" smtClean="0">
                                      <a:latin typeface="Cambria Math"/>
                                      <a:ea typeface="Cambria Math"/>
                                    </a:rPr>
                                    <m:t>0</m:t>
                                  </m:r>
                                </m:e>
                              </m:mr>
                            </m:m>
                          </m:e>
                        </m:d>
                      </m:e>
                      <m:sup>
                        <m:r>
                          <a:rPr lang="fr-FR" b="0" i="1" smtClean="0">
                            <a:latin typeface="Cambria Math"/>
                            <a:ea typeface="Cambria Math"/>
                          </a:rPr>
                          <m:t>𝑇</m:t>
                        </m:r>
                      </m:sup>
                    </m:sSup>
                    <m:r>
                      <a:rPr lang="fr-FR" b="0" i="1" smtClean="0">
                        <a:latin typeface="Cambria Math"/>
                        <a:ea typeface="Cambria Math"/>
                      </a:rPr>
                      <m:t> </m:t>
                    </m:r>
                    <m:r>
                      <m:rPr>
                        <m:sty m:val="p"/>
                      </m:rPr>
                      <a:rPr lang="fr-FR" b="0" i="0" smtClean="0">
                        <a:latin typeface="Cambria Math"/>
                        <a:ea typeface="Cambria Math"/>
                      </a:rPr>
                      <m:t>N</m:t>
                    </m:r>
                  </m:oMath>
                </a14:m>
                <a:r>
                  <a:rPr lang="fr-FR" dirty="0">
                    <a:latin typeface="Cambria Math"/>
                    <a:ea typeface="Cambria Math"/>
                  </a:rPr>
                  <a:t> </a:t>
                </a:r>
              </a:p>
              <a:p>
                <a:pPr marL="0" indent="0">
                  <a:buNone/>
                </a:pPr>
                <a:r>
                  <a:rPr lang="fr-FR" i="0" dirty="0">
                    <a:latin typeface="Cambria Math"/>
                    <a:ea typeface="Cambria Math"/>
                  </a:rPr>
                  <a:t>Position désirée : </a:t>
                </a:r>
                <a14:m>
                  <m:oMath xmlns:m="http://schemas.openxmlformats.org/officeDocument/2006/math">
                    <m:sSup>
                      <m:sSupPr>
                        <m:ctrlPr>
                          <a:rPr lang="fr-FR" i="1" smtClean="0">
                            <a:latin typeface="Cambria Math" panose="02040503050406030204" pitchFamily="18" charset="0"/>
                            <a:ea typeface="Cambria Math"/>
                          </a:rPr>
                        </m:ctrlPr>
                      </m:sSupPr>
                      <m:e>
                        <m:r>
                          <a:rPr lang="fr-FR" b="1" i="0" smtClean="0">
                            <a:latin typeface="Cambria Math"/>
                            <a:ea typeface="Cambria Math"/>
                          </a:rPr>
                          <m:t>𝐱</m:t>
                        </m:r>
                      </m:e>
                      <m:sup>
                        <m:r>
                          <a:rPr lang="fr-FR" b="0" i="1" smtClean="0">
                            <a:latin typeface="Cambria Math"/>
                            <a:ea typeface="Cambria Math"/>
                          </a:rPr>
                          <m:t>𝑑</m:t>
                        </m:r>
                      </m:sup>
                    </m:sSup>
                    <m:r>
                      <a:rPr lang="fr-FR" b="0" i="1" smtClean="0">
                        <a:latin typeface="Cambria Math"/>
                        <a:ea typeface="Cambria Math"/>
                      </a:rPr>
                      <m:t>=</m:t>
                    </m:r>
                    <m:sSup>
                      <m:sSupPr>
                        <m:ctrlPr>
                          <a:rPr lang="fr-FR" b="0" i="1" smtClean="0">
                            <a:latin typeface="Cambria Math" panose="02040503050406030204" pitchFamily="18" charset="0"/>
                            <a:ea typeface="Cambria Math"/>
                          </a:rPr>
                        </m:ctrlPr>
                      </m:sSupPr>
                      <m:e>
                        <m:d>
                          <m:dPr>
                            <m:begChr m:val="["/>
                            <m:endChr m:val="]"/>
                            <m:ctrlPr>
                              <a:rPr lang="fr-FR" b="0" i="1" smtClean="0">
                                <a:latin typeface="Cambria Math" panose="02040503050406030204" pitchFamily="18" charset="0"/>
                                <a:ea typeface="Cambria Math"/>
                              </a:rPr>
                            </m:ctrlPr>
                          </m:dPr>
                          <m:e>
                            <m:m>
                              <m:mPr>
                                <m:mcs>
                                  <m:mc>
                                    <m:mcPr>
                                      <m:count m:val="2"/>
                                      <m:mcJc m:val="center"/>
                                    </m:mcPr>
                                  </m:mc>
                                </m:mcs>
                                <m:ctrlPr>
                                  <a:rPr lang="fr-FR" b="0" i="1" smtClean="0">
                                    <a:latin typeface="Cambria Math" panose="02040503050406030204" pitchFamily="18" charset="0"/>
                                    <a:ea typeface="Cambria Math"/>
                                  </a:rPr>
                                </m:ctrlPr>
                              </m:mPr>
                              <m:mr>
                                <m:e>
                                  <m:r>
                                    <m:rPr>
                                      <m:brk m:alnAt="7"/>
                                    </m:rPr>
                                    <a:rPr lang="fr-FR" b="0" i="1" smtClean="0">
                                      <a:latin typeface="Cambria Math"/>
                                      <a:ea typeface="Cambria Math"/>
                                    </a:rPr>
                                    <m:t>1</m:t>
                                  </m:r>
                                </m:e>
                                <m:e>
                                  <m:r>
                                    <a:rPr lang="fr-FR" b="0" i="1" smtClean="0">
                                      <a:latin typeface="Cambria Math"/>
                                      <a:ea typeface="Cambria Math"/>
                                    </a:rPr>
                                    <m:t>0,1</m:t>
                                  </m:r>
                                </m:e>
                              </m:mr>
                            </m:m>
                          </m:e>
                        </m:d>
                      </m:e>
                      <m:sup>
                        <m:r>
                          <a:rPr lang="fr-FR" b="0" i="1" smtClean="0">
                            <a:latin typeface="Cambria Math"/>
                            <a:ea typeface="Cambria Math"/>
                          </a:rPr>
                          <m:t>𝑇</m:t>
                        </m:r>
                      </m:sup>
                    </m:sSup>
                    <m:r>
                      <a:rPr lang="fr-FR" b="0" i="1" smtClean="0">
                        <a:latin typeface="Cambria Math"/>
                        <a:ea typeface="Cambria Math"/>
                      </a:rPr>
                      <m:t> </m:t>
                    </m:r>
                    <m:r>
                      <a:rPr lang="fr-FR" b="0" i="1" smtClean="0">
                        <a:latin typeface="Cambria Math"/>
                        <a:ea typeface="Cambria Math"/>
                      </a:rPr>
                      <m:t>𝑚</m:t>
                    </m:r>
                  </m:oMath>
                </a14:m>
                <a:r>
                  <a:rPr lang="fr-FR" b="1" i="0" dirty="0">
                    <a:latin typeface="Cambria Math"/>
                    <a:ea typeface="Cambria Math"/>
                  </a:rPr>
                  <a:t> </a:t>
                </a:r>
                <a:endParaRPr lang="fr-FR" b="1" dirty="0"/>
              </a:p>
              <a:p>
                <a:pPr marL="0" indent="0">
                  <a:buNone/>
                </a:pPr>
                <a:r>
                  <a:rPr lang="fr-FR" b="1" dirty="0"/>
                  <a:t>Environnement élastique :</a:t>
                </a:r>
                <a:r>
                  <a:rPr lang="fr-FR" dirty="0"/>
                  <a:t>	</a:t>
                </a:r>
              </a:p>
              <a:p>
                <a:pPr marL="0" indent="0">
                  <a:buNone/>
                </a:pPr>
                <a:r>
                  <a:rPr lang="fr-FR" dirty="0"/>
                  <a:t>Position :</a:t>
                </a:r>
                <a:r>
                  <a:rPr lang="fr-FR" dirty="0">
                    <a:latin typeface="Cambria Math"/>
                    <a:ea typeface="Cambria Math"/>
                  </a:rPr>
                  <a:t> </a:t>
                </a:r>
                <a14:m>
                  <m:oMath xmlns:m="http://schemas.openxmlformats.org/officeDocument/2006/math">
                    <m:sSub>
                      <m:sSubPr>
                        <m:ctrlPr>
                          <a:rPr lang="fr-FR" i="1" smtClean="0">
                            <a:latin typeface="Cambria Math" panose="02040503050406030204" pitchFamily="18" charset="0"/>
                            <a:ea typeface="Cambria Math"/>
                          </a:rPr>
                        </m:ctrlPr>
                      </m:sSubPr>
                      <m:e>
                        <m:r>
                          <a:rPr lang="fr-FR" b="0" i="1" smtClean="0">
                            <a:latin typeface="Cambria Math"/>
                            <a:ea typeface="Cambria Math"/>
                          </a:rPr>
                          <m:t>𝑥</m:t>
                        </m:r>
                      </m:e>
                      <m:sub>
                        <m:r>
                          <a:rPr lang="fr-FR" b="0" i="1" smtClean="0">
                            <a:latin typeface="Cambria Math"/>
                            <a:ea typeface="Cambria Math"/>
                          </a:rPr>
                          <m:t>𝑒</m:t>
                        </m:r>
                      </m:sub>
                    </m:sSub>
                    <m:r>
                      <a:rPr lang="fr-FR" b="0" i="1" smtClean="0">
                        <a:latin typeface="Cambria Math"/>
                        <a:ea typeface="Cambria Math"/>
                      </a:rPr>
                      <m:t>=</m:t>
                    </m:r>
                    <m:r>
                      <a:rPr lang="fr-FR" b="0" i="0" smtClean="0">
                        <a:latin typeface="Cambria Math"/>
                        <a:ea typeface="Cambria Math"/>
                      </a:rPr>
                      <m:t>1 </m:t>
                    </m:r>
                    <m:r>
                      <m:rPr>
                        <m:sty m:val="p"/>
                      </m:rPr>
                      <a:rPr lang="fr-FR" b="0" i="0" smtClean="0">
                        <a:latin typeface="Cambria Math"/>
                        <a:ea typeface="Cambria Math"/>
                      </a:rPr>
                      <m:t>m</m:t>
                    </m:r>
                  </m:oMath>
                </a14:m>
                <a:endParaRPr lang="fr-FR" b="0" dirty="0">
                  <a:latin typeface="Cambria Math"/>
                  <a:ea typeface="Cambria Math"/>
                </a:endParaRPr>
              </a:p>
              <a:p>
                <a:pPr marL="0" indent="0">
                  <a:buNone/>
                </a:pPr>
                <a:r>
                  <a:rPr lang="fr-FR" dirty="0"/>
                  <a:t>Raideur :</a:t>
                </a:r>
                <a:r>
                  <a:rPr lang="fr-FR" dirty="0">
                    <a:ea typeface="Cambria Math"/>
                  </a:rPr>
                  <a:t> </a:t>
                </a:r>
                <a14:m>
                  <m:oMath xmlns:m="http://schemas.openxmlformats.org/officeDocument/2006/math">
                    <m:sSub>
                      <m:sSubPr>
                        <m:ctrlPr>
                          <a:rPr lang="fr-FR" i="1">
                            <a:latin typeface="Cambria Math" panose="02040503050406030204" pitchFamily="18" charset="0"/>
                            <a:ea typeface="Cambria Math"/>
                          </a:rPr>
                        </m:ctrlPr>
                      </m:sSubPr>
                      <m:e>
                        <m:r>
                          <a:rPr lang="fr-FR" b="1" i="1">
                            <a:latin typeface="Cambria Math"/>
                          </a:rPr>
                          <m:t>𝐤</m:t>
                        </m:r>
                      </m:e>
                      <m:sub>
                        <m:r>
                          <a:rPr lang="fr-FR" i="1">
                            <a:latin typeface="Cambria Math"/>
                            <a:ea typeface="Cambria Math"/>
                          </a:rPr>
                          <m:t>𝑒</m:t>
                        </m:r>
                      </m:sub>
                    </m:sSub>
                    <m:r>
                      <a:rPr lang="fr-FR" i="1">
                        <a:latin typeface="Cambria Math"/>
                        <a:ea typeface="Cambria Math"/>
                      </a:rPr>
                      <m:t>=</m:t>
                    </m:r>
                    <m:r>
                      <a:rPr lang="fr-FR" i="1">
                        <a:latin typeface="Cambria Math"/>
                        <a:ea typeface="Cambria Math"/>
                      </a:rPr>
                      <m:t>𝑑𝑖𝑎𝑔</m:t>
                    </m:r>
                    <m:r>
                      <a:rPr lang="fr-FR" i="1">
                        <a:latin typeface="Cambria Math"/>
                        <a:ea typeface="Cambria Math"/>
                      </a:rPr>
                      <m:t>(</m:t>
                    </m:r>
                    <m:sSub>
                      <m:sSubPr>
                        <m:ctrlPr>
                          <a:rPr lang="fr-FR" i="1">
                            <a:latin typeface="Cambria Math" panose="02040503050406030204" pitchFamily="18" charset="0"/>
                            <a:ea typeface="Cambria Math"/>
                          </a:rPr>
                        </m:ctrlPr>
                      </m:sSubPr>
                      <m:e>
                        <m:r>
                          <a:rPr lang="fr-FR" i="1">
                            <a:latin typeface="Cambria Math"/>
                            <a:ea typeface="Cambria Math"/>
                          </a:rPr>
                          <m:t>𝑘</m:t>
                        </m:r>
                      </m:e>
                      <m:sub>
                        <m:r>
                          <a:rPr lang="fr-FR" i="1">
                            <a:latin typeface="Cambria Math"/>
                            <a:ea typeface="Cambria Math"/>
                          </a:rPr>
                          <m:t>𝑒𝑥</m:t>
                        </m:r>
                      </m:sub>
                    </m:sSub>
                    <m:r>
                      <a:rPr lang="fr-FR" i="1">
                        <a:latin typeface="Cambria Math"/>
                        <a:ea typeface="Cambria Math"/>
                      </a:rPr>
                      <m:t>,</m:t>
                    </m:r>
                    <m:sSub>
                      <m:sSubPr>
                        <m:ctrlPr>
                          <a:rPr lang="fr-FR" i="1">
                            <a:latin typeface="Cambria Math" panose="02040503050406030204" pitchFamily="18" charset="0"/>
                            <a:ea typeface="Cambria Math"/>
                          </a:rPr>
                        </m:ctrlPr>
                      </m:sSubPr>
                      <m:e>
                        <m:r>
                          <a:rPr lang="fr-FR" i="1">
                            <a:latin typeface="Cambria Math"/>
                            <a:ea typeface="Cambria Math"/>
                          </a:rPr>
                          <m:t>𝑘</m:t>
                        </m:r>
                      </m:e>
                      <m:sub>
                        <m:r>
                          <a:rPr lang="fr-FR" i="1">
                            <a:latin typeface="Cambria Math"/>
                            <a:ea typeface="Cambria Math"/>
                          </a:rPr>
                          <m:t>𝑒𝑦</m:t>
                        </m:r>
                      </m:sub>
                    </m:sSub>
                    <m:r>
                      <a:rPr lang="fr-FR" i="1">
                        <a:latin typeface="Cambria Math"/>
                        <a:ea typeface="Cambria Math"/>
                      </a:rPr>
                      <m:t>)</m:t>
                    </m:r>
                  </m:oMath>
                </a14:m>
                <a:r>
                  <a:rPr lang="fr-FR" dirty="0">
                    <a:latin typeface="Cambria Math"/>
                    <a:ea typeface="Cambria Math"/>
                  </a:rPr>
                  <a:t> ; </a:t>
                </a:r>
                <a14:m>
                  <m:oMath xmlns:m="http://schemas.openxmlformats.org/officeDocument/2006/math">
                    <m:sSub>
                      <m:sSubPr>
                        <m:ctrlPr>
                          <a:rPr lang="fr-FR" i="1">
                            <a:latin typeface="Cambria Math" panose="02040503050406030204" pitchFamily="18" charset="0"/>
                            <a:ea typeface="Cambria Math"/>
                          </a:rPr>
                        </m:ctrlPr>
                      </m:sSubPr>
                      <m:e>
                        <m:r>
                          <a:rPr lang="fr-FR" i="1">
                            <a:latin typeface="Cambria Math"/>
                            <a:ea typeface="Cambria Math"/>
                          </a:rPr>
                          <m:t>𝑘</m:t>
                        </m:r>
                      </m:e>
                      <m:sub>
                        <m:r>
                          <a:rPr lang="fr-FR" i="1">
                            <a:latin typeface="Cambria Math"/>
                            <a:ea typeface="Cambria Math"/>
                          </a:rPr>
                          <m:t>𝑒𝑥</m:t>
                        </m:r>
                      </m:sub>
                    </m:sSub>
                    <m:r>
                      <a:rPr lang="fr-FR" i="1">
                        <a:latin typeface="Cambria Math"/>
                        <a:ea typeface="Cambria Math"/>
                      </a:rPr>
                      <m:t>=</m:t>
                    </m:r>
                    <m:sSup>
                      <m:sSupPr>
                        <m:ctrlPr>
                          <a:rPr lang="fr-FR" i="1">
                            <a:latin typeface="Cambria Math" panose="02040503050406030204" pitchFamily="18" charset="0"/>
                            <a:ea typeface="Cambria Math"/>
                          </a:rPr>
                        </m:ctrlPr>
                      </m:sSupPr>
                      <m:e>
                        <m:r>
                          <a:rPr lang="fr-FR" i="1">
                            <a:latin typeface="Cambria Math"/>
                            <a:ea typeface="Cambria Math"/>
                          </a:rPr>
                          <m:t>10</m:t>
                        </m:r>
                      </m:e>
                      <m:sup>
                        <m:r>
                          <a:rPr lang="fr-FR" i="1">
                            <a:latin typeface="Cambria Math"/>
                            <a:ea typeface="Cambria Math"/>
                          </a:rPr>
                          <m:t>3</m:t>
                        </m:r>
                      </m:sup>
                    </m:sSup>
                    <m:r>
                      <a:rPr lang="fr-FR" i="1">
                        <a:latin typeface="Cambria Math"/>
                        <a:ea typeface="Cambria Math"/>
                      </a:rPr>
                      <m:t> </m:t>
                    </m:r>
                    <m:r>
                      <m:rPr>
                        <m:sty m:val="p"/>
                      </m:rPr>
                      <a:rPr lang="fr-FR">
                        <a:latin typeface="Cambria Math"/>
                        <a:ea typeface="Cambria Math"/>
                      </a:rPr>
                      <m:t>N</m:t>
                    </m:r>
                    <m:r>
                      <a:rPr lang="fr-FR">
                        <a:latin typeface="Cambria Math"/>
                        <a:ea typeface="Cambria Math"/>
                      </a:rPr>
                      <m:t>/</m:t>
                    </m:r>
                    <m:r>
                      <m:rPr>
                        <m:sty m:val="p"/>
                      </m:rPr>
                      <a:rPr lang="fr-FR">
                        <a:latin typeface="Cambria Math"/>
                        <a:ea typeface="Cambria Math"/>
                      </a:rPr>
                      <m:t>m</m:t>
                    </m:r>
                  </m:oMath>
                </a14:m>
                <a:r>
                  <a:rPr lang="fr-FR" dirty="0"/>
                  <a:t> ; </a:t>
                </a:r>
                <a14:m>
                  <m:oMath xmlns:m="http://schemas.openxmlformats.org/officeDocument/2006/math">
                    <m:sSub>
                      <m:sSubPr>
                        <m:ctrlPr>
                          <a:rPr lang="fr-FR" i="1">
                            <a:latin typeface="Cambria Math" panose="02040503050406030204" pitchFamily="18" charset="0"/>
                            <a:ea typeface="Cambria Math"/>
                          </a:rPr>
                        </m:ctrlPr>
                      </m:sSubPr>
                      <m:e>
                        <m:r>
                          <a:rPr lang="fr-FR" i="1">
                            <a:latin typeface="Cambria Math"/>
                            <a:ea typeface="Cambria Math"/>
                          </a:rPr>
                          <m:t>𝑘</m:t>
                        </m:r>
                      </m:e>
                      <m:sub>
                        <m:r>
                          <a:rPr lang="fr-FR" i="1">
                            <a:latin typeface="Cambria Math"/>
                            <a:ea typeface="Cambria Math"/>
                          </a:rPr>
                          <m:t>𝑒𝑦</m:t>
                        </m:r>
                      </m:sub>
                    </m:sSub>
                    <m:r>
                      <a:rPr lang="fr-FR" i="1">
                        <a:latin typeface="Cambria Math"/>
                        <a:ea typeface="Cambria Math"/>
                      </a:rPr>
                      <m:t>=0</m:t>
                    </m:r>
                  </m:oMath>
                </a14:m>
                <a:endParaRPr lang="fr-FR" b="0" dirty="0">
                  <a:latin typeface="Cambria Math"/>
                  <a:ea typeface="Cambria Math"/>
                </a:endParaRPr>
              </a:p>
              <a:p>
                <a:pPr marL="0" indent="0">
                  <a:buNone/>
                </a:pPr>
                <a:endParaRPr lang="fr-FR" dirty="0">
                  <a:latin typeface="Cambria Math"/>
                  <a:ea typeface="Cambria Math"/>
                </a:endParaRPr>
              </a:p>
              <a:p>
                <a:pPr marL="0" indent="0">
                  <a:buNone/>
                </a:pPr>
                <a:endParaRPr lang="fr-FR" dirty="0">
                  <a:latin typeface="Cambria Math"/>
                  <a:ea typeface="Cambria Math"/>
                </a:endParaRPr>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4"/>
                <a:stretch>
                  <a:fillRect l="-1096" t="-884"/>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hybride position/force</a:t>
            </a:r>
          </a:p>
        </p:txBody>
      </p:sp>
      <p:sp>
        <p:nvSpPr>
          <p:cNvPr id="6" name="ZoneTexte 5"/>
          <p:cNvSpPr txBox="1"/>
          <p:nvPr/>
        </p:nvSpPr>
        <p:spPr>
          <a:xfrm>
            <a:off x="7156121" y="1588099"/>
            <a:ext cx="1270388" cy="276999"/>
          </a:xfrm>
          <a:prstGeom prst="rect">
            <a:avLst/>
          </a:prstGeom>
          <a:noFill/>
        </p:spPr>
        <p:txBody>
          <a:bodyPr wrap="square" rtlCol="0">
            <a:spAutoFit/>
          </a:bodyPr>
          <a:lstStyle/>
          <a:p>
            <a:r>
              <a:rPr lang="fr-FR" sz="1200" dirty="0">
                <a:solidFill>
                  <a:srgbClr val="7030A0"/>
                </a:solidFill>
              </a:rPr>
              <a:t>Environnement</a:t>
            </a:r>
          </a:p>
        </p:txBody>
      </p:sp>
      <p:cxnSp>
        <p:nvCxnSpPr>
          <p:cNvPr id="8" name="Connecteur droit avec flèche 7"/>
          <p:cNvCxnSpPr/>
          <p:nvPr/>
        </p:nvCxnSpPr>
        <p:spPr>
          <a:xfrm flipV="1">
            <a:off x="5540980" y="1382070"/>
            <a:ext cx="0" cy="226994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Connecteur droit avec flèche 8"/>
          <p:cNvCxnSpPr/>
          <p:nvPr/>
        </p:nvCxnSpPr>
        <p:spPr>
          <a:xfrm>
            <a:off x="5554940" y="3645037"/>
            <a:ext cx="2871569" cy="698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ZoneTexte 9"/>
          <p:cNvSpPr txBox="1"/>
          <p:nvPr/>
        </p:nvSpPr>
        <p:spPr>
          <a:xfrm>
            <a:off x="5737987" y="2407162"/>
            <a:ext cx="624361" cy="276999"/>
          </a:xfrm>
          <a:prstGeom prst="rect">
            <a:avLst/>
          </a:prstGeom>
          <a:noFill/>
        </p:spPr>
        <p:txBody>
          <a:bodyPr wrap="square" rtlCol="0">
            <a:spAutoFit/>
          </a:bodyPr>
          <a:lstStyle/>
          <a:p>
            <a:r>
              <a:rPr lang="fr-FR" sz="1200" dirty="0">
                <a:solidFill>
                  <a:srgbClr val="7030A0"/>
                </a:solidFill>
              </a:rPr>
              <a:t>Robot</a:t>
            </a:r>
          </a:p>
        </p:txBody>
      </p:sp>
      <mc:AlternateContent xmlns:mc="http://schemas.openxmlformats.org/markup-compatibility/2006" xmlns:a14="http://schemas.microsoft.com/office/drawing/2010/main">
        <mc:Choice Requires="a14">
          <p:sp>
            <p:nvSpPr>
              <p:cNvPr id="11" name="ZoneTexte 10"/>
              <p:cNvSpPr txBox="1"/>
              <p:nvPr/>
            </p:nvSpPr>
            <p:spPr>
              <a:xfrm>
                <a:off x="5554940" y="1311100"/>
                <a:ext cx="295531"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200" b="0" i="1" smtClean="0">
                          <a:solidFill>
                            <a:schemeClr val="tx1"/>
                          </a:solidFill>
                          <a:latin typeface="Cambria Math"/>
                        </a:rPr>
                        <m:t>𝑦</m:t>
                      </m:r>
                    </m:oMath>
                  </m:oMathPara>
                </a14:m>
                <a:endParaRPr lang="fr-FR" sz="1200" dirty="0">
                  <a:solidFill>
                    <a:schemeClr val="tx1"/>
                  </a:solidFill>
                </a:endParaRPr>
              </a:p>
            </p:txBody>
          </p:sp>
        </mc:Choice>
        <mc:Fallback xmlns="">
          <p:sp>
            <p:nvSpPr>
              <p:cNvPr id="11" name="ZoneTexte 10"/>
              <p:cNvSpPr txBox="1">
                <a:spLocks noRot="1" noChangeAspect="1" noMove="1" noResize="1" noEditPoints="1" noAdjustHandles="1" noChangeArrowheads="1" noChangeShapeType="1" noTextEdit="1"/>
              </p:cNvSpPr>
              <p:nvPr/>
            </p:nvSpPr>
            <p:spPr>
              <a:xfrm>
                <a:off x="5554940" y="1311100"/>
                <a:ext cx="295531" cy="276999"/>
              </a:xfrm>
              <a:prstGeom prst="rect">
                <a:avLst/>
              </a:prstGeom>
              <a:blipFill rotWithShape="1">
                <a:blip r:embed="rId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2" name="ZoneTexte 11"/>
              <p:cNvSpPr txBox="1"/>
              <p:nvPr/>
            </p:nvSpPr>
            <p:spPr>
              <a:xfrm>
                <a:off x="8207309" y="3371528"/>
                <a:ext cx="295531"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200" b="0" i="1" smtClean="0">
                          <a:solidFill>
                            <a:schemeClr val="tx1"/>
                          </a:solidFill>
                          <a:latin typeface="Cambria Math"/>
                        </a:rPr>
                        <m:t>𝑥</m:t>
                      </m:r>
                    </m:oMath>
                  </m:oMathPara>
                </a14:m>
                <a:endParaRPr lang="fr-FR" sz="1200" dirty="0">
                  <a:solidFill>
                    <a:schemeClr val="tx1"/>
                  </a:solidFill>
                </a:endParaRPr>
              </a:p>
            </p:txBody>
          </p:sp>
        </mc:Choice>
        <mc:Fallback xmlns="">
          <p:sp>
            <p:nvSpPr>
              <p:cNvPr id="12" name="ZoneTexte 11"/>
              <p:cNvSpPr txBox="1">
                <a:spLocks noRot="1" noChangeAspect="1" noMove="1" noResize="1" noEditPoints="1" noAdjustHandles="1" noChangeArrowheads="1" noChangeShapeType="1" noTextEdit="1"/>
              </p:cNvSpPr>
              <p:nvPr/>
            </p:nvSpPr>
            <p:spPr>
              <a:xfrm>
                <a:off x="8207309" y="3371528"/>
                <a:ext cx="295531" cy="276999"/>
              </a:xfrm>
              <a:prstGeom prst="rect">
                <a:avLst/>
              </a:prstGeom>
              <a:blipFill rotWithShape="1">
                <a:blip r:embed="rId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5" name="ZoneTexte 14"/>
              <p:cNvSpPr txBox="1"/>
              <p:nvPr/>
            </p:nvSpPr>
            <p:spPr>
              <a:xfrm>
                <a:off x="6776827" y="3631994"/>
                <a:ext cx="295531"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fr-FR" sz="1200" b="0" i="1" smtClean="0">
                          <a:solidFill>
                            <a:schemeClr val="tx1"/>
                          </a:solidFill>
                          <a:latin typeface="Cambria Math"/>
                        </a:rPr>
                        <m:t>1 </m:t>
                      </m:r>
                      <m:r>
                        <a:rPr lang="fr-FR" sz="1200" b="0" i="1" smtClean="0">
                          <a:solidFill>
                            <a:schemeClr val="tx1"/>
                          </a:solidFill>
                          <a:latin typeface="Cambria Math"/>
                        </a:rPr>
                        <m:t>𝑚</m:t>
                      </m:r>
                    </m:oMath>
                  </m:oMathPara>
                </a14:m>
                <a:endParaRPr lang="fr-FR" sz="1200" dirty="0">
                  <a:solidFill>
                    <a:schemeClr val="tx1"/>
                  </a:solidFill>
                </a:endParaRPr>
              </a:p>
            </p:txBody>
          </p:sp>
        </mc:Choice>
        <mc:Fallback xmlns="">
          <p:sp>
            <p:nvSpPr>
              <p:cNvPr id="15" name="ZoneTexte 14"/>
              <p:cNvSpPr txBox="1">
                <a:spLocks noRot="1" noChangeAspect="1" noMove="1" noResize="1" noEditPoints="1" noAdjustHandles="1" noChangeArrowheads="1" noChangeShapeType="1" noTextEdit="1"/>
              </p:cNvSpPr>
              <p:nvPr/>
            </p:nvSpPr>
            <p:spPr>
              <a:xfrm>
                <a:off x="6776827" y="3631994"/>
                <a:ext cx="295531" cy="276999"/>
              </a:xfrm>
              <a:prstGeom prst="rect">
                <a:avLst/>
              </a:prstGeom>
              <a:blipFill rotWithShape="1">
                <a:blip r:embed="rId7"/>
                <a:stretch>
                  <a:fillRect r="-29167"/>
                </a:stretch>
              </a:blipFill>
            </p:spPr>
            <p:txBody>
              <a:bodyPr/>
              <a:lstStyle/>
              <a:p>
                <a:r>
                  <a:rPr lang="fr-FR">
                    <a:noFill/>
                  </a:rPr>
                  <a:t> </a:t>
                </a:r>
              </a:p>
            </p:txBody>
          </p:sp>
        </mc:Fallback>
      </mc:AlternateContent>
      <p:cxnSp>
        <p:nvCxnSpPr>
          <p:cNvPr id="21" name="Connecteur droit avec flèche 20"/>
          <p:cNvCxnSpPr/>
          <p:nvPr/>
        </p:nvCxnSpPr>
        <p:spPr>
          <a:xfrm>
            <a:off x="6946768" y="3645024"/>
            <a:ext cx="577879" cy="0"/>
          </a:xfrm>
          <a:prstGeom prst="straightConnector1">
            <a:avLst/>
          </a:prstGeom>
          <a:ln w="47625">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ZoneTexte 21"/>
              <p:cNvSpPr txBox="1"/>
              <p:nvPr/>
            </p:nvSpPr>
            <p:spPr>
              <a:xfrm>
                <a:off x="7336695" y="3250744"/>
                <a:ext cx="392364" cy="3742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i="1" smtClean="0">
                              <a:solidFill>
                                <a:srgbClr val="FF0000"/>
                              </a:solidFill>
                              <a:latin typeface="Cambria Math" panose="02040503050406030204" pitchFamily="18" charset="0"/>
                            </a:rPr>
                          </m:ctrlPr>
                        </m:sSupPr>
                        <m:e>
                          <m:r>
                            <a:rPr lang="fr-FR" i="1" smtClean="0">
                              <a:solidFill>
                                <a:srgbClr val="FF0000"/>
                              </a:solidFill>
                              <a:latin typeface="Cambria Math"/>
                              <a:ea typeface="Cambria Math"/>
                            </a:rPr>
                            <m:t>𝕗</m:t>
                          </m:r>
                        </m:e>
                        <m:sup>
                          <m:r>
                            <a:rPr lang="fr-FR" b="0" i="1" smtClean="0">
                              <a:solidFill>
                                <a:srgbClr val="FF0000"/>
                              </a:solidFill>
                              <a:latin typeface="Cambria Math"/>
                            </a:rPr>
                            <m:t>𝑑</m:t>
                          </m:r>
                        </m:sup>
                      </m:sSup>
                    </m:oMath>
                  </m:oMathPara>
                </a14:m>
                <a:endParaRPr lang="fr-FR" dirty="0">
                  <a:solidFill>
                    <a:srgbClr val="FF0000"/>
                  </a:solidFill>
                </a:endParaRPr>
              </a:p>
            </p:txBody>
          </p:sp>
        </mc:Choice>
        <mc:Fallback xmlns="">
          <p:sp>
            <p:nvSpPr>
              <p:cNvPr id="22" name="ZoneTexte 21"/>
              <p:cNvSpPr txBox="1">
                <a:spLocks noRot="1" noChangeAspect="1" noMove="1" noResize="1" noEditPoints="1" noAdjustHandles="1" noChangeArrowheads="1" noChangeShapeType="1" noTextEdit="1"/>
              </p:cNvSpPr>
              <p:nvPr/>
            </p:nvSpPr>
            <p:spPr>
              <a:xfrm>
                <a:off x="7336695" y="3250744"/>
                <a:ext cx="392364" cy="374270"/>
              </a:xfrm>
              <a:prstGeom prst="rect">
                <a:avLst/>
              </a:prstGeom>
              <a:blipFill rotWithShape="1">
                <a:blip r:embed="rId8"/>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 name="ZoneTexte 3"/>
              <p:cNvSpPr txBox="1"/>
              <p:nvPr/>
            </p:nvSpPr>
            <p:spPr>
              <a:xfrm>
                <a:off x="7529165" y="2812134"/>
                <a:ext cx="357908" cy="3742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fr-FR" i="1" smtClean="0">
                              <a:solidFill>
                                <a:srgbClr val="C00000"/>
                              </a:solidFill>
                              <a:latin typeface="Cambria Math" panose="02040503050406030204" pitchFamily="18" charset="0"/>
                            </a:rPr>
                          </m:ctrlPr>
                        </m:sSupPr>
                        <m:e>
                          <m:r>
                            <a:rPr lang="fr-FR" b="1" i="0" smtClean="0">
                              <a:solidFill>
                                <a:srgbClr val="C00000"/>
                              </a:solidFill>
                              <a:latin typeface="Cambria Math"/>
                            </a:rPr>
                            <m:t>𝐱</m:t>
                          </m:r>
                        </m:e>
                        <m:sup>
                          <m:r>
                            <a:rPr lang="fr-FR" b="0" i="1" smtClean="0">
                              <a:solidFill>
                                <a:srgbClr val="C00000"/>
                              </a:solidFill>
                              <a:latin typeface="Cambria Math"/>
                            </a:rPr>
                            <m:t>𝑑</m:t>
                          </m:r>
                        </m:sup>
                      </m:sSup>
                    </m:oMath>
                  </m:oMathPara>
                </a14:m>
                <a:endParaRPr lang="fr-FR" dirty="0"/>
              </a:p>
            </p:txBody>
          </p:sp>
        </mc:Choice>
        <mc:Fallback xmlns="">
          <p:sp>
            <p:nvSpPr>
              <p:cNvPr id="4" name="ZoneTexte 3"/>
              <p:cNvSpPr txBox="1">
                <a:spLocks noRot="1" noChangeAspect="1" noMove="1" noResize="1" noEditPoints="1" noAdjustHandles="1" noChangeArrowheads="1" noChangeShapeType="1" noTextEdit="1"/>
              </p:cNvSpPr>
              <p:nvPr/>
            </p:nvSpPr>
            <p:spPr>
              <a:xfrm>
                <a:off x="7529165" y="2812134"/>
                <a:ext cx="357908" cy="374270"/>
              </a:xfrm>
              <a:prstGeom prst="rect">
                <a:avLst/>
              </a:prstGeom>
              <a:blipFill rotWithShape="1">
                <a:blip r:embed="rId9"/>
                <a:stretch>
                  <a:fillRect r="-10169"/>
                </a:stretch>
              </a:blipFill>
            </p:spPr>
            <p:txBody>
              <a:bodyPr/>
              <a:lstStyle/>
              <a:p>
                <a:r>
                  <a:rPr lang="fr-FR">
                    <a:noFill/>
                  </a:rPr>
                  <a:t> </a:t>
                </a:r>
              </a:p>
            </p:txBody>
          </p:sp>
        </mc:Fallback>
      </mc:AlternateContent>
      <p:cxnSp>
        <p:nvCxnSpPr>
          <p:cNvPr id="7" name="Connecteur droit 6"/>
          <p:cNvCxnSpPr/>
          <p:nvPr/>
        </p:nvCxnSpPr>
        <p:spPr>
          <a:xfrm>
            <a:off x="6882712" y="3479759"/>
            <a:ext cx="149389"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Connecteur droit 17"/>
          <p:cNvCxnSpPr/>
          <p:nvPr/>
        </p:nvCxnSpPr>
        <p:spPr>
          <a:xfrm>
            <a:off x="6870541" y="3479759"/>
            <a:ext cx="149389" cy="0"/>
          </a:xfrm>
          <a:prstGeom prst="line">
            <a:avLst/>
          </a:prstGeom>
          <a:ln w="25400">
            <a:solidFill>
              <a:srgbClr val="C00000"/>
            </a:solidFill>
          </a:ln>
          <a:scene3d>
            <a:camera prst="orthographicFront">
              <a:rot lat="0" lon="0" rev="5400000"/>
            </a:camera>
            <a:lightRig rig="threePt" dir="t"/>
          </a:scene3d>
        </p:spPr>
        <p:style>
          <a:lnRef idx="1">
            <a:schemeClr val="accent1"/>
          </a:lnRef>
          <a:fillRef idx="0">
            <a:schemeClr val="accent1"/>
          </a:fillRef>
          <a:effectRef idx="0">
            <a:schemeClr val="accent1"/>
          </a:effectRef>
          <a:fontRef idx="minor">
            <a:schemeClr val="tx1"/>
          </a:fontRef>
        </p:style>
      </p:cxnSp>
      <p:sp>
        <p:nvSpPr>
          <p:cNvPr id="19" name="Arc 18"/>
          <p:cNvSpPr/>
          <p:nvPr/>
        </p:nvSpPr>
        <p:spPr>
          <a:xfrm rot="17227264">
            <a:off x="7003842" y="3012411"/>
            <a:ext cx="817656" cy="813992"/>
          </a:xfrm>
          <a:prstGeom prst="arc">
            <a:avLst/>
          </a:prstGeom>
          <a:ln w="19050">
            <a:solidFill>
              <a:srgbClr val="C00000"/>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Tree>
    <p:extLst>
      <p:ext uri="{BB962C8B-B14F-4D97-AF65-F5344CB8AC3E}">
        <p14:creationId xmlns:p14="http://schemas.microsoft.com/office/powerpoint/2010/main" val="391227555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u contenu 1"/>
          <p:cNvSpPr>
            <a:spLocks noGrp="1"/>
          </p:cNvSpPr>
          <p:nvPr>
            <p:ph sz="quarter" idx="1"/>
          </p:nvPr>
        </p:nvSpPr>
        <p:spPr/>
        <p:txBody>
          <a:bodyPr/>
          <a:lstStyle/>
          <a:p>
            <a:pPr marL="0" indent="0">
              <a:buNone/>
            </a:pPr>
            <a:r>
              <a:rPr lang="fr-FR" dirty="0"/>
              <a:t>Schéma de commande :</a:t>
            </a:r>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p:txBody>
      </p:sp>
      <p:sp>
        <p:nvSpPr>
          <p:cNvPr id="3" name="Titre 2"/>
          <p:cNvSpPr>
            <a:spLocks noGrp="1"/>
          </p:cNvSpPr>
          <p:nvPr>
            <p:ph type="title"/>
          </p:nvPr>
        </p:nvSpPr>
        <p:spPr/>
        <p:txBody>
          <a:bodyPr/>
          <a:lstStyle/>
          <a:p>
            <a:r>
              <a:rPr lang="fr-FR" dirty="0"/>
              <a:t>Commande hybride position/force</a:t>
            </a:r>
          </a:p>
        </p:txBody>
      </p:sp>
      <mc:AlternateContent xmlns:mc="http://schemas.openxmlformats.org/markup-compatibility/2006" xmlns:a14="http://schemas.microsoft.com/office/drawing/2010/main">
        <mc:Choice Requires="a14">
          <p:sp>
            <p:nvSpPr>
              <p:cNvPr id="11" name="ZoneTexte 10"/>
              <p:cNvSpPr txBox="1"/>
              <p:nvPr/>
            </p:nvSpPr>
            <p:spPr>
              <a:xfrm>
                <a:off x="2036629" y="2476521"/>
                <a:ext cx="507126" cy="3742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b="1" i="1" smtClean="0">
                              <a:latin typeface="Cambria Math" panose="02040503050406030204" pitchFamily="18" charset="0"/>
                              <a:ea typeface="Cambria Math"/>
                            </a:rPr>
                          </m:ctrlPr>
                        </m:sSupPr>
                        <m:e>
                          <m:r>
                            <a:rPr lang="fr-FR" b="1" i="0" smtClean="0">
                              <a:latin typeface="Cambria Math"/>
                              <a:ea typeface="Cambria Math"/>
                            </a:rPr>
                            <m:t>𝐱</m:t>
                          </m:r>
                        </m:e>
                        <m:sup>
                          <m:r>
                            <a:rPr lang="fr-FR" b="0" i="1" smtClean="0">
                              <a:latin typeface="Cambria Math"/>
                              <a:ea typeface="Cambria Math"/>
                            </a:rPr>
                            <m:t>𝑑</m:t>
                          </m:r>
                        </m:sup>
                      </m:sSup>
                    </m:oMath>
                  </m:oMathPara>
                </a14:m>
                <a:endParaRPr lang="fr-FR" dirty="0"/>
              </a:p>
            </p:txBody>
          </p:sp>
        </mc:Choice>
        <mc:Fallback xmlns="">
          <p:sp>
            <p:nvSpPr>
              <p:cNvPr id="11" name="ZoneTexte 10"/>
              <p:cNvSpPr txBox="1">
                <a:spLocks noRot="1" noChangeAspect="1" noMove="1" noResize="1" noEditPoints="1" noAdjustHandles="1" noChangeArrowheads="1" noChangeShapeType="1" noTextEdit="1"/>
              </p:cNvSpPr>
              <p:nvPr/>
            </p:nvSpPr>
            <p:spPr>
              <a:xfrm>
                <a:off x="2036629" y="2476521"/>
                <a:ext cx="507126" cy="374270"/>
              </a:xfrm>
              <a:prstGeom prst="rect">
                <a:avLst/>
              </a:prstGeom>
              <a:blipFill rotWithShape="1">
                <a:blip r:embed="rId4"/>
                <a:stretch>
                  <a:fillRect/>
                </a:stretch>
              </a:blipFill>
            </p:spPr>
            <p:txBody>
              <a:bodyPr/>
              <a:lstStyle/>
              <a:p>
                <a:r>
                  <a:rPr lang="fr-FR">
                    <a:noFill/>
                  </a:rPr>
                  <a:t> </a:t>
                </a:r>
              </a:p>
            </p:txBody>
          </p:sp>
        </mc:Fallback>
      </mc:AlternateContent>
      <p:cxnSp>
        <p:nvCxnSpPr>
          <p:cNvPr id="48" name="Connecteur droit avec flèche 47"/>
          <p:cNvCxnSpPr/>
          <p:nvPr/>
        </p:nvCxnSpPr>
        <p:spPr>
          <a:xfrm flipV="1">
            <a:off x="6713399" y="3242577"/>
            <a:ext cx="493316" cy="1616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9" name="Connecteur droit avec flèche 48"/>
          <p:cNvCxnSpPr/>
          <p:nvPr/>
        </p:nvCxnSpPr>
        <p:spPr>
          <a:xfrm>
            <a:off x="6915491" y="3269001"/>
            <a:ext cx="0" cy="1754889"/>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ZoneTexte 49"/>
              <p:cNvSpPr txBox="1"/>
              <p:nvPr/>
            </p:nvSpPr>
            <p:spPr>
              <a:xfrm>
                <a:off x="6749805" y="2926034"/>
                <a:ext cx="3792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b="1" i="0" smtClean="0">
                          <a:latin typeface="Cambria Math"/>
                          <a:ea typeface="Cambria Math"/>
                        </a:rPr>
                        <m:t>𝐱</m:t>
                      </m:r>
                    </m:oMath>
                  </m:oMathPara>
                </a14:m>
                <a:endParaRPr lang="fr-FR" b="1" dirty="0"/>
              </a:p>
            </p:txBody>
          </p:sp>
        </mc:Choice>
        <mc:Fallback xmlns="">
          <p:sp>
            <p:nvSpPr>
              <p:cNvPr id="50" name="ZoneTexte 49"/>
              <p:cNvSpPr txBox="1">
                <a:spLocks noRot="1" noChangeAspect="1" noMove="1" noResize="1" noEditPoints="1" noAdjustHandles="1" noChangeArrowheads="1" noChangeShapeType="1" noTextEdit="1"/>
              </p:cNvSpPr>
              <p:nvPr/>
            </p:nvSpPr>
            <p:spPr>
              <a:xfrm>
                <a:off x="6749805" y="2926034"/>
                <a:ext cx="379206" cy="369332"/>
              </a:xfrm>
              <a:prstGeom prst="rect">
                <a:avLst/>
              </a:prstGeom>
              <a:blipFill rotWithShape="1">
                <a:blip r:embed="rId5"/>
                <a:stretch>
                  <a:fillRect/>
                </a:stretch>
              </a:blipFill>
            </p:spPr>
            <p:txBody>
              <a:bodyPr/>
              <a:lstStyle/>
              <a:p>
                <a:r>
                  <a:rPr lang="fr-FR">
                    <a:noFill/>
                  </a:rPr>
                  <a:t> </a:t>
                </a:r>
              </a:p>
            </p:txBody>
          </p:sp>
        </mc:Fallback>
      </mc:AlternateContent>
      <p:cxnSp>
        <p:nvCxnSpPr>
          <p:cNvPr id="51" name="Connecteur droit avec flèche 50"/>
          <p:cNvCxnSpPr>
            <a:stCxn id="98" idx="6"/>
          </p:cNvCxnSpPr>
          <p:nvPr/>
        </p:nvCxnSpPr>
        <p:spPr>
          <a:xfrm flipV="1">
            <a:off x="2866089" y="3295366"/>
            <a:ext cx="372155"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2" name="Connecteur droit avec flèche 51"/>
          <p:cNvCxnSpPr>
            <a:endCxn id="55" idx="4"/>
          </p:cNvCxnSpPr>
          <p:nvPr/>
        </p:nvCxnSpPr>
        <p:spPr>
          <a:xfrm flipV="1">
            <a:off x="635758" y="3444913"/>
            <a:ext cx="0" cy="227197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53" name="Objet 52"/>
          <p:cNvGraphicFramePr>
            <a:graphicFrameLocks noChangeAspect="1"/>
          </p:cNvGraphicFramePr>
          <p:nvPr>
            <p:extLst>
              <p:ext uri="{D42A27DB-BD31-4B8C-83A1-F6EECF244321}">
                <p14:modId xmlns:p14="http://schemas.microsoft.com/office/powerpoint/2010/main" val="922299664"/>
              </p:ext>
            </p:extLst>
          </p:nvPr>
        </p:nvGraphicFramePr>
        <p:xfrm>
          <a:off x="387654" y="3592331"/>
          <a:ext cx="172417" cy="157163"/>
        </p:xfrm>
        <a:graphic>
          <a:graphicData uri="http://schemas.openxmlformats.org/presentationml/2006/ole">
            <mc:AlternateContent xmlns:mc="http://schemas.openxmlformats.org/markup-compatibility/2006">
              <mc:Choice xmlns:v="urn:schemas-microsoft-com:vml" Requires="v">
                <p:oleObj name="Equation" r:id="rId6" imgW="139639" imgH="101556" progId="Equation.DSMT4">
                  <p:embed/>
                </p:oleObj>
              </mc:Choice>
              <mc:Fallback>
                <p:oleObj name="Equation" r:id="rId6" imgW="139639" imgH="101556"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7654" y="3592331"/>
                        <a:ext cx="172417" cy="157163"/>
                      </a:xfrm>
                      <a:prstGeom prst="rect">
                        <a:avLst/>
                      </a:prstGeom>
                      <a:noFill/>
                      <a:ln>
                        <a:noFill/>
                      </a:ln>
                      <a:effectLst/>
                    </p:spPr>
                  </p:pic>
                </p:oleObj>
              </mc:Fallback>
            </mc:AlternateContent>
          </a:graphicData>
        </a:graphic>
      </p:graphicFrame>
      <mc:AlternateContent xmlns:mc="http://schemas.openxmlformats.org/markup-compatibility/2006" xmlns:a14="http://schemas.microsoft.com/office/drawing/2010/main">
        <mc:Choice Requires="a14">
          <p:sp>
            <p:nvSpPr>
              <p:cNvPr id="54" name="ZoneTexte 53"/>
              <p:cNvSpPr txBox="1"/>
              <p:nvPr/>
            </p:nvSpPr>
            <p:spPr>
              <a:xfrm>
                <a:off x="1440859" y="2901316"/>
                <a:ext cx="46281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1" i="1">
                              <a:latin typeface="Cambria Math" panose="02040503050406030204" pitchFamily="18" charset="0"/>
                              <a:ea typeface="Cambria Math"/>
                            </a:rPr>
                          </m:ctrlPr>
                        </m:sSubPr>
                        <m:e>
                          <m:r>
                            <a:rPr lang="fr-FR" b="1">
                              <a:latin typeface="Cambria Math"/>
                              <a:ea typeface="Cambria Math"/>
                            </a:rPr>
                            <m:t>𝐱</m:t>
                          </m:r>
                        </m:e>
                        <m:sub>
                          <m:r>
                            <a:rPr lang="fr-FR" b="1" i="1">
                              <a:latin typeface="Cambria Math"/>
                              <a:ea typeface="Cambria Math"/>
                            </a:rPr>
                            <m:t>𝕗</m:t>
                          </m:r>
                        </m:sub>
                      </m:sSub>
                    </m:oMath>
                  </m:oMathPara>
                </a14:m>
                <a:endParaRPr lang="fr-FR" dirty="0"/>
              </a:p>
            </p:txBody>
          </p:sp>
        </mc:Choice>
        <mc:Fallback xmlns="">
          <p:sp>
            <p:nvSpPr>
              <p:cNvPr id="54" name="ZoneTexte 53"/>
              <p:cNvSpPr txBox="1">
                <a:spLocks noRot="1" noChangeAspect="1" noMove="1" noResize="1" noEditPoints="1" noAdjustHandles="1" noChangeArrowheads="1" noChangeShapeType="1" noTextEdit="1"/>
              </p:cNvSpPr>
              <p:nvPr/>
            </p:nvSpPr>
            <p:spPr>
              <a:xfrm>
                <a:off x="1440859" y="2901316"/>
                <a:ext cx="462819" cy="369332"/>
              </a:xfrm>
              <a:prstGeom prst="rect">
                <a:avLst/>
              </a:prstGeom>
              <a:blipFill rotWithShape="1">
                <a:blip r:embed="rId8"/>
                <a:stretch>
                  <a:fillRect b="-1639"/>
                </a:stretch>
              </a:blipFill>
            </p:spPr>
            <p:txBody>
              <a:bodyPr/>
              <a:lstStyle/>
              <a:p>
                <a:r>
                  <a:rPr lang="fr-FR">
                    <a:noFill/>
                  </a:rPr>
                  <a:t> </a:t>
                </a:r>
              </a:p>
            </p:txBody>
          </p:sp>
        </mc:Fallback>
      </mc:AlternateContent>
      <p:cxnSp>
        <p:nvCxnSpPr>
          <p:cNvPr id="56" name="Connecteur droit avec flèche 55"/>
          <p:cNvCxnSpPr/>
          <p:nvPr/>
        </p:nvCxnSpPr>
        <p:spPr>
          <a:xfrm flipV="1">
            <a:off x="4244980" y="3270556"/>
            <a:ext cx="364845" cy="735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57" name="Connecteur droit avec flèche 56"/>
          <p:cNvCxnSpPr>
            <a:stCxn id="58" idx="3"/>
          </p:cNvCxnSpPr>
          <p:nvPr/>
        </p:nvCxnSpPr>
        <p:spPr>
          <a:xfrm>
            <a:off x="5147297" y="3267446"/>
            <a:ext cx="361493"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ZoneTexte 57"/>
              <p:cNvSpPr txBox="1"/>
              <p:nvPr/>
            </p:nvSpPr>
            <p:spPr>
              <a:xfrm>
                <a:off x="4602845" y="3082780"/>
                <a:ext cx="544452"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
                    </m:oMathParaPr>
                    <m:oMath xmlns:m="http://schemas.openxmlformats.org/officeDocument/2006/math">
                      <m:sSup>
                        <m:sSupPr>
                          <m:ctrlPr>
                            <a:rPr lang="fr-FR" i="1" smtClean="0">
                              <a:latin typeface="Cambria Math" panose="02040503050406030204" pitchFamily="18" charset="0"/>
                            </a:rPr>
                          </m:ctrlPr>
                        </m:sSupPr>
                        <m:e>
                          <m:r>
                            <a:rPr lang="el-GR" b="1" i="0" smtClean="0">
                              <a:latin typeface="Cambria Math"/>
                              <a:ea typeface="Cambria Math"/>
                            </a:rPr>
                            <m:t>𝚲</m:t>
                          </m:r>
                        </m:e>
                        <m:sup>
                          <m:r>
                            <a:rPr lang="fr-FR" b="0" i="1" smtClean="0">
                              <a:latin typeface="Cambria Math"/>
                            </a:rPr>
                            <m:t>−1</m:t>
                          </m:r>
                        </m:sup>
                      </m:sSup>
                    </m:oMath>
                  </m:oMathPara>
                </a14:m>
                <a:endParaRPr lang="fr-FR" dirty="0"/>
              </a:p>
            </p:txBody>
          </p:sp>
        </mc:Choice>
        <mc:Fallback xmlns="">
          <p:sp>
            <p:nvSpPr>
              <p:cNvPr id="58" name="ZoneTexte 57"/>
              <p:cNvSpPr txBox="1">
                <a:spLocks noRot="1" noChangeAspect="1" noMove="1" noResize="1" noEditPoints="1" noAdjustHandles="1" noChangeArrowheads="1" noChangeShapeType="1" noTextEdit="1"/>
              </p:cNvSpPr>
              <p:nvPr/>
            </p:nvSpPr>
            <p:spPr>
              <a:xfrm>
                <a:off x="4602845" y="3082780"/>
                <a:ext cx="544452" cy="369332"/>
              </a:xfrm>
              <a:prstGeom prst="rect">
                <a:avLst/>
              </a:prstGeom>
              <a:blipFill rotWithShape="1">
                <a:blip r:embed="rId9"/>
                <a:stretch>
                  <a:fillRect/>
                </a:stretch>
              </a:blipFill>
              <a:ln w="25400"/>
            </p:spPr>
            <p:txBody>
              <a:bodyPr/>
              <a:lstStyle/>
              <a:p>
                <a:r>
                  <a:rPr lang="fr-FR">
                    <a:noFill/>
                  </a:rPr>
                  <a:t> </a:t>
                </a:r>
              </a:p>
            </p:txBody>
          </p:sp>
        </mc:Fallback>
      </mc:AlternateContent>
      <p:cxnSp>
        <p:nvCxnSpPr>
          <p:cNvPr id="59" name="Connecteur droit avec flèche 58"/>
          <p:cNvCxnSpPr>
            <a:stCxn id="65" idx="3"/>
            <a:endCxn id="66" idx="1"/>
          </p:cNvCxnSpPr>
          <p:nvPr/>
        </p:nvCxnSpPr>
        <p:spPr>
          <a:xfrm flipV="1">
            <a:off x="5891240" y="3268408"/>
            <a:ext cx="530499" cy="826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0" name="Connecteur droit 59"/>
          <p:cNvCxnSpPr/>
          <p:nvPr/>
        </p:nvCxnSpPr>
        <p:spPr>
          <a:xfrm>
            <a:off x="6113587" y="3308502"/>
            <a:ext cx="0" cy="102628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1" name="Connecteur droit avec flèche 60"/>
          <p:cNvCxnSpPr>
            <a:endCxn id="64" idx="3"/>
          </p:cNvCxnSpPr>
          <p:nvPr/>
        </p:nvCxnSpPr>
        <p:spPr>
          <a:xfrm flipH="1">
            <a:off x="5333175" y="4331291"/>
            <a:ext cx="780412"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62" name="Connecteur droit 61"/>
          <p:cNvCxnSpPr>
            <a:stCxn id="64" idx="1"/>
          </p:cNvCxnSpPr>
          <p:nvPr/>
        </p:nvCxnSpPr>
        <p:spPr>
          <a:xfrm flipH="1">
            <a:off x="4137005" y="4331291"/>
            <a:ext cx="672658" cy="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3" name="Connecteur droit avec flèche 62"/>
          <p:cNvCxnSpPr/>
          <p:nvPr/>
        </p:nvCxnSpPr>
        <p:spPr>
          <a:xfrm flipV="1">
            <a:off x="4137005" y="3410321"/>
            <a:ext cx="0" cy="92446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ZoneTexte 63"/>
              <p:cNvSpPr txBox="1"/>
              <p:nvPr/>
            </p:nvSpPr>
            <p:spPr>
              <a:xfrm>
                <a:off x="4809663" y="4146625"/>
                <a:ext cx="523512"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Group"/>
                    </m:oMathParaPr>
                    <m:oMath xmlns:m="http://schemas.openxmlformats.org/officeDocument/2006/math">
                      <m:r>
                        <a:rPr lang="fr-FR" b="1" i="0" smtClean="0">
                          <a:latin typeface="Cambria Math"/>
                        </a:rPr>
                        <m:t>𝐁</m:t>
                      </m:r>
                    </m:oMath>
                  </m:oMathPara>
                </a14:m>
                <a:endParaRPr lang="fr-FR" b="1" dirty="0"/>
              </a:p>
            </p:txBody>
          </p:sp>
        </mc:Choice>
        <mc:Fallback xmlns="">
          <p:sp>
            <p:nvSpPr>
              <p:cNvPr id="64" name="ZoneTexte 63"/>
              <p:cNvSpPr txBox="1">
                <a:spLocks noRot="1" noChangeAspect="1" noMove="1" noResize="1" noEditPoints="1" noAdjustHandles="1" noChangeArrowheads="1" noChangeShapeType="1" noTextEdit="1"/>
              </p:cNvSpPr>
              <p:nvPr/>
            </p:nvSpPr>
            <p:spPr>
              <a:xfrm>
                <a:off x="4809663" y="4146625"/>
                <a:ext cx="523512" cy="369332"/>
              </a:xfrm>
              <a:prstGeom prst="rect">
                <a:avLst/>
              </a:prstGeom>
              <a:blipFill rotWithShape="1">
                <a:blip r:embed="rId10"/>
                <a:stretch>
                  <a:fillRect/>
                </a:stretch>
              </a:blipFill>
              <a:ln w="25400"/>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5" name="ZoneTexte 64"/>
              <p:cNvSpPr txBox="1"/>
              <p:nvPr/>
            </p:nvSpPr>
            <p:spPr>
              <a:xfrm>
                <a:off x="5521297" y="3086750"/>
                <a:ext cx="369943" cy="379848"/>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
                    </m:oMathParaPr>
                    <m:oMath xmlns:m="http://schemas.openxmlformats.org/officeDocument/2006/math">
                      <m:r>
                        <a:rPr lang="fr-FR" i="1" smtClean="0">
                          <a:latin typeface="Cambria Math"/>
                          <a:ea typeface="Cambria Math"/>
                        </a:rPr>
                        <m:t>∫</m:t>
                      </m:r>
                    </m:oMath>
                  </m:oMathPara>
                </a14:m>
                <a:endParaRPr lang="fr-FR" dirty="0"/>
              </a:p>
            </p:txBody>
          </p:sp>
        </mc:Choice>
        <mc:Fallback xmlns="">
          <p:sp>
            <p:nvSpPr>
              <p:cNvPr id="65" name="ZoneTexte 64"/>
              <p:cNvSpPr txBox="1">
                <a:spLocks noRot="1" noChangeAspect="1" noMove="1" noResize="1" noEditPoints="1" noAdjustHandles="1" noChangeArrowheads="1" noChangeShapeType="1" noTextEdit="1"/>
              </p:cNvSpPr>
              <p:nvPr/>
            </p:nvSpPr>
            <p:spPr>
              <a:xfrm>
                <a:off x="5521297" y="3086750"/>
                <a:ext cx="369943" cy="379848"/>
              </a:xfrm>
              <a:prstGeom prst="rect">
                <a:avLst/>
              </a:prstGeom>
              <a:blipFill rotWithShape="1">
                <a:blip r:embed="rId11"/>
                <a:stretch>
                  <a:fillRect/>
                </a:stretch>
              </a:blipFill>
              <a:ln w="25400"/>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6" name="ZoneTexte 65"/>
              <p:cNvSpPr txBox="1"/>
              <p:nvPr/>
            </p:nvSpPr>
            <p:spPr>
              <a:xfrm>
                <a:off x="6421739" y="3078484"/>
                <a:ext cx="328065" cy="379848"/>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
                    </m:oMathParaPr>
                    <m:oMath xmlns:m="http://schemas.openxmlformats.org/officeDocument/2006/math">
                      <m:r>
                        <a:rPr lang="fr-FR" i="1" smtClean="0">
                          <a:latin typeface="Cambria Math"/>
                          <a:ea typeface="Cambria Math"/>
                        </a:rPr>
                        <m:t>∫</m:t>
                      </m:r>
                    </m:oMath>
                  </m:oMathPara>
                </a14:m>
                <a:endParaRPr lang="fr-FR" dirty="0"/>
              </a:p>
            </p:txBody>
          </p:sp>
        </mc:Choice>
        <mc:Fallback xmlns="">
          <p:sp>
            <p:nvSpPr>
              <p:cNvPr id="66" name="ZoneTexte 65"/>
              <p:cNvSpPr txBox="1">
                <a:spLocks noRot="1" noChangeAspect="1" noMove="1" noResize="1" noEditPoints="1" noAdjustHandles="1" noChangeArrowheads="1" noChangeShapeType="1" noTextEdit="1"/>
              </p:cNvSpPr>
              <p:nvPr/>
            </p:nvSpPr>
            <p:spPr>
              <a:xfrm>
                <a:off x="6421739" y="3078484"/>
                <a:ext cx="328065" cy="379848"/>
              </a:xfrm>
              <a:prstGeom prst="rect">
                <a:avLst/>
              </a:prstGeom>
              <a:blipFill rotWithShape="1">
                <a:blip r:embed="rId12"/>
                <a:stretch>
                  <a:fillRect/>
                </a:stretch>
              </a:blipFill>
              <a:ln w="25400"/>
            </p:spPr>
            <p:txBody>
              <a:bodyPr/>
              <a:lstStyle/>
              <a:p>
                <a:r>
                  <a:rPr lang="fr-FR">
                    <a:noFill/>
                  </a:rPr>
                  <a:t> </a:t>
                </a:r>
              </a:p>
            </p:txBody>
          </p:sp>
        </mc:Fallback>
      </mc:AlternateContent>
      <p:sp>
        <p:nvSpPr>
          <p:cNvPr id="67" name="Ellipse 66"/>
          <p:cNvSpPr/>
          <p:nvPr/>
        </p:nvSpPr>
        <p:spPr>
          <a:xfrm>
            <a:off x="7234233" y="3110611"/>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cxnSp>
        <p:nvCxnSpPr>
          <p:cNvPr id="68" name="Connecteur droit avec flèche 67"/>
          <p:cNvCxnSpPr>
            <a:endCxn id="67" idx="0"/>
          </p:cNvCxnSpPr>
          <p:nvPr/>
        </p:nvCxnSpPr>
        <p:spPr>
          <a:xfrm>
            <a:off x="7377108" y="2634268"/>
            <a:ext cx="0" cy="47634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69" name="Objet 68"/>
          <p:cNvGraphicFramePr>
            <a:graphicFrameLocks noChangeAspect="1"/>
          </p:cNvGraphicFramePr>
          <p:nvPr>
            <p:extLst>
              <p:ext uri="{D42A27DB-BD31-4B8C-83A1-F6EECF244321}">
                <p14:modId xmlns:p14="http://schemas.microsoft.com/office/powerpoint/2010/main" val="3213171293"/>
              </p:ext>
            </p:extLst>
          </p:nvPr>
        </p:nvGraphicFramePr>
        <p:xfrm>
          <a:off x="2494614" y="3592239"/>
          <a:ext cx="171450" cy="157163"/>
        </p:xfrm>
        <a:graphic>
          <a:graphicData uri="http://schemas.openxmlformats.org/presentationml/2006/ole">
            <mc:AlternateContent xmlns:mc="http://schemas.openxmlformats.org/markup-compatibility/2006">
              <mc:Choice xmlns:v="urn:schemas-microsoft-com:vml" Requires="v">
                <p:oleObj name="Equation" r:id="rId13" imgW="139639" imgH="101556" progId="Equation.DSMT4">
                  <p:embed/>
                </p:oleObj>
              </mc:Choice>
              <mc:Fallback>
                <p:oleObj name="Equation" r:id="rId13" imgW="139639" imgH="101556"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94614" y="3592239"/>
                        <a:ext cx="171450" cy="15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70" name="ZoneTexte 69"/>
              <p:cNvSpPr txBox="1"/>
              <p:nvPr/>
            </p:nvSpPr>
            <p:spPr>
              <a:xfrm>
                <a:off x="5948415" y="2954603"/>
                <a:ext cx="3792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fr-FR" i="1" smtClean="0">
                              <a:latin typeface="Cambria Math" panose="02040503050406030204" pitchFamily="18" charset="0"/>
                            </a:rPr>
                          </m:ctrlPr>
                        </m:accPr>
                        <m:e>
                          <m:r>
                            <a:rPr lang="fr-FR" b="1" i="0" smtClean="0">
                              <a:latin typeface="Cambria Math"/>
                            </a:rPr>
                            <m:t>𝐱</m:t>
                          </m:r>
                        </m:e>
                      </m:acc>
                    </m:oMath>
                  </m:oMathPara>
                </a14:m>
                <a:endParaRPr lang="fr-FR" dirty="0"/>
              </a:p>
            </p:txBody>
          </p:sp>
        </mc:Choice>
        <mc:Fallback xmlns="">
          <p:sp>
            <p:nvSpPr>
              <p:cNvPr id="70" name="ZoneTexte 69"/>
              <p:cNvSpPr txBox="1">
                <a:spLocks noRot="1" noChangeAspect="1" noMove="1" noResize="1" noEditPoints="1" noAdjustHandles="1" noChangeArrowheads="1" noChangeShapeType="1" noTextEdit="1"/>
              </p:cNvSpPr>
              <p:nvPr/>
            </p:nvSpPr>
            <p:spPr>
              <a:xfrm>
                <a:off x="5948415" y="2954603"/>
                <a:ext cx="379206" cy="369332"/>
              </a:xfrm>
              <a:prstGeom prst="rect">
                <a:avLst/>
              </a:prstGeom>
              <a:blipFill rotWithShape="1">
                <a:blip r:embed="rId14"/>
                <a:stretch>
                  <a:fillRect/>
                </a:stretch>
              </a:blipFill>
            </p:spPr>
            <p:txBody>
              <a:bodyPr/>
              <a:lstStyle/>
              <a:p>
                <a:r>
                  <a:rPr lang="fr-FR">
                    <a:noFill/>
                  </a:rPr>
                  <a:t> </a:t>
                </a:r>
              </a:p>
            </p:txBody>
          </p:sp>
        </mc:Fallback>
      </mc:AlternateContent>
      <p:cxnSp>
        <p:nvCxnSpPr>
          <p:cNvPr id="71" name="Connecteur droit 70"/>
          <p:cNvCxnSpPr/>
          <p:nvPr/>
        </p:nvCxnSpPr>
        <p:spPr>
          <a:xfrm flipH="1">
            <a:off x="635758" y="5716887"/>
            <a:ext cx="785909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2" name="Connecteur droit avec flèche 71"/>
          <p:cNvCxnSpPr/>
          <p:nvPr/>
        </p:nvCxnSpPr>
        <p:spPr>
          <a:xfrm flipV="1">
            <a:off x="2753263" y="3458333"/>
            <a:ext cx="0" cy="156555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3" name="ZoneTexte 72"/>
              <p:cNvSpPr txBox="1"/>
              <p:nvPr/>
            </p:nvSpPr>
            <p:spPr>
              <a:xfrm>
                <a:off x="7272408" y="2378616"/>
                <a:ext cx="48391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1" i="0" smtClean="0">
                              <a:latin typeface="Cambria Math"/>
                            </a:rPr>
                            <m:t>𝐱</m:t>
                          </m:r>
                        </m:e>
                        <m:sub>
                          <m:r>
                            <a:rPr lang="fr-FR" b="0" i="1" smtClean="0">
                              <a:latin typeface="Cambria Math"/>
                            </a:rPr>
                            <m:t>𝑒</m:t>
                          </m:r>
                        </m:sub>
                      </m:sSub>
                    </m:oMath>
                  </m:oMathPara>
                </a14:m>
                <a:endParaRPr lang="fr-FR" dirty="0"/>
              </a:p>
            </p:txBody>
          </p:sp>
        </mc:Choice>
        <mc:Fallback xmlns="">
          <p:sp>
            <p:nvSpPr>
              <p:cNvPr id="73" name="ZoneTexte 72"/>
              <p:cNvSpPr txBox="1">
                <a:spLocks noRot="1" noChangeAspect="1" noMove="1" noResize="1" noEditPoints="1" noAdjustHandles="1" noChangeArrowheads="1" noChangeShapeType="1" noTextEdit="1"/>
              </p:cNvSpPr>
              <p:nvPr/>
            </p:nvSpPr>
            <p:spPr>
              <a:xfrm>
                <a:off x="7272408" y="2378616"/>
                <a:ext cx="483915" cy="369332"/>
              </a:xfrm>
              <a:prstGeom prst="rect">
                <a:avLst/>
              </a:prstGeom>
              <a:blipFill rotWithShape="1">
                <a:blip r:embed="rId15"/>
                <a:stretch>
                  <a:fillRect/>
                </a:stretch>
              </a:blipFill>
            </p:spPr>
            <p:txBody>
              <a:bodyPr/>
              <a:lstStyle/>
              <a:p>
                <a:r>
                  <a:rPr lang="fr-FR">
                    <a:noFill/>
                  </a:rPr>
                  <a:t> </a:t>
                </a:r>
              </a:p>
            </p:txBody>
          </p:sp>
        </mc:Fallback>
      </mc:AlternateContent>
      <p:graphicFrame>
        <p:nvGraphicFramePr>
          <p:cNvPr id="74" name="Objet 73"/>
          <p:cNvGraphicFramePr>
            <a:graphicFrameLocks noChangeAspect="1"/>
          </p:cNvGraphicFramePr>
          <p:nvPr>
            <p:extLst>
              <p:ext uri="{D42A27DB-BD31-4B8C-83A1-F6EECF244321}">
                <p14:modId xmlns:p14="http://schemas.microsoft.com/office/powerpoint/2010/main" val="3828463354"/>
              </p:ext>
            </p:extLst>
          </p:nvPr>
        </p:nvGraphicFramePr>
        <p:xfrm>
          <a:off x="7512400" y="2883018"/>
          <a:ext cx="171450" cy="157163"/>
        </p:xfrm>
        <a:graphic>
          <a:graphicData uri="http://schemas.openxmlformats.org/presentationml/2006/ole">
            <mc:AlternateContent xmlns:mc="http://schemas.openxmlformats.org/markup-compatibility/2006">
              <mc:Choice xmlns:v="urn:schemas-microsoft-com:vml" Requires="v">
                <p:oleObj name="Equation" r:id="rId16" imgW="139639" imgH="101556" progId="Equation.DSMT4">
                  <p:embed/>
                </p:oleObj>
              </mc:Choice>
              <mc:Fallback>
                <p:oleObj name="Equation" r:id="rId16" imgW="139639" imgH="101556"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12400" y="2883018"/>
                        <a:ext cx="171450" cy="15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5" name="Ellipse 74"/>
          <p:cNvSpPr/>
          <p:nvPr/>
        </p:nvSpPr>
        <p:spPr>
          <a:xfrm>
            <a:off x="3994130" y="3135034"/>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cxnSp>
        <p:nvCxnSpPr>
          <p:cNvPr id="76" name="Connecteur droit avec flèche 75"/>
          <p:cNvCxnSpPr/>
          <p:nvPr/>
        </p:nvCxnSpPr>
        <p:spPr>
          <a:xfrm>
            <a:off x="3615711" y="3281212"/>
            <a:ext cx="385820" cy="158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ZoneTexte 76"/>
              <p:cNvSpPr txBox="1"/>
              <p:nvPr/>
            </p:nvSpPr>
            <p:spPr>
              <a:xfrm>
                <a:off x="3238244" y="3103720"/>
                <a:ext cx="440288"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
                    </m:oMathParaPr>
                    <m:oMath xmlns:m="http://schemas.openxmlformats.org/officeDocument/2006/math">
                      <m:r>
                        <a:rPr lang="fr-FR" b="1" i="0" smtClean="0">
                          <a:latin typeface="Cambria Math"/>
                        </a:rPr>
                        <m:t>𝐊</m:t>
                      </m:r>
                    </m:oMath>
                  </m:oMathPara>
                </a14:m>
                <a:endParaRPr lang="fr-FR" b="1" dirty="0"/>
              </a:p>
            </p:txBody>
          </p:sp>
        </mc:Choice>
        <mc:Fallback xmlns="">
          <p:sp>
            <p:nvSpPr>
              <p:cNvPr id="77" name="ZoneTexte 76"/>
              <p:cNvSpPr txBox="1">
                <a:spLocks noRot="1" noChangeAspect="1" noMove="1" noResize="1" noEditPoints="1" noAdjustHandles="1" noChangeArrowheads="1" noChangeShapeType="1" noTextEdit="1"/>
              </p:cNvSpPr>
              <p:nvPr/>
            </p:nvSpPr>
            <p:spPr>
              <a:xfrm>
                <a:off x="3238244" y="3103720"/>
                <a:ext cx="440288" cy="369332"/>
              </a:xfrm>
              <a:prstGeom prst="rect">
                <a:avLst/>
              </a:prstGeom>
              <a:blipFill rotWithShape="1">
                <a:blip r:embed="rId17"/>
                <a:stretch>
                  <a:fillRect/>
                </a:stretch>
              </a:blipFill>
              <a:ln w="25400"/>
            </p:spPr>
            <p:txBody>
              <a:bodyPr/>
              <a:lstStyle/>
              <a:p>
                <a:r>
                  <a:rPr lang="fr-FR">
                    <a:noFill/>
                  </a:rPr>
                  <a:t> </a:t>
                </a:r>
              </a:p>
            </p:txBody>
          </p:sp>
        </mc:Fallback>
      </mc:AlternateContent>
      <p:cxnSp>
        <p:nvCxnSpPr>
          <p:cNvPr id="78" name="Connecteur droit 77"/>
          <p:cNvCxnSpPr/>
          <p:nvPr/>
        </p:nvCxnSpPr>
        <p:spPr>
          <a:xfrm>
            <a:off x="2753263" y="5023890"/>
            <a:ext cx="4152678"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9" name="Ellipse 78"/>
          <p:cNvSpPr/>
          <p:nvPr/>
        </p:nvSpPr>
        <p:spPr>
          <a:xfrm>
            <a:off x="1953299" y="3152491"/>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cxnSp>
        <p:nvCxnSpPr>
          <p:cNvPr id="80" name="Connecteur droit avec flèche 79"/>
          <p:cNvCxnSpPr>
            <a:stCxn id="81" idx="3"/>
            <a:endCxn id="79" idx="2"/>
          </p:cNvCxnSpPr>
          <p:nvPr/>
        </p:nvCxnSpPr>
        <p:spPr>
          <a:xfrm>
            <a:off x="1535637" y="3295366"/>
            <a:ext cx="417662"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ZoneTexte 80"/>
              <p:cNvSpPr txBox="1"/>
              <p:nvPr/>
            </p:nvSpPr>
            <p:spPr>
              <a:xfrm>
                <a:off x="1086782" y="3110700"/>
                <a:ext cx="448855"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
                    </m:oMathParaPr>
                    <m:oMath xmlns:m="http://schemas.openxmlformats.org/officeDocument/2006/math">
                      <m:sSub>
                        <m:sSubPr>
                          <m:ctrlPr>
                            <a:rPr lang="fr-FR" b="1" i="1">
                              <a:latin typeface="Cambria Math" panose="02040503050406030204" pitchFamily="18" charset="0"/>
                            </a:rPr>
                          </m:ctrlPr>
                        </m:sSubPr>
                        <m:e>
                          <m:r>
                            <a:rPr lang="fr-FR" b="1">
                              <a:latin typeface="Cambria Math"/>
                            </a:rPr>
                            <m:t>𝐂</m:t>
                          </m:r>
                        </m:e>
                        <m:sub>
                          <m:r>
                            <a:rPr lang="fr-FR" b="1" i="1">
                              <a:latin typeface="Cambria Math"/>
                              <a:ea typeface="Cambria Math"/>
                            </a:rPr>
                            <m:t>𝕗</m:t>
                          </m:r>
                        </m:sub>
                      </m:sSub>
                    </m:oMath>
                  </m:oMathPara>
                </a14:m>
                <a:endParaRPr lang="fr-FR" b="1" dirty="0"/>
              </a:p>
            </p:txBody>
          </p:sp>
        </mc:Choice>
        <mc:Fallback xmlns="">
          <p:sp>
            <p:nvSpPr>
              <p:cNvPr id="81" name="ZoneTexte 80"/>
              <p:cNvSpPr txBox="1">
                <a:spLocks noRot="1" noChangeAspect="1" noMove="1" noResize="1" noEditPoints="1" noAdjustHandles="1" noChangeArrowheads="1" noChangeShapeType="1" noTextEdit="1"/>
              </p:cNvSpPr>
              <p:nvPr/>
            </p:nvSpPr>
            <p:spPr>
              <a:xfrm>
                <a:off x="1086782" y="3110700"/>
                <a:ext cx="448855" cy="369332"/>
              </a:xfrm>
              <a:prstGeom prst="rect">
                <a:avLst/>
              </a:prstGeom>
              <a:blipFill rotWithShape="1">
                <a:blip r:embed="rId18"/>
                <a:stretch>
                  <a:fillRect/>
                </a:stretch>
              </a:blipFill>
              <a:ln w="25400"/>
            </p:spPr>
            <p:txBody>
              <a:bodyPr/>
              <a:lstStyle/>
              <a:p>
                <a:r>
                  <a:rPr lang="fr-FR">
                    <a:noFill/>
                  </a:rPr>
                  <a:t> </a:t>
                </a:r>
              </a:p>
            </p:txBody>
          </p:sp>
        </mc:Fallback>
      </mc:AlternateContent>
      <p:cxnSp>
        <p:nvCxnSpPr>
          <p:cNvPr id="82" name="Connecteur droit avec flèche 81"/>
          <p:cNvCxnSpPr/>
          <p:nvPr/>
        </p:nvCxnSpPr>
        <p:spPr>
          <a:xfrm>
            <a:off x="7514365" y="3241140"/>
            <a:ext cx="341406"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3" name="Connecteur droit avec flèche 82"/>
          <p:cNvCxnSpPr/>
          <p:nvPr/>
        </p:nvCxnSpPr>
        <p:spPr>
          <a:xfrm flipV="1">
            <a:off x="8398235" y="3225743"/>
            <a:ext cx="349748" cy="153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4" name="Connecteur droit avec flèche 83"/>
          <p:cNvCxnSpPr>
            <a:stCxn id="55" idx="6"/>
            <a:endCxn id="81" idx="1"/>
          </p:cNvCxnSpPr>
          <p:nvPr/>
        </p:nvCxnSpPr>
        <p:spPr>
          <a:xfrm flipV="1">
            <a:off x="778633" y="3295366"/>
            <a:ext cx="308149"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5" name="Connecteur droit avec flèche 84"/>
          <p:cNvCxnSpPr/>
          <p:nvPr/>
        </p:nvCxnSpPr>
        <p:spPr>
          <a:xfrm flipV="1">
            <a:off x="149808" y="3294300"/>
            <a:ext cx="343075" cy="69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86" name="Connecteur droit avec flèche 85"/>
          <p:cNvCxnSpPr/>
          <p:nvPr/>
        </p:nvCxnSpPr>
        <p:spPr>
          <a:xfrm>
            <a:off x="8494847" y="3260466"/>
            <a:ext cx="0" cy="2456421"/>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7" name="ZoneTexte 86"/>
              <p:cNvSpPr txBox="1"/>
              <p:nvPr/>
            </p:nvSpPr>
            <p:spPr>
              <a:xfrm>
                <a:off x="7869731" y="3063454"/>
                <a:ext cx="512984" cy="369332"/>
              </a:xfrm>
              <a:prstGeom prst="rect">
                <a:avLst/>
              </a:prstGeom>
              <a:ln w="25400"/>
            </p:spPr>
            <p:style>
              <a:lnRef idx="1">
                <a:schemeClr val="dk1"/>
              </a:lnRef>
              <a:fillRef idx="2">
                <a:schemeClr val="dk1"/>
              </a:fillRef>
              <a:effectRef idx="1">
                <a:schemeClr val="dk1"/>
              </a:effectRef>
              <a:fontRef idx="minor">
                <a:schemeClr val="dk1"/>
              </a:fontRef>
            </p:style>
            <p:txBody>
              <a:bodyPr wrap="square">
                <a:spAutoFit/>
              </a:bodyPr>
              <a:lstStyle/>
              <a:p>
                <a:pPr algn="ctr">
                  <a:defRPr/>
                </a:pPr>
                <a14:m>
                  <m:oMathPara xmlns:m="http://schemas.openxmlformats.org/officeDocument/2006/math">
                    <m:oMathParaPr>
                      <m:jc m:val="center"/>
                    </m:oMathParaPr>
                    <m:oMath xmlns:m="http://schemas.openxmlformats.org/officeDocument/2006/math">
                      <m:sSub>
                        <m:sSubPr>
                          <m:ctrlPr>
                            <a:rPr lang="fr-FR" i="1" smtClean="0">
                              <a:latin typeface="Cambria Math" panose="02040503050406030204" pitchFamily="18" charset="0"/>
                            </a:rPr>
                          </m:ctrlPr>
                        </m:sSubPr>
                        <m:e>
                          <m:r>
                            <a:rPr lang="fr-FR" b="1" i="0" smtClean="0">
                              <a:latin typeface="Cambria Math"/>
                            </a:rPr>
                            <m:t>𝐊</m:t>
                          </m:r>
                        </m:e>
                        <m:sub>
                          <m:r>
                            <a:rPr lang="fr-FR" b="0" i="1" smtClean="0">
                              <a:latin typeface="Cambria Math"/>
                            </a:rPr>
                            <m:t>𝑒</m:t>
                          </m:r>
                        </m:sub>
                      </m:sSub>
                    </m:oMath>
                  </m:oMathPara>
                </a14:m>
                <a:endParaRPr lang="fr-FR" dirty="0"/>
              </a:p>
            </p:txBody>
          </p:sp>
        </mc:Choice>
        <mc:Fallback xmlns="">
          <p:sp>
            <p:nvSpPr>
              <p:cNvPr id="87" name="ZoneTexte 86"/>
              <p:cNvSpPr txBox="1">
                <a:spLocks noRot="1" noChangeAspect="1" noMove="1" noResize="1" noEditPoints="1" noAdjustHandles="1" noChangeArrowheads="1" noChangeShapeType="1" noTextEdit="1"/>
              </p:cNvSpPr>
              <p:nvPr/>
            </p:nvSpPr>
            <p:spPr>
              <a:xfrm>
                <a:off x="7869731" y="3063454"/>
                <a:ext cx="512984" cy="369332"/>
              </a:xfrm>
              <a:prstGeom prst="rect">
                <a:avLst/>
              </a:prstGeom>
              <a:blipFill rotWithShape="1">
                <a:blip r:embed="rId19"/>
                <a:stretch>
                  <a:fillRect/>
                </a:stretch>
              </a:blipFill>
              <a:ln w="25400"/>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89" name="ZoneTexte 88"/>
              <p:cNvSpPr txBox="1"/>
              <p:nvPr/>
            </p:nvSpPr>
            <p:spPr>
              <a:xfrm>
                <a:off x="8313406" y="2807551"/>
                <a:ext cx="4573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i="1">
                              <a:latin typeface="Cambria Math" panose="02040503050406030204" pitchFamily="18" charset="0"/>
                              <a:ea typeface="Cambria Math"/>
                            </a:rPr>
                          </m:ctrlPr>
                        </m:sSubPr>
                        <m:e>
                          <m:r>
                            <a:rPr lang="fr-FR" i="1">
                              <a:latin typeface="Cambria Math"/>
                              <a:ea typeface="Cambria Math"/>
                            </a:rPr>
                            <m:t>𝕗</m:t>
                          </m:r>
                        </m:e>
                        <m:sub>
                          <m:r>
                            <a:rPr lang="fr-FR" i="1">
                              <a:latin typeface="Cambria Math"/>
                              <a:ea typeface="Cambria Math"/>
                            </a:rPr>
                            <m:t>𝑒</m:t>
                          </m:r>
                        </m:sub>
                      </m:sSub>
                    </m:oMath>
                  </m:oMathPara>
                </a14:m>
                <a:endParaRPr lang="fr-FR" dirty="0"/>
              </a:p>
            </p:txBody>
          </p:sp>
        </mc:Choice>
        <mc:Fallback xmlns="">
          <p:sp>
            <p:nvSpPr>
              <p:cNvPr id="89" name="ZoneTexte 88"/>
              <p:cNvSpPr txBox="1">
                <a:spLocks noRot="1" noChangeAspect="1" noMove="1" noResize="1" noEditPoints="1" noAdjustHandles="1" noChangeArrowheads="1" noChangeShapeType="1" noTextEdit="1"/>
              </p:cNvSpPr>
              <p:nvPr/>
            </p:nvSpPr>
            <p:spPr>
              <a:xfrm>
                <a:off x="8313406" y="2807551"/>
                <a:ext cx="457369" cy="369332"/>
              </a:xfrm>
              <a:prstGeom prst="rect">
                <a:avLst/>
              </a:prstGeom>
              <a:blipFill rotWithShape="1">
                <a:blip r:embed="rId20"/>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90" name="ZoneTexte 89"/>
              <p:cNvSpPr txBox="1"/>
              <p:nvPr/>
            </p:nvSpPr>
            <p:spPr>
              <a:xfrm>
                <a:off x="60723" y="2929759"/>
                <a:ext cx="473655" cy="3742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i="1">
                              <a:latin typeface="Cambria Math"/>
                              <a:ea typeface="Cambria Math"/>
                            </a:rPr>
                            <m:t>𝕗</m:t>
                          </m:r>
                        </m:e>
                        <m:sup>
                          <m:r>
                            <a:rPr lang="fr-FR" b="0" i="1" smtClean="0">
                              <a:latin typeface="Cambria Math"/>
                            </a:rPr>
                            <m:t>𝑑</m:t>
                          </m:r>
                        </m:sup>
                      </m:sSup>
                    </m:oMath>
                  </m:oMathPara>
                </a14:m>
                <a:endParaRPr lang="fr-FR" dirty="0"/>
              </a:p>
            </p:txBody>
          </p:sp>
        </mc:Choice>
        <mc:Fallback xmlns="">
          <p:sp>
            <p:nvSpPr>
              <p:cNvPr id="90" name="ZoneTexte 89"/>
              <p:cNvSpPr txBox="1">
                <a:spLocks noRot="1" noChangeAspect="1" noMove="1" noResize="1" noEditPoints="1" noAdjustHandles="1" noChangeArrowheads="1" noChangeShapeType="1" noTextEdit="1"/>
              </p:cNvSpPr>
              <p:nvPr/>
            </p:nvSpPr>
            <p:spPr>
              <a:xfrm>
                <a:off x="60723" y="2929759"/>
                <a:ext cx="473655" cy="374270"/>
              </a:xfrm>
              <a:prstGeom prst="rect">
                <a:avLst/>
              </a:prstGeom>
              <a:blipFill rotWithShape="1">
                <a:blip r:embed="rId21"/>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91" name="ZoneTexte 90"/>
              <p:cNvSpPr txBox="1"/>
              <p:nvPr/>
            </p:nvSpPr>
            <p:spPr>
              <a:xfrm>
                <a:off x="5077839" y="2925945"/>
                <a:ext cx="3706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fr-FR" b="0" i="1" smtClean="0">
                              <a:latin typeface="Cambria Math" panose="02040503050406030204" pitchFamily="18" charset="0"/>
                            </a:rPr>
                          </m:ctrlPr>
                        </m:accPr>
                        <m:e>
                          <m:r>
                            <a:rPr lang="fr-FR" b="1" i="0" smtClean="0">
                              <a:latin typeface="Cambria Math"/>
                            </a:rPr>
                            <m:t>𝐱</m:t>
                          </m:r>
                        </m:e>
                      </m:acc>
                    </m:oMath>
                  </m:oMathPara>
                </a14:m>
                <a:endParaRPr lang="fr-FR" dirty="0"/>
              </a:p>
            </p:txBody>
          </p:sp>
        </mc:Choice>
        <mc:Fallback xmlns="">
          <p:sp>
            <p:nvSpPr>
              <p:cNvPr id="91" name="ZoneTexte 90"/>
              <p:cNvSpPr txBox="1">
                <a:spLocks noRot="1" noChangeAspect="1" noMove="1" noResize="1" noEditPoints="1" noAdjustHandles="1" noChangeArrowheads="1" noChangeShapeType="1" noTextEdit="1"/>
              </p:cNvSpPr>
              <p:nvPr/>
            </p:nvSpPr>
            <p:spPr>
              <a:xfrm>
                <a:off x="5077839" y="2925945"/>
                <a:ext cx="370614" cy="369332"/>
              </a:xfrm>
              <a:prstGeom prst="rect">
                <a:avLst/>
              </a:prstGeom>
              <a:blipFill rotWithShape="1">
                <a:blip r:embed="rId22"/>
                <a:stretch>
                  <a:fillRect r="-22951"/>
                </a:stretch>
              </a:blipFill>
            </p:spPr>
            <p:txBody>
              <a:bodyPr/>
              <a:lstStyle/>
              <a:p>
                <a:r>
                  <a:rPr lang="fr-FR">
                    <a:noFill/>
                  </a:rPr>
                  <a:t> </a:t>
                </a:r>
              </a:p>
            </p:txBody>
          </p:sp>
        </mc:Fallback>
      </mc:AlternateContent>
      <p:cxnSp>
        <p:nvCxnSpPr>
          <p:cNvPr id="92" name="Connecteur droit avec flèche 91"/>
          <p:cNvCxnSpPr/>
          <p:nvPr/>
        </p:nvCxnSpPr>
        <p:spPr>
          <a:xfrm>
            <a:off x="2096174" y="2680882"/>
            <a:ext cx="0" cy="47634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05" name="Connecteur droit avec flèche 104"/>
          <p:cNvCxnSpPr>
            <a:endCxn id="98" idx="2"/>
          </p:cNvCxnSpPr>
          <p:nvPr/>
        </p:nvCxnSpPr>
        <p:spPr>
          <a:xfrm>
            <a:off x="2246029" y="3308166"/>
            <a:ext cx="33431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111" name="Objet 110"/>
          <p:cNvGraphicFramePr>
            <a:graphicFrameLocks noChangeAspect="1"/>
          </p:cNvGraphicFramePr>
          <p:nvPr>
            <p:extLst>
              <p:ext uri="{D42A27DB-BD31-4B8C-83A1-F6EECF244321}">
                <p14:modId xmlns:p14="http://schemas.microsoft.com/office/powerpoint/2010/main" val="1023878829"/>
              </p:ext>
            </p:extLst>
          </p:nvPr>
        </p:nvGraphicFramePr>
        <p:xfrm>
          <a:off x="3894866" y="3549441"/>
          <a:ext cx="171450" cy="157163"/>
        </p:xfrm>
        <a:graphic>
          <a:graphicData uri="http://schemas.openxmlformats.org/presentationml/2006/ole">
            <mc:AlternateContent xmlns:mc="http://schemas.openxmlformats.org/markup-compatibility/2006">
              <mc:Choice xmlns:v="urn:schemas-microsoft-com:vml" Requires="v">
                <p:oleObj name="Equation" r:id="rId23" imgW="139639" imgH="101556" progId="Equation.DSMT4">
                  <p:embed/>
                </p:oleObj>
              </mc:Choice>
              <mc:Fallback>
                <p:oleObj name="Equation" r:id="rId23" imgW="139639" imgH="101556" progId="Equation.DSMT4">
                  <p:embed/>
                  <p:pic>
                    <p:nvPicPr>
                      <p:cNvPr id="0" name="Objet 6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94866" y="3549441"/>
                        <a:ext cx="171450" cy="15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 name="Ellipse 54"/>
          <p:cNvSpPr/>
          <p:nvPr/>
        </p:nvSpPr>
        <p:spPr>
          <a:xfrm>
            <a:off x="492883" y="3159163"/>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sp>
        <p:nvSpPr>
          <p:cNvPr id="98" name="Ellipse 97"/>
          <p:cNvSpPr/>
          <p:nvPr/>
        </p:nvSpPr>
        <p:spPr>
          <a:xfrm>
            <a:off x="2580339" y="3165291"/>
            <a:ext cx="285750" cy="285750"/>
          </a:xfrm>
          <a:prstGeom prst="ellipse">
            <a:avLst/>
          </a:prstGeom>
          <a:ln/>
        </p:spPr>
        <p:style>
          <a:lnRef idx="1">
            <a:schemeClr val="dk1"/>
          </a:lnRef>
          <a:fillRef idx="2">
            <a:schemeClr val="dk1"/>
          </a:fillRef>
          <a:effectRef idx="1">
            <a:schemeClr val="dk1"/>
          </a:effectRef>
          <a:fontRef idx="minor">
            <a:schemeClr val="dk1"/>
          </a:fontRef>
        </p:style>
        <p:txBody>
          <a:bodyPr anchor="ctr"/>
          <a:lstStyle/>
          <a:p>
            <a:pPr algn="ctr">
              <a:defRPr/>
            </a:pPr>
            <a:endParaRPr lang="fr-FR"/>
          </a:p>
        </p:txBody>
      </p:sp>
    </p:spTree>
    <p:extLst>
      <p:ext uri="{BB962C8B-B14F-4D97-AF65-F5344CB8AC3E}">
        <p14:creationId xmlns:p14="http://schemas.microsoft.com/office/powerpoint/2010/main" val="234091557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r>
                  <a:rPr lang="fr-FR" dirty="0"/>
                  <a:t>Le système asservi est décrit par :</a:t>
                </a:r>
              </a:p>
              <a:p>
                <a:pPr marL="0" indent="0">
                  <a:buNone/>
                </a:pPr>
                <a14:m>
                  <m:oMathPara xmlns:m="http://schemas.openxmlformats.org/officeDocument/2006/math">
                    <m:oMathParaPr>
                      <m:jc m:val="centerGroup"/>
                    </m:oMathParaPr>
                    <m:oMath xmlns:m="http://schemas.openxmlformats.org/officeDocument/2006/math">
                      <m:r>
                        <a:rPr lang="el-GR">
                          <a:latin typeface="Cambria Math"/>
                        </a:rPr>
                        <m:t>𝚲</m:t>
                      </m:r>
                      <m:acc>
                        <m:accPr>
                          <m:chr m:val="̈"/>
                          <m:ctrlPr>
                            <a:rPr lang="el-GR" i="1">
                              <a:latin typeface="Cambria Math" panose="02040503050406030204" pitchFamily="18" charset="0"/>
                            </a:rPr>
                          </m:ctrlPr>
                        </m:accPr>
                        <m:e>
                          <m:r>
                            <a:rPr lang="fr-FR">
                              <a:latin typeface="Cambria Math"/>
                            </a:rPr>
                            <m:t>𝐱</m:t>
                          </m:r>
                        </m:e>
                      </m:acc>
                      <m:r>
                        <a:rPr lang="fr-FR">
                          <a:latin typeface="Cambria Math"/>
                        </a:rPr>
                        <m:t>+</m:t>
                      </m:r>
                      <m:r>
                        <a:rPr lang="fr-FR">
                          <a:latin typeface="Cambria Math"/>
                        </a:rPr>
                        <m:t>𝐁</m:t>
                      </m:r>
                      <m:acc>
                        <m:accPr>
                          <m:chr m:val="̇"/>
                          <m:ctrlPr>
                            <a:rPr lang="fr-FR" i="1">
                              <a:latin typeface="Cambria Math" panose="02040503050406030204" pitchFamily="18" charset="0"/>
                            </a:rPr>
                          </m:ctrlPr>
                        </m:accPr>
                        <m:e>
                          <m:r>
                            <a:rPr lang="fr-FR">
                              <a:latin typeface="Cambria Math"/>
                            </a:rPr>
                            <m:t>𝐱</m:t>
                          </m:r>
                        </m:e>
                      </m:acc>
                      <m:r>
                        <a:rPr lang="fr-FR">
                          <a:latin typeface="Cambria Math"/>
                        </a:rPr>
                        <m:t>+</m:t>
                      </m:r>
                      <m:r>
                        <a:rPr lang="fr-FR">
                          <a:latin typeface="Cambria Math"/>
                        </a:rPr>
                        <m:t>𝐊𝐱</m:t>
                      </m:r>
                      <m:r>
                        <a:rPr lang="fr-FR">
                          <a:latin typeface="Cambria Math"/>
                        </a:rPr>
                        <m:t>=</m:t>
                      </m:r>
                      <m:r>
                        <a:rPr lang="fr-FR">
                          <a:latin typeface="Cambria Math"/>
                        </a:rPr>
                        <m:t>𝐊</m:t>
                      </m:r>
                      <m:sSub>
                        <m:sSubPr>
                          <m:ctrlPr>
                            <a:rPr lang="fr-FR" i="1">
                              <a:latin typeface="Cambria Math" panose="02040503050406030204" pitchFamily="18" charset="0"/>
                            </a:rPr>
                          </m:ctrlPr>
                        </m:sSubPr>
                        <m:e>
                          <m:r>
                            <a:rPr lang="fr-FR">
                              <a:latin typeface="Cambria Math"/>
                            </a:rPr>
                            <m:t>𝐂</m:t>
                          </m:r>
                        </m:e>
                        <m:sub>
                          <m:r>
                            <a:rPr lang="fr-FR">
                              <a:latin typeface="Cambria Math"/>
                            </a:rPr>
                            <m:t>𝕗</m:t>
                          </m:r>
                        </m:sub>
                      </m:sSub>
                      <m:d>
                        <m:dPr>
                          <m:ctrlPr>
                            <a:rPr lang="fr-FR" i="1">
                              <a:latin typeface="Cambria Math" panose="02040503050406030204" pitchFamily="18" charset="0"/>
                            </a:rPr>
                          </m:ctrlPr>
                        </m:dPr>
                        <m:e>
                          <m:sSup>
                            <m:sSupPr>
                              <m:ctrlPr>
                                <a:rPr lang="fr-FR" i="1">
                                  <a:latin typeface="Cambria Math" panose="02040503050406030204" pitchFamily="18" charset="0"/>
                                </a:rPr>
                              </m:ctrlPr>
                            </m:sSupPr>
                            <m:e>
                              <m:r>
                                <a:rPr lang="fr-FR">
                                  <a:latin typeface="Cambria Math"/>
                                </a:rPr>
                                <m:t>𝕗</m:t>
                              </m:r>
                            </m:e>
                            <m:sup>
                              <m:r>
                                <a:rPr lang="fr-FR">
                                  <a:latin typeface="Cambria Math"/>
                                </a:rPr>
                                <m:t>𝑑</m:t>
                              </m:r>
                            </m:sup>
                          </m:sSup>
                          <m:r>
                            <a:rPr lang="fr-FR">
                              <a:latin typeface="Cambria Math"/>
                            </a:rPr>
                            <m:t>−</m:t>
                          </m:r>
                          <m:sSub>
                            <m:sSubPr>
                              <m:ctrlPr>
                                <a:rPr lang="fr-FR" i="1">
                                  <a:latin typeface="Cambria Math" panose="02040503050406030204" pitchFamily="18" charset="0"/>
                                </a:rPr>
                              </m:ctrlPr>
                            </m:sSubPr>
                            <m:e>
                              <m:r>
                                <a:rPr lang="fr-FR">
                                  <a:latin typeface="Cambria Math"/>
                                </a:rPr>
                                <m:t>𝕗</m:t>
                              </m:r>
                            </m:e>
                            <m:sub>
                              <m:r>
                                <a:rPr lang="fr-FR">
                                  <a:latin typeface="Cambria Math"/>
                                </a:rPr>
                                <m:t>𝑒</m:t>
                              </m:r>
                            </m:sub>
                          </m:sSub>
                        </m:e>
                      </m:d>
                      <m:r>
                        <a:rPr lang="fr-FR" i="1">
                          <a:latin typeface="Cambria Math"/>
                        </a:rPr>
                        <m:t>+</m:t>
                      </m:r>
                      <m:r>
                        <a:rPr lang="fr-FR" b="1">
                          <a:latin typeface="Cambria Math"/>
                        </a:rPr>
                        <m:t>𝐊</m:t>
                      </m:r>
                      <m:sSup>
                        <m:sSupPr>
                          <m:ctrlPr>
                            <a:rPr lang="fr-FR" i="1">
                              <a:latin typeface="Cambria Math" panose="02040503050406030204" pitchFamily="18" charset="0"/>
                            </a:rPr>
                          </m:ctrlPr>
                        </m:sSupPr>
                        <m:e>
                          <m:r>
                            <a:rPr lang="fr-FR" b="1">
                              <a:latin typeface="Cambria Math"/>
                            </a:rPr>
                            <m:t>𝐱</m:t>
                          </m:r>
                        </m:e>
                        <m:sup>
                          <m:r>
                            <a:rPr lang="fr-FR" i="1">
                              <a:latin typeface="Cambria Math"/>
                            </a:rPr>
                            <m:t>𝑑</m:t>
                          </m:r>
                        </m:sup>
                      </m:sSup>
                    </m:oMath>
                  </m:oMathPara>
                </a14:m>
                <a:endParaRPr lang="fr-FR" dirty="0"/>
              </a:p>
              <a:p>
                <a:pPr marL="0" indent="0" algn="ctr">
                  <a:buNone/>
                </a:pPr>
                <a:r>
                  <a:rPr lang="fr-FR" dirty="0"/>
                  <a:t>	</a:t>
                </a:r>
              </a:p>
              <a:p>
                <a:pPr marL="0" indent="0">
                  <a:buNone/>
                </a:pPr>
                <a:r>
                  <a:rPr lang="fr-FR" dirty="0"/>
                  <a:t>Ou encore sous forme d’équation scalaire  :</a:t>
                </a:r>
              </a:p>
              <a:p>
                <a:pPr marL="0" indent="0" algn="ctr">
                  <a:buNone/>
                </a:pPr>
                <a14:m>
                  <m:oMath xmlns:m="http://schemas.openxmlformats.org/officeDocument/2006/math">
                    <m:d>
                      <m:dPr>
                        <m:begChr m:val="{"/>
                        <m:endChr m:val=""/>
                        <m:ctrlPr>
                          <a:rPr lang="fr-FR" i="1">
                            <a:latin typeface="Cambria Math" panose="02040503050406030204" pitchFamily="18" charset="0"/>
                          </a:rPr>
                        </m:ctrlPr>
                      </m:dPr>
                      <m:e>
                        <m:eqArr>
                          <m:eqArrPr>
                            <m:ctrlPr>
                              <a:rPr lang="fr-FR" i="1">
                                <a:latin typeface="Cambria Math" panose="02040503050406030204" pitchFamily="18" charset="0"/>
                              </a:rPr>
                            </m:ctrlPr>
                          </m:eqArrPr>
                          <m:e>
                            <m:sSub>
                              <m:sSubPr>
                                <m:ctrlPr>
                                  <a:rPr lang="fr-FR" i="1">
                                    <a:latin typeface="Cambria Math" panose="02040503050406030204" pitchFamily="18" charset="0"/>
                                  </a:rPr>
                                </m:ctrlPr>
                              </m:sSubPr>
                              <m:e>
                                <m:r>
                                  <a:rPr lang="fr-FR" i="1">
                                    <a:latin typeface="Cambria Math"/>
                                    <a:ea typeface="Cambria Math"/>
                                  </a:rPr>
                                  <m:t>𝜆</m:t>
                                </m:r>
                              </m:e>
                              <m:sub>
                                <m:r>
                                  <a:rPr lang="fr-FR" i="1">
                                    <a:latin typeface="Cambria Math"/>
                                  </a:rPr>
                                  <m:t>𝑥</m:t>
                                </m:r>
                              </m:sub>
                            </m:sSub>
                            <m:acc>
                              <m:accPr>
                                <m:chr m:val="̈"/>
                                <m:ctrlPr>
                                  <a:rPr lang="fr-FR" i="1">
                                    <a:latin typeface="Cambria Math" panose="02040503050406030204" pitchFamily="18" charset="0"/>
                                  </a:rPr>
                                </m:ctrlPr>
                              </m:accPr>
                              <m:e>
                                <m:r>
                                  <a:rPr lang="fr-FR" i="1">
                                    <a:latin typeface="Cambria Math"/>
                                  </a:rPr>
                                  <m:t>𝑥</m:t>
                                </m:r>
                              </m:e>
                            </m:acc>
                            <m:r>
                              <a:rPr lang="fr-FR" i="1">
                                <a:latin typeface="Cambria Math"/>
                              </a:rPr>
                              <m:t>+</m:t>
                            </m:r>
                            <m:sSub>
                              <m:sSubPr>
                                <m:ctrlPr>
                                  <a:rPr lang="fr-FR" i="1">
                                    <a:latin typeface="Cambria Math" panose="02040503050406030204" pitchFamily="18" charset="0"/>
                                  </a:rPr>
                                </m:ctrlPr>
                              </m:sSubPr>
                              <m:e>
                                <m:r>
                                  <a:rPr lang="fr-FR" i="1">
                                    <a:latin typeface="Cambria Math"/>
                                  </a:rPr>
                                  <m:t>𝑏</m:t>
                                </m:r>
                              </m:e>
                              <m:sub>
                                <m:r>
                                  <a:rPr lang="fr-FR" i="1">
                                    <a:latin typeface="Cambria Math"/>
                                  </a:rPr>
                                  <m:t>𝑥</m:t>
                                </m:r>
                              </m:sub>
                            </m:sSub>
                            <m:acc>
                              <m:accPr>
                                <m:chr m:val="̇"/>
                                <m:ctrlPr>
                                  <a:rPr lang="fr-FR" i="1">
                                    <a:latin typeface="Cambria Math" panose="02040503050406030204" pitchFamily="18" charset="0"/>
                                  </a:rPr>
                                </m:ctrlPr>
                              </m:accPr>
                              <m:e>
                                <m:r>
                                  <a:rPr lang="fr-FR" i="1">
                                    <a:latin typeface="Cambria Math"/>
                                  </a:rPr>
                                  <m:t>𝑥</m:t>
                                </m:r>
                              </m:e>
                            </m:acc>
                            <m:r>
                              <a:rPr lang="fr-FR" i="1">
                                <a:latin typeface="Cambria Math"/>
                              </a:rPr>
                              <m:t>+</m:t>
                            </m:r>
                            <m:sSub>
                              <m:sSubPr>
                                <m:ctrlPr>
                                  <a:rPr lang="fr-FR" i="1">
                                    <a:latin typeface="Cambria Math" panose="02040503050406030204" pitchFamily="18" charset="0"/>
                                  </a:rPr>
                                </m:ctrlPr>
                              </m:sSubPr>
                              <m:e>
                                <m:r>
                                  <a:rPr lang="fr-FR" i="1">
                                    <a:latin typeface="Cambria Math"/>
                                  </a:rPr>
                                  <m:t>𝑘</m:t>
                                </m:r>
                              </m:e>
                              <m:sub>
                                <m:r>
                                  <a:rPr lang="fr-FR" i="1">
                                    <a:latin typeface="Cambria Math"/>
                                  </a:rPr>
                                  <m:t>𝑥</m:t>
                                </m:r>
                              </m:sub>
                            </m:sSub>
                            <m:r>
                              <a:rPr lang="fr-FR" i="1">
                                <a:latin typeface="Cambria Math"/>
                              </a:rPr>
                              <m:t>𝑥</m:t>
                            </m:r>
                            <m:r>
                              <a:rPr lang="fr-FR" i="1">
                                <a:latin typeface="Cambria Math"/>
                              </a:rPr>
                              <m:t>=</m:t>
                            </m:r>
                            <m:sSub>
                              <m:sSubPr>
                                <m:ctrlPr>
                                  <a:rPr lang="fr-FR" i="1">
                                    <a:latin typeface="Cambria Math" panose="02040503050406030204" pitchFamily="18" charset="0"/>
                                  </a:rPr>
                                </m:ctrlPr>
                              </m:sSubPr>
                              <m:e>
                                <m:r>
                                  <a:rPr lang="fr-FR" i="1">
                                    <a:latin typeface="Cambria Math"/>
                                  </a:rPr>
                                  <m:t>𝑘</m:t>
                                </m:r>
                              </m:e>
                              <m:sub>
                                <m:r>
                                  <a:rPr lang="fr-FR" i="1">
                                    <a:latin typeface="Cambria Math"/>
                                  </a:rPr>
                                  <m:t>𝑥</m:t>
                                </m:r>
                              </m:sub>
                            </m:sSub>
                            <m:sSub>
                              <m:sSubPr>
                                <m:ctrlPr>
                                  <a:rPr lang="fr-FR" i="1">
                                    <a:latin typeface="Cambria Math" panose="02040503050406030204" pitchFamily="18" charset="0"/>
                                  </a:rPr>
                                </m:ctrlPr>
                              </m:sSubPr>
                              <m:e>
                                <m:r>
                                  <a:rPr lang="fr-FR" i="1">
                                    <a:latin typeface="Cambria Math"/>
                                  </a:rPr>
                                  <m:t>𝑐</m:t>
                                </m:r>
                              </m:e>
                              <m:sub>
                                <m:sSub>
                                  <m:sSubPr>
                                    <m:ctrlPr>
                                      <a:rPr lang="fr-FR" i="1">
                                        <a:latin typeface="Cambria Math" panose="02040503050406030204" pitchFamily="18" charset="0"/>
                                      </a:rPr>
                                    </m:ctrlPr>
                                  </m:sSubPr>
                                  <m:e>
                                    <m:r>
                                      <a:rPr lang="fr-FR" i="1">
                                        <a:latin typeface="Cambria Math"/>
                                      </a:rPr>
                                      <m:t>𝑓</m:t>
                                    </m:r>
                                  </m:e>
                                  <m:sub>
                                    <m:r>
                                      <a:rPr lang="fr-FR" i="1">
                                        <a:latin typeface="Cambria Math"/>
                                      </a:rPr>
                                      <m:t>𝑥</m:t>
                                    </m:r>
                                  </m:sub>
                                </m:sSub>
                              </m:sub>
                            </m:sSub>
                            <m:d>
                              <m:dPr>
                                <m:ctrlPr>
                                  <a:rPr lang="fr-FR" i="1">
                                    <a:latin typeface="Cambria Math" panose="02040503050406030204" pitchFamily="18" charset="0"/>
                                  </a:rPr>
                                </m:ctrlPr>
                              </m:dPr>
                              <m:e>
                                <m:sSup>
                                  <m:sSupPr>
                                    <m:ctrlPr>
                                      <a:rPr lang="fr-FR" i="1">
                                        <a:latin typeface="Cambria Math" panose="02040503050406030204" pitchFamily="18" charset="0"/>
                                      </a:rPr>
                                    </m:ctrlPr>
                                  </m:sSupPr>
                                  <m:e>
                                    <m:sSub>
                                      <m:sSubPr>
                                        <m:ctrlPr>
                                          <a:rPr lang="fr-FR" i="1">
                                            <a:latin typeface="Cambria Math" panose="02040503050406030204" pitchFamily="18" charset="0"/>
                                          </a:rPr>
                                        </m:ctrlPr>
                                      </m:sSubPr>
                                      <m:e>
                                        <m:r>
                                          <a:rPr lang="fr-FR" i="1">
                                            <a:latin typeface="Cambria Math"/>
                                          </a:rPr>
                                          <m:t>𝑓</m:t>
                                        </m:r>
                                      </m:e>
                                      <m:sub>
                                        <m:r>
                                          <a:rPr lang="fr-FR" i="1">
                                            <a:latin typeface="Cambria Math"/>
                                          </a:rPr>
                                          <m:t>𝑥</m:t>
                                        </m:r>
                                      </m:sub>
                                    </m:sSub>
                                  </m:e>
                                  <m:sup>
                                    <m:r>
                                      <a:rPr lang="fr-FR" i="1">
                                        <a:latin typeface="Cambria Math"/>
                                      </a:rPr>
                                      <m:t>𝑑</m:t>
                                    </m:r>
                                  </m:sup>
                                </m:sSup>
                                <m:r>
                                  <a:rPr lang="fr-FR" i="1">
                                    <a:latin typeface="Cambria Math"/>
                                  </a:rPr>
                                  <m:t>−</m:t>
                                </m:r>
                                <m:sSub>
                                  <m:sSubPr>
                                    <m:ctrlPr>
                                      <a:rPr lang="fr-FR" i="1">
                                        <a:latin typeface="Cambria Math" panose="02040503050406030204" pitchFamily="18" charset="0"/>
                                      </a:rPr>
                                    </m:ctrlPr>
                                  </m:sSubPr>
                                  <m:e>
                                    <m:r>
                                      <a:rPr lang="fr-FR" i="1">
                                        <a:latin typeface="Cambria Math"/>
                                      </a:rPr>
                                      <m:t>𝑓</m:t>
                                    </m:r>
                                  </m:e>
                                  <m:sub>
                                    <m:r>
                                      <a:rPr lang="fr-FR" i="1">
                                        <a:latin typeface="Cambria Math"/>
                                      </a:rPr>
                                      <m:t>𝑒𝑥</m:t>
                                    </m:r>
                                  </m:sub>
                                </m:sSub>
                              </m:e>
                            </m:d>
                            <m:r>
                              <a:rPr lang="fr-FR" i="1">
                                <a:latin typeface="Cambria Math"/>
                              </a:rPr>
                              <m:t>+</m:t>
                            </m:r>
                            <m:sSub>
                              <m:sSubPr>
                                <m:ctrlPr>
                                  <a:rPr lang="fr-FR" i="1">
                                    <a:latin typeface="Cambria Math" panose="02040503050406030204" pitchFamily="18" charset="0"/>
                                  </a:rPr>
                                </m:ctrlPr>
                              </m:sSubPr>
                              <m:e>
                                <m:r>
                                  <a:rPr lang="fr-FR" i="1">
                                    <a:latin typeface="Cambria Math"/>
                                  </a:rPr>
                                  <m:t>𝑘</m:t>
                                </m:r>
                              </m:e>
                              <m:sub>
                                <m:r>
                                  <a:rPr lang="fr-FR" i="1">
                                    <a:latin typeface="Cambria Math"/>
                                  </a:rPr>
                                  <m:t>𝑥</m:t>
                                </m:r>
                              </m:sub>
                            </m:sSub>
                            <m:sSup>
                              <m:sSupPr>
                                <m:ctrlPr>
                                  <a:rPr lang="fr-FR" i="1">
                                    <a:latin typeface="Cambria Math" panose="02040503050406030204" pitchFamily="18" charset="0"/>
                                  </a:rPr>
                                </m:ctrlPr>
                              </m:sSupPr>
                              <m:e>
                                <m:r>
                                  <a:rPr lang="fr-FR" i="1">
                                    <a:latin typeface="Cambria Math"/>
                                  </a:rPr>
                                  <m:t>𝑥</m:t>
                                </m:r>
                              </m:e>
                              <m:sup>
                                <m:r>
                                  <a:rPr lang="fr-FR" i="1">
                                    <a:latin typeface="Cambria Math"/>
                                  </a:rPr>
                                  <m:t>𝑑</m:t>
                                </m:r>
                              </m:sup>
                            </m:sSup>
                          </m:e>
                          <m:e>
                            <m:sSub>
                              <m:sSubPr>
                                <m:ctrlPr>
                                  <a:rPr lang="fr-FR" i="1">
                                    <a:latin typeface="Cambria Math" panose="02040503050406030204" pitchFamily="18" charset="0"/>
                                  </a:rPr>
                                </m:ctrlPr>
                              </m:sSubPr>
                              <m:e>
                                <m:r>
                                  <a:rPr lang="fr-FR" i="1">
                                    <a:latin typeface="Cambria Math"/>
                                    <a:ea typeface="Cambria Math"/>
                                  </a:rPr>
                                  <m:t>𝜆</m:t>
                                </m:r>
                              </m:e>
                              <m:sub>
                                <m:r>
                                  <a:rPr lang="fr-FR" i="1">
                                    <a:latin typeface="Cambria Math"/>
                                  </a:rPr>
                                  <m:t>𝑦</m:t>
                                </m:r>
                              </m:sub>
                            </m:sSub>
                            <m:acc>
                              <m:accPr>
                                <m:chr m:val="̈"/>
                                <m:ctrlPr>
                                  <a:rPr lang="fr-FR" i="1">
                                    <a:latin typeface="Cambria Math" panose="02040503050406030204" pitchFamily="18" charset="0"/>
                                  </a:rPr>
                                </m:ctrlPr>
                              </m:accPr>
                              <m:e>
                                <m:r>
                                  <a:rPr lang="fr-FR" i="1">
                                    <a:latin typeface="Cambria Math"/>
                                  </a:rPr>
                                  <m:t>𝑦</m:t>
                                </m:r>
                              </m:e>
                            </m:acc>
                            <m:r>
                              <a:rPr lang="fr-FR" i="1">
                                <a:latin typeface="Cambria Math"/>
                              </a:rPr>
                              <m:t>+</m:t>
                            </m:r>
                            <m:sSub>
                              <m:sSubPr>
                                <m:ctrlPr>
                                  <a:rPr lang="fr-FR" i="1">
                                    <a:latin typeface="Cambria Math" panose="02040503050406030204" pitchFamily="18" charset="0"/>
                                  </a:rPr>
                                </m:ctrlPr>
                              </m:sSubPr>
                              <m:e>
                                <m:r>
                                  <a:rPr lang="fr-FR" i="1">
                                    <a:latin typeface="Cambria Math"/>
                                  </a:rPr>
                                  <m:t>𝑏</m:t>
                                </m:r>
                              </m:e>
                              <m:sub>
                                <m:r>
                                  <a:rPr lang="fr-FR" i="1">
                                    <a:latin typeface="Cambria Math"/>
                                  </a:rPr>
                                  <m:t>𝑦</m:t>
                                </m:r>
                              </m:sub>
                            </m:sSub>
                            <m:acc>
                              <m:accPr>
                                <m:chr m:val="̇"/>
                                <m:ctrlPr>
                                  <a:rPr lang="fr-FR" i="1">
                                    <a:latin typeface="Cambria Math" panose="02040503050406030204" pitchFamily="18" charset="0"/>
                                  </a:rPr>
                                </m:ctrlPr>
                              </m:accPr>
                              <m:e>
                                <m:r>
                                  <a:rPr lang="fr-FR" i="1">
                                    <a:latin typeface="Cambria Math"/>
                                  </a:rPr>
                                  <m:t>𝑦</m:t>
                                </m:r>
                              </m:e>
                            </m:acc>
                            <m:r>
                              <a:rPr lang="fr-FR" i="1">
                                <a:latin typeface="Cambria Math"/>
                              </a:rPr>
                              <m:t>+</m:t>
                            </m:r>
                            <m:sSub>
                              <m:sSubPr>
                                <m:ctrlPr>
                                  <a:rPr lang="fr-FR" i="1">
                                    <a:latin typeface="Cambria Math" panose="02040503050406030204" pitchFamily="18" charset="0"/>
                                  </a:rPr>
                                </m:ctrlPr>
                              </m:sSubPr>
                              <m:e>
                                <m:r>
                                  <a:rPr lang="fr-FR" i="1">
                                    <a:latin typeface="Cambria Math"/>
                                  </a:rPr>
                                  <m:t>𝑘</m:t>
                                </m:r>
                              </m:e>
                              <m:sub>
                                <m:r>
                                  <a:rPr lang="fr-FR" i="1">
                                    <a:latin typeface="Cambria Math"/>
                                  </a:rPr>
                                  <m:t>𝑦</m:t>
                                </m:r>
                              </m:sub>
                            </m:sSub>
                            <m:r>
                              <a:rPr lang="fr-FR" i="1">
                                <a:latin typeface="Cambria Math"/>
                              </a:rPr>
                              <m:t>𝑦</m:t>
                            </m:r>
                            <m:r>
                              <a:rPr lang="fr-FR" i="1">
                                <a:latin typeface="Cambria Math"/>
                              </a:rPr>
                              <m:t>=</m:t>
                            </m:r>
                            <m:sSub>
                              <m:sSubPr>
                                <m:ctrlPr>
                                  <a:rPr lang="fr-FR" i="1">
                                    <a:latin typeface="Cambria Math" panose="02040503050406030204" pitchFamily="18" charset="0"/>
                                  </a:rPr>
                                </m:ctrlPr>
                              </m:sSubPr>
                              <m:e>
                                <m:r>
                                  <a:rPr lang="fr-FR" i="1">
                                    <a:latin typeface="Cambria Math"/>
                                  </a:rPr>
                                  <m:t>𝑘</m:t>
                                </m:r>
                              </m:e>
                              <m:sub>
                                <m:r>
                                  <a:rPr lang="fr-FR" i="1">
                                    <a:latin typeface="Cambria Math"/>
                                  </a:rPr>
                                  <m:t>𝑦</m:t>
                                </m:r>
                              </m:sub>
                            </m:sSub>
                            <m:sSup>
                              <m:sSupPr>
                                <m:ctrlPr>
                                  <a:rPr lang="fr-FR" i="1">
                                    <a:latin typeface="Cambria Math" panose="02040503050406030204" pitchFamily="18" charset="0"/>
                                  </a:rPr>
                                </m:ctrlPr>
                              </m:sSupPr>
                              <m:e>
                                <m:r>
                                  <a:rPr lang="fr-FR" i="1">
                                    <a:latin typeface="Cambria Math"/>
                                  </a:rPr>
                                  <m:t>𝑦</m:t>
                                </m:r>
                              </m:e>
                              <m:sup>
                                <m:r>
                                  <a:rPr lang="fr-FR" i="1">
                                    <a:latin typeface="Cambria Math"/>
                                  </a:rPr>
                                  <m:t>𝑑</m:t>
                                </m:r>
                              </m:sup>
                            </m:sSup>
                          </m:e>
                        </m:eqArr>
                      </m:e>
                    </m:d>
                  </m:oMath>
                </a14:m>
                <a:r>
                  <a:rPr lang="fr-FR" dirty="0"/>
                  <a:t>	(1h)</a:t>
                </a:r>
              </a:p>
              <a:p>
                <a:pPr marL="0" indent="0">
                  <a:buNone/>
                </a:pPr>
                <a:endParaRPr lang="fr-FR" dirty="0"/>
              </a:p>
              <a:p>
                <a:pPr marL="0" indent="0">
                  <a:buNone/>
                </a:pPr>
                <a:r>
                  <a:rPr lang="fr-FR" b="1" u="sng" dirty="0"/>
                  <a:t>Rappel</a:t>
                </a:r>
                <a:r>
                  <a:rPr lang="fr-FR" u="sng" dirty="0"/>
                  <a:t> :</a:t>
                </a:r>
              </a:p>
              <a:p>
                <a:pPr marL="0" indent="0">
                  <a:buNone/>
                </a:pPr>
                <a14:m>
                  <m:oMathPara xmlns:m="http://schemas.openxmlformats.org/officeDocument/2006/math">
                    <m:oMathParaPr>
                      <m:jc m:val="left"/>
                    </m:oMathParaPr>
                    <m:oMath xmlns:m="http://schemas.openxmlformats.org/officeDocument/2006/math">
                      <m:r>
                        <a:rPr lang="fr-FR" b="1">
                          <a:latin typeface="Cambria Math"/>
                        </a:rPr>
                        <m:t>𝐱</m:t>
                      </m:r>
                      <m:r>
                        <a:rPr lang="fr-FR" i="1">
                          <a:latin typeface="Cambria Math"/>
                        </a:rPr>
                        <m:t>=</m:t>
                      </m:r>
                      <m:sSup>
                        <m:sSupPr>
                          <m:ctrlPr>
                            <a:rPr lang="fr-FR" i="1">
                              <a:latin typeface="Cambria Math" panose="02040503050406030204" pitchFamily="18" charset="0"/>
                            </a:rPr>
                          </m:ctrlPr>
                        </m:sSupPr>
                        <m:e>
                          <m:d>
                            <m:dPr>
                              <m:begChr m:val="["/>
                              <m:endChr m:val="]"/>
                              <m:ctrlPr>
                                <a:rPr lang="fr-FR" i="1">
                                  <a:latin typeface="Cambria Math" panose="02040503050406030204" pitchFamily="18" charset="0"/>
                                </a:rPr>
                              </m:ctrlPr>
                            </m:dPr>
                            <m:e>
                              <m:m>
                                <m:mPr>
                                  <m:mcs>
                                    <m:mc>
                                      <m:mcPr>
                                        <m:count m:val="2"/>
                                        <m:mcJc m:val="center"/>
                                      </m:mcPr>
                                    </m:mc>
                                  </m:mcs>
                                  <m:ctrlPr>
                                    <a:rPr lang="fr-FR" i="1">
                                      <a:latin typeface="Cambria Math" panose="02040503050406030204" pitchFamily="18" charset="0"/>
                                    </a:rPr>
                                  </m:ctrlPr>
                                </m:mPr>
                                <m:mr>
                                  <m:e>
                                    <m:r>
                                      <m:rPr>
                                        <m:brk m:alnAt="7"/>
                                      </m:rPr>
                                      <a:rPr lang="fr-FR" i="1">
                                        <a:latin typeface="Cambria Math"/>
                                      </a:rPr>
                                      <m:t>𝑥</m:t>
                                    </m:r>
                                  </m:e>
                                  <m:e>
                                    <m:r>
                                      <a:rPr lang="fr-FR" i="1">
                                        <a:latin typeface="Cambria Math"/>
                                      </a:rPr>
                                      <m:t>𝑦</m:t>
                                    </m:r>
                                  </m:e>
                                </m:mr>
                              </m:m>
                            </m:e>
                          </m:d>
                        </m:e>
                        <m:sup>
                          <m:r>
                            <a:rPr lang="fr-FR" i="1">
                              <a:latin typeface="Cambria Math"/>
                            </a:rPr>
                            <m:t>𝑇</m:t>
                          </m:r>
                        </m:sup>
                      </m:sSup>
                      <m:r>
                        <a:rPr lang="fr-FR" i="1">
                          <a:latin typeface="Cambria Math"/>
                        </a:rPr>
                        <m:t>; </m:t>
                      </m:r>
                      <m:sSup>
                        <m:sSupPr>
                          <m:ctrlPr>
                            <a:rPr lang="fr-FR" i="1" smtClean="0">
                              <a:latin typeface="Cambria Math" panose="02040503050406030204" pitchFamily="18" charset="0"/>
                            </a:rPr>
                          </m:ctrlPr>
                        </m:sSupPr>
                        <m:e>
                          <m:r>
                            <a:rPr lang="fr-FR" b="1" i="0" smtClean="0">
                              <a:latin typeface="Cambria Math"/>
                            </a:rPr>
                            <m:t>𝐱</m:t>
                          </m:r>
                        </m:e>
                        <m:sup>
                          <m:r>
                            <a:rPr lang="fr-FR" b="0" i="1" smtClean="0">
                              <a:latin typeface="Cambria Math"/>
                            </a:rPr>
                            <m:t>𝑑</m:t>
                          </m:r>
                        </m:sup>
                      </m:sSup>
                      <m:r>
                        <a:rPr lang="fr-FR" b="0" i="1" smtClean="0">
                          <a:latin typeface="Cambria Math"/>
                        </a:rPr>
                        <m:t>=</m:t>
                      </m:r>
                      <m:sSup>
                        <m:sSupPr>
                          <m:ctrlPr>
                            <a:rPr lang="fr-FR" b="0" i="1" smtClean="0">
                              <a:latin typeface="Cambria Math" panose="02040503050406030204" pitchFamily="18" charset="0"/>
                            </a:rPr>
                          </m:ctrlPr>
                        </m:sSupPr>
                        <m:e>
                          <m:d>
                            <m:dPr>
                              <m:begChr m:val="["/>
                              <m:endChr m:val="]"/>
                              <m:ctrlPr>
                                <a:rPr lang="fr-FR" b="0" i="1" smtClean="0">
                                  <a:latin typeface="Cambria Math" panose="02040503050406030204" pitchFamily="18" charset="0"/>
                                </a:rPr>
                              </m:ctrlPr>
                            </m:dPr>
                            <m:e>
                              <m:m>
                                <m:mPr>
                                  <m:mcs>
                                    <m:mc>
                                      <m:mcPr>
                                        <m:count m:val="2"/>
                                        <m:mcJc m:val="center"/>
                                      </m:mcPr>
                                    </m:mc>
                                  </m:mcs>
                                  <m:ctrlPr>
                                    <a:rPr lang="fr-FR" b="0" i="1" smtClean="0">
                                      <a:latin typeface="Cambria Math" panose="02040503050406030204" pitchFamily="18" charset="0"/>
                                    </a:rPr>
                                  </m:ctrlPr>
                                </m:mPr>
                                <m:mr>
                                  <m:e>
                                    <m:sSup>
                                      <m:sSupPr>
                                        <m:ctrlPr>
                                          <a:rPr lang="fr-FR" b="0" i="1" smtClean="0">
                                            <a:latin typeface="Cambria Math" panose="02040503050406030204" pitchFamily="18" charset="0"/>
                                          </a:rPr>
                                        </m:ctrlPr>
                                      </m:sSupPr>
                                      <m:e>
                                        <m:r>
                                          <a:rPr lang="fr-FR" b="0" i="1" smtClean="0">
                                            <a:latin typeface="Cambria Math"/>
                                          </a:rPr>
                                          <m:t>𝑥</m:t>
                                        </m:r>
                                      </m:e>
                                      <m:sup>
                                        <m:r>
                                          <a:rPr lang="fr-FR" b="0" i="1" smtClean="0">
                                            <a:latin typeface="Cambria Math"/>
                                          </a:rPr>
                                          <m:t>𝑑</m:t>
                                        </m:r>
                                      </m:sup>
                                    </m:sSup>
                                  </m:e>
                                  <m:e>
                                    <m:sSup>
                                      <m:sSupPr>
                                        <m:ctrlPr>
                                          <a:rPr lang="fr-FR" b="0" i="1" smtClean="0">
                                            <a:latin typeface="Cambria Math" panose="02040503050406030204" pitchFamily="18" charset="0"/>
                                          </a:rPr>
                                        </m:ctrlPr>
                                      </m:sSupPr>
                                      <m:e>
                                        <m:r>
                                          <a:rPr lang="fr-FR" b="0" i="1" smtClean="0">
                                            <a:latin typeface="Cambria Math"/>
                                          </a:rPr>
                                          <m:t>𝑦</m:t>
                                        </m:r>
                                      </m:e>
                                      <m:sup>
                                        <m:r>
                                          <a:rPr lang="fr-FR" b="0" i="1" smtClean="0">
                                            <a:latin typeface="Cambria Math"/>
                                          </a:rPr>
                                          <m:t>𝑑</m:t>
                                        </m:r>
                                      </m:sup>
                                    </m:sSup>
                                  </m:e>
                                </m:mr>
                              </m:m>
                            </m:e>
                          </m:d>
                        </m:e>
                        <m:sup>
                          <m:r>
                            <a:rPr lang="fr-FR" b="0" i="1" smtClean="0">
                              <a:latin typeface="Cambria Math"/>
                            </a:rPr>
                            <m:t>𝑇</m:t>
                          </m:r>
                        </m:sup>
                      </m:sSup>
                    </m:oMath>
                  </m:oMathPara>
                </a14:m>
                <a:endParaRPr lang="fr-FR" dirty="0"/>
              </a:p>
              <a:p>
                <a:pPr marL="0" indent="0">
                  <a:buNone/>
                </a:pPr>
                <a14:m>
                  <m:oMath xmlns:m="http://schemas.openxmlformats.org/officeDocument/2006/math">
                    <m:r>
                      <a:rPr lang="el-GR" b="1">
                        <a:latin typeface="Cambria Math"/>
                        <a:ea typeface="Cambria Math"/>
                      </a:rPr>
                      <m:t>𝚲</m:t>
                    </m:r>
                    <m:r>
                      <a:rPr lang="fr-FR" b="1">
                        <a:latin typeface="Cambria Math"/>
                        <a:ea typeface="Cambria Math"/>
                      </a:rPr>
                      <m:t>=</m:t>
                    </m:r>
                    <m:r>
                      <a:rPr lang="fr-FR" i="1">
                        <a:latin typeface="Cambria Math"/>
                        <a:ea typeface="Cambria Math"/>
                      </a:rPr>
                      <m:t>𝑑𝑖𝑎𝑔</m:t>
                    </m:r>
                    <m:d>
                      <m:dPr>
                        <m:ctrlPr>
                          <a:rPr lang="fr-FR" i="1">
                            <a:latin typeface="Cambria Math" panose="02040503050406030204" pitchFamily="18" charset="0"/>
                            <a:ea typeface="Cambria Math"/>
                          </a:rPr>
                        </m:ctrlPr>
                      </m:dPr>
                      <m:e>
                        <m:sSub>
                          <m:sSubPr>
                            <m:ctrlPr>
                              <a:rPr lang="fr-FR" i="1">
                                <a:latin typeface="Cambria Math" panose="02040503050406030204" pitchFamily="18" charset="0"/>
                                <a:ea typeface="Cambria Math"/>
                              </a:rPr>
                            </m:ctrlPr>
                          </m:sSubPr>
                          <m:e>
                            <m:r>
                              <a:rPr lang="fr-FR" i="1">
                                <a:latin typeface="Cambria Math"/>
                                <a:ea typeface="Cambria Math"/>
                              </a:rPr>
                              <m:t>𝜆</m:t>
                            </m:r>
                          </m:e>
                          <m:sub>
                            <m:r>
                              <a:rPr lang="fr-FR" i="1">
                                <a:latin typeface="Cambria Math"/>
                                <a:ea typeface="Cambria Math"/>
                              </a:rPr>
                              <m:t>𝑥</m:t>
                            </m:r>
                          </m:sub>
                        </m:sSub>
                        <m:r>
                          <a:rPr lang="fr-FR" i="1">
                            <a:latin typeface="Cambria Math"/>
                            <a:ea typeface="Cambria Math"/>
                          </a:rPr>
                          <m:t>,</m:t>
                        </m:r>
                        <m:sSub>
                          <m:sSubPr>
                            <m:ctrlPr>
                              <a:rPr lang="fr-FR" i="1">
                                <a:latin typeface="Cambria Math" panose="02040503050406030204" pitchFamily="18" charset="0"/>
                                <a:ea typeface="Cambria Math"/>
                              </a:rPr>
                            </m:ctrlPr>
                          </m:sSubPr>
                          <m:e>
                            <m:r>
                              <a:rPr lang="fr-FR" i="1">
                                <a:latin typeface="Cambria Math"/>
                                <a:ea typeface="Cambria Math"/>
                              </a:rPr>
                              <m:t>𝜆</m:t>
                            </m:r>
                          </m:e>
                          <m:sub>
                            <m:r>
                              <a:rPr lang="fr-FR" i="1">
                                <a:latin typeface="Cambria Math"/>
                                <a:ea typeface="Cambria Math"/>
                              </a:rPr>
                              <m:t>𝑦</m:t>
                            </m:r>
                          </m:sub>
                        </m:sSub>
                      </m:e>
                    </m:d>
                    <m:r>
                      <a:rPr lang="fr-FR" b="1">
                        <a:latin typeface="Cambria Math"/>
                        <a:ea typeface="Cambria Math"/>
                      </a:rPr>
                      <m:t> ;</m:t>
                    </m:r>
                    <m:r>
                      <a:rPr lang="fr-FR" b="1">
                        <a:latin typeface="Cambria Math"/>
                      </a:rPr>
                      <m:t>𝐁</m:t>
                    </m:r>
                    <m:r>
                      <a:rPr lang="fr-FR" i="1">
                        <a:latin typeface="Cambria Math"/>
                      </a:rPr>
                      <m:t>=</m:t>
                    </m:r>
                    <m:r>
                      <a:rPr lang="fr-FR" i="1">
                        <a:latin typeface="Cambria Math"/>
                      </a:rPr>
                      <m:t>𝑑𝑖𝑎𝑔</m:t>
                    </m:r>
                    <m:r>
                      <a:rPr lang="fr-FR" i="1">
                        <a:latin typeface="Cambria Math"/>
                      </a:rPr>
                      <m:t>(</m:t>
                    </m:r>
                    <m:sSub>
                      <m:sSubPr>
                        <m:ctrlPr>
                          <a:rPr lang="fr-FR" i="1">
                            <a:latin typeface="Cambria Math" panose="02040503050406030204" pitchFamily="18" charset="0"/>
                          </a:rPr>
                        </m:ctrlPr>
                      </m:sSubPr>
                      <m:e>
                        <m:r>
                          <a:rPr lang="fr-FR" i="1">
                            <a:latin typeface="Cambria Math"/>
                          </a:rPr>
                          <m:t>𝑏</m:t>
                        </m:r>
                      </m:e>
                      <m:sub>
                        <m:r>
                          <a:rPr lang="fr-FR" i="1">
                            <a:latin typeface="Cambria Math"/>
                          </a:rPr>
                          <m:t>𝑥</m:t>
                        </m:r>
                      </m:sub>
                    </m:sSub>
                    <m:r>
                      <a:rPr lang="fr-FR" i="1">
                        <a:latin typeface="Cambria Math"/>
                      </a:rPr>
                      <m:t>,</m:t>
                    </m:r>
                    <m:sSub>
                      <m:sSubPr>
                        <m:ctrlPr>
                          <a:rPr lang="fr-FR" i="1">
                            <a:latin typeface="Cambria Math" panose="02040503050406030204" pitchFamily="18" charset="0"/>
                          </a:rPr>
                        </m:ctrlPr>
                      </m:sSubPr>
                      <m:e>
                        <m:r>
                          <a:rPr lang="fr-FR" i="1">
                            <a:latin typeface="Cambria Math"/>
                          </a:rPr>
                          <m:t>𝑏</m:t>
                        </m:r>
                      </m:e>
                      <m:sub>
                        <m:r>
                          <a:rPr lang="fr-FR" i="1">
                            <a:latin typeface="Cambria Math"/>
                          </a:rPr>
                          <m:t>𝑦</m:t>
                        </m:r>
                      </m:sub>
                    </m:sSub>
                    <m:r>
                      <a:rPr lang="fr-FR" i="1">
                        <a:latin typeface="Cambria Math"/>
                      </a:rPr>
                      <m:t>)</m:t>
                    </m:r>
                  </m:oMath>
                </a14:m>
                <a:r>
                  <a:rPr lang="fr-FR" b="1" dirty="0"/>
                  <a:t> </a:t>
                </a:r>
                <a:r>
                  <a:rPr lang="fr-FR" dirty="0"/>
                  <a:t>; </a:t>
                </a:r>
                <a14:m>
                  <m:oMath xmlns:m="http://schemas.openxmlformats.org/officeDocument/2006/math">
                    <m:r>
                      <a:rPr lang="fr-FR" b="1">
                        <a:latin typeface="Cambria Math"/>
                      </a:rPr>
                      <m:t>𝐊</m:t>
                    </m:r>
                    <m:r>
                      <a:rPr lang="fr-FR" i="1">
                        <a:latin typeface="Cambria Math"/>
                      </a:rPr>
                      <m:t>=</m:t>
                    </m:r>
                    <m:r>
                      <a:rPr lang="fr-FR" i="1">
                        <a:latin typeface="Cambria Math"/>
                      </a:rPr>
                      <m:t>𝑑𝑖𝑎𝑔</m:t>
                    </m:r>
                    <m:r>
                      <a:rPr lang="fr-FR" i="1">
                        <a:latin typeface="Cambria Math"/>
                      </a:rPr>
                      <m:t>(</m:t>
                    </m:r>
                    <m:sSub>
                      <m:sSubPr>
                        <m:ctrlPr>
                          <a:rPr lang="fr-FR" i="1">
                            <a:latin typeface="Cambria Math" panose="02040503050406030204" pitchFamily="18" charset="0"/>
                          </a:rPr>
                        </m:ctrlPr>
                      </m:sSubPr>
                      <m:e>
                        <m:r>
                          <a:rPr lang="fr-FR" i="1">
                            <a:latin typeface="Cambria Math"/>
                          </a:rPr>
                          <m:t>𝑘</m:t>
                        </m:r>
                      </m:e>
                      <m:sub>
                        <m:r>
                          <a:rPr lang="fr-FR" i="1">
                            <a:latin typeface="Cambria Math"/>
                          </a:rPr>
                          <m:t>𝑥</m:t>
                        </m:r>
                      </m:sub>
                    </m:sSub>
                    <m:r>
                      <a:rPr lang="fr-FR" i="1">
                        <a:latin typeface="Cambria Math"/>
                      </a:rPr>
                      <m:t>,</m:t>
                    </m:r>
                    <m:sSub>
                      <m:sSubPr>
                        <m:ctrlPr>
                          <a:rPr lang="fr-FR" i="1">
                            <a:latin typeface="Cambria Math" panose="02040503050406030204" pitchFamily="18" charset="0"/>
                          </a:rPr>
                        </m:ctrlPr>
                      </m:sSubPr>
                      <m:e>
                        <m:r>
                          <a:rPr lang="fr-FR" i="1">
                            <a:latin typeface="Cambria Math"/>
                          </a:rPr>
                          <m:t>𝑘</m:t>
                        </m:r>
                      </m:e>
                      <m:sub>
                        <m:r>
                          <a:rPr lang="fr-FR" i="1">
                            <a:latin typeface="Cambria Math"/>
                          </a:rPr>
                          <m:t>𝑦</m:t>
                        </m:r>
                      </m:sub>
                    </m:sSub>
                    <m:r>
                      <a:rPr lang="fr-FR" i="1">
                        <a:latin typeface="Cambria Math"/>
                      </a:rPr>
                      <m:t>)</m:t>
                    </m:r>
                  </m:oMath>
                </a14:m>
                <a:endParaRPr lang="fr-FR" dirty="0"/>
              </a:p>
              <a:p>
                <a:pPr marL="0" indent="0">
                  <a:buNone/>
                </a:pPr>
                <a14:m>
                  <m:oMathPara xmlns:m="http://schemas.openxmlformats.org/officeDocument/2006/math">
                    <m:oMathParaPr>
                      <m:jc m:val="left"/>
                    </m:oMathParaPr>
                    <m:oMath xmlns:m="http://schemas.openxmlformats.org/officeDocument/2006/math">
                      <m:sSub>
                        <m:sSubPr>
                          <m:ctrlPr>
                            <a:rPr lang="fr-FR" i="1">
                              <a:latin typeface="Cambria Math" panose="02040503050406030204" pitchFamily="18" charset="0"/>
                            </a:rPr>
                          </m:ctrlPr>
                        </m:sSubPr>
                        <m:e>
                          <m:r>
                            <a:rPr lang="fr-FR" b="1">
                              <a:latin typeface="Cambria Math"/>
                            </a:rPr>
                            <m:t>𝐂</m:t>
                          </m:r>
                        </m:e>
                        <m:sub>
                          <m:r>
                            <a:rPr lang="fr-FR" i="1">
                              <a:latin typeface="Cambria Math"/>
                              <a:ea typeface="Cambria Math"/>
                            </a:rPr>
                            <m:t>𝕗</m:t>
                          </m:r>
                        </m:sub>
                      </m:sSub>
                      <m:r>
                        <a:rPr lang="fr-FR">
                          <a:latin typeface="Cambria Math"/>
                        </a:rPr>
                        <m:t>=</m:t>
                      </m:r>
                      <m:r>
                        <a:rPr lang="fr-FR" i="1">
                          <a:latin typeface="Cambria Math"/>
                        </a:rPr>
                        <m:t>𝑑𝑖𝑎𝑔</m:t>
                      </m:r>
                      <m:r>
                        <a:rPr lang="fr-FR">
                          <a:latin typeface="Cambria Math"/>
                        </a:rPr>
                        <m:t>(</m:t>
                      </m:r>
                      <m:sSub>
                        <m:sSubPr>
                          <m:ctrlPr>
                            <a:rPr lang="fr-FR" i="1">
                              <a:latin typeface="Cambria Math" panose="02040503050406030204" pitchFamily="18" charset="0"/>
                            </a:rPr>
                          </m:ctrlPr>
                        </m:sSubPr>
                        <m:e>
                          <m:r>
                            <a:rPr lang="fr-FR" i="1">
                              <a:latin typeface="Cambria Math"/>
                            </a:rPr>
                            <m:t>𝑐</m:t>
                          </m:r>
                        </m:e>
                        <m:sub>
                          <m:sSub>
                            <m:sSubPr>
                              <m:ctrlPr>
                                <a:rPr lang="fr-FR" i="1">
                                  <a:latin typeface="Cambria Math" panose="02040503050406030204" pitchFamily="18" charset="0"/>
                                </a:rPr>
                              </m:ctrlPr>
                            </m:sSubPr>
                            <m:e>
                              <m:r>
                                <a:rPr lang="fr-FR" i="1">
                                  <a:latin typeface="Cambria Math"/>
                                </a:rPr>
                                <m:t>𝑓</m:t>
                              </m:r>
                            </m:e>
                            <m:sub>
                              <m:r>
                                <a:rPr lang="fr-FR" i="1">
                                  <a:latin typeface="Cambria Math"/>
                                </a:rPr>
                                <m:t>𝑥</m:t>
                              </m:r>
                            </m:sub>
                          </m:sSub>
                        </m:sub>
                      </m:sSub>
                      <m:r>
                        <a:rPr lang="fr-FR" i="1">
                          <a:latin typeface="Cambria Math"/>
                        </a:rPr>
                        <m:t>,</m:t>
                      </m:r>
                      <m:r>
                        <a:rPr lang="fr-FR" b="0" i="0" smtClean="0">
                          <a:latin typeface="Cambria Math"/>
                        </a:rPr>
                        <m:t>0</m:t>
                      </m:r>
                      <m:r>
                        <a:rPr lang="fr-FR">
                          <a:latin typeface="Cambria Math"/>
                        </a:rPr>
                        <m:t>)</m:t>
                      </m:r>
                    </m:oMath>
                  </m:oMathPara>
                </a14:m>
                <a:endParaRPr lang="fr-FR" dirty="0"/>
              </a:p>
              <a:p>
                <a:pPr marL="0" indent="0">
                  <a:buNone/>
                </a:pPr>
                <a:endParaRPr lang="fr-FR" dirty="0"/>
              </a:p>
              <a:p>
                <a:endParaRPr lang="fr-FR"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3"/>
                <a:stretch>
                  <a:fillRect l="-1096" t="-884"/>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hybride position/force</a:t>
            </a:r>
          </a:p>
        </p:txBody>
      </p:sp>
    </p:spTree>
    <p:extLst>
      <p:ext uri="{BB962C8B-B14F-4D97-AF65-F5344CB8AC3E}">
        <p14:creationId xmlns:p14="http://schemas.microsoft.com/office/powerpoint/2010/main" val="99930486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r>
                  <a:rPr lang="fr-FR" dirty="0"/>
                  <a:t>L’équation (1h.1) permet de définir la dynamique de l’effort de contact suivant l’axe </a:t>
                </a:r>
                <a14:m>
                  <m:oMath xmlns:m="http://schemas.openxmlformats.org/officeDocument/2006/math">
                    <m:r>
                      <a:rPr lang="fr-FR" b="0" i="1" smtClean="0">
                        <a:latin typeface="Cambria Math"/>
                      </a:rPr>
                      <m:t>𝑥</m:t>
                    </m:r>
                  </m:oMath>
                </a14:m>
                <a:r>
                  <a:rPr lang="fr-FR" dirty="0"/>
                  <a:t>, tandis que l’équation (1h.2) permet de caractériser la dynamique de mouvement de l’OT suivant l’axe </a:t>
                </a:r>
                <a14:m>
                  <m:oMath xmlns:m="http://schemas.openxmlformats.org/officeDocument/2006/math">
                    <m:r>
                      <a:rPr lang="fr-FR" b="0" i="1" smtClean="0">
                        <a:latin typeface="Cambria Math"/>
                      </a:rPr>
                      <m:t>𝑦</m:t>
                    </m:r>
                  </m:oMath>
                </a14:m>
                <a:r>
                  <a:rPr lang="fr-FR" dirty="0"/>
                  <a:t>. </a:t>
                </a:r>
              </a:p>
              <a:p>
                <a:pPr marL="0" indent="0">
                  <a:buNone/>
                </a:pPr>
                <a:endParaRPr lang="fr-FR" dirty="0"/>
              </a:p>
              <a:p>
                <a:pPr marL="0" indent="0">
                  <a:buNone/>
                </a:pPr>
                <a:r>
                  <a:rPr lang="fr-FR" dirty="0"/>
                  <a:t>La transformée de Laplace de l’équation (1h.2) donne :</a:t>
                </a:r>
              </a:p>
              <a:p>
                <a:pPr marL="0" indent="0" algn="ctr">
                  <a:buNone/>
                </a:pPr>
                <a:r>
                  <a:rPr lang="fr-FR" dirty="0"/>
                  <a:t> </a:t>
                </a:r>
                <a14:m>
                  <m:oMath xmlns:m="http://schemas.openxmlformats.org/officeDocument/2006/math">
                    <m:f>
                      <m:fPr>
                        <m:ctrlPr>
                          <a:rPr lang="fr-FR" i="1" smtClean="0">
                            <a:latin typeface="Cambria Math" panose="02040503050406030204" pitchFamily="18" charset="0"/>
                          </a:rPr>
                        </m:ctrlPr>
                      </m:fPr>
                      <m:num>
                        <m:r>
                          <a:rPr lang="fr-FR" b="0" i="1" smtClean="0">
                            <a:latin typeface="Cambria Math"/>
                          </a:rPr>
                          <m:t>𝑦</m:t>
                        </m:r>
                      </m:num>
                      <m:den>
                        <m:sSup>
                          <m:sSupPr>
                            <m:ctrlPr>
                              <a:rPr lang="fr-FR" i="1" smtClean="0">
                                <a:latin typeface="Cambria Math" panose="02040503050406030204" pitchFamily="18" charset="0"/>
                              </a:rPr>
                            </m:ctrlPr>
                          </m:sSupPr>
                          <m:e>
                            <m:r>
                              <a:rPr lang="fr-FR" b="0" i="1" smtClean="0">
                                <a:latin typeface="Cambria Math"/>
                              </a:rPr>
                              <m:t>𝑦</m:t>
                            </m:r>
                          </m:e>
                          <m:sup>
                            <m:r>
                              <a:rPr lang="fr-FR" b="0" i="1" smtClean="0">
                                <a:latin typeface="Cambria Math"/>
                              </a:rPr>
                              <m:t>𝑑</m:t>
                            </m:r>
                          </m:sup>
                        </m:sSup>
                      </m:den>
                    </m:f>
                    <m:r>
                      <a:rPr lang="fr-FR" b="0" i="1" smtClean="0">
                        <a:latin typeface="Cambria Math"/>
                      </a:rPr>
                      <m:t>=</m:t>
                    </m:r>
                    <m:f>
                      <m:fPr>
                        <m:ctrlPr>
                          <a:rPr lang="fr-FR" b="0" i="1" smtClean="0">
                            <a:latin typeface="Cambria Math" panose="02040503050406030204" pitchFamily="18" charset="0"/>
                          </a:rPr>
                        </m:ctrlPr>
                      </m:fPr>
                      <m:num>
                        <m:sSub>
                          <m:sSubPr>
                            <m:ctrlPr>
                              <a:rPr lang="fr-FR" b="0" i="1" smtClean="0">
                                <a:latin typeface="Cambria Math" panose="02040503050406030204" pitchFamily="18" charset="0"/>
                              </a:rPr>
                            </m:ctrlPr>
                          </m:sSubPr>
                          <m:e>
                            <m:r>
                              <a:rPr lang="fr-FR" b="0" i="1" smtClean="0">
                                <a:latin typeface="Cambria Math"/>
                              </a:rPr>
                              <m:t>𝑘</m:t>
                            </m:r>
                          </m:e>
                          <m:sub>
                            <m:r>
                              <a:rPr lang="fr-FR" b="0" i="1" smtClean="0">
                                <a:latin typeface="Cambria Math"/>
                              </a:rPr>
                              <m:t>𝑦</m:t>
                            </m:r>
                          </m:sub>
                        </m:sSub>
                      </m:num>
                      <m:den>
                        <m:sSub>
                          <m:sSubPr>
                            <m:ctrlPr>
                              <a:rPr lang="fr-FR" b="0" i="1" smtClean="0">
                                <a:latin typeface="Cambria Math" panose="02040503050406030204" pitchFamily="18" charset="0"/>
                              </a:rPr>
                            </m:ctrlPr>
                          </m:sSubPr>
                          <m:e>
                            <m:r>
                              <a:rPr lang="fr-FR" b="0" i="1" smtClean="0">
                                <a:latin typeface="Cambria Math"/>
                                <a:ea typeface="Cambria Math"/>
                              </a:rPr>
                              <m:t>𝜆</m:t>
                            </m:r>
                          </m:e>
                          <m:sub>
                            <m:r>
                              <a:rPr lang="fr-FR" b="0" i="1" smtClean="0">
                                <a:latin typeface="Cambria Math"/>
                              </a:rPr>
                              <m:t>𝑦</m:t>
                            </m:r>
                          </m:sub>
                        </m:sSub>
                        <m:sSup>
                          <m:sSupPr>
                            <m:ctrlPr>
                              <a:rPr lang="fr-FR" b="0" i="1" smtClean="0">
                                <a:latin typeface="Cambria Math" panose="02040503050406030204" pitchFamily="18" charset="0"/>
                              </a:rPr>
                            </m:ctrlPr>
                          </m:sSupPr>
                          <m:e>
                            <m:r>
                              <a:rPr lang="fr-FR" b="0" i="1" smtClean="0">
                                <a:latin typeface="Cambria Math"/>
                              </a:rPr>
                              <m:t>𝑠</m:t>
                            </m:r>
                          </m:e>
                          <m:sup>
                            <m:r>
                              <a:rPr lang="fr-FR" b="0" i="1" smtClean="0">
                                <a:latin typeface="Cambria Math"/>
                              </a:rPr>
                              <m:t>2</m:t>
                            </m:r>
                          </m:sup>
                        </m:sSup>
                        <m:r>
                          <a:rPr lang="fr-FR" b="0" i="1" smtClean="0">
                            <a:latin typeface="Cambria Math"/>
                          </a:rPr>
                          <m:t>+</m:t>
                        </m:r>
                        <m:sSub>
                          <m:sSubPr>
                            <m:ctrlPr>
                              <a:rPr lang="fr-FR" b="0" i="1" smtClean="0">
                                <a:latin typeface="Cambria Math" panose="02040503050406030204" pitchFamily="18" charset="0"/>
                              </a:rPr>
                            </m:ctrlPr>
                          </m:sSubPr>
                          <m:e>
                            <m:r>
                              <a:rPr lang="fr-FR" b="0" i="1" smtClean="0">
                                <a:latin typeface="Cambria Math"/>
                              </a:rPr>
                              <m:t>𝑏</m:t>
                            </m:r>
                          </m:e>
                          <m:sub>
                            <m:r>
                              <a:rPr lang="fr-FR" b="0" i="1" smtClean="0">
                                <a:latin typeface="Cambria Math"/>
                              </a:rPr>
                              <m:t>𝑦</m:t>
                            </m:r>
                          </m:sub>
                        </m:sSub>
                        <m:r>
                          <a:rPr lang="fr-FR" b="0" i="1" smtClean="0">
                            <a:latin typeface="Cambria Math"/>
                          </a:rPr>
                          <m:t>𝑠</m:t>
                        </m:r>
                        <m:r>
                          <a:rPr lang="fr-FR" b="0" i="1" smtClean="0">
                            <a:latin typeface="Cambria Math"/>
                          </a:rPr>
                          <m:t>+</m:t>
                        </m:r>
                        <m:sSub>
                          <m:sSubPr>
                            <m:ctrlPr>
                              <a:rPr lang="fr-FR" b="0" i="1" smtClean="0">
                                <a:latin typeface="Cambria Math" panose="02040503050406030204" pitchFamily="18" charset="0"/>
                              </a:rPr>
                            </m:ctrlPr>
                          </m:sSubPr>
                          <m:e>
                            <m:r>
                              <a:rPr lang="fr-FR" b="0" i="1" smtClean="0">
                                <a:latin typeface="Cambria Math"/>
                              </a:rPr>
                              <m:t>𝑘</m:t>
                            </m:r>
                          </m:e>
                          <m:sub>
                            <m:r>
                              <a:rPr lang="fr-FR" b="0" i="1" smtClean="0">
                                <a:latin typeface="Cambria Math"/>
                              </a:rPr>
                              <m:t>𝑦</m:t>
                            </m:r>
                          </m:sub>
                        </m:sSub>
                      </m:den>
                    </m:f>
                  </m:oMath>
                </a14:m>
                <a:endParaRPr lang="fr-FR" dirty="0"/>
              </a:p>
              <a:p>
                <a:pPr marL="0" indent="0" algn="ctr">
                  <a:buNone/>
                </a:pPr>
                <a:endParaRPr lang="fr-FR" dirty="0"/>
              </a:p>
              <a:p>
                <a:pPr marL="0" indent="0">
                  <a:buNone/>
                </a:pPr>
                <a:r>
                  <a:rPr lang="fr-FR" dirty="0"/>
                  <a:t>Le choix des gains </a:t>
                </a:r>
                <a14:m>
                  <m:oMath xmlns:m="http://schemas.openxmlformats.org/officeDocument/2006/math">
                    <m:sSub>
                      <m:sSubPr>
                        <m:ctrlPr>
                          <a:rPr lang="fr-FR" i="1" smtClean="0">
                            <a:latin typeface="Cambria Math" panose="02040503050406030204" pitchFamily="18" charset="0"/>
                          </a:rPr>
                        </m:ctrlPr>
                      </m:sSubPr>
                      <m:e>
                        <m:r>
                          <a:rPr lang="fr-FR" i="1" smtClean="0">
                            <a:latin typeface="Cambria Math"/>
                            <a:ea typeface="Cambria Math"/>
                          </a:rPr>
                          <m:t>𝜆</m:t>
                        </m:r>
                      </m:e>
                      <m:sub>
                        <m:r>
                          <a:rPr lang="fr-FR" b="0" i="1" smtClean="0">
                            <a:latin typeface="Cambria Math"/>
                          </a:rPr>
                          <m:t>𝑦</m:t>
                        </m:r>
                      </m:sub>
                    </m:sSub>
                    <m:r>
                      <a:rPr lang="fr-FR" b="0" i="1" smtClean="0">
                        <a:latin typeface="Cambria Math"/>
                      </a:rPr>
                      <m:t>,</m:t>
                    </m:r>
                    <m:sSub>
                      <m:sSubPr>
                        <m:ctrlPr>
                          <a:rPr lang="fr-FR" b="0" i="1" smtClean="0">
                            <a:latin typeface="Cambria Math" panose="02040503050406030204" pitchFamily="18" charset="0"/>
                          </a:rPr>
                        </m:ctrlPr>
                      </m:sSubPr>
                      <m:e>
                        <m:r>
                          <a:rPr lang="fr-FR" b="0" i="1" smtClean="0">
                            <a:latin typeface="Cambria Math"/>
                          </a:rPr>
                          <m:t>𝑏</m:t>
                        </m:r>
                      </m:e>
                      <m:sub>
                        <m:r>
                          <a:rPr lang="fr-FR" b="0" i="1" smtClean="0">
                            <a:latin typeface="Cambria Math"/>
                          </a:rPr>
                          <m:t>𝑦</m:t>
                        </m:r>
                      </m:sub>
                    </m:sSub>
                  </m:oMath>
                </a14:m>
                <a:r>
                  <a:rPr lang="fr-FR" dirty="0"/>
                  <a:t> et </a:t>
                </a:r>
                <a14:m>
                  <m:oMath xmlns:m="http://schemas.openxmlformats.org/officeDocument/2006/math">
                    <m:sSub>
                      <m:sSubPr>
                        <m:ctrlPr>
                          <a:rPr lang="fr-FR" i="1">
                            <a:latin typeface="Cambria Math" panose="02040503050406030204" pitchFamily="18" charset="0"/>
                          </a:rPr>
                        </m:ctrlPr>
                      </m:sSubPr>
                      <m:e>
                        <m:r>
                          <a:rPr lang="fr-FR" i="1">
                            <a:latin typeface="Cambria Math"/>
                          </a:rPr>
                          <m:t>𝑘</m:t>
                        </m:r>
                      </m:e>
                      <m:sub>
                        <m:r>
                          <a:rPr lang="fr-FR" i="1">
                            <a:latin typeface="Cambria Math"/>
                          </a:rPr>
                          <m:t>𝑦</m:t>
                        </m:r>
                      </m:sub>
                    </m:sSub>
                    <m:r>
                      <a:rPr lang="fr-FR" i="1">
                        <a:latin typeface="Cambria Math"/>
                      </a:rPr>
                      <m:t> </m:t>
                    </m:r>
                  </m:oMath>
                </a14:m>
                <a:r>
                  <a:rPr lang="fr-FR" dirty="0"/>
                  <a:t>permet d’imposer la dynamique de mouvement de l’OT suivant l’axe </a:t>
                </a:r>
                <a14:m>
                  <m:oMath xmlns:m="http://schemas.openxmlformats.org/officeDocument/2006/math">
                    <m:r>
                      <a:rPr lang="fr-FR" b="0" i="1" smtClean="0">
                        <a:latin typeface="Cambria Math"/>
                      </a:rPr>
                      <m:t>𝑦</m:t>
                    </m:r>
                  </m:oMath>
                </a14:m>
                <a:r>
                  <a:rPr lang="fr-FR" dirty="0"/>
                  <a:t>. </a:t>
                </a:r>
              </a:p>
              <a:p>
                <a:pPr marL="0" indent="0">
                  <a:buNone/>
                </a:pPr>
                <a:endParaRPr lang="fr-FR" dirty="0"/>
              </a:p>
              <a:p>
                <a:pPr marL="0" indent="0">
                  <a:buNone/>
                </a:pPr>
                <a:r>
                  <a:rPr lang="fr-FR" dirty="0"/>
                  <a:t>En régime permanant, la position de l’OT suivant l’axe </a:t>
                </a:r>
                <a14:m>
                  <m:oMath xmlns:m="http://schemas.openxmlformats.org/officeDocument/2006/math">
                    <m:r>
                      <a:rPr lang="fr-FR" b="0" i="1" smtClean="0">
                        <a:latin typeface="Cambria Math"/>
                      </a:rPr>
                      <m:t>𝑦</m:t>
                    </m:r>
                  </m:oMath>
                </a14:m>
                <a:r>
                  <a:rPr lang="fr-FR" dirty="0"/>
                  <a:t> converge vers la position désirée </a:t>
                </a:r>
                <a14:m>
                  <m:oMath xmlns:m="http://schemas.openxmlformats.org/officeDocument/2006/math">
                    <m:sSup>
                      <m:sSupPr>
                        <m:ctrlPr>
                          <a:rPr lang="fr-FR" i="1" smtClean="0">
                            <a:latin typeface="Cambria Math" panose="02040503050406030204" pitchFamily="18" charset="0"/>
                          </a:rPr>
                        </m:ctrlPr>
                      </m:sSupPr>
                      <m:e>
                        <m:r>
                          <a:rPr lang="fr-FR" b="0" i="1" smtClean="0">
                            <a:latin typeface="Cambria Math"/>
                          </a:rPr>
                          <m:t>𝑦</m:t>
                        </m:r>
                      </m:e>
                      <m:sup>
                        <m:r>
                          <a:rPr lang="fr-FR" b="0" i="1" smtClean="0">
                            <a:latin typeface="Cambria Math"/>
                          </a:rPr>
                          <m:t>𝑑</m:t>
                        </m:r>
                      </m:sup>
                    </m:sSup>
                  </m:oMath>
                </a14:m>
                <a:r>
                  <a:rPr lang="fr-FR" dirty="0"/>
                  <a:t> </a:t>
                </a:r>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3"/>
                <a:stretch>
                  <a:fillRect l="-1096" t="-884" r="-1899"/>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hybride position/force</a:t>
            </a:r>
          </a:p>
        </p:txBody>
      </p:sp>
    </p:spTree>
    <p:extLst>
      <p:ext uri="{BB962C8B-B14F-4D97-AF65-F5344CB8AC3E}">
        <p14:creationId xmlns:p14="http://schemas.microsoft.com/office/powerpoint/2010/main" val="188112229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r>
                  <a:rPr lang="fr-FR" sz="1800" dirty="0"/>
                  <a:t>La transformée de Laplace de l’équation (1h.2) donne :</a:t>
                </a:r>
              </a:p>
              <a:p>
                <a:pPr marL="0" indent="0" algn="ctr">
                  <a:buNone/>
                </a:pPr>
                <a14:m>
                  <m:oMath xmlns:m="http://schemas.openxmlformats.org/officeDocument/2006/math">
                    <m:r>
                      <a:rPr lang="fr-FR" sz="1800" b="0" i="1" smtClean="0">
                        <a:solidFill>
                          <a:schemeClr val="tx1"/>
                        </a:solidFill>
                        <a:latin typeface="Cambria Math"/>
                      </a:rPr>
                      <m:t>𝑥</m:t>
                    </m:r>
                    <m:r>
                      <a:rPr lang="fr-FR" sz="1800" b="0" i="1" smtClean="0">
                        <a:solidFill>
                          <a:schemeClr val="tx1"/>
                        </a:solidFill>
                        <a:latin typeface="Cambria Math"/>
                      </a:rPr>
                      <m:t>=</m:t>
                    </m:r>
                    <m:f>
                      <m:fPr>
                        <m:ctrlPr>
                          <a:rPr lang="fr-FR" sz="1800" b="0" i="1" smtClean="0">
                            <a:solidFill>
                              <a:schemeClr val="tx1"/>
                            </a:solidFill>
                            <a:latin typeface="Cambria Math" panose="02040503050406030204" pitchFamily="18" charset="0"/>
                          </a:rPr>
                        </m:ctrlPr>
                      </m:fPr>
                      <m:num>
                        <m:sSub>
                          <m:sSubPr>
                            <m:ctrlPr>
                              <a:rPr lang="fr-FR" sz="1800" b="0" i="1" smtClean="0">
                                <a:solidFill>
                                  <a:schemeClr val="tx1"/>
                                </a:solidFill>
                                <a:latin typeface="Cambria Math" panose="02040503050406030204" pitchFamily="18" charset="0"/>
                              </a:rPr>
                            </m:ctrlPr>
                          </m:sSubPr>
                          <m:e>
                            <m:r>
                              <a:rPr lang="fr-FR" sz="1800" b="0" i="1" smtClean="0">
                                <a:solidFill>
                                  <a:schemeClr val="tx1"/>
                                </a:solidFill>
                                <a:latin typeface="Cambria Math"/>
                              </a:rPr>
                              <m:t>𝑘</m:t>
                            </m:r>
                          </m:e>
                          <m:sub>
                            <m:r>
                              <a:rPr lang="fr-FR" sz="1800" b="0" i="1" smtClean="0">
                                <a:solidFill>
                                  <a:schemeClr val="tx1"/>
                                </a:solidFill>
                                <a:latin typeface="Cambria Math"/>
                              </a:rPr>
                              <m:t>𝑥</m:t>
                            </m:r>
                          </m:sub>
                        </m:sSub>
                      </m:num>
                      <m:den>
                        <m:sSub>
                          <m:sSubPr>
                            <m:ctrlPr>
                              <a:rPr lang="fr-FR" sz="1800" i="1">
                                <a:solidFill>
                                  <a:schemeClr val="tx1"/>
                                </a:solidFill>
                                <a:latin typeface="Cambria Math" panose="02040503050406030204" pitchFamily="18" charset="0"/>
                              </a:rPr>
                            </m:ctrlPr>
                          </m:sSubPr>
                          <m:e>
                            <m:r>
                              <a:rPr lang="fr-FR" sz="1800" i="1">
                                <a:solidFill>
                                  <a:schemeClr val="tx1"/>
                                </a:solidFill>
                                <a:latin typeface="Cambria Math"/>
                                <a:ea typeface="Cambria Math"/>
                              </a:rPr>
                              <m:t>𝜆</m:t>
                            </m:r>
                          </m:e>
                          <m:sub>
                            <m:r>
                              <a:rPr lang="fr-FR" sz="1800" i="1">
                                <a:solidFill>
                                  <a:schemeClr val="tx1"/>
                                </a:solidFill>
                                <a:latin typeface="Cambria Math"/>
                              </a:rPr>
                              <m:t>𝑥</m:t>
                            </m:r>
                          </m:sub>
                        </m:sSub>
                        <m:sSup>
                          <m:sSupPr>
                            <m:ctrlPr>
                              <a:rPr lang="fr-FR" sz="1800" i="1">
                                <a:solidFill>
                                  <a:schemeClr val="tx1"/>
                                </a:solidFill>
                                <a:latin typeface="Cambria Math" panose="02040503050406030204" pitchFamily="18" charset="0"/>
                              </a:rPr>
                            </m:ctrlPr>
                          </m:sSupPr>
                          <m:e>
                            <m:r>
                              <a:rPr lang="fr-FR" sz="1800" i="1">
                                <a:solidFill>
                                  <a:schemeClr val="tx1"/>
                                </a:solidFill>
                                <a:latin typeface="Cambria Math"/>
                              </a:rPr>
                              <m:t>𝑠</m:t>
                            </m:r>
                          </m:e>
                          <m:sup>
                            <m:r>
                              <a:rPr lang="fr-FR" sz="1800" i="1">
                                <a:solidFill>
                                  <a:schemeClr val="tx1"/>
                                </a:solidFill>
                                <a:latin typeface="Cambria Math"/>
                              </a:rPr>
                              <m:t>2</m:t>
                            </m:r>
                          </m:sup>
                        </m:sSup>
                        <m:r>
                          <a:rPr lang="fr-FR" sz="1800" i="1">
                            <a:solidFill>
                              <a:schemeClr val="tx1"/>
                            </a:solidFill>
                            <a:latin typeface="Cambria Math"/>
                          </a:rPr>
                          <m:t>+</m:t>
                        </m:r>
                        <m:sSub>
                          <m:sSubPr>
                            <m:ctrlPr>
                              <a:rPr lang="fr-FR" sz="1800" i="1">
                                <a:solidFill>
                                  <a:schemeClr val="tx1"/>
                                </a:solidFill>
                                <a:latin typeface="Cambria Math" panose="02040503050406030204" pitchFamily="18" charset="0"/>
                              </a:rPr>
                            </m:ctrlPr>
                          </m:sSubPr>
                          <m:e>
                            <m:r>
                              <a:rPr lang="fr-FR" sz="1800" i="1">
                                <a:solidFill>
                                  <a:schemeClr val="tx1"/>
                                </a:solidFill>
                                <a:latin typeface="Cambria Math"/>
                              </a:rPr>
                              <m:t>𝑏</m:t>
                            </m:r>
                          </m:e>
                          <m:sub>
                            <m:r>
                              <a:rPr lang="fr-FR" sz="1800" i="1">
                                <a:solidFill>
                                  <a:schemeClr val="tx1"/>
                                </a:solidFill>
                                <a:latin typeface="Cambria Math"/>
                              </a:rPr>
                              <m:t>𝑥</m:t>
                            </m:r>
                          </m:sub>
                        </m:sSub>
                        <m:r>
                          <a:rPr lang="fr-FR" sz="1800" i="1">
                            <a:solidFill>
                              <a:schemeClr val="tx1"/>
                            </a:solidFill>
                            <a:latin typeface="Cambria Math"/>
                          </a:rPr>
                          <m:t>𝑠</m:t>
                        </m:r>
                        <m:r>
                          <a:rPr lang="fr-FR" sz="1800" i="1">
                            <a:solidFill>
                              <a:schemeClr val="tx1"/>
                            </a:solidFill>
                            <a:latin typeface="Cambria Math"/>
                          </a:rPr>
                          <m:t>+</m:t>
                        </m:r>
                        <m:sSub>
                          <m:sSubPr>
                            <m:ctrlPr>
                              <a:rPr lang="fr-FR" sz="1800" i="1">
                                <a:solidFill>
                                  <a:schemeClr val="tx1"/>
                                </a:solidFill>
                                <a:latin typeface="Cambria Math" panose="02040503050406030204" pitchFamily="18" charset="0"/>
                              </a:rPr>
                            </m:ctrlPr>
                          </m:sSubPr>
                          <m:e>
                            <m:r>
                              <a:rPr lang="fr-FR" sz="1800" i="1">
                                <a:solidFill>
                                  <a:schemeClr val="tx1"/>
                                </a:solidFill>
                                <a:latin typeface="Cambria Math"/>
                              </a:rPr>
                              <m:t>𝑘</m:t>
                            </m:r>
                          </m:e>
                          <m:sub>
                            <m:r>
                              <a:rPr lang="fr-FR" sz="1800" i="1">
                                <a:solidFill>
                                  <a:schemeClr val="tx1"/>
                                </a:solidFill>
                                <a:latin typeface="Cambria Math"/>
                              </a:rPr>
                              <m:t>𝑥</m:t>
                            </m:r>
                          </m:sub>
                        </m:sSub>
                      </m:den>
                    </m:f>
                    <m:d>
                      <m:dPr>
                        <m:begChr m:val="["/>
                        <m:endChr m:val="]"/>
                        <m:ctrlPr>
                          <a:rPr lang="fr-FR" sz="1800" b="0" i="1" smtClean="0">
                            <a:solidFill>
                              <a:schemeClr val="tx1"/>
                            </a:solidFill>
                            <a:latin typeface="Cambria Math" panose="02040503050406030204" pitchFamily="18" charset="0"/>
                          </a:rPr>
                        </m:ctrlPr>
                      </m:dPr>
                      <m:e>
                        <m:sSub>
                          <m:sSubPr>
                            <m:ctrlPr>
                              <a:rPr lang="fr-FR" sz="1800" i="1">
                                <a:latin typeface="Cambria Math" panose="02040503050406030204" pitchFamily="18" charset="0"/>
                              </a:rPr>
                            </m:ctrlPr>
                          </m:sSubPr>
                          <m:e>
                            <m:r>
                              <a:rPr lang="fr-FR" sz="1800" i="1">
                                <a:latin typeface="Cambria Math"/>
                              </a:rPr>
                              <m:t>𝑐</m:t>
                            </m:r>
                          </m:e>
                          <m:sub>
                            <m:sSub>
                              <m:sSubPr>
                                <m:ctrlPr>
                                  <a:rPr lang="fr-FR" sz="1800" i="1">
                                    <a:latin typeface="Cambria Math" panose="02040503050406030204" pitchFamily="18" charset="0"/>
                                  </a:rPr>
                                </m:ctrlPr>
                              </m:sSubPr>
                              <m:e>
                                <m:r>
                                  <a:rPr lang="fr-FR" sz="1800" i="1">
                                    <a:latin typeface="Cambria Math"/>
                                  </a:rPr>
                                  <m:t>𝑓</m:t>
                                </m:r>
                              </m:e>
                              <m:sub>
                                <m:r>
                                  <a:rPr lang="fr-FR" sz="1800" i="1">
                                    <a:latin typeface="Cambria Math"/>
                                  </a:rPr>
                                  <m:t>𝑥</m:t>
                                </m:r>
                              </m:sub>
                            </m:sSub>
                          </m:sub>
                        </m:sSub>
                        <m:d>
                          <m:dPr>
                            <m:ctrlPr>
                              <a:rPr lang="fr-FR" sz="1800" i="1" smtClean="0">
                                <a:latin typeface="Cambria Math" panose="02040503050406030204" pitchFamily="18" charset="0"/>
                              </a:rPr>
                            </m:ctrlPr>
                          </m:dPr>
                          <m:e>
                            <m:sSup>
                              <m:sSupPr>
                                <m:ctrlPr>
                                  <a:rPr lang="fr-FR" sz="1800" i="1" smtClean="0">
                                    <a:latin typeface="Cambria Math" panose="02040503050406030204" pitchFamily="18" charset="0"/>
                                  </a:rPr>
                                </m:ctrlPr>
                              </m:sSupPr>
                              <m:e>
                                <m:sSub>
                                  <m:sSubPr>
                                    <m:ctrlPr>
                                      <a:rPr lang="fr-FR" sz="1800" i="1" smtClean="0">
                                        <a:latin typeface="Cambria Math" panose="02040503050406030204" pitchFamily="18" charset="0"/>
                                      </a:rPr>
                                    </m:ctrlPr>
                                  </m:sSubPr>
                                  <m:e>
                                    <m:r>
                                      <a:rPr lang="fr-FR" sz="1800" b="0" i="1" smtClean="0">
                                        <a:latin typeface="Cambria Math"/>
                                      </a:rPr>
                                      <m:t>𝑓</m:t>
                                    </m:r>
                                  </m:e>
                                  <m:sub>
                                    <m:r>
                                      <a:rPr lang="fr-FR" sz="1800" b="0" i="1" smtClean="0">
                                        <a:latin typeface="Cambria Math"/>
                                      </a:rPr>
                                      <m:t>𝑥</m:t>
                                    </m:r>
                                  </m:sub>
                                </m:sSub>
                              </m:e>
                              <m:sup>
                                <m:r>
                                  <a:rPr lang="fr-FR" sz="1800" b="0" i="1" smtClean="0">
                                    <a:latin typeface="Cambria Math"/>
                                  </a:rPr>
                                  <m:t>𝑑</m:t>
                                </m:r>
                              </m:sup>
                            </m:sSup>
                            <m:r>
                              <a:rPr lang="fr-FR" sz="1800" b="0" i="1" smtClean="0">
                                <a:latin typeface="Cambria Math"/>
                              </a:rPr>
                              <m:t>−</m:t>
                            </m:r>
                            <m:sSub>
                              <m:sSubPr>
                                <m:ctrlPr>
                                  <a:rPr lang="fr-FR" sz="1800" b="0" i="1" smtClean="0">
                                    <a:latin typeface="Cambria Math" panose="02040503050406030204" pitchFamily="18" charset="0"/>
                                  </a:rPr>
                                </m:ctrlPr>
                              </m:sSubPr>
                              <m:e>
                                <m:r>
                                  <a:rPr lang="fr-FR" sz="1800" b="0" i="1" smtClean="0">
                                    <a:latin typeface="Cambria Math"/>
                                  </a:rPr>
                                  <m:t>𝑓</m:t>
                                </m:r>
                              </m:e>
                              <m:sub>
                                <m:r>
                                  <a:rPr lang="fr-FR" sz="1800" b="0" i="1" smtClean="0">
                                    <a:latin typeface="Cambria Math"/>
                                  </a:rPr>
                                  <m:t>𝑒𝑥</m:t>
                                </m:r>
                              </m:sub>
                            </m:sSub>
                          </m:e>
                        </m:d>
                        <m:r>
                          <a:rPr lang="fr-FR" sz="1800" b="0" i="1" smtClean="0">
                            <a:latin typeface="Cambria Math"/>
                          </a:rPr>
                          <m:t>+</m:t>
                        </m:r>
                        <m:sSup>
                          <m:sSupPr>
                            <m:ctrlPr>
                              <a:rPr lang="fr-FR" sz="1800" b="0" i="1" smtClean="0">
                                <a:latin typeface="Cambria Math" panose="02040503050406030204" pitchFamily="18" charset="0"/>
                              </a:rPr>
                            </m:ctrlPr>
                          </m:sSupPr>
                          <m:e>
                            <m:r>
                              <a:rPr lang="fr-FR" sz="1800" b="0" i="1" smtClean="0">
                                <a:latin typeface="Cambria Math"/>
                              </a:rPr>
                              <m:t>𝑥</m:t>
                            </m:r>
                          </m:e>
                          <m:sup>
                            <m:r>
                              <a:rPr lang="fr-FR" sz="1800" b="0" i="1" smtClean="0">
                                <a:latin typeface="Cambria Math"/>
                              </a:rPr>
                              <m:t>𝑑</m:t>
                            </m:r>
                          </m:sup>
                        </m:sSup>
                      </m:e>
                    </m:d>
                  </m:oMath>
                </a14:m>
                <a:r>
                  <a:rPr lang="fr-FR" sz="1800" i="1" dirty="0">
                    <a:solidFill>
                      <a:srgbClr val="FF0000"/>
                    </a:solidFill>
                    <a:latin typeface="Cambria Math"/>
                  </a:rPr>
                  <a:t>		</a:t>
                </a:r>
                <a:r>
                  <a:rPr lang="fr-FR" sz="1800" dirty="0"/>
                  <a:t>(2h)</a:t>
                </a:r>
              </a:p>
              <a:p>
                <a:pPr marL="0" indent="0">
                  <a:buNone/>
                </a:pPr>
                <a:endParaRPr lang="fr-FR" sz="1800" dirty="0"/>
              </a:p>
              <a:p>
                <a:pPr marL="0" indent="0">
                  <a:buNone/>
                </a:pPr>
                <a:r>
                  <a:rPr lang="fr-FR" sz="1800" dirty="0"/>
                  <a:t>L’environnement est élastique :</a:t>
                </a:r>
              </a:p>
              <a:p>
                <a:pPr marL="0" indent="0">
                  <a:buNone/>
                </a:pPr>
                <a:endParaRPr lang="fr-FR" sz="1800" dirty="0"/>
              </a:p>
              <a:p>
                <a:pPr marL="0" indent="0" algn="ctr">
                  <a:buNone/>
                </a:pPr>
                <a14:m>
                  <m:oMath xmlns:m="http://schemas.openxmlformats.org/officeDocument/2006/math">
                    <m:sSub>
                      <m:sSubPr>
                        <m:ctrlPr>
                          <a:rPr lang="fr-FR" sz="1800" i="1" smtClean="0">
                            <a:latin typeface="Cambria Math" panose="02040503050406030204" pitchFamily="18" charset="0"/>
                          </a:rPr>
                        </m:ctrlPr>
                      </m:sSubPr>
                      <m:e>
                        <m:r>
                          <a:rPr lang="fr-FR" sz="1800" b="0" i="1" smtClean="0">
                            <a:latin typeface="Cambria Math"/>
                          </a:rPr>
                          <m:t>𝑓</m:t>
                        </m:r>
                      </m:e>
                      <m:sub>
                        <m:r>
                          <a:rPr lang="fr-FR" sz="1800" b="0" i="1" smtClean="0">
                            <a:latin typeface="Cambria Math"/>
                          </a:rPr>
                          <m:t>𝑒𝑥</m:t>
                        </m:r>
                      </m:sub>
                    </m:sSub>
                    <m:r>
                      <a:rPr lang="fr-FR" sz="1800" b="0" i="1" smtClean="0">
                        <a:latin typeface="Cambria Math"/>
                      </a:rPr>
                      <m:t>=</m:t>
                    </m:r>
                    <m:sSub>
                      <m:sSubPr>
                        <m:ctrlPr>
                          <a:rPr lang="fr-FR" sz="1800" b="0" i="1" smtClean="0">
                            <a:latin typeface="Cambria Math" panose="02040503050406030204" pitchFamily="18" charset="0"/>
                          </a:rPr>
                        </m:ctrlPr>
                      </m:sSubPr>
                      <m:e>
                        <m:r>
                          <a:rPr lang="fr-FR" sz="1800" b="0" i="1" smtClean="0">
                            <a:latin typeface="Cambria Math"/>
                          </a:rPr>
                          <m:t>𝑘</m:t>
                        </m:r>
                      </m:e>
                      <m:sub>
                        <m:r>
                          <a:rPr lang="fr-FR" sz="1800" b="0" i="1" smtClean="0">
                            <a:latin typeface="Cambria Math"/>
                          </a:rPr>
                          <m:t>𝑒𝑥</m:t>
                        </m:r>
                      </m:sub>
                    </m:sSub>
                    <m:d>
                      <m:dPr>
                        <m:ctrlPr>
                          <a:rPr lang="fr-FR" sz="1800" b="0" i="1" smtClean="0">
                            <a:latin typeface="Cambria Math" panose="02040503050406030204" pitchFamily="18" charset="0"/>
                          </a:rPr>
                        </m:ctrlPr>
                      </m:dPr>
                      <m:e>
                        <m:r>
                          <a:rPr lang="fr-FR" sz="1800" b="0" i="1" smtClean="0">
                            <a:latin typeface="Cambria Math"/>
                          </a:rPr>
                          <m:t>𝑥</m:t>
                        </m:r>
                        <m:r>
                          <a:rPr lang="fr-FR" sz="1800" b="0" i="1" smtClean="0">
                            <a:latin typeface="Cambria Math"/>
                          </a:rPr>
                          <m:t>−</m:t>
                        </m:r>
                        <m:sSub>
                          <m:sSubPr>
                            <m:ctrlPr>
                              <a:rPr lang="fr-FR" sz="1800" b="0" i="1" smtClean="0">
                                <a:latin typeface="Cambria Math" panose="02040503050406030204" pitchFamily="18" charset="0"/>
                              </a:rPr>
                            </m:ctrlPr>
                          </m:sSubPr>
                          <m:e>
                            <m:r>
                              <a:rPr lang="fr-FR" sz="1800" b="0" i="1" smtClean="0">
                                <a:latin typeface="Cambria Math"/>
                              </a:rPr>
                              <m:t>𝑥</m:t>
                            </m:r>
                          </m:e>
                          <m:sub>
                            <m:r>
                              <a:rPr lang="fr-FR" sz="1800" b="0" i="1" smtClean="0">
                                <a:latin typeface="Cambria Math"/>
                              </a:rPr>
                              <m:t>𝑒</m:t>
                            </m:r>
                          </m:sub>
                        </m:sSub>
                      </m:e>
                    </m:d>
                  </m:oMath>
                </a14:m>
                <a:r>
                  <a:rPr lang="fr-FR" sz="1800" dirty="0"/>
                  <a:t>		(3h)</a:t>
                </a:r>
              </a:p>
              <a:p>
                <a:pPr marL="0" indent="0" algn="ctr">
                  <a:buNone/>
                </a:pPr>
                <a:endParaRPr lang="fr-FR" sz="1800" dirty="0"/>
              </a:p>
              <a:p>
                <a:pPr marL="0" indent="0">
                  <a:buNone/>
                </a:pPr>
                <a:r>
                  <a:rPr lang="fr-FR" sz="1800" dirty="0"/>
                  <a:t>En remplaçant l’équation (2h) dans (3h), on obtient :</a:t>
                </a:r>
              </a:p>
              <a:p>
                <a:pPr marL="0" indent="0">
                  <a:buNone/>
                </a:pPr>
                <a:endParaRPr lang="fr-FR" sz="1800" i="1" dirty="0">
                  <a:solidFill>
                    <a:srgbClr val="FF0000"/>
                  </a:solidFill>
                  <a:latin typeface="Cambria Math"/>
                </a:endParaRPr>
              </a:p>
              <a:p>
                <a:pPr marL="0" indent="0">
                  <a:buNone/>
                </a:pPr>
                <a14:m>
                  <m:oMathPara xmlns:m="http://schemas.openxmlformats.org/officeDocument/2006/math">
                    <m:oMathParaPr>
                      <m:jc m:val="centerGroup"/>
                    </m:oMathParaPr>
                    <m:oMath xmlns:m="http://schemas.openxmlformats.org/officeDocument/2006/math">
                      <m:sSub>
                        <m:sSubPr>
                          <m:ctrlPr>
                            <a:rPr lang="fr-FR" sz="1800" i="1" smtClean="0">
                              <a:solidFill>
                                <a:srgbClr val="FF0000"/>
                              </a:solidFill>
                              <a:latin typeface="Cambria Math" panose="02040503050406030204" pitchFamily="18" charset="0"/>
                            </a:rPr>
                          </m:ctrlPr>
                        </m:sSubPr>
                        <m:e>
                          <m:r>
                            <a:rPr lang="fr-FR" sz="1800" b="0" i="1" smtClean="0">
                              <a:solidFill>
                                <a:srgbClr val="FF0000"/>
                              </a:solidFill>
                              <a:latin typeface="Cambria Math"/>
                            </a:rPr>
                            <m:t>𝑓</m:t>
                          </m:r>
                        </m:e>
                        <m:sub>
                          <m:r>
                            <a:rPr lang="fr-FR" sz="1800" b="0" i="1" smtClean="0">
                              <a:solidFill>
                                <a:srgbClr val="FF0000"/>
                              </a:solidFill>
                              <a:latin typeface="Cambria Math"/>
                            </a:rPr>
                            <m:t>𝑒𝑥</m:t>
                          </m:r>
                        </m:sub>
                      </m:sSub>
                      <m:r>
                        <a:rPr lang="fr-FR" sz="1800" b="0" i="1" smtClean="0">
                          <a:latin typeface="Cambria Math"/>
                        </a:rPr>
                        <m:t>=</m:t>
                      </m:r>
                      <m:f>
                        <m:fPr>
                          <m:ctrlPr>
                            <a:rPr lang="fr-FR" sz="1800" b="0" i="1" smtClean="0">
                              <a:latin typeface="Cambria Math" panose="02040503050406030204" pitchFamily="18" charset="0"/>
                            </a:rPr>
                          </m:ctrlPr>
                        </m:fPr>
                        <m:num>
                          <m:sSub>
                            <m:sSubPr>
                              <m:ctrlPr>
                                <a:rPr lang="fr-FR" sz="1800" b="0" i="1" smtClean="0">
                                  <a:latin typeface="Cambria Math" panose="02040503050406030204" pitchFamily="18" charset="0"/>
                                </a:rPr>
                              </m:ctrlPr>
                            </m:sSubPr>
                            <m:e>
                              <m:r>
                                <a:rPr lang="fr-FR" sz="1800" b="0" i="1" smtClean="0">
                                  <a:latin typeface="Cambria Math"/>
                                </a:rPr>
                                <m:t>𝑘</m:t>
                              </m:r>
                            </m:e>
                            <m:sub>
                              <m:r>
                                <a:rPr lang="fr-FR" sz="1800" b="0" i="1" smtClean="0">
                                  <a:latin typeface="Cambria Math"/>
                                </a:rPr>
                                <m:t>𝑒𝑥</m:t>
                              </m:r>
                            </m:sub>
                          </m:sSub>
                        </m:num>
                        <m:den>
                          <m:sSub>
                            <m:sSubPr>
                              <m:ctrlPr>
                                <a:rPr lang="fr-FR" sz="1800" b="0" i="1" smtClean="0">
                                  <a:latin typeface="Cambria Math" panose="02040503050406030204" pitchFamily="18" charset="0"/>
                                </a:rPr>
                              </m:ctrlPr>
                            </m:sSubPr>
                            <m:e>
                              <m:r>
                                <a:rPr lang="fr-FR" sz="1800" b="0" i="1" smtClean="0">
                                  <a:latin typeface="Cambria Math"/>
                                  <a:ea typeface="Cambria Math"/>
                                </a:rPr>
                                <m:t>𝜆</m:t>
                              </m:r>
                            </m:e>
                            <m:sub>
                              <m:r>
                                <a:rPr lang="fr-FR" sz="1800" b="0" i="1" smtClean="0">
                                  <a:latin typeface="Cambria Math"/>
                                </a:rPr>
                                <m:t>𝑥</m:t>
                              </m:r>
                            </m:sub>
                          </m:sSub>
                          <m:sSup>
                            <m:sSupPr>
                              <m:ctrlPr>
                                <a:rPr lang="fr-FR" sz="1800" b="0" i="1" smtClean="0">
                                  <a:latin typeface="Cambria Math" panose="02040503050406030204" pitchFamily="18" charset="0"/>
                                </a:rPr>
                              </m:ctrlPr>
                            </m:sSupPr>
                            <m:e>
                              <m:r>
                                <a:rPr lang="fr-FR" sz="1800" b="0" i="1" smtClean="0">
                                  <a:latin typeface="Cambria Math"/>
                                </a:rPr>
                                <m:t>𝑠</m:t>
                              </m:r>
                            </m:e>
                            <m:sup>
                              <m:r>
                                <a:rPr lang="fr-FR" sz="1800" b="0" i="1" smtClean="0">
                                  <a:latin typeface="Cambria Math"/>
                                </a:rPr>
                                <m:t>2</m:t>
                              </m:r>
                            </m:sup>
                          </m:sSup>
                          <m:r>
                            <a:rPr lang="fr-FR" sz="1800" b="0" i="1" smtClean="0">
                              <a:latin typeface="Cambria Math"/>
                            </a:rPr>
                            <m:t>+</m:t>
                          </m:r>
                          <m:sSub>
                            <m:sSubPr>
                              <m:ctrlPr>
                                <a:rPr lang="fr-FR" sz="1800" b="0" i="1" smtClean="0">
                                  <a:latin typeface="Cambria Math" panose="02040503050406030204" pitchFamily="18" charset="0"/>
                                </a:rPr>
                              </m:ctrlPr>
                            </m:sSubPr>
                            <m:e>
                              <m:r>
                                <a:rPr lang="fr-FR" sz="1800" b="0" i="1" smtClean="0">
                                  <a:latin typeface="Cambria Math"/>
                                </a:rPr>
                                <m:t>𝑏</m:t>
                              </m:r>
                            </m:e>
                            <m:sub>
                              <m:r>
                                <a:rPr lang="fr-FR" sz="1800" b="0" i="1" smtClean="0">
                                  <a:latin typeface="Cambria Math"/>
                                </a:rPr>
                                <m:t>𝑥</m:t>
                              </m:r>
                            </m:sub>
                          </m:sSub>
                          <m:r>
                            <a:rPr lang="fr-FR" sz="1800" b="0" i="1" smtClean="0">
                              <a:latin typeface="Cambria Math"/>
                            </a:rPr>
                            <m:t>𝑠</m:t>
                          </m:r>
                          <m:r>
                            <a:rPr lang="fr-FR" sz="1800" b="0" i="1" smtClean="0">
                              <a:latin typeface="Cambria Math"/>
                            </a:rPr>
                            <m:t>+</m:t>
                          </m:r>
                          <m:sSub>
                            <m:sSubPr>
                              <m:ctrlPr>
                                <a:rPr lang="fr-FR" sz="1800" b="0" i="1" smtClean="0">
                                  <a:latin typeface="Cambria Math" panose="02040503050406030204" pitchFamily="18" charset="0"/>
                                </a:rPr>
                              </m:ctrlPr>
                            </m:sSubPr>
                            <m:e>
                              <m:r>
                                <a:rPr lang="fr-FR" sz="1800" b="0" i="1" smtClean="0">
                                  <a:latin typeface="Cambria Math"/>
                                </a:rPr>
                                <m:t>𝑘</m:t>
                              </m:r>
                            </m:e>
                            <m:sub>
                              <m:r>
                                <a:rPr lang="fr-FR" sz="1800" b="0" i="1" smtClean="0">
                                  <a:latin typeface="Cambria Math"/>
                                </a:rPr>
                                <m:t>𝑥</m:t>
                              </m:r>
                            </m:sub>
                          </m:sSub>
                          <m:d>
                            <m:dPr>
                              <m:ctrlPr>
                                <a:rPr lang="fr-FR" sz="1800" b="0" i="1" smtClean="0">
                                  <a:latin typeface="Cambria Math" panose="02040503050406030204" pitchFamily="18" charset="0"/>
                                </a:rPr>
                              </m:ctrlPr>
                            </m:dPr>
                            <m:e>
                              <m:r>
                                <a:rPr lang="fr-FR" sz="1800" b="0" i="1" smtClean="0">
                                  <a:latin typeface="Cambria Math"/>
                                </a:rPr>
                                <m:t>1+</m:t>
                              </m:r>
                              <m:sSub>
                                <m:sSubPr>
                                  <m:ctrlPr>
                                    <a:rPr lang="fr-FR" sz="1800" b="0" i="1" smtClean="0">
                                      <a:latin typeface="Cambria Math" panose="02040503050406030204" pitchFamily="18" charset="0"/>
                                    </a:rPr>
                                  </m:ctrlPr>
                                </m:sSubPr>
                                <m:e>
                                  <m:r>
                                    <a:rPr lang="fr-FR" sz="1800" b="0" i="1" smtClean="0">
                                      <a:latin typeface="Cambria Math"/>
                                    </a:rPr>
                                    <m:t>𝑘</m:t>
                                  </m:r>
                                </m:e>
                                <m:sub>
                                  <m:r>
                                    <a:rPr lang="fr-FR" sz="1800" b="0" i="1" smtClean="0">
                                      <a:latin typeface="Cambria Math"/>
                                    </a:rPr>
                                    <m:t>𝑒𝑥</m:t>
                                  </m:r>
                                </m:sub>
                              </m:sSub>
                              <m:sSub>
                                <m:sSubPr>
                                  <m:ctrlPr>
                                    <a:rPr lang="fr-FR" sz="1800" b="0" i="1" smtClean="0">
                                      <a:latin typeface="Cambria Math" panose="02040503050406030204" pitchFamily="18" charset="0"/>
                                    </a:rPr>
                                  </m:ctrlPr>
                                </m:sSubPr>
                                <m:e>
                                  <m:r>
                                    <a:rPr lang="fr-FR" sz="1800" b="0" i="1" smtClean="0">
                                      <a:latin typeface="Cambria Math"/>
                                    </a:rPr>
                                    <m:t>𝑐</m:t>
                                  </m:r>
                                </m:e>
                                <m:sub>
                                  <m:sSub>
                                    <m:sSubPr>
                                      <m:ctrlPr>
                                        <a:rPr lang="fr-FR" sz="1800" b="0" i="1" smtClean="0">
                                          <a:latin typeface="Cambria Math" panose="02040503050406030204" pitchFamily="18" charset="0"/>
                                        </a:rPr>
                                      </m:ctrlPr>
                                    </m:sSubPr>
                                    <m:e>
                                      <m:r>
                                        <a:rPr lang="fr-FR" sz="1800" b="0" i="1" smtClean="0">
                                          <a:latin typeface="Cambria Math"/>
                                        </a:rPr>
                                        <m:t>𝑓</m:t>
                                      </m:r>
                                    </m:e>
                                    <m:sub>
                                      <m:r>
                                        <a:rPr lang="fr-FR" sz="1800" b="0" i="1" smtClean="0">
                                          <a:latin typeface="Cambria Math"/>
                                        </a:rPr>
                                        <m:t>𝑥</m:t>
                                      </m:r>
                                    </m:sub>
                                  </m:sSub>
                                </m:sub>
                              </m:sSub>
                            </m:e>
                          </m:d>
                        </m:den>
                      </m:f>
                      <m:d>
                        <m:dPr>
                          <m:begChr m:val="["/>
                          <m:endChr m:val="]"/>
                          <m:ctrlPr>
                            <a:rPr lang="fr-FR" sz="1800" b="0" i="1" smtClean="0">
                              <a:latin typeface="Cambria Math" panose="02040503050406030204" pitchFamily="18" charset="0"/>
                            </a:rPr>
                          </m:ctrlPr>
                        </m:dPr>
                        <m:e>
                          <m:sSub>
                            <m:sSubPr>
                              <m:ctrlPr>
                                <a:rPr lang="fr-FR" sz="1800" b="0" i="1" smtClean="0">
                                  <a:latin typeface="Cambria Math" panose="02040503050406030204" pitchFamily="18" charset="0"/>
                                </a:rPr>
                              </m:ctrlPr>
                            </m:sSubPr>
                            <m:e>
                              <m:r>
                                <a:rPr lang="fr-FR" sz="1800" b="0" i="1" smtClean="0">
                                  <a:latin typeface="Cambria Math"/>
                                </a:rPr>
                                <m:t>𝑘</m:t>
                              </m:r>
                            </m:e>
                            <m:sub>
                              <m:r>
                                <a:rPr lang="fr-FR" sz="1800" b="0" i="1" smtClean="0">
                                  <a:latin typeface="Cambria Math"/>
                                </a:rPr>
                                <m:t>𝑥</m:t>
                              </m:r>
                            </m:sub>
                          </m:sSub>
                          <m:d>
                            <m:dPr>
                              <m:ctrlPr>
                                <a:rPr lang="fr-FR" sz="1800" b="0" i="1" smtClean="0">
                                  <a:latin typeface="Cambria Math" panose="02040503050406030204" pitchFamily="18" charset="0"/>
                                </a:rPr>
                              </m:ctrlPr>
                            </m:dPr>
                            <m:e>
                              <m:sSub>
                                <m:sSubPr>
                                  <m:ctrlPr>
                                    <a:rPr lang="fr-FR" sz="1800" b="0" i="1" smtClean="0">
                                      <a:latin typeface="Cambria Math" panose="02040503050406030204" pitchFamily="18" charset="0"/>
                                    </a:rPr>
                                  </m:ctrlPr>
                                </m:sSubPr>
                                <m:e>
                                  <m:r>
                                    <a:rPr lang="fr-FR" sz="1800" b="0" i="1" smtClean="0">
                                      <a:latin typeface="Cambria Math"/>
                                    </a:rPr>
                                    <m:t>𝑐</m:t>
                                  </m:r>
                                </m:e>
                                <m:sub>
                                  <m:sSub>
                                    <m:sSubPr>
                                      <m:ctrlPr>
                                        <a:rPr lang="fr-FR" sz="1800" b="0" i="1" smtClean="0">
                                          <a:latin typeface="Cambria Math" panose="02040503050406030204" pitchFamily="18" charset="0"/>
                                        </a:rPr>
                                      </m:ctrlPr>
                                    </m:sSubPr>
                                    <m:e>
                                      <m:r>
                                        <a:rPr lang="fr-FR" sz="1800" b="0" i="1" smtClean="0">
                                          <a:latin typeface="Cambria Math"/>
                                        </a:rPr>
                                        <m:t>𝑓</m:t>
                                      </m:r>
                                    </m:e>
                                    <m:sub>
                                      <m:r>
                                        <a:rPr lang="fr-FR" sz="1800" b="0" i="1" smtClean="0">
                                          <a:latin typeface="Cambria Math"/>
                                        </a:rPr>
                                        <m:t>𝑥</m:t>
                                      </m:r>
                                    </m:sub>
                                  </m:sSub>
                                </m:sub>
                              </m:sSub>
                              <m:sSup>
                                <m:sSupPr>
                                  <m:ctrlPr>
                                    <a:rPr lang="fr-FR" sz="1800" b="0" i="1" smtClean="0">
                                      <a:solidFill>
                                        <a:srgbClr val="FF0000"/>
                                      </a:solidFill>
                                      <a:latin typeface="Cambria Math" panose="02040503050406030204" pitchFamily="18" charset="0"/>
                                    </a:rPr>
                                  </m:ctrlPr>
                                </m:sSupPr>
                                <m:e>
                                  <m:sSub>
                                    <m:sSubPr>
                                      <m:ctrlPr>
                                        <a:rPr lang="fr-FR" sz="1800" b="0" i="1" smtClean="0">
                                          <a:solidFill>
                                            <a:srgbClr val="FF0000"/>
                                          </a:solidFill>
                                          <a:latin typeface="Cambria Math" panose="02040503050406030204" pitchFamily="18" charset="0"/>
                                        </a:rPr>
                                      </m:ctrlPr>
                                    </m:sSubPr>
                                    <m:e>
                                      <m:r>
                                        <a:rPr lang="fr-FR" sz="1800" b="0" i="1" smtClean="0">
                                          <a:solidFill>
                                            <a:srgbClr val="FF0000"/>
                                          </a:solidFill>
                                          <a:latin typeface="Cambria Math"/>
                                        </a:rPr>
                                        <m:t>𝑓</m:t>
                                      </m:r>
                                    </m:e>
                                    <m:sub>
                                      <m:r>
                                        <a:rPr lang="fr-FR" sz="1800" b="0" i="1" smtClean="0">
                                          <a:solidFill>
                                            <a:srgbClr val="FF0000"/>
                                          </a:solidFill>
                                          <a:latin typeface="Cambria Math"/>
                                        </a:rPr>
                                        <m:t>𝑥</m:t>
                                      </m:r>
                                    </m:sub>
                                  </m:sSub>
                                </m:e>
                                <m:sup>
                                  <m:r>
                                    <a:rPr lang="fr-FR" sz="1800" b="0" i="1" smtClean="0">
                                      <a:solidFill>
                                        <a:srgbClr val="FF0000"/>
                                      </a:solidFill>
                                      <a:latin typeface="Cambria Math"/>
                                    </a:rPr>
                                    <m:t>𝑑</m:t>
                                  </m:r>
                                </m:sup>
                              </m:sSup>
                              <m:r>
                                <a:rPr lang="fr-FR" sz="1800" b="0" i="1" smtClean="0">
                                  <a:latin typeface="Cambria Math"/>
                                </a:rPr>
                                <m:t>+</m:t>
                              </m:r>
                              <m:sSup>
                                <m:sSupPr>
                                  <m:ctrlPr>
                                    <a:rPr lang="fr-FR" sz="1800" b="0" i="1" smtClean="0">
                                      <a:latin typeface="Cambria Math" panose="02040503050406030204" pitchFamily="18" charset="0"/>
                                    </a:rPr>
                                  </m:ctrlPr>
                                </m:sSupPr>
                                <m:e>
                                  <m:r>
                                    <a:rPr lang="fr-FR" sz="1800" b="0" i="1" smtClean="0">
                                      <a:latin typeface="Cambria Math"/>
                                    </a:rPr>
                                    <m:t>𝑥</m:t>
                                  </m:r>
                                </m:e>
                                <m:sup>
                                  <m:r>
                                    <a:rPr lang="fr-FR" sz="1800" b="0" i="1" smtClean="0">
                                      <a:latin typeface="Cambria Math"/>
                                    </a:rPr>
                                    <m:t>𝑑</m:t>
                                  </m:r>
                                </m:sup>
                              </m:sSup>
                            </m:e>
                          </m:d>
                          <m:r>
                            <a:rPr lang="fr-FR" sz="1800" b="0" i="1" smtClean="0">
                              <a:latin typeface="Cambria Math"/>
                            </a:rPr>
                            <m:t>−</m:t>
                          </m:r>
                          <m:d>
                            <m:dPr>
                              <m:ctrlPr>
                                <a:rPr lang="fr-FR" sz="1800" b="0" i="1" smtClean="0">
                                  <a:latin typeface="Cambria Math" panose="02040503050406030204" pitchFamily="18" charset="0"/>
                                </a:rPr>
                              </m:ctrlPr>
                            </m:dPr>
                            <m:e>
                              <m:sSub>
                                <m:sSubPr>
                                  <m:ctrlPr>
                                    <a:rPr lang="fr-FR" sz="1800" b="0" i="1" smtClean="0">
                                      <a:latin typeface="Cambria Math" panose="02040503050406030204" pitchFamily="18" charset="0"/>
                                    </a:rPr>
                                  </m:ctrlPr>
                                </m:sSubPr>
                                <m:e>
                                  <m:r>
                                    <a:rPr lang="fr-FR" sz="1800" b="0" i="1" smtClean="0">
                                      <a:latin typeface="Cambria Math"/>
                                      <a:ea typeface="Cambria Math"/>
                                    </a:rPr>
                                    <m:t>𝜆</m:t>
                                  </m:r>
                                </m:e>
                                <m:sub>
                                  <m:r>
                                    <a:rPr lang="fr-FR" sz="1800" b="0" i="1" smtClean="0">
                                      <a:latin typeface="Cambria Math"/>
                                    </a:rPr>
                                    <m:t>𝑥</m:t>
                                  </m:r>
                                </m:sub>
                              </m:sSub>
                              <m:sSup>
                                <m:sSupPr>
                                  <m:ctrlPr>
                                    <a:rPr lang="fr-FR" sz="1800" b="0" i="1" smtClean="0">
                                      <a:latin typeface="Cambria Math" panose="02040503050406030204" pitchFamily="18" charset="0"/>
                                    </a:rPr>
                                  </m:ctrlPr>
                                </m:sSupPr>
                                <m:e>
                                  <m:r>
                                    <a:rPr lang="fr-FR" sz="1800" b="0" i="1" smtClean="0">
                                      <a:latin typeface="Cambria Math"/>
                                    </a:rPr>
                                    <m:t>𝑠</m:t>
                                  </m:r>
                                </m:e>
                                <m:sup>
                                  <m:r>
                                    <a:rPr lang="fr-FR" sz="1800" b="0" i="1" smtClean="0">
                                      <a:latin typeface="Cambria Math"/>
                                    </a:rPr>
                                    <m:t>2</m:t>
                                  </m:r>
                                </m:sup>
                              </m:sSup>
                              <m:r>
                                <a:rPr lang="fr-FR" sz="1800" b="0" i="1" smtClean="0">
                                  <a:latin typeface="Cambria Math"/>
                                </a:rPr>
                                <m:t>+</m:t>
                              </m:r>
                              <m:sSub>
                                <m:sSubPr>
                                  <m:ctrlPr>
                                    <a:rPr lang="fr-FR" sz="1800" b="0" i="1" smtClean="0">
                                      <a:latin typeface="Cambria Math" panose="02040503050406030204" pitchFamily="18" charset="0"/>
                                    </a:rPr>
                                  </m:ctrlPr>
                                </m:sSubPr>
                                <m:e>
                                  <m:r>
                                    <a:rPr lang="fr-FR" sz="1800" b="0" i="1" smtClean="0">
                                      <a:latin typeface="Cambria Math"/>
                                    </a:rPr>
                                    <m:t>𝑏</m:t>
                                  </m:r>
                                </m:e>
                                <m:sub>
                                  <m:r>
                                    <a:rPr lang="fr-FR" sz="1800" b="0" i="1" smtClean="0">
                                      <a:latin typeface="Cambria Math"/>
                                    </a:rPr>
                                    <m:t>𝑥</m:t>
                                  </m:r>
                                </m:sub>
                              </m:sSub>
                              <m:r>
                                <a:rPr lang="fr-FR" sz="1800" b="0" i="1" smtClean="0">
                                  <a:latin typeface="Cambria Math"/>
                                </a:rPr>
                                <m:t>𝑠</m:t>
                              </m:r>
                              <m:r>
                                <a:rPr lang="fr-FR" sz="1800" b="0" i="1" smtClean="0">
                                  <a:latin typeface="Cambria Math"/>
                                </a:rPr>
                                <m:t>+</m:t>
                              </m:r>
                              <m:sSub>
                                <m:sSubPr>
                                  <m:ctrlPr>
                                    <a:rPr lang="fr-FR" sz="1800" b="0" i="1" smtClean="0">
                                      <a:latin typeface="Cambria Math" panose="02040503050406030204" pitchFamily="18" charset="0"/>
                                    </a:rPr>
                                  </m:ctrlPr>
                                </m:sSubPr>
                                <m:e>
                                  <m:r>
                                    <a:rPr lang="fr-FR" sz="1800" b="0" i="1" smtClean="0">
                                      <a:latin typeface="Cambria Math"/>
                                    </a:rPr>
                                    <m:t>𝑘</m:t>
                                  </m:r>
                                </m:e>
                                <m:sub>
                                  <m:r>
                                    <a:rPr lang="fr-FR" sz="1800" b="0" i="1" smtClean="0">
                                      <a:latin typeface="Cambria Math"/>
                                    </a:rPr>
                                    <m:t>𝑥</m:t>
                                  </m:r>
                                </m:sub>
                              </m:sSub>
                            </m:e>
                          </m:d>
                          <m:sSub>
                            <m:sSubPr>
                              <m:ctrlPr>
                                <a:rPr lang="fr-FR" sz="1800" b="0" i="1" smtClean="0">
                                  <a:latin typeface="Cambria Math" panose="02040503050406030204" pitchFamily="18" charset="0"/>
                                </a:rPr>
                              </m:ctrlPr>
                            </m:sSubPr>
                            <m:e>
                              <m:r>
                                <a:rPr lang="fr-FR" sz="1800" b="0" i="1" smtClean="0">
                                  <a:latin typeface="Cambria Math"/>
                                </a:rPr>
                                <m:t>𝑥</m:t>
                              </m:r>
                            </m:e>
                            <m:sub>
                              <m:r>
                                <a:rPr lang="fr-FR" sz="1800" b="0" i="1" smtClean="0">
                                  <a:latin typeface="Cambria Math"/>
                                </a:rPr>
                                <m:t>𝑒</m:t>
                              </m:r>
                            </m:sub>
                          </m:sSub>
                        </m:e>
                      </m:d>
                    </m:oMath>
                  </m:oMathPara>
                </a14:m>
                <a:endParaRPr lang="fr-FR" sz="1800" dirty="0"/>
              </a:p>
              <a:p>
                <a:pPr marL="0" indent="0">
                  <a:buNone/>
                </a:pPr>
                <a:endParaRPr lang="fr-FR" dirty="0"/>
              </a:p>
              <a:p>
                <a:pPr marL="0" indent="0">
                  <a:buNone/>
                </a:pPr>
                <a:r>
                  <a:rPr lang="fr-FR" sz="1800" dirty="0"/>
                  <a:t>Cas où </a:t>
                </a:r>
                <a14:m>
                  <m:oMath xmlns:m="http://schemas.openxmlformats.org/officeDocument/2006/math">
                    <m:sSub>
                      <m:sSubPr>
                        <m:ctrlPr>
                          <a:rPr lang="fr-FR" sz="1800" i="1">
                            <a:latin typeface="Cambria Math" panose="02040503050406030204" pitchFamily="18" charset="0"/>
                          </a:rPr>
                        </m:ctrlPr>
                      </m:sSubPr>
                      <m:e>
                        <m:r>
                          <a:rPr lang="fr-FR" sz="1800" i="1">
                            <a:latin typeface="Cambria Math"/>
                          </a:rPr>
                          <m:t>𝑐</m:t>
                        </m:r>
                      </m:e>
                      <m:sub>
                        <m:sSub>
                          <m:sSubPr>
                            <m:ctrlPr>
                              <a:rPr lang="fr-FR" sz="1800" i="1">
                                <a:latin typeface="Cambria Math" panose="02040503050406030204" pitchFamily="18" charset="0"/>
                              </a:rPr>
                            </m:ctrlPr>
                          </m:sSubPr>
                          <m:e>
                            <m:r>
                              <a:rPr lang="fr-FR" sz="1800" i="1">
                                <a:latin typeface="Cambria Math"/>
                              </a:rPr>
                              <m:t>𝑓</m:t>
                            </m:r>
                          </m:e>
                          <m:sub>
                            <m:r>
                              <a:rPr lang="fr-FR" sz="1800" i="1">
                                <a:latin typeface="Cambria Math"/>
                              </a:rPr>
                              <m:t>𝑥</m:t>
                            </m:r>
                          </m:sub>
                        </m:sSub>
                      </m:sub>
                    </m:sSub>
                  </m:oMath>
                </a14:m>
                <a:r>
                  <a:rPr lang="fr-FR" sz="1800" dirty="0"/>
                  <a:t>est un correcteur PI : </a:t>
                </a:r>
                <a14:m>
                  <m:oMath xmlns:m="http://schemas.openxmlformats.org/officeDocument/2006/math">
                    <m:sSub>
                      <m:sSubPr>
                        <m:ctrlPr>
                          <a:rPr lang="fr-FR" sz="1800" i="1" smtClean="0">
                            <a:solidFill>
                              <a:srgbClr val="0066FF"/>
                            </a:solidFill>
                            <a:latin typeface="Cambria Math" panose="02040503050406030204" pitchFamily="18" charset="0"/>
                          </a:rPr>
                        </m:ctrlPr>
                      </m:sSubPr>
                      <m:e>
                        <m:r>
                          <a:rPr lang="fr-FR" sz="1800" i="1">
                            <a:solidFill>
                              <a:srgbClr val="0066FF"/>
                            </a:solidFill>
                            <a:latin typeface="Cambria Math"/>
                          </a:rPr>
                          <m:t>𝑐</m:t>
                        </m:r>
                      </m:e>
                      <m:sub>
                        <m:sSub>
                          <m:sSubPr>
                            <m:ctrlPr>
                              <a:rPr lang="fr-FR" sz="1800" i="1">
                                <a:solidFill>
                                  <a:srgbClr val="0066FF"/>
                                </a:solidFill>
                                <a:latin typeface="Cambria Math" panose="02040503050406030204" pitchFamily="18" charset="0"/>
                              </a:rPr>
                            </m:ctrlPr>
                          </m:sSubPr>
                          <m:e>
                            <m:r>
                              <a:rPr lang="fr-FR" sz="1800" i="1">
                                <a:solidFill>
                                  <a:srgbClr val="0066FF"/>
                                </a:solidFill>
                                <a:latin typeface="Cambria Math"/>
                              </a:rPr>
                              <m:t>𝑓</m:t>
                            </m:r>
                          </m:e>
                          <m:sub>
                            <m:r>
                              <a:rPr lang="fr-FR" sz="1800" i="1">
                                <a:solidFill>
                                  <a:srgbClr val="0066FF"/>
                                </a:solidFill>
                                <a:latin typeface="Cambria Math"/>
                              </a:rPr>
                              <m:t>𝑥</m:t>
                            </m:r>
                          </m:sub>
                        </m:sSub>
                      </m:sub>
                    </m:sSub>
                    <m:r>
                      <a:rPr lang="fr-FR" sz="1800" i="1">
                        <a:solidFill>
                          <a:srgbClr val="0066FF"/>
                        </a:solidFill>
                        <a:latin typeface="Cambria Math"/>
                      </a:rPr>
                      <m:t>=</m:t>
                    </m:r>
                    <m:f>
                      <m:fPr>
                        <m:ctrlPr>
                          <a:rPr lang="fr-FR" sz="1800" i="1">
                            <a:solidFill>
                              <a:srgbClr val="0066FF"/>
                            </a:solidFill>
                            <a:latin typeface="Cambria Math" panose="02040503050406030204" pitchFamily="18" charset="0"/>
                          </a:rPr>
                        </m:ctrlPr>
                      </m:fPr>
                      <m:num>
                        <m:sSub>
                          <m:sSubPr>
                            <m:ctrlPr>
                              <a:rPr lang="fr-FR" sz="1800" i="1">
                                <a:solidFill>
                                  <a:srgbClr val="0066FF"/>
                                </a:solidFill>
                                <a:latin typeface="Cambria Math" panose="02040503050406030204" pitchFamily="18" charset="0"/>
                              </a:rPr>
                            </m:ctrlPr>
                          </m:sSubPr>
                          <m:e>
                            <m:r>
                              <a:rPr lang="fr-FR" sz="1800" i="1">
                                <a:solidFill>
                                  <a:srgbClr val="0066FF"/>
                                </a:solidFill>
                                <a:latin typeface="Cambria Math"/>
                              </a:rPr>
                              <m:t>𝑘</m:t>
                            </m:r>
                          </m:e>
                          <m:sub>
                            <m:r>
                              <a:rPr lang="fr-FR" sz="1800" i="1">
                                <a:solidFill>
                                  <a:srgbClr val="0066FF"/>
                                </a:solidFill>
                                <a:latin typeface="Cambria Math"/>
                              </a:rPr>
                              <m:t>𝑝</m:t>
                            </m:r>
                          </m:sub>
                        </m:sSub>
                        <m:r>
                          <a:rPr lang="fr-FR" sz="1800" i="1">
                            <a:solidFill>
                              <a:srgbClr val="0066FF"/>
                            </a:solidFill>
                            <a:latin typeface="Cambria Math"/>
                          </a:rPr>
                          <m:t>𝑠</m:t>
                        </m:r>
                        <m:r>
                          <a:rPr lang="fr-FR" sz="1800" i="1">
                            <a:solidFill>
                              <a:srgbClr val="0066FF"/>
                            </a:solidFill>
                            <a:latin typeface="Cambria Math"/>
                          </a:rPr>
                          <m:t>+</m:t>
                        </m:r>
                        <m:sSub>
                          <m:sSubPr>
                            <m:ctrlPr>
                              <a:rPr lang="fr-FR" sz="1800" i="1">
                                <a:solidFill>
                                  <a:srgbClr val="0066FF"/>
                                </a:solidFill>
                                <a:latin typeface="Cambria Math" panose="02040503050406030204" pitchFamily="18" charset="0"/>
                              </a:rPr>
                            </m:ctrlPr>
                          </m:sSubPr>
                          <m:e>
                            <m:r>
                              <a:rPr lang="fr-FR" sz="1800" i="1">
                                <a:solidFill>
                                  <a:srgbClr val="0066FF"/>
                                </a:solidFill>
                                <a:latin typeface="Cambria Math"/>
                              </a:rPr>
                              <m:t>𝑘</m:t>
                            </m:r>
                          </m:e>
                          <m:sub>
                            <m:r>
                              <a:rPr lang="fr-FR" sz="1800" i="1">
                                <a:solidFill>
                                  <a:srgbClr val="0066FF"/>
                                </a:solidFill>
                                <a:latin typeface="Cambria Math"/>
                              </a:rPr>
                              <m:t>𝑖</m:t>
                            </m:r>
                          </m:sub>
                        </m:sSub>
                      </m:num>
                      <m:den>
                        <m:r>
                          <a:rPr lang="fr-FR" sz="1800" i="1">
                            <a:solidFill>
                              <a:srgbClr val="0066FF"/>
                            </a:solidFill>
                            <a:latin typeface="Cambria Math"/>
                          </a:rPr>
                          <m:t>𝑠</m:t>
                        </m:r>
                      </m:den>
                    </m:f>
                  </m:oMath>
                </a14:m>
                <a:endParaRPr lang="fr-FR" sz="1800" dirty="0"/>
              </a:p>
              <a:p>
                <a:pPr marL="0" indent="0">
                  <a:buNone/>
                </a:pPr>
                <a:endParaRPr lang="fr-FR" sz="1800" dirty="0"/>
              </a:p>
              <a:p>
                <a:pPr marL="0" indent="0">
                  <a:buNone/>
                </a:pPr>
                <a:endParaRPr lang="fr-FR" sz="1800"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3"/>
                <a:stretch>
                  <a:fillRect l="-584" t="-552"/>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hybride position/force</a:t>
            </a:r>
          </a:p>
        </p:txBody>
      </p:sp>
    </p:spTree>
    <p:extLst>
      <p:ext uri="{BB962C8B-B14F-4D97-AF65-F5344CB8AC3E}">
        <p14:creationId xmlns:p14="http://schemas.microsoft.com/office/powerpoint/2010/main" val="165778946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fr-FR" sz="1600" i="1">
                              <a:solidFill>
                                <a:srgbClr val="FF0000"/>
                              </a:solidFill>
                              <a:latin typeface="Cambria Math" panose="02040503050406030204" pitchFamily="18" charset="0"/>
                            </a:rPr>
                          </m:ctrlPr>
                        </m:sSubPr>
                        <m:e>
                          <m:r>
                            <a:rPr lang="fr-FR" sz="1600" i="1">
                              <a:solidFill>
                                <a:srgbClr val="FF0000"/>
                              </a:solidFill>
                              <a:latin typeface="Cambria Math"/>
                            </a:rPr>
                            <m:t>𝑓</m:t>
                          </m:r>
                        </m:e>
                        <m:sub>
                          <m:r>
                            <a:rPr lang="fr-FR" sz="1600" i="1">
                              <a:solidFill>
                                <a:srgbClr val="FF0000"/>
                              </a:solidFill>
                              <a:latin typeface="Cambria Math"/>
                            </a:rPr>
                            <m:t>𝑒𝑥</m:t>
                          </m:r>
                        </m:sub>
                      </m:sSub>
                      <m:r>
                        <a:rPr lang="fr-FR" sz="1600" i="1">
                          <a:latin typeface="Cambria Math"/>
                        </a:rPr>
                        <m:t>=</m:t>
                      </m:r>
                      <m:f>
                        <m:fPr>
                          <m:ctrlPr>
                            <a:rPr lang="fr-FR" sz="1600" i="1">
                              <a:latin typeface="Cambria Math" panose="02040503050406030204" pitchFamily="18" charset="0"/>
                            </a:rPr>
                          </m:ctrlPr>
                        </m:fPr>
                        <m:num>
                          <m:sSub>
                            <m:sSubPr>
                              <m:ctrlPr>
                                <a:rPr lang="fr-FR" sz="1600" i="1">
                                  <a:latin typeface="Cambria Math" panose="02040503050406030204" pitchFamily="18" charset="0"/>
                                </a:rPr>
                              </m:ctrlPr>
                            </m:sSubPr>
                            <m:e>
                              <m:r>
                                <a:rPr lang="fr-FR" sz="1600" i="1">
                                  <a:latin typeface="Cambria Math"/>
                                </a:rPr>
                                <m:t>𝑘</m:t>
                              </m:r>
                            </m:e>
                            <m:sub>
                              <m:r>
                                <a:rPr lang="fr-FR" sz="1600" i="1">
                                  <a:latin typeface="Cambria Math"/>
                                </a:rPr>
                                <m:t>𝑒𝑥</m:t>
                              </m:r>
                            </m:sub>
                          </m:sSub>
                          <m:r>
                            <a:rPr lang="fr-FR" sz="1600" i="1">
                              <a:latin typeface="Cambria Math"/>
                            </a:rPr>
                            <m:t>𝑠</m:t>
                          </m:r>
                        </m:num>
                        <m:den>
                          <m:sSub>
                            <m:sSubPr>
                              <m:ctrlPr>
                                <a:rPr lang="fr-FR" sz="1600" i="1">
                                  <a:latin typeface="Cambria Math" panose="02040503050406030204" pitchFamily="18" charset="0"/>
                                </a:rPr>
                              </m:ctrlPr>
                            </m:sSubPr>
                            <m:e>
                              <m:r>
                                <a:rPr lang="fr-FR" sz="1600" i="1">
                                  <a:latin typeface="Cambria Math"/>
                                  <a:ea typeface="Cambria Math"/>
                                </a:rPr>
                                <m:t>𝜆</m:t>
                              </m:r>
                            </m:e>
                            <m:sub>
                              <m:r>
                                <a:rPr lang="fr-FR" sz="1600" i="1">
                                  <a:latin typeface="Cambria Math"/>
                                </a:rPr>
                                <m:t>𝑥</m:t>
                              </m:r>
                            </m:sub>
                          </m:sSub>
                          <m:sSup>
                            <m:sSupPr>
                              <m:ctrlPr>
                                <a:rPr lang="fr-FR" sz="1600" i="1">
                                  <a:latin typeface="Cambria Math" panose="02040503050406030204" pitchFamily="18" charset="0"/>
                                </a:rPr>
                              </m:ctrlPr>
                            </m:sSupPr>
                            <m:e>
                              <m:r>
                                <a:rPr lang="fr-FR" sz="1600" i="1">
                                  <a:latin typeface="Cambria Math"/>
                                </a:rPr>
                                <m:t>𝑠</m:t>
                              </m:r>
                            </m:e>
                            <m:sup>
                              <m:r>
                                <a:rPr lang="fr-FR" sz="1600" i="1">
                                  <a:latin typeface="Cambria Math"/>
                                </a:rPr>
                                <m:t>3</m:t>
                              </m:r>
                            </m:sup>
                          </m:sSup>
                          <m:r>
                            <a:rPr lang="fr-FR" sz="1600" i="1">
                              <a:latin typeface="Cambria Math"/>
                            </a:rPr>
                            <m:t>+</m:t>
                          </m:r>
                          <m:sSub>
                            <m:sSubPr>
                              <m:ctrlPr>
                                <a:rPr lang="fr-FR" sz="1600" i="1">
                                  <a:latin typeface="Cambria Math" panose="02040503050406030204" pitchFamily="18" charset="0"/>
                                </a:rPr>
                              </m:ctrlPr>
                            </m:sSubPr>
                            <m:e>
                              <m:r>
                                <a:rPr lang="fr-FR" sz="1600" i="1">
                                  <a:latin typeface="Cambria Math"/>
                                </a:rPr>
                                <m:t>𝑏</m:t>
                              </m:r>
                            </m:e>
                            <m:sub>
                              <m:r>
                                <a:rPr lang="fr-FR" sz="1600" i="1">
                                  <a:latin typeface="Cambria Math"/>
                                </a:rPr>
                                <m:t>𝑥</m:t>
                              </m:r>
                            </m:sub>
                          </m:sSub>
                          <m:sSup>
                            <m:sSupPr>
                              <m:ctrlPr>
                                <a:rPr lang="fr-FR" sz="1600" i="1">
                                  <a:latin typeface="Cambria Math" panose="02040503050406030204" pitchFamily="18" charset="0"/>
                                </a:rPr>
                              </m:ctrlPr>
                            </m:sSupPr>
                            <m:e>
                              <m:r>
                                <a:rPr lang="fr-FR" sz="1600" i="1">
                                  <a:latin typeface="Cambria Math"/>
                                </a:rPr>
                                <m:t>𝑠</m:t>
                              </m:r>
                            </m:e>
                            <m:sup>
                              <m:r>
                                <a:rPr lang="fr-FR" sz="1600" i="1">
                                  <a:latin typeface="Cambria Math"/>
                                </a:rPr>
                                <m:t>2</m:t>
                              </m:r>
                            </m:sup>
                          </m:sSup>
                          <m:r>
                            <a:rPr lang="fr-FR" sz="1600" i="1">
                              <a:latin typeface="Cambria Math"/>
                            </a:rPr>
                            <m:t>+</m:t>
                          </m:r>
                          <m:sSub>
                            <m:sSubPr>
                              <m:ctrlPr>
                                <a:rPr lang="fr-FR" sz="1600" i="1">
                                  <a:latin typeface="Cambria Math" panose="02040503050406030204" pitchFamily="18" charset="0"/>
                                </a:rPr>
                              </m:ctrlPr>
                            </m:sSubPr>
                            <m:e>
                              <m:r>
                                <a:rPr lang="fr-FR" sz="1600" i="1">
                                  <a:latin typeface="Cambria Math"/>
                                </a:rPr>
                                <m:t>𝑘</m:t>
                              </m:r>
                            </m:e>
                            <m:sub>
                              <m:r>
                                <a:rPr lang="fr-FR" sz="1600" i="1">
                                  <a:latin typeface="Cambria Math"/>
                                </a:rPr>
                                <m:t>𝑥</m:t>
                              </m:r>
                            </m:sub>
                          </m:sSub>
                          <m:d>
                            <m:dPr>
                              <m:ctrlPr>
                                <a:rPr lang="fr-FR" sz="1600" i="1">
                                  <a:latin typeface="Cambria Math" panose="02040503050406030204" pitchFamily="18" charset="0"/>
                                </a:rPr>
                              </m:ctrlPr>
                            </m:dPr>
                            <m:e>
                              <m:r>
                                <a:rPr lang="fr-FR" sz="1600" i="1">
                                  <a:latin typeface="Cambria Math"/>
                                </a:rPr>
                                <m:t>𝑠</m:t>
                              </m:r>
                              <m:r>
                                <a:rPr lang="fr-FR" sz="1600" i="1">
                                  <a:latin typeface="Cambria Math"/>
                                </a:rPr>
                                <m:t>+</m:t>
                              </m:r>
                              <m:sSub>
                                <m:sSubPr>
                                  <m:ctrlPr>
                                    <a:rPr lang="fr-FR" sz="1600" i="1">
                                      <a:latin typeface="Cambria Math" panose="02040503050406030204" pitchFamily="18" charset="0"/>
                                    </a:rPr>
                                  </m:ctrlPr>
                                </m:sSubPr>
                                <m:e>
                                  <m:r>
                                    <a:rPr lang="fr-FR" sz="1600" i="1">
                                      <a:latin typeface="Cambria Math"/>
                                    </a:rPr>
                                    <m:t>𝑘</m:t>
                                  </m:r>
                                </m:e>
                                <m:sub>
                                  <m:r>
                                    <a:rPr lang="fr-FR" sz="1600" i="1">
                                      <a:latin typeface="Cambria Math"/>
                                    </a:rPr>
                                    <m:t>𝑒𝑥</m:t>
                                  </m:r>
                                </m:sub>
                              </m:sSub>
                              <m:d>
                                <m:dPr>
                                  <m:ctrlPr>
                                    <a:rPr lang="fr-FR" sz="1600" i="1">
                                      <a:latin typeface="Cambria Math" panose="02040503050406030204" pitchFamily="18" charset="0"/>
                                    </a:rPr>
                                  </m:ctrlPr>
                                </m:dPr>
                                <m:e>
                                  <m:sSub>
                                    <m:sSubPr>
                                      <m:ctrlPr>
                                        <a:rPr lang="fr-FR" sz="1600" i="1">
                                          <a:latin typeface="Cambria Math" panose="02040503050406030204" pitchFamily="18" charset="0"/>
                                        </a:rPr>
                                      </m:ctrlPr>
                                    </m:sSubPr>
                                    <m:e>
                                      <m:r>
                                        <a:rPr lang="fr-FR" sz="1600" i="1">
                                          <a:latin typeface="Cambria Math"/>
                                        </a:rPr>
                                        <m:t>𝑘</m:t>
                                      </m:r>
                                    </m:e>
                                    <m:sub>
                                      <m:r>
                                        <a:rPr lang="fr-FR" sz="1600" i="1">
                                          <a:latin typeface="Cambria Math"/>
                                        </a:rPr>
                                        <m:t>𝑝</m:t>
                                      </m:r>
                                    </m:sub>
                                  </m:sSub>
                                  <m:r>
                                    <a:rPr lang="fr-FR" sz="1600" i="1">
                                      <a:latin typeface="Cambria Math"/>
                                    </a:rPr>
                                    <m:t>𝑠</m:t>
                                  </m:r>
                                  <m:r>
                                    <a:rPr lang="fr-FR" sz="1600" i="1">
                                      <a:latin typeface="Cambria Math"/>
                                    </a:rPr>
                                    <m:t>+</m:t>
                                  </m:r>
                                  <m:sSub>
                                    <m:sSubPr>
                                      <m:ctrlPr>
                                        <a:rPr lang="fr-FR" sz="1600" i="1">
                                          <a:latin typeface="Cambria Math" panose="02040503050406030204" pitchFamily="18" charset="0"/>
                                        </a:rPr>
                                      </m:ctrlPr>
                                    </m:sSubPr>
                                    <m:e>
                                      <m:r>
                                        <a:rPr lang="fr-FR" sz="1600" i="1">
                                          <a:latin typeface="Cambria Math"/>
                                        </a:rPr>
                                        <m:t>𝑘</m:t>
                                      </m:r>
                                    </m:e>
                                    <m:sub>
                                      <m:r>
                                        <a:rPr lang="fr-FR" sz="1600" i="1">
                                          <a:latin typeface="Cambria Math"/>
                                        </a:rPr>
                                        <m:t>𝑖</m:t>
                                      </m:r>
                                    </m:sub>
                                  </m:sSub>
                                </m:e>
                              </m:d>
                            </m:e>
                          </m:d>
                        </m:den>
                      </m:f>
                      <m:d>
                        <m:dPr>
                          <m:begChr m:val="["/>
                          <m:endChr m:val="]"/>
                          <m:ctrlPr>
                            <a:rPr lang="fr-FR" sz="1600" i="1">
                              <a:latin typeface="Cambria Math" panose="02040503050406030204" pitchFamily="18" charset="0"/>
                            </a:rPr>
                          </m:ctrlPr>
                        </m:dPr>
                        <m:e>
                          <m:f>
                            <m:fPr>
                              <m:ctrlPr>
                                <a:rPr lang="fr-FR" sz="1600" i="1">
                                  <a:latin typeface="Cambria Math" panose="02040503050406030204" pitchFamily="18" charset="0"/>
                                </a:rPr>
                              </m:ctrlPr>
                            </m:fPr>
                            <m:num>
                              <m:sSub>
                                <m:sSubPr>
                                  <m:ctrlPr>
                                    <a:rPr lang="fr-FR" sz="1600" i="1">
                                      <a:latin typeface="Cambria Math" panose="02040503050406030204" pitchFamily="18" charset="0"/>
                                    </a:rPr>
                                  </m:ctrlPr>
                                </m:sSubPr>
                                <m:e>
                                  <m:r>
                                    <a:rPr lang="fr-FR" sz="1600" i="1">
                                      <a:latin typeface="Cambria Math"/>
                                    </a:rPr>
                                    <m:t>𝑘</m:t>
                                  </m:r>
                                </m:e>
                                <m:sub>
                                  <m:r>
                                    <a:rPr lang="fr-FR" sz="1600" i="1">
                                      <a:latin typeface="Cambria Math"/>
                                    </a:rPr>
                                    <m:t>𝑥</m:t>
                                  </m:r>
                                </m:sub>
                              </m:sSub>
                              <m:d>
                                <m:dPr>
                                  <m:ctrlPr>
                                    <a:rPr lang="fr-FR" sz="1600" i="1">
                                      <a:latin typeface="Cambria Math" panose="02040503050406030204" pitchFamily="18" charset="0"/>
                                    </a:rPr>
                                  </m:ctrlPr>
                                </m:dPr>
                                <m:e>
                                  <m:sSub>
                                    <m:sSubPr>
                                      <m:ctrlPr>
                                        <a:rPr lang="fr-FR" sz="1600" i="1">
                                          <a:latin typeface="Cambria Math" panose="02040503050406030204" pitchFamily="18" charset="0"/>
                                        </a:rPr>
                                      </m:ctrlPr>
                                    </m:sSubPr>
                                    <m:e>
                                      <m:r>
                                        <a:rPr lang="fr-FR" sz="1600" i="1">
                                          <a:latin typeface="Cambria Math"/>
                                        </a:rPr>
                                        <m:t>𝑘</m:t>
                                      </m:r>
                                    </m:e>
                                    <m:sub>
                                      <m:r>
                                        <a:rPr lang="fr-FR" sz="1600" i="1">
                                          <a:latin typeface="Cambria Math"/>
                                        </a:rPr>
                                        <m:t>𝑝</m:t>
                                      </m:r>
                                    </m:sub>
                                  </m:sSub>
                                  <m:r>
                                    <a:rPr lang="fr-FR" sz="1600" i="1">
                                      <a:latin typeface="Cambria Math"/>
                                    </a:rPr>
                                    <m:t>𝑠</m:t>
                                  </m:r>
                                  <m:r>
                                    <a:rPr lang="fr-FR" sz="1600" i="1">
                                      <a:latin typeface="Cambria Math"/>
                                    </a:rPr>
                                    <m:t>+</m:t>
                                  </m:r>
                                  <m:sSub>
                                    <m:sSubPr>
                                      <m:ctrlPr>
                                        <a:rPr lang="fr-FR" sz="1600" i="1">
                                          <a:latin typeface="Cambria Math" panose="02040503050406030204" pitchFamily="18" charset="0"/>
                                        </a:rPr>
                                      </m:ctrlPr>
                                    </m:sSubPr>
                                    <m:e>
                                      <m:r>
                                        <a:rPr lang="fr-FR" sz="1600" i="1">
                                          <a:latin typeface="Cambria Math"/>
                                        </a:rPr>
                                        <m:t>𝑘</m:t>
                                      </m:r>
                                    </m:e>
                                    <m:sub>
                                      <m:r>
                                        <a:rPr lang="fr-FR" sz="1600" i="1">
                                          <a:latin typeface="Cambria Math"/>
                                        </a:rPr>
                                        <m:t>𝑖</m:t>
                                      </m:r>
                                    </m:sub>
                                  </m:sSub>
                                </m:e>
                              </m:d>
                            </m:num>
                            <m:den>
                              <m:r>
                                <a:rPr lang="fr-FR" sz="1600" i="1">
                                  <a:latin typeface="Cambria Math"/>
                                </a:rPr>
                                <m:t>𝑠</m:t>
                              </m:r>
                            </m:den>
                          </m:f>
                          <m:sSup>
                            <m:sSupPr>
                              <m:ctrlPr>
                                <a:rPr lang="fr-FR" sz="1600" i="1">
                                  <a:solidFill>
                                    <a:srgbClr val="FF0000"/>
                                  </a:solidFill>
                                  <a:latin typeface="Cambria Math" panose="02040503050406030204" pitchFamily="18" charset="0"/>
                                </a:rPr>
                              </m:ctrlPr>
                            </m:sSupPr>
                            <m:e>
                              <m:sSub>
                                <m:sSubPr>
                                  <m:ctrlPr>
                                    <a:rPr lang="fr-FR" sz="1600" i="1">
                                      <a:solidFill>
                                        <a:srgbClr val="FF0000"/>
                                      </a:solidFill>
                                      <a:latin typeface="Cambria Math" panose="02040503050406030204" pitchFamily="18" charset="0"/>
                                    </a:rPr>
                                  </m:ctrlPr>
                                </m:sSubPr>
                                <m:e>
                                  <m:r>
                                    <a:rPr lang="fr-FR" sz="1600" i="1">
                                      <a:solidFill>
                                        <a:srgbClr val="FF0000"/>
                                      </a:solidFill>
                                      <a:latin typeface="Cambria Math"/>
                                    </a:rPr>
                                    <m:t>𝑓</m:t>
                                  </m:r>
                                </m:e>
                                <m:sub>
                                  <m:r>
                                    <a:rPr lang="fr-FR" sz="1600" i="1">
                                      <a:solidFill>
                                        <a:srgbClr val="FF0000"/>
                                      </a:solidFill>
                                      <a:latin typeface="Cambria Math"/>
                                    </a:rPr>
                                    <m:t>𝑥</m:t>
                                  </m:r>
                                </m:sub>
                              </m:sSub>
                            </m:e>
                            <m:sup>
                              <m:r>
                                <a:rPr lang="fr-FR" sz="1600" i="1">
                                  <a:solidFill>
                                    <a:srgbClr val="FF0000"/>
                                  </a:solidFill>
                                  <a:latin typeface="Cambria Math"/>
                                </a:rPr>
                                <m:t>𝑑</m:t>
                              </m:r>
                            </m:sup>
                          </m:sSup>
                          <m:r>
                            <a:rPr lang="fr-FR" sz="1600" i="1">
                              <a:latin typeface="Cambria Math"/>
                            </a:rPr>
                            <m:t>+</m:t>
                          </m:r>
                          <m:sSub>
                            <m:sSubPr>
                              <m:ctrlPr>
                                <a:rPr lang="fr-FR" sz="1600" i="1">
                                  <a:latin typeface="Cambria Math" panose="02040503050406030204" pitchFamily="18" charset="0"/>
                                </a:rPr>
                              </m:ctrlPr>
                            </m:sSubPr>
                            <m:e>
                              <m:r>
                                <a:rPr lang="fr-FR" sz="1600" i="1">
                                  <a:latin typeface="Cambria Math"/>
                                </a:rPr>
                                <m:t>𝑘</m:t>
                              </m:r>
                            </m:e>
                            <m:sub>
                              <m:r>
                                <a:rPr lang="fr-FR" sz="1600" i="1">
                                  <a:latin typeface="Cambria Math"/>
                                </a:rPr>
                                <m:t>𝑥</m:t>
                              </m:r>
                            </m:sub>
                          </m:sSub>
                          <m:sSup>
                            <m:sSupPr>
                              <m:ctrlPr>
                                <a:rPr lang="fr-FR" sz="1600" i="1">
                                  <a:latin typeface="Cambria Math" panose="02040503050406030204" pitchFamily="18" charset="0"/>
                                </a:rPr>
                              </m:ctrlPr>
                            </m:sSupPr>
                            <m:e>
                              <m:r>
                                <a:rPr lang="fr-FR" sz="1600" i="1">
                                  <a:latin typeface="Cambria Math"/>
                                </a:rPr>
                                <m:t>𝑥</m:t>
                              </m:r>
                            </m:e>
                            <m:sup>
                              <m:r>
                                <a:rPr lang="fr-FR" sz="1600" i="1">
                                  <a:latin typeface="Cambria Math"/>
                                </a:rPr>
                                <m:t>𝑑</m:t>
                              </m:r>
                            </m:sup>
                          </m:sSup>
                          <m:r>
                            <a:rPr lang="fr-FR" sz="1600" i="1">
                              <a:latin typeface="Cambria Math"/>
                            </a:rPr>
                            <m:t>−</m:t>
                          </m:r>
                          <m:d>
                            <m:dPr>
                              <m:ctrlPr>
                                <a:rPr lang="fr-FR" sz="1600" i="1">
                                  <a:latin typeface="Cambria Math" panose="02040503050406030204" pitchFamily="18" charset="0"/>
                                </a:rPr>
                              </m:ctrlPr>
                            </m:dPr>
                            <m:e>
                              <m:sSub>
                                <m:sSubPr>
                                  <m:ctrlPr>
                                    <a:rPr lang="fr-FR" sz="1600" i="1">
                                      <a:latin typeface="Cambria Math" panose="02040503050406030204" pitchFamily="18" charset="0"/>
                                    </a:rPr>
                                  </m:ctrlPr>
                                </m:sSubPr>
                                <m:e>
                                  <m:r>
                                    <a:rPr lang="fr-FR" sz="1600" i="1">
                                      <a:latin typeface="Cambria Math"/>
                                      <a:ea typeface="Cambria Math"/>
                                    </a:rPr>
                                    <m:t>𝜆</m:t>
                                  </m:r>
                                </m:e>
                                <m:sub>
                                  <m:r>
                                    <a:rPr lang="fr-FR" sz="1600" i="1">
                                      <a:latin typeface="Cambria Math"/>
                                    </a:rPr>
                                    <m:t>𝑥</m:t>
                                  </m:r>
                                </m:sub>
                              </m:sSub>
                              <m:sSup>
                                <m:sSupPr>
                                  <m:ctrlPr>
                                    <a:rPr lang="fr-FR" sz="1600" i="1">
                                      <a:latin typeface="Cambria Math" panose="02040503050406030204" pitchFamily="18" charset="0"/>
                                    </a:rPr>
                                  </m:ctrlPr>
                                </m:sSupPr>
                                <m:e>
                                  <m:r>
                                    <a:rPr lang="fr-FR" sz="1600" i="1">
                                      <a:latin typeface="Cambria Math"/>
                                    </a:rPr>
                                    <m:t>𝑠</m:t>
                                  </m:r>
                                </m:e>
                                <m:sup>
                                  <m:r>
                                    <a:rPr lang="fr-FR" sz="1600" i="1">
                                      <a:latin typeface="Cambria Math"/>
                                    </a:rPr>
                                    <m:t>2</m:t>
                                  </m:r>
                                </m:sup>
                              </m:sSup>
                              <m:r>
                                <a:rPr lang="fr-FR" sz="1600" i="1">
                                  <a:latin typeface="Cambria Math"/>
                                </a:rPr>
                                <m:t>+</m:t>
                              </m:r>
                              <m:sSub>
                                <m:sSubPr>
                                  <m:ctrlPr>
                                    <a:rPr lang="fr-FR" sz="1600" i="1">
                                      <a:latin typeface="Cambria Math" panose="02040503050406030204" pitchFamily="18" charset="0"/>
                                    </a:rPr>
                                  </m:ctrlPr>
                                </m:sSubPr>
                                <m:e>
                                  <m:r>
                                    <a:rPr lang="fr-FR" sz="1600" i="1">
                                      <a:latin typeface="Cambria Math"/>
                                    </a:rPr>
                                    <m:t>𝑏</m:t>
                                  </m:r>
                                </m:e>
                                <m:sub>
                                  <m:r>
                                    <a:rPr lang="fr-FR" sz="1600" i="1">
                                      <a:latin typeface="Cambria Math"/>
                                    </a:rPr>
                                    <m:t>𝑥</m:t>
                                  </m:r>
                                </m:sub>
                              </m:sSub>
                              <m:r>
                                <a:rPr lang="fr-FR" sz="1600" i="1">
                                  <a:latin typeface="Cambria Math"/>
                                </a:rPr>
                                <m:t>𝑠</m:t>
                              </m:r>
                              <m:r>
                                <a:rPr lang="fr-FR" sz="1600" i="1">
                                  <a:latin typeface="Cambria Math"/>
                                </a:rPr>
                                <m:t>+</m:t>
                              </m:r>
                              <m:sSub>
                                <m:sSubPr>
                                  <m:ctrlPr>
                                    <a:rPr lang="fr-FR" sz="1600" i="1">
                                      <a:latin typeface="Cambria Math" panose="02040503050406030204" pitchFamily="18" charset="0"/>
                                    </a:rPr>
                                  </m:ctrlPr>
                                </m:sSubPr>
                                <m:e>
                                  <m:r>
                                    <a:rPr lang="fr-FR" sz="1600" i="1">
                                      <a:latin typeface="Cambria Math"/>
                                    </a:rPr>
                                    <m:t>𝑘</m:t>
                                  </m:r>
                                </m:e>
                                <m:sub>
                                  <m:r>
                                    <a:rPr lang="fr-FR" sz="1600" i="1">
                                      <a:latin typeface="Cambria Math"/>
                                    </a:rPr>
                                    <m:t>𝑥</m:t>
                                  </m:r>
                                </m:sub>
                              </m:sSub>
                            </m:e>
                          </m:d>
                          <m:sSub>
                            <m:sSubPr>
                              <m:ctrlPr>
                                <a:rPr lang="fr-FR" sz="1600" i="1">
                                  <a:latin typeface="Cambria Math" panose="02040503050406030204" pitchFamily="18" charset="0"/>
                                </a:rPr>
                              </m:ctrlPr>
                            </m:sSubPr>
                            <m:e>
                              <m:r>
                                <a:rPr lang="fr-FR" sz="1600" i="1">
                                  <a:latin typeface="Cambria Math"/>
                                </a:rPr>
                                <m:t>𝑥</m:t>
                              </m:r>
                            </m:e>
                            <m:sub>
                              <m:r>
                                <a:rPr lang="fr-FR" sz="1600" i="1">
                                  <a:latin typeface="Cambria Math"/>
                                </a:rPr>
                                <m:t>𝑒</m:t>
                              </m:r>
                            </m:sub>
                          </m:sSub>
                        </m:e>
                      </m:d>
                    </m:oMath>
                  </m:oMathPara>
                </a14:m>
                <a:endParaRPr lang="fr-FR" sz="1600" dirty="0"/>
              </a:p>
              <a:p>
                <a:pPr marL="0" indent="0">
                  <a:buNone/>
                </a:pPr>
                <a:endParaRPr lang="fr-FR" dirty="0"/>
              </a:p>
              <a:p>
                <a:pPr marL="0" indent="0">
                  <a:buNone/>
                </a:pPr>
                <a:r>
                  <a:rPr lang="fr-FR" dirty="0"/>
                  <a:t>En régime permanant (</a:t>
                </a:r>
                <a14:m>
                  <m:oMath xmlns:m="http://schemas.openxmlformats.org/officeDocument/2006/math">
                    <m:r>
                      <a:rPr lang="fr-FR" i="1">
                        <a:latin typeface="Cambria Math"/>
                      </a:rPr>
                      <m:t>𝑠</m:t>
                    </m:r>
                    <m:r>
                      <a:rPr lang="fr-FR" i="1">
                        <a:latin typeface="Cambria Math"/>
                        <a:ea typeface="Cambria Math"/>
                      </a:rPr>
                      <m:t>⟶0</m:t>
                    </m:r>
                  </m:oMath>
                </a14:m>
                <a:r>
                  <a:rPr lang="fr-FR" dirty="0"/>
                  <a:t>) :</a:t>
                </a:r>
              </a:p>
              <a:p>
                <a:pPr marL="0" indent="0">
                  <a:buNone/>
                </a:pPr>
                <a:r>
                  <a:rPr lang="fr-FR" dirty="0"/>
                  <a:t>Avec un correcteur </a:t>
                </a:r>
                <a:r>
                  <a:rPr lang="fr-FR" dirty="0">
                    <a:solidFill>
                      <a:srgbClr val="FF0000"/>
                    </a:solidFill>
                  </a:rPr>
                  <a:t>PI</a:t>
                </a:r>
                <a:r>
                  <a:rPr lang="fr-FR" dirty="0"/>
                  <a:t>, l’effort de contact </a:t>
                </a:r>
                <a14:m>
                  <m:oMath xmlns:m="http://schemas.openxmlformats.org/officeDocument/2006/math">
                    <m:sSub>
                      <m:sSubPr>
                        <m:ctrlPr>
                          <a:rPr lang="fr-FR" i="1">
                            <a:latin typeface="Cambria Math" panose="02040503050406030204" pitchFamily="18" charset="0"/>
                          </a:rPr>
                        </m:ctrlPr>
                      </m:sSubPr>
                      <m:e>
                        <m:r>
                          <a:rPr lang="fr-FR" i="1">
                            <a:latin typeface="Cambria Math"/>
                          </a:rPr>
                          <m:t>𝑓</m:t>
                        </m:r>
                      </m:e>
                      <m:sub>
                        <m:r>
                          <a:rPr lang="fr-FR" i="1">
                            <a:latin typeface="Cambria Math"/>
                          </a:rPr>
                          <m:t>𝑒𝑥</m:t>
                        </m:r>
                      </m:sub>
                    </m:sSub>
                  </m:oMath>
                </a14:m>
                <a:r>
                  <a:rPr lang="fr-FR" dirty="0"/>
                  <a:t> </a:t>
                </a:r>
                <a:r>
                  <a:rPr lang="fr-FR" dirty="0">
                    <a:solidFill>
                      <a:srgbClr val="FF0000"/>
                    </a:solidFill>
                  </a:rPr>
                  <a:t>converge</a:t>
                </a:r>
                <a:r>
                  <a:rPr lang="fr-FR" dirty="0"/>
                  <a:t> vers l’effort désiré </a:t>
                </a:r>
                <a14:m>
                  <m:oMath xmlns:m="http://schemas.openxmlformats.org/officeDocument/2006/math">
                    <m:sSup>
                      <m:sSupPr>
                        <m:ctrlPr>
                          <a:rPr lang="fr-FR" i="1">
                            <a:latin typeface="Cambria Math" panose="02040503050406030204" pitchFamily="18" charset="0"/>
                          </a:rPr>
                        </m:ctrlPr>
                      </m:sSupPr>
                      <m:e>
                        <m:sSub>
                          <m:sSubPr>
                            <m:ctrlPr>
                              <a:rPr lang="fr-FR" i="1">
                                <a:latin typeface="Cambria Math" panose="02040503050406030204" pitchFamily="18" charset="0"/>
                              </a:rPr>
                            </m:ctrlPr>
                          </m:sSubPr>
                          <m:e>
                            <m:r>
                              <a:rPr lang="fr-FR" i="1">
                                <a:latin typeface="Cambria Math"/>
                              </a:rPr>
                              <m:t>𝑓</m:t>
                            </m:r>
                          </m:e>
                          <m:sub>
                            <m:r>
                              <a:rPr lang="fr-FR" i="1">
                                <a:latin typeface="Cambria Math"/>
                              </a:rPr>
                              <m:t>𝑥</m:t>
                            </m:r>
                          </m:sub>
                        </m:sSub>
                      </m:e>
                      <m:sup>
                        <m:r>
                          <a:rPr lang="fr-FR" i="1">
                            <a:latin typeface="Cambria Math"/>
                          </a:rPr>
                          <m:t>𝑑</m:t>
                        </m:r>
                      </m:sup>
                    </m:sSup>
                  </m:oMath>
                </a14:m>
                <a:endParaRPr lang="fr-FR" dirty="0"/>
              </a:p>
              <a:p>
                <a:pPr marL="0" indent="0">
                  <a:buNone/>
                </a:pPr>
                <a:endParaRPr lang="fr-FR"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3"/>
                <a:stretch>
                  <a:fillRect l="-1096" r="-950"/>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hybride position/force</a:t>
            </a:r>
          </a:p>
        </p:txBody>
      </p:sp>
    </p:spTree>
    <p:extLst>
      <p:ext uri="{BB962C8B-B14F-4D97-AF65-F5344CB8AC3E}">
        <p14:creationId xmlns:p14="http://schemas.microsoft.com/office/powerpoint/2010/main" val="201159136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Espace réservé du contenu 1"/>
              <p:cNvSpPr>
                <a:spLocks noGrp="1"/>
              </p:cNvSpPr>
              <p:nvPr>
                <p:ph sz="quarter" idx="1"/>
              </p:nvPr>
            </p:nvSpPr>
            <p:spPr/>
            <p:txBody>
              <a:bodyPr/>
              <a:lstStyle/>
              <a:p>
                <a:pPr marL="0" indent="0">
                  <a:buNone/>
                </a:pPr>
                <a:r>
                  <a:rPr lang="fr-FR" dirty="0"/>
                  <a:t>Correcteur :PI</a:t>
                </a:r>
              </a:p>
              <a:p>
                <a:pPr marL="0" indent="0">
                  <a:buNone/>
                </a:pPr>
                <a14:m>
                  <m:oMathPara xmlns:m="http://schemas.openxmlformats.org/officeDocument/2006/math">
                    <m:oMathParaPr>
                      <m:jc m:val="left"/>
                    </m:oMathParaPr>
                    <m:oMath xmlns:m="http://schemas.openxmlformats.org/officeDocument/2006/math">
                      <m:sSub>
                        <m:sSubPr>
                          <m:ctrlPr>
                            <a:rPr lang="fr-FR" i="1">
                              <a:latin typeface="Cambria Math" panose="02040503050406030204" pitchFamily="18" charset="0"/>
                            </a:rPr>
                          </m:ctrlPr>
                        </m:sSubPr>
                        <m:e>
                          <m:r>
                            <a:rPr lang="fr-FR" i="1">
                              <a:latin typeface="Cambria Math"/>
                            </a:rPr>
                            <m:t>𝑘</m:t>
                          </m:r>
                        </m:e>
                        <m:sub>
                          <m:r>
                            <a:rPr lang="fr-FR" i="1">
                              <a:latin typeface="Cambria Math"/>
                            </a:rPr>
                            <m:t>𝑝</m:t>
                          </m:r>
                        </m:sub>
                      </m:sSub>
                      <m:r>
                        <a:rPr lang="fr-FR" i="1">
                          <a:latin typeface="Cambria Math"/>
                        </a:rPr>
                        <m:t>=6,4∗</m:t>
                      </m:r>
                      <m:sSup>
                        <m:sSupPr>
                          <m:ctrlPr>
                            <a:rPr lang="fr-FR" i="1">
                              <a:latin typeface="Cambria Math" panose="02040503050406030204" pitchFamily="18" charset="0"/>
                            </a:rPr>
                          </m:ctrlPr>
                        </m:sSupPr>
                        <m:e>
                          <m:r>
                            <a:rPr lang="fr-FR" i="1">
                              <a:latin typeface="Cambria Math"/>
                            </a:rPr>
                            <m:t>10</m:t>
                          </m:r>
                        </m:e>
                        <m:sup>
                          <m:r>
                            <a:rPr lang="fr-FR" i="1">
                              <a:latin typeface="Cambria Math"/>
                            </a:rPr>
                            <m:t>−4</m:t>
                          </m:r>
                        </m:sup>
                      </m:sSup>
                    </m:oMath>
                  </m:oMathPara>
                </a14:m>
                <a:endParaRPr lang="fr-FR" dirty="0"/>
              </a:p>
              <a:p>
                <a:pPr marL="0" indent="0">
                  <a:buNone/>
                </a:pPr>
                <a14:m>
                  <m:oMathPara xmlns:m="http://schemas.openxmlformats.org/officeDocument/2006/math">
                    <m:oMathParaPr>
                      <m:jc m:val="left"/>
                    </m:oMathParaPr>
                    <m:oMath xmlns:m="http://schemas.openxmlformats.org/officeDocument/2006/math">
                      <m:sSub>
                        <m:sSubPr>
                          <m:ctrlPr>
                            <a:rPr lang="fr-FR" i="1">
                              <a:latin typeface="Cambria Math" panose="02040503050406030204" pitchFamily="18" charset="0"/>
                            </a:rPr>
                          </m:ctrlPr>
                        </m:sSubPr>
                        <m:e>
                          <m:r>
                            <a:rPr lang="fr-FR" i="1">
                              <a:latin typeface="Cambria Math"/>
                            </a:rPr>
                            <m:t>𝑘</m:t>
                          </m:r>
                        </m:e>
                        <m:sub>
                          <m:r>
                            <a:rPr lang="fr-FR" i="1">
                              <a:latin typeface="Cambria Math"/>
                            </a:rPr>
                            <m:t>𝑖</m:t>
                          </m:r>
                        </m:sub>
                      </m:sSub>
                      <m:r>
                        <a:rPr lang="fr-FR" i="1">
                          <a:latin typeface="Cambria Math"/>
                        </a:rPr>
                        <m:t>=1,6∗</m:t>
                      </m:r>
                      <m:sSup>
                        <m:sSupPr>
                          <m:ctrlPr>
                            <a:rPr lang="fr-FR" i="1">
                              <a:latin typeface="Cambria Math" panose="02040503050406030204" pitchFamily="18" charset="0"/>
                            </a:rPr>
                          </m:ctrlPr>
                        </m:sSupPr>
                        <m:e>
                          <m:r>
                            <a:rPr lang="fr-FR" i="1">
                              <a:latin typeface="Cambria Math"/>
                            </a:rPr>
                            <m:t>10</m:t>
                          </m:r>
                        </m:e>
                        <m:sup>
                          <m:r>
                            <a:rPr lang="fr-FR" i="1">
                              <a:latin typeface="Cambria Math"/>
                            </a:rPr>
                            <m:t>−3</m:t>
                          </m:r>
                        </m:sup>
                      </m:sSup>
                    </m:oMath>
                  </m:oMathPara>
                </a14:m>
                <a:endParaRPr lang="fr-FR" dirty="0"/>
              </a:p>
              <a:p>
                <a:pPr marL="0" indent="0">
                  <a:buNone/>
                </a:pPr>
                <a:r>
                  <a:rPr lang="fr-FR" dirty="0"/>
                  <a:t>Erreur statique en effort = 0 N</a:t>
                </a:r>
              </a:p>
              <a:p>
                <a:pPr marL="0" indent="0">
                  <a:buNone/>
                </a:pPr>
                <a:r>
                  <a:rPr lang="fr-FR" dirty="0"/>
                  <a:t>Erreur statique en position = 0 m</a:t>
                </a:r>
              </a:p>
              <a:p>
                <a:endParaRPr lang="fr-FR" dirty="0"/>
              </a:p>
            </p:txBody>
          </p:sp>
        </mc:Choice>
        <mc:Fallback xmlns="">
          <p:sp>
            <p:nvSpPr>
              <p:cNvPr id="2" name="Espace réservé du contenu 1"/>
              <p:cNvSpPr>
                <a:spLocks noGrp="1" noRot="1" noChangeAspect="1" noMove="1" noResize="1" noEditPoints="1" noAdjustHandles="1" noChangeArrowheads="1" noChangeShapeType="1" noTextEdit="1"/>
              </p:cNvSpPr>
              <p:nvPr>
                <p:ph sz="quarter" idx="1"/>
              </p:nvPr>
            </p:nvSpPr>
            <p:spPr>
              <a:blipFill rotWithShape="1">
                <a:blip r:embed="rId3"/>
                <a:stretch>
                  <a:fillRect l="-1096" t="-884"/>
                </a:stretch>
              </a:blipFill>
            </p:spPr>
            <p:txBody>
              <a:bodyPr/>
              <a:lstStyle/>
              <a:p>
                <a:r>
                  <a:rPr lang="fr-FR">
                    <a:noFill/>
                  </a:rPr>
                  <a:t> </a:t>
                </a:r>
              </a:p>
            </p:txBody>
          </p:sp>
        </mc:Fallback>
      </mc:AlternateContent>
      <p:sp>
        <p:nvSpPr>
          <p:cNvPr id="3" name="Titre 2"/>
          <p:cNvSpPr>
            <a:spLocks noGrp="1"/>
          </p:cNvSpPr>
          <p:nvPr>
            <p:ph type="title"/>
          </p:nvPr>
        </p:nvSpPr>
        <p:spPr/>
        <p:txBody>
          <a:bodyPr/>
          <a:lstStyle/>
          <a:p>
            <a:r>
              <a:rPr lang="fr-FR" dirty="0"/>
              <a:t>Commande hybride position/force</a:t>
            </a:r>
          </a:p>
        </p:txBody>
      </p:sp>
      <p:pic>
        <p:nvPicPr>
          <p:cNvPr id="4" name="Image 3"/>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349283" y="3345264"/>
            <a:ext cx="3762027" cy="2799648"/>
          </a:xfrm>
          <a:prstGeom prst="rect">
            <a:avLst/>
          </a:prstGeom>
        </p:spPr>
      </p:pic>
      <p:pic>
        <p:nvPicPr>
          <p:cNvPr id="6" name="Image 5"/>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4897353" y="3050344"/>
            <a:ext cx="3555612" cy="3147994"/>
          </a:xfrm>
          <a:prstGeom prst="rect">
            <a:avLst/>
          </a:prstGeom>
        </p:spPr>
      </p:pic>
    </p:spTree>
    <p:extLst>
      <p:ext uri="{BB962C8B-B14F-4D97-AF65-F5344CB8AC3E}">
        <p14:creationId xmlns:p14="http://schemas.microsoft.com/office/powerpoint/2010/main" val="269887116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Espace réservé du contenu 1"/>
          <p:cNvSpPr>
            <a:spLocks noGrp="1"/>
          </p:cNvSpPr>
          <p:nvPr>
            <p:ph sz="quarter" idx="1"/>
          </p:nvPr>
        </p:nvSpPr>
        <p:spPr/>
        <p:txBody>
          <a:bodyPr/>
          <a:lstStyle/>
          <a:p>
            <a:pPr algn="just"/>
            <a:r>
              <a:rPr lang="fr-FR" dirty="0"/>
              <a:t>On peut commander, suivant une direction donnée, soit la position soit la force mais pas les deux en même temps.</a:t>
            </a:r>
          </a:p>
          <a:p>
            <a:pPr marL="0" indent="0" algn="just">
              <a:buNone/>
            </a:pPr>
            <a:endParaRPr lang="fr-FR" dirty="0"/>
          </a:p>
          <a:p>
            <a:pPr algn="just"/>
            <a:r>
              <a:rPr lang="fr-FR" dirty="0"/>
              <a:t>La commande en effort avec boucle interne en vitesse est plus rapide que la commande en effort avec boucle interne en position</a:t>
            </a:r>
          </a:p>
          <a:p>
            <a:pPr marL="0" indent="0">
              <a:buNone/>
            </a:pPr>
            <a:endParaRPr lang="fr-FR" dirty="0"/>
          </a:p>
          <a:p>
            <a:pPr algn="just"/>
            <a:r>
              <a:rPr lang="fr-FR" dirty="0"/>
              <a:t>La commande hybride permet de commander un/des efforts suivant une et/ou plusieurs directions et une/des positions suivant les directions restantes</a:t>
            </a:r>
          </a:p>
        </p:txBody>
      </p:sp>
      <p:sp>
        <p:nvSpPr>
          <p:cNvPr id="3" name="Titre 2"/>
          <p:cNvSpPr>
            <a:spLocks noGrp="1"/>
          </p:cNvSpPr>
          <p:nvPr>
            <p:ph type="title"/>
          </p:nvPr>
        </p:nvSpPr>
        <p:spPr/>
        <p:txBody>
          <a:bodyPr/>
          <a:lstStyle/>
          <a:p>
            <a:r>
              <a:rPr lang="fr-FR" dirty="0"/>
              <a:t>Conclusion</a:t>
            </a:r>
          </a:p>
        </p:txBody>
      </p:sp>
    </p:spTree>
    <p:extLst>
      <p:ext uri="{BB962C8B-B14F-4D97-AF65-F5344CB8AC3E}">
        <p14:creationId xmlns:p14="http://schemas.microsoft.com/office/powerpoint/2010/main" val="32301789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92922</TotalTime>
  <Words>5847</Words>
  <Application>Microsoft Macintosh PowerPoint</Application>
  <PresentationFormat>On-screen Show (4:3)</PresentationFormat>
  <Paragraphs>1568</Paragraphs>
  <Slides>97</Slides>
  <Notes>78</Notes>
  <HiddenSlides>53</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97</vt:i4>
      </vt:variant>
    </vt:vector>
  </HeadingPairs>
  <TitlesOfParts>
    <vt:vector size="104" baseType="lpstr">
      <vt:lpstr>Arial</vt:lpstr>
      <vt:lpstr>Calibri</vt:lpstr>
      <vt:lpstr>Cambria Math</vt:lpstr>
      <vt:lpstr>Wingdings</vt:lpstr>
      <vt:lpstr>Wingdings 2</vt:lpstr>
      <vt:lpstr>Oriel</vt:lpstr>
      <vt:lpstr>Equation</vt:lpstr>
      <vt:lpstr>PowerPoint Presentation</vt:lpstr>
      <vt:lpstr>outline</vt:lpstr>
      <vt:lpstr>outline</vt:lpstr>
      <vt:lpstr>Definitions</vt:lpstr>
      <vt:lpstr>Definitions</vt:lpstr>
      <vt:lpstr>Introduction to motion planning
</vt:lpstr>
      <vt:lpstr>Motion planning : joint space vs operational space</vt:lpstr>
      <vt:lpstr>movement between 2 points in the joint space
</vt:lpstr>
      <vt:lpstr>Motion between 2 points in the joint space
</vt:lpstr>
      <vt:lpstr>Motion between 2 points in the joint space
</vt:lpstr>
      <vt:lpstr>Motion between 2 points in the joint space
</vt:lpstr>
      <vt:lpstr>Motion between 2 points in the joint space
</vt:lpstr>
      <vt:lpstr>Motion between 2 points in the joint space
</vt:lpstr>
      <vt:lpstr>movement between 2 points in operational space
</vt:lpstr>
      <vt:lpstr>movement between 2 points in operational space
</vt:lpstr>
      <vt:lpstr>movement between 2 points in operational space
</vt:lpstr>
      <vt:lpstr>movement between 2 points in operational space
</vt:lpstr>
      <vt:lpstr>movement between 2 points in operational space
</vt:lpstr>
      <vt:lpstr>outline</vt:lpstr>
      <vt:lpstr>Kinematic models (direct and inverse)</vt:lpstr>
      <vt:lpstr>Differential kinematic models (direct and inverse)</vt:lpstr>
      <vt:lpstr>Static model</vt:lpstr>
      <vt:lpstr>Position control</vt:lpstr>
      <vt:lpstr>Position control</vt:lpstr>
      <vt:lpstr>Position control</vt:lpstr>
      <vt:lpstr>Position control</vt:lpstr>
      <vt:lpstr>Position control</vt:lpstr>
      <vt:lpstr>Position control</vt:lpstr>
      <vt:lpstr>Position control</vt:lpstr>
      <vt:lpstr>Position control</vt:lpstr>
      <vt:lpstr>Position control</vt:lpstr>
      <vt:lpstr>Position control</vt:lpstr>
      <vt:lpstr>Position control</vt:lpstr>
      <vt:lpstr>Position control</vt:lpstr>
      <vt:lpstr>Position control</vt:lpstr>
      <vt:lpstr>Position control</vt:lpstr>
      <vt:lpstr>Pose control in operational space - position error</vt:lpstr>
      <vt:lpstr>Pose control in operational space - orientation error using Euler angles</vt:lpstr>
      <vt:lpstr>Pose control in operational space - orientation error using Euler angles</vt:lpstr>
      <vt:lpstr>Pose control in operational space - orientation error using angle and axis</vt:lpstr>
      <vt:lpstr>Pose control in operational space - orientation error using angle and axis</vt:lpstr>
      <vt:lpstr>Kinematic singularities</vt:lpstr>
      <vt:lpstr>Kinematic singularities</vt:lpstr>
      <vt:lpstr>Kinematic singularities</vt:lpstr>
      <vt:lpstr>Modèle dynamique (Equation du mouvement)</vt:lpstr>
      <vt:lpstr>Commande : espace articulaire vs espace opérationnel</vt:lpstr>
      <vt:lpstr>Modèle statique en effort</vt:lpstr>
      <vt:lpstr>Commande PID</vt:lpstr>
      <vt:lpstr>Commande PID (espace articulaire)</vt:lpstr>
      <vt:lpstr>Commande PID (espace articulaire)</vt:lpstr>
      <vt:lpstr>Commande PID (espace articulaire)</vt:lpstr>
      <vt:lpstr>Commande PID (espace articulaire)</vt:lpstr>
      <vt:lpstr>Commande PID (espace articulaire)</vt:lpstr>
      <vt:lpstr>Commande PID (espace opérationnel)</vt:lpstr>
      <vt:lpstr>Commande PID (espace opérationnel)</vt:lpstr>
      <vt:lpstr>Commande PID (espace opérationnel) : Solution 2</vt:lpstr>
      <vt:lpstr>Conclusion</vt:lpstr>
      <vt:lpstr>Contenu</vt:lpstr>
      <vt:lpstr>Commande en effort</vt:lpstr>
      <vt:lpstr>Modélisation : modèle dynamique du robot</vt:lpstr>
      <vt:lpstr>Modélisation : modèle dynamique du robot</vt:lpstr>
      <vt:lpstr>Modèles et méthodes</vt:lpstr>
      <vt:lpstr>Exemple de modélisation</vt:lpstr>
      <vt:lpstr>Exemple de modélisation</vt:lpstr>
      <vt:lpstr>Lois de commande en effort</vt:lpstr>
      <vt:lpstr>Commande sans consigne d’effort</vt:lpstr>
      <vt:lpstr>Commande en compliance</vt:lpstr>
      <vt:lpstr>Commande en compliance</vt:lpstr>
      <vt:lpstr>Commande en compliance</vt:lpstr>
      <vt:lpstr>Commande en compliance</vt:lpstr>
      <vt:lpstr>Commande en compliance</vt:lpstr>
      <vt:lpstr>Commande en impédance</vt:lpstr>
      <vt:lpstr>Commande en impédance</vt:lpstr>
      <vt:lpstr>Commande en impédance</vt:lpstr>
      <vt:lpstr>Commande en impédance</vt:lpstr>
      <vt:lpstr>Commande en impédance</vt:lpstr>
      <vt:lpstr>Commande en impédance</vt:lpstr>
      <vt:lpstr>Commande en impédance</vt:lpstr>
      <vt:lpstr>Commande en impédance</vt:lpstr>
      <vt:lpstr>Commande avec consigne d’effort</vt:lpstr>
      <vt:lpstr>Commande en effort avec boucle interne en position</vt:lpstr>
      <vt:lpstr>Commande en effort avec boucle interne en vitesse</vt:lpstr>
      <vt:lpstr>Commande en effort avec boucle interne en vitesse</vt:lpstr>
      <vt:lpstr>Commande en effort avec boucle interne en vitesse</vt:lpstr>
      <vt:lpstr>Commande en effort avec boucle interne en vitesse</vt:lpstr>
      <vt:lpstr>Commande en effort avec boucle interne en vitesse </vt:lpstr>
      <vt:lpstr>Commande en effort avec boucle interne en vitesse</vt:lpstr>
      <vt:lpstr>Commande en effort avec boucle interne en vitesse </vt:lpstr>
      <vt:lpstr>Commande hybride position/force</vt:lpstr>
      <vt:lpstr>Commande hybride position/force</vt:lpstr>
      <vt:lpstr>Commande hybride position/force</vt:lpstr>
      <vt:lpstr>Commande hybride position/force</vt:lpstr>
      <vt:lpstr>Commande hybride position/force</vt:lpstr>
      <vt:lpstr>Commande hybride position/force</vt:lpstr>
      <vt:lpstr>Commande hybride position/force</vt:lpstr>
      <vt:lpstr>Commande hybride position/force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lirmm, laboratoire d’idees depuis 15 ans…</dc:title>
  <dc:creator>berger</dc:creator>
  <cp:lastModifiedBy>salih abdelaziz</cp:lastModifiedBy>
  <cp:revision>1213</cp:revision>
  <cp:lastPrinted>2021-09-28T11:46:49Z</cp:lastPrinted>
  <dcterms:created xsi:type="dcterms:W3CDTF">2009-11-27T09:31:07Z</dcterms:created>
  <dcterms:modified xsi:type="dcterms:W3CDTF">2024-09-13T15:08:00Z</dcterms:modified>
</cp:coreProperties>
</file>